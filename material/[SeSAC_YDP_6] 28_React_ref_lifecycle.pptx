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4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93" r:id="rId18"/>
    <p:sldId id="301" r:id="rId19"/>
    <p:sldId id="285" r:id="rId20"/>
    <p:sldId id="286" r:id="rId21"/>
    <p:sldId id="287" r:id="rId22"/>
    <p:sldId id="288" r:id="rId23"/>
    <p:sldId id="302" r:id="rId24"/>
    <p:sldId id="290" r:id="rId25"/>
    <p:sldId id="291" r:id="rId26"/>
    <p:sldId id="292" r:id="rId27"/>
    <p:sldId id="303" r:id="rId28"/>
    <p:sldId id="294" r:id="rId29"/>
    <p:sldId id="295" r:id="rId30"/>
    <p:sldId id="296" r:id="rId31"/>
    <p:sldId id="297" r:id="rId32"/>
    <p:sldId id="304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 autoAdjust="0"/>
    <p:restoredTop sz="73684" autoAdjust="0"/>
  </p:normalViewPr>
  <p:slideViewPr>
    <p:cSldViewPr snapToGrid="0">
      <p:cViewPr varScale="1">
        <p:scale>
          <a:sx n="86" d="100"/>
          <a:sy n="86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kern="0" spc="10" baseline="0" dirty="0">
                <a:latin typeface="+mn-lt"/>
              </a:rPr>
              <a:t>JS</a:t>
            </a:r>
            <a:r>
              <a:rPr lang="ko-KR" altLang="en-US" kern="0" spc="10" baseline="0" dirty="0">
                <a:latin typeface="+mn-lt"/>
              </a:rPr>
              <a:t>를 사용할 때</a:t>
            </a:r>
            <a:r>
              <a:rPr lang="en-US" altLang="ko-KR" kern="0" spc="10" baseline="0" dirty="0">
                <a:latin typeface="+mn-lt"/>
              </a:rPr>
              <a:t>, </a:t>
            </a:r>
            <a:r>
              <a:rPr lang="ko-KR" altLang="en-US" kern="0" spc="10" baseline="0" dirty="0">
                <a:latin typeface="+mn-lt"/>
              </a:rPr>
              <a:t>특정 </a:t>
            </a:r>
            <a:r>
              <a:rPr lang="en-US" altLang="ko-KR" kern="0" spc="10" baseline="0" dirty="0">
                <a:latin typeface="+mn-lt"/>
              </a:rPr>
              <a:t>DOM</a:t>
            </a:r>
            <a:r>
              <a:rPr lang="ko-KR" altLang="en-US" kern="0" spc="10" baseline="0" dirty="0">
                <a:latin typeface="+mn-lt"/>
              </a:rPr>
              <a:t>을 선택해야 하는 상황에 </a:t>
            </a:r>
            <a:r>
              <a:rPr lang="en-US" altLang="ko-KR" kern="0" spc="10" baseline="0" dirty="0" err="1">
                <a:latin typeface="+mn-lt"/>
              </a:rPr>
              <a:t>getE~ID</a:t>
            </a:r>
            <a:r>
              <a:rPr lang="en-US" altLang="ko-KR" kern="0" spc="10" baseline="0" dirty="0">
                <a:latin typeface="+mn-lt"/>
              </a:rPr>
              <a:t>, </a:t>
            </a:r>
            <a:r>
              <a:rPr lang="en-US" altLang="ko-KR" kern="0" spc="10" baseline="0" dirty="0" err="1">
                <a:latin typeface="+mn-lt"/>
              </a:rPr>
              <a:t>querySel</a:t>
            </a:r>
            <a:r>
              <a:rPr lang="en-US" altLang="ko-KR" kern="0" spc="10" baseline="0" dirty="0">
                <a:latin typeface="+mn-lt"/>
              </a:rPr>
              <a:t>~ </a:t>
            </a:r>
            <a:r>
              <a:rPr lang="ko-KR" altLang="en-US" kern="0" spc="10" baseline="0" dirty="0">
                <a:latin typeface="+mn-lt"/>
              </a:rPr>
              <a:t>같은 함수를 사용해서 </a:t>
            </a:r>
            <a:r>
              <a:rPr lang="en-US" altLang="ko-KR" kern="0" spc="10" baseline="0" dirty="0">
                <a:latin typeface="+mn-lt"/>
              </a:rPr>
              <a:t>DOM</a:t>
            </a:r>
            <a:r>
              <a:rPr lang="ko-KR" altLang="en-US" kern="0" spc="10" baseline="0" dirty="0">
                <a:latin typeface="+mn-lt"/>
              </a:rPr>
              <a:t>을 선택함</a:t>
            </a:r>
            <a:r>
              <a:rPr lang="en-US" altLang="ko-KR" kern="0" spc="10" baseline="0" dirty="0">
                <a:latin typeface="+mn-lt"/>
              </a:rPr>
              <a:t>.</a:t>
            </a:r>
          </a:p>
          <a:p>
            <a:r>
              <a:rPr lang="ko-KR" altLang="en-US" kern="0" spc="10" baseline="0" dirty="0" err="1">
                <a:latin typeface="+mn-lt"/>
              </a:rPr>
              <a:t>리액트에서도</a:t>
            </a:r>
            <a:r>
              <a:rPr lang="ko-KR" altLang="en-US" kern="0" spc="10" baseline="0" dirty="0">
                <a:latin typeface="+mn-lt"/>
              </a:rPr>
              <a:t> </a:t>
            </a:r>
            <a:r>
              <a:rPr lang="en-US" altLang="ko-KR" kern="0" spc="10" baseline="0" dirty="0">
                <a:latin typeface="+mn-lt"/>
              </a:rPr>
              <a:t>DOM</a:t>
            </a:r>
            <a:r>
              <a:rPr lang="ko-KR" altLang="en-US" kern="0" spc="10" baseline="0" dirty="0">
                <a:latin typeface="+mn-lt"/>
              </a:rPr>
              <a:t>을 직접 </a:t>
            </a:r>
            <a:r>
              <a:rPr lang="ko-KR" altLang="en-US" kern="0" spc="10" baseline="0" dirty="0" err="1">
                <a:latin typeface="+mn-lt"/>
              </a:rPr>
              <a:t>선택해야하는</a:t>
            </a:r>
            <a:r>
              <a:rPr lang="ko-KR" altLang="en-US" kern="0" spc="10" baseline="0" dirty="0">
                <a:latin typeface="+mn-lt"/>
              </a:rPr>
              <a:t> 상황이 발생할 수 있음</a:t>
            </a:r>
            <a:r>
              <a:rPr lang="en-US" altLang="ko-KR" kern="0" spc="10" baseline="0" dirty="0">
                <a:latin typeface="+mn-lt"/>
              </a:rPr>
              <a:t>.</a:t>
            </a:r>
          </a:p>
          <a:p>
            <a:r>
              <a:rPr lang="ko-KR" altLang="en-US" kern="0" spc="10" baseline="0" dirty="0" err="1">
                <a:latin typeface="+mn-lt"/>
              </a:rPr>
              <a:t>그럴때</a:t>
            </a:r>
            <a:r>
              <a:rPr lang="ko-KR" altLang="en-US" kern="0" spc="10" baseline="0" dirty="0">
                <a:latin typeface="+mn-lt"/>
              </a:rPr>
              <a:t> </a:t>
            </a:r>
            <a:r>
              <a:rPr lang="en-US" altLang="ko-KR" kern="0" spc="10" baseline="0" dirty="0">
                <a:latin typeface="+mn-lt"/>
              </a:rPr>
              <a:t>ref </a:t>
            </a:r>
            <a:r>
              <a:rPr lang="ko-KR" altLang="en-US" kern="0" spc="10" baseline="0" dirty="0">
                <a:latin typeface="+mn-lt"/>
              </a:rPr>
              <a:t>사용</a:t>
            </a:r>
            <a:r>
              <a:rPr lang="en-US" altLang="ko-KR" kern="0" spc="10" baseline="0" dirty="0">
                <a:latin typeface="+mn-lt"/>
              </a:rPr>
              <a:t>.</a:t>
            </a:r>
          </a:p>
          <a:p>
            <a:endParaRPr lang="en-US" altLang="ko-KR" kern="0" spc="10" baseline="0" dirty="0">
              <a:latin typeface="+mn-lt"/>
            </a:endParaRPr>
          </a:p>
          <a:p>
            <a:r>
              <a:rPr lang="ko-KR" altLang="en-US" kern="0" spc="10" baseline="0" dirty="0">
                <a:latin typeface="+mn-lt"/>
              </a:rPr>
              <a:t>혹은 컴포넌트의 상태와는 무관하게 유지되어야 하는 값을 저장할 </a:t>
            </a:r>
            <a:r>
              <a:rPr lang="ko-KR" altLang="en-US" kern="0" spc="10" baseline="0" dirty="0" err="1">
                <a:latin typeface="+mn-lt"/>
              </a:rPr>
              <a:t>떄</a:t>
            </a:r>
            <a:r>
              <a:rPr lang="ko-KR" altLang="en-US" kern="0" spc="10" baseline="0" dirty="0">
                <a:latin typeface="+mn-lt"/>
              </a:rPr>
              <a:t> 사용 가능</a:t>
            </a:r>
            <a:r>
              <a:rPr lang="en-US" altLang="ko-KR" kern="0" spc="10" baseline="0" dirty="0">
                <a:latin typeface="+mn-lt"/>
              </a:rPr>
              <a:t>.</a:t>
            </a:r>
            <a:endParaRPr lang="ko-KR" altLang="en-US" kern="0" spc="10" baseline="0" dirty="0">
              <a:latin typeface="+mn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42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188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553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58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792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910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96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506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레거시 코드</a:t>
            </a:r>
            <a:r>
              <a:rPr lang="en-US" altLang="ko-KR" dirty="0"/>
              <a:t>(legacy code)</a:t>
            </a:r>
            <a:r>
              <a:rPr lang="ko-KR" altLang="en-US" dirty="0"/>
              <a:t>는 일반적으로 오래된 소프트웨어 시스템이나 애플리케이션에서 사용되고 있는 코드베이스를 말합니다</a:t>
            </a:r>
            <a:r>
              <a:rPr lang="en-US" altLang="ko-KR" dirty="0"/>
              <a:t>. </a:t>
            </a:r>
            <a:r>
              <a:rPr lang="ko-KR" altLang="en-US" dirty="0"/>
              <a:t>이 코드는 다음과 같은 특징을 가질 수 있습니다</a:t>
            </a:r>
            <a:r>
              <a:rPr lang="en-US" altLang="ko-KR" dirty="0"/>
              <a:t>:</a:t>
            </a:r>
          </a:p>
          <a:p>
            <a:r>
              <a:rPr lang="ko-KR" altLang="en-US" b="1" dirty="0"/>
              <a:t>오래된 기술 스택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대부분의 경우 현업에서 자주 접하게 되는 코드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354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</a:t>
            </a:r>
            <a:r>
              <a:rPr lang="ko-KR" altLang="en-US" dirty="0" err="1"/>
              <a:t>콜백</a:t>
            </a:r>
            <a:r>
              <a:rPr lang="ko-KR" altLang="en-US" dirty="0"/>
              <a:t> 함수는 해당 </a:t>
            </a:r>
            <a:r>
              <a:rPr lang="en-US" altLang="ko-KR" dirty="0"/>
              <a:t>DOM </a:t>
            </a:r>
            <a:r>
              <a:rPr lang="ko-KR" altLang="en-US" dirty="0"/>
              <a:t>요소가 마운트</a:t>
            </a:r>
            <a:r>
              <a:rPr lang="en-US" altLang="ko-KR" dirty="0"/>
              <a:t>, </a:t>
            </a:r>
            <a:r>
              <a:rPr lang="ko-KR" altLang="en-US" dirty="0"/>
              <a:t>업데이트 될 때 자동 호출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함수의 매개변수로 </a:t>
            </a:r>
            <a:r>
              <a:rPr lang="en-US" altLang="ko-KR" dirty="0"/>
              <a:t>DOM </a:t>
            </a:r>
            <a:r>
              <a:rPr lang="ko-KR" altLang="en-US" dirty="0"/>
              <a:t>요소가 전달되며 저장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**</a:t>
            </a:r>
            <a:r>
              <a:rPr lang="ko-KR" altLang="en-US" dirty="0"/>
              <a:t>멤버 변수 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클래스 내부에 정의된 변수</a:t>
            </a:r>
            <a:r>
              <a:rPr lang="en-US" altLang="ko-KR" dirty="0"/>
              <a:t>, </a:t>
            </a:r>
            <a:r>
              <a:rPr lang="ko-KR" altLang="en-US" dirty="0"/>
              <a:t>클래스의 속성을 저장하는 데 사용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** </a:t>
            </a:r>
            <a:r>
              <a:rPr lang="ko-KR" altLang="en-US" dirty="0" err="1"/>
              <a:t>콜백</a:t>
            </a:r>
            <a:r>
              <a:rPr lang="ko-KR" altLang="en-US" dirty="0"/>
              <a:t> 함수란</a:t>
            </a:r>
            <a:r>
              <a:rPr lang="en-US" altLang="ko-KR" dirty="0"/>
              <a:t>?</a:t>
            </a:r>
          </a:p>
          <a:p>
            <a:pPr marL="0" indent="0">
              <a:buFontTx/>
              <a:buNone/>
            </a:pPr>
            <a:r>
              <a:rPr lang="ko-KR" altLang="en-US" dirty="0"/>
              <a:t>다른 함수의 인자로 전달되어 나중에 호출되는 함수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r>
              <a:rPr lang="en-US" altLang="ko-KR" dirty="0"/>
              <a:t>=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어떤 일이 끝난 후에 호출되는 함수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‘ref’</a:t>
            </a:r>
            <a:r>
              <a:rPr lang="ko-KR" altLang="en-US" dirty="0"/>
              <a:t>는 함수의 인자로 전달되는 값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r>
              <a:rPr lang="ko-KR" altLang="en-US" dirty="0"/>
              <a:t>이 값은 </a:t>
            </a:r>
            <a:r>
              <a:rPr lang="ko-KR" altLang="en-US" dirty="0" err="1"/>
              <a:t>리액트가</a:t>
            </a:r>
            <a:r>
              <a:rPr lang="ko-KR" altLang="en-US" dirty="0"/>
              <a:t> 자동으로 전달해줌</a:t>
            </a:r>
            <a:r>
              <a:rPr lang="en-US" altLang="ko-KR" dirty="0"/>
              <a:t>. ‘ref’</a:t>
            </a:r>
            <a:r>
              <a:rPr lang="ko-KR" altLang="en-US" dirty="0"/>
              <a:t>는 </a:t>
            </a:r>
            <a:r>
              <a:rPr lang="en-US" altLang="ko-KR" dirty="0"/>
              <a:t>input DOM </a:t>
            </a:r>
            <a:r>
              <a:rPr lang="ko-KR" altLang="en-US" dirty="0"/>
              <a:t>요소를 참조하는 객체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함수가 전달되면</a:t>
            </a:r>
            <a:r>
              <a:rPr lang="en-US" altLang="ko-KR" dirty="0"/>
              <a:t>, </a:t>
            </a:r>
            <a:r>
              <a:rPr lang="ko-KR" altLang="en-US" dirty="0"/>
              <a:t>그 함수가 해당 </a:t>
            </a:r>
            <a:r>
              <a:rPr lang="en-US" altLang="ko-KR" dirty="0"/>
              <a:t>DOM </a:t>
            </a:r>
            <a:r>
              <a:rPr lang="ko-KR" altLang="en-US" dirty="0"/>
              <a:t>요소에 대해 자동으로 호출되도록 함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591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88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674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SW</a:t>
            </a:r>
            <a:r>
              <a:rPr kumimoji="1" lang="ko-KR" altLang="en-US" dirty="0"/>
              <a:t>에서도 어떤 프로그램의 실행부터 </a:t>
            </a:r>
            <a:r>
              <a:rPr kumimoji="1" lang="ko-KR" altLang="en-US" dirty="0" err="1"/>
              <a:t>종료까지를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생애주기</a:t>
            </a:r>
            <a:r>
              <a:rPr kumimoji="1" lang="en-US" altLang="ko-KR" dirty="0"/>
              <a:t>”</a:t>
            </a:r>
            <a:r>
              <a:rPr kumimoji="1" lang="ko-KR" altLang="en-US" dirty="0"/>
              <a:t>라는 단어로 많이 사용함</a:t>
            </a:r>
            <a:endParaRPr kumimoji="1" lang="en-US" altLang="ko-KR" dirty="0"/>
          </a:p>
          <a:p>
            <a:endParaRPr kumimoji="1" lang="en-US" altLang="en-US" dirty="0"/>
          </a:p>
          <a:p>
            <a:r>
              <a:rPr kumimoji="1" lang="ko-KR" altLang="en-US" dirty="0"/>
              <a:t>컴포넌트가 </a:t>
            </a:r>
            <a:r>
              <a:rPr kumimoji="1" lang="ko-KR" altLang="en-US" b="1" dirty="0"/>
              <a:t>생성</a:t>
            </a:r>
            <a:r>
              <a:rPr kumimoji="1" lang="ko-KR" altLang="en-US" dirty="0"/>
              <a:t>되고 </a:t>
            </a:r>
            <a:r>
              <a:rPr kumimoji="1" lang="ko-KR" altLang="en-US" b="1" dirty="0"/>
              <a:t>업데이트</a:t>
            </a:r>
            <a:r>
              <a:rPr kumimoji="1" lang="ko-KR" altLang="en-US" dirty="0"/>
              <a:t>되며 </a:t>
            </a:r>
            <a:r>
              <a:rPr kumimoji="1" lang="ko-KR" altLang="en-US" b="1" dirty="0"/>
              <a:t>삭제</a:t>
            </a:r>
            <a:r>
              <a:rPr kumimoji="1" lang="ko-KR" altLang="en-US" dirty="0"/>
              <a:t>되는 과정을 관리하는 메커니즘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에서 생명주기</a:t>
            </a:r>
            <a:r>
              <a:rPr lang="en-US" altLang="ko-KR" dirty="0"/>
              <a:t>(lifecycle) </a:t>
            </a:r>
            <a:r>
              <a:rPr lang="ko-KR" altLang="en-US" dirty="0"/>
              <a:t>메서드를 사용하는 주된 이유는 컴포넌트의 </a:t>
            </a:r>
            <a:r>
              <a:rPr lang="ko-KR" altLang="en-US" b="1" dirty="0"/>
              <a:t>특정 시점</a:t>
            </a:r>
            <a:r>
              <a:rPr lang="ko-KR" altLang="en-US" dirty="0"/>
              <a:t>에 필요한 작업을 수행하기 </a:t>
            </a:r>
            <a:r>
              <a:rPr lang="ko-KR" altLang="en-US" dirty="0" err="1"/>
              <a:t>위해서입니다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각 생명주기 메서드는 컴포넌트가 마운트</a:t>
            </a:r>
            <a:r>
              <a:rPr lang="en-US" altLang="ko-KR" dirty="0"/>
              <a:t>, </a:t>
            </a:r>
            <a:r>
              <a:rPr lang="ko-KR" altLang="en-US" dirty="0"/>
              <a:t>업데이트</a:t>
            </a:r>
            <a:r>
              <a:rPr lang="en-US" altLang="ko-KR" dirty="0"/>
              <a:t>, </a:t>
            </a:r>
            <a:r>
              <a:rPr lang="ko-KR" altLang="en-US" dirty="0" err="1"/>
              <a:t>언마운트될</a:t>
            </a:r>
            <a:r>
              <a:rPr lang="ko-KR" altLang="en-US" dirty="0"/>
              <a:t> 때 발생하는 이벤트에 대응하여 특정 작업을 수행할 수 있도록 도와줍니다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통해 컴포넌트가 더욱 효율적이고 안정적으로 동작할 수 있게 됩니다</a:t>
            </a:r>
            <a:r>
              <a:rPr lang="en-US" altLang="ko-KR" dirty="0"/>
              <a:t>.</a:t>
            </a:r>
          </a:p>
          <a:p>
            <a:endParaRPr kumimoji="1" lang="en-US" altLang="ko-KR" dirty="0"/>
          </a:p>
          <a:p>
            <a:r>
              <a:rPr lang="ko-KR" altLang="en-US" dirty="0"/>
              <a:t>초기화 작업</a:t>
            </a:r>
            <a:br>
              <a:rPr lang="en-US" altLang="ko-KR" dirty="0"/>
            </a:br>
            <a:r>
              <a:rPr lang="ko-KR" altLang="en-US" dirty="0"/>
              <a:t>데이터 가져오기 및 정리하기</a:t>
            </a:r>
            <a:endParaRPr lang="en-US" altLang="ko-KR" dirty="0"/>
          </a:p>
          <a:p>
            <a:r>
              <a:rPr lang="ko-KR" altLang="en-US" dirty="0"/>
              <a:t>업데이트 후 작업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 작업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32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067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186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상태나 생명주기 메서드를 직접 사용하지 않고</a:t>
            </a:r>
            <a:r>
              <a:rPr lang="en-US" altLang="ko-KR" dirty="0"/>
              <a:t>, React Hooks</a:t>
            </a:r>
            <a:r>
              <a:rPr lang="ko-KR" altLang="en-US" dirty="0"/>
              <a:t>를 통해 이러한 기능을 제공함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** ‘</a:t>
            </a:r>
            <a:r>
              <a:rPr lang="en-US" altLang="ko-KR" dirty="0" err="1"/>
              <a:t>useEffect</a:t>
            </a:r>
            <a:r>
              <a:rPr lang="en-US" altLang="ko-KR" dirty="0"/>
              <a:t>’</a:t>
            </a:r>
          </a:p>
          <a:p>
            <a:r>
              <a:rPr lang="en-US" altLang="ko-KR" dirty="0" err="1"/>
              <a:t>componentDidMount</a:t>
            </a:r>
            <a:endParaRPr lang="en-US" altLang="ko-KR" dirty="0"/>
          </a:p>
          <a:p>
            <a:r>
              <a:rPr lang="en-US" altLang="ko-KR" dirty="0" err="1"/>
              <a:t>componentDidUpdate</a:t>
            </a:r>
            <a:endParaRPr lang="en-US" altLang="ko-KR" dirty="0"/>
          </a:p>
          <a:p>
            <a:r>
              <a:rPr lang="en-US" altLang="ko-KR" dirty="0" err="1"/>
              <a:t>componentWillUnmount</a:t>
            </a:r>
            <a:endParaRPr lang="en-US" altLang="ko-KR" dirty="0"/>
          </a:p>
          <a:p>
            <a:r>
              <a:rPr lang="ko-KR" altLang="en-US" dirty="0"/>
              <a:t>의 역할을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useEffect</a:t>
            </a:r>
            <a:r>
              <a:rPr lang="en-US" altLang="ko-KR" dirty="0"/>
              <a:t>(() =&gt; {</a:t>
            </a:r>
          </a:p>
          <a:p>
            <a:r>
              <a:rPr lang="en-US" altLang="ko-KR" dirty="0"/>
              <a:t>// </a:t>
            </a:r>
            <a:r>
              <a:rPr lang="ko-KR" altLang="en-US" dirty="0"/>
              <a:t>컴포넌트가 마운트 될 때 실행</a:t>
            </a:r>
            <a:endParaRPr lang="en-US" altLang="ko-KR" dirty="0"/>
          </a:p>
          <a:p>
            <a:r>
              <a:rPr lang="en-US" altLang="ko-KR" dirty="0"/>
              <a:t>	return () =&gt; {</a:t>
            </a:r>
          </a:p>
          <a:p>
            <a:r>
              <a:rPr lang="en-US" altLang="ko-KR" dirty="0"/>
              <a:t>	// </a:t>
            </a:r>
            <a:r>
              <a:rPr lang="ko-KR" altLang="en-US" dirty="0"/>
              <a:t>컴포넌트가 </a:t>
            </a:r>
            <a:r>
              <a:rPr lang="ko-KR" altLang="en-US" dirty="0" err="1"/>
              <a:t>언마운트</a:t>
            </a:r>
            <a:r>
              <a:rPr lang="ko-KR" altLang="en-US" dirty="0"/>
              <a:t> 될 때 실행</a:t>
            </a:r>
            <a:endParaRPr lang="en-US" altLang="ko-KR" dirty="0"/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, [</a:t>
            </a:r>
            <a:r>
              <a:rPr lang="ko-KR" altLang="en-US" dirty="0"/>
              <a:t>의존성 배열</a:t>
            </a:r>
            <a:r>
              <a:rPr lang="en-US" altLang="ko-KR" dirty="0"/>
              <a:t>]);</a:t>
            </a:r>
          </a:p>
          <a:p>
            <a:r>
              <a:rPr lang="ko-KR" altLang="en-US" dirty="0"/>
              <a:t>배열 값이 변하면 </a:t>
            </a:r>
            <a:r>
              <a:rPr lang="en-US" altLang="ko-KR" dirty="0"/>
              <a:t>effect </a:t>
            </a:r>
            <a:r>
              <a:rPr lang="ko-KR" altLang="en-US" dirty="0"/>
              <a:t>함수 실행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91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 인수로 의존성 배열을 받을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배열에는 </a:t>
            </a:r>
            <a:r>
              <a:rPr lang="en-US" altLang="ko-KR" dirty="0"/>
              <a:t>‘</a:t>
            </a:r>
            <a:r>
              <a:rPr lang="en-US" altLang="ko-KR" dirty="0" err="1"/>
              <a:t>useEffect</a:t>
            </a:r>
            <a:r>
              <a:rPr lang="en-US" altLang="ko-KR" dirty="0"/>
              <a:t>’</a:t>
            </a:r>
            <a:r>
              <a:rPr lang="ko-KR" altLang="en-US" dirty="0"/>
              <a:t>가 의존 하는 값들을 넣는다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의존성 배열에 포함된 값들이 변경될 때만 </a:t>
            </a:r>
            <a:r>
              <a:rPr lang="en-US" altLang="ko-KR" dirty="0"/>
              <a:t>‘</a:t>
            </a:r>
            <a:r>
              <a:rPr lang="en-US" altLang="ko-KR" dirty="0" err="1"/>
              <a:t>useEffect</a:t>
            </a:r>
            <a:r>
              <a:rPr lang="en-US" altLang="ko-KR" dirty="0"/>
              <a:t>’</a:t>
            </a:r>
            <a:r>
              <a:rPr lang="ko-KR" altLang="en-US" dirty="0"/>
              <a:t>가 실행됨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빈 배열 </a:t>
            </a:r>
            <a:r>
              <a:rPr lang="en-US" altLang="ko-KR" dirty="0"/>
              <a:t>(‘[]’)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넣으면 컴포넌트가 처음 마운트 될 때만 </a:t>
            </a:r>
            <a:r>
              <a:rPr lang="en-US" altLang="ko-KR" dirty="0"/>
              <a:t>‘</a:t>
            </a:r>
            <a:r>
              <a:rPr lang="en-US" altLang="ko-KR" dirty="0" err="1"/>
              <a:t>useEffect</a:t>
            </a:r>
            <a:r>
              <a:rPr lang="en-US" altLang="ko-KR" dirty="0"/>
              <a:t>’</a:t>
            </a:r>
            <a:r>
              <a:rPr lang="ko-KR" altLang="en-US" dirty="0"/>
              <a:t>가 실행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394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클래스 컴포넌트의 생명주기</a:t>
            </a:r>
            <a:r>
              <a:rPr lang="en-US" altLang="ko-KR" dirty="0"/>
              <a:t>(lifecycle)</a:t>
            </a:r>
            <a:r>
              <a:rPr lang="ko-KR" altLang="en-US" dirty="0"/>
              <a:t>는 컴포넌트가 </a:t>
            </a:r>
            <a:r>
              <a:rPr lang="en-US" altLang="ko-KR" dirty="0"/>
              <a:t>DOM</a:t>
            </a:r>
            <a:r>
              <a:rPr lang="ko-KR" altLang="en-US" dirty="0"/>
              <a:t>에 </a:t>
            </a:r>
            <a:r>
              <a:rPr lang="ko-KR" altLang="en-US" dirty="0" err="1"/>
              <a:t>마운트되고</a:t>
            </a:r>
            <a:r>
              <a:rPr lang="ko-KR" altLang="en-US" dirty="0"/>
              <a:t> 업데이트되며 </a:t>
            </a:r>
            <a:r>
              <a:rPr lang="ko-KR" altLang="en-US" dirty="0" err="1"/>
              <a:t>언마운트되는</a:t>
            </a:r>
            <a:r>
              <a:rPr lang="ko-KR" altLang="en-US" dirty="0"/>
              <a:t> 과정에서 특정 메서드들이 호출되는 것을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레거시 코드</a:t>
            </a:r>
            <a:r>
              <a:rPr lang="en-US" altLang="ko-KR" dirty="0"/>
              <a:t>(legacy code)</a:t>
            </a:r>
            <a:r>
              <a:rPr lang="ko-KR" altLang="en-US" dirty="0"/>
              <a:t>는 일반적으로 오래된 소프트웨어 시스템이나 애플리케이션에서 사용되고 있는 코드베이스를 말합니다</a:t>
            </a:r>
            <a:r>
              <a:rPr lang="en-US" altLang="ko-KR" dirty="0"/>
              <a:t>. </a:t>
            </a:r>
            <a:r>
              <a:rPr lang="ko-KR" altLang="en-US" dirty="0"/>
              <a:t>이 코드는 다음과 같은 특징을 가질 수 있습니다</a:t>
            </a:r>
            <a:r>
              <a:rPr lang="en-US" altLang="ko-KR" dirty="0"/>
              <a:t>:</a:t>
            </a:r>
          </a:p>
          <a:p>
            <a:r>
              <a:rPr lang="ko-KR" altLang="en-US" b="1" dirty="0"/>
              <a:t>오래된 기술 스택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대부분의 경우 현업에서 자주 접하게 되는 코드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9384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먼저 마운트 될 때 발생하는 생명주기들</a:t>
            </a:r>
            <a:endParaRPr lang="en-US" altLang="ko-KR" dirty="0"/>
          </a:p>
          <a:p>
            <a:r>
              <a:rPr lang="en-US" altLang="ko-KR" dirty="0"/>
              <a:t>Constructor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컴포넌트의 생성자 메서드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컴포넌트가 만들어지면 가장 먼저 실행되는 메서드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초기 상태를 설정하거나</a:t>
            </a:r>
            <a:r>
              <a:rPr lang="en-US" altLang="ko-KR" dirty="0"/>
              <a:t>, </a:t>
            </a:r>
            <a:r>
              <a:rPr lang="ko-KR" altLang="en-US" dirty="0"/>
              <a:t>메서드를 바인딩할 때 사용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 err="1"/>
              <a:t>getDerivedStateFromProps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.props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받아온 것을 </a:t>
            </a:r>
            <a:r>
              <a:rPr lang="en-US" altLang="ko-KR" dirty="0"/>
              <a:t>state</a:t>
            </a:r>
            <a:r>
              <a:rPr lang="ko-KR" altLang="en-US" dirty="0"/>
              <a:t>에 넣어주고 싶을 때 사용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앞에 </a:t>
            </a:r>
            <a:r>
              <a:rPr lang="en-US" altLang="ko-KR" dirty="0"/>
              <a:t>static</a:t>
            </a:r>
            <a:r>
              <a:rPr lang="ko-KR" altLang="en-US" dirty="0"/>
              <a:t>을 필요로 하고</a:t>
            </a:r>
            <a:r>
              <a:rPr lang="en-US" altLang="ko-KR" dirty="0"/>
              <a:t>, </a:t>
            </a:r>
            <a:r>
              <a:rPr lang="ko-KR" altLang="en-US" dirty="0"/>
              <a:t>이 안에서는 </a:t>
            </a:r>
            <a:r>
              <a:rPr lang="en-US" altLang="ko-KR" dirty="0"/>
              <a:t>this </a:t>
            </a:r>
            <a:r>
              <a:rPr lang="ko-KR" altLang="en-US" dirty="0"/>
              <a:t>조회 불가능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렌더링 메서드가 호출되기 전에 호출</a:t>
            </a: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Render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컴포넌트를 렌더링하는 메서드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항상 호출되며 </a:t>
            </a:r>
            <a:r>
              <a:rPr lang="en-US" altLang="ko-KR" dirty="0"/>
              <a:t>JSX</a:t>
            </a:r>
            <a:r>
              <a:rPr lang="ko-KR" altLang="en-US" dirty="0"/>
              <a:t>를 반환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solidFill>
                  <a:schemeClr val="accent1"/>
                </a:solidFill>
              </a:rPr>
              <a:t>componentDidMount</a:t>
            </a:r>
            <a:endParaRPr lang="ko-KR" altLang="en-US" dirty="0">
              <a:solidFill>
                <a:schemeClr val="accent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컴포넌트의 첫번째 렌더링이 마치고 나면 호출되는 메서드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이 메서드가 호출되는 시점에는 우리가 만든 컴포넌트가 화면에 나타난 상태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6606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getDerivedStateFromProps</a:t>
            </a:r>
            <a:endParaRPr lang="en-US" altLang="ko-KR" b="1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컴포넌트의 </a:t>
            </a:r>
            <a:r>
              <a:rPr lang="en-US" altLang="ko-KR" dirty="0"/>
              <a:t>props </a:t>
            </a:r>
            <a:r>
              <a:rPr lang="ko-KR" altLang="en-US" dirty="0"/>
              <a:t>나 </a:t>
            </a:r>
            <a:r>
              <a:rPr lang="en-US" altLang="ko-KR" dirty="0"/>
              <a:t>state</a:t>
            </a:r>
            <a:r>
              <a:rPr lang="ko-KR" altLang="en-US" dirty="0"/>
              <a:t>가 바뀌었을 때도 이 메서드가 호출됨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shouldComponentUpdate</a:t>
            </a:r>
            <a:endParaRPr lang="en-US" altLang="ko-KR" b="1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컴포넌트가 </a:t>
            </a:r>
            <a:r>
              <a:rPr lang="ko-KR" altLang="en-US" dirty="0" err="1"/>
              <a:t>리렌더링</a:t>
            </a:r>
            <a:r>
              <a:rPr lang="ko-KR" altLang="en-US" dirty="0"/>
              <a:t> 할지 말지를 결정하는 메서드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주로 최적화 할 때 사용하는 메서드</a:t>
            </a:r>
            <a:r>
              <a:rPr lang="en-US" altLang="ko-KR" dirty="0"/>
              <a:t>. </a:t>
            </a:r>
            <a:r>
              <a:rPr lang="en-US" altLang="ko-KR" dirty="0" err="1"/>
              <a:t>React.memo</a:t>
            </a:r>
            <a:r>
              <a:rPr lang="ko-KR" altLang="en-US" dirty="0"/>
              <a:t>와 역할 </a:t>
            </a:r>
            <a:r>
              <a:rPr lang="ko-KR" altLang="en-US" dirty="0" err="1"/>
              <a:t>비슷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getSnapshotBeforeUpdate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–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몰라도 됨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marL="0" indent="0">
              <a:buFontTx/>
              <a:buNone/>
            </a:pPr>
            <a:r>
              <a:rPr lang="en-US" altLang="ko-KR" dirty="0"/>
              <a:t>- </a:t>
            </a:r>
            <a:r>
              <a:rPr lang="ko-KR" altLang="en-US" dirty="0"/>
              <a:t>컴포넌트에 변화가 일어나기 직전의 </a:t>
            </a:r>
            <a:r>
              <a:rPr lang="en-US" altLang="ko-KR" dirty="0"/>
              <a:t>DOM </a:t>
            </a:r>
            <a:r>
              <a:rPr lang="ko-KR" altLang="en-US" dirty="0"/>
              <a:t>상태를 가져와서 특정 값을 반환하면 그 다음 발생하게 되는 </a:t>
            </a: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componentDidUpdate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함수에서 받아와서 사용할 수 있음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  <a:endParaRPr lang="en-US" altLang="ko-KR" b="0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componentDidUpdate</a:t>
            </a:r>
            <a:endParaRPr lang="en-US" altLang="ko-KR" b="1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171450" indent="-171450">
              <a:buFontTx/>
              <a:buChar char="-"/>
            </a:pPr>
            <a:r>
              <a:rPr lang="ko-KR" altLang="en-US" dirty="0" err="1"/>
              <a:t>리렌더링이</a:t>
            </a:r>
            <a:r>
              <a:rPr lang="ko-KR" altLang="en-US" dirty="0"/>
              <a:t> 마치고</a:t>
            </a:r>
            <a:r>
              <a:rPr lang="en-US" altLang="ko-KR" dirty="0"/>
              <a:t>, </a:t>
            </a:r>
            <a:r>
              <a:rPr lang="ko-KR" altLang="en-US" dirty="0"/>
              <a:t>화면에 우리가 원하는 변화가 모두 반영되고 난 뒤 호출되는 메서드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컴포넌트가 업데이트 된 후 호출</a:t>
            </a:r>
            <a:r>
              <a:rPr lang="en-US" altLang="ko-KR" dirty="0"/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dirty="0"/>
              <a:t>3</a:t>
            </a:r>
            <a:r>
              <a:rPr lang="ko-KR" altLang="en-US" dirty="0"/>
              <a:t>번째 파라미터로 </a:t>
            </a: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getSnapshotBeforeUpdate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반환한 값을 조회 할 수 있음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  <a:b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**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언마운트</a:t>
            </a:r>
            <a:b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-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컴포넌트가 화면에서 사라지는 것을 의미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err="1">
                <a:solidFill>
                  <a:schemeClr val="accent1"/>
                </a:solidFill>
              </a:rPr>
              <a:t>comopnentWillUnmount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컴포넌트가 화면에서 사라지기 직전에 호출</a:t>
            </a:r>
            <a:r>
              <a:rPr lang="en-US" altLang="ko-KR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DOM</a:t>
            </a: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에 직접 </a:t>
            </a:r>
            <a:r>
              <a:rPr lang="ko-KR" altLang="en-US" b="0" i="0" dirty="0" err="1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등록했었던</a:t>
            </a: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 이벤트를 제거하고</a:t>
            </a:r>
            <a:r>
              <a:rPr lang="en-US" altLang="ko-KR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만약에 </a:t>
            </a:r>
            <a:r>
              <a:rPr lang="en-US" altLang="ko-KR" b="0" i="0" dirty="0" err="1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setTimeout</a:t>
            </a: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을 </a:t>
            </a:r>
            <a:r>
              <a:rPr lang="ko-KR" altLang="en-US" b="0" i="0" dirty="0" err="1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걸은것이</a:t>
            </a: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 있다면 </a:t>
            </a:r>
            <a:r>
              <a:rPr lang="en-US" altLang="ko-KR" b="0" i="0" dirty="0" err="1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clearTimeout</a:t>
            </a:r>
            <a:r>
              <a:rPr lang="ko-KR" alt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을 통하여 제거함</a:t>
            </a:r>
            <a:r>
              <a:rPr lang="en-US" altLang="ko-KR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4314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43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855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13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95260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5347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61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39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75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13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2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1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92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64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96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0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ko.reactjs.org/docs/react-component.html#commonly-used-lifecycle-method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 &amp; </a:t>
            </a:r>
            <a:r>
              <a:rPr lang="en-US" altLang="ko-KR" dirty="0" err="1"/>
              <a:t>useRef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96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F6462-9552-B03F-6F6D-95971274C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 </a:t>
            </a:r>
            <a:r>
              <a:rPr lang="ko-KR" altLang="en-US" dirty="0"/>
              <a:t>지정 후 요소 호출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360A1-3472-4CB1-DE1F-8CD731A2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ABB0-94CA-404C-9F0F-51BD1777684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E5D0F7-F3A0-11A1-0361-B75195AC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06BC5D-D9E4-8443-61EE-72DC6578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요소 선택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84E942-D656-054C-AAF8-CAB8C6A5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" y="2364514"/>
            <a:ext cx="9381876" cy="1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1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F6462-9552-B03F-6F6D-95971274C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530"/>
            <a:ext cx="10515600" cy="3630259"/>
          </a:xfrm>
        </p:spPr>
        <p:txBody>
          <a:bodyPr/>
          <a:lstStyle/>
          <a:p>
            <a:r>
              <a:rPr lang="en-US" altLang="ko-KR" dirty="0"/>
              <a:t>1) id </a:t>
            </a:r>
            <a:r>
              <a:rPr lang="ko-KR" altLang="en-US" dirty="0"/>
              <a:t>지정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 ref </a:t>
            </a:r>
            <a:r>
              <a:rPr lang="ko-KR" altLang="en-US" dirty="0"/>
              <a:t>지정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360A1-3472-4CB1-DE1F-8CD731A2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9A41-CAE1-4CD1-B125-49F77EDCE69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E5D0F7-F3A0-11A1-0361-B75195AC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06BC5D-D9E4-8443-61EE-72DC6578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요소 선택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21AE3B-8614-39DE-D693-5CF560D1C8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2" t="18005"/>
          <a:stretch/>
        </p:blipFill>
        <p:spPr>
          <a:xfrm>
            <a:off x="1196340" y="2638493"/>
            <a:ext cx="9110538" cy="1016525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4499699-B8BF-C117-A270-F06E0220D71E}"/>
              </a:ext>
            </a:extLst>
          </p:cNvPr>
          <p:cNvSpPr txBox="1">
            <a:spLocks/>
          </p:cNvSpPr>
          <p:nvPr/>
        </p:nvSpPr>
        <p:spPr>
          <a:xfrm>
            <a:off x="304800" y="1210692"/>
            <a:ext cx="7433733" cy="63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-&gt;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React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컴포넌트가 아닌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HTML Element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에 직접 접근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해야 한다면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..?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75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F6462-9552-B03F-6F6D-95971274C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435"/>
            <a:ext cx="10515600" cy="2806170"/>
          </a:xfrm>
        </p:spPr>
        <p:txBody>
          <a:bodyPr/>
          <a:lstStyle/>
          <a:p>
            <a:r>
              <a:rPr lang="en-US" altLang="ko-KR" sz="3200" dirty="0"/>
              <a:t>1</a:t>
            </a:r>
            <a:r>
              <a:rPr lang="ko-KR" altLang="en-US" sz="3200" dirty="0"/>
              <a:t>번 방법</a:t>
            </a:r>
            <a:r>
              <a:rPr lang="en-US" altLang="ko-KR" sz="3200" dirty="0"/>
              <a:t>) id </a:t>
            </a:r>
            <a:r>
              <a:rPr lang="ko-KR" altLang="en-US" sz="3200" dirty="0"/>
              <a:t>지정</a:t>
            </a:r>
            <a:endParaRPr lang="en-US" altLang="ko-KR" sz="3200" dirty="0"/>
          </a:p>
          <a:p>
            <a:pPr lvl="1"/>
            <a:r>
              <a:rPr lang="ko-KR" altLang="en-US" sz="2800" dirty="0"/>
              <a:t>같은 컴포넌트를 반복해서 사용하면 </a:t>
            </a:r>
            <a:r>
              <a:rPr lang="en-US" altLang="ko-KR" sz="2800" b="1" dirty="0"/>
              <a:t>id</a:t>
            </a:r>
            <a:r>
              <a:rPr lang="ko-KR" altLang="en-US" sz="2800" b="1" dirty="0"/>
              <a:t>가 중복</a:t>
            </a:r>
            <a:r>
              <a:rPr lang="ko-KR" altLang="en-US" sz="2800" dirty="0"/>
              <a:t>되는 문제</a:t>
            </a:r>
            <a:endParaRPr lang="en-US" altLang="ko-KR" sz="2800" dirty="0"/>
          </a:p>
          <a:p>
            <a:pPr lvl="1"/>
            <a:r>
              <a:rPr lang="en-US" altLang="ko-KR" sz="2800" dirty="0"/>
              <a:t>=&gt; </a:t>
            </a:r>
            <a:r>
              <a:rPr lang="ko-KR" altLang="en-US" sz="2800" dirty="0"/>
              <a:t>고유한 </a:t>
            </a:r>
            <a:r>
              <a:rPr lang="en-US" altLang="ko-KR" sz="2800" dirty="0"/>
              <a:t>id</a:t>
            </a:r>
            <a:r>
              <a:rPr lang="ko-KR" altLang="en-US" sz="2800" dirty="0"/>
              <a:t>가 되지 않음</a:t>
            </a:r>
            <a:r>
              <a:rPr lang="en-US" altLang="ko-KR" sz="28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360A1-3472-4CB1-DE1F-8CD731A2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9A41-CAE1-4CD1-B125-49F77EDCE69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E5D0F7-F3A0-11A1-0361-B75195AC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06BC5D-D9E4-8443-61EE-72DC6578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요소 선택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BFA7AB0-6DD4-18D8-BA1E-8B43820DDAE1}"/>
              </a:ext>
            </a:extLst>
          </p:cNvPr>
          <p:cNvSpPr txBox="1">
            <a:spLocks/>
          </p:cNvSpPr>
          <p:nvPr/>
        </p:nvSpPr>
        <p:spPr>
          <a:xfrm>
            <a:off x="1801741" y="4443285"/>
            <a:ext cx="7862521" cy="1268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</a:rPr>
              <a:t>반면에 </a:t>
            </a:r>
            <a:r>
              <a:rPr lang="en-US" altLang="ko-KR" sz="3600" b="1" dirty="0">
                <a:solidFill>
                  <a:srgbClr val="6EC173"/>
                </a:solidFill>
              </a:rPr>
              <a:t>ref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</a:rPr>
              <a:t>는 </a:t>
            </a:r>
            <a:r>
              <a:rPr lang="ko-KR" altLang="en-US" sz="3600" b="1" dirty="0">
                <a:solidFill>
                  <a:srgbClr val="6EC173"/>
                </a:solidFill>
              </a:rPr>
              <a:t>컴포넌트 내부에서만 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</a:rPr>
              <a:t>작동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</a:rPr>
              <a:t>!!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4499699-B8BF-C117-A270-F06E0220D71E}"/>
              </a:ext>
            </a:extLst>
          </p:cNvPr>
          <p:cNvSpPr txBox="1">
            <a:spLocks/>
          </p:cNvSpPr>
          <p:nvPr/>
        </p:nvSpPr>
        <p:spPr>
          <a:xfrm>
            <a:off x="304800" y="1210692"/>
            <a:ext cx="7433733" cy="63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-&gt;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React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컴포넌트가 아닌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HTML Element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에 직접 접근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해야 한다면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..?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3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183E4A-4A4C-AF12-B6B7-3931FB01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Reference</a:t>
            </a:r>
          </a:p>
          <a:p>
            <a:r>
              <a:rPr lang="ko-KR" altLang="en-US" dirty="0"/>
              <a:t>전역적으로 작동하지 않고 컴포넌트 내부에서 선언 및 사용</a:t>
            </a:r>
            <a:endParaRPr lang="en-US" altLang="ko-KR" dirty="0"/>
          </a:p>
          <a:p>
            <a:r>
              <a:rPr lang="ko-KR" altLang="en-US" dirty="0"/>
              <a:t>동일한 컴포넌트를 반복해 사용해도 </a:t>
            </a:r>
            <a:r>
              <a:rPr lang="ko-KR" altLang="en-US" dirty="0">
                <a:solidFill>
                  <a:schemeClr val="accent1"/>
                </a:solidFill>
              </a:rPr>
              <a:t>각 컴포넌트 내부에서만 동작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/>
            <a:r>
              <a:rPr lang="ko-KR" altLang="en-US" dirty="0"/>
              <a:t>따라서 중복되지 않음</a:t>
            </a:r>
            <a:r>
              <a:rPr lang="en-US" altLang="ko-KR" dirty="0"/>
              <a:t>!</a:t>
            </a:r>
          </a:p>
          <a:p>
            <a:r>
              <a:rPr lang="en-US" altLang="ko-KR" dirty="0">
                <a:solidFill>
                  <a:schemeClr val="accent1"/>
                </a:solidFill>
              </a:rPr>
              <a:t>DOM</a:t>
            </a:r>
            <a:r>
              <a:rPr lang="ko-KR" altLang="en-US" dirty="0">
                <a:solidFill>
                  <a:schemeClr val="accent1"/>
                </a:solidFill>
              </a:rPr>
              <a:t>을 직접적으로 건드려야 할 때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input</a:t>
            </a:r>
            <a:r>
              <a:rPr lang="ko-KR" altLang="en-US" dirty="0"/>
              <a:t>에 </a:t>
            </a:r>
            <a:r>
              <a:rPr lang="en-US" altLang="ko-KR" dirty="0"/>
              <a:t>focus </a:t>
            </a:r>
            <a:r>
              <a:rPr lang="ko-KR" altLang="en-US" dirty="0"/>
              <a:t>주기</a:t>
            </a:r>
            <a:r>
              <a:rPr lang="en-US" altLang="ko-KR" dirty="0"/>
              <a:t>,</a:t>
            </a:r>
            <a:r>
              <a:rPr lang="ko-KR" altLang="en-US" dirty="0"/>
              <a:t> 스크롤 박스 조작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주의</a:t>
            </a:r>
            <a:r>
              <a:rPr lang="en-US" altLang="ko-KR" dirty="0">
                <a:solidFill>
                  <a:srgbClr val="FF0000"/>
                </a:solidFill>
              </a:rPr>
              <a:t>! </a:t>
            </a:r>
            <a:r>
              <a:rPr lang="en-US" altLang="ko-KR" dirty="0"/>
              <a:t>Class </a:t>
            </a:r>
            <a:r>
              <a:rPr lang="ko-KR" altLang="en-US" dirty="0"/>
              <a:t>형 컴포넌트에서만 기본 기능으로 제공함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BD9DDF-1739-F23D-3279-1AABB721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735F9-6889-40A7-8395-017BB4AB5B92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45F4FF-5788-1E1B-8199-8A0B9449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314032-3861-98DC-D472-92FA320A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612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183E4A-4A4C-AF12-B6B7-3931FB01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HTML </a:t>
            </a:r>
            <a:r>
              <a:rPr lang="ko-KR" altLang="en-US" dirty="0"/>
              <a:t>요소의 레퍼런스를 </a:t>
            </a:r>
            <a:r>
              <a:rPr lang="en-US" altLang="ko-KR" dirty="0"/>
              <a:t>ref prop</a:t>
            </a:r>
            <a:r>
              <a:rPr lang="ko-KR" altLang="en-US" dirty="0"/>
              <a:t>에 저장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BD9DDF-1739-F23D-3279-1AABB721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735F9-6889-40A7-8395-017BB4AB5B92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45F4FF-5788-1E1B-8199-8A0B9449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314032-3861-98DC-D472-92FA320A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 prop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ECFCA6-2657-915C-AA01-9885E40999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663"/>
          <a:stretch/>
        </p:blipFill>
        <p:spPr>
          <a:xfrm>
            <a:off x="1739101" y="2559291"/>
            <a:ext cx="8713797" cy="173941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35B514E-C056-6E80-0AB5-F3D4FE903A4E}"/>
              </a:ext>
            </a:extLst>
          </p:cNvPr>
          <p:cNvSpPr/>
          <p:nvPr/>
        </p:nvSpPr>
        <p:spPr>
          <a:xfrm>
            <a:off x="4352081" y="3067291"/>
            <a:ext cx="2720051" cy="671332"/>
          </a:xfrm>
          <a:prstGeom prst="rect">
            <a:avLst/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980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 </a:t>
            </a:r>
            <a:r>
              <a:rPr lang="ko-KR" altLang="en-US" dirty="0"/>
              <a:t>사용하기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56387C7-0306-0120-00C2-F4B8DE75558B}"/>
              </a:ext>
            </a:extLst>
          </p:cNvPr>
          <p:cNvSpPr txBox="1">
            <a:spLocks/>
          </p:cNvSpPr>
          <p:nvPr/>
        </p:nvSpPr>
        <p:spPr>
          <a:xfrm>
            <a:off x="2388153" y="4026596"/>
            <a:ext cx="7415693" cy="1268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Part1.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함수형 컴포넌트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04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82B3D-D5B2-80F6-2BEE-DE20F9D7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FA4C-F779-4391-BFF6-EBE368CDD0E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248A7D-9D1F-74BD-A2D7-76EA33BB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27DF4E-DA29-F27F-B38B-5D499DCB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b="1" dirty="0" err="1"/>
              <a:t>useRef</a:t>
            </a:r>
            <a:r>
              <a:rPr lang="en-US" altLang="ko-KR" sz="4400" b="1" dirty="0"/>
              <a:t>()</a:t>
            </a:r>
            <a:endParaRPr lang="ko-KR" altLang="en-US" sz="44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0017E6-DBE9-16BE-8FF3-9F866DB539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00" b="6787"/>
          <a:stretch/>
        </p:blipFill>
        <p:spPr>
          <a:xfrm>
            <a:off x="2053169" y="1814331"/>
            <a:ext cx="8085661" cy="3229338"/>
          </a:xfrm>
          <a:prstGeom prst="rect">
            <a:avLst/>
          </a:prstGeom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787573FB-4A53-DE49-30FF-69B560CF7BD0}"/>
              </a:ext>
            </a:extLst>
          </p:cNvPr>
          <p:cNvSpPr txBox="1">
            <a:spLocks/>
          </p:cNvSpPr>
          <p:nvPr/>
        </p:nvSpPr>
        <p:spPr>
          <a:xfrm>
            <a:off x="304800" y="1141601"/>
            <a:ext cx="7480662" cy="54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함수형 컴포넌트에서는 </a:t>
            </a: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</a:rPr>
              <a:t>useRef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()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</a:rPr>
              <a:t>를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이용하여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DOM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요소에 직접 접근한다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6584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82B3D-D5B2-80F6-2BEE-DE20F9D7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FA4C-F779-4391-BFF6-EBE368CDD0E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248A7D-9D1F-74BD-A2D7-76EA33BB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27DF4E-DA29-F27F-B38B-5D499DCB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b="1" dirty="0" err="1"/>
              <a:t>useRef</a:t>
            </a:r>
            <a:r>
              <a:rPr lang="en-US" altLang="ko-KR" sz="4400" b="1" dirty="0"/>
              <a:t>()</a:t>
            </a:r>
            <a:r>
              <a:rPr lang="ko-KR" altLang="en-US" sz="4400" dirty="0"/>
              <a:t> 의 용도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6788AC-FE9E-8E08-964F-28BA552F4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68" y="1156342"/>
            <a:ext cx="5293087" cy="4853589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293B66D-FEB7-5B02-6BA2-26A578A67EEC}"/>
              </a:ext>
            </a:extLst>
          </p:cNvPr>
          <p:cNvSpPr txBox="1">
            <a:spLocks/>
          </p:cNvSpPr>
          <p:nvPr/>
        </p:nvSpPr>
        <p:spPr>
          <a:xfrm>
            <a:off x="251788" y="1156342"/>
            <a:ext cx="7415693" cy="347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solidFill>
                  <a:schemeClr val="accent1"/>
                </a:solidFill>
              </a:rPr>
              <a:t>1. DOM </a:t>
            </a:r>
            <a:r>
              <a:rPr lang="ko-KR" altLang="en-US" dirty="0">
                <a:solidFill>
                  <a:schemeClr val="accent1"/>
                </a:solidFill>
              </a:rPr>
              <a:t>요소에 접근</a:t>
            </a:r>
            <a:br>
              <a:rPr lang="en-US" altLang="ko-KR" dirty="0">
                <a:solidFill>
                  <a:schemeClr val="accent1"/>
                </a:solidFill>
              </a:rPr>
            </a:br>
            <a:b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ex. 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버튼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</a:rPr>
              <a:t>클릭시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input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요소에 포커스 주기 </a:t>
            </a:r>
            <a:b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=&gt;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input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요소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에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직접 접근 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필요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!</a:t>
            </a:r>
            <a:b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</a:rPr>
              <a:t>document.querySelector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()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와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</a:rPr>
              <a:t>비슷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37708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82B3D-D5B2-80F6-2BEE-DE20F9D7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FA4C-F779-4391-BFF6-EBE368CDD0E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248A7D-9D1F-74BD-A2D7-76EA33BB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27DF4E-DA29-F27F-B38B-5D499DCB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b="1" dirty="0" err="1"/>
              <a:t>useRef</a:t>
            </a:r>
            <a:r>
              <a:rPr lang="en-US" altLang="ko-KR" sz="4400" b="1" dirty="0"/>
              <a:t>()</a:t>
            </a:r>
            <a:r>
              <a:rPr lang="ko-KR" altLang="en-US" sz="4400" dirty="0"/>
              <a:t> 의 용도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293B66D-FEB7-5B02-6BA2-26A578A67EEC}"/>
              </a:ext>
            </a:extLst>
          </p:cNvPr>
          <p:cNvSpPr txBox="1">
            <a:spLocks/>
          </p:cNvSpPr>
          <p:nvPr/>
        </p:nvSpPr>
        <p:spPr>
          <a:xfrm>
            <a:off x="251788" y="1156342"/>
            <a:ext cx="7415693" cy="347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solidFill>
                  <a:schemeClr val="accent1"/>
                </a:solidFill>
              </a:rPr>
              <a:t>2.</a:t>
            </a:r>
            <a:r>
              <a:rPr lang="ko-KR" altLang="en-US" dirty="0">
                <a:solidFill>
                  <a:schemeClr val="accent1"/>
                </a:solidFill>
              </a:rPr>
              <a:t> 로컬변수로 사용</a:t>
            </a:r>
            <a:b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로컬변수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=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</a:rPr>
              <a:t>랜더링되어도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 값이 그대로 유지</a:t>
            </a:r>
            <a:b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=&gt; ref 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안의 변경되어도 컴포넌트는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</a:rPr>
              <a:t>랜더링되지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</a:rPr>
              <a:t> 않음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!!!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C767EA-2A1A-7976-7CE6-A14868DF5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291" y="1244092"/>
            <a:ext cx="5477655" cy="471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0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 </a:t>
            </a:r>
            <a:r>
              <a:rPr lang="ko-KR" altLang="en-US" dirty="0"/>
              <a:t>사용하기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56387C7-0306-0120-00C2-F4B8DE75558B}"/>
              </a:ext>
            </a:extLst>
          </p:cNvPr>
          <p:cNvSpPr txBox="1">
            <a:spLocks/>
          </p:cNvSpPr>
          <p:nvPr/>
        </p:nvSpPr>
        <p:spPr>
          <a:xfrm>
            <a:off x="2388153" y="4026596"/>
            <a:ext cx="7415693" cy="1268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Part2.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클래스형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 컴포넌트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ko-KR" altLang="en-US" sz="2000" strike="sngStrike" dirty="0">
                <a:solidFill>
                  <a:schemeClr val="bg1">
                    <a:lumMod val="50000"/>
                  </a:schemeClr>
                </a:solidFill>
              </a:rPr>
              <a:t>참고용으로만 알아두자</a:t>
            </a:r>
            <a:r>
              <a:rPr lang="en-US" altLang="ko-KR" sz="2000" strike="sngStrike" dirty="0">
                <a:solidFill>
                  <a:schemeClr val="bg1">
                    <a:lumMod val="50000"/>
                  </a:schemeClr>
                </a:solidFill>
              </a:rPr>
              <a:t>..!</a:t>
            </a:r>
          </a:p>
        </p:txBody>
      </p:sp>
    </p:spTree>
    <p:extLst>
      <p:ext uri="{BB962C8B-B14F-4D97-AF65-F5344CB8AC3E}">
        <p14:creationId xmlns:p14="http://schemas.microsoft.com/office/powerpoint/2010/main" val="1010201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49426D-02C7-BECE-A202-600368EF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540"/>
            <a:ext cx="10694276" cy="452342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chemeClr val="accent1"/>
                </a:solidFill>
              </a:rPr>
              <a:t>1.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>
                <a:solidFill>
                  <a:schemeClr val="accent1"/>
                </a:solidFill>
              </a:rPr>
              <a:t>콜백</a:t>
            </a:r>
            <a:r>
              <a:rPr lang="ko-KR" altLang="en-US" dirty="0">
                <a:solidFill>
                  <a:schemeClr val="accent1"/>
                </a:solidFill>
              </a:rPr>
              <a:t> 함수</a:t>
            </a:r>
            <a:endParaRPr lang="en-US" altLang="ko-KR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사용하고자 하는 </a:t>
            </a:r>
            <a:r>
              <a:rPr lang="en-US" altLang="ko-KR" dirty="0"/>
              <a:t>DOM </a:t>
            </a:r>
            <a:r>
              <a:rPr lang="ko-KR" altLang="en-US" dirty="0"/>
              <a:t>요소에 </a:t>
            </a:r>
            <a:r>
              <a:rPr lang="en-US" altLang="ko-KR" dirty="0"/>
              <a:t>ref </a:t>
            </a:r>
            <a:r>
              <a:rPr lang="ko-KR" altLang="en-US" dirty="0"/>
              <a:t>라는 </a:t>
            </a:r>
            <a:r>
              <a:rPr lang="ko-KR" altLang="en-US" dirty="0" err="1"/>
              <a:t>콜백</a:t>
            </a:r>
            <a:r>
              <a:rPr lang="ko-KR" altLang="en-US" dirty="0"/>
              <a:t> 함수 작성 및 </a:t>
            </a:r>
            <a:r>
              <a:rPr lang="en-US" altLang="ko-KR" dirty="0"/>
              <a:t>props</a:t>
            </a:r>
            <a:r>
              <a:rPr lang="ko-KR" altLang="en-US" dirty="0"/>
              <a:t>로 전달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 ref</a:t>
            </a:r>
            <a:r>
              <a:rPr lang="ko-KR" altLang="en-US" dirty="0"/>
              <a:t> 를 컴포넌트의 멤버 변수로 설정하는데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r>
              <a:rPr lang="en-US" altLang="ko-KR" dirty="0"/>
              <a:t>ref</a:t>
            </a:r>
            <a:r>
              <a:rPr lang="ko-KR" altLang="en-US" dirty="0"/>
              <a:t>는 원하는 대로 사용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 err="1"/>
              <a:t>this.input</a:t>
            </a:r>
            <a:r>
              <a:rPr lang="ko-KR" altLang="en-US" dirty="0"/>
              <a:t>을 </a:t>
            </a:r>
            <a:r>
              <a:rPr lang="en-US" altLang="ko-KR" dirty="0" err="1"/>
              <a:t>this.orange</a:t>
            </a:r>
            <a:r>
              <a:rPr lang="en-US" altLang="ko-KR" dirty="0"/>
              <a:t> </a:t>
            </a:r>
            <a:r>
              <a:rPr lang="ko-KR" altLang="en-US" dirty="0" err="1"/>
              <a:t>라고</a:t>
            </a:r>
            <a:r>
              <a:rPr lang="ko-KR" altLang="en-US" dirty="0"/>
              <a:t> 사용해도 무관</a:t>
            </a:r>
            <a:r>
              <a:rPr lang="en-US" altLang="ko-KR" dirty="0"/>
              <a:t> </a:t>
            </a:r>
          </a:p>
          <a:p>
            <a:pPr marL="514350" indent="-514350"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82B3D-D5B2-80F6-2BEE-DE20F9D7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FA4C-F779-4391-BFF6-EBE368CDD0E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248A7D-9D1F-74BD-A2D7-76EA33BB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27DF4E-DA29-F27F-B38B-5D499DCB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클래스형 컴포넌트에서 </a:t>
            </a:r>
            <a:r>
              <a:rPr lang="en-US" altLang="ko-KR" sz="4400" dirty="0"/>
              <a:t>ref </a:t>
            </a:r>
            <a:r>
              <a:rPr lang="ko-KR" altLang="en-US" sz="4400" dirty="0"/>
              <a:t>사용 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C28C8E-8985-813C-023C-91917C563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28375"/>
            <a:ext cx="9403360" cy="97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51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49426D-02C7-BECE-A202-600368EF5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ko-KR" altLang="en-US" dirty="0" err="1"/>
              <a:t>콜백</a:t>
            </a:r>
            <a:r>
              <a:rPr lang="ko-KR" altLang="en-US" dirty="0"/>
              <a:t> 함수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82B3D-D5B2-80F6-2BEE-DE20F9D7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FA4C-F779-4391-BFF6-EBE368CDD0E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248A7D-9D1F-74BD-A2D7-76EA33BB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27DF4E-DA29-F27F-B38B-5D499DCB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클래스형 컴포넌트에서 </a:t>
            </a:r>
            <a:r>
              <a:rPr lang="en-US" altLang="ko-KR" sz="4400" dirty="0"/>
              <a:t>ref </a:t>
            </a:r>
            <a:r>
              <a:rPr lang="ko-KR" altLang="en-US" sz="4400" dirty="0"/>
              <a:t>사용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305244-BFE6-CFE4-A547-7E08BE6C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401" y="1473683"/>
            <a:ext cx="5373197" cy="445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18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69B82-852D-33CF-FD0F-EE48F437E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775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 내장 함수 </a:t>
            </a:r>
            <a:r>
              <a:rPr lang="en-US" altLang="ko-KR" dirty="0" err="1"/>
              <a:t>createRef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React.createRef</a:t>
            </a:r>
            <a:r>
              <a:rPr lang="en-US" altLang="ko-KR" dirty="0"/>
              <a:t> </a:t>
            </a:r>
            <a:r>
              <a:rPr lang="ko-KR" altLang="en-US" dirty="0"/>
              <a:t>함수를 이용해 컴포넌트  내부에서 변수에 </a:t>
            </a:r>
            <a:r>
              <a:rPr lang="en-US" altLang="ko-KR" dirty="0"/>
              <a:t>ref </a:t>
            </a:r>
            <a:r>
              <a:rPr lang="ko-KR" altLang="en-US" dirty="0"/>
              <a:t>요소를 담아준다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</a:t>
            </a:r>
            <a:r>
              <a:rPr lang="en-US" altLang="ko-KR" dirty="0"/>
              <a:t> </a:t>
            </a:r>
            <a:r>
              <a:rPr lang="ko-KR" altLang="en-US" dirty="0"/>
              <a:t>만든 </a:t>
            </a:r>
            <a:r>
              <a:rPr lang="en-US" altLang="ko-KR" dirty="0"/>
              <a:t>input</a:t>
            </a:r>
            <a:r>
              <a:rPr lang="ko-KR" altLang="en-US" dirty="0"/>
              <a:t>요소는 실제 </a:t>
            </a:r>
            <a:r>
              <a:rPr lang="en-US" altLang="ko-KR" dirty="0"/>
              <a:t>DOM </a:t>
            </a:r>
            <a:r>
              <a:rPr lang="ko-KR" altLang="en-US" dirty="0"/>
              <a:t>요소의 </a:t>
            </a:r>
            <a:r>
              <a:rPr lang="en-US" altLang="ko-KR" dirty="0"/>
              <a:t>prop </a:t>
            </a:r>
            <a:r>
              <a:rPr lang="ko-KR" altLang="en-US" dirty="0"/>
              <a:t>에 연결해야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사용할 때는 </a:t>
            </a:r>
            <a:r>
              <a:rPr lang="en-US" altLang="ko-KR" dirty="0" err="1"/>
              <a:t>this.input.current</a:t>
            </a:r>
            <a:r>
              <a:rPr lang="en-US" altLang="ko-KR" dirty="0"/>
              <a:t> </a:t>
            </a:r>
            <a:r>
              <a:rPr lang="ko-KR" altLang="en-US" dirty="0"/>
              <a:t>를 이용한다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4B837E-6637-4664-B3E7-CB5A9259A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08067-BDD4-462F-AAC3-9D7CDE2B584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7A38F5-1E4E-896A-AB05-7C8AA543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292D0F-055B-A179-980D-3BAAF362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클래스형 컴포넌트에서 </a:t>
            </a:r>
            <a:r>
              <a:rPr lang="en-US" altLang="ko-KR" sz="4400" dirty="0"/>
              <a:t>ref </a:t>
            </a:r>
            <a:r>
              <a:rPr lang="ko-KR" altLang="en-US" sz="4400" dirty="0"/>
              <a:t>사용 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BE0E1D-7AB7-062D-1738-43F6F623A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1" y="1943671"/>
            <a:ext cx="5461000" cy="64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00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69B82-852D-33CF-FD0F-EE48F437E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775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 내장 함수 </a:t>
            </a:r>
            <a:r>
              <a:rPr lang="en-US" altLang="ko-KR" dirty="0" err="1"/>
              <a:t>createRef</a:t>
            </a:r>
            <a:r>
              <a:rPr lang="en-US" altLang="ko-KR" dirty="0"/>
              <a:t>()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4B837E-6637-4664-B3E7-CB5A9259A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08067-BDD4-462F-AAC3-9D7CDE2B584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7A38F5-1E4E-896A-AB05-7C8AA543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292D0F-055B-A179-980D-3BAAF362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클래스형 컴포넌트에서 </a:t>
            </a:r>
            <a:r>
              <a:rPr lang="en-US" altLang="ko-KR" sz="4400" dirty="0"/>
              <a:t>ref </a:t>
            </a:r>
            <a:r>
              <a:rPr lang="ko-KR" altLang="en-US" sz="4400" dirty="0"/>
              <a:t>사용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25FFE4-D1F0-E54A-B771-E4AD71AE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014" y="1428508"/>
            <a:ext cx="5699374" cy="43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972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ref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ref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848865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A44663-28CD-4CF6-F46D-9755405E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329684-7B5F-670B-11C2-36017421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B018CC-EE07-1A28-615C-F6989F96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Life Cycle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86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71672-0965-D37A-1552-926A1DFA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라이프사이클 </a:t>
            </a:r>
            <a:r>
              <a:rPr lang="en-US" altLang="ko-KR" dirty="0"/>
              <a:t>( </a:t>
            </a:r>
            <a:r>
              <a:rPr lang="en-US" altLang="ko-KR" dirty="0" err="1"/>
              <a:t>LifeCycle</a:t>
            </a:r>
            <a:r>
              <a:rPr lang="en-US" altLang="ko-KR" dirty="0"/>
              <a:t> )</a:t>
            </a:r>
          </a:p>
          <a:p>
            <a:r>
              <a:rPr lang="ko-KR" altLang="en-US" dirty="0"/>
              <a:t>수명 주기</a:t>
            </a:r>
            <a:endParaRPr lang="en-US" altLang="ko-KR" dirty="0"/>
          </a:p>
          <a:p>
            <a:r>
              <a:rPr lang="ko-KR" altLang="en-US" dirty="0"/>
              <a:t>모든 </a:t>
            </a:r>
            <a:r>
              <a:rPr lang="en-US" altLang="ko-KR" dirty="0"/>
              <a:t>React Component </a:t>
            </a:r>
            <a:r>
              <a:rPr lang="ko-KR" altLang="en-US" dirty="0"/>
              <a:t>에 존재하는 것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D6716E-B393-F694-241E-F0158125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4AFCB-C0DB-4F55-97FD-8089BF192B0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85DA0D-1643-1D7E-29DA-F479DD35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32F6A6-48B3-BD2D-D7E0-97085F68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라이프 사이클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3513E6-FBC7-90D0-CD80-0C536A200E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48" b="10295"/>
          <a:stretch/>
        </p:blipFill>
        <p:spPr>
          <a:xfrm>
            <a:off x="1436853" y="3321934"/>
            <a:ext cx="9318293" cy="251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47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8A0869E-D98F-B107-8DA1-61F491BFB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2" y="1721837"/>
            <a:ext cx="10153316" cy="4507626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ED38A-C5DD-259E-BBB6-0770CC7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9EA-F481-4974-98AE-8F344014F28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E02A9-C7AE-5834-2615-49AE418D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DECBDA-13D5-B55B-173C-F723E77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D420BAE-2355-D98D-1D53-D459F96FB521}"/>
              </a:ext>
            </a:extLst>
          </p:cNvPr>
          <p:cNvSpPr txBox="1">
            <a:spLocks/>
          </p:cNvSpPr>
          <p:nvPr/>
        </p:nvSpPr>
        <p:spPr>
          <a:xfrm>
            <a:off x="1579223" y="1237906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생성될 때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03DAF23-0194-B4F9-70EA-C4259CD23BFA}"/>
              </a:ext>
            </a:extLst>
          </p:cNvPr>
          <p:cNvSpPr txBox="1">
            <a:spLocks/>
          </p:cNvSpPr>
          <p:nvPr/>
        </p:nvSpPr>
        <p:spPr>
          <a:xfrm>
            <a:off x="5092252" y="1237907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업데이트 할 때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71C0537-AE7C-D42A-FBD5-E7DC579A0CD3}"/>
              </a:ext>
            </a:extLst>
          </p:cNvPr>
          <p:cNvSpPr txBox="1">
            <a:spLocks/>
          </p:cNvSpPr>
          <p:nvPr/>
        </p:nvSpPr>
        <p:spPr>
          <a:xfrm>
            <a:off x="8748149" y="1241034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제거 할 때</a:t>
            </a:r>
          </a:p>
        </p:txBody>
      </p:sp>
    </p:spTree>
    <p:extLst>
      <p:ext uri="{BB962C8B-B14F-4D97-AF65-F5344CB8AC3E}">
        <p14:creationId xmlns:p14="http://schemas.microsoft.com/office/powerpoint/2010/main" val="3588286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80286-B340-01BC-2484-7A56A7B9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82DE-EC34-4C97-AFE6-318EC0DB25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D2F09-2802-8125-67AF-72531D32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10DAAA-B4AD-C7DA-9F92-20568540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12C811F-B8D0-6A34-227F-1960EA0BFCEE}"/>
              </a:ext>
            </a:extLst>
          </p:cNvPr>
          <p:cNvSpPr/>
          <p:nvPr/>
        </p:nvSpPr>
        <p:spPr>
          <a:xfrm>
            <a:off x="1513514" y="1211965"/>
            <a:ext cx="1844566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mount</a:t>
            </a:r>
            <a:endParaRPr lang="ko-KR" altLang="en-US" sz="2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DF46D6-F2FB-65C4-58D9-FE38FE7CF686}"/>
              </a:ext>
            </a:extLst>
          </p:cNvPr>
          <p:cNvSpPr/>
          <p:nvPr/>
        </p:nvSpPr>
        <p:spPr>
          <a:xfrm>
            <a:off x="5043650" y="1138229"/>
            <a:ext cx="1844567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update</a:t>
            </a:r>
            <a:endParaRPr lang="ko-KR" altLang="en-US" sz="2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3873FF-0676-5C30-3F22-458A67E21668}"/>
              </a:ext>
            </a:extLst>
          </p:cNvPr>
          <p:cNvSpPr/>
          <p:nvPr/>
        </p:nvSpPr>
        <p:spPr>
          <a:xfrm>
            <a:off x="8699912" y="1211965"/>
            <a:ext cx="1844567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unmount</a:t>
            </a:r>
            <a:endParaRPr lang="ko-KR" altLang="en-US" sz="24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9C49CB0-C882-FD62-6316-F8D6CC163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1" y="1731782"/>
            <a:ext cx="10153316" cy="45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52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80398-580F-DEF9-9105-43EC48114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>
                <a:solidFill>
                  <a:schemeClr val="accent1"/>
                </a:solidFill>
              </a:rPr>
              <a:t>Mount</a:t>
            </a:r>
          </a:p>
          <a:p>
            <a:pPr lvl="1"/>
            <a:r>
              <a:rPr lang="en-US" altLang="ko-Kore-KR" dirty="0"/>
              <a:t>DOM</a:t>
            </a:r>
            <a:r>
              <a:rPr lang="ko-KR" altLang="en-US" dirty="0"/>
              <a:t>이 생성되고 웹 브라우저 상에 나타남</a:t>
            </a:r>
            <a:endParaRPr lang="en-US" altLang="ko-Kore-KR" dirty="0"/>
          </a:p>
          <a:p>
            <a:r>
              <a:rPr lang="en-US" altLang="ko-Kore-KR" dirty="0">
                <a:solidFill>
                  <a:schemeClr val="accent1"/>
                </a:solidFill>
              </a:rPr>
              <a:t>Update</a:t>
            </a:r>
          </a:p>
          <a:p>
            <a:pPr lvl="1"/>
            <a:r>
              <a:rPr lang="en-US" altLang="ko-Kore-KR" dirty="0"/>
              <a:t>props or state </a:t>
            </a:r>
            <a:r>
              <a:rPr lang="ko-Kore-KR" altLang="en-US" dirty="0"/>
              <a:t>바뀌었을</a:t>
            </a:r>
            <a:r>
              <a:rPr lang="ko-KR" altLang="en-US" dirty="0"/>
              <a:t> 때 업데이트함</a:t>
            </a:r>
            <a:endParaRPr lang="en-US" altLang="ko-Kore-KR" dirty="0"/>
          </a:p>
          <a:p>
            <a:r>
              <a:rPr lang="en-US" altLang="ko-Kore-KR" dirty="0">
                <a:solidFill>
                  <a:schemeClr val="accent1"/>
                </a:solidFill>
              </a:rPr>
              <a:t>Unmount</a:t>
            </a:r>
          </a:p>
          <a:p>
            <a:pPr lvl="1"/>
            <a:r>
              <a:rPr lang="ko-KR" altLang="en-US" dirty="0"/>
              <a:t>컴포넌트가 화면에서 사라질</a:t>
            </a:r>
            <a:r>
              <a:rPr lang="en-US" altLang="ko-KR" dirty="0"/>
              <a:t>(</a:t>
            </a:r>
            <a:r>
              <a:rPr lang="ko-KR" altLang="en-US" dirty="0"/>
              <a:t>제거될</a:t>
            </a:r>
            <a:r>
              <a:rPr lang="en-US" altLang="ko-KR" dirty="0"/>
              <a:t>)</a:t>
            </a:r>
            <a:r>
              <a:rPr lang="ko-KR" altLang="en-US" dirty="0"/>
              <a:t> 때</a:t>
            </a:r>
            <a:endParaRPr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ED38A-C5DD-259E-BBB6-0770CC7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9EA-F481-4974-98AE-8F344014F288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E02A9-C7AE-5834-2615-49AE418D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DECBDA-13D5-B55B-173C-F723E77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라이프사이클</a:t>
            </a:r>
            <a:r>
              <a:rPr lang="en-US" altLang="ko-KR" dirty="0"/>
              <a:t> </a:t>
            </a:r>
            <a:r>
              <a:rPr lang="ko-KR" altLang="en-US" dirty="0"/>
              <a:t>용어 정리</a:t>
            </a:r>
          </a:p>
        </p:txBody>
      </p:sp>
    </p:spTree>
    <p:extLst>
      <p:ext uri="{BB962C8B-B14F-4D97-AF65-F5344CB8AC3E}">
        <p14:creationId xmlns:p14="http://schemas.microsoft.com/office/powerpoint/2010/main" val="178102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9F9AE9-54D9-6B49-34DE-3578C8BA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1312C2-F5C6-F8AD-2179-64CA2DE4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40A8864-284C-61A4-0430-6A96A33A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Life Cycle </a:t>
            </a:r>
            <a:r>
              <a:rPr lang="ko-KR" altLang="en-US" dirty="0"/>
              <a:t>이해하기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395A0DB-B26A-5BAC-B330-6E83A00F6252}"/>
              </a:ext>
            </a:extLst>
          </p:cNvPr>
          <p:cNvSpPr txBox="1">
            <a:spLocks/>
          </p:cNvSpPr>
          <p:nvPr/>
        </p:nvSpPr>
        <p:spPr>
          <a:xfrm>
            <a:off x="2388153" y="4026596"/>
            <a:ext cx="7415693" cy="1268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Part1.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함수형 컴포넌트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20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3FF62B-EC1A-D2F9-4574-17143ABA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4700099"/>
          </a:xfrm>
        </p:spPr>
        <p:txBody>
          <a:bodyPr>
            <a:normAutofit/>
          </a:bodyPr>
          <a:lstStyle/>
          <a:p>
            <a:r>
              <a:rPr lang="ko-KR" altLang="en-US" dirty="0"/>
              <a:t>함수형 컴포넌트에서는 </a:t>
            </a:r>
            <a:r>
              <a:rPr lang="en-US" altLang="ko-KR" dirty="0" err="1"/>
              <a:t>useEffect</a:t>
            </a:r>
            <a:r>
              <a:rPr lang="en-US" altLang="ko-KR" dirty="0"/>
              <a:t>()</a:t>
            </a:r>
            <a:r>
              <a:rPr lang="ko-KR" altLang="en-US" dirty="0" err="1"/>
              <a:t>를</a:t>
            </a:r>
            <a:r>
              <a:rPr lang="ko-KR" altLang="en-US" dirty="0"/>
              <a:t> 사용해 </a:t>
            </a:r>
            <a:br>
              <a:rPr lang="en-US" altLang="ko-KR" dirty="0"/>
            </a:br>
            <a:r>
              <a:rPr lang="en-US" altLang="ko-KR" dirty="0"/>
              <a:t>Mount, Update, Unmount </a:t>
            </a:r>
            <a:r>
              <a:rPr lang="ko-KR" altLang="en-US" dirty="0"/>
              <a:t>시 특정 작업을 처리</a:t>
            </a:r>
            <a:endParaRPr lang="en-US" altLang="ko-KR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B59B53-F91E-0AA5-2466-A014E0C5C4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07"/>
          <a:stretch/>
        </p:blipFill>
        <p:spPr>
          <a:xfrm>
            <a:off x="838200" y="2707689"/>
            <a:ext cx="10515600" cy="29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28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AD947B-4437-0478-4BB4-415D4DB174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45"/>
          <a:stretch/>
        </p:blipFill>
        <p:spPr>
          <a:xfrm>
            <a:off x="3069517" y="1451976"/>
            <a:ext cx="6052966" cy="395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45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F47030-91F3-7792-0EEF-42C2FB5A00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886"/>
          <a:stretch/>
        </p:blipFill>
        <p:spPr>
          <a:xfrm>
            <a:off x="2259566" y="1325563"/>
            <a:ext cx="3317185" cy="4762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85BAD2-C193-28EE-2859-C0E71AC158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784"/>
          <a:stretch/>
        </p:blipFill>
        <p:spPr>
          <a:xfrm>
            <a:off x="5699422" y="1325563"/>
            <a:ext cx="3301759" cy="283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49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9F9AE9-54D9-6B49-34DE-3578C8BA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1312C2-F5C6-F8AD-2179-64CA2DE4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40A8864-284C-61A4-0430-6A96A33A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Life Cycle </a:t>
            </a:r>
            <a:r>
              <a:rPr lang="ko-KR" altLang="en-US" dirty="0"/>
              <a:t>이해하기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395A0DB-B26A-5BAC-B330-6E83A00F6252}"/>
              </a:ext>
            </a:extLst>
          </p:cNvPr>
          <p:cNvSpPr txBox="1">
            <a:spLocks/>
          </p:cNvSpPr>
          <p:nvPr/>
        </p:nvSpPr>
        <p:spPr>
          <a:xfrm>
            <a:off x="2388153" y="4026596"/>
            <a:ext cx="7415693" cy="1268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Part2.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클래스형 컴포넌트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ko-KR" altLang="en-US" sz="1800" strike="sngStrike" dirty="0">
                <a:solidFill>
                  <a:schemeClr val="bg1">
                    <a:lumMod val="50000"/>
                  </a:schemeClr>
                </a:solidFill>
              </a:rPr>
              <a:t>참고용으로만 </a:t>
            </a:r>
            <a:r>
              <a:rPr lang="ko-KR" altLang="en-US" sz="1800" strike="sngStrike" dirty="0" err="1">
                <a:solidFill>
                  <a:schemeClr val="bg1">
                    <a:lumMod val="50000"/>
                  </a:schemeClr>
                </a:solidFill>
              </a:rPr>
              <a:t>알아두자</a:t>
            </a:r>
            <a:r>
              <a:rPr lang="en-US" altLang="ko-KR" sz="1800" strike="sngStrike" dirty="0">
                <a:solidFill>
                  <a:schemeClr val="bg1">
                    <a:lumMod val="50000"/>
                  </a:schemeClr>
                </a:solidFill>
              </a:rPr>
              <a:t>..!</a:t>
            </a:r>
          </a:p>
        </p:txBody>
      </p:sp>
    </p:spTree>
    <p:extLst>
      <p:ext uri="{BB962C8B-B14F-4D97-AF65-F5344CB8AC3E}">
        <p14:creationId xmlns:p14="http://schemas.microsoft.com/office/powerpoint/2010/main" val="3251215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3FF62B-EC1A-D2F9-4574-17143ABA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900"/>
            <a:ext cx="10515600" cy="428576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마운트 될 때 호출되는 메서드</a:t>
            </a:r>
            <a:endParaRPr lang="en-US" altLang="ko-KR" dirty="0"/>
          </a:p>
          <a:p>
            <a:r>
              <a:rPr lang="en-US" altLang="ko-KR" dirty="0">
                <a:solidFill>
                  <a:schemeClr val="accent1"/>
                </a:solidFill>
              </a:rPr>
              <a:t>constructor</a:t>
            </a:r>
          </a:p>
          <a:p>
            <a:r>
              <a:rPr lang="en-US" altLang="ko-KR" dirty="0">
                <a:solidFill>
                  <a:schemeClr val="accent1"/>
                </a:solidFill>
              </a:rPr>
              <a:t>render</a:t>
            </a:r>
          </a:p>
          <a:p>
            <a:r>
              <a:rPr lang="en-US" altLang="ko-KR" dirty="0" err="1"/>
              <a:t>getDerivedStateFromProps</a:t>
            </a:r>
            <a:endParaRPr lang="en-US" altLang="ko-KR" dirty="0"/>
          </a:p>
          <a:p>
            <a:r>
              <a:rPr lang="en-US" altLang="ko-KR" dirty="0" err="1">
                <a:solidFill>
                  <a:schemeClr val="accent1"/>
                </a:solidFill>
              </a:rPr>
              <a:t>componentDidMount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마운트</a:t>
            </a:r>
            <a:r>
              <a:rPr lang="en-US" altLang="ko-KR" dirty="0"/>
              <a:t>(mount)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2480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2BFF44-DBAC-29D5-5CF9-388546ED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99"/>
            <a:ext cx="10515600" cy="454366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업데이트 될 때 호출되는 메서드</a:t>
            </a:r>
            <a:endParaRPr lang="en-US" altLang="ko-KR" dirty="0"/>
          </a:p>
          <a:p>
            <a:r>
              <a:rPr lang="en-US" altLang="ko-KR" dirty="0" err="1"/>
              <a:t>getDerrivedStateFromProps</a:t>
            </a:r>
            <a:endParaRPr lang="en-US" altLang="ko-KR" dirty="0"/>
          </a:p>
          <a:p>
            <a:r>
              <a:rPr lang="en-US" altLang="ko-KR" dirty="0" err="1"/>
              <a:t>shouldComponentUpdate</a:t>
            </a:r>
            <a:endParaRPr lang="en-US" altLang="ko-KR" dirty="0"/>
          </a:p>
          <a:p>
            <a:r>
              <a:rPr lang="en-US" altLang="ko-KR" dirty="0" err="1">
                <a:solidFill>
                  <a:schemeClr val="accent1"/>
                </a:solidFill>
              </a:rPr>
              <a:t>componentDidUpdate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2615C2-B528-56CC-A8F5-9DE5425E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80BF-2A96-4971-A178-2D7CC605C76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126612-F13D-829D-440D-ECFCA252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777CD5-15E9-C7D6-68CE-6E352C2A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업데이트</a:t>
            </a:r>
            <a:r>
              <a:rPr lang="en-US" altLang="ko-KR" dirty="0"/>
              <a:t>(update)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FA28ADB-1579-F2AA-5C2A-296A5429424A}"/>
              </a:ext>
            </a:extLst>
          </p:cNvPr>
          <p:cNvSpPr txBox="1">
            <a:spLocks/>
          </p:cNvSpPr>
          <p:nvPr/>
        </p:nvSpPr>
        <p:spPr>
          <a:xfrm>
            <a:off x="304800" y="39369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dirty="0" err="1"/>
              <a:t>언마운트</a:t>
            </a:r>
            <a:r>
              <a:rPr lang="en-US" altLang="ko-KR" sz="4400" dirty="0"/>
              <a:t>(unmount)</a:t>
            </a:r>
            <a:endParaRPr lang="ko-KR" altLang="en-US" sz="44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C4CADBD-B840-6A40-56B8-35DAA32D006F}"/>
              </a:ext>
            </a:extLst>
          </p:cNvPr>
          <p:cNvSpPr txBox="1">
            <a:spLocks/>
          </p:cNvSpPr>
          <p:nvPr/>
        </p:nvSpPr>
        <p:spPr>
          <a:xfrm>
            <a:off x="838200" y="5318524"/>
            <a:ext cx="10515600" cy="71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>
                <a:solidFill>
                  <a:schemeClr val="accent1"/>
                </a:solidFill>
              </a:rPr>
              <a:t>comopnentWillUnmount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3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B5550-B6BC-9829-A34C-D485B7033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2"/>
            <a:ext cx="10174014" cy="4913191"/>
          </a:xfrm>
        </p:spPr>
        <p:txBody>
          <a:bodyPr>
            <a:normAutofit/>
          </a:bodyPr>
          <a:lstStyle/>
          <a:p>
            <a:r>
              <a:rPr lang="ko-KR" altLang="en-US" dirty="0"/>
              <a:t>앞에 소개한 모든 메서드를 완벽히 알아야 하는 것은 아님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sz="2400" strike="sngStrike" dirty="0">
                <a:solidFill>
                  <a:schemeClr val="bg1">
                    <a:lumMod val="50000"/>
                  </a:schemeClr>
                </a:solidFill>
              </a:rPr>
              <a:t>심지어 이제는 클래스형 컴포넌트를 사용하지 않음</a:t>
            </a:r>
            <a:r>
              <a:rPr lang="en-US" altLang="ko-KR" sz="2400" strike="sngStrike" dirty="0">
                <a:solidFill>
                  <a:schemeClr val="bg1">
                    <a:lumMod val="50000"/>
                  </a:schemeClr>
                </a:solidFill>
              </a:rPr>
              <a:t>..</a:t>
            </a:r>
            <a:endParaRPr lang="en-US" altLang="ko-KR" dirty="0"/>
          </a:p>
          <a:p>
            <a:r>
              <a:rPr lang="ko-KR" altLang="en-US" dirty="0"/>
              <a:t>실제로 공식 문서에서도 자주 사용되는 메서드와 자주 사용하지 않는 메서드를 구분하고 있음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자주 사용하는 메서드</a:t>
            </a:r>
            <a:endParaRPr lang="en-US" altLang="ko-KR" dirty="0"/>
          </a:p>
          <a:p>
            <a:pPr lvl="1"/>
            <a:r>
              <a:rPr lang="en-US" altLang="ko-KR" dirty="0" err="1"/>
              <a:t>componentDidMount</a:t>
            </a:r>
            <a:endParaRPr lang="en-US" altLang="ko-KR" dirty="0"/>
          </a:p>
          <a:p>
            <a:pPr lvl="1"/>
            <a:r>
              <a:rPr lang="en-US" altLang="ko-KR" dirty="0" err="1"/>
              <a:t>componentDidUpdate</a:t>
            </a:r>
            <a:endParaRPr lang="en-US" altLang="ko-KR" dirty="0"/>
          </a:p>
          <a:p>
            <a:pPr lvl="1"/>
            <a:r>
              <a:rPr lang="en-US" altLang="ko-KR" dirty="0" err="1"/>
              <a:t>componentWillUnmount</a:t>
            </a:r>
            <a:endParaRPr lang="en-US" altLang="ko-KR" dirty="0"/>
          </a:p>
          <a:p>
            <a:pPr marL="0" indent="0">
              <a:buNone/>
            </a:pPr>
            <a:br>
              <a:rPr lang="en-US" altLang="ko-KR" sz="1800" dirty="0">
                <a:hlinkClick r:id="rId3"/>
              </a:rPr>
            </a:br>
            <a:r>
              <a:rPr lang="en-US" altLang="ko-KR" sz="1800" dirty="0">
                <a:hlinkClick r:id="rId3"/>
              </a:rPr>
              <a:t>https://ko.reactjs.org/docs/react-component.html#commonly-used-lifecycle-methods</a:t>
            </a:r>
            <a:endParaRPr lang="en-US" altLang="ko-KR" sz="1800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118CD-73DC-C1EA-54EB-9AB9FDBF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6BCF-0596-450F-A4EF-16B1D4905D0C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978F68-C18F-E204-6BC3-290B31AB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E54708-BEC1-0B0F-AFF4-9675C42F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4730D56-5C90-DD14-4206-BFA8C98D528E}"/>
              </a:ext>
            </a:extLst>
          </p:cNvPr>
          <p:cNvSpPr txBox="1">
            <a:spLocks/>
          </p:cNvSpPr>
          <p:nvPr/>
        </p:nvSpPr>
        <p:spPr>
          <a:xfrm>
            <a:off x="8760841" y="1566524"/>
            <a:ext cx="3630907" cy="385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ko-KR" sz="1100" strike="sngStrik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745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118CD-73DC-C1EA-54EB-9AB9FDBF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6BCF-0596-450F-A4EF-16B1D4905D0C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978F68-C18F-E204-6BC3-290B31AB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E54708-BEC1-0B0F-AFF4-9675C42F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302CA8-1A24-5D8A-4350-10CBA9BE49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053"/>
          <a:stretch/>
        </p:blipFill>
        <p:spPr>
          <a:xfrm>
            <a:off x="612572" y="1243573"/>
            <a:ext cx="5177197" cy="31117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1857B5-A20B-4BB0-E55F-9044F2BD72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225"/>
          <a:stretch/>
        </p:blipFill>
        <p:spPr>
          <a:xfrm>
            <a:off x="5984841" y="1715112"/>
            <a:ext cx="5735264" cy="437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07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Life cycle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life cycle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94392816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</TotalTime>
  <Words>1323</Words>
  <Application>Microsoft Office PowerPoint</Application>
  <PresentationFormat>와이드스크린</PresentationFormat>
  <Paragraphs>315</Paragraphs>
  <Slides>32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helvetica neue</vt:lpstr>
      <vt:lpstr>Pretendard GOV</vt:lpstr>
      <vt:lpstr>맑은 고딕</vt:lpstr>
      <vt:lpstr>Arial</vt:lpstr>
      <vt:lpstr>3_Office 테마</vt:lpstr>
      <vt:lpstr>웹 개발자 부트캠프 과정</vt:lpstr>
      <vt:lpstr>ref &amp; useRef</vt:lpstr>
      <vt:lpstr>HTML에서 요소 선택</vt:lpstr>
      <vt:lpstr>React에서 요소 선택</vt:lpstr>
      <vt:lpstr>React에서 요소 선택</vt:lpstr>
      <vt:lpstr>ref 란?</vt:lpstr>
      <vt:lpstr>ref prop</vt:lpstr>
      <vt:lpstr>Ref 사용하기</vt:lpstr>
      <vt:lpstr>useRef()</vt:lpstr>
      <vt:lpstr>useRef() 의 용도</vt:lpstr>
      <vt:lpstr>useRef() 의 용도</vt:lpstr>
      <vt:lpstr>Ref 사용하기</vt:lpstr>
      <vt:lpstr>클래스형 컴포넌트에서 ref 사용 방법</vt:lpstr>
      <vt:lpstr>클래스형 컴포넌트에서 ref 사용 방법</vt:lpstr>
      <vt:lpstr>클래스형 컴포넌트에서 ref 사용 방법</vt:lpstr>
      <vt:lpstr>클래스형 컴포넌트에서 ref 사용 방법</vt:lpstr>
      <vt:lpstr>실습.   ref 실습</vt:lpstr>
      <vt:lpstr>Life Cycle</vt:lpstr>
      <vt:lpstr>라이프 사이클 이란?</vt:lpstr>
      <vt:lpstr>라이프 사이클</vt:lpstr>
      <vt:lpstr>라이프 사이클</vt:lpstr>
      <vt:lpstr>라이프사이클 용어 정리</vt:lpstr>
      <vt:lpstr>Life Cycle 이해하기</vt:lpstr>
      <vt:lpstr>useEffect()</vt:lpstr>
      <vt:lpstr>useEffect()</vt:lpstr>
      <vt:lpstr>useEffect()</vt:lpstr>
      <vt:lpstr>Life Cycle 이해하기</vt:lpstr>
      <vt:lpstr>마운트(mount)</vt:lpstr>
      <vt:lpstr>업데이트(update)</vt:lpstr>
      <vt:lpstr>라이프 사이클</vt:lpstr>
      <vt:lpstr>라이프 사이클</vt:lpstr>
      <vt:lpstr>실습.   Life cycle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119</cp:revision>
  <dcterms:created xsi:type="dcterms:W3CDTF">2022-06-26T11:10:22Z</dcterms:created>
  <dcterms:modified xsi:type="dcterms:W3CDTF">2024-08-07T10:03:47Z</dcterms:modified>
</cp:coreProperties>
</file>