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377" r:id="rId2"/>
    <p:sldId id="378" r:id="rId3"/>
    <p:sldId id="379" r:id="rId4"/>
    <p:sldId id="276" r:id="rId5"/>
    <p:sldId id="380" r:id="rId6"/>
    <p:sldId id="383" r:id="rId7"/>
    <p:sldId id="384" r:id="rId8"/>
    <p:sldId id="385" r:id="rId9"/>
    <p:sldId id="386" r:id="rId10"/>
    <p:sldId id="387" r:id="rId11"/>
    <p:sldId id="388" r:id="rId12"/>
    <p:sldId id="389" r:id="rId13"/>
    <p:sldId id="390" r:id="rId14"/>
    <p:sldId id="267" r:id="rId15"/>
    <p:sldId id="268" r:id="rId16"/>
    <p:sldId id="269" r:id="rId17"/>
    <p:sldId id="270" r:id="rId18"/>
    <p:sldId id="271" r:id="rId19"/>
    <p:sldId id="272" r:id="rId20"/>
    <p:sldId id="392" r:id="rId21"/>
    <p:sldId id="273" r:id="rId22"/>
    <p:sldId id="274" r:id="rId23"/>
    <p:sldId id="288" r:id="rId24"/>
    <p:sldId id="289" r:id="rId25"/>
    <p:sldId id="290" r:id="rId26"/>
    <p:sldId id="292" r:id="rId27"/>
    <p:sldId id="293" r:id="rId28"/>
    <p:sldId id="262" r:id="rId29"/>
    <p:sldId id="280" r:id="rId30"/>
    <p:sldId id="281" r:id="rId31"/>
    <p:sldId id="282" r:id="rId32"/>
    <p:sldId id="393" r:id="rId33"/>
    <p:sldId id="394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3" autoAdjust="0"/>
    <p:restoredTop sz="67634" autoAdjust="0"/>
  </p:normalViewPr>
  <p:slideViewPr>
    <p:cSldViewPr snapToGrid="0">
      <p:cViewPr varScale="1">
        <p:scale>
          <a:sx n="77" d="100"/>
          <a:sy n="77" d="100"/>
        </p:scale>
        <p:origin x="11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fld id="{6CF29A9B-32B2-49A0-9A50-441B26F8BC3C}" type="datetimeFigureOut">
              <a:rPr lang="ko-KR" altLang="en-US" smtClean="0"/>
              <a:pPr/>
              <a:t>2023-07-31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34" charset="-127"/>
                <a:ea typeface="Kim jung chul Gothic Regular" panose="020B0503000000000000" pitchFamily="34" charset="-127"/>
              </a:defRPr>
            </a:lvl1pPr>
          </a:lstStyle>
          <a:p>
            <a:fld id="{F2BFBB73-69DE-466F-AF4C-EFF91731AC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363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34" charset="-127"/>
        <a:ea typeface="Kim jung chul Gothic Regular" panose="020B0503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6148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출처 </a:t>
            </a:r>
            <a:r>
              <a:rPr lang="en-US" altLang="ko-KR" dirty="0"/>
              <a:t>: https://yamoo9.gitbook.io/css-grid/css-grid-term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999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5240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892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24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item</a:t>
            </a:r>
            <a:r>
              <a:rPr lang="ko-KR" altLang="en-US" dirty="0"/>
              <a:t>들 간의 정렬이 아니라 </a:t>
            </a:r>
            <a:r>
              <a:rPr lang="en-US" altLang="ko-KR" dirty="0"/>
              <a:t>item</a:t>
            </a:r>
            <a:r>
              <a:rPr lang="ko-KR" altLang="en-US" dirty="0"/>
              <a:t>이 할당된 셀에서만 한 번에 다니도록 정렬</a:t>
            </a: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flex</a:t>
            </a:r>
            <a:r>
              <a:rPr lang="ko-KR" altLang="en-US" dirty="0"/>
              <a:t>에는 없던 속성이지만 </a:t>
            </a:r>
            <a:r>
              <a:rPr lang="en-US" altLang="ko-KR" dirty="0"/>
              <a:t>align-items</a:t>
            </a:r>
            <a:r>
              <a:rPr lang="ko-KR" altLang="en-US" dirty="0"/>
              <a:t>와 동일하게 동작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333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start</a:t>
            </a:r>
            <a:r>
              <a:rPr lang="en-US" altLang="ko-KR" baseline="0" dirty="0"/>
              <a:t> </a:t>
            </a:r>
            <a:r>
              <a:rPr lang="ko-KR" altLang="en-US" baseline="0" dirty="0"/>
              <a:t>혹은 </a:t>
            </a:r>
            <a:r>
              <a:rPr lang="en-US" altLang="ko-KR" baseline="0" dirty="0"/>
              <a:t>end</a:t>
            </a:r>
            <a:r>
              <a:rPr lang="ko-KR" altLang="en-US" baseline="0" dirty="0"/>
              <a:t>속성만 지정해줘도 </a:t>
            </a:r>
            <a:r>
              <a:rPr lang="en-US" altLang="ko-KR" baseline="0" dirty="0"/>
              <a:t>ok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563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row</a:t>
            </a:r>
            <a:r>
              <a:rPr lang="ko-KR" altLang="en-US" dirty="0"/>
              <a:t>와 쓰는 방법 동일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851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77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시각적 순서일 뿐 </a:t>
            </a:r>
            <a:r>
              <a:rPr lang="en-US" altLang="ko-KR" dirty="0"/>
              <a:t>HTML </a:t>
            </a:r>
            <a:r>
              <a:rPr lang="ko-KR" altLang="en-US" dirty="0"/>
              <a:t>구조를 바꾸는 것이 아니라서</a:t>
            </a:r>
            <a:r>
              <a:rPr lang="ko-KR" altLang="en-US" baseline="0" dirty="0"/>
              <a:t> </a:t>
            </a:r>
            <a:r>
              <a:rPr lang="en-US" altLang="ko-KR" baseline="0" dirty="0"/>
              <a:t>“</a:t>
            </a:r>
            <a:r>
              <a:rPr lang="ko-KR" altLang="en-US" baseline="0" dirty="0"/>
              <a:t>웹 접근성 측면에서 주의</a:t>
            </a:r>
            <a:r>
              <a:rPr lang="en-US" altLang="ko-KR" baseline="0" dirty="0"/>
              <a:t>” </a:t>
            </a:r>
          </a:p>
          <a:p>
            <a:r>
              <a:rPr lang="en-US" altLang="ko-KR" baseline="0" dirty="0"/>
              <a:t>&gt;&gt; </a:t>
            </a:r>
            <a:r>
              <a:rPr lang="ko-KR" altLang="en-US" baseline="0" dirty="0"/>
              <a:t>시각장애인 스크린 리더로 화면을 읽을 때 </a:t>
            </a:r>
            <a:r>
              <a:rPr lang="en-US" altLang="ko-KR" baseline="0" dirty="0"/>
              <a:t>order</a:t>
            </a:r>
            <a:r>
              <a:rPr lang="ko-KR" altLang="en-US" baseline="0" dirty="0"/>
              <a:t>는 의미 없다</a:t>
            </a:r>
            <a:endParaRPr lang="en-US" altLang="ko-KR" baseline="0" dirty="0"/>
          </a:p>
          <a:p>
            <a:endParaRPr lang="en-US" altLang="ko-KR" baseline="0" dirty="0"/>
          </a:p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051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단</a:t>
            </a:r>
            <a:r>
              <a:rPr lang="en-US" altLang="ko-KR" dirty="0"/>
              <a:t>, position </a:t>
            </a:r>
            <a:r>
              <a:rPr lang="ko-KR" altLang="en-US" dirty="0"/>
              <a:t>에서 쓰이는 </a:t>
            </a:r>
            <a:r>
              <a:rPr lang="en-US" altLang="ko-KR" dirty="0"/>
              <a:t>z-index</a:t>
            </a:r>
            <a:r>
              <a:rPr lang="ko-KR" altLang="en-US" dirty="0"/>
              <a:t>는 </a:t>
            </a:r>
            <a:r>
              <a:rPr lang="en-US" altLang="ko-KR" dirty="0"/>
              <a:t>position:</a:t>
            </a:r>
            <a:r>
              <a:rPr lang="en-US" altLang="ko-KR" baseline="0" dirty="0"/>
              <a:t> static</a:t>
            </a:r>
            <a:r>
              <a:rPr lang="ko-KR" altLang="en-US" baseline="0" dirty="0"/>
              <a:t>이</a:t>
            </a:r>
            <a:r>
              <a:rPr lang="en-US" altLang="ko-KR" baseline="0" dirty="0"/>
              <a:t> </a:t>
            </a:r>
            <a:r>
              <a:rPr lang="ko-KR" altLang="en-US" baseline="0" dirty="0"/>
              <a:t>아닐 때만 적용되지만</a:t>
            </a:r>
            <a:endParaRPr lang="en-US" altLang="ko-KR" baseline="0" dirty="0"/>
          </a:p>
          <a:p>
            <a:r>
              <a:rPr lang="en-US" altLang="ko-KR" baseline="0" dirty="0"/>
              <a:t>grid</a:t>
            </a:r>
            <a:r>
              <a:rPr lang="ko-KR" altLang="en-US" baseline="0" dirty="0"/>
              <a:t>에서는 </a:t>
            </a:r>
            <a:r>
              <a:rPr lang="en-US" altLang="ko-KR" baseline="0" dirty="0"/>
              <a:t>position</a:t>
            </a:r>
            <a:r>
              <a:rPr lang="ko-KR" altLang="en-US" baseline="0" dirty="0"/>
              <a:t>값과 상관없이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237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111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그리드 이용해서 위의 레이아웃 만들어 보세요 </a:t>
            </a:r>
            <a:r>
              <a:rPr lang="en-US" altLang="ko-KR" dirty="0"/>
              <a:t>~</a:t>
            </a:r>
          </a:p>
          <a:p>
            <a:endParaRPr lang="en-US" altLang="ko-KR" baseline="0" dirty="0"/>
          </a:p>
          <a:p>
            <a:r>
              <a:rPr lang="en-US" altLang="ko-KR" dirty="0"/>
              <a:t>https://coolors.co/palettes/trending </a:t>
            </a:r>
            <a:r>
              <a:rPr lang="ko-KR" altLang="en-US" dirty="0" err="1"/>
              <a:t>색참고</a:t>
            </a:r>
            <a:endParaRPr lang="en-US" altLang="ko-KR" dirty="0"/>
          </a:p>
          <a:p>
            <a:r>
              <a:rPr lang="ko-KR" altLang="en-US" dirty="0"/>
              <a:t>다른 색상 참고 사이트도 알려주기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90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크기 줄여도 해당 비율 유지</a:t>
            </a:r>
            <a:r>
              <a:rPr lang="en-US" altLang="ko-KR" dirty="0"/>
              <a:t>, </a:t>
            </a:r>
            <a:r>
              <a:rPr lang="ko-KR" altLang="en-US" dirty="0"/>
              <a:t>색깔은 순서가 달라도 되고</a:t>
            </a:r>
            <a:r>
              <a:rPr lang="en-US" altLang="ko-KR" dirty="0"/>
              <a:t>, </a:t>
            </a:r>
            <a:r>
              <a:rPr lang="ko-KR" altLang="en-US" dirty="0"/>
              <a:t>아예 달라도 됨</a:t>
            </a:r>
            <a:endParaRPr lang="en-US" altLang="ko-KR" dirty="0"/>
          </a:p>
          <a:p>
            <a:r>
              <a:rPr lang="ko-KR" altLang="en-US" dirty="0"/>
              <a:t>여기서 글씨 가운데 정렬 시키는 방법 </a:t>
            </a:r>
            <a:r>
              <a:rPr lang="ko-KR" altLang="en-US" dirty="0" err="1"/>
              <a:t>고민해보기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글씨체 적용하기</a:t>
            </a:r>
            <a:endParaRPr lang="en-US" altLang="ko-KR" dirty="0"/>
          </a:p>
          <a:p>
            <a:r>
              <a:rPr lang="en-US" altLang="ko-KR" dirty="0"/>
              <a:t>container</a:t>
            </a:r>
            <a:r>
              <a:rPr lang="en-US" altLang="ko-KR" baseline="0" dirty="0"/>
              <a:t> </a:t>
            </a:r>
            <a:r>
              <a:rPr lang="ko-KR" altLang="en-US" baseline="0" dirty="0"/>
              <a:t>속성</a:t>
            </a:r>
            <a:r>
              <a:rPr lang="en-US" altLang="ko-KR" baseline="0" dirty="0"/>
              <a:t>: grid-template-*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item </a:t>
            </a:r>
            <a:r>
              <a:rPr lang="ko-KR" altLang="en-US" baseline="0" dirty="0"/>
              <a:t>속성</a:t>
            </a:r>
            <a:r>
              <a:rPr lang="en-US" altLang="ko-KR" baseline="0" dirty="0"/>
              <a:t>: grid-* (grid-column(row)-start/end </a:t>
            </a:r>
            <a:r>
              <a:rPr lang="ko-KR" altLang="en-US" baseline="0" dirty="0"/>
              <a:t>의 단축 속성</a:t>
            </a:r>
            <a:r>
              <a:rPr lang="en-US" altLang="ko-KR" baseline="0" dirty="0"/>
              <a:t>)</a:t>
            </a: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240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외에도 구글에 검색하면 다른 사이트도 많이 나오니 이외에도 찾아볼 분들은 참고하시라 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437976-6473-4091-AACC-0ACD9958F85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999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8816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FBB73-69DE-466F-AF4C-EFF91731ACB3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6900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01AB1409-DEDF-C824-D8D3-05B260A93B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3" y="103811"/>
            <a:ext cx="4328535" cy="22808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26026682-DE15-5F01-6FA7-8F46F9ABCC2A}"/>
              </a:ext>
            </a:extLst>
          </p:cNvPr>
          <p:cNvSpPr txBox="1">
            <a:spLocks/>
          </p:cNvSpPr>
          <p:nvPr userDrawn="1"/>
        </p:nvSpPr>
        <p:spPr>
          <a:xfrm>
            <a:off x="9110749" y="5933035"/>
            <a:ext cx="29485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2000" u="none" dirty="0"/>
              <a:t>With. </a:t>
            </a:r>
            <a:r>
              <a:rPr lang="ko-KR" altLang="en-US" sz="2000" u="none" dirty="0"/>
              <a:t>팀 </a:t>
            </a:r>
            <a:r>
              <a:rPr lang="ko-KR" altLang="en-US" sz="2000" u="none" dirty="0" err="1"/>
              <a:t>뤼쳐드</a:t>
            </a:r>
            <a:endParaRPr lang="ko-KR" altLang="en-US" sz="2000" u="none" dirty="0"/>
          </a:p>
        </p:txBody>
      </p:sp>
    </p:spTree>
    <p:extLst>
      <p:ext uri="{BB962C8B-B14F-4D97-AF65-F5344CB8AC3E}">
        <p14:creationId xmlns:p14="http://schemas.microsoft.com/office/powerpoint/2010/main" val="1782520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980133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1570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01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12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81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852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753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90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8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376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9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CFFA81A6-6D9A-9C22-6A01-103FCC7108B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576" y="140110"/>
            <a:ext cx="1026976" cy="2051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8CEA0B-0194-B9A0-705F-CAB04B3523DA}"/>
              </a:ext>
            </a:extLst>
          </p:cNvPr>
          <p:cNvSpPr txBox="1"/>
          <p:nvPr userDrawn="1"/>
        </p:nvSpPr>
        <p:spPr>
          <a:xfrm>
            <a:off x="10814758" y="104713"/>
            <a:ext cx="227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X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1" name="Picture 4" descr="청년취업사관학교, 새싹(SeSAC) - YouTube">
            <a:extLst>
              <a:ext uri="{FF2B5EF4-FFF2-40B4-BE49-F238E27FC236}">
                <a16:creationId xmlns:a16="http://schemas.microsoft.com/office/drawing/2014/main" id="{AD5D531A-42B5-6D12-7A47-FFEB75D29C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2653" y="54125"/>
            <a:ext cx="371243" cy="37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615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amoo9.gitbook.io/css-grid/css-grid-ter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oolors.co/palettes/trendin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2colors.colorion.co/" TargetMode="External"/><Relationship Id="rId5" Type="http://schemas.openxmlformats.org/officeDocument/2006/relationships/hyperlink" Target="https://colorpalettes.net/" TargetMode="External"/><Relationship Id="rId4" Type="http://schemas.openxmlformats.org/officeDocument/2006/relationships/hyperlink" Target="https://colorhunt.co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SeSAC</a:t>
            </a:r>
            <a:r>
              <a:rPr lang="en-US" altLang="ko-KR" dirty="0"/>
              <a:t> x </a:t>
            </a:r>
            <a:r>
              <a:rPr lang="en-US" altLang="ko-KR" dirty="0" err="1"/>
              <a:t>CODINGOn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Grid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314441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CB8CCD9-CBEB-BF5D-92E0-1446CD76D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페이지의 레이아웃을 만들 때 사용</a:t>
            </a:r>
            <a:endParaRPr lang="en-US" altLang="ko-KR" dirty="0"/>
          </a:p>
          <a:p>
            <a:r>
              <a:rPr lang="en-US" altLang="ko-KR" dirty="0"/>
              <a:t>IE </a:t>
            </a:r>
            <a:r>
              <a:rPr lang="ko-KR" altLang="en-US" dirty="0"/>
              <a:t>지원 안됨 </a:t>
            </a:r>
            <a:r>
              <a:rPr lang="en-US" altLang="ko-KR" dirty="0"/>
              <a:t>(IE11</a:t>
            </a:r>
            <a:r>
              <a:rPr lang="ko-KR" altLang="en-US" dirty="0"/>
              <a:t>은 부분 지원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Flex</a:t>
            </a:r>
            <a:r>
              <a:rPr lang="ko-KR" altLang="en-US" dirty="0"/>
              <a:t>가 한 방향에 대해서 정렬을 했다면 </a:t>
            </a:r>
            <a:r>
              <a:rPr lang="en-US" altLang="ko-KR" dirty="0"/>
              <a:t>Grid</a:t>
            </a:r>
            <a:r>
              <a:rPr lang="ko-KR" altLang="en-US" dirty="0"/>
              <a:t>는 여러 방향에 대해서도 정렬</a:t>
            </a:r>
            <a:endParaRPr lang="en-US" altLang="ko-KR" dirty="0"/>
          </a:p>
          <a:p>
            <a:r>
              <a:rPr lang="en-US" altLang="ko-KR" dirty="0"/>
              <a:t>CSS3 </a:t>
            </a:r>
            <a:r>
              <a:rPr lang="ko-KR" altLang="en-US" dirty="0"/>
              <a:t>부터</a:t>
            </a:r>
            <a:r>
              <a:rPr lang="en-US" altLang="ko-KR" dirty="0"/>
              <a:t> </a:t>
            </a:r>
            <a:r>
              <a:rPr lang="ko-KR" altLang="en-US" dirty="0"/>
              <a:t>등장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2B7BDA-C5F4-0256-583C-15792E21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AE97BD-D0FB-9798-9972-55D70546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C9F1F15-645E-E475-CD0F-4FF67729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그리드 </a:t>
            </a:r>
            <a:r>
              <a:rPr lang="en-US" altLang="ko-KR" dirty="0"/>
              <a:t>(Grid)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2852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Flex vs. Grid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0836" y="1657733"/>
            <a:ext cx="5692020" cy="35425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9EDB34-5395-5E03-D2F1-11281EB95E6A}"/>
              </a:ext>
            </a:extLst>
          </p:cNvPr>
          <p:cNvSpPr txBox="1"/>
          <p:nvPr/>
        </p:nvSpPr>
        <p:spPr>
          <a:xfrm>
            <a:off x="5983267" y="5978139"/>
            <a:ext cx="610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solidFill>
                  <a:schemeClr val="accent6"/>
                </a:solidFill>
              </a:rPr>
              <a:t>출처</a:t>
            </a:r>
            <a:r>
              <a:rPr lang="en-US" altLang="ko-KR" dirty="0">
                <a:solidFill>
                  <a:schemeClr val="accent6"/>
                </a:solidFill>
              </a:rPr>
              <a:t>: </a:t>
            </a:r>
            <a:r>
              <a:rPr lang="ko-KR" altLang="en-US" dirty="0">
                <a:solidFill>
                  <a:schemeClr val="accent6"/>
                </a:solidFill>
              </a:rPr>
              <a:t>https://studiomeal.com/archives/533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F8CCCD-A1CB-50C8-AACD-3DFE9C126840}"/>
              </a:ext>
            </a:extLst>
          </p:cNvPr>
          <p:cNvSpPr txBox="1"/>
          <p:nvPr/>
        </p:nvSpPr>
        <p:spPr>
          <a:xfrm>
            <a:off x="3876151" y="5327593"/>
            <a:ext cx="4214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</a:rPr>
              <a:t>1</a:t>
            </a:r>
            <a:r>
              <a:rPr lang="ko-KR" altLang="en-US" sz="2800" b="1" dirty="0">
                <a:solidFill>
                  <a:schemeClr val="accent1"/>
                </a:solidFill>
              </a:rPr>
              <a:t>차원          </a:t>
            </a:r>
            <a:r>
              <a:rPr lang="en-US" altLang="ko-KR" sz="2800" b="1" dirty="0">
                <a:solidFill>
                  <a:schemeClr val="accent1"/>
                </a:solidFill>
              </a:rPr>
              <a:t>vs.        </a:t>
            </a:r>
            <a:r>
              <a:rPr lang="ko-KR" altLang="en-US" sz="2800" b="1" dirty="0">
                <a:solidFill>
                  <a:schemeClr val="accent1"/>
                </a:solidFill>
              </a:rPr>
              <a:t> </a:t>
            </a:r>
            <a:r>
              <a:rPr lang="en-US" altLang="ko-KR" sz="2800" b="1" dirty="0">
                <a:solidFill>
                  <a:schemeClr val="accent1"/>
                </a:solidFill>
              </a:rPr>
              <a:t>2</a:t>
            </a:r>
            <a:r>
              <a:rPr lang="ko-KR" altLang="en-US" sz="2800" b="1" dirty="0">
                <a:solidFill>
                  <a:schemeClr val="accent1"/>
                </a:solidFill>
              </a:rPr>
              <a:t>차원</a:t>
            </a:r>
          </a:p>
        </p:txBody>
      </p:sp>
    </p:spTree>
    <p:extLst>
      <p:ext uri="{BB962C8B-B14F-4D97-AF65-F5344CB8AC3E}">
        <p14:creationId xmlns:p14="http://schemas.microsoft.com/office/powerpoint/2010/main" val="365436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96C8BF5-611E-563C-86AB-785BB1702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grid-row</a:t>
            </a:r>
            <a:r>
              <a:rPr lang="ko-KR" altLang="en-US" dirty="0"/>
              <a:t>와 </a:t>
            </a:r>
            <a:r>
              <a:rPr lang="en-US" altLang="ko-KR" dirty="0"/>
              <a:t>grid-</a:t>
            </a:r>
            <a:r>
              <a:rPr lang="en-US" altLang="ko-KR" dirty="0" err="1"/>
              <a:t>colum</a:t>
            </a:r>
            <a:r>
              <a:rPr lang="en-US" altLang="ko-KR" dirty="0"/>
              <a:t> (track)</a:t>
            </a:r>
          </a:p>
          <a:p>
            <a:r>
              <a:rPr lang="en-US" altLang="ko-KR" dirty="0"/>
              <a:t>gutter (gap)</a:t>
            </a:r>
          </a:p>
          <a:p>
            <a:r>
              <a:rPr lang="en-US" altLang="ko-KR" dirty="0"/>
              <a:t>grid line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13CBBA-DFA0-ADC1-FF0A-15F02CE3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9B2306-468E-EFC8-0327-FD60A663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967F066-A28C-3267-3132-4E78A06C7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Grid</a:t>
            </a:r>
            <a:r>
              <a:rPr lang="ko-KR" altLang="en-US" dirty="0"/>
              <a:t> 용어 정리</a:t>
            </a:r>
          </a:p>
        </p:txBody>
      </p:sp>
    </p:spTree>
    <p:extLst>
      <p:ext uri="{BB962C8B-B14F-4D97-AF65-F5344CB8AC3E}">
        <p14:creationId xmlns:p14="http://schemas.microsoft.com/office/powerpoint/2010/main" val="1226631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8821" y="723781"/>
            <a:ext cx="10097441" cy="501712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285985" y="5927726"/>
            <a:ext cx="668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solidFill>
                  <a:schemeClr val="accent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dirty="0">
                <a:solidFill>
                  <a:schemeClr val="accent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https://yamoo9.gitbook.io/css-grid/css-grid-term</a:t>
            </a:r>
            <a:endParaRPr lang="ko-KR" alt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434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0C85AC0-DE7E-D576-E7A5-0BB0E1FC7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flex</a:t>
            </a:r>
            <a:r>
              <a:rPr lang="ko-KR" altLang="en-US" sz="3200" dirty="0"/>
              <a:t>와 마찬가지로 </a:t>
            </a:r>
            <a:r>
              <a:rPr lang="en-US" altLang="ko-KR" sz="3200" dirty="0"/>
              <a:t>container</a:t>
            </a:r>
            <a:r>
              <a:rPr lang="ko-KR" altLang="en-US" sz="3200" dirty="0"/>
              <a:t>속성과 </a:t>
            </a:r>
            <a:r>
              <a:rPr lang="en-US" altLang="ko-KR" sz="3200" dirty="0"/>
              <a:t>item</a:t>
            </a:r>
            <a:r>
              <a:rPr lang="ko-KR" altLang="en-US" sz="3200" dirty="0"/>
              <a:t>속성이 각각 존재</a:t>
            </a:r>
            <a:endParaRPr lang="en-US" altLang="ko-KR" sz="3200" dirty="0"/>
          </a:p>
          <a:p>
            <a:endParaRPr lang="en-US" altLang="ko-KR" sz="3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sz="3200" b="1" dirty="0">
                <a:solidFill>
                  <a:schemeClr val="accent1"/>
                </a:solidFill>
              </a:rPr>
              <a:t>display: grid;</a:t>
            </a:r>
            <a:r>
              <a:rPr lang="en-US" altLang="ko-KR" sz="3200" dirty="0"/>
              <a:t> </a:t>
            </a:r>
            <a:r>
              <a:rPr lang="ko-KR" altLang="en-US" sz="3200" dirty="0"/>
              <a:t> </a:t>
            </a:r>
            <a:endParaRPr lang="en-US" altLang="ko-KR" sz="3200" dirty="0"/>
          </a:p>
          <a:p>
            <a:pPr lvl="1">
              <a:lnSpc>
                <a:spcPct val="100000"/>
              </a:lnSpc>
            </a:pPr>
            <a:r>
              <a:rPr lang="en-US" altLang="ko-KR" sz="2800" dirty="0"/>
              <a:t>container</a:t>
            </a:r>
            <a:r>
              <a:rPr lang="ko-KR" altLang="en-US" sz="2800" dirty="0"/>
              <a:t>에 해당하는 요소에 속성을 적용시켜주면 됩니다</a:t>
            </a:r>
            <a:r>
              <a:rPr lang="en-US" altLang="ko-KR" sz="2800" dirty="0"/>
              <a:t>!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3200" dirty="0"/>
          </a:p>
          <a:p>
            <a:endParaRPr lang="ko-KR" altLang="en-US" sz="32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878D78-6700-216B-E3EE-92CACCEC8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12801-E107-22A4-5979-01AA4D69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B64B7D0-708F-9BBE-CDCC-7904C5BB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display: grid;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7925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76DFE8-2C29-F107-6340-3AD00C85F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0C0E0B-53D7-DED8-0263-EC489489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43FF7B-5A42-1FFC-B9D4-956AEFD4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Container </a:t>
            </a:r>
            <a:r>
              <a:rPr lang="ko-KR" altLang="en-US" sz="8000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3649090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289E9CE-B29B-BAA6-26E5-B089E2703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9C874A-8E7D-F43C-5A93-260B294F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3ADD6E-4C05-09FD-AA38-21EC04D8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64C152C-C688-4B96-2367-B95C2734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container </a:t>
            </a:r>
            <a:r>
              <a:rPr lang="ko-KR" altLang="en-US" dirty="0"/>
              <a:t>속성 종류</a:t>
            </a:r>
          </a:p>
        </p:txBody>
      </p:sp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D811C9D5-8205-FE60-1158-2D4717CB78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304024"/>
              </p:ext>
            </p:extLst>
          </p:nvPr>
        </p:nvGraphicFramePr>
        <p:xfrm>
          <a:off x="2165684" y="1690688"/>
          <a:ext cx="7628021" cy="4453876"/>
        </p:xfrm>
        <a:graphic>
          <a:graphicData uri="http://schemas.openxmlformats.org/drawingml/2006/table">
            <a:tbl>
              <a:tblPr/>
              <a:tblGrid>
                <a:gridCol w="2369500">
                  <a:extLst>
                    <a:ext uri="{9D8B030D-6E8A-4147-A177-3AD203B41FA5}">
                      <a16:colId xmlns:a16="http://schemas.microsoft.com/office/drawing/2014/main" val="2245810729"/>
                    </a:ext>
                  </a:extLst>
                </a:gridCol>
                <a:gridCol w="5258521">
                  <a:extLst>
                    <a:ext uri="{9D8B030D-6E8A-4147-A177-3AD203B41FA5}">
                      <a16:colId xmlns:a16="http://schemas.microsoft.com/office/drawing/2014/main" val="1391724548"/>
                    </a:ext>
                  </a:extLst>
                </a:gridCol>
              </a:tblGrid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grid-template-rows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명시적 행</a:t>
                      </a:r>
                      <a:r>
                        <a:rPr lang="en-US" altLang="ko-KR" sz="1000">
                          <a:effectLst/>
                        </a:rPr>
                        <a:t>(Track)</a:t>
                      </a:r>
                      <a:r>
                        <a:rPr lang="ko-KR" altLang="en-US" sz="1000">
                          <a:effectLst/>
                        </a:rPr>
                        <a:t>의 크기를 정의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407700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grid-template-columns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명시적 열</a:t>
                      </a:r>
                      <a:r>
                        <a:rPr lang="en-US" altLang="ko-KR" sz="1000">
                          <a:effectLst/>
                        </a:rPr>
                        <a:t>(Track)</a:t>
                      </a:r>
                      <a:r>
                        <a:rPr lang="ko-KR" altLang="en-US" sz="1000">
                          <a:effectLst/>
                        </a:rPr>
                        <a:t>의 크기를 정의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48114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grid-template-areas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영역</a:t>
                      </a:r>
                      <a:r>
                        <a:rPr lang="en-US" altLang="ko-KR" sz="1000">
                          <a:effectLst/>
                        </a:rPr>
                        <a:t>(Area) </a:t>
                      </a:r>
                      <a:r>
                        <a:rPr lang="ko-KR" altLang="en-US" sz="1000">
                          <a:effectLst/>
                        </a:rPr>
                        <a:t>이름을 참조해 템플릿 생성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37747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grid-template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grid-template-xxx</a:t>
                      </a:r>
                      <a:r>
                        <a:rPr lang="ko-KR" altLang="en-US" sz="1000">
                          <a:effectLst/>
                        </a:rPr>
                        <a:t>의 단축 속성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607671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row-gap(grid-row-gap)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행과 행 사이의 간격</a:t>
                      </a:r>
                      <a:r>
                        <a:rPr lang="en-US" altLang="ko-KR" sz="1000">
                          <a:effectLst/>
                        </a:rPr>
                        <a:t>(Line)</a:t>
                      </a:r>
                      <a:r>
                        <a:rPr lang="ko-KR" altLang="en-US" sz="1000">
                          <a:effectLst/>
                        </a:rPr>
                        <a:t>을 정의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050040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column-gap(grid-column-gap)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열과 열 사이의 간격</a:t>
                      </a:r>
                      <a:r>
                        <a:rPr lang="en-US" altLang="ko-KR" sz="1000">
                          <a:effectLst/>
                        </a:rPr>
                        <a:t>(Line)</a:t>
                      </a:r>
                      <a:r>
                        <a:rPr lang="ko-KR" altLang="en-US" sz="1000">
                          <a:effectLst/>
                        </a:rPr>
                        <a:t>을 정의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456693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gap(grid-gap)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xxx-gap</a:t>
                      </a:r>
                      <a:r>
                        <a:rPr lang="ko-KR" altLang="en-US" sz="1000">
                          <a:effectLst/>
                        </a:rPr>
                        <a:t>의 단축 속성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415524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grid-auto-rows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암시적인 행</a:t>
                      </a:r>
                      <a:r>
                        <a:rPr lang="en-US" altLang="ko-KR" sz="1000">
                          <a:effectLst/>
                        </a:rPr>
                        <a:t>(Track)</a:t>
                      </a:r>
                      <a:r>
                        <a:rPr lang="ko-KR" altLang="en-US" sz="1000">
                          <a:effectLst/>
                        </a:rPr>
                        <a:t>의 크기를 정의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15246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grid-auto-columns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암시적인 열</a:t>
                      </a:r>
                      <a:r>
                        <a:rPr lang="en-US" altLang="ko-KR" sz="1000">
                          <a:effectLst/>
                        </a:rPr>
                        <a:t>(Track)</a:t>
                      </a:r>
                      <a:r>
                        <a:rPr lang="ko-KR" altLang="en-US" sz="1000">
                          <a:effectLst/>
                        </a:rPr>
                        <a:t>의 크기를 정의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507882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grid-auto-flow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자동 배치 알고리즘 방식을 정의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582732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grid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grid-template-xxx</a:t>
                      </a:r>
                      <a:r>
                        <a:rPr lang="ko-KR" altLang="en-US" sz="1000">
                          <a:effectLst/>
                        </a:rPr>
                        <a:t>과 </a:t>
                      </a:r>
                      <a:r>
                        <a:rPr lang="en-US" sz="1000">
                          <a:effectLst/>
                        </a:rPr>
                        <a:t>grid-auto-xxx</a:t>
                      </a:r>
                      <a:r>
                        <a:rPr lang="ko-KR" altLang="en-US" sz="1000">
                          <a:effectLst/>
                        </a:rPr>
                        <a:t>의 단축 속성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018808"/>
                  </a:ext>
                </a:extLst>
              </a:tr>
              <a:tr h="393364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align-content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그리드 콘텐츠</a:t>
                      </a:r>
                      <a:r>
                        <a:rPr lang="en-US" altLang="ko-KR" sz="1000">
                          <a:effectLst/>
                        </a:rPr>
                        <a:t>(Grid Contents)</a:t>
                      </a:r>
                      <a:r>
                        <a:rPr lang="ko-KR" altLang="en-US" sz="1000">
                          <a:effectLst/>
                        </a:rPr>
                        <a:t>를 수직</a:t>
                      </a:r>
                      <a:r>
                        <a:rPr lang="en-US" altLang="ko-KR" sz="1000">
                          <a:effectLst/>
                        </a:rPr>
                        <a:t>(</a:t>
                      </a:r>
                      <a:r>
                        <a:rPr lang="ko-KR" altLang="en-US" sz="1000">
                          <a:effectLst/>
                        </a:rPr>
                        <a:t>열 축</a:t>
                      </a:r>
                      <a:r>
                        <a:rPr lang="en-US" altLang="ko-KR" sz="1000">
                          <a:effectLst/>
                        </a:rPr>
                        <a:t>) </a:t>
                      </a:r>
                      <a:r>
                        <a:rPr lang="ko-KR" altLang="en-US" sz="1000">
                          <a:effectLst/>
                        </a:rPr>
                        <a:t>정렬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950076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justify-content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그리드 콘텐츠를 수평</a:t>
                      </a:r>
                      <a:r>
                        <a:rPr lang="en-US" altLang="ko-KR" sz="1000">
                          <a:effectLst/>
                        </a:rPr>
                        <a:t>(</a:t>
                      </a:r>
                      <a:r>
                        <a:rPr lang="ko-KR" altLang="en-US" sz="1000">
                          <a:effectLst/>
                        </a:rPr>
                        <a:t>행 축</a:t>
                      </a:r>
                      <a:r>
                        <a:rPr lang="en-US" altLang="ko-KR" sz="1000">
                          <a:effectLst/>
                        </a:rPr>
                        <a:t>) </a:t>
                      </a:r>
                      <a:r>
                        <a:rPr lang="ko-KR" altLang="en-US" sz="1000">
                          <a:effectLst/>
                        </a:rPr>
                        <a:t>정렬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514984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place-content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align-content</a:t>
                      </a:r>
                      <a:r>
                        <a:rPr lang="ko-KR" altLang="en-US" sz="1000">
                          <a:effectLst/>
                        </a:rPr>
                        <a:t>와 </a:t>
                      </a:r>
                      <a:r>
                        <a:rPr lang="en-US" sz="1000">
                          <a:effectLst/>
                        </a:rPr>
                        <a:t>justify-content</a:t>
                      </a:r>
                      <a:r>
                        <a:rPr lang="ko-KR" altLang="en-US" sz="1000">
                          <a:effectLst/>
                        </a:rPr>
                        <a:t>의 단축 속성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485211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align-items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그리드 아이템</a:t>
                      </a:r>
                      <a:r>
                        <a:rPr lang="en-US" altLang="ko-KR" sz="1000">
                          <a:effectLst/>
                        </a:rPr>
                        <a:t>(Items)</a:t>
                      </a:r>
                      <a:r>
                        <a:rPr lang="ko-KR" altLang="en-US" sz="1000">
                          <a:effectLst/>
                        </a:rPr>
                        <a:t>들을 수직</a:t>
                      </a:r>
                      <a:r>
                        <a:rPr lang="en-US" altLang="ko-KR" sz="1000">
                          <a:effectLst/>
                        </a:rPr>
                        <a:t>(</a:t>
                      </a:r>
                      <a:r>
                        <a:rPr lang="ko-KR" altLang="en-US" sz="1000">
                          <a:effectLst/>
                        </a:rPr>
                        <a:t>열 축</a:t>
                      </a:r>
                      <a:r>
                        <a:rPr lang="en-US" altLang="ko-KR" sz="1000">
                          <a:effectLst/>
                        </a:rPr>
                        <a:t>) </a:t>
                      </a:r>
                      <a:r>
                        <a:rPr lang="ko-KR" altLang="en-US" sz="1000">
                          <a:effectLst/>
                        </a:rPr>
                        <a:t>정렬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157823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justify-items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그리드 아이템들을 수평</a:t>
                      </a:r>
                      <a:r>
                        <a:rPr lang="en-US" altLang="ko-KR" sz="1000">
                          <a:effectLst/>
                        </a:rPr>
                        <a:t>(</a:t>
                      </a:r>
                      <a:r>
                        <a:rPr lang="ko-KR" altLang="en-US" sz="1000">
                          <a:effectLst/>
                        </a:rPr>
                        <a:t>행 축</a:t>
                      </a:r>
                      <a:r>
                        <a:rPr lang="en-US" altLang="ko-KR" sz="1000">
                          <a:effectLst/>
                        </a:rPr>
                        <a:t>) </a:t>
                      </a:r>
                      <a:r>
                        <a:rPr lang="ko-KR" altLang="en-US" sz="1000">
                          <a:effectLst/>
                        </a:rPr>
                        <a:t>정렬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371122"/>
                  </a:ext>
                </a:extLst>
              </a:tr>
              <a:tr h="24737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place-items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align-items</a:t>
                      </a:r>
                      <a:r>
                        <a:rPr lang="ko-KR" altLang="en-US" sz="1000" dirty="0">
                          <a:effectLst/>
                        </a:rPr>
                        <a:t>와 </a:t>
                      </a:r>
                      <a:r>
                        <a:rPr lang="en-US" sz="1000" dirty="0">
                          <a:effectLst/>
                        </a:rPr>
                        <a:t>justify-items</a:t>
                      </a:r>
                      <a:r>
                        <a:rPr lang="ko-KR" altLang="en-US" sz="1000" dirty="0">
                          <a:effectLst/>
                        </a:rPr>
                        <a:t>의 단축 속성</a:t>
                      </a:r>
                    </a:p>
                  </a:txBody>
                  <a:tcPr marL="101383" marR="101383" marT="50691" marB="50691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22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919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BEA9B59-47FA-F06D-59F1-1C8086ED6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각각 아이템 행과 열의 크기를 설정</a:t>
            </a:r>
            <a:endParaRPr lang="en-US" altLang="ko-KR" dirty="0"/>
          </a:p>
          <a:p>
            <a:pPr lvl="1"/>
            <a:r>
              <a:rPr lang="ko-KR" altLang="en-US" dirty="0"/>
              <a:t>하나의 단위가 아닌 여러 단위를 섞어서 사용 가능</a:t>
            </a:r>
            <a:endParaRPr lang="en-US" altLang="ko-KR" dirty="0"/>
          </a:p>
          <a:p>
            <a:pPr lvl="1"/>
            <a:r>
              <a:rPr lang="ko-KR" altLang="en-US" dirty="0"/>
              <a:t>새로운 단위 </a:t>
            </a:r>
            <a:r>
              <a:rPr lang="en-US" altLang="ko-KR" b="1" dirty="0" err="1"/>
              <a:t>fr</a:t>
            </a:r>
            <a:r>
              <a:rPr lang="en-US" altLang="ko-KR" b="1" dirty="0"/>
              <a:t> </a:t>
            </a:r>
            <a:r>
              <a:rPr lang="en-US" altLang="ko-KR" dirty="0"/>
              <a:t>(fraction, </a:t>
            </a:r>
            <a:r>
              <a:rPr lang="ko-KR" altLang="en-US" dirty="0"/>
              <a:t>공간 비율</a:t>
            </a:r>
            <a:r>
              <a:rPr lang="en-US" altLang="ko-KR" dirty="0"/>
              <a:t>)	</a:t>
            </a:r>
          </a:p>
          <a:p>
            <a:endParaRPr lang="en-US" altLang="ko-KR" dirty="0"/>
          </a:p>
          <a:p>
            <a:r>
              <a:rPr lang="en-US" altLang="ko-KR" dirty="0"/>
              <a:t>repeat() </a:t>
            </a:r>
            <a:r>
              <a:rPr lang="ko-KR" altLang="en-US" dirty="0"/>
              <a:t>함수와 같이 사용가능</a:t>
            </a:r>
            <a:r>
              <a:rPr lang="en-US" altLang="ko-KR" dirty="0"/>
              <a:t>!</a:t>
            </a:r>
          </a:p>
          <a:p>
            <a:pPr lvl="1"/>
            <a:r>
              <a:rPr lang="ko-KR" altLang="en-US" dirty="0"/>
              <a:t>여러 행</a:t>
            </a:r>
            <a:r>
              <a:rPr lang="en-US" altLang="ko-KR" dirty="0"/>
              <a:t>/</a:t>
            </a:r>
            <a:r>
              <a:rPr lang="ko-KR" altLang="en-US" dirty="0"/>
              <a:t>열이 있을 때 반복은 힘드니</a:t>
            </a:r>
            <a:r>
              <a:rPr lang="en-US" altLang="ko-KR" dirty="0"/>
              <a:t>..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5174A8-D145-E14A-1752-29F60CE2A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A71139-F1AD-83E6-D4B8-252B5E5F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6B4A75F-70DD-0851-9F3E-3BBFE2405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grid-template-rows/</a:t>
            </a:r>
            <a:br>
              <a:rPr lang="en-US" altLang="ko-KR" dirty="0"/>
            </a:br>
            <a:r>
              <a:rPr lang="en-US" altLang="ko-KR" dirty="0"/>
              <a:t>grid-template-columns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632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B747EF9-2913-AEC4-19C7-CCA87A24C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grid-template-rows: repeat(5,100px)</a:t>
            </a:r>
          </a:p>
          <a:p>
            <a:r>
              <a:rPr lang="en-US" altLang="ko-KR" dirty="0"/>
              <a:t>grid-template-rows:100px 100px </a:t>
            </a:r>
            <a:r>
              <a:rPr lang="en-US" altLang="ko-KR" dirty="0" err="1"/>
              <a:t>100px</a:t>
            </a:r>
            <a:r>
              <a:rPr lang="en-US" altLang="ko-KR" dirty="0"/>
              <a:t> </a:t>
            </a:r>
            <a:r>
              <a:rPr lang="en-US" altLang="ko-KR" dirty="0" err="1"/>
              <a:t>100px</a:t>
            </a:r>
            <a:r>
              <a:rPr lang="en-US" altLang="ko-KR" dirty="0"/>
              <a:t> </a:t>
            </a:r>
            <a:r>
              <a:rPr lang="en-US" altLang="ko-KR" dirty="0" err="1"/>
              <a:t>100px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위의 두 줄은 같은 의미입니다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BA4355-42B3-4F97-287F-110C5BB7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08B69-184A-FF67-690F-E2CA7172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89D097F-2291-C677-F2EE-F2A8CAD4D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repeat(</a:t>
            </a:r>
            <a:r>
              <a:rPr lang="ko-KR" altLang="en-US" dirty="0"/>
              <a:t>횟수</a:t>
            </a:r>
            <a:r>
              <a:rPr lang="en-US" altLang="ko-KR" dirty="0"/>
              <a:t>, </a:t>
            </a:r>
            <a:r>
              <a:rPr lang="ko-KR" altLang="en-US" dirty="0"/>
              <a:t>크기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321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732BA95-A4EC-CA98-748A-CC762FC2A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브라우저 크기가 변하면 최소 크기와 최대 크기를 확보할 수 있도록 하는 함수</a:t>
            </a:r>
            <a:endParaRPr lang="en-US" altLang="ko-KR" dirty="0"/>
          </a:p>
          <a:p>
            <a:r>
              <a:rPr lang="ko-KR" altLang="en-US" dirty="0"/>
              <a:t>크기에는 </a:t>
            </a:r>
            <a:r>
              <a:rPr lang="en-US" altLang="ko-KR" dirty="0" err="1"/>
              <a:t>px</a:t>
            </a:r>
            <a:r>
              <a:rPr lang="en-US" altLang="ko-KR" dirty="0"/>
              <a:t>, % </a:t>
            </a:r>
            <a:r>
              <a:rPr lang="ko-KR" altLang="en-US" dirty="0"/>
              <a:t>등 다양한 단위를 쓸 수 있음</a:t>
            </a:r>
            <a:endParaRPr lang="en-US" altLang="ko-KR" dirty="0"/>
          </a:p>
          <a:p>
            <a:r>
              <a:rPr lang="ko-KR" altLang="en-US" dirty="0"/>
              <a:t>크기 대신 </a:t>
            </a:r>
            <a:r>
              <a:rPr lang="en-US" altLang="ko-KR" dirty="0"/>
              <a:t>auto</a:t>
            </a:r>
            <a:r>
              <a:rPr lang="ko-KR" altLang="en-US" dirty="0"/>
              <a:t>라는 키워드</a:t>
            </a:r>
            <a:endParaRPr lang="en-US" altLang="ko-KR" dirty="0"/>
          </a:p>
          <a:p>
            <a:r>
              <a:rPr lang="en-US" altLang="ko-KR" dirty="0"/>
              <a:t>minmax(100px, auto)</a:t>
            </a:r>
          </a:p>
          <a:p>
            <a:pPr lvl="1"/>
            <a:r>
              <a:rPr lang="ko-KR" altLang="en-US" dirty="0"/>
              <a:t>브라우저 크기가 줄어들어도 </a:t>
            </a:r>
            <a:r>
              <a:rPr lang="en-US" altLang="ko-KR" dirty="0"/>
              <a:t>100px </a:t>
            </a:r>
            <a:r>
              <a:rPr lang="ko-KR" altLang="en-US" dirty="0"/>
              <a:t>은 확보하고 최대 크기는 알아서 늘어나도록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6E8CB8D-9A37-9978-477A-8BD4CA5B8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9A0E13-979D-1A64-2CDB-55B35903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66CE932-BDA7-7248-1A1A-C238FEAA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minmax(</a:t>
            </a:r>
            <a:r>
              <a:rPr lang="ko-KR" altLang="en-US" dirty="0"/>
              <a:t>최소 크기</a:t>
            </a:r>
            <a:r>
              <a:rPr lang="en-US" altLang="ko-KR" dirty="0"/>
              <a:t>, </a:t>
            </a:r>
            <a:r>
              <a:rPr lang="ko-KR" altLang="en-US" dirty="0"/>
              <a:t>최대 크기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7505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3C4DF3F-F7C3-6095-7AD3-F1700AB32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row-gap</a:t>
            </a:r>
          </a:p>
          <a:p>
            <a:pPr lvl="1"/>
            <a:r>
              <a:rPr lang="ko-KR" altLang="en-US" dirty="0"/>
              <a:t>행간 간격</a:t>
            </a:r>
            <a:endParaRPr lang="en-US" altLang="ko-KR" dirty="0"/>
          </a:p>
          <a:p>
            <a:r>
              <a:rPr lang="en-US" altLang="ko-KR" dirty="0"/>
              <a:t>column-gap</a:t>
            </a:r>
          </a:p>
          <a:p>
            <a:pPr lvl="1"/>
            <a:r>
              <a:rPr lang="ko-KR" altLang="en-US" dirty="0"/>
              <a:t>열간 간격</a:t>
            </a:r>
            <a:endParaRPr lang="en-US" altLang="ko-KR" dirty="0"/>
          </a:p>
          <a:p>
            <a:r>
              <a:rPr lang="en-US" altLang="ko-KR" dirty="0"/>
              <a:t>gap</a:t>
            </a:r>
          </a:p>
          <a:p>
            <a:pPr lvl="1"/>
            <a:r>
              <a:rPr lang="ko-KR" altLang="en-US" dirty="0"/>
              <a:t>행과 열 간격 모두 설정 가능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C204D1-0071-6071-B40C-EEDAE612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1C97CE-0DD1-8956-32FA-882B34CF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8B9906D-6912-B826-CC75-E14BD199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row-gap/column-gap/gap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3697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align-content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items</a:t>
            </a:r>
            <a:r>
              <a:rPr lang="ko-KR" altLang="en-US" dirty="0"/>
              <a:t>의 세로 정렬</a:t>
            </a:r>
            <a:endParaRPr lang="en-US" altLang="ko-KR" dirty="0"/>
          </a:p>
          <a:p>
            <a:r>
              <a:rPr lang="ko-KR" altLang="en-US" dirty="0"/>
              <a:t>속성값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stretch (default)</a:t>
            </a:r>
          </a:p>
          <a:p>
            <a:pPr lvl="1"/>
            <a:r>
              <a:rPr lang="en-US" altLang="ko-KR" dirty="0"/>
              <a:t>center</a:t>
            </a:r>
          </a:p>
          <a:p>
            <a:pPr lvl="1"/>
            <a:r>
              <a:rPr lang="en-US" altLang="ko-KR" dirty="0"/>
              <a:t>end</a:t>
            </a:r>
          </a:p>
          <a:p>
            <a:pPr lvl="1"/>
            <a:r>
              <a:rPr lang="en-US" altLang="ko-KR" dirty="0"/>
              <a:t>start</a:t>
            </a:r>
          </a:p>
          <a:p>
            <a:pPr lvl="1"/>
            <a:r>
              <a:rPr lang="en-US" altLang="ko-KR" dirty="0"/>
              <a:t>space-between, space-around, space-evenly</a:t>
            </a: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4585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justify-content</a:t>
            </a:r>
            <a:endParaRPr lang="ko-KR" altLang="en-US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items</a:t>
            </a:r>
            <a:r>
              <a:rPr lang="ko-KR" altLang="en-US" dirty="0"/>
              <a:t>의 가로 정렬</a:t>
            </a:r>
            <a:endParaRPr lang="en-US" altLang="ko-KR" dirty="0"/>
          </a:p>
          <a:p>
            <a:r>
              <a:rPr lang="ko-KR" altLang="en-US" dirty="0"/>
              <a:t>속성값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stretch (default)</a:t>
            </a:r>
          </a:p>
          <a:p>
            <a:pPr lvl="1"/>
            <a:r>
              <a:rPr lang="en-US" altLang="ko-KR" dirty="0"/>
              <a:t>center</a:t>
            </a:r>
          </a:p>
          <a:p>
            <a:pPr lvl="1"/>
            <a:r>
              <a:rPr lang="en-US" altLang="ko-KR" dirty="0"/>
              <a:t>end</a:t>
            </a:r>
          </a:p>
          <a:p>
            <a:pPr lvl="1"/>
            <a:r>
              <a:rPr lang="en-US" altLang="ko-KR" dirty="0"/>
              <a:t>start</a:t>
            </a:r>
          </a:p>
          <a:p>
            <a:pPr lvl="1"/>
            <a:r>
              <a:rPr lang="en-US" altLang="ko-KR" dirty="0"/>
              <a:t>space-between, space-around, space-evenly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7961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place-content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align-content</a:t>
            </a:r>
            <a:r>
              <a:rPr lang="ko-KR" altLang="en-US" dirty="0"/>
              <a:t>와 </a:t>
            </a:r>
            <a:r>
              <a:rPr lang="en-US" altLang="ko-KR" dirty="0"/>
              <a:t>justify-content</a:t>
            </a:r>
            <a:r>
              <a:rPr lang="ko-KR" altLang="en-US" dirty="0"/>
              <a:t>의 </a:t>
            </a:r>
            <a:r>
              <a:rPr lang="ko-KR" altLang="en-US" dirty="0" err="1"/>
              <a:t>단축속성</a:t>
            </a:r>
            <a:endParaRPr lang="en-US" altLang="ko-KR" dirty="0"/>
          </a:p>
          <a:p>
            <a:r>
              <a:rPr lang="en-US" altLang="ko-KR" dirty="0"/>
              <a:t>align-content</a:t>
            </a:r>
            <a:r>
              <a:rPr lang="ko-KR" altLang="en-US" dirty="0"/>
              <a:t>와 </a:t>
            </a:r>
            <a:r>
              <a:rPr lang="en-US" altLang="ko-KR" dirty="0"/>
              <a:t>justify-content</a:t>
            </a:r>
            <a:r>
              <a:rPr lang="ko-KR" altLang="en-US" dirty="0"/>
              <a:t>의 순서로 작성</a:t>
            </a:r>
            <a:endParaRPr lang="en-US" altLang="ko-KR" dirty="0"/>
          </a:p>
          <a:p>
            <a:r>
              <a:rPr lang="ko-KR" altLang="en-US" dirty="0"/>
              <a:t>만약 같은 속성값을 적용하고 싶다면 하나의 속성만 쓰면 두 속성에 모두 적용됨</a:t>
            </a:r>
          </a:p>
        </p:txBody>
      </p:sp>
    </p:spTree>
    <p:extLst>
      <p:ext uri="{BB962C8B-B14F-4D97-AF65-F5344CB8AC3E}">
        <p14:creationId xmlns:p14="http://schemas.microsoft.com/office/powerpoint/2010/main" val="98033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align-items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items</a:t>
            </a:r>
            <a:r>
              <a:rPr lang="ko-KR" altLang="en-US" dirty="0"/>
              <a:t>의 세로축 정렬</a:t>
            </a:r>
            <a:endParaRPr lang="en-US" altLang="ko-KR" dirty="0"/>
          </a:p>
          <a:p>
            <a:r>
              <a:rPr lang="ko-KR" altLang="en-US" dirty="0"/>
              <a:t>속성값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stretch (default)</a:t>
            </a:r>
          </a:p>
          <a:p>
            <a:pPr lvl="1"/>
            <a:r>
              <a:rPr lang="en-US" altLang="ko-KR" dirty="0"/>
              <a:t>center</a:t>
            </a:r>
          </a:p>
          <a:p>
            <a:pPr lvl="1"/>
            <a:r>
              <a:rPr lang="en-US" altLang="ko-KR" dirty="0"/>
              <a:t>end</a:t>
            </a:r>
          </a:p>
          <a:p>
            <a:pPr lvl="1"/>
            <a:r>
              <a:rPr lang="en-US" altLang="ko-KR" dirty="0"/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728676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justify-items</a:t>
            </a:r>
            <a:endParaRPr lang="ko-KR" alt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ko-KR" dirty="0"/>
              <a:t>items</a:t>
            </a:r>
            <a:r>
              <a:rPr lang="ko-KR" altLang="en-US" dirty="0"/>
              <a:t>의 가로축 정렬</a:t>
            </a:r>
            <a:endParaRPr lang="en-US" altLang="ko-KR" dirty="0"/>
          </a:p>
          <a:p>
            <a:r>
              <a:rPr lang="ko-KR" altLang="en-US" dirty="0"/>
              <a:t>속성값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stretch (default)</a:t>
            </a:r>
          </a:p>
          <a:p>
            <a:pPr lvl="1"/>
            <a:r>
              <a:rPr lang="en-US" altLang="ko-KR" dirty="0"/>
              <a:t>center</a:t>
            </a:r>
          </a:p>
          <a:p>
            <a:pPr lvl="1"/>
            <a:r>
              <a:rPr lang="en-US" altLang="ko-KR" dirty="0"/>
              <a:t>end</a:t>
            </a:r>
          </a:p>
          <a:p>
            <a:pPr lvl="1"/>
            <a:r>
              <a:rPr lang="en-US" altLang="ko-KR" dirty="0"/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2326913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place-items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align-items</a:t>
            </a:r>
            <a:r>
              <a:rPr lang="ko-KR" altLang="en-US" dirty="0"/>
              <a:t>와 </a:t>
            </a:r>
            <a:r>
              <a:rPr lang="en-US" altLang="ko-KR" dirty="0"/>
              <a:t>justify-items</a:t>
            </a:r>
            <a:r>
              <a:rPr lang="ko-KR" altLang="en-US" dirty="0"/>
              <a:t>의 </a:t>
            </a:r>
            <a:r>
              <a:rPr lang="ko-KR" altLang="en-US" dirty="0" err="1"/>
              <a:t>단축속성</a:t>
            </a:r>
            <a:endParaRPr lang="en-US" altLang="ko-KR" dirty="0"/>
          </a:p>
          <a:p>
            <a:r>
              <a:rPr lang="en-US" altLang="ko-KR" dirty="0"/>
              <a:t>align-items</a:t>
            </a:r>
            <a:r>
              <a:rPr lang="ko-KR" altLang="en-US" dirty="0"/>
              <a:t>와 </a:t>
            </a:r>
            <a:r>
              <a:rPr lang="en-US" altLang="ko-KR" dirty="0"/>
              <a:t>justify-items</a:t>
            </a:r>
            <a:r>
              <a:rPr lang="ko-KR" altLang="en-US" dirty="0"/>
              <a:t>의 순서로 작성</a:t>
            </a:r>
            <a:endParaRPr lang="en-US" altLang="ko-KR" dirty="0"/>
          </a:p>
          <a:p>
            <a:r>
              <a:rPr lang="ko-KR" altLang="en-US" dirty="0"/>
              <a:t>만약 같은 속성값을 적용하고 싶다면 하나의 속성만 쓰면 두 속성에 모두 적용됨</a:t>
            </a:r>
          </a:p>
        </p:txBody>
      </p:sp>
    </p:spTree>
    <p:extLst>
      <p:ext uri="{BB962C8B-B14F-4D97-AF65-F5344CB8AC3E}">
        <p14:creationId xmlns:p14="http://schemas.microsoft.com/office/powerpoint/2010/main" val="2408704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76DFE8-2C29-F107-6340-3AD00C85F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0C0E0B-53D7-DED8-0263-EC489489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43FF7B-5A42-1FFC-B9D4-956AEFD4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Item </a:t>
            </a:r>
            <a:r>
              <a:rPr lang="ko-KR" altLang="en-US" sz="8000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3476435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1252603" y="3270794"/>
            <a:ext cx="5611659" cy="1263628"/>
          </a:xfrm>
          <a:prstGeom prst="roundRect">
            <a:avLst/>
          </a:prstGeom>
          <a:solidFill>
            <a:schemeClr val="bg2">
              <a:lumMod val="10000"/>
              <a:alpha val="8980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1086578" cy="4644449"/>
          </a:xfrm>
        </p:spPr>
        <p:txBody>
          <a:bodyPr/>
          <a:lstStyle/>
          <a:p>
            <a:r>
              <a:rPr lang="ko-KR" altLang="en-US" dirty="0"/>
              <a:t>단축 속성 </a:t>
            </a:r>
            <a:r>
              <a:rPr lang="en-US" altLang="ko-KR" dirty="0"/>
              <a:t>grid-row :</a:t>
            </a:r>
            <a:r>
              <a:rPr lang="ko-KR" altLang="en-US" dirty="0"/>
              <a:t>시작점  </a:t>
            </a:r>
            <a:r>
              <a:rPr lang="en-US" altLang="ko-KR" dirty="0"/>
              <a:t>/ </a:t>
            </a:r>
            <a:r>
              <a:rPr lang="ko-KR" altLang="en-US" dirty="0"/>
              <a:t>끝점</a:t>
            </a:r>
            <a:r>
              <a:rPr lang="en-US" altLang="ko-KR" dirty="0"/>
              <a:t> ;</a:t>
            </a:r>
          </a:p>
          <a:p>
            <a:r>
              <a:rPr lang="ko-KR" altLang="en-US" dirty="0"/>
              <a:t>시작점과 끝점은 그리드 라인을 의미</a:t>
            </a:r>
            <a:r>
              <a:rPr lang="en-US" altLang="ko-KR" dirty="0"/>
              <a:t>, </a:t>
            </a:r>
            <a:r>
              <a:rPr lang="ko-KR" altLang="en-US" dirty="0"/>
              <a:t>시작라인부터 끝 라인까지 크기 할당됨</a:t>
            </a:r>
            <a:endParaRPr lang="en-US" altLang="ko-KR" dirty="0"/>
          </a:p>
          <a:p>
            <a:endParaRPr lang="en-US" altLang="ko-KR" dirty="0"/>
          </a:p>
          <a:p>
            <a:pPr marL="457200" lvl="1" indent="0">
              <a:buNone/>
            </a:pP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grid-row-start </a:t>
            </a:r>
            <a:r>
              <a:rPr lang="en-US" altLang="ko-KR" dirty="0">
                <a:solidFill>
                  <a:schemeClr val="bg1"/>
                </a:solidFill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</a:t>
            </a:r>
            <a:r>
              <a:rPr lang="en-US" altLang="ko-KR" dirty="0">
                <a:solidFill>
                  <a:schemeClr val="bg1"/>
                </a:solidFill>
              </a:rPr>
              <a:t>;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grid-row-end </a:t>
            </a:r>
            <a:r>
              <a:rPr lang="en-US" altLang="ko-KR" dirty="0">
                <a:solidFill>
                  <a:schemeClr val="bg1"/>
                </a:solidFill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</a:t>
            </a:r>
            <a:r>
              <a:rPr lang="en-US" altLang="ko-KR" dirty="0">
                <a:solidFill>
                  <a:schemeClr val="bg1"/>
                </a:solidFill>
              </a:rPr>
              <a:t>;</a:t>
            </a:r>
          </a:p>
          <a:p>
            <a:pPr marL="457200" lvl="1" indent="0">
              <a:buNone/>
            </a:pP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grid-row </a:t>
            </a:r>
            <a:r>
              <a:rPr lang="en-US" altLang="ko-KR" dirty="0">
                <a:solidFill>
                  <a:schemeClr val="bg1"/>
                </a:solidFill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 / 4</a:t>
            </a:r>
            <a:r>
              <a:rPr lang="en-US" altLang="ko-KR" dirty="0">
                <a:solidFill>
                  <a:schemeClr val="bg1"/>
                </a:solidFill>
              </a:rPr>
              <a:t>;</a:t>
            </a:r>
          </a:p>
          <a:p>
            <a:pPr marL="457200" lvl="1" indent="0">
              <a:buNone/>
            </a:pPr>
            <a:r>
              <a:rPr lang="en-US" altLang="ko-K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grid-row </a:t>
            </a:r>
            <a:r>
              <a:rPr lang="en-US" altLang="ko-KR" dirty="0">
                <a:solidFill>
                  <a:schemeClr val="bg1"/>
                </a:solidFill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1/ span 3;</a:t>
            </a:r>
          </a:p>
          <a:p>
            <a:pPr marL="457200" lvl="1" indent="0">
              <a:buNone/>
            </a:pPr>
            <a:endParaRPr lang="en-US" altLang="ko-KR" sz="1200" dirty="0"/>
          </a:p>
          <a:p>
            <a:pPr marL="457200" lvl="1" indent="0">
              <a:buNone/>
            </a:pPr>
            <a:r>
              <a:rPr lang="ko-KR" altLang="en-US" dirty="0"/>
              <a:t>위 세 줄의 속성은 동일합니다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grid-row-start/grid-row-end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9758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grid-column-start/</a:t>
            </a:r>
            <a:br>
              <a:rPr lang="en-US" altLang="ko-KR" dirty="0"/>
            </a:br>
            <a:r>
              <a:rPr lang="en-US" altLang="ko-KR" dirty="0"/>
              <a:t>grid-column-end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단축 속성</a:t>
            </a:r>
            <a:r>
              <a:rPr lang="en-US" altLang="ko-KR" dirty="0"/>
              <a:t> grid-column (</a:t>
            </a:r>
            <a:r>
              <a:rPr lang="ko-KR" altLang="en-US" dirty="0"/>
              <a:t>시작 </a:t>
            </a:r>
            <a:r>
              <a:rPr lang="en-US" altLang="ko-KR" dirty="0"/>
              <a:t>/ </a:t>
            </a:r>
            <a:r>
              <a:rPr lang="ko-KR" altLang="en-US" dirty="0"/>
              <a:t> 끝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사용 방법은 </a:t>
            </a:r>
            <a:r>
              <a:rPr lang="en-US" altLang="ko-KR" dirty="0"/>
              <a:t>grid-row</a:t>
            </a:r>
            <a:r>
              <a:rPr lang="ko-KR" altLang="en-US" dirty="0"/>
              <a:t>와 동일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grid-column: 2 / 4 </a:t>
            </a:r>
            <a:r>
              <a:rPr lang="ko-KR" altLang="en-US" dirty="0"/>
              <a:t>와 </a:t>
            </a:r>
            <a:r>
              <a:rPr lang="en-US" altLang="ko-KR" dirty="0"/>
              <a:t>grid-column: 2 / span 2 ?</a:t>
            </a:r>
          </a:p>
          <a:p>
            <a:pPr marL="457200" lvl="1" indent="0">
              <a:buNone/>
            </a:pPr>
            <a:endParaRPr lang="en-US" altLang="ko-KR" sz="800" dirty="0">
              <a:solidFill>
                <a:srgbClr val="43AA8B"/>
              </a:solidFill>
            </a:endParaRPr>
          </a:p>
          <a:p>
            <a:pPr marL="457200" lvl="1" indent="0">
              <a:buNone/>
            </a:pPr>
            <a:r>
              <a:rPr lang="ko-KR" altLang="en-US" sz="2800" dirty="0">
                <a:solidFill>
                  <a:srgbClr val="43AA8B"/>
                </a:solidFill>
              </a:rPr>
              <a:t>① </a:t>
            </a:r>
            <a:r>
              <a:rPr lang="ko-KR" altLang="en-US" dirty="0">
                <a:solidFill>
                  <a:schemeClr val="tx2"/>
                </a:solidFill>
              </a:rPr>
              <a:t>그리드 라인의 시작점과 끝을 지정</a:t>
            </a:r>
            <a:endParaRPr lang="en-US" altLang="ko-KR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ko-KR" altLang="en-US" sz="2800" dirty="0">
                <a:solidFill>
                  <a:srgbClr val="43AA8B"/>
                </a:solidFill>
              </a:rPr>
              <a:t>② </a:t>
            </a:r>
            <a:r>
              <a:rPr lang="ko-KR" altLang="en-US" dirty="0">
                <a:solidFill>
                  <a:schemeClr val="tx2"/>
                </a:solidFill>
              </a:rPr>
              <a:t>그리드 라인 시작점을 기준으로 </a:t>
            </a:r>
            <a:r>
              <a:rPr lang="en-US" altLang="ko-KR" dirty="0">
                <a:solidFill>
                  <a:schemeClr val="accent3"/>
                </a:solidFill>
              </a:rPr>
              <a:t>span N (N</a:t>
            </a:r>
            <a:r>
              <a:rPr lang="ko-KR" altLang="en-US" dirty="0">
                <a:solidFill>
                  <a:schemeClr val="accent3"/>
                </a:solidFill>
              </a:rPr>
              <a:t>칸</a:t>
            </a:r>
            <a:r>
              <a:rPr lang="en-US" altLang="ko-KR" dirty="0">
                <a:solidFill>
                  <a:schemeClr val="accent3"/>
                </a:solidFill>
              </a:rPr>
              <a:t>)</a:t>
            </a:r>
            <a:r>
              <a:rPr lang="ko-KR" altLang="en-US" dirty="0">
                <a:solidFill>
                  <a:schemeClr val="tx2"/>
                </a:solidFill>
              </a:rPr>
              <a:t>만큼 크기 할당됨</a:t>
            </a:r>
            <a:endParaRPr lang="en-US" altLang="ko-KR" dirty="0">
              <a:solidFill>
                <a:schemeClr val="tx2"/>
              </a:solidFill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901290" y="3327461"/>
            <a:ext cx="3048000" cy="540327"/>
          </a:xfrm>
          <a:prstGeom prst="roundRect">
            <a:avLst/>
          </a:prstGeom>
          <a:solidFill>
            <a:srgbClr val="577590">
              <a:alpha val="10196"/>
            </a:srgbClr>
          </a:solidFill>
          <a:ln>
            <a:solidFill>
              <a:srgbClr val="43A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4371785" y="3300609"/>
            <a:ext cx="4017818" cy="540327"/>
          </a:xfrm>
          <a:prstGeom prst="roundRect">
            <a:avLst/>
          </a:prstGeom>
          <a:solidFill>
            <a:srgbClr val="577590">
              <a:alpha val="10196"/>
            </a:srgbClr>
          </a:solidFill>
          <a:ln>
            <a:solidFill>
              <a:srgbClr val="43A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260679" y="286579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solidFill>
                  <a:srgbClr val="43AA8B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</a:rPr>
              <a:t>②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02190" y="2865796"/>
            <a:ext cx="13854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ko-KR" altLang="en-US" sz="2400" dirty="0">
                <a:solidFill>
                  <a:srgbClr val="43AA8B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</a:rPr>
              <a:t>①</a:t>
            </a:r>
            <a:endParaRPr lang="en-US" altLang="ko-KR" sz="2400" dirty="0">
              <a:solidFill>
                <a:srgbClr val="43AA8B"/>
              </a:solidFill>
              <a:latin typeface="Kim jung chul Gothic Regular" panose="020B0503000000000000" pitchFamily="50" charset="-127"/>
              <a:ea typeface="Kim jung chul Gothic Regular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1458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align-self </a:t>
            </a:r>
            <a:r>
              <a:rPr lang="ko-KR" altLang="en-US" dirty="0"/>
              <a:t>와 </a:t>
            </a:r>
            <a:r>
              <a:rPr lang="en-US" altLang="ko-KR" dirty="0"/>
              <a:t>justify-self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item </a:t>
            </a:r>
            <a:r>
              <a:rPr lang="ko-KR" altLang="en-US" dirty="0"/>
              <a:t>한 개에 대한 정렬 속성</a:t>
            </a:r>
            <a:endParaRPr lang="en-US" altLang="ko-KR" dirty="0"/>
          </a:p>
          <a:p>
            <a:r>
              <a:rPr lang="ko-KR" altLang="en-US" dirty="0"/>
              <a:t>아이템의 전체 크기</a:t>
            </a:r>
            <a:r>
              <a:rPr lang="en-US" altLang="ko-KR" dirty="0"/>
              <a:t>(</a:t>
            </a:r>
            <a:r>
              <a:rPr lang="ko-KR" altLang="en-US" dirty="0"/>
              <a:t>그리드 셀</a:t>
            </a:r>
            <a:r>
              <a:rPr lang="en-US" altLang="ko-KR" dirty="0"/>
              <a:t>)</a:t>
            </a:r>
            <a:r>
              <a:rPr lang="ko-KR" altLang="en-US" dirty="0"/>
              <a:t>를 기준으로 아이템을 각각 세로</a:t>
            </a:r>
            <a:r>
              <a:rPr lang="en-US" altLang="ko-KR" dirty="0"/>
              <a:t>, </a:t>
            </a:r>
            <a:r>
              <a:rPr lang="ko-KR" altLang="en-US" dirty="0"/>
              <a:t>가로 축에 대해 정렬</a:t>
            </a:r>
          </a:p>
        </p:txBody>
      </p:sp>
    </p:spTree>
    <p:extLst>
      <p:ext uri="{BB962C8B-B14F-4D97-AF65-F5344CB8AC3E}">
        <p14:creationId xmlns:p14="http://schemas.microsoft.com/office/powerpoint/2010/main" val="2144330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place-self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align-self</a:t>
            </a:r>
            <a:r>
              <a:rPr lang="ko-KR" altLang="en-US" dirty="0"/>
              <a:t>와 </a:t>
            </a:r>
            <a:r>
              <a:rPr lang="en-US" altLang="ko-KR" dirty="0"/>
              <a:t>justify-self</a:t>
            </a:r>
            <a:r>
              <a:rPr lang="ko-KR" altLang="en-US" dirty="0"/>
              <a:t>의 단축 속성</a:t>
            </a:r>
          </a:p>
        </p:txBody>
      </p:sp>
    </p:spTree>
    <p:extLst>
      <p:ext uri="{BB962C8B-B14F-4D97-AF65-F5344CB8AC3E}">
        <p14:creationId xmlns:p14="http://schemas.microsoft.com/office/powerpoint/2010/main" val="1094977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order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order: 0 (default)</a:t>
            </a:r>
          </a:p>
          <a:p>
            <a:pPr lvl="1"/>
            <a:r>
              <a:rPr lang="ko-KR" altLang="en-US" dirty="0">
                <a:solidFill>
                  <a:schemeClr val="accent6"/>
                </a:solidFill>
              </a:rPr>
              <a:t>처음에는 모두 </a:t>
            </a:r>
            <a:r>
              <a:rPr lang="en-US" altLang="ko-KR" dirty="0">
                <a:solidFill>
                  <a:schemeClr val="accent6"/>
                </a:solidFill>
              </a:rPr>
              <a:t>order 0</a:t>
            </a:r>
            <a:r>
              <a:rPr lang="ko-KR" altLang="en-US" dirty="0">
                <a:solidFill>
                  <a:schemeClr val="accent6"/>
                </a:solidFill>
              </a:rPr>
              <a:t>의 값을 가지고 있기 때문에 특정 </a:t>
            </a:r>
            <a:r>
              <a:rPr lang="en-US" altLang="ko-KR" dirty="0">
                <a:solidFill>
                  <a:schemeClr val="accent6"/>
                </a:solidFill>
              </a:rPr>
              <a:t>item</a:t>
            </a:r>
            <a:r>
              <a:rPr lang="ko-KR" altLang="en-US" dirty="0">
                <a:solidFill>
                  <a:schemeClr val="accent6"/>
                </a:solidFill>
              </a:rPr>
              <a:t>에 </a:t>
            </a:r>
            <a:r>
              <a:rPr lang="en-US" altLang="ko-KR" dirty="0">
                <a:solidFill>
                  <a:schemeClr val="accent6"/>
                </a:solidFill>
              </a:rPr>
              <a:t>0 </a:t>
            </a:r>
            <a:r>
              <a:rPr lang="ko-KR" altLang="en-US" dirty="0">
                <a:solidFill>
                  <a:schemeClr val="accent6"/>
                </a:solidFill>
              </a:rPr>
              <a:t>이외의 다른 값을 주면 재배치됩니다</a:t>
            </a:r>
            <a:r>
              <a:rPr lang="en-US" altLang="ko-KR" dirty="0">
                <a:solidFill>
                  <a:schemeClr val="accent6"/>
                </a:solidFill>
              </a:rPr>
              <a:t>.</a:t>
            </a:r>
          </a:p>
          <a:p>
            <a:r>
              <a:rPr lang="ko-KR" altLang="en-US" dirty="0"/>
              <a:t>작은 수일수록 먼저 배치</a:t>
            </a:r>
            <a:endParaRPr lang="en-US" altLang="ko-KR" dirty="0"/>
          </a:p>
          <a:p>
            <a:r>
              <a:rPr lang="ko-KR" altLang="en-US" dirty="0"/>
              <a:t>음수도 가능</a:t>
            </a:r>
            <a:endParaRPr lang="en-US" altLang="ko-KR" dirty="0"/>
          </a:p>
          <a:p>
            <a:r>
              <a:rPr lang="ko-KR" altLang="en-US" dirty="0"/>
              <a:t>시각적인 순서는 변경되지만 실제 </a:t>
            </a:r>
            <a:r>
              <a:rPr lang="en-US" altLang="ko-KR" dirty="0"/>
              <a:t>HTML </a:t>
            </a:r>
            <a:r>
              <a:rPr lang="ko-KR" altLang="en-US" dirty="0"/>
              <a:t>구조를 바꾸는 것은 아님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웹 접근성 측면에서 생각해봐야할 문제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682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z-index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요소가 겹쳤을 때 튀어나오도록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일반적으로 쓰이는</a:t>
            </a:r>
            <a:r>
              <a:rPr lang="en-US" altLang="ko-KR" dirty="0"/>
              <a:t>(position </a:t>
            </a:r>
            <a:r>
              <a:rPr lang="ko-KR" altLang="en-US" dirty="0"/>
              <a:t>과 함께 쓰이는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z-index </a:t>
            </a:r>
            <a:r>
              <a:rPr lang="ko-KR" altLang="en-US" dirty="0"/>
              <a:t>속성과 같음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일반적으로 </a:t>
            </a:r>
            <a:r>
              <a:rPr lang="en-US" altLang="ko-KR" dirty="0"/>
              <a:t>static </a:t>
            </a:r>
            <a:r>
              <a:rPr lang="ko-KR" altLang="en-US" dirty="0"/>
              <a:t>요소에는 </a:t>
            </a:r>
            <a:r>
              <a:rPr lang="en-US" altLang="ko-KR" dirty="0"/>
              <a:t>z-index</a:t>
            </a:r>
            <a:r>
              <a:rPr lang="ko-KR" altLang="en-US" dirty="0"/>
              <a:t>를 적용시킬 수 없지만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b="1" dirty="0"/>
              <a:t>Grid item</a:t>
            </a:r>
            <a:r>
              <a:rPr lang="ko-KR" altLang="en-US" dirty="0"/>
              <a:t>에선 </a:t>
            </a:r>
            <a:r>
              <a:rPr lang="en-US" altLang="ko-KR" dirty="0"/>
              <a:t>position </a:t>
            </a:r>
            <a:r>
              <a:rPr lang="ko-KR" altLang="en-US" dirty="0"/>
              <a:t>속성이 없어도 </a:t>
            </a:r>
            <a:r>
              <a:rPr lang="en-US" altLang="ko-KR" dirty="0"/>
              <a:t>z-index</a:t>
            </a:r>
            <a:r>
              <a:rPr lang="ko-KR" altLang="en-US" dirty="0"/>
              <a:t>가 적용됩니다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0341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컨테이너 속성 </a:t>
            </a:r>
            <a:r>
              <a:rPr lang="en-US" altLang="ko-KR" dirty="0"/>
              <a:t>grid-template-areas </a:t>
            </a:r>
            <a:r>
              <a:rPr lang="ko-KR" altLang="en-US" dirty="0"/>
              <a:t>와</a:t>
            </a:r>
            <a:br>
              <a:rPr lang="en-US" altLang="ko-KR" dirty="0"/>
            </a:br>
            <a:r>
              <a:rPr lang="ko-KR" altLang="en-US" dirty="0"/>
              <a:t>아이템 속성 </a:t>
            </a:r>
            <a:r>
              <a:rPr lang="en-US" altLang="ko-KR" dirty="0"/>
              <a:t>grid-areas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                                                                  &gt;&gt; container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영역 이름을 설정할 수 있음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1144249" y="1825625"/>
            <a:ext cx="6096000" cy="120032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grid-template-areas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'header </a:t>
            </a:r>
            <a:r>
              <a:rPr lang="en-US" altLang="ko-KR" dirty="0" err="1">
                <a:solidFill>
                  <a:srgbClr val="CE9178"/>
                </a:solidFill>
                <a:latin typeface="Consolas" panose="020B0609020204030204" pitchFamily="49" charset="0"/>
              </a:rPr>
              <a:t>header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CE9178"/>
                </a:solidFill>
                <a:latin typeface="Consolas" panose="020B0609020204030204" pitchFamily="49" charset="0"/>
              </a:rPr>
              <a:t>header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Consolas" panose="020B0609020204030204" pitchFamily="49" charset="0"/>
              </a:rPr>
              <a:t>nav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 main aside'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'footer </a:t>
            </a:r>
            <a:r>
              <a:rPr lang="en-US" altLang="ko-KR" dirty="0" err="1">
                <a:solidFill>
                  <a:srgbClr val="CE9178"/>
                </a:solidFill>
                <a:latin typeface="Consolas" panose="020B0609020204030204" pitchFamily="49" charset="0"/>
              </a:rPr>
              <a:t>footer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CE9178"/>
                </a:solidFill>
                <a:latin typeface="Consolas" panose="020B0609020204030204" pitchFamily="49" charset="0"/>
              </a:rPr>
              <a:t>footer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830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item </a:t>
            </a:r>
            <a:r>
              <a:rPr lang="ko-KR" altLang="en-US" dirty="0"/>
              <a:t>속성 종류</a:t>
            </a:r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2186595" y="1825625"/>
          <a:ext cx="8641826" cy="4351337"/>
        </p:xfrm>
        <a:graphic>
          <a:graphicData uri="http://schemas.openxmlformats.org/drawingml/2006/table">
            <a:tbl>
              <a:tblPr/>
              <a:tblGrid>
                <a:gridCol w="2818542">
                  <a:extLst>
                    <a:ext uri="{9D8B030D-6E8A-4147-A177-3AD203B41FA5}">
                      <a16:colId xmlns:a16="http://schemas.microsoft.com/office/drawing/2014/main" val="3159054275"/>
                    </a:ext>
                  </a:extLst>
                </a:gridCol>
                <a:gridCol w="5823284">
                  <a:extLst>
                    <a:ext uri="{9D8B030D-6E8A-4147-A177-3AD203B41FA5}">
                      <a16:colId xmlns:a16="http://schemas.microsoft.com/office/drawing/2014/main" val="3516602505"/>
                    </a:ext>
                  </a:extLst>
                </a:gridCol>
              </a:tblGrid>
              <a:tr h="345614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grid-row-start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</a:rPr>
                        <a:t>그리드 아이템</a:t>
                      </a:r>
                      <a:r>
                        <a:rPr lang="en-US" altLang="ko-KR" sz="1300">
                          <a:effectLst/>
                        </a:rPr>
                        <a:t>(Item)</a:t>
                      </a:r>
                      <a:r>
                        <a:rPr lang="ko-KR" altLang="en-US" sz="1300">
                          <a:effectLst/>
                        </a:rPr>
                        <a:t>의 행 시작 위치 지정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406478"/>
                  </a:ext>
                </a:extLst>
              </a:tr>
              <a:tr h="345614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grid-row-end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</a:rPr>
                        <a:t>그리드 아이템의 행 끝 위치 지정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934842"/>
                  </a:ext>
                </a:extLst>
              </a:tr>
              <a:tr h="345614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grid-row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>
                          <a:effectLst/>
                        </a:rPr>
                        <a:t>grid-row-xxx</a:t>
                      </a:r>
                      <a:r>
                        <a:rPr lang="ko-KR" altLang="en-US" sz="1300" dirty="0">
                          <a:effectLst/>
                        </a:rPr>
                        <a:t>의 단축 속성</a:t>
                      </a:r>
                      <a:r>
                        <a:rPr lang="en-US" altLang="ko-KR" sz="1300" dirty="0">
                          <a:effectLst/>
                        </a:rPr>
                        <a:t>(</a:t>
                      </a:r>
                      <a:r>
                        <a:rPr lang="ko-KR" altLang="en-US" sz="1300" dirty="0">
                          <a:effectLst/>
                        </a:rPr>
                        <a:t>행 시작</a:t>
                      </a:r>
                      <a:r>
                        <a:rPr lang="en-US" altLang="ko-KR" sz="1300" dirty="0">
                          <a:effectLst/>
                        </a:rPr>
                        <a:t>/</a:t>
                      </a:r>
                      <a:r>
                        <a:rPr lang="ko-KR" altLang="en-US" sz="1300" dirty="0">
                          <a:effectLst/>
                        </a:rPr>
                        <a:t>끝 위치</a:t>
                      </a:r>
                      <a:r>
                        <a:rPr lang="en-US" altLang="ko-KR" sz="1300" dirty="0">
                          <a:effectLst/>
                        </a:rPr>
                        <a:t>)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615242"/>
                  </a:ext>
                </a:extLst>
              </a:tr>
              <a:tr h="345614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grid-column-start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</a:rPr>
                        <a:t>그리드 아이템의 열 시작 위치 지정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163478"/>
                  </a:ext>
                </a:extLst>
              </a:tr>
              <a:tr h="345614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grid-column-end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</a:rPr>
                        <a:t>그리드 아이템의 열 끝 위치 지정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981183"/>
                  </a:ext>
                </a:extLst>
              </a:tr>
              <a:tr h="345614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grid-column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>
                          <a:effectLst/>
                        </a:rPr>
                        <a:t>grid-column-xxx</a:t>
                      </a:r>
                      <a:r>
                        <a:rPr lang="ko-KR" altLang="en-US" sz="1300" dirty="0">
                          <a:effectLst/>
                        </a:rPr>
                        <a:t>의 단축 속성</a:t>
                      </a:r>
                      <a:r>
                        <a:rPr lang="en-US" altLang="ko-KR" sz="1300" dirty="0">
                          <a:effectLst/>
                        </a:rPr>
                        <a:t>(</a:t>
                      </a:r>
                      <a:r>
                        <a:rPr lang="ko-KR" altLang="en-US" sz="1300" dirty="0">
                          <a:effectLst/>
                        </a:rPr>
                        <a:t>열 시작</a:t>
                      </a:r>
                      <a:r>
                        <a:rPr lang="en-US" altLang="ko-KR" sz="1300" dirty="0">
                          <a:effectLst/>
                        </a:rPr>
                        <a:t>/</a:t>
                      </a:r>
                      <a:r>
                        <a:rPr lang="ko-KR" altLang="en-US" sz="1300" dirty="0">
                          <a:effectLst/>
                        </a:rPr>
                        <a:t>끝 위치</a:t>
                      </a:r>
                      <a:r>
                        <a:rPr lang="en-US" altLang="ko-KR" sz="1300" dirty="0">
                          <a:effectLst/>
                        </a:rPr>
                        <a:t>)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147282"/>
                  </a:ext>
                </a:extLst>
              </a:tr>
              <a:tr h="549583"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grid-area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effectLst/>
                        </a:rPr>
                        <a:t>영역</a:t>
                      </a:r>
                      <a:r>
                        <a:rPr lang="en-US" altLang="ko-KR" sz="1300" dirty="0">
                          <a:effectLst/>
                        </a:rPr>
                        <a:t>(Area) </a:t>
                      </a:r>
                      <a:r>
                        <a:rPr lang="ko-KR" altLang="en-US" sz="1300" dirty="0">
                          <a:effectLst/>
                        </a:rPr>
                        <a:t>이름을 설정하거나</a:t>
                      </a:r>
                      <a:r>
                        <a:rPr lang="en-US" altLang="ko-KR" sz="1300" dirty="0">
                          <a:effectLst/>
                        </a:rPr>
                        <a:t>, grid-row</a:t>
                      </a:r>
                      <a:r>
                        <a:rPr lang="ko-KR" altLang="en-US" sz="1300" dirty="0">
                          <a:effectLst/>
                        </a:rPr>
                        <a:t>와 </a:t>
                      </a:r>
                      <a:r>
                        <a:rPr lang="en-US" altLang="ko-KR" sz="1300" dirty="0">
                          <a:effectLst/>
                        </a:rPr>
                        <a:t>grid-column</a:t>
                      </a:r>
                      <a:r>
                        <a:rPr lang="ko-KR" altLang="en-US" sz="1300" dirty="0">
                          <a:effectLst/>
                        </a:rPr>
                        <a:t>의 단축 속성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743468"/>
                  </a:ext>
                </a:extLst>
              </a:tr>
              <a:tr h="345614"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</a:rPr>
                        <a:t>align-self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</a:rPr>
                        <a:t>단일 그리드 아이템을 수직</a:t>
                      </a:r>
                      <a:r>
                        <a:rPr lang="en-US" altLang="ko-KR" sz="1300">
                          <a:effectLst/>
                        </a:rPr>
                        <a:t>(</a:t>
                      </a:r>
                      <a:r>
                        <a:rPr lang="ko-KR" altLang="en-US" sz="1300">
                          <a:effectLst/>
                        </a:rPr>
                        <a:t>열 축</a:t>
                      </a:r>
                      <a:r>
                        <a:rPr lang="en-US" altLang="ko-KR" sz="1300">
                          <a:effectLst/>
                        </a:rPr>
                        <a:t>) </a:t>
                      </a:r>
                      <a:r>
                        <a:rPr lang="ko-KR" altLang="en-US" sz="1300">
                          <a:effectLst/>
                        </a:rPr>
                        <a:t>정렬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57481"/>
                  </a:ext>
                </a:extLst>
              </a:tr>
              <a:tr h="345614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justify-self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</a:rPr>
                        <a:t>단일 그리드 아이템을 수평</a:t>
                      </a:r>
                      <a:r>
                        <a:rPr lang="en-US" altLang="ko-KR" sz="1300">
                          <a:effectLst/>
                        </a:rPr>
                        <a:t>(</a:t>
                      </a:r>
                      <a:r>
                        <a:rPr lang="ko-KR" altLang="en-US" sz="1300">
                          <a:effectLst/>
                        </a:rPr>
                        <a:t>행 축</a:t>
                      </a:r>
                      <a:r>
                        <a:rPr lang="en-US" altLang="ko-KR" sz="1300">
                          <a:effectLst/>
                        </a:rPr>
                        <a:t>) </a:t>
                      </a:r>
                      <a:r>
                        <a:rPr lang="ko-KR" altLang="en-US" sz="1300">
                          <a:effectLst/>
                        </a:rPr>
                        <a:t>정렬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444920"/>
                  </a:ext>
                </a:extLst>
              </a:tr>
              <a:tr h="345614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place-self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align-self</a:t>
                      </a:r>
                      <a:r>
                        <a:rPr lang="ko-KR" altLang="en-US" sz="1300">
                          <a:effectLst/>
                        </a:rPr>
                        <a:t>와 </a:t>
                      </a:r>
                      <a:r>
                        <a:rPr lang="en-US" sz="1300">
                          <a:effectLst/>
                        </a:rPr>
                        <a:t>justify-self</a:t>
                      </a:r>
                      <a:r>
                        <a:rPr lang="ko-KR" altLang="en-US" sz="1300">
                          <a:effectLst/>
                        </a:rPr>
                        <a:t>의 단축 속성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049624"/>
                  </a:ext>
                </a:extLst>
              </a:tr>
              <a:tr h="345614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order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</a:rPr>
                        <a:t>그리드 아이템의 배치 순서를 지정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449"/>
                  </a:ext>
                </a:extLst>
              </a:tr>
              <a:tr h="345614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z-index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effectLst/>
                        </a:rPr>
                        <a:t>그리드 아이템의 쌓이는 순서를 지정</a:t>
                      </a:r>
                    </a:p>
                  </a:txBody>
                  <a:tcPr marL="141645" marR="141645" marT="70823" marB="70823" anchor="ctr">
                    <a:lnL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100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19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en-US" altLang="ko-KR" dirty="0"/>
              <a:t>grid</a:t>
            </a:r>
            <a:r>
              <a:rPr lang="ko-KR" altLang="en-US" dirty="0"/>
              <a:t> 이용해 웹사이트 기본 구조 만들기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42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0404420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383504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279252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87719177"/>
                    </a:ext>
                  </a:extLst>
                </a:gridCol>
              </a:tblGrid>
              <a:tr h="1110707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Kim jung chul Script Light" panose="03050300000000000000" pitchFamily="66" charset="-127"/>
                          <a:ea typeface="Kim jung chul Script Light" panose="03050300000000000000" pitchFamily="66" charset="-127"/>
                        </a:rPr>
                        <a:t>#F94144</a:t>
                      </a:r>
                      <a:endParaRPr lang="ko-KR" altLang="en-US" sz="2800" dirty="0">
                        <a:latin typeface="Kim jung chul Script Light" panose="03050300000000000000" pitchFamily="66" charset="-127"/>
                        <a:ea typeface="Kim jung chul Script Light" panose="03050300000000000000" pitchFamily="66" charset="-127"/>
                      </a:endParaRPr>
                    </a:p>
                  </a:txBody>
                  <a:tcPr anchor="ctr">
                    <a:solidFill>
                      <a:srgbClr val="F9414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223538"/>
                  </a:ext>
                </a:extLst>
              </a:tr>
              <a:tr h="111070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Kim jung chul Script Light" panose="03050300000000000000" pitchFamily="66" charset="-127"/>
                          <a:ea typeface="Kim jung chul Script Light" panose="03050300000000000000" pitchFamily="66" charset="-127"/>
                        </a:rPr>
                        <a:t>#F3722c</a:t>
                      </a:r>
                      <a:endParaRPr lang="ko-KR" altLang="en-US" sz="2800" dirty="0">
                        <a:latin typeface="Kim jung chul Script Light" panose="03050300000000000000" pitchFamily="66" charset="-127"/>
                        <a:ea typeface="Kim jung chul Script Light" panose="03050300000000000000" pitchFamily="66" charset="-127"/>
                      </a:endParaRPr>
                    </a:p>
                  </a:txBody>
                  <a:tcPr anchor="ctr">
                    <a:solidFill>
                      <a:srgbClr val="F3722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Kim jung chul Script Light" panose="03050300000000000000" pitchFamily="66" charset="-127"/>
                          <a:ea typeface="Kim jung chul Script Light" panose="03050300000000000000" pitchFamily="66" charset="-127"/>
                        </a:rPr>
                        <a:t>#F9C74F</a:t>
                      </a:r>
                      <a:endParaRPr lang="ko-KR" altLang="en-US" sz="2800" dirty="0">
                        <a:latin typeface="Kim jung chul Script Light" panose="03050300000000000000" pitchFamily="66" charset="-127"/>
                        <a:ea typeface="Kim jung chul Script Light" panose="03050300000000000000" pitchFamily="66" charset="-127"/>
                      </a:endParaRPr>
                    </a:p>
                  </a:txBody>
                  <a:tcPr anchor="ctr">
                    <a:solidFill>
                      <a:srgbClr val="F9C74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Kim jung chul Script Light" panose="03050300000000000000" pitchFamily="66" charset="-127"/>
                          <a:ea typeface="Kim jung chul Script Light" panose="03050300000000000000" pitchFamily="66" charset="-127"/>
                        </a:rPr>
                        <a:t>#43AA8B</a:t>
                      </a:r>
                      <a:endParaRPr lang="ko-KR" altLang="en-US" sz="2800" dirty="0">
                        <a:latin typeface="Kim jung chul Script Light" panose="03050300000000000000" pitchFamily="66" charset="-127"/>
                        <a:ea typeface="Kim jung chul Script Light" panose="03050300000000000000" pitchFamily="66" charset="-127"/>
                      </a:endParaRPr>
                    </a:p>
                  </a:txBody>
                  <a:tcPr anchor="ctr">
                    <a:solidFill>
                      <a:srgbClr val="43AA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324643"/>
                  </a:ext>
                </a:extLst>
              </a:tr>
              <a:tr h="111070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Kim jung chul Script Light" panose="03050300000000000000" pitchFamily="66" charset="-127"/>
                          <a:ea typeface="Kim jung chul Script Light" panose="03050300000000000000" pitchFamily="66" charset="-127"/>
                        </a:rPr>
                        <a:t>#F8961E</a:t>
                      </a:r>
                      <a:endParaRPr lang="ko-KR" altLang="en-US" sz="2800" dirty="0">
                        <a:latin typeface="Kim jung chul Script Light" panose="03050300000000000000" pitchFamily="66" charset="-127"/>
                        <a:ea typeface="Kim jung chul Script Light" panose="03050300000000000000" pitchFamily="66" charset="-127"/>
                      </a:endParaRPr>
                    </a:p>
                  </a:txBody>
                  <a:tcPr anchor="ctr">
                    <a:solidFill>
                      <a:srgbClr val="F8961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Kim jung chul Script Light" panose="03050300000000000000" pitchFamily="66" charset="-127"/>
                          <a:ea typeface="Kim jung chul Script Light" panose="03050300000000000000" pitchFamily="66" charset="-127"/>
                        </a:rPr>
                        <a:t>#90BE6D</a:t>
                      </a:r>
                      <a:endParaRPr lang="ko-KR" altLang="en-US" sz="2800" dirty="0">
                        <a:latin typeface="Kim jung chul Script Light" panose="03050300000000000000" pitchFamily="66" charset="-127"/>
                        <a:ea typeface="Kim jung chul Script Light" panose="03050300000000000000" pitchFamily="66" charset="-127"/>
                      </a:endParaRPr>
                    </a:p>
                  </a:txBody>
                  <a:tcPr anchor="ctr">
                    <a:solidFill>
                      <a:srgbClr val="90BE6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413188"/>
                  </a:ext>
                </a:extLst>
              </a:tr>
              <a:tr h="1110707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Kim jung chul Script Light" panose="03050300000000000000" pitchFamily="66" charset="-127"/>
                          <a:ea typeface="Kim jung chul Script Light" panose="03050300000000000000" pitchFamily="66" charset="-127"/>
                        </a:rPr>
                        <a:t>#4444FF</a:t>
                      </a:r>
                      <a:endParaRPr lang="ko-KR" altLang="en-US" sz="2800" dirty="0">
                        <a:latin typeface="Kim jung chul Script Light" panose="03050300000000000000" pitchFamily="66" charset="-127"/>
                        <a:ea typeface="Kim jung chul Script Light" panose="03050300000000000000" pitchFamily="66" charset="-127"/>
                      </a:endParaRPr>
                    </a:p>
                  </a:txBody>
                  <a:tcPr anchor="ctr">
                    <a:solidFill>
                      <a:srgbClr val="4444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157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0283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en-US" altLang="ko-KR" dirty="0"/>
              <a:t>grid</a:t>
            </a:r>
            <a:r>
              <a:rPr lang="ko-KR" altLang="en-US" dirty="0"/>
              <a:t> 이용해 웹사이트 기본 구조 만들기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2281" y="6266659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Kim jung chul Script Bold" panose="03050800000000000000" pitchFamily="66" charset="-127"/>
                <a:ea typeface="Kim jung chul Script Bold" panose="03050800000000000000" pitchFamily="66" charset="-127"/>
              </a:rPr>
              <a:t>2</a:t>
            </a:r>
            <a:endParaRPr lang="ko-KR" altLang="en-US" sz="2800" dirty="0">
              <a:latin typeface="Kim jung chul Script Bold" panose="03050800000000000000" pitchFamily="66" charset="-127"/>
              <a:ea typeface="Kim jung chul Script Bold" panose="03050800000000000000" pitchFamily="66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939" y="6264069"/>
            <a:ext cx="335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Kim jung chul Script Bold" panose="03050800000000000000" pitchFamily="66" charset="-127"/>
                <a:ea typeface="Kim jung chul Script Bold" panose="03050800000000000000" pitchFamily="66" charset="-127"/>
              </a:rPr>
              <a:t>1</a:t>
            </a:r>
            <a:endParaRPr lang="ko-KR" altLang="en-US" sz="2800">
              <a:latin typeface="Kim jung chul Script Bold" panose="03050800000000000000" pitchFamily="66" charset="-127"/>
              <a:ea typeface="Kim jung chul Script Bold" panose="03050800000000000000" pitchFamily="66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66702" y="6237655"/>
            <a:ext cx="272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Kim jung chul Script Bold" panose="03050800000000000000" pitchFamily="66" charset="-127"/>
                <a:ea typeface="Kim jung chul Script Bold" panose="03050800000000000000" pitchFamily="66" charset="-127"/>
              </a:rPr>
              <a:t>1</a:t>
            </a:r>
            <a:endParaRPr lang="ko-KR" altLang="en-US" sz="2800" dirty="0">
              <a:latin typeface="Kim jung chul Script Bold" panose="03050800000000000000" pitchFamily="66" charset="-127"/>
              <a:ea typeface="Kim jung chul Script Bold" panose="03050800000000000000" pitchFamily="66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160" y="2464923"/>
            <a:ext cx="257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Kim jung chul Script Bold" panose="03050800000000000000" pitchFamily="66" charset="-127"/>
                <a:ea typeface="Kim jung chul Script Bold" panose="03050800000000000000" pitchFamily="66" charset="-127"/>
              </a:rPr>
              <a:t>1</a:t>
            </a:r>
            <a:endParaRPr lang="ko-KR" altLang="en-US" sz="3200" dirty="0">
              <a:latin typeface="Kim jung chul Script Bold" panose="03050800000000000000" pitchFamily="66" charset="-127"/>
              <a:ea typeface="Kim jung chul Script Bold" panose="03050800000000000000" pitchFamily="66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067" y="5497882"/>
            <a:ext cx="357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Kim jung chul Script Bold" panose="03050800000000000000" pitchFamily="66" charset="-127"/>
                <a:ea typeface="Kim jung chul Script Bold" panose="03050800000000000000" pitchFamily="66" charset="-127"/>
              </a:rPr>
              <a:t>1</a:t>
            </a:r>
            <a:endParaRPr lang="ko-KR" altLang="en-US" sz="3200" dirty="0">
              <a:latin typeface="Kim jung chul Script Bold" panose="03050800000000000000" pitchFamily="66" charset="-127"/>
              <a:ea typeface="Kim jung chul Script Bold" panose="03050800000000000000" pitchFamily="66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29" y="3950951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Kim jung chul Script Bold" panose="03050800000000000000" pitchFamily="66" charset="-127"/>
                <a:ea typeface="Kim jung chul Script Bold" panose="03050800000000000000" pitchFamily="66" charset="-127"/>
              </a:rPr>
              <a:t>2</a:t>
            </a:r>
            <a:endParaRPr lang="ko-KR" altLang="en-US" sz="3200" dirty="0">
              <a:latin typeface="Kim jung chul Script Bold" panose="03050800000000000000" pitchFamily="66" charset="-127"/>
              <a:ea typeface="Kim jung chul Script Bold" panose="03050800000000000000" pitchFamily="66" charset="-127"/>
            </a:endParaRPr>
          </a:p>
        </p:txBody>
      </p:sp>
      <p:pic>
        <p:nvPicPr>
          <p:cNvPr id="11" name="내용 개체 틀 10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0698" y="1871370"/>
            <a:ext cx="7260555" cy="435133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121" y="1871370"/>
            <a:ext cx="3479975" cy="4351338"/>
          </a:xfrm>
          <a:prstGeom prst="rect">
            <a:avLst/>
          </a:prstGeom>
        </p:spPr>
      </p:pic>
      <p:sp>
        <p:nvSpPr>
          <p:cNvPr id="13" name="원호 12"/>
          <p:cNvSpPr/>
          <p:nvPr/>
        </p:nvSpPr>
        <p:spPr>
          <a:xfrm rot="18859336" flipH="1">
            <a:off x="340273" y="2221642"/>
            <a:ext cx="1178611" cy="1094575"/>
          </a:xfrm>
          <a:prstGeom prst="arc">
            <a:avLst>
              <a:gd name="adj1" fmla="val 15671419"/>
              <a:gd name="adj2" fmla="val 662461"/>
            </a:avLst>
          </a:prstGeom>
          <a:ln w="38100">
            <a:solidFill>
              <a:srgbClr val="A3A4A2">
                <a:alpha val="50196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원호 13"/>
          <p:cNvSpPr/>
          <p:nvPr/>
        </p:nvSpPr>
        <p:spPr>
          <a:xfrm rot="18859336" flipH="1">
            <a:off x="320234" y="5170461"/>
            <a:ext cx="1178611" cy="1094575"/>
          </a:xfrm>
          <a:prstGeom prst="arc">
            <a:avLst>
              <a:gd name="adj1" fmla="val 15671419"/>
              <a:gd name="adj2" fmla="val 662461"/>
            </a:avLst>
          </a:prstGeom>
          <a:ln w="38100">
            <a:solidFill>
              <a:srgbClr val="A3A4A2">
                <a:alpha val="50196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원호 14"/>
          <p:cNvSpPr/>
          <p:nvPr/>
        </p:nvSpPr>
        <p:spPr>
          <a:xfrm rot="18859336" flipH="1">
            <a:off x="176423" y="2845861"/>
            <a:ext cx="2854772" cy="2443717"/>
          </a:xfrm>
          <a:prstGeom prst="arc">
            <a:avLst>
              <a:gd name="adj1" fmla="val 16801581"/>
              <a:gd name="adj2" fmla="val 21598960"/>
            </a:avLst>
          </a:prstGeom>
          <a:ln w="38100">
            <a:solidFill>
              <a:srgbClr val="A3A4A2">
                <a:alpha val="50196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256286" y="6266659"/>
            <a:ext cx="330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Kim jung chul Script Bold" panose="03050800000000000000" pitchFamily="66" charset="-127"/>
                <a:ea typeface="Kim jung chul Script Bold" panose="03050800000000000000" pitchFamily="66" charset="-127"/>
              </a:rPr>
              <a:t>2</a:t>
            </a:r>
            <a:endParaRPr lang="ko-KR" altLang="en-US" sz="2800" dirty="0">
              <a:latin typeface="Kim jung chul Script Bold" panose="03050800000000000000" pitchFamily="66" charset="-127"/>
              <a:ea typeface="Kim jung chul Script Bold" panose="030508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0239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색상 조합 참고 사이트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3"/>
              </a:rPr>
              <a:t>https://coolors.co/palettes/trending </a:t>
            </a:r>
            <a:endParaRPr lang="en-US" altLang="ko-KR" dirty="0"/>
          </a:p>
          <a:p>
            <a:r>
              <a:rPr lang="en-US" altLang="ko-KR" dirty="0">
                <a:hlinkClick r:id="rId4"/>
              </a:rPr>
              <a:t>https://colorhunt.co/</a:t>
            </a:r>
            <a:endParaRPr lang="en-US" altLang="ko-KR" dirty="0"/>
          </a:p>
          <a:p>
            <a:r>
              <a:rPr lang="en-US" altLang="ko-KR" dirty="0">
                <a:hlinkClick r:id="rId5"/>
              </a:rPr>
              <a:t>https://colorpalettes.net/</a:t>
            </a:r>
            <a:endParaRPr lang="en-US" altLang="ko-KR" dirty="0"/>
          </a:p>
          <a:p>
            <a:r>
              <a:rPr lang="en-US" altLang="ko-KR" dirty="0">
                <a:hlinkClick r:id="rId6"/>
              </a:rPr>
              <a:t>https://2colors.colorion.co/</a:t>
            </a:r>
            <a:r>
              <a:rPr lang="en-US" altLang="ko-KR" dirty="0"/>
              <a:t> (2</a:t>
            </a:r>
            <a:r>
              <a:rPr lang="ko-KR" altLang="en-US" dirty="0"/>
              <a:t>가지 색 조합 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66123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463457-E01F-DEBD-B49B-2218CBA7A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9DEFB2-5FEF-F4C1-1D46-7A35C2F6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379CA9D-74AA-39A8-A5FD-10D39A94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풀이 코드 </a:t>
            </a:r>
            <a:r>
              <a:rPr lang="en-US" altLang="ko-KR" dirty="0"/>
              <a:t>(HTML)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F9CF136-24CD-A4A8-43C0-C48651471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3200" dirty="0">
                <a:solidFill>
                  <a:schemeClr val="accent1"/>
                </a:solidFill>
              </a:rPr>
              <a:t>.container&gt;.</a:t>
            </a:r>
            <a:r>
              <a:rPr lang="en-US" altLang="ko-KR" sz="3200" dirty="0" err="1">
                <a:solidFill>
                  <a:schemeClr val="accent1"/>
                </a:solidFill>
              </a:rPr>
              <a:t>item.item</a:t>
            </a:r>
            <a:r>
              <a:rPr lang="en-US" altLang="ko-KR" sz="3200" dirty="0">
                <a:solidFill>
                  <a:schemeClr val="accent1"/>
                </a:solidFill>
              </a:rPr>
              <a:t>$*7</a:t>
            </a:r>
            <a:endParaRPr lang="ko-KR" altLang="en-US" sz="3200" dirty="0">
              <a:solidFill>
                <a:schemeClr val="accent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1276501-5EC9-670F-AF64-6E78C37B4951}"/>
              </a:ext>
            </a:extLst>
          </p:cNvPr>
          <p:cNvSpPr/>
          <p:nvPr/>
        </p:nvSpPr>
        <p:spPr>
          <a:xfrm>
            <a:off x="3216442" y="2435258"/>
            <a:ext cx="6096000" cy="286232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"container"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"item item1"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#F94144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"item item2"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#F3722C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"item item3"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#F9C74F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"item item4"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#43AA8B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"item item5"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#F8961E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"item item6"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#90BE6D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"item item7"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#4444FF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5580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0B057A5-2D1F-2927-2B18-68AD61944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18960D-9C99-922C-577E-2091C878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E60421-E406-7987-DCFC-A33D17408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B0DFB50-BB1A-2688-805F-9464ED64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풀이 코드 </a:t>
            </a:r>
            <a:r>
              <a:rPr lang="en-US" altLang="ko-KR" dirty="0"/>
              <a:t>(CSS)</a:t>
            </a:r>
            <a:r>
              <a:rPr lang="ko-KR" altLang="en-US" dirty="0"/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E2A1E9-1731-EB00-D656-46169AD70AF8}"/>
              </a:ext>
            </a:extLst>
          </p:cNvPr>
          <p:cNvSpPr/>
          <p:nvPr/>
        </p:nvSpPr>
        <p:spPr>
          <a:xfrm>
            <a:off x="596982" y="1448864"/>
            <a:ext cx="5386137" cy="440120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400" dirty="0">
                <a:solidFill>
                  <a:srgbClr val="C586C0"/>
                </a:solidFill>
                <a:latin typeface="Consolas" panose="020B0609020204030204" pitchFamily="49" charset="0"/>
              </a:rPr>
              <a:t>@font-face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400" dirty="0">
                <a:solidFill>
                  <a:srgbClr val="9CDCFE"/>
                </a:solidFill>
                <a:latin typeface="Consolas" panose="020B0609020204030204" pitchFamily="49" charset="0"/>
              </a:rPr>
              <a:t>font-family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400" dirty="0">
                <a:solidFill>
                  <a:srgbClr val="CE9178"/>
                </a:solidFill>
                <a:latin typeface="Consolas" panose="020B0609020204030204" pitchFamily="49" charset="0"/>
              </a:rPr>
              <a:t>'SUITE-Regular'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src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url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CE9178"/>
                </a:solidFill>
                <a:latin typeface="Consolas" panose="020B0609020204030204" pitchFamily="49" charset="0"/>
              </a:rPr>
              <a:t>'https://cdn.jsdelivr.net/</a:t>
            </a:r>
            <a:r>
              <a:rPr lang="en-US" altLang="ko-KR" sz="1400" dirty="0" err="1">
                <a:solidFill>
                  <a:srgbClr val="CE9178"/>
                </a:solidFill>
                <a:latin typeface="Consolas" panose="020B0609020204030204" pitchFamily="49" charset="0"/>
              </a:rPr>
              <a:t>gh</a:t>
            </a:r>
            <a:r>
              <a:rPr lang="en-US" altLang="ko-KR" sz="1400" dirty="0">
                <a:solidFill>
                  <a:srgbClr val="CE9178"/>
                </a:solidFill>
                <a:latin typeface="Consolas" panose="020B0609020204030204" pitchFamily="49" charset="0"/>
              </a:rPr>
              <a:t>/</a:t>
            </a:r>
            <a:r>
              <a:rPr lang="en-US" altLang="ko-KR" sz="1400" dirty="0" err="1">
                <a:solidFill>
                  <a:srgbClr val="CE9178"/>
                </a:solidFill>
                <a:latin typeface="Consolas" panose="020B0609020204030204" pitchFamily="49" charset="0"/>
              </a:rPr>
              <a:t>projectnoonnu</a:t>
            </a:r>
            <a:r>
              <a:rPr lang="en-US" altLang="ko-KR" sz="1400" dirty="0">
                <a:solidFill>
                  <a:srgbClr val="CE9178"/>
                </a:solidFill>
                <a:latin typeface="Consolas" panose="020B0609020204030204" pitchFamily="49" charset="0"/>
              </a:rPr>
              <a:t>/noonfonts_2304-2@1.0/SUITE-Regular.woff2'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400" dirty="0">
                <a:solidFill>
                  <a:srgbClr val="DCDCAA"/>
                </a:solidFill>
                <a:latin typeface="Consolas" panose="020B0609020204030204" pitchFamily="49" charset="0"/>
              </a:rPr>
              <a:t>format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CE9178"/>
                </a:solidFill>
                <a:latin typeface="Consolas" panose="020B0609020204030204" pitchFamily="49" charset="0"/>
              </a:rPr>
              <a:t>'woff2'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400" dirty="0">
                <a:solidFill>
                  <a:srgbClr val="9CDCFE"/>
                </a:solidFill>
                <a:latin typeface="Consolas" panose="020B0609020204030204" pitchFamily="49" charset="0"/>
              </a:rPr>
              <a:t>font-weight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400" dirty="0">
                <a:solidFill>
                  <a:srgbClr val="B5CEA8"/>
                </a:solidFill>
                <a:latin typeface="Consolas" panose="020B0609020204030204" pitchFamily="49" charset="0"/>
              </a:rPr>
              <a:t>400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400" dirty="0">
                <a:solidFill>
                  <a:srgbClr val="9CDCFE"/>
                </a:solidFill>
                <a:latin typeface="Consolas" panose="020B0609020204030204" pitchFamily="49" charset="0"/>
              </a:rPr>
              <a:t>font-style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400" dirty="0">
                <a:solidFill>
                  <a:srgbClr val="CE9178"/>
                </a:solidFill>
                <a:latin typeface="Consolas" panose="020B0609020204030204" pitchFamily="49" charset="0"/>
              </a:rPr>
              <a:t>normal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400" dirty="0">
                <a:solidFill>
                  <a:srgbClr val="569CD6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400" dirty="0">
                <a:solidFill>
                  <a:srgbClr val="9CDCFE"/>
                </a:solidFill>
                <a:latin typeface="Consolas" panose="020B0609020204030204" pitchFamily="49" charset="0"/>
              </a:rPr>
              <a:t>margin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400" dirty="0">
                <a:solidFill>
                  <a:srgbClr val="9CDCFE"/>
                </a:solidFill>
                <a:latin typeface="Consolas" panose="020B0609020204030204" pitchFamily="49" charset="0"/>
              </a:rPr>
              <a:t>padding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4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400" dirty="0">
                <a:solidFill>
                  <a:srgbClr val="D7BA7D"/>
                </a:solidFill>
                <a:latin typeface="Consolas" panose="020B0609020204030204" pitchFamily="49" charset="0"/>
              </a:rPr>
              <a:t>.container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400" dirty="0">
                <a:solidFill>
                  <a:srgbClr val="9CDCFE"/>
                </a:solidFill>
                <a:latin typeface="Consolas" panose="020B0609020204030204" pitchFamily="49" charset="0"/>
              </a:rPr>
              <a:t>display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400" dirty="0">
                <a:solidFill>
                  <a:srgbClr val="CE9178"/>
                </a:solidFill>
                <a:latin typeface="Consolas" panose="020B0609020204030204" pitchFamily="49" charset="0"/>
              </a:rPr>
              <a:t>grid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400" dirty="0">
                <a:solidFill>
                  <a:srgbClr val="9CDCFE"/>
                </a:solidFill>
                <a:latin typeface="Consolas" panose="020B0609020204030204" pitchFamily="49" charset="0"/>
              </a:rPr>
              <a:t>width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400" dirty="0">
                <a:solidFill>
                  <a:srgbClr val="B5CEA8"/>
                </a:solidFill>
                <a:latin typeface="Consolas" panose="020B0609020204030204" pitchFamily="49" charset="0"/>
              </a:rPr>
              <a:t>100%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400" dirty="0">
                <a:solidFill>
                  <a:srgbClr val="9CDCFE"/>
                </a:solidFill>
                <a:latin typeface="Consolas" panose="020B0609020204030204" pitchFamily="49" charset="0"/>
              </a:rPr>
              <a:t>height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400" dirty="0">
                <a:solidFill>
                  <a:srgbClr val="B5CEA8"/>
                </a:solidFill>
                <a:latin typeface="Consolas" panose="020B0609020204030204" pitchFamily="49" charset="0"/>
              </a:rPr>
              <a:t>100vh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400" dirty="0">
                <a:solidFill>
                  <a:srgbClr val="9CDCFE"/>
                </a:solidFill>
                <a:latin typeface="Consolas" panose="020B0609020204030204" pitchFamily="49" charset="0"/>
              </a:rPr>
              <a:t>grid-template-columns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400" dirty="0">
                <a:solidFill>
                  <a:srgbClr val="DCDCAA"/>
                </a:solidFill>
                <a:latin typeface="Consolas" panose="020B0609020204030204" pitchFamily="49" charset="0"/>
              </a:rPr>
              <a:t>repeat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400" dirty="0">
                <a:solidFill>
                  <a:srgbClr val="B5CEA8"/>
                </a:solidFill>
                <a:latin typeface="Consolas" panose="020B0609020204030204" pitchFamily="49" charset="0"/>
              </a:rPr>
              <a:t>1fr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400" dirty="0">
                <a:solidFill>
                  <a:srgbClr val="9CDCFE"/>
                </a:solidFill>
                <a:latin typeface="Consolas" panose="020B0609020204030204" pitchFamily="49" charset="0"/>
              </a:rPr>
              <a:t>grid-template-rows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400" dirty="0">
                <a:solidFill>
                  <a:srgbClr val="B5CEA8"/>
                </a:solidFill>
                <a:latin typeface="Consolas" panose="020B0609020204030204" pitchFamily="49" charset="0"/>
              </a:rPr>
              <a:t>1fr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B5CEA8"/>
                </a:solidFill>
                <a:latin typeface="Consolas" panose="020B0609020204030204" pitchFamily="49" charset="0"/>
              </a:rPr>
              <a:t>1fr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B5CEA8"/>
                </a:solidFill>
                <a:latin typeface="Consolas" panose="020B0609020204030204" pitchFamily="49" charset="0"/>
              </a:rPr>
              <a:t>1fr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B5CEA8"/>
                </a:solidFill>
                <a:latin typeface="Consolas" panose="020B0609020204030204" pitchFamily="49" charset="0"/>
              </a:rPr>
              <a:t>1fr</a:t>
            </a:r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endParaRPr lang="en-US" altLang="ko-K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4ADB75-3F16-5701-F10F-5624ED20CE4D}"/>
              </a:ext>
            </a:extLst>
          </p:cNvPr>
          <p:cNvSpPr/>
          <p:nvPr/>
        </p:nvSpPr>
        <p:spPr>
          <a:xfrm>
            <a:off x="6048461" y="524374"/>
            <a:ext cx="5546558" cy="609397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000" dirty="0">
                <a:solidFill>
                  <a:srgbClr val="D7BA7D"/>
                </a:solidFill>
                <a:latin typeface="Consolas" panose="020B0609020204030204" pitchFamily="49" charset="0"/>
              </a:rPr>
              <a:t>.item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font-family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'SUITE-Regular'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font-size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1.4rem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line-height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4fr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font-weight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700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ko-KR" altLang="en-US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6A9955"/>
                </a:solidFill>
                <a:latin typeface="Consolas" panose="020B0609020204030204" pitchFamily="49" charset="0"/>
              </a:rPr>
              <a:t>/* </a:t>
            </a:r>
            <a:r>
              <a:rPr lang="ko-KR" altLang="en-US" sz="1000" dirty="0">
                <a:solidFill>
                  <a:srgbClr val="6A9955"/>
                </a:solidFill>
                <a:latin typeface="Consolas" panose="020B0609020204030204" pitchFamily="49" charset="0"/>
              </a:rPr>
              <a:t>글씨 중앙 정렬 </a:t>
            </a:r>
            <a:r>
              <a:rPr lang="en-US" altLang="ko-KR" sz="1000" dirty="0">
                <a:solidFill>
                  <a:srgbClr val="6A9955"/>
                </a:solidFill>
                <a:latin typeface="Consolas" panose="020B0609020204030204" pitchFamily="49" charset="0"/>
              </a:rPr>
              <a:t>flex </a:t>
            </a:r>
            <a:r>
              <a:rPr lang="ko-KR" altLang="en-US" sz="1000" dirty="0">
                <a:solidFill>
                  <a:srgbClr val="6A9955"/>
                </a:solidFill>
                <a:latin typeface="Consolas" panose="020B0609020204030204" pitchFamily="49" charset="0"/>
              </a:rPr>
              <a:t>이용 *</a:t>
            </a:r>
            <a:r>
              <a:rPr lang="en-US" altLang="ko-KR" sz="1000" dirty="0">
                <a:solidFill>
                  <a:srgbClr val="6A9955"/>
                </a:solidFill>
                <a:latin typeface="Consolas" panose="020B0609020204030204" pitchFamily="49" charset="0"/>
              </a:rPr>
              <a:t>/</a:t>
            </a:r>
            <a:endParaRPr lang="ko-KR" altLang="en-US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ko-KR" altLang="en-US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display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flex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align-items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center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justify-content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center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000" dirty="0">
                <a:solidFill>
                  <a:srgbClr val="D7BA7D"/>
                </a:solidFill>
                <a:latin typeface="Consolas" panose="020B0609020204030204" pitchFamily="49" charset="0"/>
              </a:rPr>
              <a:t>.item1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#f94144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grid-column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auto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 / span 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000" dirty="0">
                <a:solidFill>
                  <a:srgbClr val="D7BA7D"/>
                </a:solidFill>
                <a:latin typeface="Consolas" panose="020B0609020204030204" pitchFamily="49" charset="0"/>
              </a:rPr>
              <a:t>.item2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#f3722c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grid-row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000" dirty="0">
                <a:solidFill>
                  <a:srgbClr val="D7BA7D"/>
                </a:solidFill>
                <a:latin typeface="Consolas" panose="020B0609020204030204" pitchFamily="49" charset="0"/>
              </a:rPr>
              <a:t>.item3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#f9c74f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grid-column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000" dirty="0">
                <a:solidFill>
                  <a:srgbClr val="D7BA7D"/>
                </a:solidFill>
                <a:latin typeface="Consolas" panose="020B0609020204030204" pitchFamily="49" charset="0"/>
              </a:rPr>
              <a:t>.item4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#43aa8b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grid-row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auto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 / span 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000" dirty="0">
                <a:solidFill>
                  <a:srgbClr val="D7BA7D"/>
                </a:solidFill>
                <a:latin typeface="Consolas" panose="020B0609020204030204" pitchFamily="49" charset="0"/>
              </a:rPr>
              <a:t>.item5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#f8961e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grid-column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000" dirty="0">
                <a:solidFill>
                  <a:srgbClr val="D7BA7D"/>
                </a:solidFill>
                <a:latin typeface="Consolas" panose="020B0609020204030204" pitchFamily="49" charset="0"/>
              </a:rPr>
              <a:t>.item6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#90be6d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grid-column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000" dirty="0">
                <a:solidFill>
                  <a:srgbClr val="D7BA7D"/>
                </a:solidFill>
                <a:latin typeface="Consolas" panose="020B0609020204030204" pitchFamily="49" charset="0"/>
              </a:rPr>
              <a:t>.item7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E9178"/>
                </a:solidFill>
                <a:latin typeface="Consolas" panose="020B0609020204030204" pitchFamily="49" charset="0"/>
              </a:rPr>
              <a:t>#4444ff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000" dirty="0">
                <a:solidFill>
                  <a:srgbClr val="9CDCFE"/>
                </a:solidFill>
                <a:latin typeface="Consolas" panose="020B0609020204030204" pitchFamily="49" charset="0"/>
              </a:rPr>
              <a:t>grid-column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en-US" altLang="ko-KR" sz="1000" dirty="0">
                <a:solidFill>
                  <a:srgbClr val="B5CEA8"/>
                </a:solidFill>
                <a:latin typeface="Consolas" panose="020B0609020204030204" pitchFamily="49" charset="0"/>
              </a:rPr>
              <a:t>7</a:t>
            </a:r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000" dirty="0">
                <a:solidFill>
                  <a:srgbClr val="D4D4D4"/>
                </a:solidFill>
                <a:latin typeface="Consolas" panose="020B0609020204030204" pitchFamily="49" charset="0"/>
              </a:rPr>
              <a:t>      }</a:t>
            </a:r>
            <a:endParaRPr lang="en-US" altLang="ko-KR" sz="1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4899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코딩온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555</TotalTime>
  <Words>1579</Words>
  <Application>Microsoft Office PowerPoint</Application>
  <PresentationFormat>와이드스크린</PresentationFormat>
  <Paragraphs>344</Paragraphs>
  <Slides>33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1" baseType="lpstr">
      <vt:lpstr>Kim jung chul Gothic Regular</vt:lpstr>
      <vt:lpstr>Kim jung chul Script Bold</vt:lpstr>
      <vt:lpstr>Kim jung chul Script Light</vt:lpstr>
      <vt:lpstr>맑은 고딕</vt:lpstr>
      <vt:lpstr>메이플스토리</vt:lpstr>
      <vt:lpstr>Arial</vt:lpstr>
      <vt:lpstr>Consolas</vt:lpstr>
      <vt:lpstr>1_Office 테마</vt:lpstr>
      <vt:lpstr>웹 개발자 부트캠프 과정</vt:lpstr>
      <vt:lpstr>Grid</vt:lpstr>
      <vt:lpstr>그리드 (Grid)</vt:lpstr>
      <vt:lpstr>Flex vs. Grid</vt:lpstr>
      <vt:lpstr>Grid 용어 정리</vt:lpstr>
      <vt:lpstr>PowerPoint 프레젠테이션</vt:lpstr>
      <vt:lpstr>display: grid;</vt:lpstr>
      <vt:lpstr>Container 속성</vt:lpstr>
      <vt:lpstr>container 속성 종류</vt:lpstr>
      <vt:lpstr>grid-template-rows/ grid-template-columns</vt:lpstr>
      <vt:lpstr>repeat(횟수, 크기)</vt:lpstr>
      <vt:lpstr>minmax(최소 크기, 최대 크기)</vt:lpstr>
      <vt:lpstr>row-gap/column-gap/gap</vt:lpstr>
      <vt:lpstr>align-content</vt:lpstr>
      <vt:lpstr>justify-content</vt:lpstr>
      <vt:lpstr>place-content</vt:lpstr>
      <vt:lpstr>align-items</vt:lpstr>
      <vt:lpstr>justify-items</vt:lpstr>
      <vt:lpstr>place-items</vt:lpstr>
      <vt:lpstr>Item 속성</vt:lpstr>
      <vt:lpstr>grid-row-start/grid-row-end</vt:lpstr>
      <vt:lpstr>grid-column-start/ grid-column-end</vt:lpstr>
      <vt:lpstr>align-self 와 justify-self</vt:lpstr>
      <vt:lpstr>place-self</vt:lpstr>
      <vt:lpstr>order</vt:lpstr>
      <vt:lpstr>z-index</vt:lpstr>
      <vt:lpstr>컨테이너 속성 grid-template-areas 와 아이템 속성 grid-areas</vt:lpstr>
      <vt:lpstr>item 속성 종류</vt:lpstr>
      <vt:lpstr>실습. grid 이용해 웹사이트 기본 구조 만들기</vt:lpstr>
      <vt:lpstr>실습. grid 이용해 웹사이트 기본 구조 만들기</vt:lpstr>
      <vt:lpstr>색상 조합 참고 사이트</vt:lpstr>
      <vt:lpstr>실습 풀이 코드 (HTML)</vt:lpstr>
      <vt:lpstr>실습 풀이 코드 (CSS)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Allie</dc:creator>
  <cp:lastModifiedBy>고 서연</cp:lastModifiedBy>
  <cp:revision>33</cp:revision>
  <dcterms:created xsi:type="dcterms:W3CDTF">2022-10-14T09:20:50Z</dcterms:created>
  <dcterms:modified xsi:type="dcterms:W3CDTF">2023-07-31T02:13:46Z</dcterms:modified>
</cp:coreProperties>
</file>