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26"/>
  </p:notesMasterIdLst>
  <p:sldIdLst>
    <p:sldId id="355" r:id="rId2"/>
    <p:sldId id="485" r:id="rId3"/>
    <p:sldId id="473" r:id="rId4"/>
    <p:sldId id="273" r:id="rId5"/>
    <p:sldId id="474" r:id="rId6"/>
    <p:sldId id="475" r:id="rId7"/>
    <p:sldId id="274" r:id="rId8"/>
    <p:sldId id="476" r:id="rId9"/>
    <p:sldId id="477" r:id="rId10"/>
    <p:sldId id="486" r:id="rId11"/>
    <p:sldId id="482" r:id="rId12"/>
    <p:sldId id="269" r:id="rId13"/>
    <p:sldId id="270" r:id="rId14"/>
    <p:sldId id="271" r:id="rId15"/>
    <p:sldId id="483" r:id="rId16"/>
    <p:sldId id="484" r:id="rId17"/>
    <p:sldId id="381" r:id="rId18"/>
    <p:sldId id="487" r:id="rId19"/>
    <p:sldId id="258" r:id="rId20"/>
    <p:sldId id="275" r:id="rId21"/>
    <p:sldId id="260" r:id="rId22"/>
    <p:sldId id="261" r:id="rId23"/>
    <p:sldId id="492" r:id="rId24"/>
    <p:sldId id="494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84286" autoAdjust="0"/>
  </p:normalViewPr>
  <p:slideViewPr>
    <p:cSldViewPr snapToGrid="0">
      <p:cViewPr varScale="1">
        <p:scale>
          <a:sx n="93" d="100"/>
          <a:sy n="93" d="100"/>
        </p:scale>
        <p:origin x="6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909D1F-AA98-4591-BD37-B93AF1B23D35}" type="datetimeFigureOut">
              <a:rPr lang="ko-KR" altLang="en-US" smtClean="0"/>
              <a:t>2024-06-05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EC434-4F2C-4009-A759-466C4FEA3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056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552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비구조화 할당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EC434-4F2C-4009-A759-466C4FEA311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854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변수에 </a:t>
            </a:r>
            <a:r>
              <a:rPr lang="ko-KR" altLang="en-US" dirty="0" err="1"/>
              <a:t>직접할당</a:t>
            </a:r>
            <a:r>
              <a:rPr lang="en-US" altLang="ko-KR" dirty="0"/>
              <a:t>, </a:t>
            </a:r>
            <a:r>
              <a:rPr lang="ko-KR" altLang="en-US" dirty="0"/>
              <a:t>직관적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5A4A6-1964-497D-80B2-C6696AAF8B4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title,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num</a:t>
            </a:r>
            <a:r>
              <a:rPr lang="en-US" altLang="ko-KR" baseline="0" dirty="0"/>
              <a:t>, content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5A4A6-1964-497D-80B2-C6696AAF8B4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196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EC434-4F2C-4009-A759-466C4FEA311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152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... </a:t>
            </a:r>
            <a:r>
              <a:rPr lang="ko-KR" altLang="en-US" dirty="0"/>
              <a:t>이 연산자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5A4A6-1964-497D-80B2-C6696AAF8B4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688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배열 자체를 </a:t>
            </a:r>
            <a:r>
              <a:rPr lang="en-US" altLang="ko-KR" dirty="0"/>
              <a:t>arr3 =[arr1, arr2] </a:t>
            </a:r>
            <a:r>
              <a:rPr lang="ko-KR" altLang="en-US" dirty="0"/>
              <a:t>초기화 시키면 이차원 배열이 </a:t>
            </a:r>
            <a:r>
              <a:rPr lang="ko-KR" altLang="en-US" dirty="0" err="1"/>
              <a:t>되는거고</a:t>
            </a:r>
            <a:endParaRPr lang="en-US" altLang="ko-KR" dirty="0"/>
          </a:p>
          <a:p>
            <a:r>
              <a:rPr lang="ko-KR" altLang="en-US" dirty="0"/>
              <a:t>배열의 요소를 합치기 위해서는 전개구문 사용할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물론 전개구문이 아니고 배열의 </a:t>
            </a:r>
            <a:r>
              <a:rPr lang="ko-KR" altLang="en-US" dirty="0" err="1"/>
              <a:t>메소드라든지</a:t>
            </a:r>
            <a:r>
              <a:rPr lang="en-US" altLang="ko-KR" dirty="0"/>
              <a:t>,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5A4A6-1964-497D-80B2-C6696AAF8B4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632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유사배열 객체를 배열로 만들 수 </a:t>
            </a:r>
            <a:r>
              <a:rPr lang="ko-KR" altLang="en-US" dirty="0" err="1"/>
              <a:t>있ㅇㅁ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5A4A6-1964-497D-80B2-C6696AAF8B4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675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602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constructi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5A4A6-1964-497D-80B2-C6696AAF8B4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59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상속부터는 사실 몰라도 되지 않을까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super</a:t>
            </a:r>
            <a:r>
              <a:rPr lang="en-US" altLang="ko-KR" baseline="0" dirty="0"/>
              <a:t> </a:t>
            </a:r>
            <a:r>
              <a:rPr lang="ko-KR" altLang="en-US" baseline="0" dirty="0"/>
              <a:t>와 </a:t>
            </a:r>
            <a:r>
              <a:rPr lang="en-US" altLang="ko-KR" baseline="0" dirty="0"/>
              <a:t>overriding</a:t>
            </a:r>
            <a:r>
              <a:rPr lang="ko-KR" altLang="en-US" baseline="0" dirty="0"/>
              <a:t>은 코드에서 설명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5A4A6-1964-497D-80B2-C6696AAF8B4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24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871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976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895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866090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30874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65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038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02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288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198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205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89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225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669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80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SeSAC</a:t>
            </a:r>
            <a:r>
              <a:rPr lang="en-US" altLang="ko-KR" dirty="0"/>
              <a:t> x </a:t>
            </a:r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36DEA-2253-46C9-AE9F-391209500EBC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29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68FECC-6498-35A4-9046-20471832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9E5341-988E-3DF5-738B-FB7BDCF5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816F34E-1499-29A0-A49C-509616CDC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구조 분해 할당</a:t>
            </a:r>
          </a:p>
        </p:txBody>
      </p:sp>
    </p:spTree>
    <p:extLst>
      <p:ext uri="{BB962C8B-B14F-4D97-AF65-F5344CB8AC3E}">
        <p14:creationId xmlns:p14="http://schemas.microsoft.com/office/powerpoint/2010/main" val="4286596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8F99A1-B785-5CCB-8DC4-3BF048251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9409"/>
            <a:ext cx="10820400" cy="38752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구조분해 할당 배열이나 객체의 속성을 해체해 그 값을 개별변수에 담는 것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JavaScript</a:t>
            </a:r>
            <a:r>
              <a:rPr lang="ko-KR" altLang="en-US" sz="2400" dirty="0"/>
              <a:t>에서 많이 쓰이는 </a:t>
            </a:r>
            <a:r>
              <a:rPr lang="ko-KR" altLang="en-US" sz="2400" dirty="0" err="1"/>
              <a:t>자료구조인</a:t>
            </a:r>
            <a:r>
              <a:rPr lang="ko-KR" altLang="en-US" sz="2400" dirty="0"/>
              <a:t> 배열과 객체를 편하게 사용하기 위함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즉</a:t>
            </a:r>
            <a:r>
              <a:rPr lang="en-US" altLang="ko-KR" sz="2000" dirty="0"/>
              <a:t>, </a:t>
            </a:r>
            <a:r>
              <a:rPr lang="ko-KR" altLang="en-US" sz="2000" dirty="0"/>
              <a:t>객체나 배열에 저장된 데이터의 일부를 가져오고 싶을 때 주로 사용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solidFill>
                  <a:schemeClr val="accent1"/>
                </a:solidFill>
              </a:rPr>
              <a:t>배열 구조 분해</a:t>
            </a:r>
            <a:endParaRPr lang="en-US" altLang="ko-KR" sz="2000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solidFill>
                  <a:schemeClr val="accent1"/>
                </a:solidFill>
              </a:rPr>
              <a:t>객체 구조 분해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4825A4-1931-9636-251A-902B8EE9B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BE95AC-BD89-808C-55F7-51A15BF9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CB084F-8EFD-7C28-52FD-39B488863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39650"/>
            <a:ext cx="11592339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구조분해 할당 </a:t>
            </a:r>
            <a:r>
              <a:rPr lang="en-US" altLang="ko-KR" dirty="0"/>
              <a:t>(</a:t>
            </a:r>
            <a:r>
              <a:rPr lang="en-US" altLang="ko-KR" dirty="0" err="1"/>
              <a:t>Destructuring</a:t>
            </a:r>
            <a:r>
              <a:rPr lang="en-US" altLang="ko-KR" dirty="0"/>
              <a:t> assignment)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215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5032375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arr</a:t>
            </a:r>
            <a:r>
              <a:rPr lang="en-US" altLang="ko-KR" dirty="0"/>
              <a:t>[0], </a:t>
            </a:r>
            <a:r>
              <a:rPr lang="en-US" altLang="ko-KR" dirty="0" err="1"/>
              <a:t>arr</a:t>
            </a:r>
            <a:r>
              <a:rPr lang="en-US" altLang="ko-KR" dirty="0"/>
              <a:t>[1] </a:t>
            </a:r>
            <a:r>
              <a:rPr lang="ko-KR" altLang="en-US" dirty="0"/>
              <a:t>처럼 접근하는 것이 아닌 각각의 </a:t>
            </a:r>
            <a:r>
              <a:rPr lang="ko-KR" altLang="en-US" dirty="0">
                <a:solidFill>
                  <a:schemeClr val="accent1"/>
                </a:solidFill>
              </a:rPr>
              <a:t>배열 요소를 변수의 이름으로 접근</a:t>
            </a:r>
            <a:r>
              <a:rPr lang="ko-KR" altLang="en-US" dirty="0"/>
              <a:t>하기 위해서 사용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아래와 같음</a:t>
            </a:r>
            <a:r>
              <a:rPr lang="en-US" altLang="ko-KR" dirty="0"/>
              <a:t>, </a:t>
            </a:r>
            <a:r>
              <a:rPr lang="ko-KR" altLang="en-US" dirty="0"/>
              <a:t>직접 할당하는 것보다 간단함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	</a:t>
            </a:r>
          </a:p>
          <a:p>
            <a:pPr marL="914400" lvl="2" indent="0">
              <a:buNone/>
            </a:pPr>
            <a:r>
              <a:rPr lang="en-US" altLang="ko-KR" dirty="0"/>
              <a:t>	</a:t>
            </a:r>
          </a:p>
          <a:p>
            <a:pPr marL="914400" lvl="2" indent="0">
              <a:buNone/>
            </a:pPr>
            <a:r>
              <a:rPr lang="en-US" altLang="ko-KR" dirty="0"/>
              <a:t>			</a:t>
            </a:r>
          </a:p>
          <a:p>
            <a:pPr lvl="4"/>
            <a:endParaRPr lang="en-US" altLang="ko-KR" dirty="0"/>
          </a:p>
          <a:p>
            <a:pPr lvl="1"/>
            <a:r>
              <a:rPr lang="ko-KR" altLang="en-US" dirty="0"/>
              <a:t>변수를</a:t>
            </a:r>
            <a:r>
              <a:rPr lang="ko-KR" altLang="en-US" dirty="0">
                <a:solidFill>
                  <a:schemeClr val="accent3"/>
                </a:solidFill>
              </a:rPr>
              <a:t> 선언한 순서대로 </a:t>
            </a:r>
            <a:r>
              <a:rPr lang="ko-KR" altLang="en-US" dirty="0"/>
              <a:t>배열의 요소가 값으로 할당됨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구조 분해 할당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54082" y="2540670"/>
            <a:ext cx="7175269" cy="120032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24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arr5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[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2400" dirty="0">
                <a:solidFill>
                  <a:srgbClr val="C3E88D"/>
                </a:solidFill>
                <a:latin typeface="Consolas" panose="020B0609020204030204" pitchFamily="49" charset="0"/>
              </a:rPr>
              <a:t>tomato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',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2400" dirty="0">
                <a:solidFill>
                  <a:srgbClr val="C3E88D"/>
                </a:solidFill>
                <a:latin typeface="Consolas" panose="020B0609020204030204" pitchFamily="49" charset="0"/>
              </a:rPr>
              <a:t>kiwi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',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2400" dirty="0">
                <a:solidFill>
                  <a:srgbClr val="C3E88D"/>
                </a:solidFill>
                <a:latin typeface="Consolas" panose="020B0609020204030204" pitchFamily="49" charset="0"/>
              </a:rPr>
              <a:t>banana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]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24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4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tomato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kiwi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banana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]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arr5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24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400" dirty="0">
                <a:solidFill>
                  <a:srgbClr val="82AAFF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tomato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i="1" dirty="0">
                <a:solidFill>
                  <a:srgbClr val="546E7A"/>
                </a:solidFill>
                <a:latin typeface="Consolas" panose="020B0609020204030204" pitchFamily="49" charset="0"/>
              </a:rPr>
              <a:t>//'tomato'</a:t>
            </a:r>
            <a:endParaRPr lang="en-US" altLang="ko-KR" sz="2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568334" y="4404419"/>
            <a:ext cx="3834938" cy="1200329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tomato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arr5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2400" dirty="0">
                <a:solidFill>
                  <a:srgbClr val="F78C6C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kiwi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arr5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2400" dirty="0">
                <a:solidFill>
                  <a:srgbClr val="F78C6C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banana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arr5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2400" dirty="0">
                <a:solidFill>
                  <a:srgbClr val="F78C6C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]</a:t>
            </a:r>
            <a:endParaRPr lang="en-US" altLang="ko-KR" sz="2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244435" y="2949928"/>
            <a:ext cx="3773977" cy="42213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05897">
            <a:off x="3815007" y="3565621"/>
            <a:ext cx="2207252" cy="220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9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00B45-4E8B-E4A5-4C59-FD70CD32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const [</a:t>
            </a:r>
            <a:r>
              <a:rPr lang="ko-KR" altLang="en-US" dirty="0"/>
              <a:t>변수</a:t>
            </a:r>
            <a:r>
              <a:rPr lang="en-US" altLang="ko-KR" dirty="0"/>
              <a:t>] = </a:t>
            </a:r>
            <a:r>
              <a:rPr lang="ko-KR" altLang="en-US" dirty="0"/>
              <a:t>배열</a:t>
            </a:r>
            <a:r>
              <a:rPr lang="en-US" altLang="ko-KR" dirty="0"/>
              <a:t>;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각 변수에 배열의 인덱스 순으로 값 대응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구조분해 시 변수의 값이 </a:t>
            </a:r>
            <a:r>
              <a:rPr lang="en-US" altLang="ko-KR" dirty="0"/>
              <a:t>undefined </a:t>
            </a:r>
            <a:r>
              <a:rPr lang="ko-KR" altLang="en-US" dirty="0"/>
              <a:t>일 때 기본값 할당 가능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구조분해 없이 두 변수의 값 교환도 가능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F78AED-1F62-937F-C141-A1428C32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EDC173-EE37-074D-5C8F-54F6342E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A0F18E-0D4D-B838-DE2C-EAC0066B1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구조 분해 할당</a:t>
            </a:r>
          </a:p>
        </p:txBody>
      </p:sp>
    </p:spTree>
    <p:extLst>
      <p:ext uri="{BB962C8B-B14F-4D97-AF65-F5344CB8AC3E}">
        <p14:creationId xmlns:p14="http://schemas.microsoft.com/office/powerpoint/2010/main" val="2234716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F78AED-1F62-937F-C141-A1428C32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EDC173-EE37-074D-5C8F-54F6342E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A0F18E-0D4D-B838-DE2C-EAC0066B1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구조 분해 할당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E5D647B-26B2-A5DB-F898-3DC567BBC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20" y="1519874"/>
            <a:ext cx="5948201" cy="22132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D8C0A92-2A79-FB68-14F3-12DB44019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588" y="3377891"/>
            <a:ext cx="5717306" cy="235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556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배열의 구조 분해 할당처럼 객체의 속성값을 오브젝트의 </a:t>
            </a:r>
            <a:r>
              <a:rPr lang="en-US" altLang="ko-KR" dirty="0"/>
              <a:t>key</a:t>
            </a:r>
            <a:r>
              <a:rPr lang="ko-KR" altLang="en-US" dirty="0"/>
              <a:t>로 접근하는 것이 아닌 </a:t>
            </a:r>
            <a:r>
              <a:rPr lang="ko-KR" altLang="en-US" sz="2400" dirty="0">
                <a:solidFill>
                  <a:schemeClr val="accent1"/>
                </a:solidFill>
              </a:rPr>
              <a:t>변수로 접근하기 위해서 </a:t>
            </a:r>
            <a:r>
              <a:rPr lang="ko-KR" altLang="en-US" dirty="0"/>
              <a:t>사용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배열의 </a:t>
            </a:r>
            <a:r>
              <a:rPr lang="ko-KR" altLang="en-US" dirty="0" err="1"/>
              <a:t>구조분해</a:t>
            </a:r>
            <a:r>
              <a:rPr lang="ko-KR" altLang="en-US" dirty="0"/>
              <a:t> 할당과 달리 변수 선언 순서에 따라서 값이 할당되는 것이 아닌 </a:t>
            </a:r>
            <a:r>
              <a:rPr lang="en-US" altLang="ko-KR" dirty="0">
                <a:solidFill>
                  <a:schemeClr val="accent1"/>
                </a:solidFill>
              </a:rPr>
              <a:t>key</a:t>
            </a:r>
            <a:r>
              <a:rPr lang="ko-KR" altLang="en-US" dirty="0">
                <a:solidFill>
                  <a:schemeClr val="accent1"/>
                </a:solidFill>
              </a:rPr>
              <a:t>의 이름에 따라서 변수에 값이 할당</a:t>
            </a:r>
            <a:r>
              <a:rPr lang="ko-KR" altLang="en-US" dirty="0"/>
              <a:t>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오브젝트</a:t>
            </a:r>
            <a:r>
              <a:rPr lang="en-US" altLang="ko-KR" dirty="0"/>
              <a:t>(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의 구조 분해 할당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227195" y="2766449"/>
            <a:ext cx="6237634" cy="2246769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20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  title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2000" dirty="0">
                <a:solidFill>
                  <a:srgbClr val="C3E88D"/>
                </a:solidFill>
                <a:latin typeface="Consolas" panose="020B0609020204030204" pitchFamily="49" charset="0"/>
              </a:rPr>
              <a:t>제목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',</a:t>
            </a:r>
            <a:endParaRPr lang="ko-KR" altLang="en-US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sz="20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content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2000" dirty="0">
                <a:solidFill>
                  <a:srgbClr val="C3E88D"/>
                </a:solidFill>
                <a:latin typeface="Consolas" panose="020B0609020204030204" pitchFamily="49" charset="0"/>
              </a:rPr>
              <a:t>내용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',</a:t>
            </a:r>
            <a:endParaRPr lang="ko-KR" altLang="en-US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sz="20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2000" dirty="0" err="1">
                <a:solidFill>
                  <a:srgbClr val="BBBBBB"/>
                </a:solidFill>
                <a:latin typeface="Consolas" panose="020B0609020204030204" pitchFamily="49" charset="0"/>
              </a:rPr>
              <a:t>num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F78C6C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endParaRPr lang="en-US" altLang="ko-KR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pt-BR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title</a:t>
            </a:r>
            <a:r>
              <a:rPr lang="pt-BR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num</a:t>
            </a:r>
            <a:r>
              <a:rPr lang="pt-BR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content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obj</a:t>
            </a:r>
          </a:p>
          <a:p>
            <a:r>
              <a:rPr lang="en-US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000" dirty="0">
                <a:solidFill>
                  <a:srgbClr val="82AAFF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content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i="1" dirty="0">
                <a:solidFill>
                  <a:srgbClr val="546E7A"/>
                </a:solidFill>
                <a:latin typeface="Consolas" panose="020B0609020204030204" pitchFamily="49" charset="0"/>
              </a:rPr>
              <a:t>//'</a:t>
            </a:r>
            <a:r>
              <a:rPr lang="ko-KR" altLang="en-US" sz="2000" i="1" dirty="0">
                <a:solidFill>
                  <a:srgbClr val="546E7A"/>
                </a:solidFill>
                <a:latin typeface="Consolas" panose="020B0609020204030204" pitchFamily="49" charset="0"/>
              </a:rPr>
              <a:t>내용</a:t>
            </a:r>
            <a:r>
              <a:rPr lang="en-US" altLang="ko-KR" sz="2000" i="1" dirty="0">
                <a:solidFill>
                  <a:srgbClr val="546E7A"/>
                </a:solidFill>
                <a:latin typeface="Consolas" panose="020B0609020204030204" pitchFamily="49" charset="0"/>
              </a:rPr>
              <a:t>'</a:t>
            </a:r>
            <a:endParaRPr lang="ko-KR" altLang="en-US" sz="2000" dirty="0">
              <a:solidFill>
                <a:srgbClr val="BBBBBB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105303" y="3382001"/>
            <a:ext cx="4128655" cy="1015663"/>
          </a:xfrm>
          <a:prstGeom prst="rect">
            <a:avLst/>
          </a:prstGeom>
          <a:solidFill>
            <a:srgbClr val="002060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0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title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2000" dirty="0" err="1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title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0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num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2000" dirty="0" err="1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num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0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content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2000" dirty="0" err="1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content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2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74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4D7EC5-CE6D-3A3F-9900-4B5C0C314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const { </a:t>
            </a:r>
            <a:r>
              <a:rPr lang="ko-KR" altLang="en-US" dirty="0"/>
              <a:t>변수 </a:t>
            </a:r>
            <a:r>
              <a:rPr lang="en-US" altLang="ko-KR" dirty="0"/>
              <a:t>} = </a:t>
            </a:r>
            <a:r>
              <a:rPr lang="ko-KR" altLang="en-US" dirty="0"/>
              <a:t>객체</a:t>
            </a:r>
            <a:r>
              <a:rPr lang="en-US" altLang="ko-KR" dirty="0"/>
              <a:t>;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객체 안의 속성을 변수명으로 사용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콜론</a:t>
            </a:r>
            <a:r>
              <a:rPr lang="en-US" altLang="ko-KR" dirty="0"/>
              <a:t>(:)</a:t>
            </a:r>
            <a:r>
              <a:rPr lang="ko-KR" altLang="en-US" dirty="0"/>
              <a:t> 이용해 새 변수명을 선언하고</a:t>
            </a:r>
            <a:r>
              <a:rPr lang="en-US" altLang="ko-KR" dirty="0"/>
              <a:t>, </a:t>
            </a:r>
            <a:r>
              <a:rPr lang="ko-KR" altLang="en-US" dirty="0"/>
              <a:t>원래의 값을 새 변수명에 할당 가능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28B3E-7E46-8416-284F-F4F43A7E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BF702D-FAA1-6C98-EA03-DB218465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F1FE8CF-671B-89FF-B68D-5BBADDEC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 구조 분해 할당</a:t>
            </a:r>
          </a:p>
        </p:txBody>
      </p:sp>
    </p:spTree>
    <p:extLst>
      <p:ext uri="{BB962C8B-B14F-4D97-AF65-F5344CB8AC3E}">
        <p14:creationId xmlns:p14="http://schemas.microsoft.com/office/powerpoint/2010/main" val="3236616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7E8E5D-7823-CB15-23BE-FBD049FD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5AE02F-7359-0929-A3A5-84F1494E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DB1814-9169-2C44-F891-241A2965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 구조 분해 할당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3352F7-BD9B-300E-61CB-A8FD79CC6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69" y="1334627"/>
            <a:ext cx="6769643" cy="28065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9A394C3-B844-7B6C-0545-4BD278006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324" y="3538330"/>
            <a:ext cx="7290707" cy="265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644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A06D18-F278-C2E4-31DA-BFF1C23A5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45720A6-5EA2-CC0D-F55F-9734D8A70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E934DE0-1472-2343-E9C1-5277F887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… </a:t>
            </a:r>
            <a:r>
              <a:rPr lang="ko-KR" altLang="en-US" dirty="0"/>
              <a:t>연산자</a:t>
            </a:r>
          </a:p>
        </p:txBody>
      </p:sp>
    </p:spTree>
    <p:extLst>
      <p:ext uri="{BB962C8B-B14F-4D97-AF65-F5344CB8AC3E}">
        <p14:creationId xmlns:p14="http://schemas.microsoft.com/office/powerpoint/2010/main" val="4289058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7E8E5D-7823-CB15-23BE-FBD049FD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5AE02F-7359-0929-A3A5-84F1494E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DB1814-9169-2C44-F891-241A2965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전개구문 </a:t>
            </a:r>
            <a:r>
              <a:rPr lang="en-US" altLang="ko-KR" dirty="0"/>
              <a:t>(spread) ...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80F6EF4-092E-2739-3A7D-72364D786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565" y="1565213"/>
            <a:ext cx="7120870" cy="39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54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C9CD2-0B76-31C8-05F1-7689329CF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반복 가능한</a:t>
            </a:r>
            <a:r>
              <a:rPr lang="en-US" altLang="ko-KR" dirty="0"/>
              <a:t> </a:t>
            </a:r>
            <a:r>
              <a:rPr lang="ko-KR" altLang="en-US" dirty="0"/>
              <a:t>객체에 사용하는 문법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배열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유사 배열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문자열 등에 사용 가능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객체의 요소에 접근해서 요소들을 하나씩 분리해서 전개요소에 접근해서 반환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연산자 </a:t>
            </a:r>
            <a:r>
              <a:rPr lang="en-US" altLang="ko-KR" dirty="0">
                <a:sym typeface="Wingdings" panose="05000000000000000000" pitchFamily="2" charset="2"/>
              </a:rPr>
              <a:t>... </a:t>
            </a:r>
            <a:r>
              <a:rPr lang="ko-KR" altLang="en-US" dirty="0">
                <a:sym typeface="Wingdings" panose="05000000000000000000" pitchFamily="2" charset="2"/>
              </a:rPr>
              <a:t>사용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ko-KR" altLang="en-US" dirty="0"/>
              <a:t>예를 들어</a:t>
            </a:r>
            <a:r>
              <a:rPr lang="en-US" altLang="ko-KR" dirty="0"/>
              <a:t>,				    </a:t>
            </a:r>
            <a:r>
              <a:rPr lang="ko-KR" altLang="en-US" dirty="0"/>
              <a:t>라는 배열의 요소를 전개하기 위해서는 </a:t>
            </a:r>
            <a:r>
              <a:rPr lang="en-US" altLang="ko-KR" dirty="0"/>
              <a:t>				     </a:t>
            </a:r>
            <a:r>
              <a:rPr lang="ko-KR" altLang="en-US" dirty="0"/>
              <a:t>처럼 사용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DC6BA9C-7A8E-B8F2-EA76-C9284145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전개구문 </a:t>
            </a:r>
            <a:r>
              <a:rPr lang="en-US" altLang="ko-KR" dirty="0"/>
              <a:t>(spread) ...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165516-C6E1-CA81-92A3-A8BFBD94EA4C}"/>
              </a:ext>
            </a:extLst>
          </p:cNvPr>
          <p:cNvSpPr txBox="1"/>
          <p:nvPr/>
        </p:nvSpPr>
        <p:spPr>
          <a:xfrm>
            <a:off x="2653615" y="4401845"/>
            <a:ext cx="3046970" cy="52322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endParaRPr lang="ko-KR" altLang="en-US" sz="28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FA98BC-78BC-6D57-3E6F-1B3FCE7A9B92}"/>
              </a:ext>
            </a:extLst>
          </p:cNvPr>
          <p:cNvSpPr txBox="1"/>
          <p:nvPr/>
        </p:nvSpPr>
        <p:spPr>
          <a:xfrm>
            <a:off x="1183153" y="5227619"/>
            <a:ext cx="3685403" cy="52322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F7768E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endParaRPr lang="ko-KR" altLang="en-US" sz="28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63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C9CD2-0B76-31C8-05F1-7689329CF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두 배열을 이용해서</a:t>
            </a:r>
            <a:br>
              <a:rPr lang="en-US" altLang="ko-KR" dirty="0"/>
            </a:br>
            <a:r>
              <a:rPr lang="ko-KR" altLang="en-US" dirty="0"/>
              <a:t>처럼 합치려면 어떻게 해야 할까요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arr3</a:t>
            </a:r>
            <a:r>
              <a:rPr lang="ko-KR" altLang="en-US" dirty="0"/>
              <a:t> 이라는 변수에 초기화 시키려면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DC6BA9C-7A8E-B8F2-EA76-C9284145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전개구문 </a:t>
            </a:r>
            <a:r>
              <a:rPr lang="en-US" altLang="ko-KR" dirty="0"/>
              <a:t>(spread) ...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6D341-6F04-4DC9-5F53-12679C60249B}"/>
              </a:ext>
            </a:extLst>
          </p:cNvPr>
          <p:cNvSpPr txBox="1"/>
          <p:nvPr/>
        </p:nvSpPr>
        <p:spPr>
          <a:xfrm>
            <a:off x="973096" y="1825625"/>
            <a:ext cx="5353565" cy="830997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2400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arr1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24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400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24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F79054-04ED-CD20-AF8B-0459DCC358BD}"/>
              </a:ext>
            </a:extLst>
          </p:cNvPr>
          <p:cNvSpPr txBox="1"/>
          <p:nvPr/>
        </p:nvSpPr>
        <p:spPr>
          <a:xfrm>
            <a:off x="3934085" y="2822265"/>
            <a:ext cx="5192927" cy="461665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pt-BR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endParaRPr lang="pt-BR" altLang="ko-KR" sz="24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99DC92-09A8-7A38-4E51-1B23E8BBB19F}"/>
              </a:ext>
            </a:extLst>
          </p:cNvPr>
          <p:cNvSpPr txBox="1"/>
          <p:nvPr/>
        </p:nvSpPr>
        <p:spPr>
          <a:xfrm>
            <a:off x="1133732" y="4749098"/>
            <a:ext cx="6416246" cy="52322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2800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arr3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800" b="1" dirty="0">
                <a:solidFill>
                  <a:srgbClr val="F7768E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altLang="ko-KR" sz="2800" b="0" dirty="0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arr1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1" dirty="0">
                <a:solidFill>
                  <a:srgbClr val="F7768E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altLang="ko-KR" sz="2800" b="0" dirty="0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28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091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C9CD2-0B76-31C8-05F1-7689329CF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arr3</a:t>
            </a:r>
            <a:r>
              <a:rPr lang="ko-KR" altLang="en-US" dirty="0"/>
              <a:t> 이라는 변수에 초기화 시키려면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전개구문을 사용해서 쉽게 요소에 접근할 수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DC6BA9C-7A8E-B8F2-EA76-C9284145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전개구문 </a:t>
            </a:r>
            <a:r>
              <a:rPr lang="en-US" altLang="ko-KR" dirty="0"/>
              <a:t>(spread) ...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99DC92-09A8-7A38-4E51-1B23E8BBB19F}"/>
              </a:ext>
            </a:extLst>
          </p:cNvPr>
          <p:cNvSpPr txBox="1"/>
          <p:nvPr/>
        </p:nvSpPr>
        <p:spPr>
          <a:xfrm>
            <a:off x="1034879" y="2376599"/>
            <a:ext cx="6416246" cy="52322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2800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arr3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800" b="1" dirty="0">
                <a:solidFill>
                  <a:srgbClr val="F7768E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altLang="ko-KR" sz="2800" b="0" dirty="0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arr1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1" dirty="0">
                <a:solidFill>
                  <a:srgbClr val="F7768E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altLang="ko-KR" sz="2800" b="0" dirty="0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28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361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7E8E5D-7823-CB15-23BE-FBD049FD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5AE02F-7359-0929-A3A5-84F1494E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DB1814-9169-2C44-F891-241A2965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파라미터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B6FDD1-D7DB-FAAB-6AD0-A13D0557B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398" y="1655989"/>
            <a:ext cx="8529618" cy="354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819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4D7EC5-CE6D-3A3F-9900-4B5C0C314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spread </a:t>
            </a:r>
            <a:r>
              <a:rPr lang="ko-KR" altLang="en-US" dirty="0"/>
              <a:t>파라미터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호출하는</a:t>
            </a:r>
            <a:r>
              <a:rPr lang="ko-KR" altLang="en-US" dirty="0"/>
              <a:t> 함수의 파라미터에 사용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rest</a:t>
            </a:r>
            <a:r>
              <a:rPr lang="ko-KR" altLang="en-US" dirty="0"/>
              <a:t> 파라미터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>
                <a:solidFill>
                  <a:schemeClr val="accent1"/>
                </a:solidFill>
              </a:rPr>
              <a:t>호출받는</a:t>
            </a:r>
            <a:r>
              <a:rPr lang="ko-KR" altLang="en-US" dirty="0"/>
              <a:t> 함수의 파라미터에 사용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호출하는 함수의 파라미터 순서에 맞춰 값 설정 후 남은 파라미터 값을 배열로 설정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28B3E-7E46-8416-284F-F4F43A7E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BF702D-FAA1-6C98-EA03-DB218465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F1FE8CF-671B-89FF-B68D-5BBADDEC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spread vs. rest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0963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Spread</a:t>
            </a:r>
            <a:r>
              <a:rPr lang="ko-KR" altLang="en-US" dirty="0"/>
              <a:t>연산자 만들기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Node.js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[…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연산자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[Spread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연산자 사용하기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078636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C20CFE-9F30-5B0A-C90B-F7BCB79DD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93AF9D9-2F8C-1CAF-96CC-06CDA002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1D9CD12-2739-5629-2307-4FBEC56AC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</a:p>
        </p:txBody>
      </p:sp>
    </p:spTree>
    <p:extLst>
      <p:ext uri="{BB962C8B-B14F-4D97-AF65-F5344CB8AC3E}">
        <p14:creationId xmlns:p14="http://schemas.microsoft.com/office/powerpoint/2010/main" val="1746094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95B654-AD66-91B3-1C94-C3C9A5817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ES6 </a:t>
            </a:r>
            <a:r>
              <a:rPr lang="ko-KR" altLang="en-US" dirty="0"/>
              <a:t>부터 등장한 오브젝트</a:t>
            </a:r>
            <a:r>
              <a:rPr lang="en-US" altLang="ko-KR" dirty="0"/>
              <a:t>(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를 만드는 방법</a:t>
            </a:r>
            <a:endParaRPr lang="en-US" altLang="ko-KR" dirty="0"/>
          </a:p>
          <a:p>
            <a:r>
              <a:rPr lang="ko-KR" altLang="en-US" dirty="0">
                <a:solidFill>
                  <a:schemeClr val="accent1"/>
                </a:solidFill>
              </a:rPr>
              <a:t>오브젝트</a:t>
            </a:r>
            <a:r>
              <a:rPr lang="en-US" altLang="ko-KR" dirty="0">
                <a:solidFill>
                  <a:schemeClr val="accent1"/>
                </a:solidFill>
              </a:rPr>
              <a:t>(</a:t>
            </a:r>
            <a:r>
              <a:rPr lang="ko-KR" altLang="en-US" dirty="0">
                <a:solidFill>
                  <a:schemeClr val="accent1"/>
                </a:solidFill>
              </a:rPr>
              <a:t>객체</a:t>
            </a:r>
            <a:r>
              <a:rPr lang="en-US" altLang="ko-KR" dirty="0">
                <a:solidFill>
                  <a:schemeClr val="accent1"/>
                </a:solidFill>
              </a:rPr>
              <a:t>)</a:t>
            </a:r>
            <a:r>
              <a:rPr lang="ko-KR" altLang="en-US" dirty="0">
                <a:solidFill>
                  <a:schemeClr val="accent1"/>
                </a:solidFill>
              </a:rPr>
              <a:t>를 만들 수 있는 </a:t>
            </a:r>
            <a:r>
              <a:rPr lang="en-US" altLang="ko-KR" dirty="0">
                <a:solidFill>
                  <a:schemeClr val="accent1"/>
                </a:solidFill>
              </a:rPr>
              <a:t>‘</a:t>
            </a:r>
            <a:r>
              <a:rPr lang="ko-KR" altLang="en-US" dirty="0">
                <a:solidFill>
                  <a:schemeClr val="accent1"/>
                </a:solidFill>
              </a:rPr>
              <a:t>틀</a:t>
            </a:r>
            <a:r>
              <a:rPr lang="en-US" altLang="ko-KR" dirty="0">
                <a:solidFill>
                  <a:schemeClr val="accent1"/>
                </a:solidFill>
              </a:rPr>
              <a:t>’(template)</a:t>
            </a:r>
          </a:p>
          <a:p>
            <a:r>
              <a:rPr lang="ko-KR" altLang="en-US" dirty="0"/>
              <a:t>정해진 틀로 같은 규격의 오브젝트를 여러 개 만들 수 있음</a:t>
            </a:r>
            <a:endParaRPr lang="en-US" altLang="ko-KR" dirty="0"/>
          </a:p>
          <a:p>
            <a:pPr lvl="1"/>
            <a:r>
              <a:rPr lang="ko-KR" altLang="en-US" dirty="0"/>
              <a:t>재사용할 때 유리함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chemeClr val="accent3"/>
                </a:solidFill>
              </a:rPr>
              <a:t>new </a:t>
            </a:r>
            <a:r>
              <a:rPr lang="ko-KR" altLang="en-US" dirty="0">
                <a:solidFill>
                  <a:schemeClr val="accent3"/>
                </a:solidFill>
              </a:rPr>
              <a:t>키워드</a:t>
            </a:r>
            <a:r>
              <a:rPr lang="ko-KR" altLang="en-US" dirty="0"/>
              <a:t>를 이용해서 미리 만들어둔 클래스 형태의 오브젝트를 만들 수 있음 </a:t>
            </a:r>
            <a:r>
              <a:rPr lang="en-US" altLang="ko-KR" dirty="0"/>
              <a:t>(instance </a:t>
            </a:r>
            <a:r>
              <a:rPr lang="ko-KR" altLang="en-US" dirty="0"/>
              <a:t>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3AB12E-764A-66D9-5DAE-501586B6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90911">
            <a:off x="2683594" y="4141119"/>
            <a:ext cx="1993072" cy="19930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46355" y="5137655"/>
            <a:ext cx="59431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+mn-ea"/>
              </a:rPr>
              <a:t>사용해본 적 있습니다</a:t>
            </a:r>
            <a:r>
              <a:rPr lang="en-US" altLang="ko-KR" dirty="0">
                <a:latin typeface="+mn-ea"/>
              </a:rPr>
              <a:t>!</a:t>
            </a:r>
          </a:p>
          <a:p>
            <a:r>
              <a:rPr lang="en-US" altLang="ko-KR" dirty="0" err="1">
                <a:solidFill>
                  <a:schemeClr val="accent3"/>
                </a:solidFill>
                <a:latin typeface="+mn-ea"/>
              </a:rPr>
              <a:t>const</a:t>
            </a:r>
            <a:r>
              <a:rPr lang="en-US" altLang="ko-KR" dirty="0">
                <a:solidFill>
                  <a:schemeClr val="accent3"/>
                </a:solidFill>
                <a:latin typeface="+mn-ea"/>
              </a:rPr>
              <a:t> today = new Date()</a:t>
            </a:r>
          </a:p>
          <a:p>
            <a:r>
              <a:rPr lang="en-US" altLang="ko-KR" dirty="0">
                <a:latin typeface="+mn-ea"/>
              </a:rPr>
              <a:t>Date </a:t>
            </a:r>
            <a:r>
              <a:rPr lang="ko-KR" altLang="en-US" dirty="0">
                <a:latin typeface="+mn-ea"/>
              </a:rPr>
              <a:t>객체로 </a:t>
            </a:r>
            <a:r>
              <a:rPr lang="en-US" altLang="ko-KR" dirty="0">
                <a:latin typeface="+mn-ea"/>
              </a:rPr>
              <a:t>today</a:t>
            </a:r>
            <a:r>
              <a:rPr lang="ko-KR" altLang="en-US" dirty="0">
                <a:latin typeface="+mn-ea"/>
              </a:rPr>
              <a:t>라는 변수를 선언</a:t>
            </a:r>
            <a:r>
              <a:rPr lang="en-US" altLang="ko-KR" dirty="0">
                <a:latin typeface="+mn-ea"/>
              </a:rPr>
              <a:t>!</a:t>
            </a:r>
          </a:p>
          <a:p>
            <a:r>
              <a:rPr lang="en-US" altLang="ko-KR" dirty="0">
                <a:latin typeface="+mn-ea"/>
              </a:rPr>
              <a:t>JavaScript</a:t>
            </a:r>
            <a:r>
              <a:rPr lang="ko-KR" altLang="en-US" dirty="0">
                <a:latin typeface="+mn-ea"/>
              </a:rPr>
              <a:t>에 미리 만들어져 있는 </a:t>
            </a:r>
            <a:r>
              <a:rPr lang="en-US" altLang="ko-KR" dirty="0">
                <a:latin typeface="+mn-ea"/>
              </a:rPr>
              <a:t>Date </a:t>
            </a:r>
            <a:r>
              <a:rPr lang="ko-KR" altLang="en-US" dirty="0">
                <a:latin typeface="+mn-ea"/>
              </a:rPr>
              <a:t>클래스를 사용하는 것</a:t>
            </a:r>
          </a:p>
        </p:txBody>
      </p:sp>
    </p:spTree>
    <p:extLst>
      <p:ext uri="{BB962C8B-B14F-4D97-AF65-F5344CB8AC3E}">
        <p14:creationId xmlns:p14="http://schemas.microsoft.com/office/powerpoint/2010/main" val="419621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Car </a:t>
            </a:r>
            <a:r>
              <a:rPr lang="ko-KR" altLang="en-US" dirty="0"/>
              <a:t>라는 클래스를 하나 만들어서 </a:t>
            </a:r>
            <a:r>
              <a:rPr lang="en-US" altLang="ko-KR" dirty="0"/>
              <a:t>Audi, Nissan, Volvo </a:t>
            </a:r>
            <a:r>
              <a:rPr lang="ko-KR" altLang="en-US" dirty="0"/>
              <a:t>등의 여러 개의 오브젝트를 만들 수 있어요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</a:p>
        </p:txBody>
      </p:sp>
      <p:pic>
        <p:nvPicPr>
          <p:cNvPr id="6" name="Picture 6" descr="OOP (Oriented-Object Programmin). 객체지향프로그래밍 가볍게 이해하기 | by gKYOe | Medium">
            <a:extLst>
              <a:ext uri="{FF2B5EF4-FFF2-40B4-BE49-F238E27FC236}">
                <a16:creationId xmlns:a16="http://schemas.microsoft.com/office/drawing/2014/main" id="{81F36556-192A-113C-F491-ADED8BF45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15" y="2708027"/>
            <a:ext cx="8199303" cy="34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452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A5F5BE-B633-16A6-9E8D-14676E48D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클래스 생성시 클래스의 이름은 </a:t>
            </a:r>
            <a:r>
              <a:rPr lang="en-US" altLang="ko-KR" dirty="0" err="1">
                <a:solidFill>
                  <a:schemeClr val="accent1"/>
                </a:solidFill>
              </a:rPr>
              <a:t>PascalCase</a:t>
            </a:r>
            <a:endParaRPr lang="ko-KR" altLang="en-US" dirty="0">
              <a:solidFill>
                <a:schemeClr val="accent1"/>
              </a:solidFill>
            </a:endParaRP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E35CF6F-3FD8-8801-C4DC-E4B70C1C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생성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054332" y="2483644"/>
            <a:ext cx="7158644" cy="3693319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FFCB6B"/>
                </a:solidFill>
                <a:latin typeface="Consolas" panose="020B0609020204030204" pitchFamily="49" charset="0"/>
              </a:rPr>
              <a:t>House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i="1" dirty="0" err="1">
                <a:solidFill>
                  <a:srgbClr val="546E7A"/>
                </a:solidFill>
                <a:latin typeface="Consolas" panose="020B0609020204030204" pitchFamily="49" charset="0"/>
              </a:rPr>
              <a:t>생성자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 함수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,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객체의 속성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(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내부에서 사용할 변수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)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 부여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constructor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F78C6C"/>
                </a:solidFill>
                <a:latin typeface="Consolas" panose="020B0609020204030204" pitchFamily="49" charset="0"/>
              </a:rPr>
              <a:t>name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F78C6C"/>
                </a:solidFill>
                <a:latin typeface="Consolas" panose="020B0609020204030204" pitchFamily="49" charset="0"/>
              </a:rPr>
              <a:t>year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i="1" dirty="0">
                <a:solidFill>
                  <a:srgbClr val="FF5370"/>
                </a:solidFill>
                <a:latin typeface="Consolas" panose="020B0609020204030204" pitchFamily="49" charset="0"/>
              </a:rPr>
              <a:t>this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name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name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i="1" dirty="0" err="1">
                <a:solidFill>
                  <a:srgbClr val="FF5370"/>
                </a:solidFill>
                <a:latin typeface="Consolas" panose="020B0609020204030204" pitchFamily="49" charset="0"/>
              </a:rPr>
              <a:t>this</a:t>
            </a:r>
            <a:r>
              <a:rPr lang="en-US" altLang="ko-KR" dirty="0" err="1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 err="1">
                <a:solidFill>
                  <a:srgbClr val="F07178"/>
                </a:solidFill>
                <a:latin typeface="Consolas" panose="020B0609020204030204" pitchFamily="49" charset="0"/>
              </a:rPr>
              <a:t>year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year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b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</a:b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//  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객체 </a:t>
            </a:r>
            <a:r>
              <a:rPr lang="ko-KR" altLang="en-US" i="1" dirty="0" err="1">
                <a:solidFill>
                  <a:srgbClr val="546E7A"/>
                </a:solidFill>
                <a:latin typeface="Consolas" panose="020B0609020204030204" pitchFamily="49" charset="0"/>
              </a:rPr>
              <a:t>메소드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age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`</a:t>
            </a:r>
            <a:r>
              <a:rPr lang="ko-KR" altLang="en-US" dirty="0" err="1">
                <a:solidFill>
                  <a:srgbClr val="C3E88D"/>
                </a:solidFill>
                <a:latin typeface="Consolas" panose="020B0609020204030204" pitchFamily="49" charset="0"/>
              </a:rPr>
              <a:t>건축한지</a:t>
            </a:r>
            <a:r>
              <a:rPr lang="ko-KR" altLang="en-US" dirty="0">
                <a:solidFill>
                  <a:srgbClr val="C3E88D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${</a:t>
            </a:r>
            <a:r>
              <a:rPr lang="en-US" altLang="ko-KR" dirty="0">
                <a:solidFill>
                  <a:srgbClr val="F78C6C"/>
                </a:solidFill>
                <a:latin typeface="Consolas" panose="020B0609020204030204" pitchFamily="49" charset="0"/>
              </a:rPr>
              <a:t>2023</a:t>
            </a:r>
            <a:r>
              <a:rPr lang="ko-KR" altLang="en-US" dirty="0">
                <a:solidFill>
                  <a:srgbClr val="C3E88D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-</a:t>
            </a:r>
            <a:r>
              <a:rPr lang="ko-KR" altLang="en-US" dirty="0">
                <a:solidFill>
                  <a:srgbClr val="C3E88D"/>
                </a:solidFill>
                <a:latin typeface="Consolas" panose="020B0609020204030204" pitchFamily="49" charset="0"/>
              </a:rPr>
              <a:t> </a:t>
            </a:r>
            <a:r>
              <a:rPr lang="en-US" altLang="ko-KR" i="1" dirty="0" err="1">
                <a:solidFill>
                  <a:srgbClr val="FF5370"/>
                </a:solidFill>
                <a:latin typeface="Consolas" panose="020B0609020204030204" pitchFamily="49" charset="0"/>
              </a:rPr>
              <a:t>this</a:t>
            </a:r>
            <a:r>
              <a:rPr lang="en-US" altLang="ko-KR" dirty="0" err="1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 err="1">
                <a:solidFill>
                  <a:srgbClr val="F07178"/>
                </a:solidFill>
                <a:latin typeface="Consolas" panose="020B0609020204030204" pitchFamily="49" charset="0"/>
              </a:rPr>
              <a:t>year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r>
              <a:rPr lang="ko-KR" altLang="en-US" dirty="0">
                <a:solidFill>
                  <a:srgbClr val="C3E88D"/>
                </a:solidFill>
                <a:latin typeface="Consolas" panose="020B0609020204030204" pitchFamily="49" charset="0"/>
              </a:rPr>
              <a:t>년 되었어요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`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ko-KR" altLang="en-US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760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9CAD5D-D8E6-6D88-72AC-969F7AE55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extends</a:t>
            </a:r>
            <a:r>
              <a:rPr lang="en-US" altLang="ko-KR" dirty="0"/>
              <a:t> </a:t>
            </a:r>
            <a:r>
              <a:rPr lang="ko-KR" altLang="en-US" dirty="0"/>
              <a:t>라는 키워드 사용해서 </a:t>
            </a:r>
            <a:r>
              <a:rPr lang="en-US" altLang="ko-KR" dirty="0"/>
              <a:t>‘</a:t>
            </a:r>
            <a:r>
              <a:rPr lang="ko-KR" altLang="en-US" dirty="0">
                <a:solidFill>
                  <a:schemeClr val="accent1"/>
                </a:solidFill>
              </a:rPr>
              <a:t>상속</a:t>
            </a:r>
            <a:r>
              <a:rPr lang="en-US" altLang="ko-KR" dirty="0">
                <a:solidFill>
                  <a:schemeClr val="accent1"/>
                </a:solidFill>
              </a:rPr>
              <a:t>’</a:t>
            </a:r>
            <a:r>
              <a:rPr lang="ko-KR" altLang="en-US" dirty="0"/>
              <a:t>을 받을 수 있어요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상속을 이용하면</a:t>
            </a:r>
            <a:r>
              <a:rPr lang="en-US" altLang="ko-KR" dirty="0"/>
              <a:t>, </a:t>
            </a:r>
            <a:r>
              <a:rPr lang="ko-KR" altLang="en-US" dirty="0"/>
              <a:t>기존에 있던 클래스의 속성과 </a:t>
            </a:r>
            <a:r>
              <a:rPr lang="ko-KR" altLang="en-US" dirty="0" err="1"/>
              <a:t>메소드를</a:t>
            </a:r>
            <a:r>
              <a:rPr lang="ko-KR" altLang="en-US" dirty="0"/>
              <a:t> 받아와서 사용하되</a:t>
            </a:r>
            <a:r>
              <a:rPr lang="en-US" altLang="ko-KR" dirty="0"/>
              <a:t>, </a:t>
            </a:r>
            <a:r>
              <a:rPr lang="ko-KR" altLang="en-US" dirty="0"/>
              <a:t>추가적인 속성과 </a:t>
            </a:r>
            <a:r>
              <a:rPr lang="ko-KR" altLang="en-US" dirty="0" err="1"/>
              <a:t>메소드를</a:t>
            </a:r>
            <a:r>
              <a:rPr lang="ko-KR" altLang="en-US" dirty="0"/>
              <a:t> 더 정의할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미리 만들어둔 </a:t>
            </a:r>
            <a:r>
              <a:rPr lang="en-US" altLang="ko-KR" dirty="0"/>
              <a:t>House</a:t>
            </a:r>
            <a:r>
              <a:rPr lang="ko-KR" altLang="en-US" dirty="0"/>
              <a:t> 클래스의 속성</a:t>
            </a:r>
            <a:r>
              <a:rPr lang="en-US" altLang="ko-KR" dirty="0"/>
              <a:t>(</a:t>
            </a:r>
            <a:r>
              <a:rPr lang="ko-KR" altLang="en-US" dirty="0"/>
              <a:t>변수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ko-KR" altLang="en-US" dirty="0" err="1"/>
              <a:t>메소드를</a:t>
            </a:r>
            <a:r>
              <a:rPr lang="ko-KR" altLang="en-US" dirty="0"/>
              <a:t> 사용할 수 있어요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Apartment</a:t>
            </a:r>
            <a:r>
              <a:rPr lang="ko-KR" altLang="en-US" dirty="0"/>
              <a:t>만의 속성과 </a:t>
            </a:r>
            <a:r>
              <a:rPr lang="ko-KR" altLang="en-US" dirty="0" err="1"/>
              <a:t>메소드를</a:t>
            </a:r>
            <a:r>
              <a:rPr lang="ko-KR" altLang="en-US" dirty="0"/>
              <a:t> 추가할 수 있어요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83604C-FF0A-78CB-8348-544B6E13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상속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04455" y="3225825"/>
            <a:ext cx="7275021" cy="156966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rgbClr val="C792EA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32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3200" dirty="0">
                <a:solidFill>
                  <a:srgbClr val="FFCB6B"/>
                </a:solidFill>
                <a:latin typeface="Consolas" panose="020B0609020204030204" pitchFamily="49" charset="0"/>
              </a:rPr>
              <a:t>Apartment</a:t>
            </a:r>
            <a:r>
              <a:rPr lang="en-US" altLang="ko-KR" sz="32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3200" dirty="0">
                <a:solidFill>
                  <a:srgbClr val="C792EA"/>
                </a:solidFill>
                <a:latin typeface="Consolas" panose="020B0609020204030204" pitchFamily="49" charset="0"/>
              </a:rPr>
              <a:t>extends</a:t>
            </a:r>
            <a:r>
              <a:rPr lang="en-US" altLang="ko-KR" sz="32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3200" dirty="0">
                <a:solidFill>
                  <a:srgbClr val="C3E88D"/>
                </a:solidFill>
                <a:latin typeface="Consolas" panose="020B0609020204030204" pitchFamily="49" charset="0"/>
              </a:rPr>
              <a:t>House</a:t>
            </a:r>
            <a:r>
              <a:rPr lang="en-US" altLang="ko-KR" sz="32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32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32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sz="3200" dirty="0">
                <a:solidFill>
                  <a:srgbClr val="BBBBBB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3200" dirty="0">
                <a:solidFill>
                  <a:srgbClr val="BBBBBB"/>
                </a:solidFill>
                <a:latin typeface="Consolas" panose="020B0609020204030204" pitchFamily="49" charset="0"/>
              </a:rPr>
              <a:t>…</a:t>
            </a:r>
            <a:br>
              <a:rPr lang="ko-KR" altLang="en-US" sz="3200" dirty="0">
                <a:solidFill>
                  <a:srgbClr val="BBBBBB"/>
                </a:solidFill>
                <a:latin typeface="Consolas" panose="020B0609020204030204" pitchFamily="49" charset="0"/>
              </a:rPr>
            </a:br>
            <a:r>
              <a:rPr lang="en-US" altLang="ko-KR" sz="32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sz="3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587865" y="3274504"/>
            <a:ext cx="3093095" cy="516100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214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Shape </a:t>
            </a:r>
            <a:r>
              <a:rPr lang="ko-KR" altLang="en-US" dirty="0"/>
              <a:t>클래스 만들기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Node.js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클래스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[Shape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클래스 만들기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59966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 </a:t>
            </a:r>
            <a:r>
              <a:rPr lang="ko-KR" altLang="en-US" dirty="0"/>
              <a:t>클래스 상속 </a:t>
            </a:r>
            <a:r>
              <a:rPr lang="en-US" altLang="ko-KR" dirty="0"/>
              <a:t>(</a:t>
            </a:r>
            <a:r>
              <a:rPr lang="ko-KR" altLang="en-US" dirty="0"/>
              <a:t>선택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Node.js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클래스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클래스 상속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 (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선택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)]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1133862684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</TotalTime>
  <Words>967</Words>
  <Application>Microsoft Office PowerPoint</Application>
  <PresentationFormat>와이드스크린</PresentationFormat>
  <Paragraphs>204</Paragraphs>
  <Slides>24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PretendardGOV</vt:lpstr>
      <vt:lpstr>Arial</vt:lpstr>
      <vt:lpstr>Consolas</vt:lpstr>
      <vt:lpstr>Wingdings</vt:lpstr>
      <vt:lpstr>맑은 고딕</vt:lpstr>
      <vt:lpstr>3_Office 테마</vt:lpstr>
      <vt:lpstr>웹 개발자 부트캠프 과정</vt:lpstr>
      <vt:lpstr>구조 분해 할당</vt:lpstr>
      <vt:lpstr>구조분해 할당 (Destructuring assignment)</vt:lpstr>
      <vt:lpstr>배열의 구조 분해 할당</vt:lpstr>
      <vt:lpstr>배열 구조 분해 할당</vt:lpstr>
      <vt:lpstr>배열 구조 분해 할당</vt:lpstr>
      <vt:lpstr>오브젝트(객체)의 구조 분해 할당</vt:lpstr>
      <vt:lpstr>객체 구조 분해 할당</vt:lpstr>
      <vt:lpstr>객체 구조 분해 할당</vt:lpstr>
      <vt:lpstr>… 연산자</vt:lpstr>
      <vt:lpstr>전개구문 (spread) ...</vt:lpstr>
      <vt:lpstr>전개구문 (spread) ...</vt:lpstr>
      <vt:lpstr>전개구문 (spread) ...</vt:lpstr>
      <vt:lpstr>전개구문 (spread) ...</vt:lpstr>
      <vt:lpstr>rest 파라미터</vt:lpstr>
      <vt:lpstr>spread vs. rest</vt:lpstr>
      <vt:lpstr>실습.   Spread연산자 만들기</vt:lpstr>
      <vt:lpstr>클래스</vt:lpstr>
      <vt:lpstr>클래스</vt:lpstr>
      <vt:lpstr>클래스</vt:lpstr>
      <vt:lpstr>클래스 생성</vt:lpstr>
      <vt:lpstr>클래스 상속!</vt:lpstr>
      <vt:lpstr>실습.   Shape 클래스 만들기</vt:lpstr>
      <vt:lpstr>실습.    클래스 상속 (선택)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김소연</dc:creator>
  <cp:lastModifiedBy>On Coding</cp:lastModifiedBy>
  <cp:revision>29</cp:revision>
  <dcterms:created xsi:type="dcterms:W3CDTF">2022-09-28T03:22:49Z</dcterms:created>
  <dcterms:modified xsi:type="dcterms:W3CDTF">2024-06-05T05:48:45Z</dcterms:modified>
</cp:coreProperties>
</file>