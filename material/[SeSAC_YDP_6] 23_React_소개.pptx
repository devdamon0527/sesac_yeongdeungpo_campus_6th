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9"/>
  </p:notesMasterIdLst>
  <p:sldIdLst>
    <p:sldId id="256" r:id="rId2"/>
    <p:sldId id="570" r:id="rId3"/>
    <p:sldId id="571" r:id="rId4"/>
    <p:sldId id="572" r:id="rId5"/>
    <p:sldId id="573" r:id="rId6"/>
    <p:sldId id="574" r:id="rId7"/>
    <p:sldId id="575" r:id="rId8"/>
    <p:sldId id="590" r:id="rId9"/>
    <p:sldId id="591" r:id="rId10"/>
    <p:sldId id="579" r:id="rId11"/>
    <p:sldId id="592" r:id="rId12"/>
    <p:sldId id="581" r:id="rId13"/>
    <p:sldId id="582" r:id="rId14"/>
    <p:sldId id="583" r:id="rId15"/>
    <p:sldId id="584" r:id="rId16"/>
    <p:sldId id="586" r:id="rId17"/>
    <p:sldId id="587" r:id="rId18"/>
    <p:sldId id="588" r:id="rId19"/>
    <p:sldId id="589" r:id="rId20"/>
    <p:sldId id="596" r:id="rId21"/>
    <p:sldId id="597" r:id="rId22"/>
    <p:sldId id="598" r:id="rId23"/>
    <p:sldId id="599" r:id="rId24"/>
    <p:sldId id="593" r:id="rId25"/>
    <p:sldId id="594" r:id="rId26"/>
    <p:sldId id="595" r:id="rId27"/>
    <p:sldId id="60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3" autoAdjust="0"/>
    <p:restoredTop sz="56700" autoAdjust="0"/>
  </p:normalViewPr>
  <p:slideViewPr>
    <p:cSldViewPr snapToGrid="0">
      <p:cViewPr varScale="1">
        <p:scale>
          <a:sx n="66" d="100"/>
          <a:sy n="66" d="100"/>
        </p:scale>
        <p:origin x="18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앵귤러</a:t>
            </a:r>
            <a:r>
              <a:rPr lang="en-US" altLang="ko-KR" dirty="0"/>
              <a:t>, </a:t>
            </a:r>
            <a:r>
              <a:rPr lang="ko-KR" altLang="en-US" dirty="0"/>
              <a:t>뷰</a:t>
            </a:r>
            <a:r>
              <a:rPr lang="en-US" altLang="ko-KR" dirty="0"/>
              <a:t> – </a:t>
            </a:r>
            <a:r>
              <a:rPr lang="ko-KR" altLang="en-US" dirty="0"/>
              <a:t>프레임워크이기 때문에 부가적인 설계 과정이 필요치 않다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리액트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라이브러리이기 때문에 다양한 기능을 구현하기 위해서는 부가적인 설계 과정이 필요하다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950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ko-KR" altLang="en-US" dirty="0" err="1"/>
              <a:t>앵귤러</a:t>
            </a:r>
            <a:endParaRPr lang="en-US" altLang="ko-KR" dirty="0"/>
          </a:p>
          <a:p>
            <a:r>
              <a:rPr lang="ko-KR" altLang="en-US" dirty="0"/>
              <a:t>양방향 데이터 바인딩 개념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데이터 값이 한쪽에서 변화하면 다른 쪽에서도 바로 업데이트</a:t>
            </a:r>
            <a:r>
              <a:rPr lang="en-US" altLang="ko-KR" dirty="0"/>
              <a:t>!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모델과 뷰 간의 데이터를 자동으로 동기화 하는 기능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모델의 데이터가 변경되면 뷰가 자동으로 업데이트되고</a:t>
            </a:r>
            <a:r>
              <a:rPr lang="en-US" altLang="ko-KR" dirty="0"/>
              <a:t>, </a:t>
            </a:r>
            <a:r>
              <a:rPr lang="ko-KR" altLang="en-US" dirty="0"/>
              <a:t>반대로 뷰에서 입력된 데이터가 변경되면 모델의 데이터도 자동으로 업데이트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AngularJS</a:t>
            </a:r>
            <a:r>
              <a:rPr lang="ko-KR" altLang="en-US" dirty="0"/>
              <a:t>는 공식적으로 </a:t>
            </a:r>
            <a:r>
              <a:rPr lang="en-US" altLang="ko-KR" dirty="0"/>
              <a:t>21</a:t>
            </a:r>
            <a:r>
              <a:rPr lang="ko-KR" altLang="en-US" dirty="0"/>
              <a:t>년 </a:t>
            </a:r>
            <a:r>
              <a:rPr lang="en-US" altLang="ko-KR" dirty="0"/>
              <a:t>12.31</a:t>
            </a:r>
            <a:r>
              <a:rPr lang="ko-KR" altLang="en-US" dirty="0"/>
              <a:t>에 지원 종료</a:t>
            </a:r>
            <a:r>
              <a:rPr lang="en-US" altLang="ko-KR" dirty="0"/>
              <a:t>. Angular </a:t>
            </a:r>
            <a:r>
              <a:rPr lang="ko-KR" altLang="en-US" dirty="0"/>
              <a:t>최신 버전 탄생 </a:t>
            </a:r>
            <a:r>
              <a:rPr lang="en-US" altLang="ko-KR" dirty="0"/>
              <a:t>(TypeScript) </a:t>
            </a:r>
            <a:r>
              <a:rPr lang="ko-KR" altLang="en-US" dirty="0"/>
              <a:t>기반 작성 마이그레이션 권장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ko-KR" altLang="en-US" dirty="0"/>
              <a:t>마이그레이션 </a:t>
            </a:r>
            <a:r>
              <a:rPr lang="en-US" altLang="ko-KR" dirty="0"/>
              <a:t>– </a:t>
            </a:r>
            <a:r>
              <a:rPr lang="ko-KR" altLang="en-US" dirty="0"/>
              <a:t>기존 </a:t>
            </a:r>
            <a:r>
              <a:rPr lang="ko-KR" altLang="en-US" dirty="0" err="1"/>
              <a:t>애플리켕시ㅕㄴ을</a:t>
            </a:r>
            <a:r>
              <a:rPr lang="ko-KR" altLang="en-US" dirty="0"/>
              <a:t> 최신 프레임워크로 이동시키는 과정으로</a:t>
            </a:r>
            <a:r>
              <a:rPr lang="en-US" altLang="ko-KR" dirty="0"/>
              <a:t>, </a:t>
            </a:r>
            <a:r>
              <a:rPr lang="ko-KR" altLang="en-US" dirty="0"/>
              <a:t>신중하게 계획하여 단계적으로 수행</a:t>
            </a:r>
            <a:r>
              <a:rPr lang="en-US" altLang="ko-KR" dirty="0"/>
              <a:t>.</a:t>
            </a:r>
          </a:p>
          <a:p>
            <a:pPr marL="0" indent="0">
              <a:buFontTx/>
              <a:buNone/>
            </a:pP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725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중국에서의 점유율이 높다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중국에서 많이 사용한다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참고할 자료들도 중국어가 대부분이라 사용하기 어렵다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09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React(</a:t>
            </a:r>
            <a:r>
              <a:rPr lang="ko-KR" altLang="en-US" dirty="0"/>
              <a:t>주황색</a:t>
            </a:r>
            <a:r>
              <a:rPr lang="en-US" altLang="ko-KR" dirty="0"/>
              <a:t>) </a:t>
            </a:r>
            <a:r>
              <a:rPr lang="ko-KR" altLang="en-US" dirty="0"/>
              <a:t>비율이 앞도적으로 높음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앵귤러</a:t>
            </a:r>
            <a:r>
              <a:rPr lang="en-US" altLang="ko-KR" dirty="0"/>
              <a:t>, </a:t>
            </a:r>
            <a:r>
              <a:rPr lang="ko-KR" altLang="en-US" dirty="0"/>
              <a:t>뷰</a:t>
            </a:r>
            <a:r>
              <a:rPr lang="en-US" altLang="ko-KR" dirty="0"/>
              <a:t> – </a:t>
            </a:r>
            <a:r>
              <a:rPr lang="ko-KR" altLang="en-US" dirty="0"/>
              <a:t>프레임워크이기 때문에 부가적인 설계 과정이 필요치 않다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리액트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라이브러리이기 때문에 다양한 기능을 구현하기 위해서는 부가적인 설계 과정이 필요하다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372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68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화면 </a:t>
            </a:r>
            <a:r>
              <a:rPr lang="en-US" altLang="ko-KR" dirty="0"/>
              <a:t>– user interface</a:t>
            </a:r>
          </a:p>
          <a:p>
            <a:endParaRPr lang="en-US" altLang="ko-KR" dirty="0"/>
          </a:p>
          <a:p>
            <a:r>
              <a:rPr lang="ko-KR" altLang="en-US" dirty="0"/>
              <a:t>왜 쓰냐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Single page application </a:t>
            </a:r>
            <a:r>
              <a:rPr lang="ko-KR" altLang="en-US" dirty="0"/>
              <a:t>만들 때 사용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재사용성이</a:t>
            </a:r>
            <a:r>
              <a:rPr lang="ko-KR" altLang="en-US" dirty="0"/>
              <a:t> 용이</a:t>
            </a:r>
            <a:endParaRPr lang="en-US" altLang="ko-KR" dirty="0"/>
          </a:p>
          <a:p>
            <a:r>
              <a:rPr lang="ko-KR" altLang="en-US" dirty="0"/>
              <a:t>같은 앱 개발도 같음 </a:t>
            </a:r>
            <a:r>
              <a:rPr lang="en-US" altLang="ko-KR" dirty="0"/>
              <a:t>.</a:t>
            </a:r>
            <a:r>
              <a:rPr lang="en-US" altLang="ko-KR" dirty="0" err="1"/>
              <a:t>react.native</a:t>
            </a:r>
            <a:r>
              <a:rPr lang="en-US" altLang="ko-KR" baseline="0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5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957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부모 </a:t>
            </a:r>
            <a:r>
              <a:rPr lang="en-US" altLang="ko-KR" dirty="0"/>
              <a:t>-&gt; </a:t>
            </a:r>
            <a:r>
              <a:rPr lang="ko-KR" altLang="en-US" dirty="0"/>
              <a:t>자식</a:t>
            </a:r>
            <a:r>
              <a:rPr lang="en-US" altLang="ko-KR" dirty="0"/>
              <a:t> – </a:t>
            </a:r>
            <a:r>
              <a:rPr lang="ko-KR" altLang="en-US" dirty="0"/>
              <a:t>한 방향으로만 흐르는 방식</a:t>
            </a:r>
            <a:endParaRPr lang="en-US" altLang="ko-KR" dirty="0"/>
          </a:p>
          <a:p>
            <a:r>
              <a:rPr lang="ko-KR" altLang="en-US" dirty="0"/>
              <a:t>데이터가 부모에서 자식으로 흐른다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애플리케이션의 상태와 데이터 흐름으로 인해 상태 변화가 어떻게 발생하는지 더욱 예측 가능하고 관리하기 쉽게 만든다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1. </a:t>
            </a:r>
            <a:r>
              <a:rPr lang="ko-KR" altLang="en-US" dirty="0"/>
              <a:t>부모에서 자식으로 </a:t>
            </a:r>
            <a:r>
              <a:rPr lang="en-US" altLang="ko-KR" dirty="0"/>
              <a:t>(Top –down)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자식 컴포넌트는 </a:t>
            </a:r>
            <a:r>
              <a:rPr lang="en-US" altLang="ko-KR" dirty="0"/>
              <a:t>props</a:t>
            </a:r>
            <a:r>
              <a:rPr lang="ko-KR" altLang="en-US" dirty="0"/>
              <a:t>를 통해 데이터를 받는다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2. </a:t>
            </a:r>
            <a:r>
              <a:rPr lang="ko-KR" altLang="en-US" dirty="0"/>
              <a:t>불변성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ko-KR" dirty="0"/>
              <a:t>Props </a:t>
            </a:r>
            <a:r>
              <a:rPr lang="ko-KR" altLang="en-US" dirty="0"/>
              <a:t>는 읽기전용</a:t>
            </a:r>
            <a:r>
              <a:rPr lang="en-US" altLang="ko-KR" dirty="0"/>
              <a:t>. </a:t>
            </a:r>
            <a:r>
              <a:rPr lang="ko-KR" altLang="en-US" dirty="0"/>
              <a:t>변경 </a:t>
            </a:r>
            <a:r>
              <a:rPr lang="en-US" altLang="ko-KR" dirty="0"/>
              <a:t>x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865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블록</a:t>
            </a:r>
            <a:r>
              <a:rPr lang="en-US" altLang="ko-KR" dirty="0"/>
              <a:t>, </a:t>
            </a:r>
            <a:r>
              <a:rPr lang="ko-KR" altLang="en-US" dirty="0"/>
              <a:t>레고에 비유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애플리케이션을 독립적인 재사용 가능한 컴포넌트 단위로 나누어 개발하는 방식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</a:t>
            </a:r>
            <a:r>
              <a:rPr lang="ko-KR" altLang="en-US" dirty="0"/>
              <a:t>의 가장 큰 특징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대규모 애플리케이션을 체계적으로 관리하고 유지보수하기 쉽게 </a:t>
            </a:r>
            <a:r>
              <a:rPr lang="ko-KR" altLang="en-US" dirty="0" err="1"/>
              <a:t>만듬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286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동일한 컴포넌트를 여러 곳에서 재사용할 수 있어 코드 중복을 줄이고 일관성을 유지할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828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컴포넌트는 부모</a:t>
            </a:r>
            <a:r>
              <a:rPr lang="en-US" altLang="ko-KR" dirty="0"/>
              <a:t>-</a:t>
            </a:r>
            <a:r>
              <a:rPr lang="ko-KR" altLang="en-US" dirty="0"/>
              <a:t>자식 관계를 통해 계층 구조를 형성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상위 컴포넌트는 하위 컴포넌트를 포함하고</a:t>
            </a:r>
            <a:r>
              <a:rPr lang="en-US" altLang="ko-KR" dirty="0"/>
              <a:t>, </a:t>
            </a:r>
            <a:r>
              <a:rPr lang="ko-KR" altLang="en-US" dirty="0"/>
              <a:t>데이터와 상태를 전달합니다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 개의 작은 컴포넌트를 하나의 최상위 컴포넌트 안에 결합하여 전체 애플리케이션의 구조를 구성하는 것을 의미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Root Component</a:t>
            </a:r>
            <a:r>
              <a:rPr lang="ko-KR" altLang="en-US" dirty="0"/>
              <a:t>는 애플리케이션의 진입점이 되며</a:t>
            </a:r>
            <a:r>
              <a:rPr lang="en-US" altLang="ko-KR" dirty="0"/>
              <a:t>, </a:t>
            </a:r>
            <a:r>
              <a:rPr lang="ko-KR" altLang="en-US" dirty="0"/>
              <a:t>이 컴포넌트 안에서 하위 컴포넌트들이 중첩되고 조합되어 최종 </a:t>
            </a:r>
            <a:r>
              <a:rPr lang="en-US" altLang="ko-KR" dirty="0"/>
              <a:t>UI</a:t>
            </a:r>
            <a:r>
              <a:rPr lang="ko-KR" altLang="en-US" dirty="0"/>
              <a:t>를 형성한다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554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성능 최적화</a:t>
            </a:r>
            <a:r>
              <a:rPr lang="en-US" altLang="ko-KR" dirty="0"/>
              <a:t>, UI </a:t>
            </a:r>
            <a:r>
              <a:rPr lang="ko-KR" altLang="en-US" dirty="0"/>
              <a:t>업데이트의 효율성을 높이는 데 중요한 역할을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Virtual DOM</a:t>
            </a:r>
            <a:r>
              <a:rPr lang="ko-KR" altLang="en-US" dirty="0"/>
              <a:t>은 실제 </a:t>
            </a:r>
            <a:r>
              <a:rPr lang="en-US" altLang="ko-KR" dirty="0"/>
              <a:t>DOM</a:t>
            </a:r>
            <a:r>
              <a:rPr lang="ko-KR" altLang="en-US" dirty="0"/>
              <a:t>과 동일한 구조를 가지지만 메모리에 존재하며</a:t>
            </a:r>
            <a:r>
              <a:rPr lang="en-US" altLang="ko-KR" dirty="0"/>
              <a:t>, React </a:t>
            </a:r>
            <a:r>
              <a:rPr lang="ko-KR" altLang="en-US" dirty="0"/>
              <a:t>엔진이 관리하는 가상의 표현임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344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initial Render</a:t>
            </a:r>
            <a:r>
              <a:rPr lang="en-US" altLang="ko-KR" dirty="0"/>
              <a:t>: </a:t>
            </a:r>
            <a:r>
              <a:rPr lang="ko-KR" altLang="en-US" dirty="0"/>
              <a:t>초기 렌더링 시</a:t>
            </a:r>
            <a:r>
              <a:rPr lang="en-US" altLang="ko-KR" dirty="0"/>
              <a:t>, React</a:t>
            </a:r>
            <a:r>
              <a:rPr lang="ko-KR" altLang="en-US" dirty="0"/>
              <a:t>는 컴포넌트를 </a:t>
            </a:r>
            <a:r>
              <a:rPr lang="en-US" altLang="ko-KR" dirty="0"/>
              <a:t>Virtual DOM</a:t>
            </a:r>
            <a:r>
              <a:rPr lang="ko-KR" altLang="en-US" dirty="0"/>
              <a:t>에 렌더링합니다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b="1" dirty="0"/>
              <a:t>Diffing Algorithm</a:t>
            </a:r>
            <a:r>
              <a:rPr lang="en-US" altLang="ko-KR" dirty="0"/>
              <a:t>: </a:t>
            </a:r>
            <a:r>
              <a:rPr lang="ko-KR" altLang="en-US" dirty="0"/>
              <a:t>상태나 속성이 변경되면</a:t>
            </a:r>
            <a:r>
              <a:rPr lang="en-US" altLang="ko-KR" dirty="0"/>
              <a:t>, React</a:t>
            </a:r>
            <a:r>
              <a:rPr lang="ko-KR" altLang="en-US" dirty="0"/>
              <a:t>는 새로운 </a:t>
            </a:r>
            <a:r>
              <a:rPr lang="en-US" altLang="ko-KR" dirty="0"/>
              <a:t>Virtual DOM </a:t>
            </a:r>
            <a:r>
              <a:rPr lang="ko-KR" altLang="en-US" dirty="0"/>
              <a:t>트리를 생성하고</a:t>
            </a:r>
            <a:r>
              <a:rPr lang="en-US" altLang="ko-KR" dirty="0"/>
              <a:t>, </a:t>
            </a:r>
            <a:r>
              <a:rPr lang="ko-KR" altLang="en-US" dirty="0"/>
              <a:t>기존의 </a:t>
            </a:r>
            <a:r>
              <a:rPr lang="en-US" altLang="ko-KR" dirty="0"/>
              <a:t>Virtual DOM </a:t>
            </a:r>
            <a:r>
              <a:rPr lang="ko-KR" altLang="en-US" dirty="0"/>
              <a:t>트리와 비교</a:t>
            </a:r>
            <a:r>
              <a:rPr lang="en-US" altLang="ko-KR" dirty="0"/>
              <a:t>(diffing)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 과정을 통해 실제 </a:t>
            </a:r>
            <a:r>
              <a:rPr lang="en-US" altLang="ko-KR" dirty="0"/>
              <a:t>DOM</a:t>
            </a:r>
            <a:r>
              <a:rPr lang="ko-KR" altLang="en-US" dirty="0"/>
              <a:t>과 새로운 </a:t>
            </a:r>
            <a:r>
              <a:rPr lang="en-US" altLang="ko-KR" dirty="0"/>
              <a:t>Virtual DOM </a:t>
            </a:r>
            <a:r>
              <a:rPr lang="ko-KR" altLang="en-US" dirty="0"/>
              <a:t>간의 차이점</a:t>
            </a:r>
            <a:r>
              <a:rPr lang="en-US" altLang="ko-KR" dirty="0"/>
              <a:t>(</a:t>
            </a:r>
            <a:r>
              <a:rPr lang="ko-KR" altLang="en-US" dirty="0"/>
              <a:t>변경된 부분</a:t>
            </a:r>
            <a:r>
              <a:rPr lang="en-US" altLang="ko-KR" dirty="0"/>
              <a:t>)</a:t>
            </a:r>
            <a:r>
              <a:rPr lang="ko-KR" altLang="en-US" dirty="0"/>
              <a:t>을 찾습니다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b="1" dirty="0"/>
              <a:t>Reconciliation</a:t>
            </a:r>
            <a:r>
              <a:rPr lang="en-US" altLang="ko-KR" dirty="0"/>
              <a:t>: </a:t>
            </a:r>
            <a:r>
              <a:rPr lang="ko-KR" altLang="en-US" dirty="0"/>
              <a:t>차이점이 발견되면 </a:t>
            </a:r>
            <a:r>
              <a:rPr lang="en-US" altLang="ko-KR" dirty="0"/>
              <a:t>React</a:t>
            </a:r>
            <a:r>
              <a:rPr lang="ko-KR" altLang="en-US" dirty="0"/>
              <a:t>는 변경된 부분만 실제 </a:t>
            </a:r>
            <a:r>
              <a:rPr lang="en-US" altLang="ko-KR" dirty="0"/>
              <a:t>DOM</a:t>
            </a:r>
            <a:r>
              <a:rPr lang="ko-KR" altLang="en-US" dirty="0"/>
              <a:t>에 업데이트합니다</a:t>
            </a:r>
            <a:r>
              <a:rPr lang="en-US" altLang="ko-KR" dirty="0"/>
              <a:t>. </a:t>
            </a:r>
            <a:r>
              <a:rPr lang="ko-KR" altLang="en-US" dirty="0"/>
              <a:t>이를 통해 전체 </a:t>
            </a:r>
            <a:r>
              <a:rPr lang="en-US" altLang="ko-KR" dirty="0"/>
              <a:t>DOM </a:t>
            </a:r>
            <a:r>
              <a:rPr lang="ko-KR" altLang="en-US" dirty="0"/>
              <a:t>트리를 다시 렌더링하지 않고도 </a:t>
            </a:r>
            <a:r>
              <a:rPr lang="en-US" altLang="ko-KR" dirty="0"/>
              <a:t>UI</a:t>
            </a:r>
            <a:r>
              <a:rPr lang="ko-KR" altLang="en-US" dirty="0"/>
              <a:t>를 효율적으로 업데이트할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**</a:t>
            </a:r>
            <a:r>
              <a:rPr lang="ko-KR" altLang="en-US" dirty="0"/>
              <a:t> 동작 원리</a:t>
            </a:r>
            <a:endParaRPr lang="en-US" altLang="ko-KR" dirty="0"/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ko-KR" altLang="en-US" dirty="0"/>
              <a:t>가상 </a:t>
            </a:r>
            <a:r>
              <a:rPr lang="en-US" altLang="ko-KR" dirty="0"/>
              <a:t>DOM </a:t>
            </a:r>
            <a:r>
              <a:rPr lang="ko-KR" altLang="en-US" dirty="0"/>
              <a:t>구축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ko-KR" dirty="0"/>
              <a:t>React </a:t>
            </a:r>
            <a:r>
              <a:rPr lang="ko-KR" altLang="en-US" dirty="0"/>
              <a:t>애플리케이션이 렌더링 될 때</a:t>
            </a:r>
            <a:r>
              <a:rPr lang="en-US" altLang="ko-KR" dirty="0"/>
              <a:t>, </a:t>
            </a:r>
            <a:r>
              <a:rPr lang="ko-KR" altLang="en-US" dirty="0"/>
              <a:t>각 컴포넌트는 </a:t>
            </a:r>
            <a:r>
              <a:rPr lang="en-US" altLang="ko-KR" dirty="0"/>
              <a:t>Virtual DOM</a:t>
            </a:r>
            <a:r>
              <a:rPr lang="ko-KR" altLang="en-US" dirty="0"/>
              <a:t>에 대응하는 가상 </a:t>
            </a:r>
            <a:r>
              <a:rPr lang="en-US" altLang="ko-KR" dirty="0"/>
              <a:t>DOM </a:t>
            </a:r>
            <a:r>
              <a:rPr lang="ko-KR" altLang="en-US" dirty="0"/>
              <a:t>트리를 생성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 가상 </a:t>
            </a:r>
            <a:r>
              <a:rPr lang="en-US" altLang="ko-KR" dirty="0"/>
              <a:t>DOM </a:t>
            </a:r>
            <a:r>
              <a:rPr lang="ko-KR" altLang="en-US" dirty="0"/>
              <a:t>트리는 </a:t>
            </a:r>
            <a:r>
              <a:rPr lang="en-US" altLang="ko-KR" dirty="0"/>
              <a:t>React </a:t>
            </a:r>
            <a:r>
              <a:rPr lang="ko-KR" altLang="en-US" dirty="0"/>
              <a:t>요소와 컴포넌트의 상태 및 속성에 대한 정보를 담고 있음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2. </a:t>
            </a:r>
            <a:r>
              <a:rPr lang="ko-KR" altLang="en-US" dirty="0"/>
              <a:t>실제 </a:t>
            </a:r>
            <a:r>
              <a:rPr lang="en-US" altLang="ko-KR" dirty="0"/>
              <a:t>DOM </a:t>
            </a:r>
            <a:r>
              <a:rPr lang="ko-KR" altLang="en-US" dirty="0"/>
              <a:t>과 비교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상태가 변경되면 </a:t>
            </a:r>
            <a:r>
              <a:rPr lang="en-US" altLang="ko-KR" dirty="0"/>
              <a:t>React</a:t>
            </a:r>
            <a:r>
              <a:rPr lang="ko-KR" altLang="en-US" dirty="0"/>
              <a:t>는 기존의 가상 </a:t>
            </a:r>
            <a:r>
              <a:rPr lang="en-US" altLang="ko-KR" dirty="0"/>
              <a:t>DOM </a:t>
            </a:r>
            <a:r>
              <a:rPr lang="ko-KR" altLang="en-US" dirty="0"/>
              <a:t>트리와 새로운 가상 </a:t>
            </a:r>
            <a:r>
              <a:rPr lang="en-US" altLang="ko-KR" dirty="0"/>
              <a:t>DOM </a:t>
            </a:r>
            <a:r>
              <a:rPr lang="ko-KR" altLang="en-US" dirty="0"/>
              <a:t>트리를 비교함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 과정에서 변경된 부분만을 실제 </a:t>
            </a:r>
            <a:r>
              <a:rPr lang="en-US" altLang="ko-KR" dirty="0"/>
              <a:t>DOM </a:t>
            </a:r>
            <a:r>
              <a:rPr lang="ko-KR" altLang="en-US" dirty="0"/>
              <a:t>에 반영하고</a:t>
            </a:r>
            <a:r>
              <a:rPr lang="en-US" altLang="ko-KR" dirty="0"/>
              <a:t>, </a:t>
            </a:r>
            <a:r>
              <a:rPr lang="ko-KR" altLang="en-US" dirty="0"/>
              <a:t>필요한 경우에만 실제 </a:t>
            </a:r>
            <a:r>
              <a:rPr lang="en-US" altLang="ko-KR" dirty="0"/>
              <a:t>DOM</a:t>
            </a:r>
            <a:r>
              <a:rPr lang="ko-KR" altLang="en-US" dirty="0"/>
              <a:t>을 업데이트 함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이는 전체적인 렌더링의 성능을 향상시키고</a:t>
            </a:r>
            <a:r>
              <a:rPr lang="en-US" altLang="ko-KR" dirty="0"/>
              <a:t>, </a:t>
            </a:r>
            <a:r>
              <a:rPr lang="ko-KR" altLang="en-US" dirty="0"/>
              <a:t>불필요한 </a:t>
            </a:r>
            <a:r>
              <a:rPr lang="en-US" altLang="ko-KR" dirty="0"/>
              <a:t>DOM </a:t>
            </a:r>
            <a:r>
              <a:rPr lang="ko-KR" altLang="en-US" dirty="0"/>
              <a:t>조작을 </a:t>
            </a:r>
            <a:r>
              <a:rPr lang="ko-KR" altLang="en-US" dirty="0" err="1"/>
              <a:t>줄여줌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3. </a:t>
            </a:r>
            <a:r>
              <a:rPr lang="ko-KR" altLang="en-US" dirty="0"/>
              <a:t>성능 최적화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altLang="ko-KR" dirty="0"/>
              <a:t>Virtual DOM</a:t>
            </a:r>
            <a:r>
              <a:rPr lang="ko-KR" altLang="en-US" dirty="0"/>
              <a:t>은 실제 </a:t>
            </a:r>
            <a:r>
              <a:rPr lang="en-US" altLang="ko-KR" dirty="0"/>
              <a:t>DOM </a:t>
            </a:r>
            <a:r>
              <a:rPr lang="ko-KR" altLang="en-US" dirty="0"/>
              <a:t>조작보다 빠르게 작동할 수 있음</a:t>
            </a:r>
            <a:r>
              <a:rPr lang="en-US" altLang="ko-KR" dirty="0"/>
              <a:t>. </a:t>
            </a:r>
            <a:r>
              <a:rPr lang="ko-KR" altLang="en-US" dirty="0"/>
              <a:t>이는 가상 </a:t>
            </a:r>
            <a:r>
              <a:rPr lang="en-US" altLang="ko-KR" dirty="0"/>
              <a:t>DOM</a:t>
            </a:r>
            <a:r>
              <a:rPr lang="ko-KR" altLang="en-US" dirty="0"/>
              <a:t>의 변경 내용을 실제 </a:t>
            </a:r>
            <a:r>
              <a:rPr lang="en-US" altLang="ko-KR" dirty="0"/>
              <a:t>DOM</a:t>
            </a:r>
            <a:r>
              <a:rPr lang="ko-KR" altLang="en-US" dirty="0"/>
              <a:t>에 일괄적으로 적용하거나</a:t>
            </a:r>
            <a:r>
              <a:rPr lang="en-US" altLang="ko-KR" dirty="0"/>
              <a:t>, </a:t>
            </a:r>
            <a:r>
              <a:rPr lang="ko-KR" altLang="en-US" dirty="0"/>
              <a:t>최적화된 방식으로 변경 사항을 처리함으로써 가능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또한 </a:t>
            </a:r>
            <a:r>
              <a:rPr lang="en-US" altLang="ko-KR" dirty="0"/>
              <a:t>React</a:t>
            </a:r>
            <a:r>
              <a:rPr lang="ko-KR" altLang="en-US" dirty="0"/>
              <a:t>는 가상 </a:t>
            </a:r>
            <a:r>
              <a:rPr lang="en-US" altLang="ko-KR" dirty="0"/>
              <a:t>DOM</a:t>
            </a:r>
            <a:r>
              <a:rPr lang="ko-KR" altLang="en-US" dirty="0"/>
              <a:t>을 통해 효율적인 배치와 렌더링 최적화를 수행할 수 있다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4. </a:t>
            </a:r>
            <a:r>
              <a:rPr lang="ko-KR" altLang="en-US" dirty="0"/>
              <a:t>자동화된 업데이트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개발자는 직접적으로 실제 </a:t>
            </a:r>
            <a:r>
              <a:rPr lang="en-US" altLang="ko-KR" dirty="0"/>
              <a:t>DOM</a:t>
            </a:r>
            <a:r>
              <a:rPr lang="ko-KR" altLang="en-US" dirty="0"/>
              <a:t>을 조작하는 대신</a:t>
            </a:r>
            <a:r>
              <a:rPr lang="en-US" altLang="ko-KR" dirty="0"/>
              <a:t>, React </a:t>
            </a:r>
            <a:r>
              <a:rPr lang="ko-KR" altLang="en-US" dirty="0"/>
              <a:t>컴포넌트의 상태를 업데이트하면 </a:t>
            </a:r>
            <a:r>
              <a:rPr lang="en-US" altLang="ko-KR" dirty="0"/>
              <a:t>React</a:t>
            </a:r>
            <a:r>
              <a:rPr lang="ko-KR" altLang="en-US" dirty="0"/>
              <a:t>가 알아서 가상 </a:t>
            </a:r>
            <a:r>
              <a:rPr lang="en-US" altLang="ko-KR" dirty="0"/>
              <a:t>DOM</a:t>
            </a:r>
            <a:r>
              <a:rPr lang="ko-KR" altLang="en-US" dirty="0"/>
              <a:t>을 업데이트하고 이를  실제 </a:t>
            </a:r>
            <a:r>
              <a:rPr lang="en-US" altLang="ko-KR" dirty="0"/>
              <a:t>DOM</a:t>
            </a:r>
            <a:r>
              <a:rPr lang="ko-KR" altLang="en-US" dirty="0"/>
              <a:t>에 반영함</a:t>
            </a:r>
            <a:r>
              <a:rPr lang="en-US" altLang="ko-KR" dirty="0"/>
              <a:t>.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ko-KR" altLang="en-US" dirty="0"/>
              <a:t>이로 인해 코드의 복잡성을 줄이고</a:t>
            </a:r>
            <a:r>
              <a:rPr lang="en-US" altLang="ko-KR" dirty="0"/>
              <a:t>, </a:t>
            </a:r>
            <a:r>
              <a:rPr lang="ko-KR" altLang="en-US" dirty="0"/>
              <a:t>버그 발생 가능성을 낮출 수 있음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547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이전에는 주로 클래스형 컴포넌트에서만 사용할 수 있었지만</a:t>
            </a:r>
            <a:r>
              <a:rPr lang="en-US" altLang="ko-KR" dirty="0"/>
              <a:t>, React 16.8</a:t>
            </a:r>
            <a:r>
              <a:rPr lang="ko-KR" altLang="en-US" dirty="0"/>
              <a:t>에서 도입된 </a:t>
            </a:r>
            <a:r>
              <a:rPr lang="en-US" altLang="ko-KR" dirty="0"/>
              <a:t>Hooks(</a:t>
            </a:r>
            <a:r>
              <a:rPr lang="ko-KR" altLang="en-US" dirty="0"/>
              <a:t>훅</a:t>
            </a:r>
            <a:r>
              <a:rPr lang="en-US" altLang="ko-KR" dirty="0"/>
              <a:t>)</a:t>
            </a:r>
            <a:r>
              <a:rPr lang="ko-KR" altLang="en-US" dirty="0"/>
              <a:t>를 통해 함수형 컴포넌트에서도 </a:t>
            </a:r>
            <a:r>
              <a:rPr lang="en-US" altLang="ko-KR" dirty="0"/>
              <a:t>‘state’</a:t>
            </a:r>
            <a:r>
              <a:rPr lang="ko-KR" altLang="en-US" dirty="0"/>
              <a:t>를 사용할 수 있게 되었다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263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에서 사용하는 특수한 문법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XML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마크업 언어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코드 내에서 </a:t>
            </a:r>
            <a:r>
              <a:rPr lang="en-US" altLang="ko-KR" dirty="0"/>
              <a:t>HTML</a:t>
            </a:r>
            <a:r>
              <a:rPr lang="ko-KR" altLang="en-US" dirty="0"/>
              <a:t>과 유사한 구조를 작성할 수 있게 해준다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자세한건</a:t>
            </a:r>
            <a:r>
              <a:rPr lang="ko-KR" altLang="en-US" dirty="0"/>
              <a:t> 나중에</a:t>
            </a:r>
            <a:r>
              <a:rPr lang="en-US" altLang="ko-KR" dirty="0"/>
              <a:t>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079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리액트는</a:t>
            </a:r>
            <a:r>
              <a:rPr lang="ko-KR" altLang="en-US" dirty="0"/>
              <a:t> 라이브러리 이니까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613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자바스크립트 컴파일러로</a:t>
            </a:r>
            <a:r>
              <a:rPr lang="en-US" altLang="ko-KR" dirty="0"/>
              <a:t>, </a:t>
            </a:r>
            <a:r>
              <a:rPr lang="ko-KR" altLang="en-US" dirty="0"/>
              <a:t>최신 </a:t>
            </a:r>
            <a:r>
              <a:rPr lang="en-US" altLang="ko-KR" dirty="0"/>
              <a:t>JS </a:t>
            </a:r>
            <a:r>
              <a:rPr lang="ko-KR" altLang="en-US" dirty="0"/>
              <a:t>코드를 구형 브라우저에서도 동작할 수 있도록 트랜스파일링 하는 도구이다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주로 최신 문법과 기능을 지원하지 않는 환경에서도 코드를 실행할 수 있게 해준다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화살표 함수</a:t>
            </a:r>
            <a:r>
              <a:rPr lang="en-US" altLang="ko-KR" dirty="0"/>
              <a:t>, </a:t>
            </a:r>
            <a:r>
              <a:rPr lang="en-US" altLang="ko-KR" dirty="0" err="1"/>
              <a:t>async</a:t>
            </a:r>
            <a:r>
              <a:rPr lang="en-US" altLang="ko-KR" dirty="0"/>
              <a:t>/await</a:t>
            </a:r>
            <a:r>
              <a:rPr lang="en-US" altLang="ko-KR" baseline="0" dirty="0"/>
              <a:t> </a:t>
            </a:r>
            <a:r>
              <a:rPr lang="ko-KR" altLang="en-US" baseline="0" dirty="0"/>
              <a:t>등</a:t>
            </a:r>
            <a:r>
              <a:rPr lang="en-US" altLang="ko-KR" baseline="0" dirty="0"/>
              <a:t>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플러그인 시스템</a:t>
            </a:r>
            <a:endParaRPr lang="en-US" altLang="ko-KR" dirty="0"/>
          </a:p>
          <a:p>
            <a:r>
              <a:rPr lang="en-US" altLang="ko-KR" dirty="0"/>
              <a:t>Babel</a:t>
            </a:r>
            <a:r>
              <a:rPr lang="ko-KR" altLang="en-US" dirty="0"/>
              <a:t>은 다양한 플러그인을 통해 특정한 </a:t>
            </a:r>
            <a:r>
              <a:rPr lang="en-US" altLang="ko-KR" dirty="0"/>
              <a:t>JS </a:t>
            </a:r>
            <a:r>
              <a:rPr lang="ko-KR" altLang="en-US" dirty="0"/>
              <a:t>기능을 변환한다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@babel/preset-env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브라우저 호환성을 위해 필요한 모든 플러그인을 말함</a:t>
            </a:r>
            <a:endParaRPr lang="en-US" altLang="ko-KR" dirty="0"/>
          </a:p>
          <a:p>
            <a:r>
              <a:rPr lang="en-US" altLang="ko-KR" dirty="0"/>
              <a:t>@babel/plugin-transform-react-jsx</a:t>
            </a:r>
            <a:br>
              <a:rPr lang="en-US" altLang="ko-KR" dirty="0"/>
            </a:br>
            <a:r>
              <a:rPr lang="en-US" altLang="ko-KR" dirty="0"/>
              <a:t>-  JSX</a:t>
            </a:r>
            <a:r>
              <a:rPr lang="ko-KR" altLang="en-US" dirty="0"/>
              <a:t>를 변환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dirty="0" err="1"/>
              <a:t>Bable</a:t>
            </a:r>
            <a:r>
              <a:rPr lang="ko-KR" altLang="en-US" dirty="0"/>
              <a:t>을 사용하면 최신 </a:t>
            </a:r>
            <a:r>
              <a:rPr lang="en-US" altLang="ko-KR" dirty="0"/>
              <a:t>JS</a:t>
            </a:r>
            <a:r>
              <a:rPr lang="ko-KR" altLang="en-US" dirty="0"/>
              <a:t>문법을 마음껏 사용할 수 있고</a:t>
            </a:r>
            <a:r>
              <a:rPr lang="en-US" altLang="ko-KR" dirty="0"/>
              <a:t>, </a:t>
            </a:r>
            <a:r>
              <a:rPr lang="ko-KR" altLang="en-US" dirty="0"/>
              <a:t>호환성 문제를 걱정할 필요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07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 </a:t>
            </a:r>
            <a:r>
              <a:rPr lang="en-US" altLang="ko-KR" dirty="0" err="1"/>
              <a:t>Webpack</a:t>
            </a:r>
            <a:r>
              <a:rPr lang="ko-KR" altLang="en-US" dirty="0"/>
              <a:t>은 주로 빌드 시스템으로 사용됨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여러가지 자원을 </a:t>
            </a:r>
            <a:r>
              <a:rPr lang="ko-KR" altLang="en-US" dirty="0" err="1"/>
              <a:t>번들링하고</a:t>
            </a:r>
            <a:r>
              <a:rPr lang="ko-KR" altLang="en-US" dirty="0"/>
              <a:t> 최적화하는 도구이다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 err="1"/>
              <a:t>번들링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baseline="0" dirty="0" err="1"/>
              <a:t>Webpack</a:t>
            </a:r>
            <a:r>
              <a:rPr lang="ko-KR" altLang="en-US" baseline="0" dirty="0"/>
              <a:t>은 여러 개의 </a:t>
            </a:r>
            <a:r>
              <a:rPr lang="en-US" altLang="ko-KR" baseline="0" dirty="0"/>
              <a:t>JS </a:t>
            </a:r>
            <a:r>
              <a:rPr lang="ko-KR" altLang="en-US" baseline="0" dirty="0"/>
              <a:t>파일 및 다양한 종류의 리소스 </a:t>
            </a:r>
            <a:r>
              <a:rPr lang="en-US" altLang="ko-KR" baseline="0" dirty="0"/>
              <a:t>(</a:t>
            </a:r>
            <a:r>
              <a:rPr lang="ko-KR" altLang="en-US" baseline="0" dirty="0"/>
              <a:t>이미지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css</a:t>
            </a:r>
            <a:r>
              <a:rPr lang="en-US" altLang="ko-KR" baseline="0" dirty="0"/>
              <a:t> </a:t>
            </a:r>
            <a:r>
              <a:rPr lang="ko-KR" altLang="en-US" baseline="0" dirty="0"/>
              <a:t>등</a:t>
            </a:r>
            <a:r>
              <a:rPr lang="en-US" altLang="ko-KR" baseline="0" dirty="0"/>
              <a:t>)</a:t>
            </a:r>
            <a:r>
              <a:rPr lang="ko-KR" altLang="en-US" baseline="0" dirty="0"/>
              <a:t>을 하나로 묶어주는 역할을 한다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이 과정을 </a:t>
            </a:r>
            <a:r>
              <a:rPr lang="ko-KR" altLang="en-US" baseline="0" dirty="0" err="1"/>
              <a:t>번들링이라고</a:t>
            </a:r>
            <a:r>
              <a:rPr lang="ko-KR" altLang="en-US" baseline="0" dirty="0"/>
              <a:t> 하며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번들링된</a:t>
            </a:r>
            <a:r>
              <a:rPr lang="ko-KR" altLang="en-US" baseline="0" dirty="0"/>
              <a:t> 결과물은 브라우저에서 로드 된다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 </a:t>
            </a:r>
            <a:r>
              <a:rPr lang="ko-KR" altLang="en-US" baseline="0" dirty="0"/>
              <a:t>모듈 번들러</a:t>
            </a: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en-US" altLang="ko-KR" baseline="0" dirty="0" err="1"/>
              <a:t>Webpack</a:t>
            </a:r>
            <a:r>
              <a:rPr lang="ko-KR" altLang="en-US" baseline="0" dirty="0"/>
              <a:t>은 기본적으로 모듈 </a:t>
            </a:r>
            <a:r>
              <a:rPr lang="ko-KR" altLang="en-US" baseline="0" dirty="0" err="1"/>
              <a:t>번들러이다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이는 각각의 파일을 모듈로 취급하고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이들 간의 의존성을 분석하여 하나의 묶음으로 만드는 작업을 의미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모듈 시스템을 사용하면 코드의 구조화와 유지보수가 용이해진다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 </a:t>
            </a:r>
            <a:r>
              <a:rPr lang="ko-KR" altLang="en-US" baseline="0" dirty="0"/>
              <a:t>개발 서버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 err="1"/>
              <a:t>Webpack</a:t>
            </a:r>
            <a:r>
              <a:rPr lang="ko-KR" altLang="en-US" baseline="0" dirty="0"/>
              <a:t>은 개발 중에 빠르게 변경 사항을 확인할 수 있도록 개발 서버를 제공</a:t>
            </a:r>
            <a:r>
              <a:rPr lang="en-US" altLang="ko-KR" baseline="0" dirty="0"/>
              <a:t>. (</a:t>
            </a:r>
            <a:r>
              <a:rPr lang="ko-KR" altLang="en-US" baseline="0" dirty="0"/>
              <a:t>도구</a:t>
            </a:r>
            <a:r>
              <a:rPr lang="en-US" altLang="ko-KR" baseline="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이 서버는 파일의 변경사항을 실시간으로 감지하여 자동으로 브라우저를 새로고침하고 적용된 결과를 보여준다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즉</a:t>
            </a:r>
            <a:r>
              <a:rPr lang="en-US" altLang="ko-KR" baseline="0" dirty="0"/>
              <a:t>, </a:t>
            </a:r>
            <a:r>
              <a:rPr lang="ko-KR" altLang="en-US" baseline="0" dirty="0"/>
              <a:t>소스 코드 파일 수정하면 </a:t>
            </a:r>
            <a:r>
              <a:rPr lang="ko-KR" altLang="en-US" baseline="0" dirty="0" err="1"/>
              <a:t>새로고침</a:t>
            </a:r>
            <a:r>
              <a:rPr lang="ko-KR" altLang="en-US" baseline="0" dirty="0"/>
              <a:t> 안해도 자동으로 해줌</a:t>
            </a:r>
            <a:r>
              <a:rPr lang="en-US" altLang="ko-KR" baseline="0" dirty="0"/>
              <a:t>. ‘</a:t>
            </a:r>
            <a:r>
              <a:rPr lang="ko-KR" altLang="en-US" baseline="0" dirty="0"/>
              <a:t>라이브</a:t>
            </a:r>
            <a:r>
              <a:rPr lang="en-US" altLang="ko-KR" baseline="0" dirty="0"/>
              <a:t> </a:t>
            </a:r>
            <a:r>
              <a:rPr lang="ko-KR" altLang="en-US" baseline="0" dirty="0" err="1"/>
              <a:t>리로딩</a:t>
            </a:r>
            <a:r>
              <a:rPr lang="en-US" altLang="ko-KR" baseline="0" dirty="0"/>
              <a:t>’ </a:t>
            </a:r>
            <a:r>
              <a:rPr lang="ko-KR" altLang="en-US" baseline="0" dirty="0"/>
              <a:t>이라고도 합니다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 err="1"/>
              <a:t>프론트엔드</a:t>
            </a:r>
            <a:r>
              <a:rPr lang="ko-KR" altLang="en-US" baseline="0" dirty="0"/>
              <a:t> 개발에서의 </a:t>
            </a:r>
            <a:r>
              <a:rPr lang="en-US" altLang="ko-KR" baseline="0" dirty="0" err="1"/>
              <a:t>nodemon</a:t>
            </a:r>
            <a:r>
              <a:rPr lang="en-US" altLang="ko-KR" baseline="0" dirty="0"/>
              <a:t> </a:t>
            </a:r>
            <a:r>
              <a:rPr lang="ko-KR" altLang="en-US" baseline="0" dirty="0"/>
              <a:t>같은 것이라고 이해 하면 됨</a:t>
            </a:r>
            <a:r>
              <a:rPr lang="en-US" altLang="ko-KR" baseline="0" dirty="0"/>
              <a:t>!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 err="1"/>
              <a:t>Webpack</a:t>
            </a:r>
            <a:r>
              <a:rPr lang="ko-KR" altLang="en-US" baseline="0" dirty="0"/>
              <a:t>을 사용하면 코드의 구조를 </a:t>
            </a:r>
            <a:r>
              <a:rPr lang="ko-KR" altLang="en-US" baseline="0" dirty="0" err="1"/>
              <a:t>모듈화하고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효율적으로 관리하며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성능을 최적화 할 수 있는 여러 가지 장점을 제공 받을 수 있다</a:t>
            </a:r>
            <a:r>
              <a:rPr lang="en-US" altLang="ko-KR" baseline="0" dirty="0"/>
              <a:t>.</a:t>
            </a:r>
            <a:br>
              <a:rPr lang="en-US" altLang="ko-KR" baseline="0" dirty="0"/>
            </a:b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 </a:t>
            </a:r>
            <a:r>
              <a:rPr lang="ko-KR" altLang="en-US" baseline="0" dirty="0"/>
              <a:t>모듈이란</a:t>
            </a:r>
            <a:r>
              <a:rPr lang="en-US" altLang="ko-KR" baseline="0" dirty="0"/>
              <a:t>?</a:t>
            </a:r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ko-KR" altLang="en-US" baseline="0" dirty="0" err="1"/>
              <a:t>재사용성과</a:t>
            </a:r>
            <a:r>
              <a:rPr lang="ko-KR" altLang="en-US" baseline="0" dirty="0"/>
              <a:t> 유지보수성을 높이기 위해 독립적인 단위로 분리된 코드 조각을 의미함</a:t>
            </a:r>
            <a:r>
              <a:rPr lang="en-US" altLang="ko-KR" baseline="0" dirty="0"/>
              <a:t>.!</a:t>
            </a:r>
          </a:p>
          <a:p>
            <a:pPr marL="0" indent="0">
              <a:buFontTx/>
              <a:buNone/>
            </a:pPr>
            <a:r>
              <a:rPr lang="en-US" altLang="ko-KR" baseline="0" dirty="0"/>
              <a:t>- </a:t>
            </a:r>
            <a:r>
              <a:rPr lang="ko-KR" altLang="en-US" baseline="0" dirty="0" err="1"/>
              <a:t>캡슐화하여</a:t>
            </a:r>
            <a:r>
              <a:rPr lang="ko-KR" altLang="en-US" baseline="0" dirty="0"/>
              <a:t> 다른 부분과 독립적으로 개발되고 사용될 수 있음</a:t>
            </a:r>
            <a:r>
              <a:rPr lang="en-US" altLang="ko-KR" baseline="0" dirty="0"/>
              <a:t>.</a:t>
            </a:r>
            <a:br>
              <a:rPr lang="en-US" altLang="ko-KR" baseline="0" dirty="0"/>
            </a:br>
            <a:br>
              <a:rPr lang="en-US" altLang="ko-KR" baseline="0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모듈은 개별적으로 존재했을 때는 재사용이 불가능하므로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존재의 의미가 없고 다른 모듈에 의해 재사용되어야 의미가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모듈은 공개가 필요한 자산에 한정해 명시적으로 선택적 공개가 가능합니다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사용자는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다른 모듈을 선택해 자신의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스코프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내로 불러들여 재사용할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***TMI</a:t>
            </a:r>
          </a:p>
          <a:p>
            <a:pPr marL="0" indent="0">
              <a:buFontTx/>
              <a:buNone/>
            </a:pP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번들링을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해줘야 할까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관리의 복잡성 증가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많은 파일 요청 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애플리케이션이 여러 개의 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CSS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파일 등을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로드해야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한다면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브라우저는 각각의 파일에 대해 서버에 요청을 보내야 함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네트워크 부하 증가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로딩속도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저하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의존성 관리 어려움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간의 의존성을 수동을 관리해야 함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파일이 어떤 파일을 필요로 하는지 추적하는 것이 </a:t>
            </a:r>
            <a:r>
              <a:rPr lang="ko-KR" altLang="en-US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복잡해짐</a:t>
            </a: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성능저하</a:t>
            </a:r>
            <a:endParaRPr lang="en-US" altLang="ko-KR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 부족</a:t>
            </a:r>
            <a:endParaRPr lang="en-US" altLang="ko-KR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ko-KR" alt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 시스템 부재</a:t>
            </a:r>
            <a:endParaRPr lang="en-US" altLang="ko-KR" baseline="0" dirty="0"/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697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432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폴더 이름 </a:t>
            </a:r>
            <a:r>
              <a:rPr lang="en-US" altLang="ko-KR" dirty="0"/>
              <a:t>= </a:t>
            </a:r>
            <a:r>
              <a:rPr lang="ko-KR" altLang="en-US" dirty="0" err="1"/>
              <a:t>케밥</a:t>
            </a:r>
            <a:r>
              <a:rPr lang="ko-KR" altLang="en-US" dirty="0"/>
              <a:t> 케이스</a:t>
            </a:r>
            <a:r>
              <a:rPr lang="en-US" altLang="ko-KR" dirty="0"/>
              <a:t>, </a:t>
            </a:r>
            <a:r>
              <a:rPr lang="ko-KR" altLang="en-US" dirty="0" err="1"/>
              <a:t>데쉬</a:t>
            </a:r>
            <a:r>
              <a:rPr lang="en-US" altLang="ko-KR" dirty="0"/>
              <a:t>-</a:t>
            </a:r>
            <a:r>
              <a:rPr lang="ko-KR" altLang="en-US" dirty="0"/>
              <a:t>케이스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npx</a:t>
            </a:r>
            <a:r>
              <a:rPr lang="en-US" altLang="ko-KR" dirty="0"/>
              <a:t> </a:t>
            </a:r>
            <a:r>
              <a:rPr lang="ko-KR" altLang="en-US" dirty="0"/>
              <a:t>변경사항이</a:t>
            </a:r>
            <a:r>
              <a:rPr lang="ko-KR" altLang="en-US" baseline="0" dirty="0"/>
              <a:t> 잦은 모듈을 사용할 때</a:t>
            </a:r>
            <a:r>
              <a:rPr lang="en-US" altLang="ko-KR" baseline="0" dirty="0"/>
              <a:t>, </a:t>
            </a:r>
            <a:r>
              <a:rPr lang="ko-KR" altLang="en-US" baseline="0" dirty="0"/>
              <a:t>매번 최신 버전을 설치하지 않도록 모듈을 로컬에 저장하지 않고 매번 최신 버전의 파일만을 불러와 실행시키는 방식</a:t>
            </a:r>
            <a:r>
              <a:rPr lang="en-US" altLang="ko-KR" baseline="0" dirty="0"/>
              <a:t>. </a:t>
            </a:r>
            <a:r>
              <a:rPr lang="ko-KR" altLang="en-US" baseline="0" dirty="0"/>
              <a:t>원래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으로 설치 후에 사용해야 하지만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5.2.0 </a:t>
            </a:r>
            <a:r>
              <a:rPr lang="ko-KR" altLang="en-US" baseline="0" dirty="0"/>
              <a:t>버전부터 추가된 패키지 사용 도구</a:t>
            </a:r>
            <a:endParaRPr lang="en-US" altLang="ko-KR" baseline="0" dirty="0"/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en-US" altLang="ko-KR" baseline="0" dirty="0"/>
              <a:t>**</a:t>
            </a:r>
            <a:r>
              <a:rPr lang="ko-KR" altLang="en-US" baseline="0" dirty="0"/>
              <a:t>일회성 명령 실행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패키지를 설치하지 않고도 직접 실행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전역 설치를 피하고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환경을 깨끗하게 유지하게 해줌</a:t>
            </a:r>
            <a:r>
              <a:rPr lang="en-US" altLang="ko-KR" baseline="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ko-KR" altLang="en-US" baseline="0" dirty="0"/>
              <a:t>즉</a:t>
            </a:r>
            <a:r>
              <a:rPr lang="en-US" altLang="ko-KR" baseline="0" dirty="0"/>
              <a:t>, </a:t>
            </a:r>
            <a:r>
              <a:rPr lang="ko-KR" altLang="en-US" baseline="0" dirty="0"/>
              <a:t>패키지의 글로벌 설치가 필요 없으며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특히 다양한 프로젝트에서 여러 패키지 버전 사용할 때 유용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yarn: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</a:t>
            </a:r>
            <a:r>
              <a:rPr lang="ko-KR" altLang="en-US" baseline="0" dirty="0"/>
              <a:t>처럼 사용하는 </a:t>
            </a:r>
            <a:r>
              <a:rPr lang="en-US" altLang="ko-KR" baseline="0" dirty="0" err="1"/>
              <a:t>facebook</a:t>
            </a:r>
            <a:r>
              <a:rPr lang="en-US" altLang="ko-KR" baseline="0" dirty="0"/>
              <a:t> </a:t>
            </a:r>
            <a:r>
              <a:rPr lang="ko-KR" altLang="en-US" baseline="0" dirty="0"/>
              <a:t>에서 만든 자바스크립트 패키지 매니저</a:t>
            </a:r>
            <a:r>
              <a:rPr lang="en-US" altLang="ko-KR" baseline="0" dirty="0"/>
              <a:t>,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보다 빠르고 효율적임</a:t>
            </a:r>
            <a:r>
              <a:rPr lang="en-US" altLang="ko-KR" baseline="0" dirty="0"/>
              <a:t>. </a:t>
            </a:r>
            <a:r>
              <a:rPr lang="ko-KR" altLang="en-US" baseline="0" dirty="0"/>
              <a:t>하지만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이 기본이기 때문에 일단은 계속 </a:t>
            </a:r>
            <a:r>
              <a:rPr lang="en-US" altLang="ko-KR" baseline="0" dirty="0" err="1"/>
              <a:t>npm</a:t>
            </a:r>
            <a:r>
              <a:rPr lang="ko-KR" altLang="en-US" baseline="0" dirty="0"/>
              <a:t>으로 사용할 예정</a:t>
            </a:r>
            <a:r>
              <a:rPr lang="en-US" altLang="ko-KR" baseline="0" dirty="0"/>
              <a:t>. </a:t>
            </a:r>
            <a:r>
              <a:rPr lang="ko-KR" altLang="en-US" baseline="0" dirty="0"/>
              <a:t>나중에 공부하다가 </a:t>
            </a:r>
            <a:r>
              <a:rPr lang="en-US" altLang="ko-KR" baseline="0" dirty="0"/>
              <a:t>yarn</a:t>
            </a:r>
            <a:r>
              <a:rPr lang="ko-KR" altLang="en-US" baseline="0" dirty="0"/>
              <a:t>을 만나면 당황하지 말고 </a:t>
            </a:r>
            <a:r>
              <a:rPr lang="en-US" altLang="ko-KR" baseline="0" dirty="0" err="1"/>
              <a:t>npm</a:t>
            </a:r>
            <a:r>
              <a:rPr lang="en-US" altLang="ko-KR" baseline="0" dirty="0"/>
              <a:t> </a:t>
            </a:r>
            <a:r>
              <a:rPr lang="ko-KR" altLang="en-US" baseline="0" dirty="0"/>
              <a:t>처럼 쓰이는 친구라고 생각하면 됨</a:t>
            </a:r>
            <a:endParaRPr lang="ko-KR" altLang="en-US" dirty="0"/>
          </a:p>
          <a:p>
            <a:endParaRPr lang="en-US" altLang="ko-KR" dirty="0"/>
          </a:p>
          <a:p>
            <a:r>
              <a:rPr lang="en-US" altLang="ko-KR" dirty="0"/>
              <a:t>** create-react-app</a:t>
            </a:r>
          </a:p>
          <a:p>
            <a:r>
              <a:rPr lang="en-US" altLang="ko-KR" dirty="0"/>
              <a:t>16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월에 첫 출시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 </a:t>
            </a:r>
            <a:r>
              <a:rPr lang="ko-KR" altLang="en-US" dirty="0"/>
              <a:t>애플리케이션 초기 설정을 간소화하고</a:t>
            </a:r>
            <a:r>
              <a:rPr lang="en-US" altLang="ko-KR" dirty="0"/>
              <a:t>, </a:t>
            </a:r>
            <a:r>
              <a:rPr lang="ko-KR" altLang="en-US" dirty="0"/>
              <a:t>별도 설정 없이 빠르게 프로젝트 시작 가능하게 해줌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CRA</a:t>
            </a:r>
            <a:r>
              <a:rPr lang="ko-KR" altLang="en-US" dirty="0"/>
              <a:t>는 </a:t>
            </a:r>
            <a:r>
              <a:rPr lang="en-US" altLang="ko-KR" dirty="0" err="1"/>
              <a:t>Webpack</a:t>
            </a:r>
            <a:r>
              <a:rPr lang="en-US" altLang="ko-KR" dirty="0"/>
              <a:t>. Babel.</a:t>
            </a:r>
            <a:r>
              <a:rPr lang="en-US" altLang="ko-KR" baseline="0" dirty="0"/>
              <a:t> </a:t>
            </a:r>
            <a:r>
              <a:rPr lang="ko-KR" altLang="en-US" baseline="0" dirty="0"/>
              <a:t>여러 가지 도구를 포함하고 개발 환경을 구성하고 관리하는 부담을 </a:t>
            </a:r>
            <a:r>
              <a:rPr lang="ko-KR" altLang="en-US" baseline="0" dirty="0" err="1"/>
              <a:t>줄여줌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감사해 해야겠죠</a:t>
            </a:r>
            <a:r>
              <a:rPr lang="en-US" altLang="ko-KR" baseline="0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243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425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 err="1"/>
              <a:t>package.json</a:t>
            </a:r>
            <a:r>
              <a:rPr lang="en-US" altLang="ko-KR" dirty="0"/>
              <a:t>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프로젝트의 메타 데이터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사용할 </a:t>
            </a:r>
            <a:r>
              <a:rPr lang="en-US" altLang="ko-KR" dirty="0"/>
              <a:t>node.js </a:t>
            </a:r>
            <a:r>
              <a:rPr lang="ko-KR" altLang="en-US" dirty="0"/>
              <a:t>패키지 목록 등을 </a:t>
            </a:r>
            <a:r>
              <a:rPr lang="ko-KR" altLang="en-US" dirty="0" err="1"/>
              <a:t>퐇마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/>
              <a:t>public/**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index.html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http://localhost:3000</a:t>
            </a:r>
            <a:r>
              <a:rPr lang="ko-KR" altLang="en-US" dirty="0"/>
              <a:t> 이 가장 먼저 </a:t>
            </a:r>
            <a:r>
              <a:rPr lang="ko-KR" altLang="en-US" dirty="0" err="1"/>
              <a:t>리턴하는</a:t>
            </a:r>
            <a:r>
              <a:rPr lang="ko-KR" altLang="en-US" dirty="0"/>
              <a:t> 파일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현재 유일한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다른 페이지들은 </a:t>
            </a:r>
            <a:r>
              <a:rPr lang="en-US" altLang="ko-KR" dirty="0"/>
              <a:t>React.js</a:t>
            </a:r>
            <a:r>
              <a:rPr lang="ko-KR" altLang="en-US" dirty="0"/>
              <a:t>를 통해 생성되어 </a:t>
            </a:r>
            <a:r>
              <a:rPr lang="en-US" altLang="ko-KR" dirty="0"/>
              <a:t>&lt;div id="root"&gt; </a:t>
            </a:r>
            <a:r>
              <a:rPr lang="ko-KR" altLang="en-US" dirty="0"/>
              <a:t>요소 아래에 동적으로 렌더링 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 err="1"/>
              <a:t>src</a:t>
            </a:r>
            <a:r>
              <a:rPr lang="en-US" altLang="ko-KR" dirty="0"/>
              <a:t>/**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**index.js**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dirty="0"/>
              <a:t>index.html</a:t>
            </a:r>
            <a:r>
              <a:rPr lang="ko-KR" altLang="en-US" dirty="0"/>
              <a:t>과 함께 가장 처음으로 실행 되는 자바스크립트 코드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이 자바스크립트 코드가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컴포넌트를 </a:t>
            </a:r>
            <a:r>
              <a:rPr lang="en-US" altLang="ko-KR" dirty="0"/>
              <a:t>root </a:t>
            </a:r>
            <a:r>
              <a:rPr lang="ko-KR" altLang="en-US" dirty="0"/>
              <a:t>아래에 추가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**</a:t>
            </a:r>
            <a:r>
              <a:rPr lang="en-US" altLang="ko-KR" dirty="0"/>
              <a:t>App.js**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dirty="0"/>
              <a:t>기본으로 생성되는 </a:t>
            </a:r>
            <a:r>
              <a:rPr lang="ko-KR" altLang="en-US" dirty="0" err="1"/>
              <a:t>리액트</a:t>
            </a:r>
            <a:r>
              <a:rPr lang="ko-KR" altLang="en-US" dirty="0"/>
              <a:t> 컴포넌트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4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4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410822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8735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7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40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6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29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21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573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75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161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46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3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대장</a:t>
            </a:r>
          </a:p>
        </p:txBody>
      </p:sp>
    </p:spTree>
    <p:extLst>
      <p:ext uri="{BB962C8B-B14F-4D97-AF65-F5344CB8AC3E}">
        <p14:creationId xmlns:p14="http://schemas.microsoft.com/office/powerpoint/2010/main" val="374805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5F0C9-FE0D-8412-01B3-B0E76BBD0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중 가장 많이 쓰이는 것은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1ECF6-E311-B183-3352-B26531EB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E71B-4077-4B0C-A21C-DB8409E582EB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F32716-7B4E-A65C-7A80-0B25C9F5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5AD3C5-9D19-0A21-1F59-38D68C6F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대장 </a:t>
            </a:r>
          </a:p>
        </p:txBody>
      </p:sp>
      <p:pic>
        <p:nvPicPr>
          <p:cNvPr id="3074" name="Picture 2" descr="Blog - Allwyn is Angular JS (Level 3) certified - Acquven">
            <a:extLst>
              <a:ext uri="{FF2B5EF4-FFF2-40B4-BE49-F238E27FC236}">
                <a16:creationId xmlns:a16="http://schemas.microsoft.com/office/drawing/2014/main" id="{AF101674-9D07-0BDD-B0F8-0C6133A9E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0" y="2708763"/>
            <a:ext cx="4163285" cy="273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Your custom development solution with React JS| Ubidreams">
            <a:extLst>
              <a:ext uri="{FF2B5EF4-FFF2-40B4-BE49-F238E27FC236}">
                <a16:creationId xmlns:a16="http://schemas.microsoft.com/office/drawing/2014/main" id="{B47EAD37-3C41-2A13-E5A8-C13CBC1BF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585" y="2708763"/>
            <a:ext cx="4163634" cy="27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자바스크립트 프레임워크 소개 3 - Vue.js : NHN Cloud Meetup">
            <a:extLst>
              <a:ext uri="{FF2B5EF4-FFF2-40B4-BE49-F238E27FC236}">
                <a16:creationId xmlns:a16="http://schemas.microsoft.com/office/drawing/2014/main" id="{7E128CBE-826A-91C7-146F-AE4AD321E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149" y="2708763"/>
            <a:ext cx="4238625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98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88AF7-3DE7-9B17-3077-F9B1A131C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580" y="1565213"/>
            <a:ext cx="8880231" cy="4351338"/>
          </a:xfrm>
        </p:spPr>
        <p:txBody>
          <a:bodyPr/>
          <a:lstStyle/>
          <a:p>
            <a:r>
              <a:rPr lang="ko-KR" altLang="en-US" dirty="0"/>
              <a:t>구글에서 만든 </a:t>
            </a:r>
            <a:r>
              <a:rPr lang="en-US" altLang="ko-KR" dirty="0"/>
              <a:t>JavaScript </a:t>
            </a:r>
            <a:r>
              <a:rPr lang="ko-KR" altLang="en-US" dirty="0"/>
              <a:t>기반의 오픈 소스 프레임워크</a:t>
            </a:r>
            <a:endParaRPr lang="en-US" altLang="ko-KR" dirty="0"/>
          </a:p>
          <a:p>
            <a:r>
              <a:rPr lang="ko-KR" altLang="en-US" dirty="0"/>
              <a:t>양방향 데이터 바인딩으로 양방향 웹 애플리케이션에 적합</a:t>
            </a:r>
            <a:endParaRPr lang="en-US" altLang="ko-KR" dirty="0"/>
          </a:p>
          <a:p>
            <a:r>
              <a:rPr lang="en-US" altLang="ko-KR" dirty="0"/>
              <a:t>2016</a:t>
            </a:r>
            <a:r>
              <a:rPr lang="ko-KR" altLang="en-US" dirty="0"/>
              <a:t>년도 이후 점유율 하락 중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 err="1"/>
              <a:t>페이팔</a:t>
            </a:r>
            <a:r>
              <a:rPr lang="en-US" altLang="ko-KR" dirty="0"/>
              <a:t>, </a:t>
            </a:r>
            <a:r>
              <a:rPr lang="ko-KR" altLang="en-US" dirty="0"/>
              <a:t>구글</a:t>
            </a:r>
            <a:r>
              <a:rPr lang="en-US" altLang="ko-KR" dirty="0"/>
              <a:t>, </a:t>
            </a:r>
            <a:r>
              <a:rPr lang="ko-KR" altLang="en-US" dirty="0" err="1"/>
              <a:t>텔레그램</a:t>
            </a:r>
            <a:r>
              <a:rPr lang="ko-KR" altLang="en-US" dirty="0"/>
              <a:t> 등등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DEDE66-39BF-C4F9-B38A-B188F293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695F-ED15-4181-BC24-4818008DEB4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32CC90-7A60-2BB5-6CC9-16D7985B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09C0C0-8DD8-FC9D-77A6-7DE58845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Angular JS</a:t>
            </a:r>
            <a:endParaRPr lang="ko-KR" altLang="en-US" dirty="0"/>
          </a:p>
        </p:txBody>
      </p:sp>
      <p:pic>
        <p:nvPicPr>
          <p:cNvPr id="6" name="Picture 2" descr="Blog - Allwyn is Angular JS (Level 3) certified - Acquven">
            <a:extLst>
              <a:ext uri="{FF2B5EF4-FFF2-40B4-BE49-F238E27FC236}">
                <a16:creationId xmlns:a16="http://schemas.microsoft.com/office/drawing/2014/main" id="{92E236B6-88BF-D491-4EC5-7C2C11A7F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8540"/>
            <a:ext cx="2098431" cy="137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96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8DBD1-4313-2759-DB87-B89A4D73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616" y="1565213"/>
            <a:ext cx="9185031" cy="4351338"/>
          </a:xfrm>
        </p:spPr>
        <p:txBody>
          <a:bodyPr/>
          <a:lstStyle/>
          <a:p>
            <a:r>
              <a:rPr lang="ko-KR" altLang="en-US" dirty="0"/>
              <a:t>동적 사용자 인터페이스를 만들기 위해 </a:t>
            </a:r>
            <a:r>
              <a:rPr lang="en-US" altLang="ko-KR" dirty="0"/>
              <a:t>2011</a:t>
            </a:r>
            <a:r>
              <a:rPr lang="ko-KR" altLang="en-US" dirty="0"/>
              <a:t>년 </a:t>
            </a:r>
            <a:r>
              <a:rPr lang="ko-KR" altLang="en-US" dirty="0" err="1"/>
              <a:t>페이스북에서</a:t>
            </a:r>
            <a:r>
              <a:rPr lang="ko-KR" altLang="en-US" dirty="0"/>
              <a:t> 만든 오픈 소스 </a:t>
            </a:r>
            <a:r>
              <a:rPr lang="en-US" altLang="ko-KR" dirty="0"/>
              <a:t>JavaScript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r>
              <a:rPr lang="ko-KR" altLang="en-US" dirty="0"/>
              <a:t>데이터 변경이 잦은 복잡하고</a:t>
            </a:r>
            <a:r>
              <a:rPr lang="en-US" altLang="ko-KR" dirty="0"/>
              <a:t>, </a:t>
            </a:r>
            <a:r>
              <a:rPr lang="ko-KR" altLang="en-US" dirty="0"/>
              <a:t>규모가 큰 라이브러리에 적합</a:t>
            </a:r>
            <a:endParaRPr lang="en-US" altLang="ko-KR" dirty="0"/>
          </a:p>
          <a:p>
            <a:r>
              <a:rPr lang="en-US" altLang="ko-KR" dirty="0"/>
              <a:t>Angular </a:t>
            </a:r>
            <a:r>
              <a:rPr lang="ko-KR" altLang="en-US" dirty="0"/>
              <a:t>보다 배우기 쉽다고 이야기 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페이스북</a:t>
            </a:r>
            <a:r>
              <a:rPr lang="en-US" altLang="ko-KR" dirty="0"/>
              <a:t>, </a:t>
            </a:r>
            <a:r>
              <a:rPr lang="ko-KR" altLang="en-US" dirty="0"/>
              <a:t>인스타그램</a:t>
            </a:r>
            <a:r>
              <a:rPr lang="en-US" altLang="ko-KR" dirty="0"/>
              <a:t>, </a:t>
            </a:r>
            <a:r>
              <a:rPr lang="ko-KR" altLang="en-US" dirty="0" err="1"/>
              <a:t>넷플릭스</a:t>
            </a:r>
            <a:r>
              <a:rPr lang="en-US" altLang="ko-KR" dirty="0"/>
              <a:t>, </a:t>
            </a:r>
            <a:r>
              <a:rPr lang="ko-KR" altLang="en-US" dirty="0"/>
              <a:t>야후</a:t>
            </a:r>
            <a:r>
              <a:rPr lang="en-US" altLang="ko-KR" dirty="0"/>
              <a:t>, </a:t>
            </a:r>
            <a:r>
              <a:rPr lang="ko-KR" altLang="en-US" dirty="0" err="1"/>
              <a:t>드롭박스</a:t>
            </a:r>
            <a:r>
              <a:rPr lang="ko-KR" altLang="en-US" dirty="0"/>
              <a:t> 등등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A1410C-A82E-01A8-8211-21B49421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F1434-6E25-475C-8377-59FE6BAECDE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6DB0CF-A3C5-C746-9A0A-82C3F1D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70BA45-8CAF-F578-9DA8-D3149A28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JS</a:t>
            </a:r>
            <a:endParaRPr lang="ko-KR" altLang="en-US" dirty="0"/>
          </a:p>
        </p:txBody>
      </p:sp>
      <p:pic>
        <p:nvPicPr>
          <p:cNvPr id="6" name="Picture 4" descr="Your custom development solution with React JS| Ubidreams">
            <a:extLst>
              <a:ext uri="{FF2B5EF4-FFF2-40B4-BE49-F238E27FC236}">
                <a16:creationId xmlns:a16="http://schemas.microsoft.com/office/drawing/2014/main" id="{7AB17B41-725F-6761-4FE1-0A8F23939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" y="1585000"/>
            <a:ext cx="2383318" cy="156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98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7BBF2-6052-3233-841D-68D677AD5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84" y="1565213"/>
            <a:ext cx="8364415" cy="4351338"/>
          </a:xfrm>
        </p:spPr>
        <p:txBody>
          <a:bodyPr/>
          <a:lstStyle/>
          <a:p>
            <a:r>
              <a:rPr lang="en-US" altLang="ko-KR" dirty="0"/>
              <a:t>2013</a:t>
            </a:r>
            <a:r>
              <a:rPr lang="ko-KR" altLang="en-US" dirty="0"/>
              <a:t>년 출시된 </a:t>
            </a:r>
            <a:r>
              <a:rPr lang="en-US" altLang="ko-KR" dirty="0"/>
              <a:t>JavaScript </a:t>
            </a:r>
            <a:r>
              <a:rPr lang="ko-KR" altLang="en-US" dirty="0"/>
              <a:t>프레임워크</a:t>
            </a:r>
            <a:endParaRPr lang="en-US" altLang="ko-KR" dirty="0"/>
          </a:p>
          <a:p>
            <a:r>
              <a:rPr lang="en-US" altLang="ko-KR" dirty="0"/>
              <a:t>Angular</a:t>
            </a:r>
            <a:r>
              <a:rPr lang="ko-KR" altLang="en-US" dirty="0"/>
              <a:t>와 </a:t>
            </a:r>
            <a:r>
              <a:rPr lang="en-US" altLang="ko-KR" dirty="0"/>
              <a:t>React</a:t>
            </a:r>
            <a:r>
              <a:rPr lang="ko-KR" altLang="en-US" dirty="0"/>
              <a:t>의 장점을 수용한 프레임워크</a:t>
            </a:r>
            <a:endParaRPr lang="en-US" altLang="ko-KR" dirty="0"/>
          </a:p>
          <a:p>
            <a:r>
              <a:rPr lang="ko-KR" altLang="en-US" dirty="0"/>
              <a:t>중국어 기반으로 </a:t>
            </a:r>
            <a:r>
              <a:rPr lang="en-US" altLang="ko-KR" dirty="0"/>
              <a:t>Reference</a:t>
            </a:r>
            <a:r>
              <a:rPr lang="ko-KR" altLang="en-US" dirty="0"/>
              <a:t>가 적음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</a:t>
            </a:r>
            <a:r>
              <a:rPr lang="ko-KR" altLang="en-US" dirty="0"/>
              <a:t> 샤오미</a:t>
            </a:r>
            <a:r>
              <a:rPr lang="en-US" altLang="ko-KR" dirty="0"/>
              <a:t>, </a:t>
            </a:r>
            <a:r>
              <a:rPr lang="ko-KR" altLang="en-US" dirty="0" err="1"/>
              <a:t>알리바바</a:t>
            </a:r>
            <a:r>
              <a:rPr lang="en-US" altLang="ko-KR" dirty="0"/>
              <a:t>, </a:t>
            </a:r>
            <a:r>
              <a:rPr lang="ko-KR" altLang="en-US" dirty="0" err="1"/>
              <a:t>깃랩</a:t>
            </a:r>
            <a:r>
              <a:rPr lang="en-US" altLang="ko-KR" dirty="0"/>
              <a:t>, </a:t>
            </a:r>
            <a:r>
              <a:rPr lang="ko-KR" altLang="en-US" dirty="0" err="1"/>
              <a:t>어도비</a:t>
            </a:r>
            <a:r>
              <a:rPr lang="ko-KR" altLang="en-US" dirty="0"/>
              <a:t> 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F8C106-6485-575F-F03C-310DD9EB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8F57-5581-4FA1-9B0C-81906BCA3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23CD61-067B-0756-4B0E-BF33DA74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EB274D-CE25-2CF7-6F00-85394B5D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Vue.js</a:t>
            </a:r>
            <a:endParaRPr lang="ko-KR" altLang="en-US" dirty="0"/>
          </a:p>
        </p:txBody>
      </p:sp>
      <p:pic>
        <p:nvPicPr>
          <p:cNvPr id="6" name="Picture 6" descr="자바스크립트 프레임워크 소개 3 - Vue.js : NHN Cloud Meetup">
            <a:extLst>
              <a:ext uri="{FF2B5EF4-FFF2-40B4-BE49-F238E27FC236}">
                <a16:creationId xmlns:a16="http://schemas.microsoft.com/office/drawing/2014/main" id="{1B6CB3FA-54D3-6262-BE2F-60CB18A3A7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3" t="-1660" r="23637" b="1660"/>
          <a:stretch/>
        </p:blipFill>
        <p:spPr bwMode="auto">
          <a:xfrm>
            <a:off x="838201" y="1614913"/>
            <a:ext cx="1700271" cy="205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68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F765A-1995-70E7-44E9-C520B5B3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63825-48B7-4D15-9EE9-BC4A2FA13F72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AD6D90-4769-2AA2-1071-321FB2B0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B2F818A-81EF-1339-8EDB-B25A87DD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Angular vs. React</a:t>
            </a:r>
            <a:r>
              <a:rPr lang="ko-KR" altLang="en-US" dirty="0"/>
              <a:t> </a:t>
            </a:r>
            <a:r>
              <a:rPr lang="en-US" altLang="ko-KR" dirty="0"/>
              <a:t>vs. Vue.js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D1E5D6C-C53E-317C-2F25-DCC06C86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271297"/>
            <a:ext cx="11146972" cy="510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3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843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838200" y="1825625"/>
            <a:ext cx="5501640" cy="4351338"/>
          </a:xfrm>
        </p:spPr>
        <p:txBody>
          <a:bodyPr/>
          <a:lstStyle/>
          <a:p>
            <a:r>
              <a:rPr lang="en-US" altLang="ko-KR" dirty="0">
                <a:hlinkClick r:id="rId3"/>
              </a:rPr>
              <a:t>https://react.dev/</a:t>
            </a:r>
            <a:endParaRPr lang="en-US" altLang="ko-KR" dirty="0"/>
          </a:p>
          <a:p>
            <a:r>
              <a:rPr lang="en-US" altLang="ko-KR" dirty="0"/>
              <a:t>The </a:t>
            </a:r>
            <a:r>
              <a:rPr lang="en-US" altLang="ko-KR" dirty="0">
                <a:solidFill>
                  <a:schemeClr val="accent1"/>
                </a:solidFill>
              </a:rPr>
              <a:t>library</a:t>
            </a:r>
            <a:r>
              <a:rPr lang="en-US" altLang="ko-KR" dirty="0"/>
              <a:t> for web and native </a:t>
            </a:r>
            <a:r>
              <a:rPr lang="en-US" altLang="ko-KR" dirty="0">
                <a:solidFill>
                  <a:schemeClr val="accent1"/>
                </a:solidFill>
              </a:rPr>
              <a:t>user interfaces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1" r="1848" b="621"/>
          <a:stretch/>
        </p:blipFill>
        <p:spPr>
          <a:xfrm>
            <a:off x="6397754" y="704844"/>
            <a:ext cx="4774434" cy="536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4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37AD5-610C-2412-B349-81DEB319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화면을 만들기 위한 </a:t>
            </a:r>
            <a:r>
              <a:rPr lang="ko-KR" altLang="en-US" dirty="0">
                <a:solidFill>
                  <a:schemeClr val="accent1"/>
                </a:solidFill>
              </a:rPr>
              <a:t>자바스크립트 라이브러리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ko-KR" altLang="en-US" dirty="0"/>
              <a:t>현재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 환경에서 가장 많이 활용되고 있는 라이브러리</a:t>
            </a:r>
            <a:endParaRPr lang="en-US" altLang="ko-KR" dirty="0"/>
          </a:p>
          <a:p>
            <a:r>
              <a:rPr lang="ko-KR" altLang="en-US" dirty="0"/>
              <a:t>사용자와 상호 작용이 가능한 동적 </a:t>
            </a:r>
            <a:r>
              <a:rPr lang="en-US" altLang="ko-KR" dirty="0"/>
              <a:t>UI </a:t>
            </a:r>
            <a:r>
              <a:rPr lang="ko-KR" altLang="en-US" dirty="0"/>
              <a:t>제작 가능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111914-DD55-BFF2-E3D5-7874FC27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7BEF-B73A-49F5-82B0-918E780DEC4B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1212A2-5058-0EB1-FDE3-4DA51941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229A2B-3218-BB87-0592-07CA74BC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8792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Data Flow</a:t>
            </a:r>
          </a:p>
          <a:p>
            <a:pPr marL="514350" indent="-514350">
              <a:buAutoNum type="arabicPeriod"/>
            </a:pPr>
            <a:r>
              <a:rPr lang="en-US" altLang="ko-KR" dirty="0"/>
              <a:t>Component </a:t>
            </a:r>
            <a:r>
              <a:rPr lang="ko-KR" altLang="en-US" dirty="0"/>
              <a:t>기반 구조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Virtual</a:t>
            </a:r>
            <a:r>
              <a:rPr lang="ko-KR" altLang="en-US" dirty="0"/>
              <a:t> </a:t>
            </a:r>
            <a:r>
              <a:rPr lang="en-US" altLang="ko-KR" dirty="0"/>
              <a:t>Dom</a:t>
            </a:r>
          </a:p>
          <a:p>
            <a:pPr marL="514350" indent="-514350">
              <a:buAutoNum type="arabicPeriod"/>
            </a:pPr>
            <a:r>
              <a:rPr lang="en-US" altLang="ko-KR" dirty="0"/>
              <a:t>Props and State</a:t>
            </a:r>
          </a:p>
          <a:p>
            <a:pPr marL="514350" indent="-514350">
              <a:buAutoNum type="arabicPeriod"/>
            </a:pPr>
            <a:r>
              <a:rPr lang="en-US" altLang="ko-KR" dirty="0" err="1"/>
              <a:t>JSX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의 특징</a:t>
            </a:r>
          </a:p>
        </p:txBody>
      </p:sp>
    </p:spTree>
    <p:extLst>
      <p:ext uri="{BB962C8B-B14F-4D97-AF65-F5344CB8AC3E}">
        <p14:creationId xmlns:p14="http://schemas.microsoft.com/office/powerpoint/2010/main" val="186677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B2EB69-5D0B-BD0D-3F68-2C11B5F0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양방향 </a:t>
            </a:r>
            <a:r>
              <a:rPr lang="en-US" altLang="ko-KR" dirty="0"/>
              <a:t>X </a:t>
            </a:r>
            <a:r>
              <a:rPr lang="ko-KR" altLang="en-US" b="1" dirty="0">
                <a:solidFill>
                  <a:schemeClr val="accent1"/>
                </a:solidFill>
              </a:rPr>
              <a:t>단방향 </a:t>
            </a:r>
            <a:r>
              <a:rPr lang="en-US" altLang="ko-KR" b="1" dirty="0">
                <a:solidFill>
                  <a:schemeClr val="accent1"/>
                </a:solidFill>
              </a:rPr>
              <a:t>O </a:t>
            </a:r>
            <a:r>
              <a:rPr lang="ko-KR" altLang="en-US" b="1" dirty="0">
                <a:solidFill>
                  <a:schemeClr val="accent1"/>
                </a:solidFill>
              </a:rPr>
              <a:t>데이터 흐름</a:t>
            </a:r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en-US" altLang="ko-KR" dirty="0"/>
              <a:t>Angular JS </a:t>
            </a:r>
            <a:r>
              <a:rPr lang="ko-KR" altLang="en-US" dirty="0"/>
              <a:t>처럼 양방향 데이터 바인딩은 규모가 커질수록 데이터의 흐름을 추적하기 힘들고 복잡해지는 경향이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B420A-7F40-C197-E70E-7A7EDD4E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85CA-27A9-4DEA-8849-A362F4ECB0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E88A00-63DF-D74B-D42B-63D26475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F81697-F3C6-F906-2920-D4293EE3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1. Data 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5125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B3876-DA3B-390F-10DC-BB305F986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1"/>
                </a:solidFill>
              </a:rPr>
              <a:t>Component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독립적인 단위의 소프트웨어 모듈로 소프트웨어를 독립적인 </a:t>
            </a:r>
            <a:r>
              <a:rPr lang="ko-KR" altLang="en-US" b="1" dirty="0">
                <a:solidFill>
                  <a:schemeClr val="accent1"/>
                </a:solidFill>
              </a:rPr>
              <a:t>하나의 부품</a:t>
            </a:r>
            <a:r>
              <a:rPr lang="ko-KR" altLang="en-US" dirty="0"/>
              <a:t>으로 만드는 방법</a:t>
            </a:r>
            <a:endParaRPr lang="en-US" altLang="ko-KR" dirty="0"/>
          </a:p>
          <a:p>
            <a:r>
              <a:rPr lang="en-US" altLang="ko-KR" dirty="0"/>
              <a:t>React</a:t>
            </a:r>
            <a:r>
              <a:rPr lang="ko-KR" altLang="en-US" dirty="0"/>
              <a:t>는 </a:t>
            </a:r>
            <a:r>
              <a:rPr lang="en-US" altLang="ko-KR" dirty="0"/>
              <a:t>UI(View)</a:t>
            </a:r>
            <a:r>
              <a:rPr lang="ko-KR" altLang="en-US" dirty="0"/>
              <a:t>를 여러 </a:t>
            </a:r>
            <a:r>
              <a:rPr lang="en-US" altLang="ko-KR" dirty="0"/>
              <a:t>Component</a:t>
            </a:r>
            <a:r>
              <a:rPr lang="ko-KR" altLang="en-US" dirty="0"/>
              <a:t>를 쪼개서 만든다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 페이지 내에서 여러 부분을 </a:t>
            </a:r>
            <a:r>
              <a:rPr lang="en-US" altLang="ko-KR" dirty="0"/>
              <a:t>Component</a:t>
            </a:r>
            <a:r>
              <a:rPr lang="ko-KR" altLang="en-US" dirty="0"/>
              <a:t>로 만들고 이를 조립해 화면을 구성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25303-5F51-DC58-F265-B63E2582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5DEE-25A5-4339-9AC2-7BA35671899D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FCE170-7E4F-F360-9309-9EC36B3A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D28ECF-601C-4F1B-2965-BA97998C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</p:spTree>
    <p:extLst>
      <p:ext uri="{BB962C8B-B14F-4D97-AF65-F5344CB8AC3E}">
        <p14:creationId xmlns:p14="http://schemas.microsoft.com/office/powerpoint/2010/main" val="3657620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9FC0F-ED49-9D2C-CE9E-EAFD39AA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2923"/>
            <a:ext cx="10515600" cy="368397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Component</a:t>
            </a:r>
            <a:r>
              <a:rPr lang="ko-KR" altLang="en-US" dirty="0"/>
              <a:t> 단위로 쪼개져 있기 때문에</a:t>
            </a:r>
            <a:r>
              <a:rPr lang="en-US" altLang="ko-KR" dirty="0"/>
              <a:t>, </a:t>
            </a:r>
            <a:r>
              <a:rPr lang="ko-KR" altLang="en-US" dirty="0"/>
              <a:t>전체 코드를 파악하기 쉽다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기능 단위</a:t>
            </a:r>
            <a:r>
              <a:rPr lang="en-US" altLang="ko-KR" dirty="0"/>
              <a:t>, UI </a:t>
            </a:r>
            <a:r>
              <a:rPr lang="ko-KR" altLang="en-US" dirty="0"/>
              <a:t>단위로 </a:t>
            </a:r>
            <a:r>
              <a:rPr lang="ko-KR" altLang="en-US" dirty="0" err="1"/>
              <a:t>캡슐화시켜</a:t>
            </a:r>
            <a:r>
              <a:rPr lang="ko-KR" altLang="en-US" dirty="0"/>
              <a:t> 코드를 관리하기 때문에 </a:t>
            </a:r>
            <a:r>
              <a:rPr lang="ko-KR" altLang="en-US" b="1" dirty="0"/>
              <a:t>재사용성</a:t>
            </a:r>
            <a:r>
              <a:rPr lang="ko-KR" altLang="en-US" dirty="0"/>
              <a:t>이 높다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코드를 반복할 필요 없이 </a:t>
            </a:r>
            <a:r>
              <a:rPr lang="en-US" altLang="ko-KR" dirty="0"/>
              <a:t>Component</a:t>
            </a:r>
            <a:r>
              <a:rPr lang="ko-KR" altLang="en-US" dirty="0"/>
              <a:t>만 </a:t>
            </a:r>
            <a:r>
              <a:rPr lang="en-US" altLang="ko-KR" dirty="0"/>
              <a:t>import </a:t>
            </a:r>
            <a:r>
              <a:rPr lang="ko-KR" altLang="en-US" dirty="0"/>
              <a:t>해서 사용하면 된다는 </a:t>
            </a:r>
            <a:r>
              <a:rPr lang="ko-KR" altLang="en-US" b="1" dirty="0"/>
              <a:t>간편함</a:t>
            </a:r>
            <a:r>
              <a:rPr lang="ko-KR" altLang="en-US" dirty="0"/>
              <a:t>이 있다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애플리케이션이 </a:t>
            </a:r>
            <a:r>
              <a:rPr lang="ko-KR" altLang="en-US" dirty="0" err="1"/>
              <a:t>복잡해지더라도</a:t>
            </a:r>
            <a:r>
              <a:rPr lang="ko-KR" altLang="en-US" dirty="0"/>
              <a:t> </a:t>
            </a:r>
            <a:r>
              <a:rPr lang="ko-KR" altLang="en-US" b="1" dirty="0"/>
              <a:t>코드의 유지보수</a:t>
            </a:r>
            <a:r>
              <a:rPr lang="en-US" altLang="ko-KR" b="1" dirty="0"/>
              <a:t>, </a:t>
            </a:r>
            <a:r>
              <a:rPr lang="ko-KR" altLang="en-US" b="1" dirty="0"/>
              <a:t>관리가 용이</a:t>
            </a:r>
            <a:r>
              <a:rPr lang="ko-KR" altLang="en-US" dirty="0"/>
              <a:t>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970B1-6792-DBF1-D7C6-0C10762D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D4D2-499C-4900-92C8-E32DFC679E3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62CBD0-D77C-9617-49A7-DC2E2B11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E814A3-8CE1-6D84-9FC3-0128B1FF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6FE55-3508-5229-9C15-088403C3718F}"/>
              </a:ext>
            </a:extLst>
          </p:cNvPr>
          <p:cNvSpPr txBox="1"/>
          <p:nvPr/>
        </p:nvSpPr>
        <p:spPr>
          <a:xfrm>
            <a:off x="3033656" y="5458280"/>
            <a:ext cx="8502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b="1" dirty="0" err="1">
                <a:solidFill>
                  <a:schemeClr val="accent6"/>
                </a:solidFill>
              </a:rPr>
              <a:t>캡슐화</a:t>
            </a:r>
            <a:r>
              <a:rPr lang="ko-KR" altLang="en-US" dirty="0" err="1">
                <a:solidFill>
                  <a:schemeClr val="accent6"/>
                </a:solidFill>
              </a:rPr>
              <a:t>란</a:t>
            </a:r>
            <a:r>
              <a:rPr lang="en-US" altLang="ko-KR" dirty="0">
                <a:solidFill>
                  <a:schemeClr val="accent6"/>
                </a:solidFill>
              </a:rPr>
              <a:t>?</a:t>
            </a:r>
          </a:p>
          <a:p>
            <a:pPr algn="r"/>
            <a:r>
              <a:rPr lang="ko-KR" altLang="en-US" dirty="0">
                <a:solidFill>
                  <a:schemeClr val="accent6"/>
                </a:solidFill>
              </a:rPr>
              <a:t>데이터와</a:t>
            </a:r>
            <a:r>
              <a:rPr lang="en-US" altLang="ko-KR" dirty="0">
                <a:solidFill>
                  <a:schemeClr val="accent6"/>
                </a:solidFill>
              </a:rPr>
              <a:t>, </a:t>
            </a:r>
            <a:r>
              <a:rPr lang="ko-KR" altLang="en-US" dirty="0">
                <a:solidFill>
                  <a:schemeClr val="accent6"/>
                </a:solidFill>
              </a:rPr>
              <a:t>데이터를 처리하는 행위를 묶고</a:t>
            </a:r>
            <a:r>
              <a:rPr lang="en-US" altLang="ko-KR" dirty="0">
                <a:solidFill>
                  <a:schemeClr val="accent6"/>
                </a:solidFill>
              </a:rPr>
              <a:t>, </a:t>
            </a:r>
            <a:r>
              <a:rPr lang="ko-KR" altLang="en-US" dirty="0">
                <a:solidFill>
                  <a:schemeClr val="accent6"/>
                </a:solidFill>
              </a:rPr>
              <a:t>외부에는 그 행위를 보여주지 않는 것</a:t>
            </a:r>
          </a:p>
        </p:txBody>
      </p:sp>
    </p:spTree>
    <p:extLst>
      <p:ext uri="{BB962C8B-B14F-4D97-AF65-F5344CB8AC3E}">
        <p14:creationId xmlns:p14="http://schemas.microsoft.com/office/powerpoint/2010/main" val="189471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76F692-1DF0-07C4-D0A7-0604C6C72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740" y="1825625"/>
            <a:ext cx="6576060" cy="4351338"/>
          </a:xfrm>
        </p:spPr>
        <p:txBody>
          <a:bodyPr/>
          <a:lstStyle/>
          <a:p>
            <a:r>
              <a:rPr lang="en-US" altLang="ko-KR" dirty="0"/>
              <a:t>Header, Footer </a:t>
            </a:r>
            <a:r>
              <a:rPr lang="ko-KR" altLang="en-US" dirty="0"/>
              <a:t>같은 구조를 컴포넌트로 제작</a:t>
            </a:r>
            <a:endParaRPr lang="en-US" altLang="ko-KR" dirty="0"/>
          </a:p>
          <a:p>
            <a:r>
              <a:rPr lang="ko-KR" altLang="en-US" dirty="0"/>
              <a:t>컴포넌트를 조합해 </a:t>
            </a:r>
            <a:r>
              <a:rPr lang="en-US" altLang="ko-KR" dirty="0"/>
              <a:t>Root Component (</a:t>
            </a:r>
            <a:r>
              <a:rPr lang="ko-KR" altLang="en-US" dirty="0"/>
              <a:t>최상위 컴포넌트</a:t>
            </a:r>
            <a:r>
              <a:rPr lang="en-US" altLang="ko-KR" dirty="0"/>
              <a:t>) </a:t>
            </a:r>
            <a:r>
              <a:rPr lang="ko-KR" altLang="en-US" dirty="0"/>
              <a:t>로 만듦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55DC2B-100D-4ABF-F404-9B4BBBA1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3EB5-E321-4CB7-8431-D125BB957E9D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B07BC2-C803-43E4-7F17-0C939F41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6D4EAF-7B25-09C0-1F77-1807B780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Component </a:t>
            </a:r>
            <a:r>
              <a:rPr lang="ko-KR" altLang="en-US" dirty="0"/>
              <a:t>기반 구조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F4E319-1F2E-4CC6-C5B7-7D2C21093C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36" b="6739"/>
          <a:stretch/>
        </p:blipFill>
        <p:spPr>
          <a:xfrm>
            <a:off x="861054" y="1825625"/>
            <a:ext cx="3627131" cy="42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12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00BE54-8F51-7B76-8DA7-418BB14DF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DOM : Document Object Model ( </a:t>
            </a:r>
            <a:r>
              <a:rPr lang="ko-KR" altLang="en-US" dirty="0"/>
              <a:t>문서 객체 모델 </a:t>
            </a:r>
            <a:r>
              <a:rPr lang="en-US" altLang="ko-KR" dirty="0"/>
              <a:t>)</a:t>
            </a:r>
          </a:p>
          <a:p>
            <a:pPr marL="3657600" lvl="8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20065-06CA-2A5A-B06F-BE99E1CF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317B-3DB3-4419-8714-D2B1AFCB859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ADEEC2-6697-D996-49BA-284821EA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EA20E2-087D-562B-2874-66433671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Virtual DOM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CCB0EEF-6763-EE0A-3543-C4BE1B4DF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22" y="2516076"/>
            <a:ext cx="3198286" cy="33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4AF096E-CEE6-DD18-E2A9-24FB76373E4C}"/>
              </a:ext>
            </a:extLst>
          </p:cNvPr>
          <p:cNvSpPr txBox="1">
            <a:spLocks/>
          </p:cNvSpPr>
          <p:nvPr/>
        </p:nvSpPr>
        <p:spPr>
          <a:xfrm>
            <a:off x="4220308" y="2516076"/>
            <a:ext cx="7285892" cy="3760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React</a:t>
            </a:r>
            <a:r>
              <a:rPr lang="ko-KR" altLang="en-US" sz="2400" dirty="0"/>
              <a:t>는 </a:t>
            </a:r>
            <a:r>
              <a:rPr lang="en-US" altLang="ko-KR" sz="2400" dirty="0"/>
              <a:t>DOM Tree </a:t>
            </a:r>
            <a:r>
              <a:rPr lang="ko-KR" altLang="en-US" sz="2400" dirty="0"/>
              <a:t>구조와 같은 구조를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으로 가지고 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이벤트가 발생할 때마다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을 만들고 다시 그릴 때 실제와 전후 상태를 계속 비교 </a:t>
            </a:r>
            <a:r>
              <a:rPr lang="en-US" altLang="ko-KR" sz="2400" dirty="0"/>
              <a:t>-&gt; </a:t>
            </a:r>
            <a:r>
              <a:rPr lang="ko-KR" altLang="en-US" sz="2400" dirty="0"/>
              <a:t>앱의 효율성과 속도 개선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086150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020065-06CA-2A5A-B06F-BE99E1CF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8317B-3DB3-4419-8714-D2B1AFCB859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ADEEC2-6697-D996-49BA-284821EA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EA20E2-087D-562B-2874-66433671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b="1" dirty="0">
                <a:solidFill>
                  <a:schemeClr val="accent1"/>
                </a:solidFill>
              </a:rPr>
              <a:t>Virtual DOM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4AF096E-CEE6-DD18-E2A9-24FB76373E4C}"/>
              </a:ext>
            </a:extLst>
          </p:cNvPr>
          <p:cNvSpPr txBox="1">
            <a:spLocks/>
          </p:cNvSpPr>
          <p:nvPr/>
        </p:nvSpPr>
        <p:spPr>
          <a:xfrm>
            <a:off x="561860" y="1325563"/>
            <a:ext cx="10944340" cy="3760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이벤트가 발생할 때마다 </a:t>
            </a:r>
            <a:r>
              <a:rPr lang="en-US" altLang="ko-KR" sz="2400" dirty="0"/>
              <a:t>Virtual DOM</a:t>
            </a:r>
            <a:r>
              <a:rPr lang="ko-KR" altLang="en-US" sz="2400" dirty="0"/>
              <a:t>을 만들고 다시 그릴 때 실제와 전후 상태를 계속 비교 </a:t>
            </a:r>
            <a:r>
              <a:rPr lang="en-US" altLang="ko-KR" sz="2400" dirty="0"/>
              <a:t>-&gt; </a:t>
            </a:r>
            <a:r>
              <a:rPr lang="ko-KR" altLang="en-US" sz="2400" dirty="0"/>
              <a:t>앱의 효율성과 속도 개선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C397D1C-55A6-CA0D-2549-5E2672BBE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46" y="2538317"/>
            <a:ext cx="5935108" cy="324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6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2973BD-0840-0409-CB5C-44A263F41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</a:p>
          <a:p>
            <a:pPr lvl="1"/>
            <a:r>
              <a:rPr lang="ko-KR" altLang="en-US" dirty="0"/>
              <a:t>부모 컴포넌트에서 자식 컴포넌트로 전달해주는 데이터</a:t>
            </a:r>
            <a:endParaRPr lang="en-US" altLang="ko-KR" dirty="0"/>
          </a:p>
          <a:p>
            <a:pPr lvl="1"/>
            <a:r>
              <a:rPr lang="ko-KR" altLang="en-US" dirty="0"/>
              <a:t>자식에서는 </a:t>
            </a:r>
            <a:r>
              <a:rPr lang="en-US" altLang="ko-KR" dirty="0"/>
              <a:t>props </a:t>
            </a:r>
            <a:r>
              <a:rPr lang="ko-KR" altLang="en-US" dirty="0"/>
              <a:t>변경 불가능</a:t>
            </a:r>
            <a:r>
              <a:rPr lang="en-US" altLang="ko-KR" dirty="0"/>
              <a:t>, props</a:t>
            </a:r>
            <a:r>
              <a:rPr lang="ko-KR" altLang="en-US" dirty="0"/>
              <a:t>를 전달한 최상위에서만 변경 가능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State</a:t>
            </a:r>
          </a:p>
          <a:p>
            <a:pPr lvl="1"/>
            <a:r>
              <a:rPr lang="ko-KR" altLang="en-US" dirty="0"/>
              <a:t>컴포넌트 내부에서 선언되고 내부에서 값을 변경</a:t>
            </a:r>
            <a:endParaRPr lang="en-US" altLang="ko-KR" dirty="0"/>
          </a:p>
          <a:p>
            <a:pPr lvl="1"/>
            <a:r>
              <a:rPr lang="ko-KR" altLang="en-US" dirty="0"/>
              <a:t>함수형</a:t>
            </a:r>
            <a:r>
              <a:rPr lang="en-US" altLang="ko-KR" dirty="0"/>
              <a:t>, </a:t>
            </a:r>
            <a:r>
              <a:rPr lang="ko-KR" altLang="en-US" dirty="0"/>
              <a:t>클래스형 컴포넌트에서 사용 가능</a:t>
            </a:r>
            <a:r>
              <a:rPr lang="en-US" altLang="ko-KR" dirty="0"/>
              <a:t>, </a:t>
            </a:r>
            <a:r>
              <a:rPr lang="ko-KR" altLang="en-US" dirty="0"/>
              <a:t>각각의 </a:t>
            </a:r>
            <a:r>
              <a:rPr lang="en-US" altLang="ko-KR" dirty="0"/>
              <a:t>state</a:t>
            </a:r>
            <a:r>
              <a:rPr lang="ko-KR" altLang="en-US" dirty="0"/>
              <a:t>는 독립적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BF3FE-AAED-37F5-322F-D9C19167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9B623-B367-4165-8C2F-DFDEC75DE620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B6A307-3626-2212-51E5-1F8DBB53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549363-2D3C-2EF7-A689-C289F3B5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4. Props and State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119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5AD72E-5551-D378-962D-FCD56600D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에서 </a:t>
            </a:r>
            <a:r>
              <a:rPr lang="en-US" altLang="ko-KR" dirty="0"/>
              <a:t>JSX </a:t>
            </a:r>
            <a:r>
              <a:rPr lang="ko-KR" altLang="en-US" dirty="0"/>
              <a:t>사용이 필수는 아니지만 편의성을 위해 대부분의 프로젝트에서 </a:t>
            </a:r>
            <a:r>
              <a:rPr lang="en-US" altLang="ko-KR" dirty="0" err="1"/>
              <a:t>JSX</a:t>
            </a:r>
            <a:r>
              <a:rPr lang="ko-KR" altLang="en-US" dirty="0"/>
              <a:t>를 사용</a:t>
            </a:r>
            <a:endParaRPr lang="en-US" altLang="ko-KR" dirty="0"/>
          </a:p>
          <a:p>
            <a:r>
              <a:rPr lang="en-US" altLang="ko-KR" dirty="0" err="1"/>
              <a:t>JSX</a:t>
            </a:r>
            <a:r>
              <a:rPr lang="en-US" altLang="ko-KR" dirty="0"/>
              <a:t> = </a:t>
            </a:r>
            <a:r>
              <a:rPr lang="en-US" altLang="ko-KR" dirty="0" err="1"/>
              <a:t>Javascript</a:t>
            </a:r>
            <a:r>
              <a:rPr lang="en-US" altLang="ko-KR" dirty="0"/>
              <a:t> + XML</a:t>
            </a:r>
          </a:p>
          <a:p>
            <a:r>
              <a:rPr lang="en-US" altLang="ko-KR" dirty="0"/>
              <a:t>JavaScript</a:t>
            </a:r>
            <a:r>
              <a:rPr lang="ko-KR" altLang="en-US" dirty="0"/>
              <a:t>를 확장한 문법으로 </a:t>
            </a:r>
            <a:r>
              <a:rPr lang="en-US" altLang="ko-KR" dirty="0"/>
              <a:t>React Element</a:t>
            </a:r>
            <a:r>
              <a:rPr lang="ko-KR" altLang="en-US" dirty="0"/>
              <a:t>를 생성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079305-30A5-BA9F-62C1-B11FF5952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04E03-9351-4410-87CA-D059FFF4906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A65109-24D4-E914-3046-2DA25C8D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A36E38-1694-2EA3-1C9F-7D09B520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5. JSX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5662E-767C-D055-4DBF-234C8E84C3A4}"/>
              </a:ext>
            </a:extLst>
          </p:cNvPr>
          <p:cNvSpPr txBox="1"/>
          <p:nvPr/>
        </p:nvSpPr>
        <p:spPr>
          <a:xfrm>
            <a:off x="2703757" y="4780616"/>
            <a:ext cx="6784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accent6"/>
                </a:solidFill>
              </a:rPr>
              <a:t>더 자세한 건 </a:t>
            </a:r>
            <a:r>
              <a:rPr lang="en-US" altLang="ko-KR" sz="2400" dirty="0">
                <a:solidFill>
                  <a:schemeClr val="accent6"/>
                </a:solidFill>
              </a:rPr>
              <a:t>React </a:t>
            </a:r>
            <a:r>
              <a:rPr lang="ko-KR" altLang="en-US" sz="2400" dirty="0">
                <a:solidFill>
                  <a:schemeClr val="accent6"/>
                </a:solidFill>
              </a:rPr>
              <a:t>프로젝트를 생성한 후에 배워보자</a:t>
            </a:r>
            <a:r>
              <a:rPr lang="en-US" altLang="ko-KR" sz="2400" dirty="0">
                <a:solidFill>
                  <a:schemeClr val="accent6"/>
                </a:solidFill>
              </a:rPr>
              <a:t>!</a:t>
            </a:r>
            <a:endParaRPr lang="ko-KR" altLang="en-US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13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E08F1-E4F2-20DC-80E6-5D5A0CF1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51FCCB-21F1-C247-CCA0-668E623C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2B11E1-C1B6-B8DD-9585-9840F75C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NPM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1080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F00573-52FF-E4C7-62B5-262ACC8E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Node.js</a:t>
            </a:r>
            <a:r>
              <a:rPr lang="ko-KR" altLang="en-US" dirty="0"/>
              <a:t>는 </a:t>
            </a:r>
            <a:r>
              <a:rPr lang="en-US" altLang="ko-KR" dirty="0"/>
              <a:t>React</a:t>
            </a:r>
            <a:r>
              <a:rPr lang="ko-KR" altLang="en-US" dirty="0"/>
              <a:t>를 사용하기 쉽게 하는 도구를 내장하고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Node.js</a:t>
            </a:r>
            <a:r>
              <a:rPr lang="ko-KR" altLang="en-US" dirty="0"/>
              <a:t>와 함께 설치되는 </a:t>
            </a:r>
            <a:r>
              <a:rPr lang="en-US" altLang="ko-KR" dirty="0"/>
              <a:t>NPM(Node Package Manager)</a:t>
            </a:r>
            <a:r>
              <a:rPr lang="ko-KR" altLang="en-US" dirty="0"/>
              <a:t>를 이용하면</a:t>
            </a:r>
            <a:r>
              <a:rPr lang="en-US" altLang="ko-KR" dirty="0"/>
              <a:t> </a:t>
            </a:r>
            <a:r>
              <a:rPr lang="ko-KR" altLang="en-US" dirty="0" err="1"/>
              <a:t>프론트엔드</a:t>
            </a:r>
            <a:r>
              <a:rPr lang="ko-KR" altLang="en-US" dirty="0"/>
              <a:t> 프로젝트를</a:t>
            </a:r>
            <a:r>
              <a:rPr lang="en-US" altLang="ko-KR" dirty="0"/>
              <a:t> </a:t>
            </a:r>
            <a:r>
              <a:rPr lang="ko-KR" altLang="en-US" dirty="0"/>
              <a:t>위한 다양한 패키지를 쉽게 설치하고 관리 가능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리액트</a:t>
            </a:r>
            <a:r>
              <a:rPr lang="ko-KR" altLang="en-US" dirty="0" err="1"/>
              <a:t>도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하나의 패키지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자바스크립트 런타임인 </a:t>
            </a:r>
            <a:r>
              <a:rPr lang="en-US" altLang="ko-KR" dirty="0"/>
              <a:t>Node.js </a:t>
            </a:r>
            <a:r>
              <a:rPr lang="ko-KR" altLang="en-US" dirty="0"/>
              <a:t>기반으로 만들어진 </a:t>
            </a:r>
            <a:r>
              <a:rPr lang="en-US" altLang="ko-KR" dirty="0">
                <a:solidFill>
                  <a:schemeClr val="accent1"/>
                </a:solidFill>
              </a:rPr>
              <a:t>Webpack</a:t>
            </a:r>
            <a:r>
              <a:rPr lang="ko-KR" altLang="en-US" dirty="0"/>
              <a:t>과 </a:t>
            </a:r>
            <a:r>
              <a:rPr lang="en-US" altLang="ko-KR" dirty="0">
                <a:solidFill>
                  <a:schemeClr val="accent1"/>
                </a:solidFill>
              </a:rPr>
              <a:t>Babel</a:t>
            </a:r>
            <a:r>
              <a:rPr lang="en-US" altLang="ko-KR" dirty="0"/>
              <a:t> </a:t>
            </a:r>
            <a:r>
              <a:rPr lang="ko-KR" altLang="en-US" dirty="0"/>
              <a:t>같은 </a:t>
            </a:r>
            <a:r>
              <a:rPr lang="ko-KR" altLang="en-US" dirty="0" err="1"/>
              <a:t>도구을</a:t>
            </a:r>
            <a:r>
              <a:rPr lang="ko-KR" altLang="en-US" dirty="0"/>
              <a:t> 자주 사용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60317D-5173-DBB7-7438-56BC233B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20C4A-4625-56FD-B7F4-F116387C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B570A96-23CB-1DBC-CC4B-D864C715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Node.js &amp;</a:t>
            </a:r>
            <a:r>
              <a:rPr lang="ko-KR" altLang="en-US" dirty="0"/>
              <a:t> </a:t>
            </a:r>
            <a:r>
              <a:rPr lang="en-US" altLang="ko-KR" dirty="0"/>
              <a:t>NPM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9030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EE18CE1-F290-8AD9-4B51-5663B1CAF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옛날에는 큰 기능을 하지 않는 자바스크립트 컴파일러</a:t>
            </a:r>
            <a:r>
              <a:rPr lang="en-US" altLang="ko-KR" dirty="0"/>
              <a:t>(</a:t>
            </a:r>
            <a:r>
              <a:rPr lang="ko-KR" altLang="en-US" dirty="0"/>
              <a:t>해석기</a:t>
            </a:r>
            <a:r>
              <a:rPr lang="en-US" altLang="ko-KR" dirty="0"/>
              <a:t>)</a:t>
            </a:r>
            <a:r>
              <a:rPr lang="ko-KR" altLang="en-US" dirty="0"/>
              <a:t>였지만 </a:t>
            </a:r>
            <a:r>
              <a:rPr lang="ko-KR" altLang="en-US" dirty="0" err="1"/>
              <a:t>리액트에서는</a:t>
            </a:r>
            <a:r>
              <a:rPr lang="ko-KR" altLang="en-US" dirty="0"/>
              <a:t> 중요한 역할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최신</a:t>
            </a:r>
            <a:r>
              <a:rPr lang="en-US" altLang="ko-KR" dirty="0"/>
              <a:t> JavaScript </a:t>
            </a:r>
            <a:r>
              <a:rPr lang="ko-KR" altLang="en-US" dirty="0"/>
              <a:t>문법을 이전 버전의 </a:t>
            </a:r>
            <a:r>
              <a:rPr lang="en-US" altLang="ko-KR" dirty="0"/>
              <a:t>JavaScript </a:t>
            </a:r>
            <a:r>
              <a:rPr lang="ko-KR" altLang="en-US" dirty="0"/>
              <a:t>문법으로 변환해주어 다양한 브라우저에서 호환성에 문제 없이 코드를 실행할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BF2302-3DEF-5632-67CF-3EBD0BCB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B20E8-EEE4-BD3D-BA0F-F799786E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93E3C9D-5953-8E7B-BA6B-2C3EA44F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Babel</a:t>
            </a:r>
            <a:endParaRPr lang="ko-KR" altLang="en-US" dirty="0"/>
          </a:p>
        </p:txBody>
      </p:sp>
      <p:pic>
        <p:nvPicPr>
          <p:cNvPr id="6" name="Picture 2" descr="File:Babel Logo.svg - Wikimedia Commons">
            <a:extLst>
              <a:ext uri="{FF2B5EF4-FFF2-40B4-BE49-F238E27FC236}">
                <a16:creationId xmlns:a16="http://schemas.microsoft.com/office/drawing/2014/main" id="{EC21896F-080E-D586-E2B8-2DAB58CBA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477" y="444895"/>
            <a:ext cx="1805594" cy="81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83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C7D93F-78BF-1C43-5A73-2CEA6F7EE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자바스크립트 모듈 번들러 </a:t>
            </a:r>
            <a:r>
              <a:rPr lang="en-US" altLang="ko-KR" dirty="0"/>
              <a:t>(Module Bundler)</a:t>
            </a:r>
          </a:p>
          <a:p>
            <a:r>
              <a:rPr lang="ko-KR" altLang="en-US" dirty="0"/>
              <a:t>여러 개의 파일과 모듈을 하나의 파일로 </a:t>
            </a:r>
            <a:r>
              <a:rPr lang="ko-KR" altLang="en-US" dirty="0" err="1"/>
              <a:t>합쳐줌</a:t>
            </a:r>
            <a:endParaRPr lang="en-US" altLang="ko-KR" dirty="0"/>
          </a:p>
          <a:p>
            <a:r>
              <a:rPr lang="ko-KR" altLang="en-US" dirty="0"/>
              <a:t>코드 변경사항 발생 시 바로 반영되는 기능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A8145F-8FFD-0F8F-E2F5-721D2151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235CEE-5823-222A-9F18-75E86D07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CCB753A-EDC8-E68A-C775-48A827C0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Webpack</a:t>
            </a:r>
            <a:endParaRPr lang="ko-KR" altLang="en-US" dirty="0"/>
          </a:p>
        </p:txBody>
      </p:sp>
      <p:pic>
        <p:nvPicPr>
          <p:cNvPr id="6" name="Picture 2" descr="Branding Guidelines | 웹팩">
            <a:extLst>
              <a:ext uri="{FF2B5EF4-FFF2-40B4-BE49-F238E27FC236}">
                <a16:creationId xmlns:a16="http://schemas.microsoft.com/office/drawing/2014/main" id="{8507FFA5-811D-FE96-4D39-CB28DF7CF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954" y="239650"/>
            <a:ext cx="3088046" cy="120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A02B44-2D92-6027-7073-1E33C110C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917" y="3571644"/>
            <a:ext cx="5466402" cy="26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54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생성</a:t>
            </a:r>
          </a:p>
        </p:txBody>
      </p:sp>
    </p:spTree>
    <p:extLst>
      <p:ext uri="{BB962C8B-B14F-4D97-AF65-F5344CB8AC3E}">
        <p14:creationId xmlns:p14="http://schemas.microsoft.com/office/powerpoint/2010/main" val="3893178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리액트</a:t>
            </a:r>
            <a:r>
              <a:rPr lang="ko-KR" altLang="en-US" dirty="0"/>
              <a:t> 앱</a:t>
            </a:r>
            <a:r>
              <a:rPr lang="en-US" altLang="ko-KR" dirty="0"/>
              <a:t>(</a:t>
            </a:r>
            <a:r>
              <a:rPr lang="ko-KR" altLang="en-US" dirty="0"/>
              <a:t>프로젝트</a:t>
            </a:r>
            <a:r>
              <a:rPr lang="en-US" altLang="ko-KR" dirty="0"/>
              <a:t>) </a:t>
            </a:r>
            <a:r>
              <a:rPr lang="ko-KR" altLang="en-US" dirty="0"/>
              <a:t>이름 규칙</a:t>
            </a:r>
            <a:endParaRPr lang="en-US" altLang="ko-KR" dirty="0"/>
          </a:p>
          <a:p>
            <a:pPr lvl="1"/>
            <a:r>
              <a:rPr lang="ko-KR" altLang="en-US" dirty="0"/>
              <a:t>대문자 사용 불가능</a:t>
            </a:r>
            <a:endParaRPr lang="en-US" altLang="ko-KR" dirty="0"/>
          </a:p>
          <a:p>
            <a:pPr lvl="1"/>
            <a:r>
              <a:rPr lang="ko-KR" altLang="en-US" dirty="0"/>
              <a:t>단어 여러 개 사용시 하이픈</a:t>
            </a:r>
            <a:r>
              <a:rPr lang="en-US" altLang="ko-KR" dirty="0"/>
              <a:t>(-) </a:t>
            </a:r>
            <a:r>
              <a:rPr lang="ko-KR" altLang="en-US" dirty="0"/>
              <a:t>기호로 구분</a:t>
            </a:r>
            <a:endParaRPr lang="en-US" altLang="ko-KR" dirty="0"/>
          </a:p>
          <a:p>
            <a:r>
              <a:rPr lang="en-US" altLang="ko-KR" dirty="0" err="1"/>
              <a:t>npx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npm</a:t>
            </a:r>
            <a:r>
              <a:rPr lang="ko-KR" altLang="en-US" dirty="0"/>
              <a:t>의 자식 명령어로 </a:t>
            </a:r>
            <a:r>
              <a:rPr lang="en-US" altLang="ko-KR" dirty="0" err="1"/>
              <a:t>npm</a:t>
            </a:r>
            <a:r>
              <a:rPr lang="ko-KR" altLang="en-US" dirty="0"/>
              <a:t>보다 가볍게 패키지를 구성</a:t>
            </a:r>
            <a:endParaRPr lang="en-US" altLang="ko-KR" dirty="0"/>
          </a:p>
          <a:p>
            <a:pPr lvl="1"/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ko-KR" altLang="en-US" dirty="0"/>
              <a:t>버전이 </a:t>
            </a:r>
            <a:r>
              <a:rPr lang="en-US" altLang="ko-KR" dirty="0"/>
              <a:t>5.2 </a:t>
            </a:r>
            <a:r>
              <a:rPr lang="ko-KR" altLang="en-US" dirty="0"/>
              <a:t>이상일 때</a:t>
            </a:r>
            <a:r>
              <a:rPr lang="en-US" altLang="ko-KR" dirty="0"/>
              <a:t>, node </a:t>
            </a:r>
            <a:r>
              <a:rPr lang="ko-KR" altLang="en-US" dirty="0"/>
              <a:t>버전이 </a:t>
            </a:r>
            <a:r>
              <a:rPr lang="en-US" altLang="ko-KR" dirty="0"/>
              <a:t>14 </a:t>
            </a:r>
            <a:r>
              <a:rPr lang="ko-KR" altLang="en-US" dirty="0"/>
              <a:t>이상일 때 사용 가능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생성하기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4815840"/>
            <a:ext cx="8953500" cy="5238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7856220" y="4815840"/>
            <a:ext cx="2434590" cy="523875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057082" y="5415461"/>
            <a:ext cx="203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5"/>
                </a:solidFill>
              </a:rPr>
              <a:t>React App Name</a:t>
            </a:r>
            <a:endParaRPr lang="ko-KR" alt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244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ko-KR" altLang="en-US" dirty="0"/>
              <a:t>프로젝트 실행하기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2132"/>
            <a:ext cx="5189220" cy="25503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EBC82F-9FC6-A16D-CCE6-0E23E59315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736" r="33893" b="6885"/>
          <a:stretch/>
        </p:blipFill>
        <p:spPr>
          <a:xfrm>
            <a:off x="838200" y="1825625"/>
            <a:ext cx="2240280" cy="50609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365" y="1825625"/>
            <a:ext cx="4994459" cy="396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21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42B04D4-48CD-0E55-275E-2B82255AC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558" y="1867963"/>
            <a:ext cx="6638109" cy="24214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</a:t>
            </a:r>
            <a:r>
              <a:rPr lang="en-US" altLang="ko-KR" sz="2400" dirty="0" err="1">
                <a:solidFill>
                  <a:schemeClr val="accent5"/>
                </a:solidFill>
              </a:rPr>
              <a:t>node_modules</a:t>
            </a:r>
            <a:r>
              <a:rPr lang="en-US" altLang="ko-KR" sz="2400" dirty="0"/>
              <a:t> : </a:t>
            </a:r>
            <a:r>
              <a:rPr lang="en-US" altLang="ko-KR" sz="2400" dirty="0" err="1"/>
              <a:t>npm</a:t>
            </a:r>
            <a:r>
              <a:rPr lang="en-US" altLang="ko-KR" sz="2400" dirty="0"/>
              <a:t> </a:t>
            </a:r>
            <a:r>
              <a:rPr lang="ko-KR" altLang="en-US" sz="2400" dirty="0"/>
              <a:t>을 시작하면 생기는 폴더</a:t>
            </a:r>
            <a:r>
              <a:rPr lang="en-US" altLang="ko-KR" sz="2400" dirty="0"/>
              <a:t>, </a:t>
            </a:r>
            <a:r>
              <a:rPr lang="ko-KR" altLang="en-US" sz="2400" dirty="0"/>
              <a:t>내부에 모듈과 관련된 정보가 들어있음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/public</a:t>
            </a:r>
            <a:r>
              <a:rPr lang="en-US" altLang="ko-KR" sz="2400" dirty="0"/>
              <a:t> : index.html &amp; favicon.ico!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가상</a:t>
            </a:r>
            <a:r>
              <a:rPr lang="en-US" altLang="ko-KR" sz="2400" dirty="0"/>
              <a:t>DOM</a:t>
            </a:r>
            <a:r>
              <a:rPr lang="ko-KR" altLang="en-US" sz="2400" dirty="0"/>
              <a:t>을 위한 </a:t>
            </a:r>
            <a:r>
              <a:rPr lang="en-US" altLang="ko-KR" sz="2400" dirty="0"/>
              <a:t>html </a:t>
            </a:r>
            <a:r>
              <a:rPr lang="ko-KR" altLang="en-US" sz="2400" dirty="0"/>
              <a:t>파일이 들어있는 곳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5"/>
                </a:solidFill>
              </a:rPr>
              <a:t>/</a:t>
            </a:r>
            <a:r>
              <a:rPr lang="en-US" altLang="ko-KR" sz="2400" dirty="0" err="1">
                <a:solidFill>
                  <a:schemeClr val="accent5"/>
                </a:solidFill>
              </a:rPr>
              <a:t>src</a:t>
            </a:r>
            <a:r>
              <a:rPr lang="en-US" altLang="ko-KR" sz="2400" dirty="0"/>
              <a:t> : </a:t>
            </a:r>
            <a:r>
              <a:rPr lang="ko-KR" altLang="en-US" sz="2400" dirty="0"/>
              <a:t>실제 </a:t>
            </a:r>
            <a:r>
              <a:rPr lang="en-US" altLang="ko-KR" sz="2400" dirty="0"/>
              <a:t>React </a:t>
            </a:r>
            <a:r>
              <a:rPr lang="ko-KR" altLang="en-US" sz="2400" dirty="0"/>
              <a:t>코드</a:t>
            </a:r>
            <a:r>
              <a:rPr lang="en-US" altLang="ko-KR" sz="2400" dirty="0"/>
              <a:t>(</a:t>
            </a:r>
            <a:r>
              <a:rPr lang="ko-KR" altLang="en-US" sz="2400" dirty="0"/>
              <a:t>컴포넌트</a:t>
            </a:r>
            <a:r>
              <a:rPr lang="en-US" altLang="ko-KR" sz="2400" dirty="0"/>
              <a:t>)</a:t>
            </a:r>
            <a:r>
              <a:rPr lang="ko-KR" altLang="en-US" sz="2400" dirty="0"/>
              <a:t>를 작성하는 곳</a:t>
            </a:r>
            <a:r>
              <a:rPr lang="en-US" altLang="ko-KR" sz="2400" dirty="0"/>
              <a:t> </a:t>
            </a:r>
          </a:p>
          <a:p>
            <a:pPr>
              <a:lnSpc>
                <a:spcPct val="100000"/>
              </a:lnSpc>
            </a:pPr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D718A4-45BF-9A39-F6EB-DEFAC38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303A6-3E14-7AFF-5FFD-5F88556F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ADD239B-019F-8311-F1D9-32734A87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create-react-app</a:t>
            </a:r>
            <a:r>
              <a:rPr lang="ko-KR" altLang="en-US" sz="4000" dirty="0"/>
              <a:t>으로 생성한 프로젝트의 구조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DED0C8-844C-2691-2A23-250EDF455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7963"/>
            <a:ext cx="3524250" cy="3638550"/>
          </a:xfrm>
          <a:prstGeom prst="rect">
            <a:avLst/>
          </a:prstGeom>
        </p:spPr>
      </p:pic>
      <p:pic>
        <p:nvPicPr>
          <p:cNvPr id="8" name="Picture 2" descr="폴더 | 무료 아이콘">
            <a:extLst>
              <a:ext uri="{FF2B5EF4-FFF2-40B4-BE49-F238E27FC236}">
                <a16:creationId xmlns:a16="http://schemas.microsoft.com/office/drawing/2014/main" id="{9A0C5A4F-CEC3-222B-7C30-A01FD6E0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590" y="186796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파일 아이콘 에 Multimedia">
            <a:extLst>
              <a:ext uri="{FF2B5EF4-FFF2-40B4-BE49-F238E27FC236}">
                <a16:creationId xmlns:a16="http://schemas.microsoft.com/office/drawing/2014/main" id="{90335741-A4CD-D06D-239D-6A1EF7CAD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576" y="4478534"/>
            <a:ext cx="504000" cy="36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1">
            <a:extLst>
              <a:ext uri="{FF2B5EF4-FFF2-40B4-BE49-F238E27FC236}">
                <a16:creationId xmlns:a16="http://schemas.microsoft.com/office/drawing/2014/main" id="{2CF044B6-16F8-7B14-AE5B-B0D533D5DC57}"/>
              </a:ext>
            </a:extLst>
          </p:cNvPr>
          <p:cNvSpPr txBox="1">
            <a:spLocks/>
          </p:cNvSpPr>
          <p:nvPr/>
        </p:nvSpPr>
        <p:spPr>
          <a:xfrm>
            <a:off x="5393267" y="4478533"/>
            <a:ext cx="6125364" cy="1471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dirty="0"/>
              <a:t>.</a:t>
            </a:r>
            <a:r>
              <a:rPr lang="en-US" altLang="ko-KR" sz="2400" dirty="0" err="1"/>
              <a:t>gitignore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package-</a:t>
            </a:r>
            <a:r>
              <a:rPr lang="en-US" altLang="ko-KR" sz="2400" dirty="0" err="1"/>
              <a:t>lock.json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package.json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README.md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0801628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1605</TotalTime>
  <Words>2199</Words>
  <Application>Microsoft Office PowerPoint</Application>
  <PresentationFormat>와이드스크린</PresentationFormat>
  <Paragraphs>323</Paragraphs>
  <Slides>27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Pretendard GOV</vt:lpstr>
      <vt:lpstr>맑은 고딕</vt:lpstr>
      <vt:lpstr>Arial</vt:lpstr>
      <vt:lpstr>Wingdings</vt:lpstr>
      <vt:lpstr>3_Office 테마</vt:lpstr>
      <vt:lpstr>웹 개발자 부트캠프 과정</vt:lpstr>
      <vt:lpstr>프론트엔드 3대장</vt:lpstr>
      <vt:lpstr>프론트엔드 3대장 </vt:lpstr>
      <vt:lpstr>Angular JS</vt:lpstr>
      <vt:lpstr>React JS</vt:lpstr>
      <vt:lpstr>Vue.js</vt:lpstr>
      <vt:lpstr>Angular vs. React vs. Vue.js</vt:lpstr>
      <vt:lpstr>React 란?</vt:lpstr>
      <vt:lpstr>React란?</vt:lpstr>
      <vt:lpstr>React란?</vt:lpstr>
      <vt:lpstr>React의 특징</vt:lpstr>
      <vt:lpstr>특징 1. Data Flow</vt:lpstr>
      <vt:lpstr>특징 2. Component 기반 구조</vt:lpstr>
      <vt:lpstr>특징 2. Component 기반 구조</vt:lpstr>
      <vt:lpstr>특징 2. Component 기반 구조</vt:lpstr>
      <vt:lpstr>특징 3. Virtual DOM</vt:lpstr>
      <vt:lpstr>특징 3. Virtual DOM</vt:lpstr>
      <vt:lpstr>특징 4. Props and State</vt:lpstr>
      <vt:lpstr>특징 5. JSX</vt:lpstr>
      <vt:lpstr>Node.js &amp; NPM</vt:lpstr>
      <vt:lpstr>Node.js &amp; NPM</vt:lpstr>
      <vt:lpstr>Babel</vt:lpstr>
      <vt:lpstr>Webpack</vt:lpstr>
      <vt:lpstr>React 프로젝트 생성</vt:lpstr>
      <vt:lpstr>React 프로젝트 생성하기</vt:lpstr>
      <vt:lpstr>React 프로젝트 실행하기</vt:lpstr>
      <vt:lpstr>create-react-app으로 생성한 프로젝트의 구조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112</cp:revision>
  <dcterms:created xsi:type="dcterms:W3CDTF">2022-06-26T11:10:22Z</dcterms:created>
  <dcterms:modified xsi:type="dcterms:W3CDTF">2024-07-29T05:03:45Z</dcterms:modified>
</cp:coreProperties>
</file>