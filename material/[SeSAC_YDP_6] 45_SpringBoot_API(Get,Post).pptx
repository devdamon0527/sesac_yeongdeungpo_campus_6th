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1"/>
  </p:notesMasterIdLst>
  <p:sldIdLst>
    <p:sldId id="656" r:id="rId2"/>
    <p:sldId id="667" r:id="rId3"/>
    <p:sldId id="668" r:id="rId4"/>
    <p:sldId id="664" r:id="rId5"/>
    <p:sldId id="665" r:id="rId6"/>
    <p:sldId id="666" r:id="rId7"/>
    <p:sldId id="669" r:id="rId8"/>
    <p:sldId id="657" r:id="rId9"/>
    <p:sldId id="640" r:id="rId10"/>
    <p:sldId id="620" r:id="rId11"/>
    <p:sldId id="621" r:id="rId12"/>
    <p:sldId id="622" r:id="rId13"/>
    <p:sldId id="619" r:id="rId14"/>
    <p:sldId id="623" r:id="rId15"/>
    <p:sldId id="624" r:id="rId16"/>
    <p:sldId id="625" r:id="rId17"/>
    <p:sldId id="662" r:id="rId18"/>
    <p:sldId id="658" r:id="rId19"/>
    <p:sldId id="675" r:id="rId20"/>
    <p:sldId id="642" r:id="rId21"/>
    <p:sldId id="659" r:id="rId22"/>
    <p:sldId id="676" r:id="rId23"/>
    <p:sldId id="645" r:id="rId24"/>
    <p:sldId id="660" r:id="rId25"/>
    <p:sldId id="677" r:id="rId26"/>
    <p:sldId id="678" r:id="rId27"/>
    <p:sldId id="650" r:id="rId28"/>
    <p:sldId id="679" r:id="rId29"/>
    <p:sldId id="680" r:id="rId30"/>
    <p:sldId id="654" r:id="rId31"/>
    <p:sldId id="674" r:id="rId32"/>
    <p:sldId id="673" r:id="rId33"/>
    <p:sldId id="661" r:id="rId34"/>
    <p:sldId id="663" r:id="rId35"/>
    <p:sldId id="670" r:id="rId36"/>
    <p:sldId id="671" r:id="rId37"/>
    <p:sldId id="672" r:id="rId38"/>
    <p:sldId id="681" r:id="rId39"/>
    <p:sldId id="639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1E1F22"/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76024" autoAdjust="0"/>
  </p:normalViewPr>
  <p:slideViewPr>
    <p:cSldViewPr snapToGrid="0">
      <p:cViewPr varScale="1">
        <p:scale>
          <a:sx n="110" d="100"/>
          <a:sy n="110" d="100"/>
        </p:scale>
        <p:origin x="946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text/plain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메모장에서 작성한 간단한 텍스트 파일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text/html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웹 브라우저에서 보는 일반적인 웹 페이지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image/jpeg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디지털 카메라로 찍은 사진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image/</a:t>
            </a:r>
            <a:r>
              <a:rPr lang="en-US" altLang="ko-KR" dirty="0" err="1"/>
              <a:t>png</a:t>
            </a:r>
            <a:r>
              <a:rPr lang="en-US" altLang="ko-KR" dirty="0"/>
              <a:t>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스크린샷이나 로고 이미지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audio/mpeg </a:t>
            </a:r>
            <a:r>
              <a:rPr lang="ko-KR" altLang="en-US" dirty="0"/>
              <a:t>예</a:t>
            </a:r>
            <a:r>
              <a:rPr lang="en-US" altLang="ko-KR" dirty="0"/>
              <a:t>: MP3 </a:t>
            </a:r>
            <a:r>
              <a:rPr lang="ko-KR" altLang="en-US" dirty="0"/>
              <a:t>형식의 음악 파일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video/mp4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스마트폰으로 찍은 동영상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application/pdf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전자책이나 디지털 형식의 공식 문서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application/vnd.ms-excel </a:t>
            </a:r>
            <a:r>
              <a:rPr lang="ko-KR" altLang="en-US" dirty="0"/>
              <a:t>예</a:t>
            </a:r>
            <a:r>
              <a:rPr lang="en-US" altLang="ko-KR" dirty="0"/>
              <a:t>: Microsoft Excel </a:t>
            </a:r>
            <a:r>
              <a:rPr lang="ko-KR" altLang="en-US" dirty="0"/>
              <a:t>스프레드시트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application/zip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여러 파일을 하나로 압축한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application/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웹 </a:t>
            </a:r>
            <a:r>
              <a:rPr lang="en-US" altLang="ko-KR" dirty="0"/>
              <a:t>API</a:t>
            </a:r>
            <a:r>
              <a:rPr lang="ko-KR" altLang="en-US" dirty="0"/>
              <a:t>에서 주고받는 데이터 형식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795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https://jw910911.tistory.com/117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6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809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각 부분은 </a:t>
            </a:r>
            <a:r>
              <a:rPr lang="en-US" altLang="ko-KR" dirty="0"/>
              <a:t>--boundary</a:t>
            </a:r>
            <a:r>
              <a:rPr lang="ko-KR" altLang="en-US" dirty="0"/>
              <a:t>로 구분됩니다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'boundary'</a:t>
            </a:r>
            <a:r>
              <a:rPr lang="ko-KR" altLang="en-US" dirty="0"/>
              <a:t>는 실제로는 고유한 문자열로 대체됩니다</a:t>
            </a:r>
            <a:r>
              <a:rPr lang="en-US" altLang="ko-KR" dirty="0"/>
              <a:t>. </a:t>
            </a:r>
            <a:r>
              <a:rPr lang="ko-KR" altLang="en-US" dirty="0"/>
              <a:t>각 부분은 헤더와 본문으로 구성됩니다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헤더와 본문은 빈 줄로 구분됩니다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3. Content-Disposition </a:t>
            </a:r>
            <a:r>
              <a:rPr lang="ko-KR" altLang="en-US" dirty="0"/>
              <a:t>헤더는 각 부분의 이름과 추가 정보를 제공합니다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파일의 경우</a:t>
            </a:r>
            <a:r>
              <a:rPr lang="en-US" altLang="ko-KR" dirty="0"/>
              <a:t>, filename</a:t>
            </a:r>
            <a:r>
              <a:rPr lang="ko-KR" altLang="en-US" dirty="0"/>
              <a:t>과 </a:t>
            </a:r>
            <a:r>
              <a:rPr lang="en-US" altLang="ko-KR" dirty="0"/>
              <a:t>Content-Type</a:t>
            </a:r>
            <a:r>
              <a:rPr lang="ko-KR" altLang="en-US" dirty="0"/>
              <a:t>이 추가로 제공됩니다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마지막 경계선은 </a:t>
            </a:r>
            <a:r>
              <a:rPr lang="en-US" altLang="ko-KR" dirty="0"/>
              <a:t>--boundary--</a:t>
            </a:r>
            <a:r>
              <a:rPr lang="ko-KR" altLang="en-US" dirty="0"/>
              <a:t>로 끝납니다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위 예시에서는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첫 번째 부분은 </a:t>
            </a:r>
            <a:r>
              <a:rPr lang="en-US" altLang="ko-KR" dirty="0"/>
              <a:t>"username"</a:t>
            </a:r>
            <a:r>
              <a:rPr lang="ko-KR" altLang="en-US" dirty="0"/>
              <a:t>이라는 이름의 폼 필드로</a:t>
            </a:r>
            <a:r>
              <a:rPr lang="en-US" altLang="ko-KR" dirty="0"/>
              <a:t>, </a:t>
            </a:r>
            <a:r>
              <a:rPr lang="ko-KR" altLang="en-US" dirty="0"/>
              <a:t>값은 </a:t>
            </a:r>
            <a:r>
              <a:rPr lang="en-US" altLang="ko-KR" dirty="0"/>
              <a:t>"</a:t>
            </a:r>
            <a:r>
              <a:rPr lang="en-US" altLang="ko-KR" dirty="0" err="1"/>
              <a:t>john_doe</a:t>
            </a:r>
            <a:r>
              <a:rPr lang="en-US" altLang="ko-KR" dirty="0"/>
              <a:t>"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두 번째 부분은 </a:t>
            </a:r>
            <a:r>
              <a:rPr lang="en-US" altLang="ko-KR" dirty="0"/>
              <a:t>"</a:t>
            </a:r>
            <a:r>
              <a:rPr lang="en-US" altLang="ko-KR" dirty="0" err="1"/>
              <a:t>profile_picture</a:t>
            </a:r>
            <a:r>
              <a:rPr lang="en-US" altLang="ko-KR" dirty="0"/>
              <a:t>"</a:t>
            </a:r>
            <a:r>
              <a:rPr lang="ko-KR" altLang="en-US" dirty="0"/>
              <a:t>라는 이름의 파일 업로드 필드로</a:t>
            </a:r>
            <a:r>
              <a:rPr lang="en-US" altLang="ko-KR" dirty="0"/>
              <a:t>, "photo.jpg"</a:t>
            </a:r>
            <a:r>
              <a:rPr lang="ko-KR" altLang="en-US" dirty="0"/>
              <a:t>라는 파일명을 가진 </a:t>
            </a:r>
            <a:r>
              <a:rPr lang="en-US" altLang="ko-KR" dirty="0"/>
              <a:t>JPEG </a:t>
            </a:r>
            <a:r>
              <a:rPr lang="ko-KR" altLang="en-US" dirty="0"/>
              <a:t>이미지입니다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455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path variable : </a:t>
            </a:r>
            <a:r>
              <a:rPr lang="ko-KR" altLang="en-US" sz="1200" dirty="0"/>
              <a:t>경로 변수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488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04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250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에러가 </a:t>
            </a:r>
            <a:r>
              <a:rPr lang="ko-KR" altLang="en-US" dirty="0" err="1"/>
              <a:t>안난다면</a:t>
            </a:r>
            <a:r>
              <a:rPr lang="ko-KR" altLang="en-US" dirty="0"/>
              <a:t> </a:t>
            </a:r>
            <a:r>
              <a:rPr lang="en-US" altLang="ko-KR" dirty="0"/>
              <a:t>O (</a:t>
            </a:r>
            <a:r>
              <a:rPr lang="ko-KR" altLang="en-US" dirty="0"/>
              <a:t>에러는 발생하지 않지만 값이 제대로 </a:t>
            </a:r>
            <a:r>
              <a:rPr lang="ko-KR" altLang="en-US" dirty="0" err="1"/>
              <a:t>안보인다면</a:t>
            </a:r>
            <a:r>
              <a:rPr lang="ko-KR" altLang="en-US" dirty="0"/>
              <a:t> 어떤 값이 보이는지도 기입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에러가 발생하면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91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86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제출 예시</a:t>
            </a:r>
            <a:endParaRPr lang="en-US" altLang="ko-KR" dirty="0"/>
          </a:p>
          <a:p>
            <a:r>
              <a:rPr lang="en-US" altLang="ko-KR" dirty="0"/>
              <a:t>get</a:t>
            </a:r>
            <a:r>
              <a:rPr lang="ko-KR" altLang="en-US" dirty="0"/>
              <a:t> 일반</a:t>
            </a:r>
            <a:r>
              <a:rPr lang="en-US" altLang="ko-KR" dirty="0"/>
              <a:t>: </a:t>
            </a:r>
            <a:r>
              <a:rPr lang="ko-KR" altLang="en-US" dirty="0"/>
              <a:t>가능</a:t>
            </a:r>
            <a:endParaRPr lang="en-US" altLang="ko-KR" dirty="0"/>
          </a:p>
          <a:p>
            <a:r>
              <a:rPr lang="en-US" altLang="ko-KR" dirty="0"/>
              <a:t>get </a:t>
            </a:r>
            <a:r>
              <a:rPr lang="en-US" altLang="ko-KR" dirty="0" err="1"/>
              <a:t>dto</a:t>
            </a:r>
            <a:r>
              <a:rPr lang="en-US" altLang="ko-KR" dirty="0"/>
              <a:t>: null</a:t>
            </a:r>
          </a:p>
          <a:p>
            <a:r>
              <a:rPr lang="en-US" altLang="ko-KR" dirty="0"/>
              <a:t>post </a:t>
            </a:r>
            <a:r>
              <a:rPr lang="ko-KR" altLang="en-US" dirty="0"/>
              <a:t>일반</a:t>
            </a:r>
            <a:r>
              <a:rPr lang="en-US" altLang="ko-KR" dirty="0"/>
              <a:t>: null</a:t>
            </a:r>
          </a:p>
          <a:p>
            <a:r>
              <a:rPr lang="en-US" altLang="ko-KR" dirty="0"/>
              <a:t>post</a:t>
            </a:r>
            <a:r>
              <a:rPr lang="ko-KR" altLang="en-US" dirty="0"/>
              <a:t> </a:t>
            </a:r>
            <a:r>
              <a:rPr lang="en-US" altLang="ko-KR" dirty="0" err="1"/>
              <a:t>dto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responsebody</a:t>
            </a:r>
            <a:r>
              <a:rPr lang="en-US" altLang="ko-KR" dirty="0"/>
              <a:t> x</a:t>
            </a:r>
            <a:r>
              <a:rPr lang="ko-KR" altLang="en-US" dirty="0"/>
              <a:t> 실패</a:t>
            </a:r>
            <a:endParaRPr lang="en-US" altLang="ko-KR" dirty="0"/>
          </a:p>
          <a:p>
            <a:r>
              <a:rPr lang="en-US" altLang="ko-KR" dirty="0"/>
              <a:t>post </a:t>
            </a:r>
            <a:r>
              <a:rPr lang="en-US" altLang="ko-KR" dirty="0" err="1"/>
              <a:t>dto</a:t>
            </a:r>
            <a:r>
              <a:rPr lang="en-US" altLang="ko-KR" dirty="0"/>
              <a:t>: </a:t>
            </a:r>
            <a:r>
              <a:rPr lang="en-US" altLang="ko-KR" dirty="0" err="1"/>
              <a:t>responsebody</a:t>
            </a:r>
            <a:r>
              <a:rPr lang="en-US" altLang="ko-KR" dirty="0"/>
              <a:t> o </a:t>
            </a:r>
            <a:r>
              <a:rPr lang="ko-KR" altLang="en-US" dirty="0"/>
              <a:t>실패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120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제출 예시</a:t>
            </a:r>
            <a:endParaRPr lang="en-US" altLang="ko-KR" dirty="0"/>
          </a:p>
          <a:p>
            <a:r>
              <a:rPr lang="en-US" altLang="ko-KR" dirty="0"/>
              <a:t>get</a:t>
            </a:r>
            <a:r>
              <a:rPr lang="ko-KR" altLang="en-US" dirty="0"/>
              <a:t> 일반</a:t>
            </a:r>
            <a:r>
              <a:rPr lang="en-US" altLang="ko-KR" dirty="0"/>
              <a:t>: </a:t>
            </a:r>
            <a:r>
              <a:rPr lang="ko-KR" altLang="en-US" dirty="0"/>
              <a:t>가능</a:t>
            </a:r>
            <a:endParaRPr lang="en-US" altLang="ko-KR" dirty="0"/>
          </a:p>
          <a:p>
            <a:r>
              <a:rPr lang="en-US" altLang="ko-KR" dirty="0"/>
              <a:t>get </a:t>
            </a:r>
            <a:r>
              <a:rPr lang="en-US" altLang="ko-KR" dirty="0" err="1"/>
              <a:t>dto</a:t>
            </a:r>
            <a:r>
              <a:rPr lang="en-US" altLang="ko-KR" dirty="0"/>
              <a:t>: null</a:t>
            </a:r>
          </a:p>
          <a:p>
            <a:r>
              <a:rPr lang="en-US" altLang="ko-KR" dirty="0"/>
              <a:t>post </a:t>
            </a:r>
            <a:r>
              <a:rPr lang="ko-KR" altLang="en-US" dirty="0"/>
              <a:t>일반</a:t>
            </a:r>
            <a:r>
              <a:rPr lang="en-US" altLang="ko-KR" dirty="0"/>
              <a:t>: null</a:t>
            </a:r>
          </a:p>
          <a:p>
            <a:r>
              <a:rPr lang="en-US" altLang="ko-KR" dirty="0"/>
              <a:t>post</a:t>
            </a:r>
            <a:r>
              <a:rPr lang="ko-KR" altLang="en-US" dirty="0"/>
              <a:t> </a:t>
            </a:r>
            <a:r>
              <a:rPr lang="en-US" altLang="ko-KR" dirty="0" err="1"/>
              <a:t>dto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responsebody</a:t>
            </a:r>
            <a:r>
              <a:rPr lang="en-US" altLang="ko-KR" dirty="0"/>
              <a:t> x</a:t>
            </a:r>
            <a:r>
              <a:rPr lang="ko-KR" altLang="en-US" dirty="0"/>
              <a:t> 실패</a:t>
            </a:r>
            <a:endParaRPr lang="en-US" altLang="ko-KR" dirty="0"/>
          </a:p>
          <a:p>
            <a:r>
              <a:rPr lang="en-US" altLang="ko-KR" dirty="0"/>
              <a:t>post </a:t>
            </a:r>
            <a:r>
              <a:rPr lang="en-US" altLang="ko-KR" dirty="0" err="1"/>
              <a:t>dto</a:t>
            </a:r>
            <a:r>
              <a:rPr lang="en-US" altLang="ko-KR" dirty="0"/>
              <a:t>: </a:t>
            </a:r>
            <a:r>
              <a:rPr lang="en-US" altLang="ko-KR" dirty="0" err="1"/>
              <a:t>responsebody</a:t>
            </a:r>
            <a:r>
              <a:rPr lang="en-US" altLang="ko-KR" dirty="0"/>
              <a:t> o </a:t>
            </a:r>
            <a:r>
              <a:rPr lang="ko-KR" altLang="en-US" dirty="0"/>
              <a:t>실패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422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1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1. </a:t>
            </a:r>
            <a:r>
              <a:rPr lang="ko-KR" altLang="en-US" dirty="0"/>
              <a:t>메서드의 </a:t>
            </a:r>
            <a:r>
              <a:rPr lang="ko-KR" altLang="en-US" dirty="0" err="1"/>
              <a:t>반환값을</a:t>
            </a:r>
            <a:r>
              <a:rPr lang="ko-KR" altLang="en-US" dirty="0"/>
              <a:t> </a:t>
            </a:r>
            <a:r>
              <a:rPr lang="en-US" altLang="ko-KR" dirty="0" err="1"/>
              <a:t>ViewResolver</a:t>
            </a:r>
            <a:r>
              <a:rPr lang="ko-KR" altLang="en-US" dirty="0"/>
              <a:t>를 거치지 않고 </a:t>
            </a:r>
            <a:r>
              <a:rPr lang="en-US" altLang="ko-KR" dirty="0"/>
              <a:t>HTTP </a:t>
            </a:r>
            <a:r>
              <a:rPr lang="ko-KR" altLang="en-US" dirty="0"/>
              <a:t>응답 본문에 직접 쓰도록 합니다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JSON, XML </a:t>
            </a:r>
            <a:r>
              <a:rPr lang="ko-KR" altLang="en-US" dirty="0"/>
              <a:t>같은 데이터를 반환할 때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참고</a:t>
            </a:r>
            <a:r>
              <a:rPr lang="en-US" altLang="ko-KR" dirty="0"/>
              <a:t>2. @RestController </a:t>
            </a:r>
            <a:r>
              <a:rPr lang="ko-KR" altLang="en-US" dirty="0" err="1"/>
              <a:t>어노테이션을</a:t>
            </a:r>
            <a:r>
              <a:rPr lang="ko-KR" altLang="en-US" dirty="0"/>
              <a:t> 사용하면 클래스의 모든 메서드에 </a:t>
            </a:r>
            <a:r>
              <a:rPr lang="en-US" altLang="ko-KR" dirty="0"/>
              <a:t>@ResponseBody</a:t>
            </a:r>
            <a:r>
              <a:rPr lang="ko-KR" altLang="en-US" dirty="0"/>
              <a:t>가 적용됩니다</a:t>
            </a:r>
            <a:r>
              <a:rPr lang="en-US" altLang="ko-KR" dirty="0"/>
              <a:t>. -&gt; </a:t>
            </a:r>
            <a:r>
              <a:rPr lang="ko-KR" altLang="en-US" dirty="0"/>
              <a:t>나중에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354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1. </a:t>
            </a:r>
            <a:r>
              <a:rPr lang="ko-KR" altLang="en-US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일반 폼 전송</a:t>
            </a:r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GET/POST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요청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@RequestParam, @PathVariable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사용하면 정상 동작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DTO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와 함께 사용 시 정상 동작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(@ModelAttribute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사용 또는 생략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VO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와 함께 사용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null/0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반환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(setter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메소드 부재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@RequestBody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사용 시 에러 발생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(Content-Type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불일치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38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2. </a:t>
            </a:r>
            <a:r>
              <a:rPr lang="en-US" altLang="ko-KR" b="1" i="0" dirty="0" err="1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Axios</a:t>
            </a:r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 (</a:t>
            </a:r>
            <a:r>
              <a:rPr lang="ko-KR" altLang="en-US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동적 폼 전송</a:t>
            </a:r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GET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요청은 대부분 정상 동작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POST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요청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@RequestParam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사용하면 에러 발생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@RequestBody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와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DTO/VO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조합으로 사용 시 정상 동작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DTO/VO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객체 사용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@RequestBody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없으면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null/0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반환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528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1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3. DTO vs VO: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DTO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는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setter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메소드가 있어 일반 폼 전송 시 데이터 바인딩 잘 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VO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는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setter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메소드가 없어 일반 폼 전송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null/0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반환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Axios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JSON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데이터 전송 시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@RequestBody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사용하면 </a:t>
            </a:r>
            <a:r>
              <a:rPr lang="en-US" altLang="ko-KR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DTO/VO </a:t>
            </a:r>
            <a:r>
              <a:rPr lang="ko-KR" altLang="en-US" b="0" i="0" dirty="0">
                <a:solidFill>
                  <a:srgbClr val="BCBEC4"/>
                </a:solidFill>
                <a:effectLst/>
                <a:highlight>
                  <a:srgbClr val="1E1F22"/>
                </a:highlight>
                <a:latin typeface="Helvetica" panose="020B0604020202020204" pitchFamily="34" charset="0"/>
              </a:rPr>
              <a:t>모두 정상 동작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91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class </a:t>
            </a:r>
            <a:r>
              <a:rPr lang="en-US" dirty="0" err="1"/>
              <a:t>UserDTO</a:t>
            </a:r>
            <a:r>
              <a:rPr lang="en-US" dirty="0"/>
              <a:t> {</a:t>
            </a:r>
          </a:p>
          <a:p>
            <a:r>
              <a:rPr lang="en-US" dirty="0"/>
              <a:t>    private String username;</a:t>
            </a:r>
          </a:p>
          <a:p>
            <a:r>
              <a:rPr lang="en-US" dirty="0"/>
              <a:t>    private String password;</a:t>
            </a:r>
          </a:p>
          <a:p>
            <a:r>
              <a:rPr lang="en-US" dirty="0"/>
              <a:t>    private String email;</a:t>
            </a:r>
          </a:p>
          <a:p>
            <a:endParaRPr lang="en-US" dirty="0"/>
          </a:p>
          <a:p>
            <a:r>
              <a:rPr lang="en-US" dirty="0"/>
              <a:t>    // Getters and Setters</a:t>
            </a:r>
          </a:p>
          <a:p>
            <a:r>
              <a:rPr lang="en-US" dirty="0"/>
              <a:t>    public String </a:t>
            </a:r>
            <a:r>
              <a:rPr lang="en-US" dirty="0" err="1"/>
              <a:t>getUsername</a:t>
            </a:r>
            <a:r>
              <a:rPr lang="en-US" dirty="0"/>
              <a:t>() {</a:t>
            </a:r>
          </a:p>
          <a:p>
            <a:r>
              <a:rPr lang="en-US" dirty="0"/>
              <a:t>        return username;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setUsername</a:t>
            </a:r>
            <a:r>
              <a:rPr lang="en-US" dirty="0"/>
              <a:t>(String username) {</a:t>
            </a:r>
          </a:p>
          <a:p>
            <a:r>
              <a:rPr lang="en-US" dirty="0"/>
              <a:t>        </a:t>
            </a:r>
            <a:r>
              <a:rPr lang="en-US" dirty="0" err="1"/>
              <a:t>this.username</a:t>
            </a:r>
            <a:r>
              <a:rPr lang="en-US" dirty="0"/>
              <a:t> = username;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String </a:t>
            </a:r>
            <a:r>
              <a:rPr lang="en-US" dirty="0" err="1"/>
              <a:t>getPassword</a:t>
            </a:r>
            <a:r>
              <a:rPr lang="en-US" dirty="0"/>
              <a:t>() {</a:t>
            </a:r>
          </a:p>
          <a:p>
            <a:r>
              <a:rPr lang="en-US" dirty="0"/>
              <a:t>        return password;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setPassword</a:t>
            </a:r>
            <a:r>
              <a:rPr lang="en-US" dirty="0"/>
              <a:t>(String password) {</a:t>
            </a:r>
          </a:p>
          <a:p>
            <a:r>
              <a:rPr lang="en-US" dirty="0"/>
              <a:t>        </a:t>
            </a:r>
            <a:r>
              <a:rPr lang="en-US" dirty="0" err="1"/>
              <a:t>this.password</a:t>
            </a:r>
            <a:r>
              <a:rPr lang="en-US" dirty="0"/>
              <a:t> = password;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String </a:t>
            </a:r>
            <a:r>
              <a:rPr lang="en-US" dirty="0" err="1"/>
              <a:t>getEmail</a:t>
            </a:r>
            <a:r>
              <a:rPr lang="en-US" dirty="0"/>
              <a:t>() {</a:t>
            </a:r>
          </a:p>
          <a:p>
            <a:r>
              <a:rPr lang="en-US" dirty="0"/>
              <a:t>        return email;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setEmail</a:t>
            </a:r>
            <a:r>
              <a:rPr lang="en-US" dirty="0"/>
              <a:t>(String email) {</a:t>
            </a:r>
          </a:p>
          <a:p>
            <a:r>
              <a:rPr lang="en-US" dirty="0"/>
              <a:t>        </a:t>
            </a:r>
            <a:r>
              <a:rPr lang="en-US" dirty="0" err="1"/>
              <a:t>this.email</a:t>
            </a:r>
            <a:r>
              <a:rPr lang="en-US" dirty="0"/>
              <a:t> = email;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---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org.springframework.web.bind.annotation</a:t>
            </a:r>
            <a:r>
              <a:rPr lang="en-US" dirty="0"/>
              <a:t>.*;</a:t>
            </a:r>
          </a:p>
          <a:p>
            <a:r>
              <a:rPr lang="en-US" dirty="0"/>
              <a:t>import </a:t>
            </a:r>
            <a:r>
              <a:rPr lang="en-US" dirty="0" err="1"/>
              <a:t>java.util.HashMap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java.util.Map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@RestController</a:t>
            </a:r>
          </a:p>
          <a:p>
            <a:r>
              <a:rPr lang="en-US" dirty="0"/>
              <a:t>@RequestMapping("/api/users")</a:t>
            </a:r>
          </a:p>
          <a:p>
            <a:r>
              <a:rPr lang="en-US" dirty="0"/>
              <a:t>public class </a:t>
            </a:r>
            <a:r>
              <a:rPr lang="en-US" dirty="0" err="1"/>
              <a:t>UserController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// </a:t>
            </a:r>
            <a:r>
              <a:rPr lang="ko-KR" altLang="en-US" dirty="0"/>
              <a:t>사용자 정보를 저장할 간단한 메모리 저장소</a:t>
            </a:r>
          </a:p>
          <a:p>
            <a:r>
              <a:rPr lang="ko-KR" altLang="en-US" dirty="0"/>
              <a:t>    </a:t>
            </a:r>
            <a:r>
              <a:rPr lang="en-US" dirty="0"/>
              <a:t>private Map&lt;String, </a:t>
            </a:r>
            <a:r>
              <a:rPr lang="en-US" dirty="0" err="1"/>
              <a:t>UserDTO</a:t>
            </a:r>
            <a:r>
              <a:rPr lang="en-US" dirty="0"/>
              <a:t>&gt; </a:t>
            </a:r>
            <a:r>
              <a:rPr lang="en-US" dirty="0" err="1"/>
              <a:t>userStore</a:t>
            </a:r>
            <a:r>
              <a:rPr lang="en-US" dirty="0"/>
              <a:t> = new HashMap&lt;&gt;();</a:t>
            </a:r>
          </a:p>
          <a:p>
            <a:endParaRPr lang="en-US" dirty="0"/>
          </a:p>
          <a:p>
            <a:r>
              <a:rPr lang="en-US" dirty="0"/>
              <a:t>    @PostMapping("/signup")</a:t>
            </a:r>
          </a:p>
          <a:p>
            <a:r>
              <a:rPr lang="en-US" dirty="0"/>
              <a:t>    public String </a:t>
            </a:r>
            <a:r>
              <a:rPr lang="en-US" dirty="0" err="1"/>
              <a:t>signUp</a:t>
            </a:r>
            <a:r>
              <a:rPr lang="en-US" dirty="0"/>
              <a:t>(@RequestBody </a:t>
            </a:r>
            <a:r>
              <a:rPr lang="en-US" dirty="0" err="1"/>
              <a:t>UserDTO</a:t>
            </a:r>
            <a:r>
              <a:rPr lang="en-US" dirty="0"/>
              <a:t> </a:t>
            </a:r>
            <a:r>
              <a:rPr lang="en-US" dirty="0" err="1"/>
              <a:t>userDTO</a:t>
            </a:r>
            <a:r>
              <a:rPr lang="en-US" dirty="0"/>
              <a:t>) {</a:t>
            </a:r>
          </a:p>
          <a:p>
            <a:r>
              <a:rPr lang="en-US" dirty="0"/>
              <a:t>        if (</a:t>
            </a:r>
            <a:r>
              <a:rPr lang="en-US" dirty="0" err="1"/>
              <a:t>userStore.containsKey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())) {</a:t>
            </a:r>
          </a:p>
          <a:p>
            <a:r>
              <a:rPr lang="en-US" dirty="0"/>
              <a:t>            return "</a:t>
            </a:r>
            <a:r>
              <a:rPr lang="ko-KR" altLang="en-US" dirty="0"/>
              <a:t>이미 존재하는 사용자명입니다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  </a:t>
            </a:r>
            <a:r>
              <a:rPr lang="en-US" dirty="0" err="1"/>
              <a:t>userStore.put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(), </a:t>
            </a:r>
            <a:r>
              <a:rPr lang="en-US" dirty="0" err="1"/>
              <a:t>userDTO</a:t>
            </a:r>
            <a:r>
              <a:rPr lang="en-US" dirty="0"/>
              <a:t>);</a:t>
            </a:r>
          </a:p>
          <a:p>
            <a:r>
              <a:rPr lang="en-US" dirty="0"/>
              <a:t>        return "</a:t>
            </a:r>
            <a:r>
              <a:rPr lang="ko-KR" altLang="en-US" dirty="0"/>
              <a:t>회원가입이 완료되었습니다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}</a:t>
            </a:r>
          </a:p>
          <a:p>
            <a:endParaRPr lang="en-US" altLang="ko-KR" dirty="0"/>
          </a:p>
          <a:p>
            <a:r>
              <a:rPr lang="en-US" altLang="ko-KR" dirty="0"/>
              <a:t>    @</a:t>
            </a:r>
            <a:r>
              <a:rPr lang="en-US" dirty="0"/>
              <a:t>PostMapping("/login")</a:t>
            </a:r>
          </a:p>
          <a:p>
            <a:r>
              <a:rPr lang="en-US" dirty="0"/>
              <a:t>    public String login(@RequestBody </a:t>
            </a:r>
            <a:r>
              <a:rPr lang="en-US" dirty="0" err="1"/>
              <a:t>UserDTO</a:t>
            </a:r>
            <a:r>
              <a:rPr lang="en-US" dirty="0"/>
              <a:t> </a:t>
            </a:r>
            <a:r>
              <a:rPr lang="en-US" dirty="0" err="1"/>
              <a:t>userDTO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UserDTO</a:t>
            </a:r>
            <a:r>
              <a:rPr lang="en-US" dirty="0"/>
              <a:t> </a:t>
            </a:r>
            <a:r>
              <a:rPr lang="en-US" dirty="0" err="1"/>
              <a:t>storedUser</a:t>
            </a:r>
            <a:r>
              <a:rPr lang="en-US" dirty="0"/>
              <a:t> = </a:t>
            </a:r>
            <a:r>
              <a:rPr lang="en-US" dirty="0" err="1"/>
              <a:t>userStore.get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());</a:t>
            </a:r>
          </a:p>
          <a:p>
            <a:r>
              <a:rPr lang="en-US" dirty="0"/>
              <a:t>        if (</a:t>
            </a:r>
            <a:r>
              <a:rPr lang="en-US" dirty="0" err="1"/>
              <a:t>storedUser</a:t>
            </a:r>
            <a:r>
              <a:rPr lang="en-US" dirty="0"/>
              <a:t> == null) {</a:t>
            </a:r>
          </a:p>
          <a:p>
            <a:r>
              <a:rPr lang="en-US" dirty="0"/>
              <a:t>            return "</a:t>
            </a:r>
            <a:r>
              <a:rPr lang="ko-KR" altLang="en-US" dirty="0"/>
              <a:t>사용자를 찾을 수 없습니다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  </a:t>
            </a:r>
            <a:r>
              <a:rPr lang="en-US" dirty="0"/>
              <a:t>if (!</a:t>
            </a:r>
            <a:r>
              <a:rPr lang="en-US" dirty="0" err="1"/>
              <a:t>storedUser.getPassword</a:t>
            </a:r>
            <a:r>
              <a:rPr lang="en-US" dirty="0"/>
              <a:t>().equals(</a:t>
            </a:r>
            <a:r>
              <a:rPr lang="en-US" dirty="0" err="1"/>
              <a:t>userDTO.getPassword</a:t>
            </a:r>
            <a:r>
              <a:rPr lang="en-US" dirty="0"/>
              <a:t>())) {</a:t>
            </a:r>
          </a:p>
          <a:p>
            <a:r>
              <a:rPr lang="en-US" dirty="0"/>
              <a:t>            return "</a:t>
            </a:r>
            <a:r>
              <a:rPr lang="ko-KR" altLang="en-US" dirty="0"/>
              <a:t>비밀번호가 일치하지 않습니다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  </a:t>
            </a:r>
            <a:r>
              <a:rPr lang="en-US" dirty="0"/>
              <a:t>return "</a:t>
            </a:r>
            <a:r>
              <a:rPr lang="ko-KR" altLang="en-US" dirty="0"/>
              <a:t>로그인에 성공하였습니다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}</a:t>
            </a:r>
          </a:p>
          <a:p>
            <a:endParaRPr lang="en-US" altLang="ko-KR" dirty="0"/>
          </a:p>
          <a:p>
            <a:r>
              <a:rPr lang="en-US" altLang="ko-KR" dirty="0"/>
              <a:t>    @</a:t>
            </a:r>
            <a:r>
              <a:rPr lang="en-US" dirty="0"/>
              <a:t>PutMapping("/update")</a:t>
            </a:r>
          </a:p>
          <a:p>
            <a:r>
              <a:rPr lang="en-US" dirty="0"/>
              <a:t>    public String </a:t>
            </a:r>
            <a:r>
              <a:rPr lang="en-US" dirty="0" err="1"/>
              <a:t>updateUser</a:t>
            </a:r>
            <a:r>
              <a:rPr lang="en-US" dirty="0"/>
              <a:t>(@RequestBody </a:t>
            </a:r>
            <a:r>
              <a:rPr lang="en-US" dirty="0" err="1"/>
              <a:t>UserDTO</a:t>
            </a:r>
            <a:r>
              <a:rPr lang="en-US" dirty="0"/>
              <a:t> </a:t>
            </a:r>
            <a:r>
              <a:rPr lang="en-US" dirty="0" err="1"/>
              <a:t>userDTO</a:t>
            </a:r>
            <a:r>
              <a:rPr lang="en-US" dirty="0"/>
              <a:t>) {</a:t>
            </a:r>
          </a:p>
          <a:p>
            <a:r>
              <a:rPr lang="en-US" dirty="0"/>
              <a:t>        if (!</a:t>
            </a:r>
            <a:r>
              <a:rPr lang="en-US" dirty="0" err="1"/>
              <a:t>userStore.containsKey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())) {</a:t>
            </a:r>
          </a:p>
          <a:p>
            <a:r>
              <a:rPr lang="en-US" dirty="0"/>
              <a:t>            return "</a:t>
            </a:r>
            <a:r>
              <a:rPr lang="ko-KR" altLang="en-US" dirty="0"/>
              <a:t>사용자를 찾을 수 없습니다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  </a:t>
            </a:r>
            <a:r>
              <a:rPr lang="en-US" dirty="0" err="1"/>
              <a:t>userStore.put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(), </a:t>
            </a:r>
            <a:r>
              <a:rPr lang="en-US" dirty="0" err="1"/>
              <a:t>userDTO</a:t>
            </a:r>
            <a:r>
              <a:rPr lang="en-US" dirty="0"/>
              <a:t>);</a:t>
            </a:r>
          </a:p>
          <a:p>
            <a:r>
              <a:rPr lang="en-US" dirty="0"/>
              <a:t>        return "</a:t>
            </a:r>
            <a:r>
              <a:rPr lang="ko-KR" altLang="en-US" dirty="0"/>
              <a:t>회원 정보가 수정되었습니다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}</a:t>
            </a:r>
          </a:p>
          <a:p>
            <a:endParaRPr lang="en-US" altLang="ko-KR" dirty="0"/>
          </a:p>
          <a:p>
            <a:r>
              <a:rPr lang="en-US" altLang="ko-KR" dirty="0"/>
              <a:t>    @</a:t>
            </a:r>
            <a:r>
              <a:rPr lang="en-US" dirty="0"/>
              <a:t>DeleteMapping("/delete")</a:t>
            </a:r>
          </a:p>
          <a:p>
            <a:r>
              <a:rPr lang="en-US" dirty="0"/>
              <a:t>    public String </a:t>
            </a:r>
            <a:r>
              <a:rPr lang="en-US" dirty="0" err="1"/>
              <a:t>deleteUser</a:t>
            </a:r>
            <a:r>
              <a:rPr lang="en-US" dirty="0"/>
              <a:t>(@RequestBody </a:t>
            </a:r>
            <a:r>
              <a:rPr lang="en-US" dirty="0" err="1"/>
              <a:t>UserDTO</a:t>
            </a:r>
            <a:r>
              <a:rPr lang="en-US" dirty="0"/>
              <a:t> </a:t>
            </a:r>
            <a:r>
              <a:rPr lang="en-US" dirty="0" err="1"/>
              <a:t>userDTO</a:t>
            </a:r>
            <a:r>
              <a:rPr lang="en-US" dirty="0"/>
              <a:t>) {</a:t>
            </a:r>
          </a:p>
          <a:p>
            <a:r>
              <a:rPr lang="en-US" dirty="0"/>
              <a:t>        if (!</a:t>
            </a:r>
            <a:r>
              <a:rPr lang="en-US" dirty="0" err="1"/>
              <a:t>userStore.containsKey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())) {</a:t>
            </a:r>
          </a:p>
          <a:p>
            <a:r>
              <a:rPr lang="en-US" dirty="0"/>
              <a:t>            return "</a:t>
            </a:r>
            <a:r>
              <a:rPr lang="ko-KR" altLang="en-US" dirty="0"/>
              <a:t>사용자를 찾을 수 없습니다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  </a:t>
            </a:r>
            <a:r>
              <a:rPr lang="en-US" dirty="0" err="1"/>
              <a:t>userStore.remove</a:t>
            </a:r>
            <a:r>
              <a:rPr lang="en-US" dirty="0"/>
              <a:t>(</a:t>
            </a:r>
            <a:r>
              <a:rPr lang="en-US" dirty="0" err="1"/>
              <a:t>userDTO.getUsername</a:t>
            </a:r>
            <a:r>
              <a:rPr lang="en-US" dirty="0"/>
              <a:t>());</a:t>
            </a:r>
          </a:p>
          <a:p>
            <a:r>
              <a:rPr lang="en-US" dirty="0"/>
              <a:t>        return "</a:t>
            </a:r>
            <a:r>
              <a:rPr lang="ko-KR" altLang="en-US" dirty="0"/>
              <a:t>회원 탈퇴가 완료되었습니다</a:t>
            </a:r>
            <a:r>
              <a:rPr lang="en-US" altLang="ko-KR" dirty="0"/>
              <a:t>.";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}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304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백 프로젝트만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3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7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77600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3575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7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83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8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88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1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81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98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041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03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8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introduc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/>
              <a:t>CodingOn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44569-1CB5-5A20-33DD-BE4E7D5F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9285F5-37AA-048C-51D2-7FB61233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BAAC196-B16D-20AB-9C7B-4AF11003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  <a:br>
              <a:rPr lang="en-US" dirty="0"/>
            </a:br>
            <a:r>
              <a:rPr lang="en-US" dirty="0"/>
              <a:t>Content-Type</a:t>
            </a:r>
          </a:p>
        </p:txBody>
      </p:sp>
    </p:spTree>
    <p:extLst>
      <p:ext uri="{BB962C8B-B14F-4D97-AF65-F5344CB8AC3E}">
        <p14:creationId xmlns:p14="http://schemas.microsoft.com/office/powerpoint/2010/main" val="375040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E270FD5-AF10-F388-9D0F-05A1C43E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M</a:t>
            </a:r>
            <a:r>
              <a:rPr lang="en-US" sz="2000" dirty="0"/>
              <a:t>ultipurpose </a:t>
            </a:r>
            <a:r>
              <a:rPr lang="en-US" sz="2000" dirty="0">
                <a:solidFill>
                  <a:schemeClr val="accent1"/>
                </a:solidFill>
              </a:rPr>
              <a:t>I</a:t>
            </a:r>
            <a:r>
              <a:rPr lang="en-US" sz="2000" dirty="0"/>
              <a:t>nternet </a:t>
            </a:r>
            <a:r>
              <a:rPr lang="en-US" sz="2000" dirty="0">
                <a:solidFill>
                  <a:schemeClr val="accent1"/>
                </a:solidFill>
              </a:rPr>
              <a:t>M</a:t>
            </a:r>
            <a:r>
              <a:rPr lang="en-US" sz="2000" dirty="0"/>
              <a:t>ain </a:t>
            </a:r>
            <a:r>
              <a:rPr lang="en-US" sz="2000" dirty="0">
                <a:solidFill>
                  <a:schemeClr val="accent1"/>
                </a:solidFill>
              </a:rPr>
              <a:t>E</a:t>
            </a:r>
            <a:r>
              <a:rPr lang="en-US" sz="2000" dirty="0"/>
              <a:t>xtensions </a:t>
            </a:r>
          </a:p>
          <a:p>
            <a:r>
              <a:rPr lang="ko-KR" altLang="en-US" sz="2000" dirty="0"/>
              <a:t>인터넷에서 파일의 형식을 나타내는 표준</a:t>
            </a:r>
            <a:endParaRPr lang="en-US" altLang="ko-KR" sz="2000" dirty="0"/>
          </a:p>
          <a:p>
            <a:r>
              <a:rPr lang="ko-KR" altLang="en-US" sz="2000" dirty="0"/>
              <a:t>이메일에 첨부된 파일의 형식을 나타내기 위해 처음 개발되었으나 현재는 웹에서 광범위하게 사용됨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text/plain, text/html</a:t>
            </a:r>
          </a:p>
          <a:p>
            <a:r>
              <a:rPr lang="en-US" altLang="ko-KR" sz="2000" dirty="0"/>
              <a:t>image/jpeg, image/</a:t>
            </a:r>
            <a:r>
              <a:rPr lang="en-US" altLang="ko-KR" sz="2000" dirty="0" err="1"/>
              <a:t>png</a:t>
            </a:r>
            <a:endParaRPr lang="en-US" altLang="ko-KR" sz="2000" dirty="0"/>
          </a:p>
          <a:p>
            <a:r>
              <a:rPr lang="en-US" altLang="ko-KR" sz="2000" dirty="0"/>
              <a:t>audio/mpeg</a:t>
            </a:r>
          </a:p>
          <a:p>
            <a:r>
              <a:rPr lang="en-US" altLang="ko-KR" sz="2000" dirty="0"/>
              <a:t>video/mp4</a:t>
            </a:r>
          </a:p>
          <a:p>
            <a:r>
              <a:rPr lang="en-US" altLang="ko-KR" sz="2000" dirty="0"/>
              <a:t>application/pdf, application/vnd.ms-excel, application/</a:t>
            </a:r>
            <a:r>
              <a:rPr lang="en-US" altLang="ko-KR" sz="2000" dirty="0" err="1"/>
              <a:t>json</a:t>
            </a:r>
            <a:r>
              <a:rPr lang="en-US" altLang="ko-KR" sz="2000" dirty="0"/>
              <a:t>, application/zip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DACDC3-F6D1-594C-F8A8-C46EDEF2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26C9A0-46A3-0F29-022B-361A5BED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425DC78-2028-FB99-A95A-9C1449D6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dirty="0"/>
              <a:t>. MIME Type</a:t>
            </a:r>
          </a:p>
        </p:txBody>
      </p:sp>
    </p:spTree>
    <p:extLst>
      <p:ext uri="{BB962C8B-B14F-4D97-AF65-F5344CB8AC3E}">
        <p14:creationId xmlns:p14="http://schemas.microsoft.com/office/powerpoint/2010/main" val="44285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52FD951-89C0-B902-65D2-C70F52B7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요청 바디에 들어가는 타입을 요청 헤더의 </a:t>
            </a:r>
            <a:r>
              <a:rPr lang="en-US" altLang="ko-KR" sz="2000" dirty="0"/>
              <a:t>Content-Type </a:t>
            </a:r>
            <a:r>
              <a:rPr lang="ko-KR" altLang="en-US" sz="2000" dirty="0"/>
              <a:t>에서 명시</a:t>
            </a:r>
            <a:endParaRPr lang="en-US" altLang="ko-KR" sz="2000" dirty="0"/>
          </a:p>
          <a:p>
            <a:r>
              <a:rPr lang="en-US" altLang="ko-KR" sz="2000" dirty="0"/>
              <a:t>Content-Type </a:t>
            </a:r>
            <a:r>
              <a:rPr lang="ko-KR" altLang="en-US" sz="2000" dirty="0"/>
              <a:t>는 </a:t>
            </a:r>
            <a:r>
              <a:rPr lang="en-US" altLang="ko-KR" sz="2000" dirty="0"/>
              <a:t>HTTP </a:t>
            </a:r>
            <a:r>
              <a:rPr lang="ko-KR" altLang="en-US" sz="2000" dirty="0"/>
              <a:t>통신에서 </a:t>
            </a:r>
            <a:r>
              <a:rPr lang="en-US" altLang="ko-KR" sz="2000" dirty="0"/>
              <a:t>MIME Type </a:t>
            </a:r>
            <a:r>
              <a:rPr lang="ko-KR" altLang="en-US" sz="2000" dirty="0"/>
              <a:t>값을 전달하는 헤더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일반 텍스트 및 </a:t>
            </a:r>
            <a:r>
              <a:rPr lang="en-US" altLang="ko-KR" sz="2000" dirty="0"/>
              <a:t>HTML</a:t>
            </a:r>
          </a:p>
          <a:p>
            <a:pPr lvl="1"/>
            <a:r>
              <a:rPr lang="en-US" altLang="ko-KR" sz="1800" dirty="0">
                <a:solidFill>
                  <a:schemeClr val="accent1"/>
                </a:solidFill>
              </a:rPr>
              <a:t>text/plain</a:t>
            </a:r>
            <a:r>
              <a:rPr lang="en-US" altLang="ko-KR" sz="1800" dirty="0"/>
              <a:t> : </a:t>
            </a:r>
            <a:r>
              <a:rPr lang="ko-KR" altLang="en-US" sz="1800" dirty="0"/>
              <a:t>일반 텍스트</a:t>
            </a:r>
            <a:endParaRPr lang="en-US" altLang="ko-KR" sz="1800" dirty="0"/>
          </a:p>
          <a:p>
            <a:pPr lvl="1"/>
            <a:r>
              <a:rPr lang="en-US" altLang="ko-KR" sz="1800" dirty="0">
                <a:solidFill>
                  <a:schemeClr val="accent1"/>
                </a:solidFill>
              </a:rPr>
              <a:t>text/html</a:t>
            </a:r>
            <a:r>
              <a:rPr lang="en-US" altLang="ko-KR" sz="1800" dirty="0"/>
              <a:t> : HTML </a:t>
            </a:r>
            <a:r>
              <a:rPr lang="ko-KR" altLang="en-US" sz="1800" dirty="0"/>
              <a:t>문서</a:t>
            </a:r>
            <a:endParaRPr lang="en-US" altLang="ko-KR" sz="1800" dirty="0"/>
          </a:p>
          <a:p>
            <a:r>
              <a:rPr lang="ko-KR" altLang="en-US" sz="2000" dirty="0"/>
              <a:t>폼 데이터</a:t>
            </a:r>
            <a:endParaRPr lang="en-US" altLang="ko-KR" sz="2000" dirty="0"/>
          </a:p>
          <a:p>
            <a:pPr lvl="1"/>
            <a:r>
              <a:rPr lang="en-US" altLang="ko-KR" sz="1800" b="1" dirty="0">
                <a:solidFill>
                  <a:schemeClr val="accent1"/>
                </a:solidFill>
              </a:rPr>
              <a:t>application/x-www-form-</a:t>
            </a:r>
            <a:r>
              <a:rPr lang="en-US" altLang="ko-KR" sz="1800" b="1" dirty="0" err="1">
                <a:solidFill>
                  <a:schemeClr val="accent1"/>
                </a:solidFill>
              </a:rPr>
              <a:t>urlencoded</a:t>
            </a:r>
            <a:r>
              <a:rPr lang="en-US" altLang="ko-KR" sz="1800" dirty="0"/>
              <a:t> : URL </a:t>
            </a:r>
            <a:r>
              <a:rPr lang="ko-KR" altLang="en-US" sz="1800" dirty="0" err="1"/>
              <a:t>인코딩된</a:t>
            </a:r>
            <a:r>
              <a:rPr lang="ko-KR" altLang="en-US" sz="1800" dirty="0"/>
              <a:t> 폼 데이터 </a:t>
            </a:r>
            <a:r>
              <a:rPr lang="en-US" altLang="ko-KR" sz="1800" dirty="0"/>
              <a:t>(</a:t>
            </a:r>
            <a:r>
              <a:rPr lang="ko-KR" altLang="en-US" sz="1800" dirty="0"/>
              <a:t>기본 폼 제출 방식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b="1" dirty="0">
                <a:solidFill>
                  <a:schemeClr val="accent1"/>
                </a:solidFill>
              </a:rPr>
              <a:t>multipart/form-data</a:t>
            </a:r>
            <a:r>
              <a:rPr lang="en-US" altLang="ko-KR" sz="1800" dirty="0"/>
              <a:t> : </a:t>
            </a:r>
            <a:r>
              <a:rPr lang="ko-KR" altLang="en-US" sz="1800" dirty="0"/>
              <a:t>파일 업로드와 같은 바이너리 데이터 포함 폼 데이터</a:t>
            </a:r>
            <a:endParaRPr lang="en-US" altLang="ko-KR" sz="1800" dirty="0"/>
          </a:p>
          <a:p>
            <a:r>
              <a:rPr lang="en-US" altLang="ko-KR" sz="2000" dirty="0"/>
              <a:t>JSON </a:t>
            </a:r>
            <a:r>
              <a:rPr lang="ko-KR" altLang="en-US" sz="2000" dirty="0"/>
              <a:t>및 </a:t>
            </a:r>
            <a:r>
              <a:rPr lang="en-US" altLang="ko-KR" sz="2000" dirty="0"/>
              <a:t>XML</a:t>
            </a:r>
          </a:p>
          <a:p>
            <a:pPr lvl="1"/>
            <a:r>
              <a:rPr lang="en-US" altLang="ko-KR" sz="1800" b="1" dirty="0">
                <a:solidFill>
                  <a:schemeClr val="accent1"/>
                </a:solidFill>
              </a:rPr>
              <a:t>application/</a:t>
            </a:r>
            <a:r>
              <a:rPr lang="en-US" altLang="ko-KR" sz="1800" b="1" dirty="0" err="1">
                <a:solidFill>
                  <a:schemeClr val="accent1"/>
                </a:solidFill>
              </a:rPr>
              <a:t>json</a:t>
            </a:r>
            <a:r>
              <a:rPr lang="en-US" altLang="ko-KR" sz="1800" dirty="0"/>
              <a:t> :</a:t>
            </a:r>
            <a:r>
              <a:rPr lang="ko-KR" altLang="en-US" sz="1800" dirty="0"/>
              <a:t> </a:t>
            </a:r>
            <a:r>
              <a:rPr lang="en-US" altLang="ko-KR" sz="1800" dirty="0"/>
              <a:t>JSON</a:t>
            </a:r>
            <a:r>
              <a:rPr lang="ko-KR" altLang="en-US" sz="1800" dirty="0"/>
              <a:t> 형식의 데이터</a:t>
            </a:r>
            <a:endParaRPr lang="en-US" altLang="ko-KR" sz="1800" dirty="0"/>
          </a:p>
          <a:p>
            <a:pPr lvl="1"/>
            <a:r>
              <a:rPr lang="en-US" altLang="ko-KR" sz="1800" dirty="0">
                <a:solidFill>
                  <a:schemeClr val="accent1"/>
                </a:solidFill>
              </a:rPr>
              <a:t>application/xml</a:t>
            </a:r>
            <a:r>
              <a:rPr lang="en-US" altLang="ko-KR" sz="1800" dirty="0"/>
              <a:t> : XML </a:t>
            </a:r>
            <a:r>
              <a:rPr lang="ko-KR" altLang="en-US" sz="1800" dirty="0"/>
              <a:t>형식의 데이터</a:t>
            </a:r>
            <a:endParaRPr lang="en-US" altLang="ko-KR" sz="1800" dirty="0"/>
          </a:p>
          <a:p>
            <a:pPr lvl="1"/>
            <a:endParaRPr lang="ko-KR" altLang="en-US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8B4D43-5F7F-D92C-C752-8A5C536D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F2810-9976-FDFF-F5AB-C6EE9D80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3633C54-08C0-09A7-A7FC-2075AB82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 Content-Type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3D1BF3-1F30-B476-2EB6-B0BA26032ED3}"/>
              </a:ext>
            </a:extLst>
          </p:cNvPr>
          <p:cNvGrpSpPr/>
          <p:nvPr/>
        </p:nvGrpSpPr>
        <p:grpSpPr>
          <a:xfrm>
            <a:off x="8610600" y="667223"/>
            <a:ext cx="3445485" cy="2401481"/>
            <a:chOff x="7947921" y="2706119"/>
            <a:chExt cx="3445485" cy="240148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B81FA6-32F5-0594-7027-55ECDA09E487}"/>
                </a:ext>
              </a:extLst>
            </p:cNvPr>
            <p:cNvSpPr txBox="1"/>
            <p:nvPr/>
          </p:nvSpPr>
          <p:spPr>
            <a:xfrm>
              <a:off x="7947921" y="2706119"/>
              <a:ext cx="2675858" cy="21236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POST /</a:t>
              </a:r>
              <a:r>
                <a:rPr lang="ko-KR" altLang="en-US" sz="1200" dirty="0" err="1"/>
                <a:t>api</a:t>
              </a:r>
              <a:r>
                <a:rPr lang="ko-KR" altLang="en-US" sz="1200" dirty="0"/>
                <a:t>/</a:t>
              </a:r>
              <a:r>
                <a:rPr lang="ko-KR" altLang="en-US" sz="1200" dirty="0" err="1"/>
                <a:t>users</a:t>
              </a:r>
              <a:r>
                <a:rPr lang="ko-KR" altLang="en-US" sz="1200" dirty="0"/>
                <a:t> HTTP/1.1</a:t>
              </a:r>
            </a:p>
            <a:p>
              <a:r>
                <a:rPr lang="ko-KR" altLang="en-US" sz="1200" dirty="0"/>
                <a:t>Host: </a:t>
              </a:r>
              <a:r>
                <a:rPr lang="ko-KR" altLang="en-US" sz="1200" dirty="0" err="1"/>
                <a:t>example.com</a:t>
              </a:r>
              <a:endParaRPr lang="ko-KR" altLang="en-US" sz="1200" dirty="0"/>
            </a:p>
            <a:p>
              <a:r>
                <a:rPr lang="ko-KR" altLang="en-US" sz="1200" dirty="0" err="1"/>
                <a:t>User-Agent</a:t>
              </a:r>
              <a:r>
                <a:rPr lang="ko-KR" altLang="en-US" sz="1200" dirty="0"/>
                <a:t>: </a:t>
              </a:r>
              <a:r>
                <a:rPr lang="ko-KR" altLang="en-US" sz="1200" dirty="0" err="1"/>
                <a:t>Mozilla</a:t>
              </a:r>
              <a:r>
                <a:rPr lang="ko-KR" altLang="en-US" sz="1200" dirty="0"/>
                <a:t>/5.0</a:t>
              </a:r>
            </a:p>
            <a:p>
              <a:r>
                <a:rPr lang="ko-KR" altLang="en-US" sz="1200" dirty="0" err="1">
                  <a:solidFill>
                    <a:schemeClr val="accent5"/>
                  </a:solidFill>
                </a:rPr>
                <a:t>Content-Type</a:t>
              </a:r>
              <a:r>
                <a:rPr lang="ko-KR" altLang="en-US" sz="1200" dirty="0">
                  <a:solidFill>
                    <a:schemeClr val="accent5"/>
                  </a:solidFill>
                </a:rPr>
                <a:t>: </a:t>
              </a:r>
              <a:r>
                <a:rPr lang="ko-KR" altLang="en-US" sz="1200" dirty="0" err="1">
                  <a:solidFill>
                    <a:schemeClr val="accent5"/>
                  </a:solidFill>
                </a:rPr>
                <a:t>application</a:t>
              </a:r>
              <a:r>
                <a:rPr lang="ko-KR" altLang="en-US" sz="1200" dirty="0">
                  <a:solidFill>
                    <a:schemeClr val="accent5"/>
                  </a:solidFill>
                </a:rPr>
                <a:t>/</a:t>
              </a:r>
              <a:r>
                <a:rPr lang="ko-KR" altLang="en-US" sz="1200" dirty="0" err="1">
                  <a:solidFill>
                    <a:schemeClr val="accent5"/>
                  </a:solidFill>
                </a:rPr>
                <a:t>json</a:t>
              </a:r>
              <a:endParaRPr lang="ko-KR" altLang="en-US" sz="1200" dirty="0">
                <a:solidFill>
                  <a:schemeClr val="accent5"/>
                </a:solidFill>
              </a:endParaRPr>
            </a:p>
            <a:p>
              <a:r>
                <a:rPr lang="ko-KR" altLang="en-US" sz="1200" dirty="0" err="1"/>
                <a:t>Content-Length</a:t>
              </a:r>
              <a:r>
                <a:rPr lang="ko-KR" altLang="en-US" sz="1200" dirty="0"/>
                <a:t>: 57</a:t>
              </a:r>
            </a:p>
            <a:p>
              <a:r>
                <a:rPr lang="ko-KR" altLang="en-US" sz="1200" dirty="0" err="1"/>
                <a:t>Accept</a:t>
              </a:r>
              <a:r>
                <a:rPr lang="ko-KR" altLang="en-US" sz="1200" dirty="0"/>
                <a:t>: </a:t>
              </a:r>
              <a:r>
                <a:rPr lang="ko-KR" altLang="en-US" sz="1200" dirty="0" err="1"/>
                <a:t>application</a:t>
              </a:r>
              <a:r>
                <a:rPr lang="ko-KR" altLang="en-US" sz="1200" dirty="0"/>
                <a:t>/</a:t>
              </a:r>
              <a:r>
                <a:rPr lang="ko-KR" altLang="en-US" sz="1200" dirty="0" err="1"/>
                <a:t>json</a:t>
              </a:r>
              <a:endParaRPr lang="ko-KR" altLang="en-US" sz="1200" dirty="0"/>
            </a:p>
            <a:p>
              <a:endParaRPr lang="ko-KR" altLang="en-US" sz="1200" dirty="0"/>
            </a:p>
            <a:p>
              <a:r>
                <a:rPr lang="ko-KR" altLang="en-US" sz="1200" dirty="0"/>
                <a:t>{</a:t>
              </a:r>
            </a:p>
            <a:p>
              <a:r>
                <a:rPr lang="ko-KR" altLang="en-US" sz="1200" dirty="0"/>
                <a:t>  "</a:t>
              </a:r>
              <a:r>
                <a:rPr lang="ko-KR" altLang="en-US" sz="1200" dirty="0" err="1"/>
                <a:t>name</a:t>
              </a:r>
              <a:r>
                <a:rPr lang="ko-KR" altLang="en-US" sz="1200" dirty="0"/>
                <a:t>": "</a:t>
              </a:r>
              <a:r>
                <a:rPr lang="ko-KR" altLang="en-US" sz="1200" dirty="0" err="1"/>
                <a:t>Jane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Doe</a:t>
              </a:r>
              <a:r>
                <a:rPr lang="ko-KR" altLang="en-US" sz="1200" dirty="0"/>
                <a:t>",</a:t>
              </a:r>
            </a:p>
            <a:p>
              <a:r>
                <a:rPr lang="ko-KR" altLang="en-US" sz="1200" dirty="0"/>
                <a:t>  "</a:t>
              </a:r>
              <a:r>
                <a:rPr lang="ko-KR" altLang="en-US" sz="1200" dirty="0" err="1"/>
                <a:t>email</a:t>
              </a:r>
              <a:r>
                <a:rPr lang="ko-KR" altLang="en-US" sz="1200" dirty="0"/>
                <a:t>": "</a:t>
              </a:r>
              <a:r>
                <a:rPr lang="ko-KR" altLang="en-US" sz="1200" dirty="0" err="1"/>
                <a:t>jane.doe@example.com</a:t>
              </a:r>
              <a:r>
                <a:rPr lang="ko-KR" altLang="en-US" sz="1200" dirty="0"/>
                <a:t>"</a:t>
              </a:r>
            </a:p>
            <a:p>
              <a:r>
                <a:rPr lang="ko-KR" altLang="en-US" sz="1200" dirty="0"/>
                <a:t>}</a:t>
              </a:r>
            </a:p>
          </p:txBody>
        </p:sp>
        <p:sp>
          <p:nvSpPr>
            <p:cNvPr id="17" name="오른쪽 중괄호[R] 7">
              <a:extLst>
                <a:ext uri="{FF2B5EF4-FFF2-40B4-BE49-F238E27FC236}">
                  <a16:creationId xmlns:a16="http://schemas.microsoft.com/office/drawing/2014/main" id="{B2DF3632-E077-ACF3-122E-0D495AD9F342}"/>
                </a:ext>
              </a:extLst>
            </p:cNvPr>
            <p:cNvSpPr/>
            <p:nvPr/>
          </p:nvSpPr>
          <p:spPr>
            <a:xfrm>
              <a:off x="10460546" y="2706119"/>
              <a:ext cx="163233" cy="214948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오른쪽 중괄호[R] 8">
              <a:extLst>
                <a:ext uri="{FF2B5EF4-FFF2-40B4-BE49-F238E27FC236}">
                  <a16:creationId xmlns:a16="http://schemas.microsoft.com/office/drawing/2014/main" id="{FC10A069-4D1F-5B85-D96C-01A9BAC6EFB2}"/>
                </a:ext>
              </a:extLst>
            </p:cNvPr>
            <p:cNvSpPr/>
            <p:nvPr/>
          </p:nvSpPr>
          <p:spPr>
            <a:xfrm>
              <a:off x="10468426" y="2975717"/>
              <a:ext cx="148522" cy="807835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오른쪽 중괄호[R] 9">
              <a:extLst>
                <a:ext uri="{FF2B5EF4-FFF2-40B4-BE49-F238E27FC236}">
                  <a16:creationId xmlns:a16="http://schemas.microsoft.com/office/drawing/2014/main" id="{8D9B1FC4-EA05-7E29-F25E-657A2B2DAA7B}"/>
                </a:ext>
              </a:extLst>
            </p:cNvPr>
            <p:cNvSpPr/>
            <p:nvPr/>
          </p:nvSpPr>
          <p:spPr>
            <a:xfrm>
              <a:off x="10468426" y="4040566"/>
              <a:ext cx="163233" cy="784493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32B10F-240A-8A32-A92C-B01FFEAB7796}"/>
                </a:ext>
              </a:extLst>
            </p:cNvPr>
            <p:cNvSpPr txBox="1"/>
            <p:nvPr/>
          </p:nvSpPr>
          <p:spPr>
            <a:xfrm>
              <a:off x="10631658" y="2706119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accent1"/>
                  </a:solidFill>
                </a:rPr>
                <a:t>요청 라인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23B38D-5198-3CCD-97F9-0D80E93DD5CC}"/>
                </a:ext>
              </a:extLst>
            </p:cNvPr>
            <p:cNvSpPr txBox="1"/>
            <p:nvPr/>
          </p:nvSpPr>
          <p:spPr>
            <a:xfrm>
              <a:off x="10616948" y="3240132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accent1"/>
                  </a:solidFill>
                </a:rPr>
                <a:t>요청 헤더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173AC2-FDDD-F6D1-EDF6-783F7E04406E}"/>
                </a:ext>
              </a:extLst>
            </p:cNvPr>
            <p:cNvSpPr txBox="1"/>
            <p:nvPr/>
          </p:nvSpPr>
          <p:spPr>
            <a:xfrm>
              <a:off x="10631659" y="4294312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accent1"/>
                  </a:solidFill>
                </a:rPr>
                <a:t>요청 바디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151EA9-5B7D-A835-CB25-6FD2F81AD4FA}"/>
                </a:ext>
              </a:extLst>
            </p:cNvPr>
            <p:cNvSpPr txBox="1"/>
            <p:nvPr/>
          </p:nvSpPr>
          <p:spPr>
            <a:xfrm>
              <a:off x="9084440" y="4845990"/>
              <a:ext cx="15472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ko-KR" altLang="en-US" sz="1100" dirty="0"/>
                <a:t>*빈 줄</a:t>
              </a:r>
              <a:r>
                <a:rPr kumimoji="1" lang="en-US" altLang="ko-KR" sz="1100" dirty="0"/>
                <a:t>:</a:t>
              </a:r>
              <a:r>
                <a:rPr kumimoji="1" lang="ko-KR" altLang="en-US" sz="1100" dirty="0"/>
                <a:t> 헤더와 본문 구분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195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20178A-23EA-2780-DBDF-BB6AD144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주로 </a:t>
            </a:r>
            <a:r>
              <a:rPr lang="en-US" altLang="ko-KR" sz="2000" dirty="0"/>
              <a:t>HTML </a:t>
            </a:r>
            <a:r>
              <a:rPr lang="ko-KR" altLang="en-US" sz="2000" dirty="0"/>
              <a:t>폼 데이터를 서버로 전송할 때 사용 </a:t>
            </a:r>
            <a:r>
              <a:rPr lang="en-US" altLang="ko-KR" sz="2000" b="1" dirty="0">
                <a:solidFill>
                  <a:schemeClr val="accent1"/>
                </a:solidFill>
              </a:rPr>
              <a:t>(</a:t>
            </a:r>
            <a:r>
              <a:rPr lang="ko-KR" altLang="en-US" sz="2000" b="1" dirty="0">
                <a:solidFill>
                  <a:schemeClr val="accent1"/>
                </a:solidFill>
              </a:rPr>
              <a:t>일반 폼 전송</a:t>
            </a:r>
            <a:r>
              <a:rPr lang="en-US" altLang="ko-KR" sz="2000" b="1" dirty="0">
                <a:solidFill>
                  <a:schemeClr val="accent1"/>
                </a:solidFill>
              </a:rPr>
              <a:t>)</a:t>
            </a:r>
          </a:p>
          <a:p>
            <a:r>
              <a:rPr lang="ko-KR" altLang="en-US" sz="2000" dirty="0"/>
              <a:t>키와 값 쌍으로 이루어진 데이터를 </a:t>
            </a:r>
            <a:r>
              <a:rPr lang="en-US" altLang="ko-KR" sz="2000" dirty="0"/>
              <a:t>URL </a:t>
            </a:r>
            <a:r>
              <a:rPr lang="ko-KR" altLang="en-US" sz="2000" dirty="0"/>
              <a:t>인코딩 방식으로 변환</a:t>
            </a:r>
            <a:endParaRPr lang="en-US" altLang="ko-KR" sz="2000" dirty="0"/>
          </a:p>
          <a:p>
            <a:pPr lvl="1"/>
            <a:r>
              <a:rPr lang="en-US" altLang="ko-KR" sz="1800" dirty="0"/>
              <a:t>ex.</a:t>
            </a:r>
            <a:r>
              <a:rPr lang="ko-KR" altLang="en-US" sz="1800" dirty="0"/>
              <a:t> 공백은 </a:t>
            </a:r>
            <a:r>
              <a:rPr lang="en-US" altLang="ko-KR" sz="1800" dirty="0"/>
              <a:t>"+"</a:t>
            </a:r>
            <a:r>
              <a:rPr lang="ko-KR" altLang="en-US" sz="1800" dirty="0"/>
              <a:t>로</a:t>
            </a:r>
            <a:r>
              <a:rPr lang="en-US" altLang="ko-KR" sz="1800" dirty="0"/>
              <a:t>, </a:t>
            </a:r>
            <a:r>
              <a:rPr lang="ko-KR" altLang="en-US" sz="1800" dirty="0"/>
              <a:t>특수 문자는 퍼센트 인코딩</a:t>
            </a:r>
            <a:r>
              <a:rPr lang="en-US" altLang="ko-KR" sz="1800" dirty="0"/>
              <a:t>(%xx)</a:t>
            </a:r>
            <a:r>
              <a:rPr lang="ko-KR" altLang="en-US" sz="1800" dirty="0"/>
              <a:t>으로 변환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3447B0-A287-B212-8E82-EA4B48E0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94476-BDF8-D3C2-2818-5BFE9CE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A4ACB02-BCA2-49E2-0790-400CDB8F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application/x-www-form-</a:t>
            </a:r>
            <a:r>
              <a:rPr lang="en-US" altLang="ko-KR" b="1" dirty="0" err="1"/>
              <a:t>urlencoded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7AAA566-EB51-3A13-CA82-6544FACE84ED}"/>
              </a:ext>
            </a:extLst>
          </p:cNvPr>
          <p:cNvGrpSpPr/>
          <p:nvPr/>
        </p:nvGrpSpPr>
        <p:grpSpPr>
          <a:xfrm>
            <a:off x="985763" y="3392462"/>
            <a:ext cx="9685283" cy="960604"/>
            <a:chOff x="1135117" y="3378047"/>
            <a:chExt cx="9685283" cy="960604"/>
          </a:xfrm>
        </p:grpSpPr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E28EE2D9-A0C6-007A-9775-A754F26E9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117" y="3378047"/>
              <a:ext cx="4867275" cy="938719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form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action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="/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method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="POST"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text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John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Doe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number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age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="23"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form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CC679A-BB7B-F39E-A862-AE5464D3724D}"/>
                </a:ext>
              </a:extLst>
            </p:cNvPr>
            <p:cNvSpPr txBox="1"/>
            <p:nvPr/>
          </p:nvSpPr>
          <p:spPr>
            <a:xfrm>
              <a:off x="6403313" y="3876986"/>
              <a:ext cx="164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폼 제출 시 브라우저가</a:t>
              </a:r>
              <a:endPara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다음 형태로 서버에 전송</a:t>
              </a:r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104E6B15-1F06-8E2A-7032-AC4A33A95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4047" y="3693517"/>
              <a:ext cx="2366353" cy="307777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400" b="1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name</a:t>
              </a:r>
              <a:r>
                <a:rPr kumimoji="0" lang="ko-KR" altLang="ko-KR" sz="1400" b="1" i="0" u="none" strike="noStrike" cap="none" normalizeH="0" baseline="0" dirty="0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=</a:t>
              </a:r>
              <a:r>
                <a:rPr kumimoji="0" lang="ko-KR" altLang="ko-KR" sz="1400" b="1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John+Doe&amp;age</a:t>
              </a:r>
              <a:r>
                <a:rPr kumimoji="0" lang="ko-KR" altLang="ko-KR" sz="1400" b="1" i="0" u="none" strike="noStrike" cap="none" normalizeH="0" baseline="0" dirty="0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=23</a:t>
              </a:r>
              <a:endParaRPr kumimoji="0" lang="ko-KR" altLang="ko-KR" sz="1050" b="1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4DFF0FEE-5771-8300-CB5C-69C7DF001E47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 flipV="1">
              <a:off x="6002392" y="3847406"/>
              <a:ext cx="2451655" cy="1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B0FDB4-16CA-AA36-3587-18328F5BAAC9}"/>
              </a:ext>
            </a:extLst>
          </p:cNvPr>
          <p:cNvGrpSpPr/>
          <p:nvPr/>
        </p:nvGrpSpPr>
        <p:grpSpPr>
          <a:xfrm>
            <a:off x="985763" y="4956736"/>
            <a:ext cx="10368037" cy="1107996"/>
            <a:chOff x="1135117" y="4761192"/>
            <a:chExt cx="10368037" cy="1107996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C1E86DC-C0AE-E0BF-6855-27D430BCD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117" y="4761192"/>
              <a:ext cx="4602542" cy="1107996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form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action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="/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method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="GET"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text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John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Doe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number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name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age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="23"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&lt;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input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type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value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="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Submit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6AAB73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&lt;/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form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&gt;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D5B778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endPara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9AD76A3-D514-128D-15AA-2AD4ADA6BB19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>
              <a:off x="5737659" y="5315190"/>
              <a:ext cx="2653745" cy="0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3AE89494-FC76-3D44-4C18-64138B624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404" y="5161301"/>
              <a:ext cx="3111750" cy="307777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400" b="1" i="0" u="none" strike="noStrike" cap="none" normalizeH="0" baseline="0" dirty="0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/</a:t>
              </a:r>
              <a:r>
                <a:rPr kumimoji="0" lang="en-US" altLang="ko-KR" sz="1400" b="1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submit?name</a:t>
              </a:r>
              <a:r>
                <a:rPr kumimoji="0" lang="en-US" altLang="ko-KR" sz="1400" b="1" i="0" u="none" strike="noStrike" cap="none" normalizeH="0" baseline="0" dirty="0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=</a:t>
              </a:r>
              <a:r>
                <a:rPr kumimoji="0" lang="en-US" altLang="ko-KR" sz="1400" b="1" i="0" u="none" strike="noStrike" cap="none" normalizeH="0" baseline="0" dirty="0" err="1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John+Doe&amp;age</a:t>
              </a:r>
              <a:r>
                <a:rPr kumimoji="0" lang="en-US" altLang="ko-KR" sz="1400" b="1" i="0" u="none" strike="noStrike" cap="none" normalizeH="0" baseline="0" dirty="0">
                  <a:ln>
                    <a:noFill/>
                  </a:ln>
                  <a:solidFill>
                    <a:srgbClr val="BABABA"/>
                  </a:solidFill>
                  <a:effectLst/>
                  <a:latin typeface="Arial Unicode MS"/>
                </a:rPr>
                <a:t>=23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B690DC-5AFF-D913-58D0-A193EF329742}"/>
                </a:ext>
              </a:extLst>
            </p:cNvPr>
            <p:cNvSpPr txBox="1"/>
            <p:nvPr/>
          </p:nvSpPr>
          <p:spPr>
            <a:xfrm>
              <a:off x="5942269" y="5358785"/>
              <a:ext cx="2244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폼 제출 시 브라우저가</a:t>
              </a:r>
              <a:r>
                <a:rPr lang="en-US" altLang="ko-KR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데이터를 </a:t>
              </a:r>
              <a:endPara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URL </a:t>
              </a:r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쿼리 스트링 형식으로 인코딩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51488E6-161E-03BD-73A0-509C864FFEB3}"/>
              </a:ext>
            </a:extLst>
          </p:cNvPr>
          <p:cNvSpPr txBox="1"/>
          <p:nvPr/>
        </p:nvSpPr>
        <p:spPr>
          <a:xfrm>
            <a:off x="903131" y="3077211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5"/>
                </a:solidFill>
              </a:rPr>
              <a:t>POST</a:t>
            </a:r>
            <a:endParaRPr lang="ko-KR" altLang="en-US" sz="1400" dirty="0">
              <a:solidFill>
                <a:schemeClr val="accent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7E3C38-ABBF-1091-99DD-B6B443666909}"/>
              </a:ext>
            </a:extLst>
          </p:cNvPr>
          <p:cNvSpPr txBox="1"/>
          <p:nvPr/>
        </p:nvSpPr>
        <p:spPr>
          <a:xfrm>
            <a:off x="885497" y="465465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5"/>
                </a:solidFill>
              </a:rPr>
              <a:t>GET</a:t>
            </a:r>
            <a:endParaRPr lang="ko-KR" altLang="en-US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8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9A6D650-B989-07FD-12A6-55347EC9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JavaScript </a:t>
            </a:r>
            <a:r>
              <a:rPr lang="ko-KR" altLang="en-US" sz="2000" dirty="0"/>
              <a:t>라이브러리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, Fetch API)</a:t>
            </a:r>
            <a:r>
              <a:rPr lang="ko-KR" altLang="en-US" sz="2000" dirty="0"/>
              <a:t>를 사용하여 클라이언트 측에서 </a:t>
            </a:r>
            <a:r>
              <a:rPr lang="ko-KR" altLang="en-US" sz="2000" b="1" dirty="0">
                <a:solidFill>
                  <a:schemeClr val="accent1"/>
                </a:solidFill>
              </a:rPr>
              <a:t>비동기적으로 데이터를 서버로 전송할 때 </a:t>
            </a:r>
            <a:r>
              <a:rPr lang="ko-KR" altLang="en-US" sz="2000" dirty="0"/>
              <a:t>주로 사용 </a:t>
            </a:r>
            <a:r>
              <a:rPr lang="en-US" altLang="ko-KR" sz="2000" b="1" dirty="0">
                <a:solidFill>
                  <a:schemeClr val="accent1"/>
                </a:solidFill>
              </a:rPr>
              <a:t>(</a:t>
            </a:r>
            <a:r>
              <a:rPr lang="ko-KR" altLang="en-US" sz="2000" b="1" dirty="0">
                <a:solidFill>
                  <a:schemeClr val="accent1"/>
                </a:solidFill>
              </a:rPr>
              <a:t>동적 폼 전송</a:t>
            </a:r>
            <a:r>
              <a:rPr lang="en-US" altLang="ko-KR" sz="2000" b="1" dirty="0">
                <a:solidFill>
                  <a:schemeClr val="accent1"/>
                </a:solidFill>
              </a:rPr>
              <a:t>)</a:t>
            </a:r>
          </a:p>
          <a:p>
            <a:r>
              <a:rPr lang="ko-KR" altLang="en-US" sz="2000" dirty="0"/>
              <a:t>사용자가 웹 페이지에서 폼을 작성하고</a:t>
            </a:r>
            <a:r>
              <a:rPr lang="en-US" altLang="ko-KR" sz="2000" dirty="0"/>
              <a:t>, JavaScript </a:t>
            </a:r>
            <a:r>
              <a:rPr lang="ko-KR" altLang="en-US" sz="2000" dirty="0"/>
              <a:t>코드가 이 데이터를 </a:t>
            </a:r>
            <a:r>
              <a:rPr lang="en-US" altLang="ko-KR" sz="2000" b="1" dirty="0">
                <a:solidFill>
                  <a:schemeClr val="accent1"/>
                </a:solidFill>
              </a:rPr>
              <a:t>JSON </a:t>
            </a:r>
            <a:r>
              <a:rPr lang="ko-KR" altLang="en-US" sz="2000" b="1" dirty="0">
                <a:solidFill>
                  <a:schemeClr val="accent1"/>
                </a:solidFill>
              </a:rPr>
              <a:t>형식</a:t>
            </a:r>
            <a:r>
              <a:rPr lang="ko-KR" altLang="en-US" sz="2000" dirty="0"/>
              <a:t>으로 서버에 전송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504EEE-7EDA-3A1E-715F-A0537B24F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C540F-4169-88A0-CF4F-66CDCEE8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D3F2B3A-0154-893F-935C-9793D3EC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application/</a:t>
            </a:r>
            <a:r>
              <a:rPr lang="en-US" altLang="ko-KR" dirty="0" err="1"/>
              <a:t>json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E54919-1739-19D3-AFE3-4AB474DF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269" y="2685204"/>
            <a:ext cx="5270938" cy="355481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myForm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John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="23"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document.querySelector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"]'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document.querySelector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"]'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};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axios.post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headers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Content-Type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application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json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console.log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response.data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catch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console.error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There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was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!'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81BA6-9425-C50E-ABFD-3776F260D208}"/>
              </a:ext>
            </a:extLst>
          </p:cNvPr>
          <p:cNvSpPr txBox="1"/>
          <p:nvPr/>
        </p:nvSpPr>
        <p:spPr>
          <a:xfrm>
            <a:off x="6190868" y="4509531"/>
            <a:ext cx="3142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폼 제출 시 </a:t>
            </a:r>
            <a:r>
              <a: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JavaScript</a:t>
            </a: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코드가 데이터를</a:t>
            </a:r>
            <a:endParaRPr lang="en-US" altLang="ko-KR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JSON </a:t>
            </a: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형식으로 서버에 전송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2F8995A-5BE3-4780-A97F-85E91B66C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8124" y="3985559"/>
            <a:ext cx="2366353" cy="9541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</a:rPr>
              <a:t>{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</a:rPr>
              <a:t>    "name": "John Doe",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</a:rPr>
              <a:t>    "age": 23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</a:rPr>
              <a:t>}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1D77A57-6A0C-9962-056B-8EF6E888D8A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6306207" y="4462613"/>
            <a:ext cx="2911917" cy="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68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DF0DE2E-B8E3-D05B-1769-0CEBDEF52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1"/>
                </a:solidFill>
              </a:rPr>
              <a:t>파일 업로드</a:t>
            </a:r>
            <a:r>
              <a:rPr lang="ko-KR" altLang="en-US" dirty="0"/>
              <a:t>를 포함한 복잡한 폼 데이터 전송에 사용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196801-05AC-CCA7-26CC-CBFF6BAE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5F99A-1C9C-8B17-D4BF-64A8C09D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7A79252-2D06-8717-964B-AB716182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multipart/form-data	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744D63-0F45-D950-DA76-BFF071EA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254" y="2496124"/>
            <a:ext cx="4645824" cy="93871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&lt;form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method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="POST"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action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="/submit"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enctype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="multipart/form-data"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&gt;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    &lt;input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="text"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="username"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value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john_doe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&gt;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    &lt;input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="file"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profile_picture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&gt;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    &lt;input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="submit"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/>
                <a:ea typeface="JetBrains Mono" panose="02000009000000000000"/>
              </a:rPr>
              <a:t>value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 panose="02000009000000000000"/>
              </a:rPr>
              <a:t>="Submit"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&gt;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/>
                <a:ea typeface="JetBrains Mono" panose="02000009000000000000"/>
              </a:rPr>
              <a:t>&lt;/form&gt;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00B562-33F6-C2AC-BF00-A909D78EC43C}"/>
              </a:ext>
            </a:extLst>
          </p:cNvPr>
          <p:cNvGrpSpPr/>
          <p:nvPr/>
        </p:nvGrpSpPr>
        <p:grpSpPr>
          <a:xfrm>
            <a:off x="4465534" y="3679597"/>
            <a:ext cx="6820417" cy="2246769"/>
            <a:chOff x="4221276" y="3679597"/>
            <a:chExt cx="6820417" cy="2246769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B84E2B61-1373-3EE1-7ECD-0527FD6D2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276" y="3679597"/>
              <a:ext cx="6820417" cy="2246769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 dirty="0">
                  <a:solidFill>
                    <a:srgbClr val="BABABA"/>
                  </a:solidFill>
                </a:rPr>
                <a:t>--boundary</a:t>
              </a: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Content-Disposition: form-data; name="username"</a:t>
              </a:r>
            </a:p>
            <a:p>
              <a:endParaRPr lang="en-US" sz="1400" b="1" dirty="0">
                <a:solidFill>
                  <a:srgbClr val="BABABA"/>
                </a:solidFill>
              </a:endParaRPr>
            </a:p>
            <a:p>
              <a:r>
                <a:rPr lang="en-US" sz="1400" b="1" dirty="0" err="1">
                  <a:solidFill>
                    <a:srgbClr val="BABABA"/>
                  </a:solidFill>
                </a:rPr>
                <a:t>john_doe</a:t>
              </a:r>
              <a:endParaRPr lang="en-US" sz="1400" b="1" dirty="0">
                <a:solidFill>
                  <a:srgbClr val="BABABA"/>
                </a:solidFill>
              </a:endParaRP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--boundary</a:t>
              </a: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Content-Disposition: form-data; name="</a:t>
              </a:r>
              <a:r>
                <a:rPr lang="en-US" sz="1400" b="1" dirty="0" err="1">
                  <a:solidFill>
                    <a:srgbClr val="BABABA"/>
                  </a:solidFill>
                </a:rPr>
                <a:t>profile_picture</a:t>
              </a:r>
              <a:r>
                <a:rPr lang="en-US" sz="1400" b="1" dirty="0">
                  <a:solidFill>
                    <a:srgbClr val="BABABA"/>
                  </a:solidFill>
                </a:rPr>
                <a:t>"; filename="photo.jpg"</a:t>
              </a: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Content-Type: image/jpeg</a:t>
              </a:r>
            </a:p>
            <a:p>
              <a:endParaRPr lang="en-US" sz="1400" b="1" dirty="0">
                <a:solidFill>
                  <a:srgbClr val="BABABA"/>
                </a:solidFill>
              </a:endParaRP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(</a:t>
              </a:r>
              <a:r>
                <a:rPr lang="en-US" sz="1400" b="1" dirty="0" err="1">
                  <a:solidFill>
                    <a:srgbClr val="BABABA"/>
                  </a:solidFill>
                </a:rPr>
                <a:t>바이너리</a:t>
              </a:r>
              <a:r>
                <a:rPr lang="en-US" sz="1400" b="1" dirty="0">
                  <a:solidFill>
                    <a:srgbClr val="BABABA"/>
                  </a:solidFill>
                </a:rPr>
                <a:t> </a:t>
              </a:r>
              <a:r>
                <a:rPr lang="en-US" sz="1400" b="1" dirty="0" err="1">
                  <a:solidFill>
                    <a:srgbClr val="BABABA"/>
                  </a:solidFill>
                </a:rPr>
                <a:t>데이터</a:t>
              </a:r>
              <a:r>
                <a:rPr lang="en-US" sz="1400" b="1" dirty="0">
                  <a:solidFill>
                    <a:srgbClr val="BABABA"/>
                  </a:solidFill>
                </a:rPr>
                <a:t>)</a:t>
              </a:r>
            </a:p>
            <a:p>
              <a:r>
                <a:rPr lang="en-US" sz="1400" b="1" dirty="0">
                  <a:solidFill>
                    <a:srgbClr val="BABABA"/>
                  </a:solidFill>
                </a:rPr>
                <a:t>--boundary--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FD6F01-4A2B-3B88-7BBB-473641C46689}"/>
                </a:ext>
              </a:extLst>
            </p:cNvPr>
            <p:cNvSpPr txBox="1"/>
            <p:nvPr/>
          </p:nvSpPr>
          <p:spPr>
            <a:xfrm>
              <a:off x="8992735" y="5454667"/>
              <a:ext cx="2048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클라이언트에서 서버로 요청 시</a:t>
              </a:r>
              <a:endPara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r"/>
              <a:r>
                <a:rPr lang="ko-KR" altLang="en-US" sz="12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전송되는 데이터 형태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046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(Get, Post)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196384" cy="411168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Get Method</a:t>
            </a:r>
            <a:r>
              <a:rPr lang="ko-KR" altLang="en-US" sz="2400" dirty="0"/>
              <a:t> </a:t>
            </a:r>
            <a:r>
              <a:rPr lang="en-US" altLang="ko-KR" sz="2400" dirty="0"/>
              <a:t>URL </a:t>
            </a:r>
            <a:r>
              <a:rPr lang="ko-KR" altLang="en-US" sz="2400" dirty="0"/>
              <a:t>매핑 시 </a:t>
            </a:r>
            <a:r>
              <a:rPr lang="en-US" altLang="ko-KR" sz="2400" dirty="0"/>
              <a:t>Controller </a:t>
            </a:r>
            <a:r>
              <a:rPr lang="ko-KR" altLang="en-US" sz="2400" dirty="0"/>
              <a:t>에서 </a:t>
            </a:r>
            <a:r>
              <a:rPr lang="en-US" altLang="ko-KR" sz="2400" b="1" dirty="0">
                <a:solidFill>
                  <a:schemeClr val="accent1"/>
                </a:solidFill>
              </a:rPr>
              <a:t>@GetMapping(url)</a:t>
            </a:r>
            <a:r>
              <a:rPr lang="ko-KR" altLang="en-US" sz="2400" dirty="0"/>
              <a:t>을 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 Method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D3BF51-7696-B20E-99F1-3D8BA0BB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820" y="2743777"/>
            <a:ext cx="5815143" cy="239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F3C25-C842-1C19-579A-625D14B7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URL</a:t>
            </a:r>
            <a:r>
              <a:rPr lang="ko-KR" altLang="en-US" sz="2400" dirty="0"/>
              <a:t> </a:t>
            </a:r>
            <a:r>
              <a:rPr lang="en-US" altLang="ko-KR" sz="2400" dirty="0"/>
              <a:t>query string (?key=value) </a:t>
            </a:r>
            <a:r>
              <a:rPr lang="ko-KR" altLang="en-US" sz="2400" dirty="0"/>
              <a:t>을 </a:t>
            </a:r>
            <a:r>
              <a:rPr lang="en-US" altLang="ko-KR" sz="2400" dirty="0"/>
              <a:t>Controller </a:t>
            </a:r>
            <a:r>
              <a:rPr lang="ko-KR" altLang="en-US" sz="2400" dirty="0"/>
              <a:t>에서 </a:t>
            </a:r>
            <a:r>
              <a:rPr lang="en-US" altLang="ko-KR" sz="2400" b="1" dirty="0">
                <a:solidFill>
                  <a:schemeClr val="accent1"/>
                </a:solidFill>
              </a:rPr>
              <a:t>@RequestParam</a:t>
            </a:r>
            <a:r>
              <a:rPr lang="en-US" altLang="ko-KR" sz="2400" b="1" dirty="0"/>
              <a:t> </a:t>
            </a:r>
            <a:r>
              <a:rPr lang="ko-KR" altLang="en-US" sz="2400" dirty="0"/>
              <a:t>이용해 받아오기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메서드의 매개변수 </a:t>
            </a:r>
            <a:r>
              <a:rPr lang="en-US" altLang="ko-KR" sz="2400" dirty="0"/>
              <a:t>key </a:t>
            </a:r>
            <a:r>
              <a:rPr lang="ko-KR" altLang="en-US" sz="2400" dirty="0"/>
              <a:t>에 </a:t>
            </a:r>
            <a:r>
              <a:rPr lang="en-US" altLang="ko-KR" sz="2400" dirty="0"/>
              <a:t>query</a:t>
            </a:r>
            <a:r>
              <a:rPr lang="ko-KR" altLang="en-US" sz="2400" dirty="0"/>
              <a:t> </a:t>
            </a:r>
            <a:r>
              <a:rPr lang="en-US" altLang="ko-KR" sz="2400" dirty="0"/>
              <a:t>string </a:t>
            </a:r>
            <a:r>
              <a:rPr lang="ko-KR" altLang="en-US" sz="2400" dirty="0"/>
              <a:t>의</a:t>
            </a:r>
            <a:r>
              <a:rPr lang="en-US" altLang="ko-KR" sz="2400" dirty="0"/>
              <a:t> value </a:t>
            </a:r>
            <a:r>
              <a:rPr lang="ko-KR" altLang="en-US" sz="2400" dirty="0"/>
              <a:t>값이 전달됨</a:t>
            </a:r>
            <a:endParaRPr lang="en-US" altLang="ko-KR" sz="2400" dirty="0"/>
          </a:p>
          <a:p>
            <a:r>
              <a:rPr lang="en-US" altLang="ko-KR" sz="2400" dirty="0"/>
              <a:t>@RequestParam</a:t>
            </a:r>
            <a:r>
              <a:rPr lang="ko-KR" altLang="en-US" sz="2400" dirty="0"/>
              <a:t>에 </a:t>
            </a:r>
            <a:r>
              <a:rPr lang="en-US" altLang="ko-KR" sz="2400" dirty="0"/>
              <a:t>required=false </a:t>
            </a:r>
            <a:r>
              <a:rPr lang="ko-KR" altLang="en-US" sz="2400" dirty="0"/>
              <a:t>값을 설정하면 없어도 실행됨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BDBA7-D01B-9072-5CC6-B1E24BB7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7AD5C3-1522-C80F-E61A-04C57CE9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9504AB-3297-4B16-A03F-26455D3B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 Method. query string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1FFDC5-9501-50F1-71F6-78EB2C77F0BF}"/>
              </a:ext>
            </a:extLst>
          </p:cNvPr>
          <p:cNvSpPr/>
          <p:nvPr/>
        </p:nvSpPr>
        <p:spPr>
          <a:xfrm>
            <a:off x="7451124" y="3286897"/>
            <a:ext cx="864973" cy="3954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04E835-6863-750D-08A3-2D531DD1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89" y="2743362"/>
            <a:ext cx="9489402" cy="16243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8656474-818F-33AA-E2B6-55E1AF7446CA}"/>
              </a:ext>
            </a:extLst>
          </p:cNvPr>
          <p:cNvSpPr/>
          <p:nvPr/>
        </p:nvSpPr>
        <p:spPr>
          <a:xfrm>
            <a:off x="3534627" y="1825625"/>
            <a:ext cx="1748118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8261CB-33FB-147F-143E-4A71F1BE4A0D}"/>
              </a:ext>
            </a:extLst>
          </p:cNvPr>
          <p:cNvSpPr/>
          <p:nvPr/>
        </p:nvSpPr>
        <p:spPr>
          <a:xfrm>
            <a:off x="6623049" y="3163385"/>
            <a:ext cx="1693047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C775A-675F-4DD3-2419-B6D7AD6DE39F}"/>
              </a:ext>
            </a:extLst>
          </p:cNvPr>
          <p:cNvSpPr/>
          <p:nvPr/>
        </p:nvSpPr>
        <p:spPr>
          <a:xfrm>
            <a:off x="4561085" y="3163385"/>
            <a:ext cx="1979415" cy="37072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12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16CE6-E44A-610E-5A46-146060C4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URL path variable </a:t>
            </a:r>
            <a:r>
              <a:rPr lang="ko-KR" altLang="en-US" sz="2400" dirty="0"/>
              <a:t>을 </a:t>
            </a:r>
            <a:r>
              <a:rPr lang="en-US" altLang="ko-KR" sz="2400" dirty="0"/>
              <a:t>Controller</a:t>
            </a:r>
            <a:r>
              <a:rPr lang="ko-KR" altLang="en-US" sz="2400" dirty="0"/>
              <a:t>에서 </a:t>
            </a:r>
            <a:r>
              <a:rPr lang="en-US" altLang="ko-KR" sz="2400" b="1" dirty="0">
                <a:solidFill>
                  <a:schemeClr val="accent1"/>
                </a:solidFill>
              </a:rPr>
              <a:t>@PathVariable </a:t>
            </a:r>
            <a:r>
              <a:rPr lang="ko-KR" altLang="en-US" sz="2400" dirty="0"/>
              <a:t>이용하여 받아오기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메서드의 매개변수 </a:t>
            </a:r>
            <a:r>
              <a:rPr lang="en-US" altLang="ko-KR" sz="2400" dirty="0"/>
              <a:t>value </a:t>
            </a:r>
            <a:r>
              <a:rPr lang="ko-KR" altLang="en-US" sz="2400" dirty="0"/>
              <a:t>에 </a:t>
            </a:r>
            <a:r>
              <a:rPr lang="en-US" altLang="ko-KR" sz="2400" dirty="0"/>
              <a:t>URL path variable </a:t>
            </a:r>
            <a:r>
              <a:rPr lang="ko-KR" altLang="en-US" sz="2400" dirty="0"/>
              <a:t>로 입력된 값이 전달됨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82997-83C6-12F3-0519-F6E2A9E3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C81161-1657-CD07-40B1-96D1159C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ABEDA7-2D17-061B-C902-2677D823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 Method. path variable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B4B5D0-E716-0E2A-9C9B-F2B77CA65A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95"/>
          <a:stretch/>
        </p:blipFill>
        <p:spPr>
          <a:xfrm>
            <a:off x="1071298" y="2448537"/>
            <a:ext cx="7703207" cy="171080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25FBB0D-ECA4-47D7-89AC-D4BB6326044D}"/>
              </a:ext>
            </a:extLst>
          </p:cNvPr>
          <p:cNvSpPr/>
          <p:nvPr/>
        </p:nvSpPr>
        <p:spPr>
          <a:xfrm>
            <a:off x="4042730" y="2498232"/>
            <a:ext cx="976530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AB4413-3FEC-88E0-B426-13E00A387D4C}"/>
              </a:ext>
            </a:extLst>
          </p:cNvPr>
          <p:cNvSpPr/>
          <p:nvPr/>
        </p:nvSpPr>
        <p:spPr>
          <a:xfrm>
            <a:off x="7222436" y="2868960"/>
            <a:ext cx="889809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E10D95-9339-B5CA-8C96-D6F69D8ECFE1}"/>
              </a:ext>
            </a:extLst>
          </p:cNvPr>
          <p:cNvSpPr/>
          <p:nvPr/>
        </p:nvSpPr>
        <p:spPr>
          <a:xfrm>
            <a:off x="4346945" y="2868960"/>
            <a:ext cx="1914708" cy="37072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11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73D0B0-5459-2BA1-4124-8328C39E0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19" y="2389851"/>
            <a:ext cx="10032762" cy="1303599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16CE6-E44A-610E-5A46-146060C4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만약</a:t>
            </a:r>
            <a:r>
              <a:rPr lang="en-US" altLang="ko-KR" sz="2400" dirty="0"/>
              <a:t>, path variable </a:t>
            </a:r>
            <a:r>
              <a:rPr lang="ko-KR" altLang="en-US" sz="2400" dirty="0"/>
              <a:t>을 다르게 설정하고 싶다면</a:t>
            </a:r>
            <a:r>
              <a:rPr lang="en-US" altLang="ko-KR" sz="2400" dirty="0"/>
              <a:t>?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@Pathvariable</a:t>
            </a:r>
            <a:r>
              <a:rPr lang="ko-KR" altLang="en-US" sz="2400" dirty="0"/>
              <a:t>의 괄호 안에 경로변수를 작성하고 원하는 메서드의 매개변수명 사용</a:t>
            </a:r>
            <a:endParaRPr lang="en-US" altLang="ko-KR" sz="2400" dirty="0"/>
          </a:p>
          <a:p>
            <a:pPr lvl="1"/>
            <a:r>
              <a:rPr lang="ko-KR" altLang="en-US" sz="2000" dirty="0"/>
              <a:t>위 예제의 경우</a:t>
            </a:r>
            <a:r>
              <a:rPr lang="en-US" altLang="ko-KR" sz="2000" dirty="0"/>
              <a:t> value2</a:t>
            </a:r>
            <a:r>
              <a:rPr lang="ko-KR" altLang="en-US" sz="2000" dirty="0"/>
              <a:t> 경로 변수의 값이 </a:t>
            </a:r>
            <a:r>
              <a:rPr lang="en-US" altLang="ko-KR" sz="2000" dirty="0" err="1"/>
              <a:t>abc</a:t>
            </a:r>
            <a:r>
              <a:rPr lang="en-US" altLang="ko-KR" sz="2000" dirty="0"/>
              <a:t> </a:t>
            </a:r>
            <a:r>
              <a:rPr lang="ko-KR" altLang="en-US" sz="2000" dirty="0"/>
              <a:t>라는 변수에 저장 </a:t>
            </a:r>
            <a:endParaRPr lang="en-US" altLang="ko-KR" sz="2000" dirty="0"/>
          </a:p>
          <a:p>
            <a:pPr lvl="1"/>
            <a:r>
              <a:rPr lang="en-US" altLang="ko-KR" sz="2000" dirty="0"/>
              <a:t>ex) GET</a:t>
            </a:r>
            <a:r>
              <a:rPr lang="ko-KR" altLang="en-US" sz="2000" dirty="0"/>
              <a:t> </a:t>
            </a:r>
            <a:r>
              <a:rPr lang="en-US" altLang="ko-KR" sz="2000" dirty="0"/>
              <a:t>“URL</a:t>
            </a:r>
            <a:r>
              <a:rPr lang="ko-KR" altLang="en-US" sz="2000" dirty="0"/>
              <a:t>주소</a:t>
            </a:r>
            <a:r>
              <a:rPr lang="en-US" altLang="ko-KR" sz="2000" dirty="0"/>
              <a:t>/1/2” </a:t>
            </a:r>
            <a:r>
              <a:rPr lang="ko-KR" altLang="en-US" sz="2000" dirty="0"/>
              <a:t>라는 요청 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abc</a:t>
            </a:r>
            <a:r>
              <a:rPr lang="en-US" altLang="ko-KR" sz="2000" dirty="0"/>
              <a:t> </a:t>
            </a:r>
            <a:r>
              <a:rPr lang="ko-KR" altLang="en-US" sz="2000" dirty="0"/>
              <a:t>변수에 </a:t>
            </a:r>
            <a:r>
              <a:rPr lang="en-US" altLang="ko-KR" sz="2000" dirty="0"/>
              <a:t>2</a:t>
            </a:r>
            <a:r>
              <a:rPr lang="ko-KR" altLang="en-US" sz="2000" dirty="0"/>
              <a:t>가 저장됨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82997-83C6-12F3-0519-F6E2A9E3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C81161-1657-CD07-40B1-96D1159C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ABEDA7-2D17-061B-C902-2677D823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 Method. path variable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62A421-53D9-90FF-3FFD-471E77049804}"/>
              </a:ext>
            </a:extLst>
          </p:cNvPr>
          <p:cNvSpPr/>
          <p:nvPr/>
        </p:nvSpPr>
        <p:spPr>
          <a:xfrm>
            <a:off x="4231450" y="2389851"/>
            <a:ext cx="950150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5BD47-872D-3610-0437-4FEE1C93603A}"/>
              </a:ext>
            </a:extLst>
          </p:cNvPr>
          <p:cNvSpPr/>
          <p:nvPr/>
        </p:nvSpPr>
        <p:spPr>
          <a:xfrm>
            <a:off x="8333431" y="2670922"/>
            <a:ext cx="950150" cy="370728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57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B6A0-5881-4C94-A111-1377FD6F27E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F9AC37-0BC5-31A8-C833-E2C1B928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GET </a:t>
            </a:r>
            <a:r>
              <a:rPr lang="ko-KR" altLang="en-US" dirty="0"/>
              <a:t>실습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3BF53696-6F76-341C-98DD-64D464965B70}"/>
              </a:ext>
            </a:extLst>
          </p:cNvPr>
          <p:cNvSpPr txBox="1">
            <a:spLocks/>
          </p:cNvSpPr>
          <p:nvPr/>
        </p:nvSpPr>
        <p:spPr>
          <a:xfrm>
            <a:off x="662893" y="1325563"/>
            <a:ext cx="1086621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altLang="ko-KR" sz="2400" dirty="0">
                <a:hlinkClick r:id="rId3"/>
              </a:rPr>
              <a:t>“http://localhost:8080/introduce/</a:t>
            </a:r>
            <a:r>
              <a:rPr lang="ko-KR" altLang="en-US" sz="2400" dirty="0"/>
              <a:t>홍길동</a:t>
            </a:r>
            <a:r>
              <a:rPr lang="en-US" altLang="ko-KR" sz="2400" dirty="0"/>
              <a:t>”</a:t>
            </a:r>
            <a:r>
              <a:rPr lang="ko-KR" altLang="en-US" sz="2400" dirty="0"/>
              <a:t> 으로 접속했을 때 아래와 같이 나오게 만들기</a:t>
            </a:r>
            <a:endParaRPr lang="en-US" altLang="ko-KR" sz="2400" dirty="0"/>
          </a:p>
          <a:p>
            <a:pPr marL="514350" indent="-514350">
              <a:buAutoNum type="arabicPeriod"/>
            </a:pPr>
            <a:endParaRPr lang="en-US" altLang="ko-KR" sz="2400" dirty="0"/>
          </a:p>
          <a:p>
            <a:pPr marL="514350" indent="-514350">
              <a:buAutoNum type="arabicPeriod"/>
            </a:pPr>
            <a:endParaRPr lang="en-US" altLang="ko-KR" sz="900" dirty="0"/>
          </a:p>
          <a:p>
            <a:pPr marL="514350" indent="-514350">
              <a:buAutoNum type="arabicPeriod"/>
            </a:pPr>
            <a:endParaRPr lang="en-US" altLang="ko-KR" sz="900" dirty="0"/>
          </a:p>
          <a:p>
            <a:pPr marL="514350" indent="-514350">
              <a:buAutoNum type="arabicPeriod"/>
            </a:pPr>
            <a:r>
              <a:rPr lang="en-US" altLang="ko-KR" sz="2400" dirty="0">
                <a:hlinkClick r:id="rId3"/>
              </a:rPr>
              <a:t>“http://localhost:8080/introduce</a:t>
            </a:r>
            <a:r>
              <a:rPr lang="en-US" altLang="ko-KR" sz="2400" dirty="0"/>
              <a:t>2?name=</a:t>
            </a:r>
            <a:r>
              <a:rPr lang="ko-KR" altLang="en-US" sz="2400" dirty="0"/>
              <a:t>홍길동</a:t>
            </a:r>
            <a:r>
              <a:rPr lang="en-US" altLang="ko-KR" sz="2400" dirty="0"/>
              <a:t>&amp;age=10”</a:t>
            </a:r>
            <a:r>
              <a:rPr lang="ko-KR" altLang="en-US" sz="2400" dirty="0"/>
              <a:t>으로 접속했을 때 아래와 같이 나온다 할 때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본인 이름으로 변경해서 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C03B2D-D9EE-E7E6-91F0-16141470A0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18"/>
          <a:stretch/>
        </p:blipFill>
        <p:spPr>
          <a:xfrm>
            <a:off x="5973124" y="1941528"/>
            <a:ext cx="5110034" cy="10715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15D993-C881-8895-6795-F9CABEF3FA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68"/>
          <a:stretch/>
        </p:blipFill>
        <p:spPr>
          <a:xfrm>
            <a:off x="5755323" y="4536108"/>
            <a:ext cx="5327835" cy="143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3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196384" cy="411168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Post Method</a:t>
            </a:r>
            <a:r>
              <a:rPr lang="ko-KR" altLang="en-US" sz="2400" dirty="0"/>
              <a:t> </a:t>
            </a:r>
            <a:r>
              <a:rPr lang="en-US" altLang="ko-KR" sz="2400" dirty="0"/>
              <a:t>URL </a:t>
            </a:r>
            <a:r>
              <a:rPr lang="ko-KR" altLang="en-US" sz="2400" dirty="0"/>
              <a:t>매핑 시 </a:t>
            </a:r>
            <a:r>
              <a:rPr lang="en-US" altLang="ko-KR" sz="2400" dirty="0"/>
              <a:t>Controller </a:t>
            </a:r>
            <a:r>
              <a:rPr lang="ko-KR" altLang="en-US" sz="2400" dirty="0"/>
              <a:t>에서 </a:t>
            </a:r>
            <a:r>
              <a:rPr lang="en-US" altLang="ko-KR" sz="2400" b="1" dirty="0">
                <a:solidFill>
                  <a:schemeClr val="accent1"/>
                </a:solidFill>
              </a:rPr>
              <a:t>@PostMapping(url)</a:t>
            </a:r>
            <a:r>
              <a:rPr lang="ko-KR" altLang="en-US" sz="2400" dirty="0"/>
              <a:t>을 이용</a:t>
            </a:r>
          </a:p>
          <a:p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POST Method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6F951B-8915-CC00-7A16-DF89A532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492" y="2725676"/>
            <a:ext cx="5511800" cy="233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CB63C6-AD04-2FBA-3775-8223DACA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84AF05-B892-96E2-5A91-EA18F6A6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DA5B2D-0A60-9C37-4C30-B5D039C1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POST Method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599F0E-9302-F129-E9D7-DA4061AE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2539"/>
            <a:ext cx="4639852" cy="37973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7F816E-28F7-5116-F057-98F15B1F6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264" y="2849939"/>
            <a:ext cx="7099948" cy="26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8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6D0B-7D2F-0B89-E666-C8EB3147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907332" cy="4415456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앞에서 배운 방식은 </a:t>
            </a:r>
            <a:r>
              <a:rPr lang="en-US" altLang="ko-KR" sz="2400" dirty="0"/>
              <a:t>return</a:t>
            </a:r>
            <a:r>
              <a:rPr lang="ko-KR" altLang="en-US" sz="2400" dirty="0"/>
              <a:t>을 이용해 </a:t>
            </a:r>
            <a:r>
              <a:rPr lang="en-US" altLang="ko-KR" sz="2400" dirty="0"/>
              <a:t>Template view</a:t>
            </a:r>
            <a:r>
              <a:rPr lang="ko-KR" altLang="en-US" sz="2400" dirty="0"/>
              <a:t>를 무조건 불러왔다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API</a:t>
            </a:r>
            <a:r>
              <a:rPr lang="ko-KR" altLang="en-US" sz="2400" dirty="0"/>
              <a:t>로만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데이터만 전달하고 싶을 때는</a:t>
            </a:r>
            <a:r>
              <a:rPr lang="en-US" altLang="ko-KR" sz="2400" dirty="0"/>
              <a:t>? </a:t>
            </a:r>
          </a:p>
          <a:p>
            <a:r>
              <a:rPr lang="en-US" altLang="ko-KR" sz="2400" dirty="0">
                <a:solidFill>
                  <a:schemeClr val="accent1"/>
                </a:solidFill>
              </a:rPr>
              <a:t>@ResponseBody</a:t>
            </a:r>
            <a:r>
              <a:rPr lang="en-US" altLang="ko-KR" sz="2400" dirty="0">
                <a:solidFill>
                  <a:srgbClr val="F9A130"/>
                </a:solidFill>
              </a:rPr>
              <a:t> </a:t>
            </a:r>
            <a:r>
              <a:rPr lang="ko-KR" altLang="en-US" sz="2400" dirty="0"/>
              <a:t>이용하기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1800" dirty="0"/>
          </a:p>
          <a:p>
            <a:r>
              <a:rPr lang="en-US" altLang="ko-KR" sz="2400" dirty="0"/>
              <a:t>express </a:t>
            </a:r>
            <a:r>
              <a:rPr lang="ko-KR" altLang="en-US" sz="2400" dirty="0"/>
              <a:t>에서의 </a:t>
            </a:r>
            <a:r>
              <a:rPr lang="en-US" altLang="ko-KR" sz="2400" dirty="0" err="1"/>
              <a:t>res.send</a:t>
            </a:r>
            <a:r>
              <a:rPr lang="en-US" altLang="ko-KR" sz="2400" dirty="0"/>
              <a:t>() </a:t>
            </a:r>
            <a:r>
              <a:rPr lang="ko-KR" altLang="en-US" sz="2400" dirty="0"/>
              <a:t>와 유사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FC90B-D293-B8CD-3684-D692ACEC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64782-7ADC-58DA-4BF4-777FD1D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8C068E-43F6-E730-F99E-14E7F062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r>
              <a:rPr lang="ko-KR" altLang="en-US" dirty="0"/>
              <a:t>로 이용하기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7F198A-ABB4-517C-B9E7-FC2292C8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54" y="3059053"/>
            <a:ext cx="10761578" cy="112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54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979706A-0655-C267-E415-FB4032319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이름</a:t>
            </a:r>
            <a:r>
              <a:rPr lang="en-US" altLang="ko-KR" sz="2400" dirty="0"/>
              <a:t>, </a:t>
            </a:r>
            <a:r>
              <a:rPr lang="ko-KR" altLang="en-US" sz="2400" dirty="0"/>
              <a:t>성별</a:t>
            </a:r>
            <a:r>
              <a:rPr lang="en-US" altLang="ko-KR" sz="2400" dirty="0"/>
              <a:t>, </a:t>
            </a:r>
            <a:r>
              <a:rPr lang="ko-KR" altLang="en-US" sz="2400" dirty="0"/>
              <a:t>생년월일</a:t>
            </a:r>
            <a:r>
              <a:rPr lang="en-US" altLang="ko-KR" sz="2400" dirty="0"/>
              <a:t>, </a:t>
            </a:r>
            <a:r>
              <a:rPr lang="ko-KR" altLang="en-US" sz="2400" dirty="0"/>
              <a:t>관심사 를 포함하여 </a:t>
            </a:r>
            <a:r>
              <a:rPr lang="en-US" altLang="ko-KR" sz="2400" dirty="0"/>
              <a:t>4</a:t>
            </a:r>
            <a:r>
              <a:rPr lang="ko-KR" altLang="en-US" sz="2400" dirty="0"/>
              <a:t>개 이상의 정보를 입력 받고</a:t>
            </a:r>
            <a:r>
              <a:rPr lang="en-US" altLang="ko-KR" sz="2400" dirty="0"/>
              <a:t>, POST </a:t>
            </a:r>
            <a:r>
              <a:rPr lang="ko-KR" altLang="en-US" sz="2400" dirty="0"/>
              <a:t>요청으로 </a:t>
            </a:r>
            <a:r>
              <a:rPr lang="en-US" altLang="ko-KR" sz="2400" dirty="0"/>
              <a:t>Form </a:t>
            </a:r>
            <a:r>
              <a:rPr lang="ko-KR" altLang="en-US" sz="2400" dirty="0"/>
              <a:t>전송하기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DD64BA-7AAA-E203-9E22-2EC55986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9B712-6E47-B3B6-1F7A-797AEE76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3768E1C-07AB-FB39-7731-69F476C0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POST</a:t>
            </a:r>
            <a:r>
              <a:rPr lang="ko-KR" altLang="en-US" dirty="0"/>
              <a:t> 실습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FCEB63-D649-1AEB-956E-79165FCA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75" y="2900835"/>
            <a:ext cx="4223504" cy="28236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8B62EA-C5E7-7F95-24E0-D9F0DA64B4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9"/>
          <a:stretch/>
        </p:blipFill>
        <p:spPr>
          <a:xfrm>
            <a:off x="6489700" y="3175000"/>
            <a:ext cx="4080351" cy="227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77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DTO </a:t>
            </a:r>
            <a:r>
              <a:rPr lang="ko-KR" altLang="en-US" dirty="0"/>
              <a:t>이용하기</a:t>
            </a:r>
          </a:p>
        </p:txBody>
      </p:sp>
    </p:spTree>
    <p:extLst>
      <p:ext uri="{BB962C8B-B14F-4D97-AF65-F5344CB8AC3E}">
        <p14:creationId xmlns:p14="http://schemas.microsoft.com/office/powerpoint/2010/main" val="33519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8917A9-EEC2-88BF-AD2F-4DE73A8D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C19F86B-CA9E-4481-B456-F3EB5915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A6184E-C73C-9DF6-6F9A-35B12AE26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25" y="1072484"/>
            <a:ext cx="6669740" cy="429348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&lt;h1&gt;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이용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&lt;/h1&gt;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forms-container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/res1"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="GET"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#8. DTO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GET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/res2"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="POST"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#9. DTO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(@RequestBody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/res3"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="POST"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#10. DTO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(@RequestBody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FB23528-C6A9-F4B9-FB9D-F7203BD68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231" y="1072484"/>
            <a:ext cx="3961341" cy="409342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646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1" y="1565213"/>
            <a:ext cx="4900056" cy="4165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Controller </a:t>
            </a:r>
            <a:r>
              <a:rPr lang="ko-KR" altLang="en-US" sz="2000" dirty="0"/>
              <a:t>코드를 다음과 같이 작성하고 프론트 요청 시 어떻게 </a:t>
            </a:r>
            <a:r>
              <a:rPr lang="en-US" altLang="ko-KR" sz="2000" dirty="0"/>
              <a:t>return </a:t>
            </a:r>
            <a:r>
              <a:rPr lang="ko-KR" altLang="en-US" sz="2000" dirty="0"/>
              <a:t>되는지 확인하기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Slack #</a:t>
            </a:r>
            <a:r>
              <a:rPr lang="ko-KR" altLang="en-US" sz="2000" dirty="0"/>
              <a:t>과제 채널에 </a:t>
            </a:r>
            <a:r>
              <a:rPr lang="en-US" altLang="ko-KR" sz="2000" dirty="0"/>
              <a:t>return </a:t>
            </a:r>
            <a:r>
              <a:rPr lang="ko-KR" altLang="en-US" sz="2000" dirty="0"/>
              <a:t>여부를 제출</a:t>
            </a:r>
            <a:r>
              <a:rPr lang="en-US" altLang="ko-KR" sz="2000" dirty="0"/>
              <a:t>!</a:t>
            </a:r>
          </a:p>
          <a:p>
            <a:pPr marL="0" indent="0">
              <a:buNone/>
            </a:pPr>
            <a:endParaRPr lang="en-US" altLang="ko-KR" sz="2000" dirty="0"/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dto</a:t>
            </a:r>
            <a:r>
              <a:rPr lang="en-US" altLang="ko-KR" sz="2000" dirty="0"/>
              <a:t>/res1: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dto</a:t>
            </a:r>
            <a:r>
              <a:rPr lang="en-US" altLang="ko-KR" sz="2000" dirty="0"/>
              <a:t>/res2: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dto</a:t>
            </a:r>
            <a:r>
              <a:rPr lang="en-US" altLang="ko-KR" sz="2000" dirty="0"/>
              <a:t>/res3: O/X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DTO </a:t>
            </a:r>
            <a:r>
              <a:rPr lang="ko-KR" altLang="en-US" dirty="0"/>
              <a:t>이용하기 </a:t>
            </a:r>
            <a:r>
              <a:rPr lang="en-US" altLang="ko-KR" dirty="0"/>
              <a:t>– </a:t>
            </a:r>
            <a:r>
              <a:rPr lang="ko-KR" altLang="en-US" dirty="0"/>
              <a:t>일반 폼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7F9698-BB73-FBEB-DEC3-90733E962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79" y="1552639"/>
            <a:ext cx="6465347" cy="44935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"/dto/res1"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dtoRes1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@ModelAttribute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"/dto/res2"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dtoRes2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"/dto/res3"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dtoRes22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0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 </a:t>
            </a:r>
            <a:r>
              <a:rPr lang="ko-KR" altLang="en-US" dirty="0"/>
              <a:t>이용하기</a:t>
            </a:r>
          </a:p>
        </p:txBody>
      </p:sp>
    </p:spTree>
    <p:extLst>
      <p:ext uri="{BB962C8B-B14F-4D97-AF65-F5344CB8AC3E}">
        <p14:creationId xmlns:p14="http://schemas.microsoft.com/office/powerpoint/2010/main" val="3250569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787ABE-A434-71FD-7E55-A2828A1D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DE7B02-1219-F096-FFC3-156C3495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5AA26A-5D65-AA35-B084-5D5D5BAEA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291" y="1190819"/>
            <a:ext cx="6282489" cy="429348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&lt;h1&gt;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이용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&lt;/h1&gt;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forms-container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/res1"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="GET"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#11. VO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GET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/res2"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="POST"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#12. VO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(@RequestBody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action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/res3"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="POST"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&lt;h3&gt;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#13. VO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(@RequestBody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submit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전송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D47439-6319-C887-2871-A61A066A2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367" y="2382559"/>
            <a:ext cx="3066865" cy="209288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37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VO </a:t>
            </a:r>
            <a:r>
              <a:rPr lang="ko-KR" altLang="en-US" dirty="0"/>
              <a:t>이용하기 </a:t>
            </a:r>
            <a:r>
              <a:rPr lang="en-US" altLang="ko-KR" dirty="0"/>
              <a:t>– </a:t>
            </a:r>
            <a:r>
              <a:rPr lang="ko-KR" altLang="en-US" dirty="0"/>
              <a:t>일반 폼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637E46-D6B7-3474-FF3D-6716BDCA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79" y="1565213"/>
            <a:ext cx="6303447" cy="44935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"/vo/res1"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voRes1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@ModelAttribute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"/vo/res2"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voRes2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"/vo/res3"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voRes3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5199BF05-3304-2268-6309-5C10E32F65D2}"/>
              </a:ext>
            </a:extLst>
          </p:cNvPr>
          <p:cNvSpPr txBox="1">
            <a:spLocks/>
          </p:cNvSpPr>
          <p:nvPr/>
        </p:nvSpPr>
        <p:spPr>
          <a:xfrm>
            <a:off x="6987144" y="1565213"/>
            <a:ext cx="4900056" cy="4165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Controller </a:t>
            </a:r>
            <a:r>
              <a:rPr lang="ko-KR" altLang="en-US" sz="2000" dirty="0"/>
              <a:t>코드를 다음과 같이 작성하고 </a:t>
            </a:r>
            <a:br>
              <a:rPr lang="en-US" altLang="ko-KR" sz="2000" dirty="0"/>
            </a:br>
            <a:r>
              <a:rPr lang="ko-KR" altLang="en-US" sz="2000" dirty="0"/>
              <a:t>프론트 요청 시 어떻게 </a:t>
            </a:r>
            <a:r>
              <a:rPr lang="en-US" altLang="ko-KR" sz="2000" dirty="0"/>
              <a:t>return </a:t>
            </a:r>
            <a:r>
              <a:rPr lang="ko-KR" altLang="en-US" sz="2000" dirty="0"/>
              <a:t>되는지 확인하기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Slack #</a:t>
            </a:r>
            <a:r>
              <a:rPr lang="ko-KR" altLang="en-US" sz="2000" dirty="0"/>
              <a:t>과제 채널에 </a:t>
            </a:r>
            <a:r>
              <a:rPr lang="en-US" altLang="ko-KR" sz="2000" dirty="0"/>
              <a:t>return </a:t>
            </a:r>
            <a:r>
              <a:rPr lang="ko-KR" altLang="en-US" sz="2000" dirty="0"/>
              <a:t>여부를 제출</a:t>
            </a:r>
            <a:r>
              <a:rPr lang="en-US" altLang="ko-KR" sz="2000" dirty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/res1: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/res2: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/res3: O/X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85216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en-US" altLang="ko-KR" dirty="0"/>
              <a:t> </a:t>
            </a:r>
            <a:r>
              <a:rPr lang="ko-KR" altLang="en-US" dirty="0"/>
              <a:t>이용하기</a:t>
            </a:r>
          </a:p>
        </p:txBody>
      </p:sp>
    </p:spTree>
    <p:extLst>
      <p:ext uri="{BB962C8B-B14F-4D97-AF65-F5344CB8AC3E}">
        <p14:creationId xmlns:p14="http://schemas.microsoft.com/office/powerpoint/2010/main" val="2538120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FB8BD-4D60-65D5-810B-EDFF06EF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en-US" altLang="ko-KR" dirty="0"/>
              <a:t> with. DTO – HTML </a:t>
            </a:r>
            <a:r>
              <a:rPr lang="ko-KR" altLang="en-US" dirty="0"/>
              <a:t>코드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CF02D5-4EF7-6542-2191-CC9711D1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04BC1-5DB7-3D38-B9B5-6B98DC3C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BC7CEB-AF67-8F5B-3E17-681C9C0A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219" y="1803698"/>
            <a:ext cx="6641562" cy="398570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&lt;h1&gt;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이용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&lt;/h1&gt;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dto-result-container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result-container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forms-container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="form_dto1"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&lt;h3&gt;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#14. DTO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dtoRes1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 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일반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dtoRes2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(DTO)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="form_dto2"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&lt;h3&gt;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#15. DTO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dtoRes3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일반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dtoRes4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(DTO)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dtoRes5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(DTO)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02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FB8BD-4D60-65D5-810B-EDFF06EF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en-US" altLang="ko-KR" dirty="0"/>
              <a:t> with. DTO – JavaScript</a:t>
            </a:r>
            <a:r>
              <a:rPr lang="ko-KR" altLang="en-US" dirty="0"/>
              <a:t> 코드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CF02D5-4EF7-6542-2191-CC9711D1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04BC1-5DB7-3D38-B9B5-6B98DC3C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2D4C06E-9EFF-4179-F138-8BDE5CA3D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76" y="1367891"/>
            <a:ext cx="6096000" cy="32778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dto-result-container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폼 데이터를 쿼리 문자열로 만들어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GET 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/res1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요청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dtoRes1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'form_dto1'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/res1?name=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&amp;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'dtoRes1: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폼 데이터를 쿼리 문자열로 만들어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GET 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/res2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요청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dtoRes2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'form_dto1'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/res2?name=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&amp;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'dtoRes2: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0A8B45-568A-19D1-7C0B-9395B3188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408" y="1672789"/>
            <a:ext cx="6096000" cy="452431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dtoRes3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'form_dto2'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/res3`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'dtoRes3: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catch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dtoRes3:'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dtoRes4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'form_dto2'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/res4`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'dtoRes1: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'form_dto2'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/res5`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'dtoRes5: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463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en-US" altLang="ko-KR" dirty="0" err="1"/>
              <a:t>Axios</a:t>
            </a:r>
            <a:r>
              <a:rPr lang="en-US" altLang="ko-KR" dirty="0"/>
              <a:t> - DTO</a:t>
            </a:r>
            <a:endParaRPr lang="ko-KR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CD78D4-A11B-B234-35D1-D1094CC2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965" y="612844"/>
            <a:ext cx="4935967" cy="563231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"/axios/res1"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axiosRes1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"/axios/res2"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axiosRes2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"/axios/res3"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axiosRes3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"/axios/res4"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axiosRes4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"/axios/res5"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axiosRes5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dto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userDTO.getAge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2A67AA0C-8A8D-C41C-C641-300900F04F04}"/>
              </a:ext>
            </a:extLst>
          </p:cNvPr>
          <p:cNvSpPr txBox="1">
            <a:spLocks/>
          </p:cNvSpPr>
          <p:nvPr/>
        </p:nvSpPr>
        <p:spPr>
          <a:xfrm>
            <a:off x="337074" y="1565213"/>
            <a:ext cx="4900056" cy="4165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Controller </a:t>
            </a:r>
            <a:r>
              <a:rPr lang="ko-KR" altLang="en-US" sz="2000" dirty="0"/>
              <a:t>코드를 다음과 같이 작성하고 </a:t>
            </a:r>
            <a:br>
              <a:rPr lang="en-US" altLang="ko-KR" sz="2000" dirty="0"/>
            </a:br>
            <a:r>
              <a:rPr lang="ko-KR" altLang="en-US" sz="2000" dirty="0"/>
              <a:t>프론트 요청 시 어떻게 </a:t>
            </a:r>
            <a:r>
              <a:rPr lang="en-US" altLang="ko-KR" sz="2000" dirty="0"/>
              <a:t>return </a:t>
            </a:r>
            <a:r>
              <a:rPr lang="ko-KR" altLang="en-US" sz="2000" dirty="0"/>
              <a:t>되는지 확인하기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Slack #</a:t>
            </a:r>
            <a:r>
              <a:rPr lang="ko-KR" altLang="en-US" sz="2000" dirty="0"/>
              <a:t>과제 채널에 </a:t>
            </a:r>
            <a:r>
              <a:rPr lang="en-US" altLang="ko-KR" sz="2000" dirty="0"/>
              <a:t>return </a:t>
            </a:r>
            <a:r>
              <a:rPr lang="ko-KR" altLang="en-US" sz="2000" dirty="0"/>
              <a:t>여부를 제출</a:t>
            </a:r>
            <a:r>
              <a:rPr lang="en-US" altLang="ko-KR" sz="2000" dirty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/res1: O/X</a:t>
            </a:r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/res2: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/res3: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/res4: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/res5: O/X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35123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AB1AB-FA83-6ADE-5815-1BDAE6A0A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en-US" altLang="ko-KR" dirty="0"/>
              <a:t> with. VO – HTML </a:t>
            </a:r>
            <a:r>
              <a:rPr lang="ko-KR" altLang="en-US" dirty="0"/>
              <a:t>코드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EBC1CE-18DB-63A4-6539-04A52844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BFBA8-C218-2AB7-ACFD-36E24CFF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95C3B1-D060-6F31-D3D2-B97BFD8AE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073" y="1739894"/>
            <a:ext cx="6583854" cy="364715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&lt;h1&gt;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이용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&lt;/h1&gt;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vo-result-container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result-container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forms-container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="form_vo1"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&lt;h3&gt;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#16. VO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GET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voRes1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 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일반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voRes2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(VO)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="form_vo2"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form-card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&lt;h3&gt;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#17. VO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with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POST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&lt;/h3&gt;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placeholder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/&gt;&lt;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voRes3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일반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voRes4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(VO)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onclick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voRes5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 (VO) -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button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div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18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AB1AB-FA83-6ADE-5815-1BDAE6A0A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en-US" altLang="ko-KR" dirty="0"/>
              <a:t> with. VO – JavaScript </a:t>
            </a:r>
            <a:r>
              <a:rPr lang="ko-KR" altLang="en-US" dirty="0"/>
              <a:t>코드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EBC1CE-18DB-63A4-6539-04A52844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BFBA8-C218-2AB7-ACFD-36E24CFF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30BBB35-E416-2BF2-83EA-67CBC026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61" y="1390365"/>
            <a:ext cx="6009939" cy="300082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vo-result-container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voRes1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'form_vo1'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/res1?name=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&amp;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'voRes1: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voRes2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'form_vo1'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/res2?name=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&amp;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${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'voRes2: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74500BC-C00E-8628-9AF1-7E2F00D5F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494" y="1565213"/>
            <a:ext cx="5916706" cy="466281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voRes3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'form_vo2'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/res3`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'voRes3: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catch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voRes3:'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error.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voRes4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'form_vo2'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/res4`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'voRes4: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voRes5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document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getElementById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'form_vo2'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post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`/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/res5`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{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form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then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=&gt; {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'voRes5 : '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kumimoji="0" lang="ko-KR" altLang="ko-KR" sz="9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voResultBox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textContent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res.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});</a:t>
            </a:r>
            <a:b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48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en-US" altLang="ko-KR" dirty="0" err="1"/>
              <a:t>Axios</a:t>
            </a:r>
            <a:r>
              <a:rPr lang="en-US" altLang="ko-KR" dirty="0"/>
              <a:t> - VO</a:t>
            </a:r>
            <a:endParaRPr lang="ko-KR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6C11B7-9062-677F-66F3-549ADDFDD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0" y="550687"/>
            <a:ext cx="5057795" cy="5509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"/axios/vo/res1"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axiosVoRes1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"/axios/vo/res2"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axiosVoRes2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"[GET]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"/axios/vo/res3"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axiosVoRes3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"/axios/vo/res4"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axiosVoRes4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"/axios/vo/res5"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axiosVoRes5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ko-KR" altLang="ko-KR" sz="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"[POST]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axios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=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userVO.getName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나이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userVO.getAge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7977EC08-7E35-3772-0261-10BDF86F7EC0}"/>
              </a:ext>
            </a:extLst>
          </p:cNvPr>
          <p:cNvSpPr txBox="1">
            <a:spLocks/>
          </p:cNvSpPr>
          <p:nvPr/>
        </p:nvSpPr>
        <p:spPr>
          <a:xfrm>
            <a:off x="337074" y="1565213"/>
            <a:ext cx="4900056" cy="4165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Controller </a:t>
            </a:r>
            <a:r>
              <a:rPr lang="ko-KR" altLang="en-US" sz="2000" dirty="0"/>
              <a:t>코드를 다음과 같이 작성하고 </a:t>
            </a:r>
            <a:br>
              <a:rPr lang="en-US" altLang="ko-KR" sz="2000" dirty="0"/>
            </a:br>
            <a:r>
              <a:rPr lang="ko-KR" altLang="en-US" sz="2000" dirty="0"/>
              <a:t>프론트 요청 시 어떻게 </a:t>
            </a:r>
            <a:r>
              <a:rPr lang="en-US" altLang="ko-KR" sz="2000" dirty="0"/>
              <a:t>return </a:t>
            </a:r>
            <a:r>
              <a:rPr lang="ko-KR" altLang="en-US" sz="2000" dirty="0"/>
              <a:t>되는지 확인하기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Slack #</a:t>
            </a:r>
            <a:r>
              <a:rPr lang="ko-KR" altLang="en-US" sz="2000" dirty="0"/>
              <a:t>과제 채널에 </a:t>
            </a:r>
            <a:r>
              <a:rPr lang="en-US" altLang="ko-KR" sz="2000" dirty="0"/>
              <a:t>return </a:t>
            </a:r>
            <a:r>
              <a:rPr lang="ko-KR" altLang="en-US" sz="2000" dirty="0"/>
              <a:t>여부를 제출</a:t>
            </a:r>
            <a:r>
              <a:rPr lang="en-US" altLang="ko-KR" sz="2000" dirty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/res1: O/X</a:t>
            </a:r>
          </a:p>
          <a:p>
            <a:r>
              <a:rPr lang="en-US" altLang="ko-KR" sz="2000" dirty="0"/>
              <a:t>GET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/res2: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/res3: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/res4: O/X</a:t>
            </a:r>
          </a:p>
          <a:p>
            <a:r>
              <a:rPr lang="en-US" altLang="ko-KR" sz="2000" dirty="0"/>
              <a:t>POST /</a:t>
            </a:r>
            <a:r>
              <a:rPr lang="en-US" altLang="ko-KR" sz="2000" dirty="0" err="1"/>
              <a:t>axios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vo</a:t>
            </a:r>
            <a:r>
              <a:rPr lang="en-US" altLang="ko-KR" sz="2000" dirty="0"/>
              <a:t>/res5: O/X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17268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B67D2E-6CA0-CBB9-8102-C2EAD251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0678F44-F716-61A4-1735-698C134E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1050AEF-E787-589F-ED68-33DCDA8E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25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97077F0-C54E-FFC2-0048-55BBFBA8E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@Controller</a:t>
            </a:r>
          </a:p>
          <a:p>
            <a:pPr lvl="1"/>
            <a:r>
              <a:rPr lang="ko-KR" altLang="en-US" sz="2000" dirty="0"/>
              <a:t>해당 클래스가 </a:t>
            </a:r>
            <a:r>
              <a:rPr lang="en-US" altLang="ko-KR" sz="2000" dirty="0"/>
              <a:t>Spring MVC </a:t>
            </a:r>
            <a:r>
              <a:rPr lang="ko-KR" altLang="en-US" sz="2000" dirty="0"/>
              <a:t>컨트롤러임을 나타냄</a:t>
            </a:r>
            <a:endParaRPr lang="en-US" altLang="ko-KR" sz="2000" dirty="0"/>
          </a:p>
          <a:p>
            <a:pPr lvl="1"/>
            <a:r>
              <a:rPr lang="ko-KR" altLang="en-US" sz="2000" dirty="0"/>
              <a:t>주로 뷰를 반환하는 웹 요청을 처리</a:t>
            </a:r>
            <a:endParaRPr lang="en-US" altLang="ko-KR" sz="2000" dirty="0"/>
          </a:p>
          <a:p>
            <a:pPr lvl="1"/>
            <a:endParaRPr lang="en-US" sz="2000" dirty="0"/>
          </a:p>
          <a:p>
            <a:r>
              <a:rPr lang="en-US" sz="2400" b="1" dirty="0">
                <a:solidFill>
                  <a:schemeClr val="accent1"/>
                </a:solidFill>
              </a:rPr>
              <a:t>@GetMapping </a:t>
            </a:r>
            <a:r>
              <a:rPr lang="en-US" sz="2400" dirty="0"/>
              <a:t>/ </a:t>
            </a:r>
            <a:r>
              <a:rPr lang="en-US" sz="2400" b="1" dirty="0">
                <a:solidFill>
                  <a:schemeClr val="accent1"/>
                </a:solidFill>
              </a:rPr>
              <a:t>@PostMapping</a:t>
            </a:r>
          </a:p>
          <a:p>
            <a:pPr lvl="1"/>
            <a:r>
              <a:rPr lang="en-US" sz="2000" dirty="0"/>
              <a:t>HTTP</a:t>
            </a:r>
            <a:r>
              <a:rPr lang="ko-KR" altLang="en-US" sz="2000" dirty="0"/>
              <a:t> </a:t>
            </a:r>
            <a:r>
              <a:rPr lang="en-US" altLang="ko-KR" sz="2000" dirty="0"/>
              <a:t>GET/POST </a:t>
            </a:r>
            <a:r>
              <a:rPr lang="ko-KR" altLang="en-US" sz="2000" dirty="0"/>
              <a:t>요청을 특정 </a:t>
            </a:r>
            <a:r>
              <a:rPr lang="ko-KR" altLang="en-US" sz="2000" dirty="0" err="1"/>
              <a:t>핸들러</a:t>
            </a:r>
            <a:r>
              <a:rPr lang="ko-KR" altLang="en-US" sz="2000" dirty="0"/>
              <a:t> 메서드에 매핑</a:t>
            </a:r>
            <a:endParaRPr lang="en-US" altLang="ko-KR" sz="2000" dirty="0"/>
          </a:p>
          <a:p>
            <a:pPr lvl="1"/>
            <a:r>
              <a:rPr lang="en-US" sz="2000" dirty="0"/>
              <a:t>URL </a:t>
            </a:r>
            <a:r>
              <a:rPr lang="ko-KR" altLang="en-US" sz="2000" dirty="0"/>
              <a:t>경로를 지정하여 해당 요청을 처리할 메서드를 정의</a:t>
            </a:r>
            <a:endParaRPr lang="en-US" altLang="ko-KR" sz="2000" dirty="0"/>
          </a:p>
          <a:p>
            <a:pPr lvl="1"/>
            <a:endParaRPr lang="en-US" sz="2000" dirty="0"/>
          </a:p>
          <a:p>
            <a:r>
              <a:rPr lang="en-US" sz="2400" b="1" dirty="0">
                <a:solidFill>
                  <a:schemeClr val="accent1"/>
                </a:solidFill>
              </a:rPr>
              <a:t>@ModelAttribute</a:t>
            </a:r>
          </a:p>
          <a:p>
            <a:pPr lvl="1"/>
            <a:r>
              <a:rPr lang="en-US" sz="2000" dirty="0"/>
              <a:t>HTTP</a:t>
            </a:r>
            <a:r>
              <a:rPr lang="ko-KR" altLang="en-US" sz="2000" dirty="0"/>
              <a:t> 요청 파라미터를 객체에 바인딩</a:t>
            </a:r>
            <a:endParaRPr lang="en-US" altLang="ko-KR" sz="2000" dirty="0"/>
          </a:p>
          <a:p>
            <a:pPr lvl="1"/>
            <a:r>
              <a:rPr lang="ko-KR" altLang="en-US" sz="2000" dirty="0"/>
              <a:t>주로 폼 데이터를 객체로 변환할 때 사용</a:t>
            </a:r>
            <a:endParaRPr lang="en-US" altLang="ko-KR" sz="2000" dirty="0"/>
          </a:p>
          <a:p>
            <a:pPr lvl="1"/>
            <a:r>
              <a:rPr lang="en-US" sz="2000" dirty="0"/>
              <a:t>setter </a:t>
            </a:r>
            <a:r>
              <a:rPr lang="ko-KR" altLang="en-US" sz="2000" dirty="0"/>
              <a:t>메서드를 통해 값을 설정</a:t>
            </a:r>
            <a:r>
              <a:rPr lang="en-US" sz="2000" dirty="0"/>
              <a:t>		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D3049-80E1-3AA2-2692-4CC9B40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A0BCAF-1724-6381-2D03-5D4B1DCF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C4714DC-AD8C-AC5C-0E81-A863EE9B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ko-KR" altLang="en-US" dirty="0" err="1"/>
              <a:t>어노테이션</a:t>
            </a:r>
            <a:r>
              <a:rPr lang="ko-KR" altLang="en-US" dirty="0"/>
              <a:t> 정리 </a:t>
            </a:r>
            <a:r>
              <a:rPr lang="en-US" altLang="ko-KR" dirty="0"/>
              <a:t>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72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938667-4502-B882-FE12-F16C42DB1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731500" cy="461175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@RequestParam</a:t>
            </a:r>
          </a:p>
          <a:p>
            <a:pPr lvl="1"/>
            <a:r>
              <a:rPr lang="en-US" altLang="ko-KR" sz="2000" dirty="0"/>
              <a:t>Spring</a:t>
            </a:r>
            <a:r>
              <a:rPr lang="ko-KR" altLang="en-US" sz="2000" dirty="0"/>
              <a:t> </a:t>
            </a:r>
            <a:r>
              <a:rPr lang="en-US" altLang="ko-KR" sz="2000" dirty="0"/>
              <a:t>MVC </a:t>
            </a:r>
            <a:r>
              <a:rPr lang="ko-KR" altLang="en-US" sz="2000" dirty="0"/>
              <a:t>에서 </a:t>
            </a:r>
            <a:r>
              <a:rPr lang="en-US" altLang="ko-KR" sz="2000" dirty="0"/>
              <a:t>HTTP </a:t>
            </a:r>
            <a:r>
              <a:rPr lang="ko-KR" altLang="en-US" sz="2000" dirty="0"/>
              <a:t>요청 파라미터를 메서드의 파라미터로 바인딩할 때 사용하는 </a:t>
            </a:r>
            <a:r>
              <a:rPr lang="ko-KR" altLang="en-US" sz="2000" dirty="0" err="1"/>
              <a:t>어노테이션</a:t>
            </a:r>
            <a:endParaRPr lang="en-US" altLang="ko-KR" sz="2000" dirty="0"/>
          </a:p>
          <a:p>
            <a:pPr lvl="1"/>
            <a:r>
              <a:rPr lang="en-US" altLang="ko-KR" sz="2000" dirty="0"/>
              <a:t>ex. GET</a:t>
            </a:r>
            <a:r>
              <a:rPr lang="ko-KR" altLang="en-US" sz="2000" dirty="0"/>
              <a:t> 요청의 쿼리 스트링 파라미터 처리</a:t>
            </a:r>
            <a:endParaRPr lang="en-US" altLang="ko-KR" sz="2000" dirty="0"/>
          </a:p>
          <a:p>
            <a:pPr lvl="1"/>
            <a:r>
              <a:rPr lang="en-US" altLang="ko-KR" sz="2000" dirty="0"/>
              <a:t>ex. POST</a:t>
            </a:r>
            <a:r>
              <a:rPr lang="ko-KR" altLang="en-US" sz="2000" dirty="0"/>
              <a:t> 요청의 폼 데이터</a:t>
            </a:r>
            <a:r>
              <a:rPr lang="en-US" altLang="ko-KR" sz="2000" dirty="0"/>
              <a:t> </a:t>
            </a:r>
            <a:r>
              <a:rPr lang="ko-KR" altLang="en-US" sz="2000" dirty="0"/>
              <a:t>처리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@PathVariable</a:t>
            </a:r>
          </a:p>
          <a:p>
            <a:pPr lvl="1"/>
            <a:r>
              <a:rPr lang="en-US" altLang="ko-KR" sz="2000" dirty="0"/>
              <a:t>Spring MVC </a:t>
            </a:r>
            <a:r>
              <a:rPr lang="ko-KR" altLang="en-US" sz="2000" dirty="0"/>
              <a:t>에서 </a:t>
            </a:r>
            <a:r>
              <a:rPr lang="en-US" altLang="ko-KR" sz="2000" dirty="0"/>
              <a:t>URI path variable </a:t>
            </a:r>
            <a:r>
              <a:rPr lang="ko-KR" altLang="en-US" sz="2000" dirty="0"/>
              <a:t>을 </a:t>
            </a:r>
            <a:r>
              <a:rPr lang="ko-KR" altLang="en-US" sz="2000" dirty="0" err="1"/>
              <a:t>핸들러</a:t>
            </a:r>
            <a:r>
              <a:rPr lang="ko-KR" altLang="en-US" sz="2000" dirty="0"/>
              <a:t> 메서드의 파라미터로 바인딩할 때 사용하는 </a:t>
            </a:r>
            <a:r>
              <a:rPr lang="ko-KR" altLang="en-US" sz="2000" dirty="0" err="1"/>
              <a:t>어노테이션</a:t>
            </a:r>
            <a:r>
              <a:rPr lang="ko-KR" altLang="en-US" sz="2000" dirty="0"/>
              <a:t> 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139E4E-1592-9E76-D841-5F7E495E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D1C0C1-3102-4C5A-073A-FBF72E02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2E60AB2-5650-258D-CE18-3BB7C7EE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ko-KR" altLang="en-US" dirty="0" err="1"/>
              <a:t>어노테이션</a:t>
            </a:r>
            <a:r>
              <a:rPr lang="ko-KR" altLang="en-US" dirty="0"/>
              <a:t> 정리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8E1260-FCF4-5C7E-9F5F-DBC7102DB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5748" y="5222856"/>
            <a:ext cx="7438052" cy="9541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"/users/{id}"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메서드 구현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BB36D57-D2A9-6D4E-4DC1-645B072C5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5748" y="3068355"/>
            <a:ext cx="7438052" cy="9541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 경우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users?name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John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같은 요청에서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John"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변수로 </a:t>
            </a:r>
            <a:r>
              <a:rPr lang="ko-KR" altLang="en-US" sz="1400" dirty="0">
                <a:solidFill>
                  <a:srgbClr val="7A7E8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받음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399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0DF3AA-2214-C54D-5369-163B01D9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4"/>
            <a:ext cx="10629900" cy="461175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@ResponseBody</a:t>
            </a:r>
          </a:p>
          <a:p>
            <a:pPr lvl="1"/>
            <a:r>
              <a:rPr lang="en-US" altLang="ko-KR" sz="1800" dirty="0"/>
              <a:t>Spring</a:t>
            </a:r>
            <a:r>
              <a:rPr lang="ko-KR" altLang="en-US" sz="1800" dirty="0"/>
              <a:t> </a:t>
            </a:r>
            <a:r>
              <a:rPr lang="en-US" altLang="ko-KR" sz="1800" dirty="0"/>
              <a:t>MVC</a:t>
            </a:r>
            <a:r>
              <a:rPr lang="ko-KR" altLang="en-US" sz="1800" dirty="0"/>
              <a:t> 에서 컨트롤러 메서드의 </a:t>
            </a:r>
            <a:r>
              <a:rPr lang="ko-KR" altLang="en-US" sz="1800" dirty="0">
                <a:solidFill>
                  <a:schemeClr val="accent1"/>
                </a:solidFill>
              </a:rPr>
              <a:t>반환 값을 </a:t>
            </a:r>
            <a:r>
              <a:rPr lang="en-US" altLang="ko-KR" sz="1800" dirty="0">
                <a:solidFill>
                  <a:schemeClr val="accent1"/>
                </a:solidFill>
              </a:rPr>
              <a:t>HTTP </a:t>
            </a:r>
            <a:r>
              <a:rPr lang="ko-KR" altLang="en-US" sz="1800" dirty="0">
                <a:solidFill>
                  <a:schemeClr val="accent1"/>
                </a:solidFill>
              </a:rPr>
              <a:t>응답 본문</a:t>
            </a:r>
            <a:r>
              <a:rPr lang="en-US" altLang="ko-KR" sz="1800" dirty="0">
                <a:solidFill>
                  <a:schemeClr val="accent1"/>
                </a:solidFill>
              </a:rPr>
              <a:t>(body)</a:t>
            </a:r>
            <a:r>
              <a:rPr lang="ko-KR" altLang="en-US" sz="1800" dirty="0">
                <a:solidFill>
                  <a:schemeClr val="accent1"/>
                </a:solidFill>
              </a:rPr>
              <a:t>에 넣도록 지시</a:t>
            </a:r>
            <a:r>
              <a:rPr lang="ko-KR" altLang="en-US" sz="1800" dirty="0"/>
              <a:t>하는 </a:t>
            </a:r>
            <a:r>
              <a:rPr lang="ko-KR" altLang="en-US" sz="1800" dirty="0" err="1"/>
              <a:t>어노테이션</a:t>
            </a:r>
            <a:endParaRPr lang="en-US" altLang="ko-KR" sz="1800" dirty="0"/>
          </a:p>
          <a:p>
            <a:pPr lvl="1"/>
            <a:r>
              <a:rPr lang="ko-KR" altLang="en-US" sz="1800" dirty="0"/>
              <a:t>주로 </a:t>
            </a:r>
            <a:r>
              <a:rPr lang="en-US" altLang="ko-KR" sz="1800" dirty="0"/>
              <a:t>JSON, XML </a:t>
            </a:r>
            <a:r>
              <a:rPr lang="ko-KR" altLang="en-US" sz="1800" dirty="0"/>
              <a:t>같은 데이터 반환할 때 사용됨 </a:t>
            </a:r>
            <a:r>
              <a:rPr lang="en-US" altLang="ko-KR" sz="1800" dirty="0"/>
              <a:t>(</a:t>
            </a:r>
            <a:r>
              <a:rPr lang="ko-KR" altLang="en-US" sz="1800" dirty="0"/>
              <a:t>기본적으로 객체는 </a:t>
            </a:r>
            <a:r>
              <a:rPr lang="en-US" altLang="ko-KR" sz="1800" dirty="0"/>
              <a:t>JSON </a:t>
            </a:r>
            <a:r>
              <a:rPr lang="ko-KR" altLang="en-US" sz="1800" dirty="0"/>
              <a:t>으로 변환되지만 다른 형식으로 변환 가능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RESTful</a:t>
            </a:r>
            <a:r>
              <a:rPr lang="ko-KR" altLang="en-US" sz="1800" dirty="0"/>
              <a:t> 웹 서비스 구현이 용이</a:t>
            </a:r>
            <a:endParaRPr lang="en-US" altLang="ko-KR" sz="1800" dirty="0"/>
          </a:p>
          <a:p>
            <a:pPr lvl="1"/>
            <a:r>
              <a:rPr lang="ko-KR" altLang="en-US" sz="1800" dirty="0"/>
              <a:t>데이터를 직접 반환하므로 </a:t>
            </a:r>
            <a:r>
              <a:rPr lang="en-US" altLang="ko-KR" sz="1800" dirty="0"/>
              <a:t>View </a:t>
            </a:r>
            <a:r>
              <a:rPr lang="ko-KR" altLang="en-US" sz="1800" dirty="0"/>
              <a:t>로직이 필요 없어짐 </a:t>
            </a:r>
            <a:r>
              <a:rPr lang="en-US" altLang="ko-KR" sz="1800" dirty="0"/>
              <a:t>(</a:t>
            </a:r>
            <a:r>
              <a:rPr lang="ko-KR" altLang="en-US" sz="1800" dirty="0" err="1"/>
              <a:t>프론트엔드와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백엔드가</a:t>
            </a:r>
            <a:r>
              <a:rPr lang="ko-KR" altLang="en-US" sz="1800" dirty="0"/>
              <a:t> 분리된 아키텍처에서 유용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dirty="0"/>
              <a:t>클라이언트 사이드 렌더링 </a:t>
            </a:r>
            <a:r>
              <a:rPr lang="en-US" altLang="ko-KR" sz="1800" dirty="0"/>
              <a:t>(ex.</a:t>
            </a:r>
            <a:r>
              <a:rPr lang="ko-KR" altLang="en-US" sz="1800" dirty="0"/>
              <a:t> </a:t>
            </a:r>
            <a:r>
              <a:rPr lang="en-US" altLang="ko-KR" sz="1800" dirty="0"/>
              <a:t>SPA) </a:t>
            </a:r>
            <a:r>
              <a:rPr lang="ko-KR" altLang="en-US" sz="1800" dirty="0"/>
              <a:t>에 적합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@RestController</a:t>
            </a:r>
          </a:p>
          <a:p>
            <a:pPr lvl="1"/>
            <a:r>
              <a:rPr lang="ko-KR" altLang="en-US" sz="2000" dirty="0" err="1"/>
              <a:t>핸들러</a:t>
            </a:r>
            <a:r>
              <a:rPr lang="ko-KR" altLang="en-US" sz="2000" dirty="0"/>
              <a:t> 메서드 위에 매번 </a:t>
            </a:r>
            <a:r>
              <a:rPr lang="en-US" altLang="ko-KR" sz="2000" dirty="0"/>
              <a:t>@ResponseBody </a:t>
            </a:r>
            <a:r>
              <a:rPr lang="ko-KR" altLang="en-US" sz="2000" dirty="0"/>
              <a:t>를 붙이는 것은 번거로움</a:t>
            </a:r>
            <a:endParaRPr lang="en-US" altLang="ko-KR" sz="2000" dirty="0"/>
          </a:p>
          <a:p>
            <a:pPr lvl="1"/>
            <a:r>
              <a:rPr lang="en-US" altLang="ko-KR" sz="2000" dirty="0"/>
              <a:t>@RestController </a:t>
            </a:r>
            <a:r>
              <a:rPr lang="ko-KR" altLang="en-US" sz="2000" dirty="0" err="1"/>
              <a:t>어노테이션을</a:t>
            </a:r>
            <a:r>
              <a:rPr lang="ko-KR" altLang="en-US" sz="2000" dirty="0"/>
              <a:t> 사용하면 클래스의 모든 메서드에 </a:t>
            </a:r>
            <a:r>
              <a:rPr lang="en-US" altLang="ko-KR" sz="2000" dirty="0"/>
              <a:t>@ResponseBody</a:t>
            </a:r>
            <a:r>
              <a:rPr lang="ko-KR" altLang="en-US" sz="2000" dirty="0"/>
              <a:t>가 적용됨</a:t>
            </a:r>
            <a:endParaRPr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ED6D3F-440C-5420-E5F0-646F9242F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2C47B-6FF7-45A7-D4DF-8966E7B5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787A07A-E6E9-58CE-39D1-B3FDB5A5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ko-KR" altLang="en-US" dirty="0" err="1"/>
              <a:t>어노테이션</a:t>
            </a:r>
            <a:r>
              <a:rPr lang="ko-KR" altLang="en-US" dirty="0"/>
              <a:t> 정리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4A24EA-1C70-7DE9-3154-BC39E4C7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0" y="3532821"/>
            <a:ext cx="5149850" cy="116955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"/user/{id}"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@ResponseBody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userService.findById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23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F0FEF35-B2A6-B513-C063-07C38868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/>
              <a:t>일반 폼 전송</a:t>
            </a:r>
            <a:endParaRPr lang="en-US" altLang="ko-KR" sz="2000" b="1" dirty="0"/>
          </a:p>
          <a:p>
            <a:pPr lvl="1"/>
            <a:r>
              <a:rPr lang="en-US" altLang="ko-KR" sz="1800" dirty="0"/>
              <a:t>@RequestParam:</a:t>
            </a:r>
            <a:r>
              <a:rPr lang="ko-KR" altLang="en-US" sz="1800" dirty="0"/>
              <a:t> </a:t>
            </a:r>
            <a:r>
              <a:rPr lang="en-US" altLang="ko-KR" sz="1800" dirty="0"/>
              <a:t>GET, POST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@PathVariable: GET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endParaRPr lang="en-US" altLang="ko-KR" sz="1600" dirty="0"/>
          </a:p>
          <a:p>
            <a:r>
              <a:rPr lang="en-US" altLang="ko-KR" sz="2000" b="1" dirty="0"/>
              <a:t>DTO </a:t>
            </a:r>
            <a:r>
              <a:rPr lang="ko-KR" altLang="en-US" sz="2000" b="1" dirty="0"/>
              <a:t>이용 일반 폼 전송</a:t>
            </a:r>
            <a:endParaRPr lang="en-US" altLang="ko-KR" sz="2000" b="1" dirty="0"/>
          </a:p>
          <a:p>
            <a:pPr lvl="1"/>
            <a:r>
              <a:rPr lang="en-US" altLang="ko-KR" sz="1800" dirty="0"/>
              <a:t>GET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@RequestBody </a:t>
            </a:r>
            <a:r>
              <a:rPr lang="ko-KR" altLang="en-US" sz="1800" dirty="0"/>
              <a:t>없으면 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@RequestBody </a:t>
            </a:r>
            <a:r>
              <a:rPr lang="ko-KR" altLang="en-US" sz="1800" dirty="0"/>
              <a:t>있으면 </a:t>
            </a:r>
            <a:r>
              <a:rPr lang="ko-KR" altLang="en-US" sz="1800" dirty="0">
                <a:solidFill>
                  <a:schemeClr val="accent3"/>
                </a:solidFill>
              </a:rPr>
              <a:t>실패 </a:t>
            </a:r>
            <a:r>
              <a:rPr lang="en-US" altLang="ko-KR" sz="1800" dirty="0">
                <a:solidFill>
                  <a:schemeClr val="accent6"/>
                </a:solidFill>
              </a:rPr>
              <a:t>(*Content-Type</a:t>
            </a:r>
            <a:r>
              <a:rPr lang="ko-KR" altLang="en-US" sz="1800" dirty="0">
                <a:solidFill>
                  <a:schemeClr val="accent6"/>
                </a:solidFill>
              </a:rPr>
              <a:t> 불일치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</a:p>
          <a:p>
            <a:pPr lvl="1"/>
            <a:endParaRPr lang="en-US" altLang="ko-KR" sz="1800" dirty="0"/>
          </a:p>
          <a:p>
            <a:r>
              <a:rPr lang="en-US" altLang="ko-KR" sz="2000" b="1" dirty="0"/>
              <a:t>VO </a:t>
            </a:r>
            <a:r>
              <a:rPr lang="ko-KR" altLang="en-US" sz="2000" b="1" dirty="0"/>
              <a:t>이용 일반 폼 전송</a:t>
            </a:r>
            <a:endParaRPr lang="en-US" altLang="ko-KR" sz="2000" b="1" dirty="0"/>
          </a:p>
          <a:p>
            <a:pPr lvl="1"/>
            <a:r>
              <a:rPr lang="en-US" altLang="ko-KR" sz="1800" dirty="0"/>
              <a:t>GET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null </a:t>
            </a:r>
            <a:r>
              <a:rPr lang="en-US" altLang="ko-KR" sz="1800" dirty="0">
                <a:solidFill>
                  <a:schemeClr val="accent6"/>
                </a:solidFill>
              </a:rPr>
              <a:t>(*setter</a:t>
            </a:r>
            <a:r>
              <a:rPr lang="ko-KR" altLang="en-US" sz="1800" dirty="0">
                <a:solidFill>
                  <a:schemeClr val="accent6"/>
                </a:solidFill>
              </a:rPr>
              <a:t> 메서드 부재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  <a:endParaRPr lang="en-US" altLang="ko-KR" sz="1800" dirty="0"/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@RequestBody</a:t>
            </a:r>
            <a:r>
              <a:rPr lang="ko-KR" altLang="en-US" sz="1800" dirty="0"/>
              <a:t> 없으면 </a:t>
            </a:r>
            <a:r>
              <a:rPr lang="en-US" altLang="ko-KR" sz="1800" dirty="0"/>
              <a:t>null </a:t>
            </a:r>
            <a:r>
              <a:rPr lang="en-US" altLang="ko-KR" sz="1800" dirty="0">
                <a:solidFill>
                  <a:schemeClr val="accent6"/>
                </a:solidFill>
              </a:rPr>
              <a:t>(*setter</a:t>
            </a:r>
            <a:r>
              <a:rPr lang="ko-KR" altLang="en-US" sz="1800" dirty="0">
                <a:solidFill>
                  <a:schemeClr val="accent6"/>
                </a:solidFill>
              </a:rPr>
              <a:t> 메서드 부재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전송</a:t>
            </a:r>
            <a:r>
              <a:rPr lang="en-US" altLang="ko-KR" sz="1800" dirty="0"/>
              <a:t>: @RequestBody</a:t>
            </a:r>
            <a:r>
              <a:rPr lang="ko-KR" altLang="en-US" sz="1800" dirty="0"/>
              <a:t> 있으면 </a:t>
            </a:r>
            <a:r>
              <a:rPr lang="ko-KR" altLang="en-US" sz="1800" dirty="0">
                <a:solidFill>
                  <a:schemeClr val="accent3"/>
                </a:solidFill>
              </a:rPr>
              <a:t>실패 </a:t>
            </a:r>
            <a:r>
              <a:rPr lang="en-US" altLang="ko-KR" sz="1800" dirty="0">
                <a:solidFill>
                  <a:schemeClr val="accent6"/>
                </a:solidFill>
              </a:rPr>
              <a:t>(*Content-Type</a:t>
            </a:r>
            <a:r>
              <a:rPr lang="ko-KR" altLang="en-US" sz="1800" dirty="0">
                <a:solidFill>
                  <a:schemeClr val="accent6"/>
                </a:solidFill>
              </a:rPr>
              <a:t> 불일치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</a:p>
          <a:p>
            <a:pPr lvl="1"/>
            <a:endParaRPr lang="en-US" altLang="ko-KR" sz="1800" dirty="0">
              <a:solidFill>
                <a:schemeClr val="accent6"/>
              </a:solidFill>
            </a:endParaRPr>
          </a:p>
          <a:p>
            <a:pPr lvl="1"/>
            <a:endParaRPr lang="en-US" sz="18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7B916-E515-7328-2EC5-69C1955D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F0E9D-5D2C-2262-1CF3-CEB38579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BA21C6E-82B1-E088-FDAF-2CDB9E85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결과 분석 </a:t>
            </a:r>
            <a:r>
              <a:rPr lang="en-US" altLang="ko-KR" dirty="0"/>
              <a:t>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57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F0FEF35-B2A6-B513-C063-07C38868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DTO </a:t>
            </a:r>
            <a:r>
              <a:rPr lang="ko-KR" altLang="en-US" sz="2000" b="1" dirty="0"/>
              <a:t>이용 동적 폼 전송</a:t>
            </a:r>
            <a:endParaRPr lang="en-US" altLang="ko-KR" sz="2000" b="1" dirty="0"/>
          </a:p>
          <a:p>
            <a:pPr lvl="1"/>
            <a:r>
              <a:rPr lang="en-US" altLang="ko-KR" sz="1800" dirty="0"/>
              <a:t>GET </a:t>
            </a:r>
            <a:r>
              <a:rPr lang="ko-KR" altLang="en-US" sz="1800" dirty="0"/>
              <a:t>일반</a:t>
            </a:r>
            <a:r>
              <a:rPr lang="en-US" altLang="ko-KR" sz="1800" dirty="0"/>
              <a:t>: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GET DTO: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일반</a:t>
            </a:r>
            <a:r>
              <a:rPr lang="en-US" altLang="ko-KR" sz="1800" dirty="0"/>
              <a:t>: </a:t>
            </a:r>
            <a:r>
              <a:rPr lang="ko-KR" altLang="en-US" sz="1800" dirty="0">
                <a:solidFill>
                  <a:schemeClr val="accent3"/>
                </a:solidFill>
              </a:rPr>
              <a:t>실패 </a:t>
            </a:r>
            <a:r>
              <a:rPr lang="en-US" altLang="ko-KR" sz="1800" dirty="0">
                <a:solidFill>
                  <a:schemeClr val="accent6"/>
                </a:solidFill>
              </a:rPr>
              <a:t>(*Content-Type</a:t>
            </a:r>
            <a:r>
              <a:rPr lang="ko-KR" altLang="en-US" sz="1800" dirty="0">
                <a:solidFill>
                  <a:schemeClr val="accent6"/>
                </a:solidFill>
              </a:rPr>
              <a:t> 불일치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  <a:endParaRPr lang="en-US" altLang="ko-KR" sz="1800" dirty="0">
              <a:solidFill>
                <a:schemeClr val="accent3"/>
              </a:solidFill>
            </a:endParaRPr>
          </a:p>
          <a:p>
            <a:pPr lvl="1"/>
            <a:r>
              <a:rPr lang="en-US" altLang="ko-KR" sz="1800" dirty="0"/>
              <a:t>POST DTO: @RequestBody</a:t>
            </a:r>
            <a:r>
              <a:rPr lang="ko-KR" altLang="en-US" sz="1800" dirty="0"/>
              <a:t> 없으면 </a:t>
            </a:r>
            <a:r>
              <a:rPr lang="en-US" altLang="ko-KR" sz="1800" dirty="0"/>
              <a:t>null</a:t>
            </a:r>
          </a:p>
          <a:p>
            <a:pPr lvl="1"/>
            <a:r>
              <a:rPr lang="en-US" altLang="ko-KR" sz="1800" dirty="0"/>
              <a:t>POST</a:t>
            </a:r>
            <a:r>
              <a:rPr lang="ko-KR" altLang="en-US" sz="1800" dirty="0"/>
              <a:t> </a:t>
            </a:r>
            <a:r>
              <a:rPr lang="en-US" altLang="ko-KR" sz="1800" dirty="0"/>
              <a:t>DTO:</a:t>
            </a:r>
            <a:r>
              <a:rPr lang="ko-KR" altLang="en-US" sz="1800" dirty="0"/>
              <a:t> </a:t>
            </a:r>
            <a:r>
              <a:rPr lang="en-US" altLang="ko-KR" sz="1800" dirty="0"/>
              <a:t>@RequestBody </a:t>
            </a:r>
            <a:r>
              <a:rPr lang="ko-KR" altLang="en-US" sz="1800" dirty="0"/>
              <a:t>있으면 가능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b="1" dirty="0"/>
              <a:t>VO </a:t>
            </a:r>
            <a:r>
              <a:rPr lang="ko-KR" altLang="en-US" sz="2000" b="1" dirty="0"/>
              <a:t>이용 동적 폼 전송</a:t>
            </a:r>
            <a:endParaRPr lang="en-US" altLang="ko-KR" sz="2000" b="1" dirty="0"/>
          </a:p>
          <a:p>
            <a:pPr lvl="1"/>
            <a:r>
              <a:rPr lang="en-US" altLang="ko-KR" sz="1800" dirty="0"/>
              <a:t>GET </a:t>
            </a:r>
            <a:r>
              <a:rPr lang="ko-KR" altLang="en-US" sz="1800" dirty="0"/>
              <a:t>일반</a:t>
            </a:r>
            <a:r>
              <a:rPr lang="en-US" altLang="ko-KR" sz="1800" dirty="0"/>
              <a:t>: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lvl="1"/>
            <a:r>
              <a:rPr lang="en-US" altLang="ko-KR" sz="1800" dirty="0"/>
              <a:t>GET VO: null</a:t>
            </a:r>
          </a:p>
          <a:p>
            <a:pPr lvl="1"/>
            <a:r>
              <a:rPr lang="en-US" altLang="ko-KR" sz="1800" dirty="0"/>
              <a:t>POST </a:t>
            </a:r>
            <a:r>
              <a:rPr lang="ko-KR" altLang="en-US" sz="1800" dirty="0"/>
              <a:t>일반</a:t>
            </a:r>
            <a:r>
              <a:rPr lang="en-US" altLang="ko-KR" sz="1800" dirty="0"/>
              <a:t>: </a:t>
            </a:r>
            <a:r>
              <a:rPr lang="ko-KR" altLang="en-US" sz="1800" dirty="0">
                <a:solidFill>
                  <a:schemeClr val="accent3"/>
                </a:solidFill>
              </a:rPr>
              <a:t>실패 </a:t>
            </a:r>
            <a:r>
              <a:rPr lang="en-US" altLang="ko-KR" sz="1800" dirty="0">
                <a:solidFill>
                  <a:schemeClr val="accent6"/>
                </a:solidFill>
              </a:rPr>
              <a:t>(*Content-Type</a:t>
            </a:r>
            <a:r>
              <a:rPr lang="ko-KR" altLang="en-US" sz="1800" dirty="0">
                <a:solidFill>
                  <a:schemeClr val="accent6"/>
                </a:solidFill>
              </a:rPr>
              <a:t> 불일치</a:t>
            </a:r>
            <a:r>
              <a:rPr lang="en-US" altLang="ko-KR" sz="1800" dirty="0">
                <a:solidFill>
                  <a:schemeClr val="accent6"/>
                </a:solidFill>
              </a:rPr>
              <a:t>)</a:t>
            </a:r>
            <a:endParaRPr lang="en-US" altLang="ko-KR" sz="1800" dirty="0">
              <a:solidFill>
                <a:schemeClr val="accent3"/>
              </a:solidFill>
            </a:endParaRPr>
          </a:p>
          <a:p>
            <a:pPr lvl="1"/>
            <a:r>
              <a:rPr lang="en-US" altLang="ko-KR" sz="1800" dirty="0"/>
              <a:t>POST VO: @RequestBody</a:t>
            </a:r>
            <a:r>
              <a:rPr lang="ko-KR" altLang="en-US" sz="1800" dirty="0"/>
              <a:t> 없으면 </a:t>
            </a:r>
            <a:r>
              <a:rPr lang="en-US" altLang="ko-KR" sz="1800" dirty="0"/>
              <a:t>null</a:t>
            </a:r>
          </a:p>
          <a:p>
            <a:pPr lvl="1"/>
            <a:r>
              <a:rPr lang="en-US" altLang="ko-KR" sz="1800" dirty="0"/>
              <a:t>POST</a:t>
            </a:r>
            <a:r>
              <a:rPr lang="ko-KR" altLang="en-US" sz="1800" dirty="0"/>
              <a:t> </a:t>
            </a:r>
            <a:r>
              <a:rPr lang="en-US" altLang="ko-KR" sz="1800" dirty="0"/>
              <a:t>VO:</a:t>
            </a:r>
            <a:r>
              <a:rPr lang="ko-KR" altLang="en-US" sz="1800" dirty="0"/>
              <a:t> </a:t>
            </a:r>
            <a:r>
              <a:rPr lang="en-US" altLang="ko-KR" sz="1800" dirty="0"/>
              <a:t>@RequestBody </a:t>
            </a:r>
            <a:r>
              <a:rPr lang="ko-KR" altLang="en-US" sz="1800" dirty="0"/>
              <a:t>있으면 가능</a:t>
            </a:r>
            <a:endParaRPr lang="en-US" altLang="ko-KR" sz="1800" dirty="0"/>
          </a:p>
          <a:p>
            <a:pPr lvl="1"/>
            <a:endParaRPr lang="en-US" sz="18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7B916-E515-7328-2EC5-69C1955D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F0E9D-5D2C-2262-1CF3-CEB38579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BA21C6E-82B1-E088-FDAF-2CDB9E85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결과 분석 </a:t>
            </a:r>
            <a:r>
              <a:rPr lang="en-US" altLang="ko-KR" dirty="0"/>
              <a:t>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89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8C8CF9B-A85A-36DD-7AD8-457E6A8AF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DTO </a:t>
            </a:r>
            <a:r>
              <a:rPr lang="ko-KR" altLang="en-US" sz="2400" dirty="0">
                <a:solidFill>
                  <a:schemeClr val="accent1"/>
                </a:solidFill>
              </a:rPr>
              <a:t>사용 시</a:t>
            </a:r>
            <a:r>
              <a:rPr lang="en-US" sz="2400" dirty="0"/>
              <a:t>: </a:t>
            </a:r>
            <a:r>
              <a:rPr lang="en-US" altLang="ko-KR" sz="2400" dirty="0"/>
              <a:t>setter </a:t>
            </a:r>
            <a:r>
              <a:rPr lang="ko-KR" altLang="en-US" sz="2400" dirty="0"/>
              <a:t>메소드가 있어 일반 폼 전송 시 데이터 바인딩 잘 됨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sz="2400" dirty="0">
                <a:solidFill>
                  <a:schemeClr val="accent1"/>
                </a:solidFill>
              </a:rPr>
              <a:t>VO </a:t>
            </a:r>
            <a:r>
              <a:rPr lang="ko-KR" altLang="en-US" sz="2400" dirty="0">
                <a:solidFill>
                  <a:schemeClr val="accent1"/>
                </a:solidFill>
              </a:rPr>
              <a:t>사용 시</a:t>
            </a:r>
            <a:r>
              <a:rPr lang="en-US" sz="2400" dirty="0"/>
              <a:t>: </a:t>
            </a:r>
            <a:r>
              <a:rPr lang="en-US" altLang="ko-KR" sz="2400" dirty="0"/>
              <a:t>setter </a:t>
            </a:r>
            <a:r>
              <a:rPr lang="ko-KR" altLang="en-US" sz="2400" dirty="0"/>
              <a:t>메소드가 없어 일반 폼 전송 시 </a:t>
            </a:r>
            <a:r>
              <a:rPr lang="en-US" altLang="ko-KR" sz="2400" dirty="0"/>
              <a:t>null/0 </a:t>
            </a:r>
            <a:r>
              <a:rPr lang="ko-KR" altLang="en-US" sz="2400" dirty="0"/>
              <a:t>반환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sz="2400" dirty="0" err="1">
                <a:solidFill>
                  <a:schemeClr val="accent1"/>
                </a:solidFill>
              </a:rPr>
              <a:t>Axios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ko-KR" altLang="en-US" sz="2400" dirty="0">
                <a:solidFill>
                  <a:schemeClr val="accent1"/>
                </a:solidFill>
              </a:rPr>
              <a:t>사용 시</a:t>
            </a:r>
            <a:r>
              <a:rPr lang="en-US" altLang="ko-KR" sz="2400" dirty="0"/>
              <a:t>: JSON</a:t>
            </a:r>
            <a:r>
              <a:rPr lang="ko-KR" altLang="en-US" sz="2400" dirty="0"/>
              <a:t> 데이터 전송 시 </a:t>
            </a:r>
            <a:r>
              <a:rPr lang="en-US" altLang="ko-KR" sz="2400" dirty="0"/>
              <a:t>@RequestBody</a:t>
            </a:r>
            <a:r>
              <a:rPr lang="ko-KR" altLang="en-US" sz="2400" dirty="0"/>
              <a:t> 사용하면 </a:t>
            </a:r>
            <a:r>
              <a:rPr lang="en-US" altLang="ko-KR" sz="2400" dirty="0"/>
              <a:t>DTO/VO </a:t>
            </a:r>
            <a:r>
              <a:rPr lang="ko-KR" altLang="en-US" sz="2400" dirty="0"/>
              <a:t>모두 정상 동작</a:t>
            </a:r>
            <a:endParaRPr 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8280DF-E19E-0213-70F7-8915944DB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49F6B2-9BF8-A9A1-4CC4-4165A4E9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374CF7F-A457-F79B-AE78-77AD5891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결과 분석 </a:t>
            </a:r>
            <a:r>
              <a:rPr lang="en-US" altLang="ko-KR" dirty="0"/>
              <a:t>(3)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06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CB514A-17D4-49C4-EA75-14D1A8C52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Axios</a:t>
            </a:r>
            <a:r>
              <a:rPr lang="ko-KR" altLang="en-US" dirty="0"/>
              <a:t>를 이용해 </a:t>
            </a:r>
            <a:r>
              <a:rPr lang="ko-KR" altLang="en-US" dirty="0" err="1"/>
              <a:t>동적폼전송</a:t>
            </a:r>
            <a:r>
              <a:rPr lang="ko-KR" altLang="en-US" dirty="0"/>
              <a:t> 구현하기 </a:t>
            </a:r>
            <a:r>
              <a:rPr lang="en-US" altLang="ko-KR" dirty="0"/>
              <a:t>(VO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1BC76B-5FC3-7553-B2DD-9BAF9288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4D139-72A6-A90B-D1B4-AE43BB3B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48883AF-B100-829E-32D9-4305CE87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 err="1"/>
              <a:t>동적폼전송</a:t>
            </a:r>
            <a:r>
              <a:rPr lang="ko-KR" altLang="en-US" dirty="0"/>
              <a:t> 실습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2E16B7-7563-780D-4195-B10287D7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099" y="2522275"/>
            <a:ext cx="9561801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28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C6C07C-5261-00D2-4EF4-A346695E1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: </a:t>
            </a:r>
            <a:r>
              <a:rPr lang="ko-KR" altLang="en-US" dirty="0"/>
              <a:t>회원 가입</a:t>
            </a:r>
            <a:endParaRPr lang="en-US" altLang="ko-KR" dirty="0"/>
          </a:p>
          <a:p>
            <a:r>
              <a:rPr lang="en-US" altLang="ko-KR" dirty="0"/>
              <a:t>R : </a:t>
            </a:r>
            <a:r>
              <a:rPr lang="ko-KR" altLang="en-US" dirty="0"/>
              <a:t>로그인</a:t>
            </a:r>
            <a:endParaRPr lang="en-US" altLang="ko-KR" dirty="0"/>
          </a:p>
          <a:p>
            <a:r>
              <a:rPr lang="en-US" altLang="ko-KR" dirty="0"/>
              <a:t>U : </a:t>
            </a:r>
            <a:r>
              <a:rPr lang="ko-KR" altLang="en-US" dirty="0"/>
              <a:t>회원 정보 수정</a:t>
            </a:r>
            <a:endParaRPr lang="en-US" altLang="ko-KR" dirty="0"/>
          </a:p>
          <a:p>
            <a:r>
              <a:rPr lang="en-US" altLang="ko-KR" dirty="0"/>
              <a:t>D : </a:t>
            </a:r>
            <a:r>
              <a:rPr lang="ko-KR" altLang="en-US" dirty="0"/>
              <a:t>회원 탈퇴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위의 기능을</a:t>
            </a:r>
            <a:r>
              <a:rPr lang="en-US" altLang="ko-KR" dirty="0"/>
              <a:t> </a:t>
            </a:r>
            <a:r>
              <a:rPr lang="ko-KR" altLang="en-US" dirty="0"/>
              <a:t>수행할 수 있는 </a:t>
            </a:r>
            <a:r>
              <a:rPr lang="en-US" altLang="ko-KR" dirty="0"/>
              <a:t>RESTful </a:t>
            </a:r>
            <a:r>
              <a:rPr lang="ko-KR" altLang="en-US" dirty="0"/>
              <a:t>한 시스템을 만들어보기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/>
              <a:t>회원관리 시스템</a:t>
            </a:r>
          </a:p>
        </p:txBody>
      </p:sp>
    </p:spTree>
    <p:extLst>
      <p:ext uri="{BB962C8B-B14F-4D97-AF65-F5344CB8AC3E}">
        <p14:creationId xmlns:p14="http://schemas.microsoft.com/office/powerpoint/2010/main" val="637515286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7293</TotalTime>
  <Words>6578</Words>
  <Application>Microsoft Office PowerPoint</Application>
  <PresentationFormat>와이드스크린</PresentationFormat>
  <Paragraphs>491</Paragraphs>
  <Slides>39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Arial Unicode MS</vt:lpstr>
      <vt:lpstr>JetBrains Mono</vt:lpstr>
      <vt:lpstr>Pretendard GOV</vt:lpstr>
      <vt:lpstr>맑은 고딕</vt:lpstr>
      <vt:lpstr>Arial</vt:lpstr>
      <vt:lpstr>Helvetica</vt:lpstr>
      <vt:lpstr>3_Office 테마</vt:lpstr>
      <vt:lpstr>웹 개발자 부트캠프 과정</vt:lpstr>
      <vt:lpstr>HTTP Content-Type</vt:lpstr>
      <vt:lpstr>참고. MIME Type</vt:lpstr>
      <vt:lpstr>HTTP Content-Type</vt:lpstr>
      <vt:lpstr>application/x-www-form-urlencoded</vt:lpstr>
      <vt:lpstr>application/json</vt:lpstr>
      <vt:lpstr>multipart/form-data </vt:lpstr>
      <vt:lpstr>API (Get, Post)</vt:lpstr>
      <vt:lpstr>GET Method</vt:lpstr>
      <vt:lpstr>GET Method. query string</vt:lpstr>
      <vt:lpstr>GET Method. path variable</vt:lpstr>
      <vt:lpstr>GET Method. path variable</vt:lpstr>
      <vt:lpstr>실습. GET 실습</vt:lpstr>
      <vt:lpstr>POST Method</vt:lpstr>
      <vt:lpstr>POST Method</vt:lpstr>
      <vt:lpstr>API로 이용하기</vt:lpstr>
      <vt:lpstr>실습. POST 실습</vt:lpstr>
      <vt:lpstr>DTO 이용하기</vt:lpstr>
      <vt:lpstr>PowerPoint 프레젠테이션</vt:lpstr>
      <vt:lpstr>실습. DTO 이용하기 – 일반 폼</vt:lpstr>
      <vt:lpstr>VO 이용하기</vt:lpstr>
      <vt:lpstr>PowerPoint 프레젠테이션</vt:lpstr>
      <vt:lpstr>실습. VO 이용하기 – 일반 폼</vt:lpstr>
      <vt:lpstr>Axios 이용하기</vt:lpstr>
      <vt:lpstr>Axios with. DTO – HTML 코드</vt:lpstr>
      <vt:lpstr>Axios with. DTO – JavaScript 코드</vt:lpstr>
      <vt:lpstr>실습. Axios - DTO</vt:lpstr>
      <vt:lpstr>Axios with. VO – HTML 코드</vt:lpstr>
      <vt:lpstr>Axios with. VO – JavaScript 코드</vt:lpstr>
      <vt:lpstr>실습. Axios - VO</vt:lpstr>
      <vt:lpstr>정리</vt:lpstr>
      <vt:lpstr>주요 어노테이션 정리 (1)</vt:lpstr>
      <vt:lpstr>주요 어노테이션 정리 (2)</vt:lpstr>
      <vt:lpstr>주요 어노테이션 정리 (3)</vt:lpstr>
      <vt:lpstr>주요 결과 분석 (1)</vt:lpstr>
      <vt:lpstr>주요 결과 분석 (2)</vt:lpstr>
      <vt:lpstr>주요 결과 분석 (3) </vt:lpstr>
      <vt:lpstr>실습. 동적폼전송 실습</vt:lpstr>
      <vt:lpstr>실습. 회원관리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1528</cp:revision>
  <dcterms:created xsi:type="dcterms:W3CDTF">2022-06-26T11:10:22Z</dcterms:created>
  <dcterms:modified xsi:type="dcterms:W3CDTF">2024-07-17T03:28:59Z</dcterms:modified>
</cp:coreProperties>
</file>