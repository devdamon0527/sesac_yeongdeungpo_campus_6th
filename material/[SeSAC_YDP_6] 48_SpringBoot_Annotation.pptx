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34"/>
  </p:notesMasterIdLst>
  <p:sldIdLst>
    <p:sldId id="649" r:id="rId2"/>
    <p:sldId id="652" r:id="rId3"/>
    <p:sldId id="611" r:id="rId4"/>
    <p:sldId id="653" r:id="rId5"/>
    <p:sldId id="655" r:id="rId6"/>
    <p:sldId id="654" r:id="rId7"/>
    <p:sldId id="656" r:id="rId8"/>
    <p:sldId id="613" r:id="rId9"/>
    <p:sldId id="671" r:id="rId10"/>
    <p:sldId id="657" r:id="rId11"/>
    <p:sldId id="651" r:id="rId12"/>
    <p:sldId id="635" r:id="rId13"/>
    <p:sldId id="636" r:id="rId14"/>
    <p:sldId id="650" r:id="rId15"/>
    <p:sldId id="638" r:id="rId16"/>
    <p:sldId id="639" r:id="rId17"/>
    <p:sldId id="658" r:id="rId18"/>
    <p:sldId id="642" r:id="rId19"/>
    <p:sldId id="641" r:id="rId20"/>
    <p:sldId id="659" r:id="rId21"/>
    <p:sldId id="660" r:id="rId22"/>
    <p:sldId id="661" r:id="rId23"/>
    <p:sldId id="662" r:id="rId24"/>
    <p:sldId id="643" r:id="rId25"/>
    <p:sldId id="666" r:id="rId26"/>
    <p:sldId id="667" r:id="rId27"/>
    <p:sldId id="668" r:id="rId28"/>
    <p:sldId id="663" r:id="rId29"/>
    <p:sldId id="664" r:id="rId30"/>
    <p:sldId id="665" r:id="rId31"/>
    <p:sldId id="640" r:id="rId32"/>
    <p:sldId id="669" r:id="rId3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AE60"/>
    <a:srgbClr val="F9A130"/>
    <a:srgbClr val="C32F2F"/>
    <a:srgbClr val="FF0000"/>
    <a:srgbClr val="F99FD9"/>
    <a:srgbClr val="F99F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32" autoAdjust="0"/>
    <p:restoredTop sz="78109" autoAdjust="0"/>
  </p:normalViewPr>
  <p:slideViewPr>
    <p:cSldViewPr snapToGrid="0">
      <p:cViewPr varScale="1">
        <p:scale>
          <a:sx n="113" d="100"/>
          <a:sy n="113" d="100"/>
        </p:scale>
        <p:origin x="648" y="86"/>
      </p:cViewPr>
      <p:guideLst/>
    </p:cSldViewPr>
  </p:slideViewPr>
  <p:outlineViewPr>
    <p:cViewPr>
      <p:scale>
        <a:sx n="33" d="100"/>
        <a:sy n="33" d="100"/>
      </p:scale>
      <p:origin x="0" y="-70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248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 err="1"/>
              <a:t>스프링부트</a:t>
            </a:r>
            <a:r>
              <a:rPr lang="ko-KR" altLang="en-US" dirty="0"/>
              <a:t> 시작하기</a:t>
            </a:r>
            <a:r>
              <a:rPr lang="en-US" altLang="ko-KR" dirty="0"/>
              <a:t>] </a:t>
            </a:r>
            <a:r>
              <a:rPr lang="ko-KR" altLang="en-US" dirty="0"/>
              <a:t>단원에서 배운 </a:t>
            </a:r>
            <a:r>
              <a:rPr lang="en-US" altLang="ko-KR" dirty="0"/>
              <a:t>“</a:t>
            </a:r>
            <a:r>
              <a:rPr lang="ko-KR" altLang="en-US" dirty="0"/>
              <a:t>의존성 주입</a:t>
            </a:r>
            <a:r>
              <a:rPr lang="en-US" altLang="ko-KR" dirty="0"/>
              <a:t>“ </a:t>
            </a:r>
            <a:r>
              <a:rPr lang="ko-KR" altLang="en-US" dirty="0"/>
              <a:t>개념 다시 한 번 짚고 가자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5476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의존성</a:t>
            </a:r>
            <a:r>
              <a:rPr lang="ko-KR" altLang="en-US" dirty="0"/>
              <a:t> 개념을 명확하게 짚어보자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3613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이미 </a:t>
            </a:r>
            <a:r>
              <a:rPr lang="en-US" altLang="ko-KR" sz="1200" dirty="0" err="1"/>
              <a:t>FileBoardPersistence</a:t>
            </a:r>
            <a:r>
              <a:rPr lang="en-US" altLang="ko-KR" sz="1200" dirty="0"/>
              <a:t> </a:t>
            </a:r>
            <a:r>
              <a:rPr lang="ko-KR" altLang="en-US" sz="1200" dirty="0"/>
              <a:t>클래스를 사용하는 서비스 코드가 </a:t>
            </a:r>
            <a:r>
              <a:rPr lang="ko-KR" altLang="en-US" sz="1200" dirty="0" err="1"/>
              <a:t>몇십개가</a:t>
            </a:r>
            <a:r>
              <a:rPr lang="ko-KR" altLang="en-US" sz="1200" dirty="0"/>
              <a:t> 된다면</a:t>
            </a:r>
            <a:r>
              <a:rPr lang="en-US" altLang="ko-KR" sz="1200" dirty="0"/>
              <a:t>..? </a:t>
            </a:r>
            <a:r>
              <a:rPr lang="ko-KR" altLang="en-US" sz="1200" dirty="0"/>
              <a:t>돌아다니면서 모두 </a:t>
            </a:r>
            <a:r>
              <a:rPr lang="ko-KR" altLang="en-US" sz="1200" dirty="0" err="1"/>
              <a:t>변경해야함</a:t>
            </a:r>
            <a:r>
              <a:rPr lang="en-US" altLang="ko-KR" sz="1200" dirty="0"/>
              <a:t>.. </a:t>
            </a:r>
            <a:r>
              <a:rPr lang="ko-KR" altLang="en-US" sz="1200" dirty="0"/>
              <a:t>최악</a:t>
            </a:r>
            <a:r>
              <a:rPr lang="en-US" altLang="ko-KR" sz="1200" dirty="0"/>
              <a:t>!!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객체 생성시 의존하는 객체를 외부에서 주입하겠다</a:t>
            </a:r>
            <a:r>
              <a:rPr lang="en-US" altLang="ko-KR" dirty="0"/>
              <a:t>! =&gt; </a:t>
            </a:r>
            <a:r>
              <a:rPr lang="ko-KR" altLang="en-US" dirty="0"/>
              <a:t>의존성 주입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7113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96847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61791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권장되는 방식은 </a:t>
            </a:r>
            <a:r>
              <a:rPr lang="ko-KR" altLang="en-US" b="1" dirty="0"/>
              <a:t>생성자 주입</a:t>
            </a:r>
            <a:endParaRPr lang="en-US" altLang="ko-KR" b="1" dirty="0"/>
          </a:p>
          <a:p>
            <a:endParaRPr lang="en-US" altLang="ko-KR" dirty="0"/>
          </a:p>
          <a:p>
            <a:r>
              <a:rPr lang="en-US" altLang="ko-KR" dirty="0"/>
              <a:t>[setter </a:t>
            </a:r>
            <a:r>
              <a:rPr lang="ko-KR" altLang="en-US" dirty="0"/>
              <a:t>주입 방식</a:t>
            </a:r>
            <a:r>
              <a:rPr lang="en-US" altLang="ko-KR" dirty="0"/>
              <a:t>] – </a:t>
            </a:r>
            <a:r>
              <a:rPr lang="ko-KR" altLang="en-US" dirty="0"/>
              <a:t>권장되지 않음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필드에 </a:t>
            </a:r>
            <a:r>
              <a:rPr lang="en-US" altLang="ko-KR" dirty="0"/>
              <a:t>final </a:t>
            </a:r>
            <a:r>
              <a:rPr lang="ko-KR" altLang="en-US" dirty="0"/>
              <a:t>키워드 제거 </a:t>
            </a:r>
            <a:r>
              <a:rPr lang="en-US" altLang="ko-KR" dirty="0"/>
              <a:t>(</a:t>
            </a:r>
            <a:r>
              <a:rPr lang="ko-KR" altLang="en-US" dirty="0"/>
              <a:t>변경 </a:t>
            </a:r>
            <a:r>
              <a:rPr lang="ko-KR" altLang="en-US" dirty="0" err="1"/>
              <a:t>가능해야하므로</a:t>
            </a:r>
            <a:r>
              <a:rPr lang="en-US" altLang="ko-KR" dirty="0"/>
              <a:t>) 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다른 개발자가 </a:t>
            </a:r>
            <a:r>
              <a:rPr lang="en-US" altLang="ko-KR" dirty="0"/>
              <a:t>setter </a:t>
            </a:r>
            <a:r>
              <a:rPr lang="ko-KR" altLang="en-US" dirty="0"/>
              <a:t>를 이용해 다른 인스턴스로 교체하면 문제 생길 수도 있음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[</a:t>
            </a:r>
            <a:r>
              <a:rPr lang="ko-KR" altLang="en-US" dirty="0"/>
              <a:t>필드 주입 방식</a:t>
            </a:r>
            <a:r>
              <a:rPr lang="en-US" altLang="ko-KR" dirty="0"/>
              <a:t>] – </a:t>
            </a:r>
            <a:r>
              <a:rPr lang="ko-KR" altLang="en-US" dirty="0"/>
              <a:t>권장되지 않음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테스트 어려움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0577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34808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스프링 </a:t>
            </a:r>
            <a:r>
              <a:rPr lang="en-US" altLang="ko-KR" dirty="0"/>
              <a:t>IoC </a:t>
            </a:r>
            <a:r>
              <a:rPr lang="ko-KR" altLang="en-US" dirty="0"/>
              <a:t>컨테이너 </a:t>
            </a:r>
            <a:r>
              <a:rPr lang="en-US" altLang="ko-KR" dirty="0"/>
              <a:t>vs. </a:t>
            </a:r>
            <a:r>
              <a:rPr lang="ko-KR" altLang="en-US" dirty="0"/>
              <a:t>스프링 컨테이너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b="1" dirty="0"/>
              <a:t>스프링 </a:t>
            </a:r>
            <a:r>
              <a:rPr lang="en-US" altLang="ko-KR" b="1" dirty="0"/>
              <a:t>IoC </a:t>
            </a:r>
            <a:r>
              <a:rPr lang="ko-KR" altLang="en-US" b="1" dirty="0"/>
              <a:t>컨테이너</a:t>
            </a:r>
            <a:br>
              <a:rPr lang="en-US" altLang="ko-KR" b="1" dirty="0"/>
            </a:br>
            <a:r>
              <a:rPr lang="en-US" altLang="ko-KR" dirty="0"/>
              <a:t>• IoC(Inversion of Control) </a:t>
            </a:r>
            <a:r>
              <a:rPr lang="ko-KR" altLang="en-US" dirty="0"/>
              <a:t>컨테이너는 </a:t>
            </a:r>
            <a:r>
              <a:rPr lang="ko-KR" altLang="en-US" b="1" dirty="0"/>
              <a:t>더 넓은 개념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• </a:t>
            </a:r>
            <a:r>
              <a:rPr lang="ko-KR" altLang="en-US" dirty="0"/>
              <a:t>이는 의존성 주입</a:t>
            </a:r>
            <a:r>
              <a:rPr lang="en-US" altLang="ko-KR" dirty="0"/>
              <a:t>(Dependency Injection)</a:t>
            </a:r>
            <a:r>
              <a:rPr lang="ko-KR" altLang="en-US" dirty="0"/>
              <a:t>을 수행하는 스프링의 핵심 기능을 총칭합니다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• </a:t>
            </a:r>
            <a:r>
              <a:rPr lang="ko-KR" altLang="en-US" dirty="0"/>
              <a:t>객체의 생성</a:t>
            </a:r>
            <a:r>
              <a:rPr lang="en-US" altLang="ko-KR" dirty="0"/>
              <a:t>, </a:t>
            </a:r>
            <a:r>
              <a:rPr lang="ko-KR" altLang="en-US" dirty="0"/>
              <a:t>관리</a:t>
            </a:r>
            <a:r>
              <a:rPr lang="en-US" altLang="ko-KR" dirty="0"/>
              <a:t>, </a:t>
            </a:r>
            <a:r>
              <a:rPr lang="ko-KR" altLang="en-US" dirty="0"/>
              <a:t>의존성 주입 등을 담당합니다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b="1" dirty="0"/>
              <a:t>스프링 컨테이너 </a:t>
            </a:r>
            <a:r>
              <a:rPr lang="en-US" altLang="ko-KR" b="1" dirty="0"/>
              <a:t>(Bean Factory)</a:t>
            </a:r>
          </a:p>
          <a:p>
            <a:r>
              <a:rPr lang="en-US" altLang="ko-KR" dirty="0"/>
              <a:t>• Bean Factory</a:t>
            </a:r>
            <a:r>
              <a:rPr lang="ko-KR" altLang="en-US" dirty="0"/>
              <a:t>는 </a:t>
            </a:r>
            <a:r>
              <a:rPr lang="ko-KR" altLang="en-US" b="1" dirty="0"/>
              <a:t>스프링 </a:t>
            </a:r>
            <a:r>
              <a:rPr lang="en-US" altLang="ko-KR" b="1" dirty="0"/>
              <a:t>IoC </a:t>
            </a:r>
            <a:r>
              <a:rPr lang="ko-KR" altLang="en-US" b="1" dirty="0"/>
              <a:t>컨테이너의 실제 구현체 중 하나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• </a:t>
            </a:r>
            <a:r>
              <a:rPr lang="ko-KR" altLang="en-US" dirty="0"/>
              <a:t>가장 기본적인 형태의 스프링 컨테이너로</a:t>
            </a:r>
            <a:r>
              <a:rPr lang="en-US" altLang="ko-KR" dirty="0"/>
              <a:t>, Bean</a:t>
            </a:r>
            <a:r>
              <a:rPr lang="ko-KR" altLang="en-US" dirty="0"/>
              <a:t>의 생성과 관리를 담당합니다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• </a:t>
            </a:r>
            <a:r>
              <a:rPr lang="ko-KR" altLang="en-US" dirty="0"/>
              <a:t>주로 </a:t>
            </a:r>
            <a:r>
              <a:rPr lang="en-US" altLang="ko-KR" dirty="0"/>
              <a:t>Bean</a:t>
            </a:r>
            <a:r>
              <a:rPr lang="ko-KR" altLang="en-US" dirty="0"/>
              <a:t>의 정의를 </a:t>
            </a:r>
            <a:r>
              <a:rPr lang="ko-KR" altLang="en-US" dirty="0" err="1"/>
              <a:t>읽어들이고</a:t>
            </a:r>
            <a:r>
              <a:rPr lang="en-US" altLang="ko-KR" dirty="0"/>
              <a:t>, Bean</a:t>
            </a:r>
            <a:r>
              <a:rPr lang="ko-KR" altLang="en-US" dirty="0"/>
              <a:t>을 생성하고</a:t>
            </a:r>
            <a:r>
              <a:rPr lang="en-US" altLang="ko-KR" dirty="0"/>
              <a:t>, </a:t>
            </a:r>
            <a:r>
              <a:rPr lang="ko-KR" altLang="en-US" dirty="0"/>
              <a:t>요청 시 </a:t>
            </a:r>
            <a:r>
              <a:rPr lang="en-US" altLang="ko-KR" dirty="0"/>
              <a:t>Bean</a:t>
            </a:r>
            <a:r>
              <a:rPr lang="ko-KR" altLang="en-US" dirty="0"/>
              <a:t>을 제공하는 역할을 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555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90469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@Component </a:t>
            </a:r>
            <a:r>
              <a:rPr lang="ko-KR" altLang="en-US" dirty="0" err="1"/>
              <a:t>어노테이션은</a:t>
            </a:r>
            <a:r>
              <a:rPr lang="ko-KR" altLang="en-US" dirty="0"/>
              <a:t> 뒤에서 자세히 볼 예정</a:t>
            </a:r>
            <a:r>
              <a:rPr lang="en-US" altLang="ko-KR" dirty="0"/>
              <a:t>~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7077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51738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615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@Configuration, @EnableAutoConfiguration, @ComponentScan </a:t>
            </a:r>
            <a:r>
              <a:rPr lang="ko-KR" altLang="en-US" sz="1200" dirty="0"/>
              <a:t>을 결합한 </a:t>
            </a:r>
            <a:r>
              <a:rPr lang="ko-KR" altLang="en-US" sz="1200" dirty="0" err="1"/>
              <a:t>어노테이션</a:t>
            </a:r>
            <a:endParaRPr lang="en-US" altLang="ko-KR" sz="1200" dirty="0"/>
          </a:p>
          <a:p>
            <a:endParaRPr lang="en-US" altLang="ko-KR" dirty="0"/>
          </a:p>
          <a:p>
            <a:r>
              <a:rPr lang="en-US" altLang="ko-KR" b="1" dirty="0"/>
              <a:t>@Configuration</a:t>
            </a:r>
          </a:p>
          <a:p>
            <a:r>
              <a:rPr lang="ko-KR" altLang="en-US" dirty="0"/>
              <a:t>클래스를 </a:t>
            </a:r>
            <a:r>
              <a:rPr lang="en-US" altLang="ko-KR" dirty="0"/>
              <a:t>Spring </a:t>
            </a:r>
            <a:r>
              <a:rPr lang="ko-KR" altLang="en-US" dirty="0"/>
              <a:t>의 설정 클래스로 지정</a:t>
            </a:r>
            <a:endParaRPr lang="en-US" altLang="ko-KR" dirty="0"/>
          </a:p>
          <a:p>
            <a:r>
              <a:rPr lang="en-US" altLang="ko-KR" dirty="0"/>
              <a:t>@Bean </a:t>
            </a:r>
            <a:r>
              <a:rPr lang="ko-KR" altLang="en-US" dirty="0" err="1"/>
              <a:t>어노테이션이</a:t>
            </a:r>
            <a:r>
              <a:rPr lang="ko-KR" altLang="en-US" dirty="0"/>
              <a:t> 붙은 메서드를 통해 </a:t>
            </a:r>
            <a:r>
              <a:rPr lang="en-US" altLang="ko-KR" dirty="0"/>
              <a:t>Bean </a:t>
            </a:r>
            <a:r>
              <a:rPr lang="ko-KR" altLang="en-US" dirty="0"/>
              <a:t>을 정의할 수 있게 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@EnableAutoConfiguration</a:t>
            </a:r>
          </a:p>
          <a:p>
            <a:r>
              <a:rPr lang="en-US" altLang="ko-KR" dirty="0"/>
              <a:t>Spring Boot </a:t>
            </a:r>
            <a:r>
              <a:rPr lang="ko-KR" altLang="en-US" dirty="0"/>
              <a:t>자동 구성 </a:t>
            </a:r>
            <a:r>
              <a:rPr lang="ko-KR" altLang="en-US" dirty="0" err="1"/>
              <a:t>매커니즘을</a:t>
            </a:r>
            <a:r>
              <a:rPr lang="ko-KR" altLang="en-US" dirty="0"/>
              <a:t> 활성화</a:t>
            </a:r>
            <a:endParaRPr lang="en-US" altLang="ko-KR" dirty="0"/>
          </a:p>
          <a:p>
            <a:r>
              <a:rPr lang="ko-KR" altLang="en-US" dirty="0"/>
              <a:t>클래스 패스에 있는 </a:t>
            </a:r>
            <a:r>
              <a:rPr lang="en-US" altLang="ko-KR" dirty="0"/>
              <a:t>jar </a:t>
            </a:r>
            <a:r>
              <a:rPr lang="ko-KR" altLang="en-US" dirty="0"/>
              <a:t>의존성</a:t>
            </a:r>
            <a:r>
              <a:rPr lang="en-US" altLang="ko-KR" dirty="0"/>
              <a:t>, </a:t>
            </a:r>
            <a:r>
              <a:rPr lang="ko-KR" altLang="en-US" dirty="0"/>
              <a:t>다양한 설정들을 기반으로 자동으로 애플리케이션을 구성함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b="1" dirty="0"/>
              <a:t>@ComponentScan</a:t>
            </a:r>
          </a:p>
          <a:p>
            <a:r>
              <a:rPr lang="en-US" altLang="ko-KR" dirty="0"/>
              <a:t>@Component, @Service, @Repository, @Controller </a:t>
            </a:r>
            <a:r>
              <a:rPr lang="ko-KR" altLang="en-US" dirty="0"/>
              <a:t>등의 </a:t>
            </a:r>
            <a:r>
              <a:rPr lang="ko-KR" altLang="en-US" dirty="0" err="1"/>
              <a:t>어노테이션이</a:t>
            </a:r>
            <a:r>
              <a:rPr lang="ko-KR" altLang="en-US" dirty="0"/>
              <a:t> 붙은 클래스들을 자동으로 스캔하여 </a:t>
            </a:r>
            <a:r>
              <a:rPr lang="en-US" altLang="ko-KR" dirty="0"/>
              <a:t>Spring Bean </a:t>
            </a:r>
            <a:r>
              <a:rPr lang="ko-KR" altLang="en-US" dirty="0"/>
              <a:t>으로 등록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----</a:t>
            </a:r>
            <a:br>
              <a:rPr lang="en-US" altLang="ko-KR" dirty="0"/>
            </a:br>
            <a:r>
              <a:rPr lang="ko-KR" altLang="en-US" dirty="0"/>
              <a:t>즉</a:t>
            </a:r>
            <a:r>
              <a:rPr lang="en-US" altLang="ko-KR" dirty="0"/>
              <a:t>, @SpringBootApplication </a:t>
            </a:r>
            <a:r>
              <a:rPr lang="ko-KR" altLang="en-US" dirty="0"/>
              <a:t>에서 위 </a:t>
            </a:r>
            <a:r>
              <a:rPr lang="en-US" altLang="ko-KR" dirty="0"/>
              <a:t>3</a:t>
            </a:r>
            <a:r>
              <a:rPr lang="ko-KR" altLang="en-US" dirty="0"/>
              <a:t>가지 </a:t>
            </a:r>
            <a:r>
              <a:rPr lang="ko-KR" altLang="en-US" dirty="0" err="1"/>
              <a:t>어노테이션을</a:t>
            </a:r>
            <a:r>
              <a:rPr lang="ko-KR" altLang="en-US" dirty="0"/>
              <a:t> 결합한다는 것은 다음을 의미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1. Spring </a:t>
            </a:r>
            <a:r>
              <a:rPr lang="ko-KR" altLang="en-US" dirty="0"/>
              <a:t>설정 클래스로 지정 </a:t>
            </a:r>
            <a:r>
              <a:rPr lang="en-US" altLang="ko-KR" dirty="0"/>
              <a:t>(@Configuration) 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자동 구성 활성화 </a:t>
            </a:r>
            <a:r>
              <a:rPr lang="en-US" altLang="ko-KR" dirty="0"/>
              <a:t>(@EnableAutoConfiguration) 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컴포넌트 스캔 활성화 </a:t>
            </a:r>
            <a:r>
              <a:rPr lang="en-US" altLang="ko-KR" dirty="0"/>
              <a:t>(@ComponentScan)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43598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기본적인 스프링 컴포넌트 </a:t>
            </a:r>
            <a:r>
              <a:rPr lang="ko-KR" altLang="en-US" dirty="0" err="1"/>
              <a:t>어노테이션으로</a:t>
            </a:r>
            <a:r>
              <a:rPr lang="ko-KR" altLang="en-US" dirty="0"/>
              <a:t> 다른 특화된 컴포넌트 </a:t>
            </a:r>
            <a:r>
              <a:rPr lang="ko-KR" altLang="en-US" dirty="0" err="1"/>
              <a:t>어노테이션의</a:t>
            </a:r>
            <a:r>
              <a:rPr lang="ko-KR" altLang="en-US" dirty="0"/>
              <a:t> 기초가 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컴포넌트 </a:t>
            </a:r>
            <a:r>
              <a:rPr lang="en-US" altLang="ko-KR" dirty="0"/>
              <a:t>vs. </a:t>
            </a:r>
            <a:r>
              <a:rPr lang="ko-KR" altLang="en-US" dirty="0"/>
              <a:t>빈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b="1" dirty="0"/>
              <a:t>빈</a:t>
            </a:r>
            <a:r>
              <a:rPr lang="en-US" altLang="ko-KR" b="1" dirty="0"/>
              <a:t>(Bean) </a:t>
            </a:r>
          </a:p>
          <a:p>
            <a:r>
              <a:rPr lang="ko-KR" altLang="en-US" dirty="0"/>
              <a:t>빈은 스프링 </a:t>
            </a:r>
            <a:r>
              <a:rPr lang="en-US" altLang="ko-KR" dirty="0"/>
              <a:t>IoC </a:t>
            </a:r>
            <a:r>
              <a:rPr lang="ko-KR" altLang="en-US" dirty="0"/>
              <a:t>컨테이너에 의해 관리되는 객체입니다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애플리케이션의 핵심을 이루는 객체이며</a:t>
            </a:r>
            <a:r>
              <a:rPr lang="en-US" altLang="ko-KR" dirty="0"/>
              <a:t>, </a:t>
            </a:r>
            <a:r>
              <a:rPr lang="ko-KR" altLang="en-US" dirty="0"/>
              <a:t>스프링 컨테이너에 의해 생성</a:t>
            </a:r>
            <a:r>
              <a:rPr lang="en-US" altLang="ko-KR" dirty="0"/>
              <a:t>, </a:t>
            </a:r>
            <a:r>
              <a:rPr lang="ko-KR" altLang="en-US" dirty="0"/>
              <a:t>관리</a:t>
            </a:r>
            <a:r>
              <a:rPr lang="en-US" altLang="ko-KR" dirty="0"/>
              <a:t>, </a:t>
            </a:r>
            <a:r>
              <a:rPr lang="ko-KR" altLang="en-US" dirty="0"/>
              <a:t>소멸됩니다</a:t>
            </a:r>
            <a:r>
              <a:rPr lang="en-US" altLang="ko-KR" dirty="0"/>
              <a:t>.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b="1" dirty="0"/>
              <a:t>컴포넌트</a:t>
            </a:r>
            <a:r>
              <a:rPr lang="en-US" altLang="ko-KR" b="1" dirty="0"/>
              <a:t>(Component)</a:t>
            </a:r>
            <a:br>
              <a:rPr lang="en-US" altLang="ko-KR" dirty="0"/>
            </a:br>
            <a:r>
              <a:rPr lang="ko-KR" altLang="en-US" dirty="0"/>
              <a:t>컴포넌트는 애플리케이션의 특정 부분을 구성하는 클래스입니다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@Component </a:t>
            </a:r>
            <a:r>
              <a:rPr lang="ko-KR" altLang="en-US" dirty="0" err="1"/>
              <a:t>어노테이션이</a:t>
            </a:r>
            <a:r>
              <a:rPr lang="ko-KR" altLang="en-US" dirty="0"/>
              <a:t> 붙은 클래스는 스프링의 컴포넌트 스캔 메커니즘에 의해 감지되고 빈으로 등록됩니다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*</a:t>
            </a:r>
            <a:r>
              <a:rPr lang="ko-KR" altLang="en-US" dirty="0"/>
              <a:t>요약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빈</a:t>
            </a:r>
            <a:r>
              <a:rPr lang="en-US" altLang="ko-KR" dirty="0"/>
              <a:t>:</a:t>
            </a:r>
            <a:r>
              <a:rPr lang="ko-KR" altLang="en-US" dirty="0"/>
              <a:t> 더 일반적인 개념으로 스프링이 관리하는 모든 객체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컴포넌트</a:t>
            </a:r>
            <a:r>
              <a:rPr lang="en-US" altLang="ko-KR" dirty="0"/>
              <a:t>: </a:t>
            </a:r>
            <a:r>
              <a:rPr lang="ko-KR" altLang="en-US" dirty="0"/>
              <a:t>주로 개발자가 직접 작성한 클래스를 스프링 관리하에 두기 위해 사용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=&gt;</a:t>
            </a:r>
            <a:r>
              <a:rPr lang="ko-KR" altLang="en-US" dirty="0"/>
              <a:t> </a:t>
            </a:r>
            <a:r>
              <a:rPr lang="ko-KR" altLang="en-US" b="1" dirty="0">
                <a:solidFill>
                  <a:srgbClr val="FF0000"/>
                </a:solidFill>
              </a:rPr>
              <a:t>모든 컴포넌트는 빈이 됨</a:t>
            </a:r>
            <a:r>
              <a:rPr lang="en-US" altLang="ko-KR" b="1" dirty="0">
                <a:solidFill>
                  <a:srgbClr val="FF0000"/>
                </a:solidFill>
              </a:rPr>
              <a:t>.</a:t>
            </a:r>
            <a:r>
              <a:rPr lang="en-US" altLang="ko-KR" b="1" dirty="0"/>
              <a:t> </a:t>
            </a:r>
            <a:r>
              <a:rPr lang="en-US" altLang="ko-KR" dirty="0"/>
              <a:t>(@Component </a:t>
            </a:r>
            <a:r>
              <a:rPr lang="ko-KR" altLang="en-US" dirty="0"/>
              <a:t>를 갖는 클래스는 컴포넌트 스캔을 통해 빈으로 등록되므로</a:t>
            </a:r>
            <a:r>
              <a:rPr lang="en-US" altLang="ko-KR" dirty="0"/>
              <a:t>), </a:t>
            </a:r>
            <a:r>
              <a:rPr lang="ko-KR" altLang="en-US" b="1" dirty="0"/>
              <a:t>하지만 모든 빈이 </a:t>
            </a:r>
            <a:r>
              <a:rPr lang="en-US" altLang="ko-KR" b="1" dirty="0"/>
              <a:t>@Component </a:t>
            </a:r>
            <a:r>
              <a:rPr lang="ko-KR" altLang="en-US" b="1" dirty="0"/>
              <a:t>를 갖지 않음 </a:t>
            </a:r>
            <a:r>
              <a:rPr lang="en-US" altLang="ko-KR" dirty="0"/>
              <a:t>(</a:t>
            </a:r>
            <a:r>
              <a:rPr lang="ko-KR" altLang="en-US" dirty="0"/>
              <a:t>예를 들어 </a:t>
            </a:r>
            <a:r>
              <a:rPr lang="en-US" altLang="ko-KR" dirty="0"/>
              <a:t>@Bean</a:t>
            </a:r>
            <a:r>
              <a:rPr lang="ko-KR" altLang="en-US" dirty="0"/>
              <a:t> 메서드로 생성된 객체도 빈이지만 </a:t>
            </a:r>
            <a:r>
              <a:rPr lang="en-US" altLang="ko-KR" dirty="0"/>
              <a:t>@Component </a:t>
            </a:r>
            <a:r>
              <a:rPr lang="ko-KR" altLang="en-US" dirty="0"/>
              <a:t>를 사용하지 않음</a:t>
            </a:r>
            <a:r>
              <a:rPr lang="en-US" altLang="ko-KR" dirty="0"/>
              <a:t>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89356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8451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비즈니스 로직을 담당하는 서비스 계층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58538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데이터 접근 계층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20611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8104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Spring Framework 4.3 </a:t>
            </a:r>
            <a:r>
              <a:rPr lang="ko-KR" altLang="en-US" dirty="0"/>
              <a:t>버전부터 도입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코드를 더 간결하고 가독성 있게 만들어주며</a:t>
            </a:r>
            <a:r>
              <a:rPr lang="en-US" altLang="ko-KR" dirty="0"/>
              <a:t>, </a:t>
            </a:r>
            <a:r>
              <a:rPr lang="ko-KR" altLang="en-US" dirty="0"/>
              <a:t>각 </a:t>
            </a:r>
            <a:r>
              <a:rPr lang="ko-KR" altLang="en-US" dirty="0" err="1"/>
              <a:t>엔드포인트의</a:t>
            </a:r>
            <a:r>
              <a:rPr lang="ko-KR" altLang="en-US" dirty="0"/>
              <a:t> 의도를 더 명확하게 표현 가능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37155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@Configuration </a:t>
            </a:r>
            <a:r>
              <a:rPr lang="ko-KR" altLang="en-US" dirty="0"/>
              <a:t>클래스를 사용함으로써</a:t>
            </a:r>
            <a:r>
              <a:rPr lang="en-US" altLang="ko-KR" dirty="0"/>
              <a:t>, </a:t>
            </a:r>
            <a:r>
              <a:rPr lang="ko-KR" altLang="en-US" dirty="0"/>
              <a:t>개발자는 애플리케이션의 구조를 명확히 정의하고</a:t>
            </a:r>
            <a:r>
              <a:rPr lang="en-US" altLang="ko-KR" dirty="0"/>
              <a:t>, </a:t>
            </a:r>
            <a:r>
              <a:rPr lang="ko-KR" altLang="en-US" dirty="0"/>
              <a:t>컴포넌트 간의 관계를 쉽게 파악하고 관리할 수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b="1" dirty="0"/>
              <a:t>테스트나 다양한 환경에 대응하기 위해 설정을 쉽게 변경할 수 있는 유연성을 제공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0630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560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3889093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046049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480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923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823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83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171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0921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093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27977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221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8" name="부제목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sz="2800" dirty="0" err="1"/>
              <a:t>CodingOn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223B3B-2FCF-58AF-BC81-E9824EB6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2FB7-A3D0-4BF4-B23F-90A4C3B73A56}" type="datetime6">
              <a:rPr lang="ko-KR" altLang="en-US" smtClean="0"/>
              <a:t>2024년 7월</a:t>
            </a:fld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7112DC-52CD-A148-06F6-6813E1A67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293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Dependency Injection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F879D5-885A-4A5F-23AB-C32C20098F86}"/>
              </a:ext>
            </a:extLst>
          </p:cNvPr>
          <p:cNvSpPr txBox="1"/>
          <p:nvPr/>
        </p:nvSpPr>
        <p:spPr>
          <a:xfrm>
            <a:off x="4452761" y="4647774"/>
            <a:ext cx="3286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6"/>
                </a:solidFill>
              </a:rPr>
              <a:t>잘 기억하고 있는지</a:t>
            </a:r>
            <a:r>
              <a:rPr lang="en-US" altLang="ko-KR" dirty="0">
                <a:solidFill>
                  <a:schemeClr val="accent6"/>
                </a:solidFill>
              </a:rPr>
              <a:t> </a:t>
            </a:r>
            <a:r>
              <a:rPr lang="ko-KR" altLang="en-US" dirty="0">
                <a:solidFill>
                  <a:schemeClr val="accent6"/>
                </a:solidFill>
              </a:rPr>
              <a:t>복습해보죠</a:t>
            </a:r>
            <a:r>
              <a:rPr lang="en-US" altLang="ko-KR" dirty="0">
                <a:solidFill>
                  <a:schemeClr val="accent6"/>
                </a:solidFill>
              </a:rPr>
              <a:t>!</a:t>
            </a:r>
            <a:r>
              <a:rPr lang="ko-KR" altLang="en-US" dirty="0">
                <a:solidFill>
                  <a:schemeClr val="accent6"/>
                </a:solidFill>
              </a:rPr>
              <a:t>😊</a:t>
            </a:r>
          </a:p>
        </p:txBody>
      </p:sp>
    </p:spTree>
    <p:extLst>
      <p:ext uri="{BB962C8B-B14F-4D97-AF65-F5344CB8AC3E}">
        <p14:creationId xmlns:p14="http://schemas.microsoft.com/office/powerpoint/2010/main" val="1686686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A4D5EC-BD46-0BC1-44AF-236A6F054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611750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구성 요소의 의존 관계가 소스코드 내부가 아닌 외부의 설정 파일을 통해 정의됨</a:t>
            </a:r>
            <a:endParaRPr lang="en-US" altLang="ko-KR" sz="2400" dirty="0"/>
          </a:p>
          <a:p>
            <a:r>
              <a:rPr lang="ko-KR" altLang="en-US" sz="2400" dirty="0"/>
              <a:t>즉</a:t>
            </a:r>
            <a:r>
              <a:rPr lang="en-US" altLang="ko-KR" sz="2400" dirty="0"/>
              <a:t>, </a:t>
            </a:r>
            <a:r>
              <a:rPr lang="ko-KR" altLang="en-US" sz="2400" dirty="0">
                <a:solidFill>
                  <a:schemeClr val="accent1"/>
                </a:solidFill>
              </a:rPr>
              <a:t>외부에서 객체를 주입 받아 사용</a:t>
            </a:r>
            <a:r>
              <a:rPr lang="ko-KR" altLang="en-US" sz="2400" dirty="0"/>
              <a:t>함</a:t>
            </a:r>
            <a:endParaRPr lang="en-US" altLang="ko-KR" sz="2400" dirty="0"/>
          </a:p>
          <a:p>
            <a:r>
              <a:rPr lang="en-US" altLang="ko-KR" sz="2400" dirty="0"/>
              <a:t>DI (</a:t>
            </a:r>
            <a:r>
              <a:rPr lang="ko-KR" altLang="en-US" sz="2400" dirty="0"/>
              <a:t>의존성 주입</a:t>
            </a:r>
            <a:r>
              <a:rPr lang="en-US" altLang="ko-KR" sz="2400" dirty="0"/>
              <a:t>) </a:t>
            </a:r>
            <a:r>
              <a:rPr lang="ko-KR" altLang="en-US" sz="2400" dirty="0"/>
              <a:t>방법으로 </a:t>
            </a:r>
            <a:r>
              <a:rPr lang="en-US" altLang="ko-KR" sz="2400" dirty="0"/>
              <a:t>IoC (</a:t>
            </a:r>
            <a:r>
              <a:rPr lang="ko-KR" altLang="en-US" sz="2400" dirty="0"/>
              <a:t>제어의 역전</a:t>
            </a:r>
            <a:r>
              <a:rPr lang="en-US" altLang="ko-KR" sz="2400" dirty="0"/>
              <a:t>) </a:t>
            </a:r>
            <a:r>
              <a:rPr lang="ko-KR" altLang="en-US" sz="2400" dirty="0"/>
              <a:t>를 구현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endParaRPr lang="en-US" altLang="ko-KR" sz="2400" dirty="0"/>
          </a:p>
          <a:p>
            <a:pPr marL="0" indent="0" algn="ctr">
              <a:buNone/>
            </a:pPr>
            <a:r>
              <a:rPr lang="en-US" altLang="ko-KR" sz="2400" b="1" dirty="0"/>
              <a:t>“</a:t>
            </a:r>
            <a:r>
              <a:rPr lang="ko-KR" altLang="en-US" sz="2400" b="1" dirty="0"/>
              <a:t>이를 통해 코드 간의 </a:t>
            </a:r>
            <a:r>
              <a:rPr lang="ko-KR" altLang="en-US" sz="2400" b="1" dirty="0" err="1">
                <a:solidFill>
                  <a:schemeClr val="accent1"/>
                </a:solidFill>
              </a:rPr>
              <a:t>재사용률</a:t>
            </a:r>
            <a:r>
              <a:rPr lang="ko-KR" altLang="en-US" sz="2400" b="1" dirty="0" err="1"/>
              <a:t>을</a:t>
            </a:r>
            <a:r>
              <a:rPr lang="ko-KR" altLang="en-US" sz="2400" b="1" dirty="0"/>
              <a:t> 높이고</a:t>
            </a:r>
            <a:r>
              <a:rPr lang="en-US" altLang="ko-KR" sz="2400" b="1" dirty="0"/>
              <a:t>, </a:t>
            </a:r>
            <a:r>
              <a:rPr lang="ko-KR" altLang="en-US" sz="2400" b="1" dirty="0">
                <a:solidFill>
                  <a:schemeClr val="accent1"/>
                </a:solidFill>
              </a:rPr>
              <a:t>모듈 간의 결합도</a:t>
            </a:r>
            <a:r>
              <a:rPr lang="ko-KR" altLang="en-US" sz="2400" b="1" dirty="0"/>
              <a:t>를 낮출 수 있음</a:t>
            </a:r>
            <a:r>
              <a:rPr lang="en-US" altLang="ko-KR" sz="2400" b="1" dirty="0"/>
              <a:t>”</a:t>
            </a:r>
            <a:endParaRPr lang="ko-KR" altLang="en-US" sz="2400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D4CD4C-9CA6-9B34-8F24-48FDAED74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071B8-B873-444C-9808-CF46FEAB4B75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69B84BA-5AE3-A201-6266-EB3A6F3B9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E7F179-7D6C-1BD2-4906-3542146A7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/>
              <a:t>복습</a:t>
            </a:r>
            <a:r>
              <a:rPr lang="en-US" altLang="ko-KR" dirty="0"/>
              <a:t>. DI </a:t>
            </a:r>
            <a:r>
              <a:rPr lang="en-US" altLang="ko-KR" sz="3600" dirty="0"/>
              <a:t>(Dependency Injection, </a:t>
            </a:r>
            <a:r>
              <a:rPr lang="ko-KR" altLang="en-US" sz="3600" dirty="0"/>
              <a:t>의존성 주입</a:t>
            </a:r>
            <a:r>
              <a:rPr lang="en-US" altLang="ko-KR" sz="3600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009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83A3F7-D037-F4AF-B21E-31442A4DB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611750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게시글 </a:t>
            </a:r>
            <a:r>
              <a:rPr lang="en-US" altLang="ko-KR" sz="2400" dirty="0"/>
              <a:t>save</a:t>
            </a:r>
            <a:r>
              <a:rPr lang="ko-KR" altLang="en-US" sz="2400" dirty="0"/>
              <a:t>과 </a:t>
            </a:r>
            <a:r>
              <a:rPr lang="en-US" altLang="ko-KR" sz="2400" dirty="0"/>
              <a:t>delete </a:t>
            </a:r>
            <a:r>
              <a:rPr lang="ko-KR" altLang="en-US" sz="2400" dirty="0"/>
              <a:t>기능 구현을 위해서는 </a:t>
            </a:r>
            <a:r>
              <a:rPr lang="en-US" altLang="ko-KR" sz="2400" dirty="0" err="1"/>
              <a:t>FileBoardPersistence</a:t>
            </a:r>
            <a:r>
              <a:rPr lang="en-US" altLang="ko-KR" sz="2400" dirty="0"/>
              <a:t> </a:t>
            </a:r>
            <a:r>
              <a:rPr lang="ko-KR" altLang="en-US" sz="2400" dirty="0"/>
              <a:t>가 필요</a:t>
            </a:r>
            <a:r>
              <a:rPr lang="en-US" altLang="ko-KR" sz="2400" dirty="0"/>
              <a:t>!</a:t>
            </a:r>
          </a:p>
          <a:p>
            <a:r>
              <a:rPr lang="ko-KR" altLang="en-US" sz="2400" dirty="0"/>
              <a:t>즉</a:t>
            </a:r>
            <a:r>
              <a:rPr lang="en-US" altLang="ko-KR" sz="2400" dirty="0"/>
              <a:t>, </a:t>
            </a:r>
            <a:r>
              <a:rPr lang="en-US" altLang="ko-KR" sz="2400" dirty="0" err="1"/>
              <a:t>BoardService</a:t>
            </a:r>
            <a:r>
              <a:rPr lang="en-US" altLang="ko-KR" sz="2400" dirty="0"/>
              <a:t> </a:t>
            </a:r>
            <a:r>
              <a:rPr lang="ko-KR" altLang="en-US" sz="2400" dirty="0"/>
              <a:t>클래스가 </a:t>
            </a:r>
            <a:r>
              <a:rPr lang="en-US" altLang="ko-KR" sz="2400" dirty="0" err="1"/>
              <a:t>FileBoardPersistence</a:t>
            </a:r>
            <a:r>
              <a:rPr lang="en-US" altLang="ko-KR" sz="2400" dirty="0"/>
              <a:t> </a:t>
            </a:r>
            <a:r>
              <a:rPr lang="ko-KR" altLang="en-US" sz="2400" dirty="0"/>
              <a:t>클래스에 </a:t>
            </a:r>
            <a:r>
              <a:rPr lang="ko-KR" altLang="en-US" sz="2400" dirty="0">
                <a:solidFill>
                  <a:schemeClr val="accent5"/>
                </a:solidFill>
              </a:rPr>
              <a:t>의존</a:t>
            </a:r>
            <a:r>
              <a:rPr lang="ko-KR" altLang="en-US" sz="2400" dirty="0"/>
              <a:t>함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0E7C5B-71D2-5B04-45B6-D5514BA40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2117AE-B5B4-8A97-6FFF-7066FC711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5732BE4-5348-757E-065E-297538FCB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의존성이란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11DD5B96-94F0-5886-2E7F-69DE8EC1D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6353" y="3461696"/>
            <a:ext cx="3158237" cy="161582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FileBoardPersistence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// - 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파일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에 게시판 목록을 저장하는 클래스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FileBoardPersistence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lang="en-US" altLang="ko-KR" sz="1100" dirty="0">
                <a:solidFill>
                  <a:srgbClr val="CF8E6D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void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save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}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void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delete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}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F2B9899-D794-9418-B88B-AA79DF366816}"/>
              </a:ext>
            </a:extLst>
          </p:cNvPr>
          <p:cNvGrpSpPr/>
          <p:nvPr/>
        </p:nvGrpSpPr>
        <p:grpSpPr>
          <a:xfrm>
            <a:off x="1065132" y="2869659"/>
            <a:ext cx="4397265" cy="2970044"/>
            <a:chOff x="1558886" y="3037642"/>
            <a:chExt cx="4397265" cy="2970044"/>
          </a:xfrm>
        </p:grpSpPr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3726E7CA-1997-1A0B-7320-E9FF4F196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8886" y="3037642"/>
              <a:ext cx="4397265" cy="2970044"/>
            </a:xfrm>
            <a:prstGeom prst="rect">
              <a:avLst/>
            </a:prstGeom>
            <a:solidFill>
              <a:srgbClr val="1E1F2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7A7E85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//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7A7E85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BoardService</a:t>
              </a: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7A7E85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7A7E85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// - 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7A7E85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JetBrains Mono" panose="02000009000000000000" pitchFamily="49" charset="0"/>
                </a:rPr>
                <a:t>게시판 목록을 관리하는 기능 제공</a:t>
              </a: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7A7E85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JetBrains Mono" panose="02000009000000000000" pitchFamily="49" charset="0"/>
                </a:rPr>
              </a:b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public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class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BoardService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{</a:t>
              </a: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private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final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FileBoardPersistence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C77DBB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persistence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;</a:t>
              </a: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public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56A8F5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BoardService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() {</a:t>
              </a: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  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this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.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C77DBB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persistence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C77DBB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=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new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FileBoardPersistence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();</a:t>
              </a: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 }</a:t>
              </a: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public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void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56A8F5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save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() {</a:t>
              </a: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  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C77DBB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persistence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.save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();</a:t>
              </a: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 }</a:t>
              </a: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public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void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56A8F5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delete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() {</a:t>
              </a: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  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C77DBB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persistence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.delete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();</a:t>
              </a: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 }</a:t>
              </a: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}</a:t>
              </a:r>
              <a:endPara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98D1137-F2F0-F124-D4AD-B684E1FFACA7}"/>
                </a:ext>
              </a:extLst>
            </p:cNvPr>
            <p:cNvSpPr/>
            <p:nvPr/>
          </p:nvSpPr>
          <p:spPr>
            <a:xfrm>
              <a:off x="1558886" y="3596983"/>
              <a:ext cx="4025222" cy="200679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93246F4-E09B-192C-8C56-281FFF5A9A7F}"/>
                </a:ext>
              </a:extLst>
            </p:cNvPr>
            <p:cNvSpPr/>
            <p:nvPr/>
          </p:nvSpPr>
          <p:spPr>
            <a:xfrm>
              <a:off x="1735717" y="4107392"/>
              <a:ext cx="3911213" cy="200679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0C092E19-6001-27AC-A868-503F8B887333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5462397" y="3895991"/>
            <a:ext cx="1843956" cy="373619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3401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83A3F7-D037-F4AF-B21E-31442A4DB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65213"/>
            <a:ext cx="10810001" cy="4611750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기획이 변경되어 파일이 아닌 데이터베이스에 게시글을 저장해야 한다</a:t>
            </a:r>
            <a:r>
              <a:rPr lang="en-US" altLang="ko-KR" sz="2400" dirty="0"/>
              <a:t>!</a:t>
            </a:r>
          </a:p>
          <a:p>
            <a:r>
              <a:rPr lang="en-US" altLang="ko-KR" sz="2400" dirty="0" err="1"/>
              <a:t>BoardService</a:t>
            </a:r>
            <a:r>
              <a:rPr lang="en-US" altLang="ko-KR" sz="2400" dirty="0"/>
              <a:t> </a:t>
            </a:r>
            <a:r>
              <a:rPr lang="ko-KR" altLang="en-US" sz="2400" dirty="0"/>
              <a:t>클래스도 코드를 수정해야 함 ➡ </a:t>
            </a:r>
            <a:r>
              <a:rPr lang="en-US" altLang="ko-KR" sz="2400" dirty="0" err="1"/>
              <a:t>FileBoardPersistence</a:t>
            </a:r>
            <a:r>
              <a:rPr lang="en-US" altLang="ko-KR" sz="2400" dirty="0"/>
              <a:t> </a:t>
            </a:r>
            <a:r>
              <a:rPr lang="ko-KR" altLang="en-US" sz="2400" dirty="0"/>
              <a:t>클래스에 의존하는 클래스가 많을 수록 수정이 필요한 코드가 </a:t>
            </a:r>
            <a:r>
              <a:rPr lang="ko-KR" altLang="en-US" sz="2400" dirty="0" err="1"/>
              <a:t>많아짐</a:t>
            </a:r>
            <a:r>
              <a:rPr lang="ko-KR" altLang="en-US" sz="2400" dirty="0"/>
              <a:t> ➡ 의존성 주입 등장 배경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0E7C5B-71D2-5B04-45B6-D5514BA40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2117AE-B5B4-8A97-6FFF-7066FC711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5732BE4-5348-757E-065E-297538FCB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앞선 코드의 문제점은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459F73F-5222-A684-307E-4EC1D0431731}"/>
              </a:ext>
            </a:extLst>
          </p:cNvPr>
          <p:cNvGrpSpPr/>
          <p:nvPr/>
        </p:nvGrpSpPr>
        <p:grpSpPr>
          <a:xfrm>
            <a:off x="1165083" y="2698600"/>
            <a:ext cx="10436623" cy="3557545"/>
            <a:chOff x="1211578" y="2619418"/>
            <a:chExt cx="10436623" cy="3557545"/>
          </a:xfrm>
        </p:grpSpPr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11DD5B96-94F0-5886-2E7F-69DE8EC1D0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2702" y="2869116"/>
              <a:ext cx="3158237" cy="1615827"/>
            </a:xfrm>
            <a:prstGeom prst="rect">
              <a:avLst/>
            </a:prstGeom>
            <a:solidFill>
              <a:srgbClr val="1E1F2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7A7E85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//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7A7E85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FileBoardPersistence</a:t>
              </a: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7A7E85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7A7E85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// - 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7A7E85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JetBrains Mono" panose="02000009000000000000" pitchFamily="49" charset="0"/>
                </a:rPr>
                <a:t>파일에 게시판 목록을 저장하는 클래스</a:t>
              </a: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7A7E85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JetBrains Mono" panose="02000009000000000000" pitchFamily="49" charset="0"/>
                </a:rPr>
              </a:b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public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class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FileBoardPersistence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{</a:t>
              </a: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public</a:t>
              </a:r>
              <a:r>
                <a:rPr kumimoji="0" lang="en-US" altLang="ko-KR" sz="1100" b="0" i="0" u="none" strike="noStrike" cap="none" normalizeH="0" baseline="0" dirty="0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void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56A8F5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save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() {</a:t>
              </a: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 }</a:t>
              </a: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public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void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56A8F5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delete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() {</a:t>
              </a: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 }</a:t>
              </a: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}</a:t>
              </a:r>
              <a:endPara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5F2B9899-D794-9418-B88B-AA79DF366816}"/>
                </a:ext>
              </a:extLst>
            </p:cNvPr>
            <p:cNvGrpSpPr/>
            <p:nvPr/>
          </p:nvGrpSpPr>
          <p:grpSpPr>
            <a:xfrm>
              <a:off x="1211578" y="3037642"/>
              <a:ext cx="4397265" cy="2970044"/>
              <a:chOff x="1558886" y="3037642"/>
              <a:chExt cx="4397265" cy="2970044"/>
            </a:xfrm>
          </p:grpSpPr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3726E7CA-1997-1A0B-7320-E9FF4F1961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8886" y="3037642"/>
                <a:ext cx="4397265" cy="2970044"/>
              </a:xfrm>
              <a:prstGeom prst="rect">
                <a:avLst/>
              </a:prstGeom>
              <a:solidFill>
                <a:srgbClr val="1E1F2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7A7E85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// </a:t>
                </a:r>
                <a:r>
                  <a:rPr kumimoji="0" lang="ko-KR" altLang="ko-KR" sz="1100" b="0" i="0" u="none" strike="noStrike" cap="none" normalizeH="0" baseline="0" dirty="0" err="1">
                    <a:ln>
                      <a:noFill/>
                    </a:ln>
                    <a:solidFill>
                      <a:srgbClr val="7A7E85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BoardService</a:t>
                </a:r>
                <a:b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7A7E85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</a:br>
                <a: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7A7E85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// - </a:t>
                </a:r>
                <a: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7A7E85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JetBrains Mono" panose="02000009000000000000" pitchFamily="49" charset="0"/>
                  </a:rPr>
                  <a:t>게시판 목록을 관리하는 기능 제공</a:t>
                </a:r>
                <a:b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7A7E85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JetBrains Mono" panose="02000009000000000000" pitchFamily="49" charset="0"/>
                  </a:rPr>
                </a:br>
                <a:r>
                  <a:rPr kumimoji="0" lang="ko-KR" altLang="ko-KR" sz="1100" b="0" i="0" u="none" strike="noStrike" cap="none" normalizeH="0" baseline="0" dirty="0" err="1">
                    <a:ln>
                      <a:noFill/>
                    </a:ln>
                    <a:solidFill>
                      <a:srgbClr val="CF8E6D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public</a:t>
                </a:r>
                <a: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CF8E6D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 </a:t>
                </a:r>
                <a:r>
                  <a:rPr kumimoji="0" lang="ko-KR" altLang="ko-KR" sz="1100" b="0" i="0" u="none" strike="noStrike" cap="none" normalizeH="0" baseline="0" dirty="0" err="1">
                    <a:ln>
                      <a:noFill/>
                    </a:ln>
                    <a:solidFill>
                      <a:srgbClr val="CF8E6D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class</a:t>
                </a:r>
                <a: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CF8E6D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 </a:t>
                </a:r>
                <a:r>
                  <a:rPr kumimoji="0" lang="ko-KR" altLang="ko-KR" sz="1100" b="0" i="0" u="none" strike="noStrike" cap="none" normalizeH="0" baseline="0" dirty="0" err="1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BoardService</a:t>
                </a:r>
                <a: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 {</a:t>
                </a:r>
                <a:b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</a:br>
                <a: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  </a:t>
                </a:r>
                <a:r>
                  <a:rPr kumimoji="0" lang="ko-KR" altLang="ko-KR" sz="1100" b="0" i="0" u="none" strike="noStrike" cap="none" normalizeH="0" baseline="0" dirty="0" err="1">
                    <a:ln>
                      <a:noFill/>
                    </a:ln>
                    <a:solidFill>
                      <a:srgbClr val="CF8E6D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private</a:t>
                </a:r>
                <a: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CF8E6D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 </a:t>
                </a:r>
                <a:r>
                  <a:rPr kumimoji="0" lang="ko-KR" altLang="ko-KR" sz="1100" b="0" i="0" u="none" strike="noStrike" cap="none" normalizeH="0" baseline="0" dirty="0" err="1">
                    <a:ln>
                      <a:noFill/>
                    </a:ln>
                    <a:solidFill>
                      <a:srgbClr val="CF8E6D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final</a:t>
                </a:r>
                <a: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CF8E6D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 </a:t>
                </a:r>
                <a:r>
                  <a:rPr kumimoji="0" lang="ko-KR" altLang="ko-KR" sz="1100" b="0" i="0" u="none" strike="noStrike" cap="none" normalizeH="0" baseline="0" dirty="0" err="1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DbBoardPersistence</a:t>
                </a:r>
                <a: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 </a:t>
                </a:r>
                <a:r>
                  <a:rPr kumimoji="0" lang="ko-KR" altLang="ko-KR" sz="1100" b="0" i="0" u="none" strike="noStrike" cap="none" normalizeH="0" baseline="0" dirty="0" err="1">
                    <a:ln>
                      <a:noFill/>
                    </a:ln>
                    <a:solidFill>
                      <a:srgbClr val="C77DBB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persistence</a:t>
                </a:r>
                <a: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;</a:t>
                </a:r>
                <a:b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</a:br>
                <a:b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</a:br>
                <a: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  </a:t>
                </a:r>
                <a:r>
                  <a:rPr kumimoji="0" lang="ko-KR" altLang="ko-KR" sz="1100" b="0" i="0" u="none" strike="noStrike" cap="none" normalizeH="0" baseline="0" dirty="0" err="1">
                    <a:ln>
                      <a:noFill/>
                    </a:ln>
                    <a:solidFill>
                      <a:srgbClr val="CF8E6D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public</a:t>
                </a:r>
                <a: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CF8E6D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 </a:t>
                </a:r>
                <a:r>
                  <a:rPr kumimoji="0" lang="ko-KR" altLang="ko-KR" sz="1100" b="0" i="0" u="none" strike="noStrike" cap="none" normalizeH="0" baseline="0" dirty="0" err="1">
                    <a:ln>
                      <a:noFill/>
                    </a:ln>
                    <a:solidFill>
                      <a:srgbClr val="56A8F5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BoardService</a:t>
                </a:r>
                <a: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() {</a:t>
                </a:r>
                <a:b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</a:br>
                <a: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    </a:t>
                </a:r>
                <a:r>
                  <a:rPr kumimoji="0" lang="ko-KR" altLang="ko-KR" sz="1100" b="0" i="0" u="none" strike="noStrike" cap="none" normalizeH="0" baseline="0" dirty="0" err="1">
                    <a:ln>
                      <a:noFill/>
                    </a:ln>
                    <a:solidFill>
                      <a:srgbClr val="CF8E6D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this</a:t>
                </a:r>
                <a:r>
                  <a:rPr kumimoji="0" lang="ko-KR" altLang="ko-KR" sz="1100" b="0" i="0" u="none" strike="noStrike" cap="none" normalizeH="0" baseline="0" dirty="0" err="1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.</a:t>
                </a:r>
                <a:r>
                  <a:rPr kumimoji="0" lang="ko-KR" altLang="ko-KR" sz="1100" b="0" i="0" u="none" strike="noStrike" cap="none" normalizeH="0" baseline="0" dirty="0" err="1">
                    <a:ln>
                      <a:noFill/>
                    </a:ln>
                    <a:solidFill>
                      <a:srgbClr val="C77DBB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persistence</a:t>
                </a:r>
                <a: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C77DBB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 </a:t>
                </a:r>
                <a: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= </a:t>
                </a:r>
                <a:r>
                  <a:rPr kumimoji="0" lang="ko-KR" altLang="ko-KR" sz="1100" b="0" i="0" u="none" strike="noStrike" cap="none" normalizeH="0" baseline="0" dirty="0" err="1">
                    <a:ln>
                      <a:noFill/>
                    </a:ln>
                    <a:solidFill>
                      <a:srgbClr val="CF8E6D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new</a:t>
                </a:r>
                <a: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CF8E6D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 </a:t>
                </a:r>
                <a:r>
                  <a:rPr kumimoji="0" lang="ko-KR" altLang="ko-KR" sz="1100" b="0" i="0" u="none" strike="noStrike" cap="none" normalizeH="0" baseline="0" dirty="0" err="1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DbBoardPersistence</a:t>
                </a:r>
                <a: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();</a:t>
                </a:r>
                <a:b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</a:br>
                <a: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  }</a:t>
                </a:r>
                <a:b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</a:br>
                <a:b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</a:br>
                <a: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  </a:t>
                </a:r>
                <a:r>
                  <a:rPr kumimoji="0" lang="ko-KR" altLang="ko-KR" sz="1100" b="0" i="0" u="none" strike="noStrike" cap="none" normalizeH="0" baseline="0" dirty="0" err="1">
                    <a:ln>
                      <a:noFill/>
                    </a:ln>
                    <a:solidFill>
                      <a:srgbClr val="CF8E6D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public</a:t>
                </a:r>
                <a: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CF8E6D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 </a:t>
                </a:r>
                <a:r>
                  <a:rPr kumimoji="0" lang="ko-KR" altLang="ko-KR" sz="1100" b="0" i="0" u="none" strike="noStrike" cap="none" normalizeH="0" baseline="0" dirty="0" err="1">
                    <a:ln>
                      <a:noFill/>
                    </a:ln>
                    <a:solidFill>
                      <a:srgbClr val="CF8E6D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void</a:t>
                </a:r>
                <a: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CF8E6D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 </a:t>
                </a:r>
                <a:r>
                  <a:rPr kumimoji="0" lang="ko-KR" altLang="ko-KR" sz="1100" b="0" i="0" u="none" strike="noStrike" cap="none" normalizeH="0" baseline="0" dirty="0" err="1">
                    <a:ln>
                      <a:noFill/>
                    </a:ln>
                    <a:solidFill>
                      <a:srgbClr val="56A8F5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save</a:t>
                </a:r>
                <a: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() {</a:t>
                </a:r>
                <a:b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</a:br>
                <a: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    </a:t>
                </a:r>
                <a:r>
                  <a:rPr kumimoji="0" lang="ko-KR" altLang="ko-KR" sz="1100" b="0" i="0" u="none" strike="noStrike" cap="none" normalizeH="0" baseline="0" dirty="0" err="1">
                    <a:ln>
                      <a:noFill/>
                    </a:ln>
                    <a:solidFill>
                      <a:srgbClr val="C77DBB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persistence</a:t>
                </a:r>
                <a:r>
                  <a:rPr kumimoji="0" lang="ko-KR" altLang="ko-KR" sz="1100" b="0" i="0" u="none" strike="noStrike" cap="none" normalizeH="0" baseline="0" dirty="0" err="1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.save</a:t>
                </a:r>
                <a: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();</a:t>
                </a:r>
                <a:b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</a:br>
                <a: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  }</a:t>
                </a:r>
                <a:b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</a:br>
                <a:b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</a:br>
                <a: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  </a:t>
                </a:r>
                <a:r>
                  <a:rPr kumimoji="0" lang="ko-KR" altLang="ko-KR" sz="1100" b="0" i="0" u="none" strike="noStrike" cap="none" normalizeH="0" baseline="0" dirty="0" err="1">
                    <a:ln>
                      <a:noFill/>
                    </a:ln>
                    <a:solidFill>
                      <a:srgbClr val="CF8E6D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public</a:t>
                </a:r>
                <a: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CF8E6D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 </a:t>
                </a:r>
                <a:r>
                  <a:rPr kumimoji="0" lang="ko-KR" altLang="ko-KR" sz="1100" b="0" i="0" u="none" strike="noStrike" cap="none" normalizeH="0" baseline="0" dirty="0" err="1">
                    <a:ln>
                      <a:noFill/>
                    </a:ln>
                    <a:solidFill>
                      <a:srgbClr val="CF8E6D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void</a:t>
                </a:r>
                <a: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CF8E6D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 </a:t>
                </a:r>
                <a:r>
                  <a:rPr kumimoji="0" lang="ko-KR" altLang="ko-KR" sz="1100" b="0" i="0" u="none" strike="noStrike" cap="none" normalizeH="0" baseline="0" dirty="0" err="1">
                    <a:ln>
                      <a:noFill/>
                    </a:ln>
                    <a:solidFill>
                      <a:srgbClr val="56A8F5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delete</a:t>
                </a:r>
                <a: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() {</a:t>
                </a:r>
                <a:b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</a:br>
                <a: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    </a:t>
                </a:r>
                <a:r>
                  <a:rPr kumimoji="0" lang="ko-KR" altLang="ko-KR" sz="1100" b="0" i="0" u="none" strike="noStrike" cap="none" normalizeH="0" baseline="0" dirty="0" err="1">
                    <a:ln>
                      <a:noFill/>
                    </a:ln>
                    <a:solidFill>
                      <a:srgbClr val="C77DBB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persistence</a:t>
                </a:r>
                <a:r>
                  <a:rPr kumimoji="0" lang="ko-KR" altLang="ko-KR" sz="1100" b="0" i="0" u="none" strike="noStrike" cap="none" normalizeH="0" baseline="0" dirty="0" err="1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.delete</a:t>
                </a:r>
                <a: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();</a:t>
                </a:r>
                <a:b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</a:br>
                <a: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  }</a:t>
                </a:r>
                <a:b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</a:br>
                <a:r>
                  <a:rPr kumimoji="0" lang="ko-KR" altLang="ko-KR" sz="1100" b="0" i="0" u="none" strike="noStrike" cap="none" normalizeH="0" baseline="0" dirty="0">
                    <a:ln>
                      <a:noFill/>
                    </a:ln>
                    <a:solidFill>
                      <a:srgbClr val="BCBEC4"/>
                    </a:solidFill>
                    <a:effectLst/>
                    <a:latin typeface="JetBrains Mono" panose="02000009000000000000" pitchFamily="49" charset="0"/>
                    <a:cs typeface="JetBrains Mono" panose="02000009000000000000" pitchFamily="49" charset="0"/>
                  </a:rPr>
                  <a:t>}</a:t>
                </a:r>
                <a:endParaRPr kumimoji="0" lang="ko-KR" altLang="ko-KR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F98D1137-F2F0-F124-D4AD-B684E1FFACA7}"/>
                  </a:ext>
                </a:extLst>
              </p:cNvPr>
              <p:cNvSpPr/>
              <p:nvPr/>
            </p:nvSpPr>
            <p:spPr>
              <a:xfrm>
                <a:off x="2439582" y="3591226"/>
                <a:ext cx="1876670" cy="200679"/>
              </a:xfrm>
              <a:prstGeom prst="rect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093246F4-E09B-192C-8C56-281FFF5A9A7F}"/>
                  </a:ext>
                </a:extLst>
              </p:cNvPr>
              <p:cNvSpPr/>
              <p:nvPr/>
            </p:nvSpPr>
            <p:spPr>
              <a:xfrm>
                <a:off x="2808539" y="4098667"/>
                <a:ext cx="1507713" cy="200679"/>
              </a:xfrm>
              <a:prstGeom prst="rect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D2661FF2-BA3F-5ACA-2C79-25B9D0BA2E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18681" y="4391859"/>
              <a:ext cx="3629520" cy="1785104"/>
            </a:xfrm>
            <a:prstGeom prst="rect">
              <a:avLst/>
            </a:prstGeom>
            <a:solidFill>
              <a:srgbClr val="1E1F2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7A7E85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//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7A7E85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DbBoardPersistence</a:t>
              </a: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7A7E85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7A7E85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// - </a:t>
              </a:r>
              <a:r>
                <a:rPr kumimoji="0" lang="ko-KR" altLang="ko-KR" sz="1100" b="1" i="0" u="none" strike="noStrike" cap="none" normalizeH="0" baseline="0" dirty="0">
                  <a:ln>
                    <a:noFill/>
                  </a:ln>
                  <a:solidFill>
                    <a:srgbClr val="7A7E85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JetBrains Mono" panose="02000009000000000000" pitchFamily="49" charset="0"/>
                </a:rPr>
                <a:t>데이터베이스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7A7E85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JetBrains Mono" panose="02000009000000000000" pitchFamily="49" charset="0"/>
                </a:rPr>
                <a:t>에 게시판 목록을 저장하는 클래스</a:t>
              </a: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7A7E85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JetBrains Mono" panose="02000009000000000000" pitchFamily="49" charset="0"/>
                </a:rPr>
              </a:b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public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class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DbBoardPersistence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{</a:t>
              </a: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public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void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56A8F5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save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() {</a:t>
              </a: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 }</a:t>
              </a: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public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void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CF8E6D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56A8F5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delete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() {</a:t>
              </a: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  }</a:t>
              </a: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  <a:t>}</a:t>
              </a:r>
              <a:b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BCBEC4"/>
                  </a:solidFill>
                  <a:effectLst/>
                  <a:latin typeface="JetBrains Mono" panose="02000009000000000000" pitchFamily="49" charset="0"/>
                  <a:cs typeface="JetBrains Mono" panose="02000009000000000000" pitchFamily="49" charset="0"/>
                </a:rPr>
              </a:br>
              <a:endPara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" name="곱하기 기호 6">
              <a:extLst>
                <a:ext uri="{FF2B5EF4-FFF2-40B4-BE49-F238E27FC236}">
                  <a16:creationId xmlns:a16="http://schemas.microsoft.com/office/drawing/2014/main" id="{3B5FF4A6-150F-D391-C29F-0191989750A6}"/>
                </a:ext>
              </a:extLst>
            </p:cNvPr>
            <p:cNvSpPr/>
            <p:nvPr/>
          </p:nvSpPr>
          <p:spPr>
            <a:xfrm>
              <a:off x="5726983" y="2619418"/>
              <a:ext cx="4209673" cy="2115222"/>
            </a:xfrm>
            <a:prstGeom prst="mathMultiply">
              <a:avLst>
                <a:gd name="adj1" fmla="val 343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71543312-B0D6-5213-4CFE-9943A5915465}"/>
                </a:ext>
              </a:extLst>
            </p:cNvPr>
            <p:cNvCxnSpPr>
              <a:cxnSpLocks/>
              <a:stCxn id="6" idx="1"/>
            </p:cNvCxnSpPr>
            <p:nvPr/>
          </p:nvCxnSpPr>
          <p:spPr>
            <a:xfrm flipH="1" flipV="1">
              <a:off x="5424611" y="4192029"/>
              <a:ext cx="2594070" cy="1092382"/>
            </a:xfrm>
            <a:prstGeom prst="straightConnector1">
              <a:avLst/>
            </a:prstGeom>
            <a:ln w="7620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9000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83A3F7-D037-F4AF-B21E-31442A4DB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611750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객체를 생성할 때 </a:t>
            </a:r>
            <a:r>
              <a:rPr lang="ko-KR" altLang="en-US" sz="2400" dirty="0">
                <a:solidFill>
                  <a:schemeClr val="accent1"/>
                </a:solidFill>
              </a:rPr>
              <a:t>의존하는 객체를 외부에서 주입</a:t>
            </a:r>
            <a:r>
              <a:rPr lang="ko-KR" altLang="en-US" sz="2400" dirty="0"/>
              <a:t>하자</a:t>
            </a:r>
            <a:r>
              <a:rPr lang="en-US" altLang="ko-KR" sz="2400" dirty="0"/>
              <a:t>!</a:t>
            </a:r>
          </a:p>
          <a:p>
            <a:r>
              <a:rPr lang="en-US" altLang="ko-KR" sz="2400" b="1" dirty="0">
                <a:solidFill>
                  <a:schemeClr val="accent1"/>
                </a:solidFill>
              </a:rPr>
              <a:t>1. </a:t>
            </a:r>
            <a:r>
              <a:rPr lang="ko-KR" altLang="en-US" sz="2400" b="1" dirty="0">
                <a:solidFill>
                  <a:schemeClr val="accent1"/>
                </a:solidFill>
              </a:rPr>
              <a:t>생성자</a:t>
            </a:r>
            <a:r>
              <a:rPr lang="ko-KR" altLang="en-US" sz="2400" dirty="0"/>
              <a:t>를 이용한 의존성 주입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0E7C5B-71D2-5B04-45B6-D5514BA40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2117AE-B5B4-8A97-6FFF-7066FC711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5732BE4-5348-757E-065E-297538FCB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의존성 주입</a:t>
            </a:r>
            <a:r>
              <a:rPr lang="en-US" altLang="ko-KR" dirty="0"/>
              <a:t>(DI, Dependency Injection)</a:t>
            </a:r>
            <a:endParaRPr lang="ko-KR" altLang="en-US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8933FC1-C6BE-D3CF-1269-D9EC1EEE0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053" y="2722333"/>
            <a:ext cx="5137945" cy="2123658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BoardService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// -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게시판 목록을 관리하는 기능 제공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BoardService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private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final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IBoardPersistence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persistence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인터페이스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</a:b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 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생성자를 이용해 객체 주입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 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BoardService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IBoardPersistence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persistence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persistence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persistence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}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endParaRPr kumimoji="0" lang="en-US" altLang="ko-KR" sz="1100" b="0" i="0" u="none" strike="noStrike" cap="none" normalizeH="0" baseline="0" dirty="0">
              <a:ln>
                <a:noFill/>
              </a:ln>
              <a:solidFill>
                <a:srgbClr val="BCBEC4"/>
              </a:solidFill>
              <a:effectLst/>
              <a:latin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…</a:t>
            </a:r>
            <a:endParaRPr lang="en-US" altLang="ko-KR" sz="1100" dirty="0">
              <a:solidFill>
                <a:srgbClr val="BCBEC4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CA6C57D-B468-3E64-3358-804FF29F6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1" y="2722333"/>
            <a:ext cx="5197257" cy="769441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static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void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IBoardPersistence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persistence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new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DbBoardPersistence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BoardService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service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new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BoardService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persistence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A4D01F-27CA-F71A-9E45-36B1DA223F93}"/>
              </a:ext>
            </a:extLst>
          </p:cNvPr>
          <p:cNvSpPr/>
          <p:nvPr/>
        </p:nvSpPr>
        <p:spPr>
          <a:xfrm>
            <a:off x="1804349" y="3267318"/>
            <a:ext cx="1786195" cy="200679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1FD078D-53C7-DE30-31CD-A1A1D58CC9F1}"/>
              </a:ext>
            </a:extLst>
          </p:cNvPr>
          <p:cNvSpPr/>
          <p:nvPr/>
        </p:nvSpPr>
        <p:spPr>
          <a:xfrm>
            <a:off x="2242818" y="3784162"/>
            <a:ext cx="1786195" cy="200679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0B205C2-821B-B10E-E9EA-D33BA3284A56}"/>
              </a:ext>
            </a:extLst>
          </p:cNvPr>
          <p:cNvSpPr/>
          <p:nvPr/>
        </p:nvSpPr>
        <p:spPr>
          <a:xfrm>
            <a:off x="8373240" y="2958843"/>
            <a:ext cx="1507713" cy="200679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0AE313E-9103-251F-8051-DFD0CD094A39}"/>
              </a:ext>
            </a:extLst>
          </p:cNvPr>
          <p:cNvCxnSpPr>
            <a:cxnSpLocks/>
          </p:cNvCxnSpPr>
          <p:nvPr/>
        </p:nvCxnSpPr>
        <p:spPr>
          <a:xfrm flipV="1">
            <a:off x="10856034" y="3259907"/>
            <a:ext cx="377911" cy="1149491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3FD8D49-710A-FF25-3976-7A205A35B52B}"/>
              </a:ext>
            </a:extLst>
          </p:cNvPr>
          <p:cNvSpPr txBox="1"/>
          <p:nvPr/>
        </p:nvSpPr>
        <p:spPr>
          <a:xfrm>
            <a:off x="6519540" y="4444083"/>
            <a:ext cx="49541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FileBoardPersistence</a:t>
            </a:r>
            <a:r>
              <a:rPr lang="en-US" altLang="ko-KR" dirty="0"/>
              <a:t> </a:t>
            </a:r>
            <a:r>
              <a:rPr lang="ko-KR" altLang="en-US" dirty="0"/>
              <a:t>로 다시 바뀌어야 한다면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main </a:t>
            </a:r>
            <a:r>
              <a:rPr lang="ko-KR" altLang="en-US" dirty="0"/>
              <a:t>메소드 측 코드만 변경하면 됨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ko-KR" altLang="en-US" dirty="0">
                <a:solidFill>
                  <a:schemeClr val="accent1"/>
                </a:solidFill>
              </a:rPr>
              <a:t>즉</a:t>
            </a:r>
            <a:r>
              <a:rPr lang="en-US" altLang="ko-KR" dirty="0">
                <a:solidFill>
                  <a:schemeClr val="accent1"/>
                </a:solidFill>
              </a:rPr>
              <a:t>, </a:t>
            </a:r>
            <a:r>
              <a:rPr lang="en-US" altLang="ko-KR" dirty="0" err="1">
                <a:solidFill>
                  <a:schemeClr val="accent1"/>
                </a:solidFill>
              </a:rPr>
              <a:t>BoardService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ko-KR" altLang="en-US" dirty="0">
                <a:solidFill>
                  <a:schemeClr val="accent1"/>
                </a:solidFill>
              </a:rPr>
              <a:t>코드를 변경할 필요가 없어짐</a:t>
            </a:r>
            <a:r>
              <a:rPr lang="en-US" altLang="ko-KR" dirty="0">
                <a:solidFill>
                  <a:schemeClr val="accent1"/>
                </a:solidFill>
              </a:rPr>
              <a:t>!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1473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83A3F7-D037-F4AF-B21E-31442A4DB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611750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객체를 생성할 때 </a:t>
            </a:r>
            <a:r>
              <a:rPr lang="ko-KR" altLang="en-US" sz="2400" dirty="0">
                <a:solidFill>
                  <a:schemeClr val="accent1"/>
                </a:solidFill>
              </a:rPr>
              <a:t>의존하는 객체를 외부에서 주입</a:t>
            </a:r>
            <a:r>
              <a:rPr lang="ko-KR" altLang="en-US" sz="2400" dirty="0"/>
              <a:t>하자</a:t>
            </a:r>
            <a:r>
              <a:rPr lang="en-US" altLang="ko-KR" sz="2400" dirty="0"/>
              <a:t>!</a:t>
            </a:r>
          </a:p>
          <a:p>
            <a:r>
              <a:rPr lang="en-US" altLang="ko-KR" sz="2400" b="1" dirty="0">
                <a:solidFill>
                  <a:schemeClr val="accent1"/>
                </a:solidFill>
              </a:rPr>
              <a:t>2. setter</a:t>
            </a:r>
            <a:r>
              <a:rPr lang="ko-KR" altLang="en-US" sz="2400" dirty="0"/>
              <a:t>를 이용한 의존성 주입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0E7C5B-71D2-5B04-45B6-D5514BA40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2117AE-B5B4-8A97-6FFF-7066FC711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5732BE4-5348-757E-065E-297538FCB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의존성 주입</a:t>
            </a:r>
            <a:r>
              <a:rPr lang="en-US" altLang="ko-KR" dirty="0"/>
              <a:t>(DI, Dependency Injection)</a:t>
            </a:r>
            <a:endParaRPr lang="ko-KR" altLang="en-US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8933FC1-C6BE-D3CF-1269-D9EC1EEE0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332" y="2722333"/>
            <a:ext cx="5905784" cy="2123658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BoardService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// -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게시판 목록을 관리하는 기능 제공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BoardService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private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IBoardPersistence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persistence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인터페이스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</a:b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//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setter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를 이용한 의존성 주입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  </a:t>
            </a:r>
            <a:r>
              <a:rPr lang="en-US" altLang="ko-KR" sz="1100" dirty="0">
                <a:solidFill>
                  <a:srgbClr val="7A7E8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 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void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setIBoardPersistence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IBoardPersistence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persistence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persistence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persistence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}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…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ko-KR" altLang="ko-K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CA6C57D-B468-3E64-3358-804FF29F6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243" y="2722333"/>
            <a:ext cx="5197257" cy="1107996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static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void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IBoardPersistence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persistence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new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DbBoardPersistence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BoardService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service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new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BoardService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service.setIBoardPersistence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persistence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ko-KR" altLang="ko-K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0AE313E-9103-251F-8051-DFD0CD094A39}"/>
              </a:ext>
            </a:extLst>
          </p:cNvPr>
          <p:cNvCxnSpPr>
            <a:cxnSpLocks/>
          </p:cNvCxnSpPr>
          <p:nvPr/>
        </p:nvCxnSpPr>
        <p:spPr>
          <a:xfrm flipV="1">
            <a:off x="10178577" y="3209416"/>
            <a:ext cx="377911" cy="1149491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3FD8D49-710A-FF25-3976-7A205A35B52B}"/>
              </a:ext>
            </a:extLst>
          </p:cNvPr>
          <p:cNvSpPr txBox="1"/>
          <p:nvPr/>
        </p:nvSpPr>
        <p:spPr>
          <a:xfrm>
            <a:off x="6255116" y="4358907"/>
            <a:ext cx="5905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마찬가지로 </a:t>
            </a:r>
            <a:r>
              <a:rPr lang="en-US" altLang="ko-KR" dirty="0" err="1"/>
              <a:t>FileBoardPersistence</a:t>
            </a:r>
            <a:r>
              <a:rPr lang="en-US" altLang="ko-KR" dirty="0"/>
              <a:t> </a:t>
            </a:r>
            <a:r>
              <a:rPr lang="ko-KR" altLang="en-US" dirty="0"/>
              <a:t>로 다시 바뀌어야 한다면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main </a:t>
            </a:r>
            <a:r>
              <a:rPr lang="ko-KR" altLang="en-US" dirty="0"/>
              <a:t>메소드 측 코드만 변경하면 됨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ko-KR" altLang="en-US" dirty="0">
                <a:solidFill>
                  <a:schemeClr val="accent1"/>
                </a:solidFill>
              </a:rPr>
              <a:t>즉</a:t>
            </a:r>
            <a:r>
              <a:rPr lang="en-US" altLang="ko-KR" dirty="0">
                <a:solidFill>
                  <a:schemeClr val="accent1"/>
                </a:solidFill>
              </a:rPr>
              <a:t>, </a:t>
            </a:r>
            <a:r>
              <a:rPr lang="en-US" altLang="ko-KR" dirty="0" err="1">
                <a:solidFill>
                  <a:schemeClr val="accent1"/>
                </a:solidFill>
              </a:rPr>
              <a:t>BoardService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ko-KR" altLang="en-US" dirty="0">
                <a:solidFill>
                  <a:schemeClr val="accent1"/>
                </a:solidFill>
              </a:rPr>
              <a:t>코드를 변경할 필요가 없어짐</a:t>
            </a:r>
            <a:r>
              <a:rPr lang="en-US" altLang="ko-KR" dirty="0">
                <a:solidFill>
                  <a:schemeClr val="accent1"/>
                </a:solidFill>
              </a:rPr>
              <a:t>!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50D727C-7963-0ABF-00D3-B4936496043D}"/>
              </a:ext>
            </a:extLst>
          </p:cNvPr>
          <p:cNvSpPr/>
          <p:nvPr/>
        </p:nvSpPr>
        <p:spPr>
          <a:xfrm>
            <a:off x="8307519" y="2944591"/>
            <a:ext cx="1666712" cy="169093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B2FBF7A-73E5-1089-87FC-7BDBF1D734BE}"/>
              </a:ext>
            </a:extLst>
          </p:cNvPr>
          <p:cNvSpPr/>
          <p:nvPr/>
        </p:nvSpPr>
        <p:spPr>
          <a:xfrm>
            <a:off x="2468868" y="3830329"/>
            <a:ext cx="1666712" cy="169093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6381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73C445-CAF7-9517-0BE4-72970B6CA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6117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방법 </a:t>
            </a:r>
            <a:r>
              <a:rPr lang="en-US" altLang="ko-KR" sz="2400" dirty="0"/>
              <a:t>1. Field Injection (</a:t>
            </a:r>
            <a:r>
              <a:rPr lang="ko-KR" altLang="en-US" sz="2400" dirty="0"/>
              <a:t>필드 주입</a:t>
            </a:r>
            <a:r>
              <a:rPr lang="en-US" altLang="ko-KR" sz="2400" dirty="0"/>
              <a:t>)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ko-KR" altLang="en-US" sz="2400" dirty="0"/>
              <a:t>방법 </a:t>
            </a:r>
            <a:r>
              <a:rPr lang="en-US" altLang="ko-KR" sz="2400" dirty="0"/>
              <a:t>2. Setter Injection (</a:t>
            </a:r>
            <a:r>
              <a:rPr lang="ko-KR" altLang="en-US" sz="2400" dirty="0" err="1"/>
              <a:t>수정자</a:t>
            </a:r>
            <a:r>
              <a:rPr lang="ko-KR" altLang="en-US" sz="2400" dirty="0"/>
              <a:t> 주입</a:t>
            </a:r>
            <a:r>
              <a:rPr lang="en-US" altLang="ko-KR" sz="2400" dirty="0"/>
              <a:t>)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방법 </a:t>
            </a:r>
            <a:r>
              <a:rPr lang="en-US" altLang="ko-KR" sz="2400" dirty="0"/>
              <a:t>3. Constructor Injection (</a:t>
            </a:r>
            <a:r>
              <a:rPr lang="ko-KR" altLang="en-US" sz="2400" dirty="0"/>
              <a:t>생성자 주입 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5AD212-3F4A-6868-FB55-36DDBDF3B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071B8-B873-444C-9808-CF46FEAB4B75}" type="datetime6">
              <a:rPr lang="ko-KR" altLang="en-US" smtClean="0"/>
              <a:t>2024년 7월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658C4C-E815-B31E-37C4-A804936D7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1A4A63D-2CD4-439A-91DA-78E8E45A5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1049000" cy="1325563"/>
          </a:xfrm>
        </p:spPr>
        <p:txBody>
          <a:bodyPr/>
          <a:lstStyle/>
          <a:p>
            <a:r>
              <a:rPr lang="ko-KR" altLang="en-US" dirty="0"/>
              <a:t>복습</a:t>
            </a:r>
            <a:r>
              <a:rPr lang="en-US" altLang="ko-KR" dirty="0"/>
              <a:t>. DI </a:t>
            </a:r>
            <a:r>
              <a:rPr lang="en-US" altLang="ko-KR" sz="3600" dirty="0"/>
              <a:t>(Dependency Injection, </a:t>
            </a:r>
            <a:r>
              <a:rPr lang="ko-KR" altLang="en-US" sz="3600" dirty="0"/>
              <a:t>의존성 주입</a:t>
            </a:r>
            <a:r>
              <a:rPr lang="en-US" altLang="ko-KR" sz="3600" dirty="0"/>
              <a:t>) </a:t>
            </a:r>
            <a:r>
              <a:rPr lang="ko-KR" altLang="en-US" dirty="0"/>
              <a:t>방법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6E240F6-5F0D-66EA-680B-165DC488B9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526" b="9317"/>
          <a:stretch/>
        </p:blipFill>
        <p:spPr>
          <a:xfrm>
            <a:off x="7267710" y="1640606"/>
            <a:ext cx="3267199" cy="44312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F8E8F6C-2C7B-1812-6E7A-4C291DE04C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710" y="2692140"/>
            <a:ext cx="4229876" cy="118784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89CCD38-5FE2-45F4-1180-ABBDD31FEF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7710" y="4196952"/>
            <a:ext cx="4301154" cy="109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388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0A7DB7C-7397-045A-F2D5-B509CA652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611750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OrderService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클래스를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만들고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이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클래스는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주문을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처리하는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processOrder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메서드를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갖는다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주문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처리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후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알림을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보내는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기능을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구현하기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위해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NotificationService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인터페이스를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만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든다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NotificationService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를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구현하는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EmailNotificationService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와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SMSNotificationService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클래스를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만든다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OrderService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는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NotificationService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에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의존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한다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생성자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주입과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setter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주입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두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가지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방식으로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DI를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구현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하기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en-US" sz="1400" dirty="0"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EmailNotificationServic</a:t>
            </a:r>
            <a:r>
              <a:rPr lang="en-US" altLang="en-US" sz="1400" dirty="0" err="1">
                <a:latin typeface="Arial" panose="020B0604020202020204" pitchFamily="34" charset="0"/>
              </a:rPr>
              <a:t>e</a:t>
            </a:r>
            <a:r>
              <a:rPr lang="en-US" altLang="en-US" sz="1400" dirty="0">
                <a:latin typeface="Arial" panose="020B0604020202020204" pitchFamily="34" charset="0"/>
              </a:rPr>
              <a:t>:</a:t>
            </a:r>
            <a:r>
              <a:rPr lang="ko-KR" altLang="en-US" sz="1400" dirty="0">
                <a:latin typeface="Arial" panose="020B0604020202020204" pitchFamily="34" charset="0"/>
              </a:rPr>
              <a:t> 생성자 주입 방식</a:t>
            </a:r>
            <a:endParaRPr lang="en-US" altLang="ko-KR" sz="1400" dirty="0">
              <a:latin typeface="Arial" panose="020B0604020202020204" pitchFamily="34" charset="0"/>
            </a:endParaRPr>
          </a:p>
          <a:p>
            <a:pPr marL="457200" lvl="1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SNSNotificatinService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en-US" altLang="en-US" sz="1400" dirty="0">
                <a:latin typeface="Arial" panose="020B0604020202020204" pitchFamily="34" charset="0"/>
              </a:rPr>
              <a:t>setter</a:t>
            </a:r>
            <a:r>
              <a:rPr lang="ko-KR" altLang="en-US" sz="1400" dirty="0">
                <a:latin typeface="Arial" panose="020B0604020202020204" pitchFamily="34" charset="0"/>
              </a:rPr>
              <a:t> 주입 방식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Main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클래스에서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OrderService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를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사용하여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주문을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처리하고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알림을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보내는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코드를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작성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sz="18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5D19044-F0DB-6ED2-C6A4-63D271D6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3AB2B2-84C4-9C4B-8A9A-CB0453345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11A5ACA-E55B-F749-9108-1F63DF672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 </a:t>
            </a:r>
            <a:r>
              <a:rPr lang="ko-KR" altLang="en-US" dirty="0"/>
              <a:t>온라인 쇼핑몰 주문 시스템 구현하기</a:t>
            </a:r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F4BE360-AD64-4822-59B8-1A45B3EF4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487" y="4043619"/>
            <a:ext cx="2867425" cy="1981477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1795D66D-7B79-0827-2CFB-8BB11ED4BB06}"/>
              </a:ext>
            </a:extLst>
          </p:cNvPr>
          <p:cNvGrpSpPr/>
          <p:nvPr/>
        </p:nvGrpSpPr>
        <p:grpSpPr>
          <a:xfrm>
            <a:off x="4762257" y="4300539"/>
            <a:ext cx="6314248" cy="1653118"/>
            <a:chOff x="3210862" y="3735304"/>
            <a:chExt cx="6314248" cy="1653118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00DEEA7-8155-6EA4-B536-5F1EEC071A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b="6306"/>
            <a:stretch/>
          </p:blipFill>
          <p:spPr>
            <a:xfrm>
              <a:off x="3210862" y="3735304"/>
              <a:ext cx="6237938" cy="13803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F784374-0ADD-F219-69C6-DB7AC463A1BD}"/>
                </a:ext>
              </a:extLst>
            </p:cNvPr>
            <p:cNvSpPr txBox="1"/>
            <p:nvPr/>
          </p:nvSpPr>
          <p:spPr>
            <a:xfrm>
              <a:off x="8763363" y="5111423"/>
              <a:ext cx="7617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200" dirty="0">
                  <a:solidFill>
                    <a:schemeClr val="accent6"/>
                  </a:solidFill>
                </a:rPr>
                <a:t>실행 결과</a:t>
              </a:r>
              <a:endParaRPr lang="en-US" sz="1200" dirty="0">
                <a:solidFill>
                  <a:schemeClr val="accent6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6839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00BB59-C904-AF57-2A20-868F2F89B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611750"/>
          </a:xfrm>
        </p:spPr>
        <p:txBody>
          <a:bodyPr>
            <a:normAutofit lnSpcReduction="10000"/>
          </a:bodyPr>
          <a:lstStyle/>
          <a:p>
            <a:r>
              <a:rPr lang="ko-KR" altLang="en-US" sz="2000" dirty="0"/>
              <a:t>프로젝트 규모가 커질수록 의존성 주입을 수동으로 관리하기 </a:t>
            </a:r>
            <a:r>
              <a:rPr lang="ko-KR" altLang="en-US" sz="2000" dirty="0" err="1"/>
              <a:t>어려워짐</a:t>
            </a:r>
            <a:endParaRPr lang="en-US" altLang="ko-KR" sz="2000" dirty="0"/>
          </a:p>
          <a:p>
            <a:r>
              <a:rPr lang="ko-KR" altLang="en-US" sz="2000" dirty="0"/>
              <a:t>이 문제를 해결하고자 </a:t>
            </a:r>
            <a:r>
              <a:rPr lang="ko-KR" altLang="en-US" sz="2000" dirty="0">
                <a:solidFill>
                  <a:schemeClr val="accent5"/>
                </a:solidFill>
              </a:rPr>
              <a:t>의존성 주입을 담당하는 컨테이너</a:t>
            </a:r>
            <a:r>
              <a:rPr lang="ko-KR" altLang="en-US" sz="2000" dirty="0"/>
              <a:t> 필요해짐</a:t>
            </a:r>
            <a:r>
              <a:rPr lang="en-US" altLang="ko-KR" sz="2000" dirty="0"/>
              <a:t>!</a:t>
            </a:r>
          </a:p>
          <a:p>
            <a:endParaRPr lang="en-US" altLang="ko-KR" sz="2000" dirty="0"/>
          </a:p>
          <a:p>
            <a:r>
              <a:rPr lang="ko-KR" altLang="en-US" sz="2000" dirty="0">
                <a:solidFill>
                  <a:schemeClr val="accent1"/>
                </a:solidFill>
              </a:rPr>
              <a:t>스프링 </a:t>
            </a:r>
            <a:r>
              <a:rPr lang="en-US" altLang="ko-KR" sz="2000" dirty="0">
                <a:solidFill>
                  <a:schemeClr val="accent1"/>
                </a:solidFill>
              </a:rPr>
              <a:t>IoC </a:t>
            </a:r>
            <a:r>
              <a:rPr lang="ko-KR" altLang="en-US" sz="2000" dirty="0">
                <a:solidFill>
                  <a:schemeClr val="accent1"/>
                </a:solidFill>
              </a:rPr>
              <a:t>컨테이너</a:t>
            </a:r>
            <a:endParaRPr lang="en-US" altLang="ko-KR" sz="2000" dirty="0">
              <a:solidFill>
                <a:schemeClr val="accent1"/>
              </a:solidFill>
            </a:endParaRPr>
          </a:p>
          <a:p>
            <a:pPr lvl="1"/>
            <a:r>
              <a:rPr lang="ko-KR" altLang="en-US" sz="1800" dirty="0"/>
              <a:t>스프링 프레임워크에서 의존성 주입을 담당하는 핵심 컴포넌트</a:t>
            </a:r>
            <a:endParaRPr lang="en-US" altLang="ko-KR" sz="1800" dirty="0"/>
          </a:p>
          <a:p>
            <a:pPr lvl="1"/>
            <a:r>
              <a:rPr lang="ko-KR" altLang="en-US" sz="1800" dirty="0"/>
              <a:t>객체 생성시 주입해야 하는 객체를 자동으로 주입해줌 </a:t>
            </a:r>
            <a:r>
              <a:rPr lang="en-US" altLang="ko-KR" sz="1800" dirty="0"/>
              <a:t>(</a:t>
            </a:r>
            <a:r>
              <a:rPr lang="ko-KR" altLang="en-US" sz="1800" dirty="0"/>
              <a:t>단</a:t>
            </a:r>
            <a:r>
              <a:rPr lang="en-US" altLang="ko-KR" sz="1800" dirty="0"/>
              <a:t>, Bean </a:t>
            </a:r>
            <a:r>
              <a:rPr lang="ko-KR" altLang="en-US" sz="1800" dirty="0"/>
              <a:t>으로 등록된 객체여야 함</a:t>
            </a:r>
            <a:r>
              <a:rPr lang="en-US" altLang="ko-KR" sz="1800" dirty="0"/>
              <a:t>!)</a:t>
            </a:r>
          </a:p>
          <a:p>
            <a:pPr lvl="1"/>
            <a:endParaRPr lang="en-US" altLang="ko-KR" sz="1800" dirty="0"/>
          </a:p>
          <a:p>
            <a:r>
              <a:rPr lang="en-US" altLang="ko-KR" sz="2000" dirty="0">
                <a:solidFill>
                  <a:schemeClr val="accent1"/>
                </a:solidFill>
              </a:rPr>
              <a:t>Bean</a:t>
            </a:r>
          </a:p>
          <a:p>
            <a:pPr lvl="1"/>
            <a:r>
              <a:rPr lang="ko-KR" altLang="en-US" sz="1800" dirty="0"/>
              <a:t>스프링 컨테이너가 관리하는 객체로 애플리케이션의 핵심을 이룸</a:t>
            </a:r>
            <a:endParaRPr lang="en-US" altLang="ko-KR" sz="1800" dirty="0"/>
          </a:p>
          <a:p>
            <a:pPr lvl="1"/>
            <a:r>
              <a:rPr lang="ko-KR" altLang="en-US" sz="1800" dirty="0"/>
              <a:t>스프링의 제어를 받음</a:t>
            </a:r>
            <a:endParaRPr lang="en-US" altLang="ko-KR" sz="1800" dirty="0"/>
          </a:p>
          <a:p>
            <a:endParaRPr lang="en-US" altLang="ko-KR" sz="2000" dirty="0"/>
          </a:p>
          <a:p>
            <a:r>
              <a:rPr lang="ko-KR" altLang="en-US" sz="2000" dirty="0">
                <a:solidFill>
                  <a:schemeClr val="accent1"/>
                </a:solidFill>
              </a:rPr>
              <a:t>스프링 컨테이너 </a:t>
            </a:r>
            <a:r>
              <a:rPr lang="en-US" altLang="ko-KR" sz="2000" dirty="0">
                <a:solidFill>
                  <a:schemeClr val="accent1"/>
                </a:solidFill>
              </a:rPr>
              <a:t>(Bean Factory)</a:t>
            </a:r>
          </a:p>
          <a:p>
            <a:pPr lvl="1"/>
            <a:r>
              <a:rPr lang="en-US" altLang="ko-KR" sz="1800" dirty="0"/>
              <a:t>Bean</a:t>
            </a:r>
            <a:r>
              <a:rPr lang="ko-KR" altLang="en-US" sz="1800" dirty="0"/>
              <a:t>의 생명주기를 관리하고 의존성을 주입하는 역할</a:t>
            </a:r>
            <a:endParaRPr lang="en-US" altLang="ko-KR" sz="18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33149E-E451-E860-CCE7-CDCB454D9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B3A51A-9D44-7BAF-8AFC-6206212DE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46E39BA-B743-8068-B13F-48F8EF252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스프링 프레임워크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CBF286-E119-BF8F-7E1A-55A18E8DF6E7}"/>
              </a:ext>
            </a:extLst>
          </p:cNvPr>
          <p:cNvSpPr txBox="1"/>
          <p:nvPr/>
        </p:nvSpPr>
        <p:spPr>
          <a:xfrm>
            <a:off x="7563988" y="5231376"/>
            <a:ext cx="4402167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just"/>
            <a:r>
              <a:rPr lang="ko-KR" altLang="en-US" sz="1200" b="1" dirty="0"/>
              <a:t>정리</a:t>
            </a:r>
            <a:r>
              <a:rPr lang="en-US" altLang="ko-KR" sz="1200" b="1" dirty="0"/>
              <a:t>. IoC </a:t>
            </a:r>
            <a:r>
              <a:rPr lang="ko-KR" altLang="en-US" sz="1200" b="1" dirty="0"/>
              <a:t>의미</a:t>
            </a:r>
            <a:br>
              <a:rPr lang="en-US" altLang="ko-KR" sz="1200" b="1" dirty="0"/>
            </a:br>
            <a:endParaRPr lang="en-US" altLang="ko-KR" sz="1200" b="1" dirty="0"/>
          </a:p>
          <a:p>
            <a:pPr algn="just"/>
            <a:r>
              <a:rPr lang="ko-KR" altLang="en-US" sz="1200" dirty="0"/>
              <a:t>예전에는 개발자가 </a:t>
            </a:r>
            <a:r>
              <a:rPr lang="ko-KR" altLang="en-US" sz="1200" dirty="0" err="1"/>
              <a:t>개발자가</a:t>
            </a:r>
            <a:r>
              <a:rPr lang="ko-KR" altLang="en-US" sz="1200" dirty="0"/>
              <a:t> 객체의 생성과 의존성 관리를 직접 했다면</a:t>
            </a:r>
            <a:endParaRPr lang="en-US" altLang="ko-KR" sz="1200" dirty="0"/>
          </a:p>
          <a:p>
            <a:pPr algn="just"/>
            <a:r>
              <a:rPr lang="ko-KR" altLang="en-US" sz="1200" dirty="0">
                <a:solidFill>
                  <a:schemeClr val="accent5"/>
                </a:solidFill>
              </a:rPr>
              <a:t>스프링에서는 이 제어권이 컨테이너로 </a:t>
            </a:r>
            <a:r>
              <a:rPr lang="ko-KR" altLang="en-US" sz="1200" dirty="0" err="1">
                <a:solidFill>
                  <a:schemeClr val="accent5"/>
                </a:solidFill>
              </a:rPr>
              <a:t>넘어감</a:t>
            </a:r>
            <a:endParaRPr lang="en-US" altLang="ko-KR" sz="1200" dirty="0">
              <a:solidFill>
                <a:schemeClr val="accent5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è"/>
            </a:pPr>
            <a:r>
              <a:rPr lang="ko-KR" altLang="en-US" sz="1200" dirty="0"/>
              <a:t>객체 간의 결합도를 낮추고 코드 재사용성을 높임</a:t>
            </a:r>
          </a:p>
        </p:txBody>
      </p:sp>
    </p:spTree>
    <p:extLst>
      <p:ext uri="{BB962C8B-B14F-4D97-AF65-F5344CB8AC3E}">
        <p14:creationId xmlns:p14="http://schemas.microsoft.com/office/powerpoint/2010/main" val="1638508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Bean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1849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00BB59-C904-AF57-2A20-868F2F89B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611750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solidFill>
                  <a:schemeClr val="accent1"/>
                </a:solidFill>
              </a:rPr>
              <a:t>Spring</a:t>
            </a:r>
            <a:r>
              <a:rPr lang="ko-KR" altLang="en-US" sz="2400" dirty="0">
                <a:solidFill>
                  <a:schemeClr val="accent1"/>
                </a:solidFill>
              </a:rPr>
              <a:t> </a:t>
            </a:r>
            <a:r>
              <a:rPr lang="en-US" altLang="ko-KR" sz="2400" dirty="0">
                <a:solidFill>
                  <a:schemeClr val="accent1"/>
                </a:solidFill>
              </a:rPr>
              <a:t>IoC</a:t>
            </a:r>
            <a:r>
              <a:rPr lang="ko-KR" altLang="en-US" sz="2400" dirty="0">
                <a:solidFill>
                  <a:schemeClr val="accent1"/>
                </a:solidFill>
              </a:rPr>
              <a:t> 컨테이너가 관리하는 </a:t>
            </a:r>
            <a:r>
              <a:rPr lang="en-US" altLang="ko-KR" sz="2400" dirty="0">
                <a:solidFill>
                  <a:schemeClr val="accent1"/>
                </a:solidFill>
              </a:rPr>
              <a:t>Java </a:t>
            </a:r>
            <a:r>
              <a:rPr lang="ko-KR" altLang="en-US" sz="2400" dirty="0">
                <a:solidFill>
                  <a:schemeClr val="accent1"/>
                </a:solidFill>
              </a:rPr>
              <a:t>객체</a:t>
            </a:r>
            <a:endParaRPr lang="en-US" altLang="ko-KR" sz="2400" dirty="0">
              <a:solidFill>
                <a:schemeClr val="accent1"/>
              </a:solidFill>
            </a:endParaRPr>
          </a:p>
          <a:p>
            <a:r>
              <a:rPr lang="en-US" altLang="ko-KR" sz="2400" dirty="0"/>
              <a:t>Spring </a:t>
            </a:r>
            <a:r>
              <a:rPr lang="ko-KR" altLang="en-US" sz="2400" dirty="0"/>
              <a:t>에서는 </a:t>
            </a:r>
            <a:r>
              <a:rPr lang="en-US" altLang="ko-KR" sz="2400" dirty="0"/>
              <a:t>new </a:t>
            </a:r>
            <a:r>
              <a:rPr lang="ko-KR" altLang="en-US" sz="2400" dirty="0"/>
              <a:t>를 이용해 만들어진 객체가 아니라 </a:t>
            </a:r>
            <a:r>
              <a:rPr lang="en-US" altLang="ko-KR" sz="2400" dirty="0"/>
              <a:t>Spring</a:t>
            </a:r>
            <a:r>
              <a:rPr lang="ko-KR" altLang="en-US" sz="2400" dirty="0"/>
              <a:t>에서 관리하는 </a:t>
            </a:r>
            <a:r>
              <a:rPr lang="en-US" altLang="ko-KR" sz="2400" b="1" dirty="0">
                <a:solidFill>
                  <a:schemeClr val="accent1"/>
                </a:solidFill>
              </a:rPr>
              <a:t>Bean</a:t>
            </a:r>
            <a:r>
              <a:rPr lang="en-US" altLang="ko-KR" sz="2400" dirty="0"/>
              <a:t> </a:t>
            </a:r>
            <a:r>
              <a:rPr lang="ko-KR" altLang="en-US" sz="2400" dirty="0"/>
              <a:t>이라는 객체를 이용함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장점</a:t>
            </a:r>
            <a:r>
              <a:rPr lang="en-US" altLang="ko-KR" sz="2400" dirty="0"/>
              <a:t>?</a:t>
            </a:r>
          </a:p>
          <a:p>
            <a:pPr lvl="1"/>
            <a:r>
              <a:rPr lang="ko-KR" altLang="en-US" sz="2000" b="1" dirty="0"/>
              <a:t>의존성 관리</a:t>
            </a:r>
            <a:r>
              <a:rPr lang="ko-KR" altLang="en-US" sz="2000" dirty="0"/>
              <a:t>가 용이</a:t>
            </a:r>
            <a:r>
              <a:rPr lang="en-US" altLang="ko-KR" sz="2000" dirty="0">
                <a:solidFill>
                  <a:schemeClr val="accent6"/>
                </a:solidFill>
              </a:rPr>
              <a:t>: Spring </a:t>
            </a:r>
            <a:r>
              <a:rPr lang="ko-KR" altLang="en-US" sz="2000" dirty="0">
                <a:solidFill>
                  <a:schemeClr val="accent6"/>
                </a:solidFill>
              </a:rPr>
              <a:t>이 객체의 생명주기와 의존관계를 관리하므로</a:t>
            </a:r>
            <a:r>
              <a:rPr lang="en-US" altLang="ko-KR" sz="2000" dirty="0">
                <a:solidFill>
                  <a:schemeClr val="accent6"/>
                </a:solidFill>
              </a:rPr>
              <a:t> </a:t>
            </a:r>
            <a:r>
              <a:rPr lang="ko-KR" altLang="en-US" sz="2000" dirty="0">
                <a:solidFill>
                  <a:schemeClr val="accent6"/>
                </a:solidFill>
              </a:rPr>
              <a:t>개발자는 비즈니스 로직에 집중</a:t>
            </a:r>
            <a:endParaRPr lang="en-US" altLang="ko-KR" sz="2000" dirty="0">
              <a:solidFill>
                <a:schemeClr val="accent6"/>
              </a:solidFill>
            </a:endParaRPr>
          </a:p>
          <a:p>
            <a:pPr lvl="1"/>
            <a:r>
              <a:rPr lang="ko-KR" altLang="en-US" sz="2000" b="1" dirty="0" err="1"/>
              <a:t>싱글톤</a:t>
            </a:r>
            <a:r>
              <a:rPr lang="en-US" altLang="ko-KR" sz="2000" b="1" dirty="0"/>
              <a:t>(Singleton) </a:t>
            </a:r>
            <a:r>
              <a:rPr lang="ko-KR" altLang="en-US" sz="2000" b="1" dirty="0"/>
              <a:t>패턴</a:t>
            </a:r>
            <a:r>
              <a:rPr lang="ko-KR" altLang="en-US" sz="2000" dirty="0"/>
              <a:t>의 이점</a:t>
            </a:r>
            <a:r>
              <a:rPr lang="en-US" altLang="ko-KR" sz="2000" dirty="0">
                <a:solidFill>
                  <a:schemeClr val="accent6"/>
                </a:solidFill>
              </a:rPr>
              <a:t>: </a:t>
            </a:r>
            <a:r>
              <a:rPr lang="ko-KR" altLang="en-US" sz="2000" dirty="0">
                <a:solidFill>
                  <a:schemeClr val="accent6"/>
                </a:solidFill>
              </a:rPr>
              <a:t>동일한 타입의 객체가 여러 번 생성되는 것이 아니라</a:t>
            </a:r>
            <a:r>
              <a:rPr lang="en-US" altLang="ko-KR" sz="2000" dirty="0">
                <a:solidFill>
                  <a:schemeClr val="accent6"/>
                </a:solidFill>
              </a:rPr>
              <a:t>, </a:t>
            </a:r>
            <a:r>
              <a:rPr lang="ko-KR" altLang="en-US" sz="2000" dirty="0">
                <a:solidFill>
                  <a:schemeClr val="accent6"/>
                </a:solidFill>
              </a:rPr>
              <a:t>하나의 인스턴스를 생성하여 재사용 </a:t>
            </a:r>
            <a:r>
              <a:rPr lang="en-US" altLang="ko-KR" sz="2000" dirty="0">
                <a:solidFill>
                  <a:schemeClr val="accent6"/>
                </a:solidFill>
              </a:rPr>
              <a:t>-&gt; </a:t>
            </a:r>
            <a:r>
              <a:rPr lang="ko-KR" altLang="en-US" sz="2000" dirty="0">
                <a:solidFill>
                  <a:schemeClr val="accent6"/>
                </a:solidFill>
              </a:rPr>
              <a:t>메모리 사용을 절약</a:t>
            </a:r>
            <a:r>
              <a:rPr lang="en-US" altLang="ko-KR" sz="2000" dirty="0">
                <a:solidFill>
                  <a:schemeClr val="accent6"/>
                </a:solidFill>
              </a:rPr>
              <a:t>, </a:t>
            </a:r>
            <a:r>
              <a:rPr lang="ko-KR" altLang="en-US" sz="2000" dirty="0">
                <a:solidFill>
                  <a:schemeClr val="accent6"/>
                </a:solidFill>
              </a:rPr>
              <a:t>애플리케이션 성능 향상</a:t>
            </a:r>
            <a:endParaRPr lang="en-US" altLang="ko-KR" sz="2000" dirty="0">
              <a:solidFill>
                <a:schemeClr val="accent6"/>
              </a:solidFill>
            </a:endParaRPr>
          </a:p>
          <a:p>
            <a:pPr lvl="1"/>
            <a:r>
              <a:rPr lang="en-US" altLang="ko-KR" sz="2000" b="1" dirty="0"/>
              <a:t>AOP</a:t>
            </a:r>
            <a:r>
              <a:rPr lang="en-US" altLang="ko-KR" sz="2000" dirty="0"/>
              <a:t> </a:t>
            </a:r>
            <a:r>
              <a:rPr lang="ko-KR" altLang="en-US" sz="2000" dirty="0"/>
              <a:t>지원</a:t>
            </a:r>
            <a:r>
              <a:rPr lang="en-US" altLang="ko-KR" sz="2000" dirty="0">
                <a:solidFill>
                  <a:schemeClr val="accent6"/>
                </a:solidFill>
              </a:rPr>
              <a:t>: Bean </a:t>
            </a:r>
            <a:r>
              <a:rPr lang="ko-KR" altLang="en-US" sz="2000" dirty="0">
                <a:solidFill>
                  <a:schemeClr val="accent6"/>
                </a:solidFill>
              </a:rPr>
              <a:t>으로 등록된 객체들을 </a:t>
            </a:r>
            <a:r>
              <a:rPr lang="en-US" altLang="ko-KR" sz="2000" dirty="0">
                <a:solidFill>
                  <a:schemeClr val="accent6"/>
                </a:solidFill>
              </a:rPr>
              <a:t>Spring AOP</a:t>
            </a:r>
            <a:r>
              <a:rPr lang="ko-KR" altLang="en-US" sz="2000" dirty="0">
                <a:solidFill>
                  <a:schemeClr val="accent6"/>
                </a:solidFill>
              </a:rPr>
              <a:t>를 통해 부가 기능을 손쉽게 추가 가능</a:t>
            </a:r>
            <a:endParaRPr lang="en-US" altLang="ko-KR" sz="1600" dirty="0">
              <a:solidFill>
                <a:schemeClr val="accent6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33149E-E451-E860-CCE7-CDCB454D9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B3A51A-9D44-7BAF-8AFC-6206212DE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46E39BA-B743-8068-B13F-48F8EF252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Bean 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7511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2DB3AD-2815-4335-F2EB-3137D9857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611750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solidFill>
                  <a:schemeClr val="accent1"/>
                </a:solidFill>
              </a:rPr>
              <a:t>@Component</a:t>
            </a:r>
          </a:p>
          <a:p>
            <a:pPr lvl="1"/>
            <a:r>
              <a:rPr lang="ko-KR" altLang="en-US" sz="2000" dirty="0"/>
              <a:t>가장 간단한 방법으로 클래스 </a:t>
            </a:r>
            <a:r>
              <a:rPr lang="ko-KR" altLang="en-US" sz="2000" dirty="0" err="1"/>
              <a:t>선언부</a:t>
            </a:r>
            <a:r>
              <a:rPr lang="ko-KR" altLang="en-US" sz="2000" dirty="0"/>
              <a:t> 위에 </a:t>
            </a:r>
            <a:r>
              <a:rPr lang="en-US" altLang="ko-KR" sz="2000" dirty="0"/>
              <a:t>@Component </a:t>
            </a:r>
            <a:r>
              <a:rPr lang="ko-KR" altLang="en-US" sz="2000" dirty="0"/>
              <a:t>을 사용</a:t>
            </a:r>
            <a:endParaRPr lang="en-US" altLang="ko-KR" sz="2000" dirty="0"/>
          </a:p>
          <a:p>
            <a:pPr lvl="1"/>
            <a:r>
              <a:rPr lang="ko-KR" altLang="en-US" sz="2000" dirty="0"/>
              <a:t>스프링에게 </a:t>
            </a:r>
            <a:r>
              <a:rPr lang="en-US" altLang="ko-KR" sz="2000" b="1" dirty="0">
                <a:solidFill>
                  <a:schemeClr val="accent1"/>
                </a:solidFill>
              </a:rPr>
              <a:t>“</a:t>
            </a:r>
            <a:r>
              <a:rPr lang="ko-KR" altLang="en-US" sz="2000" b="1" dirty="0">
                <a:solidFill>
                  <a:schemeClr val="accent1"/>
                </a:solidFill>
              </a:rPr>
              <a:t>해당 클래스를 빈</a:t>
            </a:r>
            <a:r>
              <a:rPr lang="en-US" altLang="ko-KR" sz="2000" b="1" dirty="0">
                <a:solidFill>
                  <a:schemeClr val="accent1"/>
                </a:solidFill>
              </a:rPr>
              <a:t>(Bean)</a:t>
            </a:r>
            <a:r>
              <a:rPr lang="ko-KR" altLang="en-US" sz="2000" b="1" dirty="0">
                <a:solidFill>
                  <a:schemeClr val="accent1"/>
                </a:solidFill>
              </a:rPr>
              <a:t>으로 등록해줘</a:t>
            </a:r>
            <a:r>
              <a:rPr lang="en-US" altLang="ko-KR" sz="2000" b="1" dirty="0">
                <a:solidFill>
                  <a:schemeClr val="accent1"/>
                </a:solidFill>
              </a:rPr>
              <a:t>”</a:t>
            </a:r>
            <a:r>
              <a:rPr lang="ko-KR" altLang="en-US" sz="2000" dirty="0"/>
              <a:t> 라고 알려주는 역할을 함</a:t>
            </a:r>
            <a:endParaRPr lang="en-US" altLang="ko-KR" sz="2000" dirty="0"/>
          </a:p>
          <a:p>
            <a:r>
              <a:rPr lang="ko-KR" altLang="en-US" sz="2400" dirty="0"/>
              <a:t>자바 설정 클래스를 직접 만들기</a:t>
            </a:r>
            <a:endParaRPr lang="en-US" altLang="ko-KR" sz="2400" dirty="0"/>
          </a:p>
          <a:p>
            <a:pPr lvl="1"/>
            <a:r>
              <a:rPr lang="ko-KR" altLang="en-US" sz="2000" dirty="0"/>
              <a:t>설정 클래스를 만들고 </a:t>
            </a:r>
            <a:r>
              <a:rPr lang="en-US" altLang="ko-KR" sz="2000" dirty="0"/>
              <a:t>@Configuration </a:t>
            </a:r>
            <a:r>
              <a:rPr lang="ko-KR" altLang="en-US" sz="2000" dirty="0"/>
              <a:t>이용</a:t>
            </a:r>
            <a:endParaRPr lang="en-US" altLang="ko-KR" sz="2000" dirty="0"/>
          </a:p>
          <a:p>
            <a:pPr lvl="1"/>
            <a:r>
              <a:rPr lang="ko-KR" altLang="en-US" sz="2000" dirty="0"/>
              <a:t>해당 클래스 안의 메소드에 </a:t>
            </a:r>
            <a:r>
              <a:rPr lang="en-US" altLang="ko-KR" sz="2000" dirty="0"/>
              <a:t>@Bean </a:t>
            </a:r>
            <a:r>
              <a:rPr lang="ko-KR" altLang="en-US" sz="2000" dirty="0"/>
              <a:t>사용해 개별 </a:t>
            </a:r>
            <a:r>
              <a:rPr lang="en-US" altLang="ko-KR" sz="2000" dirty="0"/>
              <a:t>Bean </a:t>
            </a:r>
            <a:r>
              <a:rPr lang="ko-KR" altLang="en-US" sz="2000" dirty="0"/>
              <a:t>을 정의</a:t>
            </a:r>
            <a:endParaRPr lang="en-US" altLang="ko-KR" sz="2000" dirty="0"/>
          </a:p>
          <a:p>
            <a:endParaRPr lang="en-US" altLang="ko-KR" sz="2400" dirty="0"/>
          </a:p>
          <a:p>
            <a:r>
              <a:rPr lang="en-US" altLang="ko-KR" sz="2400" dirty="0">
                <a:solidFill>
                  <a:schemeClr val="accent5"/>
                </a:solidFill>
              </a:rPr>
              <a:t>Bean </a:t>
            </a:r>
            <a:r>
              <a:rPr lang="ko-KR" altLang="en-US" sz="2400" dirty="0">
                <a:solidFill>
                  <a:schemeClr val="accent5"/>
                </a:solidFill>
              </a:rPr>
              <a:t>으로 등록된 객체를 의존성 </a:t>
            </a:r>
            <a:r>
              <a:rPr lang="ko-KR" altLang="en-US" sz="2400" dirty="0" err="1">
                <a:solidFill>
                  <a:schemeClr val="accent5"/>
                </a:solidFill>
              </a:rPr>
              <a:t>주입받아</a:t>
            </a:r>
            <a:r>
              <a:rPr lang="ko-KR" altLang="en-US" sz="2400" dirty="0">
                <a:solidFill>
                  <a:schemeClr val="accent5"/>
                </a:solidFill>
              </a:rPr>
              <a:t> 사용하려면</a:t>
            </a:r>
            <a:r>
              <a:rPr lang="en-US" altLang="ko-KR" sz="2400" dirty="0">
                <a:solidFill>
                  <a:schemeClr val="accent5"/>
                </a:solidFill>
              </a:rPr>
              <a:t>? </a:t>
            </a:r>
            <a:r>
              <a:rPr lang="en-US" altLang="ko-KR" b="1" dirty="0">
                <a:solidFill>
                  <a:schemeClr val="accent5"/>
                </a:solidFill>
              </a:rPr>
              <a:t>@Autowired </a:t>
            </a:r>
            <a:r>
              <a:rPr lang="ko-KR" altLang="en-US" b="1" dirty="0">
                <a:solidFill>
                  <a:schemeClr val="accent5"/>
                </a:solidFill>
              </a:rPr>
              <a:t>사용</a:t>
            </a:r>
            <a:endParaRPr lang="en-US" altLang="ko-KR" b="1" dirty="0">
              <a:solidFill>
                <a:schemeClr val="accent5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29808D-E866-9933-8B35-38741BC11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1D6D98A-EAD2-C58B-5647-3D709E0F6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AB5CEA-632F-0A6B-10DA-CCFC41631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Bean </a:t>
            </a:r>
            <a:r>
              <a:rPr lang="ko-KR" altLang="en-US" dirty="0"/>
              <a:t>등록 방법</a:t>
            </a:r>
          </a:p>
        </p:txBody>
      </p:sp>
    </p:spTree>
    <p:extLst>
      <p:ext uri="{BB962C8B-B14F-4D97-AF65-F5344CB8AC3E}">
        <p14:creationId xmlns:p14="http://schemas.microsoft.com/office/powerpoint/2010/main" val="3543246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Annotation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9388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6169EC-DF27-8453-EC8D-49119BDB2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611750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Annotation(</a:t>
            </a:r>
            <a:r>
              <a:rPr lang="en-US" altLang="ko-KR" sz="2400" dirty="0">
                <a:solidFill>
                  <a:schemeClr val="accent1"/>
                </a:solidFill>
              </a:rPr>
              <a:t>@</a:t>
            </a:r>
            <a:r>
              <a:rPr lang="en-US" altLang="ko-KR" sz="2400" dirty="0"/>
              <a:t>) </a:t>
            </a:r>
            <a:r>
              <a:rPr lang="ko-KR" altLang="en-US" sz="2400" dirty="0"/>
              <a:t>는 사전적 의미로 주석</a:t>
            </a:r>
            <a:endParaRPr lang="en-US" altLang="ko-KR" sz="2400" dirty="0"/>
          </a:p>
          <a:p>
            <a:r>
              <a:rPr lang="en-US" altLang="ko-KR" sz="2400" dirty="0"/>
              <a:t>Java</a:t>
            </a:r>
            <a:r>
              <a:rPr lang="ko-KR" altLang="en-US" sz="2400" dirty="0"/>
              <a:t>에서 </a:t>
            </a:r>
            <a:r>
              <a:rPr lang="en-US" altLang="ko-KR" sz="2400" dirty="0"/>
              <a:t>@ </a:t>
            </a:r>
            <a:r>
              <a:rPr lang="ko-KR" altLang="en-US" sz="2400" dirty="0"/>
              <a:t>로 시작하는 문법 요소로</a:t>
            </a:r>
            <a:r>
              <a:rPr lang="en-US" altLang="ko-KR" sz="2400" dirty="0"/>
              <a:t>, </a:t>
            </a:r>
            <a:r>
              <a:rPr lang="ko-KR" altLang="en-US" sz="2400" dirty="0"/>
              <a:t>코드에 </a:t>
            </a:r>
            <a:r>
              <a:rPr lang="ko-KR" altLang="en-US" sz="2400" dirty="0">
                <a:solidFill>
                  <a:schemeClr val="accent1"/>
                </a:solidFill>
              </a:rPr>
              <a:t>메타데이터</a:t>
            </a:r>
            <a:r>
              <a:rPr lang="ko-KR" altLang="en-US" sz="2400" dirty="0"/>
              <a:t>를 추가하는 방법</a:t>
            </a:r>
            <a:endParaRPr lang="en-US" altLang="ko-KR" sz="2400" dirty="0"/>
          </a:p>
          <a:p>
            <a:pPr lvl="1"/>
            <a:r>
              <a:rPr lang="ko-KR" altLang="en-US" sz="2000" dirty="0">
                <a:solidFill>
                  <a:schemeClr val="accent6"/>
                </a:solidFill>
              </a:rPr>
              <a:t>메타데이터</a:t>
            </a:r>
            <a:r>
              <a:rPr lang="en-US" altLang="ko-KR" sz="2000" dirty="0">
                <a:solidFill>
                  <a:schemeClr val="accent6"/>
                </a:solidFill>
              </a:rPr>
              <a:t>: </a:t>
            </a:r>
            <a:r>
              <a:rPr lang="ko-KR" altLang="en-US" sz="2000" dirty="0">
                <a:solidFill>
                  <a:schemeClr val="accent6"/>
                </a:solidFill>
              </a:rPr>
              <a:t>데이터를 설명하는 데이터 </a:t>
            </a:r>
            <a:endParaRPr lang="en-US" altLang="ko-KR" sz="2000" dirty="0">
              <a:solidFill>
                <a:schemeClr val="accent6"/>
              </a:solidFill>
            </a:endParaRPr>
          </a:p>
          <a:p>
            <a:r>
              <a:rPr lang="ko-KR" altLang="en-US" sz="2400" dirty="0"/>
              <a:t>코드 사이에 주석처럼 쓰이지만</a:t>
            </a:r>
            <a:r>
              <a:rPr lang="en-US" altLang="ko-KR" sz="2400" dirty="0"/>
              <a:t>, </a:t>
            </a:r>
            <a:r>
              <a:rPr lang="ko-KR" altLang="en-US" sz="2400" dirty="0"/>
              <a:t>단순 주석과 달리 특별한 의미와 기능을 수행하게 함</a:t>
            </a:r>
            <a:endParaRPr lang="en-US" altLang="ko-KR" sz="24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예시</a:t>
            </a:r>
            <a:endParaRPr lang="en-US" altLang="ko-KR" sz="2400" dirty="0"/>
          </a:p>
          <a:p>
            <a:pPr lvl="1"/>
            <a:r>
              <a:rPr lang="en-US" altLang="ko-KR" sz="2000" dirty="0"/>
              <a:t>@Override: </a:t>
            </a:r>
            <a:r>
              <a:rPr lang="ko-KR" altLang="en-US" sz="2000" dirty="0"/>
              <a:t>메소드가 </a:t>
            </a:r>
            <a:r>
              <a:rPr lang="ko-KR" altLang="en-US" sz="2000" dirty="0" err="1"/>
              <a:t>오버라이드</a:t>
            </a:r>
            <a:r>
              <a:rPr lang="ko-KR" altLang="en-US" sz="2000" dirty="0"/>
              <a:t> 되었는지 검증</a:t>
            </a:r>
            <a:endParaRPr lang="en-US" altLang="ko-KR" sz="2000" dirty="0"/>
          </a:p>
          <a:p>
            <a:pPr lvl="1"/>
            <a:r>
              <a:rPr lang="en-US" altLang="ko-KR" sz="2000" dirty="0"/>
              <a:t>@Deprecated: </a:t>
            </a:r>
            <a:r>
              <a:rPr lang="ko-KR" altLang="en-US" sz="2000" dirty="0"/>
              <a:t>더 이상 사용되지 않음을 표시 </a:t>
            </a:r>
            <a:endParaRPr lang="en-US" altLang="ko-KR" sz="2000" dirty="0"/>
          </a:p>
          <a:p>
            <a:pPr lvl="1"/>
            <a:endParaRPr lang="ko-KR" altLang="en-US" sz="2000" dirty="0">
              <a:solidFill>
                <a:schemeClr val="accent1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990B13-8242-B07E-AD88-C0B47AEF0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FBCDC1-D1C8-C79D-28C9-653E9CCCD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B233EF9-83FA-2478-C115-8A8E2381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Annotation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6311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658D97-3084-2459-8792-088FF5EA3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611750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장점</a:t>
            </a:r>
            <a:endParaRPr lang="en-US" altLang="ko-KR" sz="2400" dirty="0"/>
          </a:p>
          <a:p>
            <a:pPr lvl="1"/>
            <a:r>
              <a:rPr lang="ko-KR" altLang="en-US" sz="2000" dirty="0" err="1"/>
              <a:t>코드량</a:t>
            </a:r>
            <a:r>
              <a:rPr lang="ko-KR" altLang="en-US" sz="2000" dirty="0"/>
              <a:t> 감소</a:t>
            </a:r>
            <a:endParaRPr lang="en-US" altLang="ko-KR" sz="2000" dirty="0"/>
          </a:p>
          <a:p>
            <a:pPr lvl="1"/>
            <a:r>
              <a:rPr lang="ko-KR" altLang="en-US" sz="2000" dirty="0"/>
              <a:t>유지보수 쉬움</a:t>
            </a:r>
            <a:endParaRPr lang="en-US" altLang="ko-KR" sz="2000" dirty="0"/>
          </a:p>
          <a:p>
            <a:pPr lvl="1"/>
            <a:r>
              <a:rPr lang="ko-KR" altLang="en-US" sz="2000" dirty="0"/>
              <a:t>생산성 증가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사용 순서</a:t>
            </a:r>
            <a:endParaRPr lang="en-US" altLang="ko-KR" sz="2400" dirty="0"/>
          </a:p>
          <a:p>
            <a:pPr lvl="1"/>
            <a:r>
              <a:rPr lang="en-US" altLang="ko-KR" sz="2000" dirty="0"/>
              <a:t>@ </a:t>
            </a:r>
            <a:r>
              <a:rPr lang="ko-KR" altLang="en-US" sz="2000" dirty="0"/>
              <a:t>를 정의한다</a:t>
            </a:r>
            <a:r>
              <a:rPr lang="en-US" altLang="ko-KR" sz="2000" dirty="0"/>
              <a:t>.</a:t>
            </a:r>
          </a:p>
          <a:p>
            <a:pPr lvl="1"/>
            <a:r>
              <a:rPr lang="ko-KR" altLang="en-US" sz="2000" dirty="0">
                <a:solidFill>
                  <a:schemeClr val="accent1"/>
                </a:solidFill>
              </a:rPr>
              <a:t>클래스에서 </a:t>
            </a:r>
            <a:r>
              <a:rPr lang="en-US" altLang="ko-KR" sz="2000" dirty="0">
                <a:solidFill>
                  <a:schemeClr val="accent1"/>
                </a:solidFill>
              </a:rPr>
              <a:t>@</a:t>
            </a:r>
            <a:r>
              <a:rPr lang="ko-KR" altLang="en-US" sz="2000" dirty="0">
                <a:solidFill>
                  <a:schemeClr val="accent1"/>
                </a:solidFill>
              </a:rPr>
              <a:t>를 배치한다</a:t>
            </a:r>
            <a:r>
              <a:rPr lang="en-US" altLang="ko-KR" sz="2000" dirty="0">
                <a:solidFill>
                  <a:schemeClr val="accent1"/>
                </a:solidFill>
              </a:rPr>
              <a:t>.</a:t>
            </a:r>
          </a:p>
          <a:p>
            <a:pPr lvl="1"/>
            <a:r>
              <a:rPr lang="ko-KR" altLang="en-US" sz="2000" dirty="0"/>
              <a:t>코드가 실행되는 중 추가 정보를 획득해 기능을 실시한다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92FEBE-4789-FFD0-4AD0-7C3D5F24A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AA6C206-C7A2-2D21-49B2-EBD14088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B4DE66A-1FBA-2C1F-684C-D5D731E15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Annotation </a:t>
            </a:r>
            <a:r>
              <a:rPr lang="ko-KR" altLang="en-US" dirty="0"/>
              <a:t>장점과 사용법</a:t>
            </a:r>
          </a:p>
        </p:txBody>
      </p:sp>
    </p:spTree>
    <p:extLst>
      <p:ext uri="{BB962C8B-B14F-4D97-AF65-F5344CB8AC3E}">
        <p14:creationId xmlns:p14="http://schemas.microsoft.com/office/powerpoint/2010/main" val="191132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Spring Boot</a:t>
            </a:r>
            <a:br>
              <a:rPr lang="en-US" altLang="ko-KR" dirty="0"/>
            </a:br>
            <a:r>
              <a:rPr lang="en-US" altLang="ko-KR" dirty="0"/>
              <a:t>Annotation </a:t>
            </a:r>
            <a:r>
              <a:rPr lang="ko-KR" altLang="en-US" dirty="0"/>
              <a:t>종류</a:t>
            </a:r>
          </a:p>
        </p:txBody>
      </p:sp>
    </p:spTree>
    <p:extLst>
      <p:ext uri="{BB962C8B-B14F-4D97-AF65-F5344CB8AC3E}">
        <p14:creationId xmlns:p14="http://schemas.microsoft.com/office/powerpoint/2010/main" val="4169627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61EF64-814E-78AA-5652-1A65491BE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611750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solidFill>
                  <a:schemeClr val="accent1"/>
                </a:solidFill>
              </a:rPr>
              <a:t>Spring Boot </a:t>
            </a:r>
            <a:r>
              <a:rPr lang="ko-KR" altLang="en-US" sz="2400" dirty="0">
                <a:solidFill>
                  <a:schemeClr val="accent1"/>
                </a:solidFill>
              </a:rPr>
              <a:t>어플리케이션 실행 초기 진입점</a:t>
            </a:r>
            <a:r>
              <a:rPr lang="ko-KR" altLang="en-US" sz="2400" dirty="0"/>
              <a:t>에 위치하는 </a:t>
            </a:r>
            <a:r>
              <a:rPr lang="ko-KR" altLang="en-US" sz="2400" dirty="0" err="1"/>
              <a:t>어노테이션</a:t>
            </a:r>
            <a:endParaRPr lang="en-US" altLang="ko-KR" sz="2400" dirty="0"/>
          </a:p>
          <a:p>
            <a:r>
              <a:rPr lang="ko-KR" altLang="en-US" sz="2400" dirty="0"/>
              <a:t>애플리케이션의 구성을 자동으로 설정</a:t>
            </a:r>
            <a:endParaRPr lang="en-US" altLang="ko-KR" sz="2400" dirty="0"/>
          </a:p>
          <a:p>
            <a:r>
              <a:rPr lang="ko-KR" altLang="en-US" sz="2400" dirty="0"/>
              <a:t>애플리케이션 패키지 내의 모든 컴포넌트를 스캔하고 빈으로 등록</a:t>
            </a:r>
            <a:endParaRPr lang="en-US" altLang="ko-KR" sz="2400" dirty="0"/>
          </a:p>
          <a:p>
            <a:r>
              <a:rPr lang="ko-KR" altLang="en-US" sz="2400" dirty="0"/>
              <a:t>해당 </a:t>
            </a:r>
            <a:r>
              <a:rPr lang="ko-KR" altLang="en-US" sz="2400" dirty="0" err="1"/>
              <a:t>어노테이션이</a:t>
            </a:r>
            <a:r>
              <a:rPr lang="ko-KR" altLang="en-US" sz="2400" dirty="0"/>
              <a:t> 달린 클래스가 있는 패키지를 베이스 패키지로 간주 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737927-CC19-A22F-4F6D-44056FC73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7AAFC54-BE44-BA4C-5B81-8097FEF18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33BED18-F30A-065F-897F-BC5271785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@SpringBootApplication</a:t>
            </a:r>
            <a:endParaRPr lang="ko-KR" altLang="en-US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AE727DFB-DCCB-C369-216F-DEEA52E76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6433" y="3907792"/>
            <a:ext cx="6199133" cy="1384995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@SpringBootApplication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MyApplication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static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SpringApplication.</a:t>
            </a: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run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MyApplication.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005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0757FA-299D-A644-AA13-705E29025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611750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일반적인 스프링 관리 컴포넌트를 나타냄</a:t>
            </a:r>
            <a:endParaRPr lang="en-US" altLang="ko-KR" sz="2400" dirty="0"/>
          </a:p>
          <a:p>
            <a:r>
              <a:rPr lang="ko-KR" altLang="en-US" sz="2400" dirty="0"/>
              <a:t>클래스를 스프링의 컴포넌트로 표시</a:t>
            </a:r>
            <a:endParaRPr lang="en-US" altLang="ko-KR" sz="2400" dirty="0"/>
          </a:p>
          <a:p>
            <a:r>
              <a:rPr lang="ko-KR" altLang="en-US" sz="2400" dirty="0"/>
              <a:t>컴포넌트 스캔 대상이 되어 </a:t>
            </a:r>
            <a:r>
              <a:rPr lang="ko-KR" altLang="en-US" sz="2400" dirty="0">
                <a:solidFill>
                  <a:schemeClr val="accent1"/>
                </a:solidFill>
              </a:rPr>
              <a:t>자동으로 빈으로 등록</a:t>
            </a:r>
            <a:r>
              <a:rPr lang="ko-KR" altLang="en-US" sz="2400" dirty="0"/>
              <a:t>됨</a:t>
            </a:r>
            <a:endParaRPr lang="en-US" altLang="ko-KR" sz="2400" dirty="0"/>
          </a:p>
          <a:p>
            <a:r>
              <a:rPr lang="en-US" altLang="ko-KR" sz="2400" dirty="0"/>
              <a:t>@Service,</a:t>
            </a:r>
            <a:r>
              <a:rPr lang="ko-KR" altLang="en-US" sz="2400" dirty="0"/>
              <a:t> </a:t>
            </a:r>
            <a:r>
              <a:rPr lang="en-US" altLang="ko-KR" sz="2400" dirty="0"/>
              <a:t>@Repository, @Controller </a:t>
            </a:r>
            <a:r>
              <a:rPr lang="ko-KR" altLang="en-US" sz="2400" dirty="0"/>
              <a:t>의 기본이 되는 </a:t>
            </a:r>
            <a:r>
              <a:rPr lang="ko-KR" altLang="en-US" sz="2400" dirty="0" err="1"/>
              <a:t>어노테이션</a:t>
            </a:r>
            <a:r>
              <a:rPr lang="ko-KR" altLang="en-US" sz="2400" dirty="0"/>
              <a:t> </a:t>
            </a:r>
            <a:endParaRPr lang="en-US" altLang="ko-KR" sz="2400" dirty="0"/>
          </a:p>
          <a:p>
            <a:r>
              <a:rPr lang="ko-KR" altLang="en-US" sz="2400" dirty="0"/>
              <a:t>개발자가 </a:t>
            </a:r>
            <a:r>
              <a:rPr lang="ko-KR" altLang="en-US" sz="2400" dirty="0">
                <a:solidFill>
                  <a:schemeClr val="accent1"/>
                </a:solidFill>
              </a:rPr>
              <a:t>직접 작성한 클래스를 스프링 관리하에 두기</a:t>
            </a:r>
            <a:r>
              <a:rPr lang="ko-KR" altLang="en-US" sz="2400" dirty="0"/>
              <a:t> 위해 사용</a:t>
            </a:r>
            <a:endParaRPr lang="en-US" altLang="ko-KR" sz="2400" dirty="0"/>
          </a:p>
          <a:p>
            <a:r>
              <a:rPr lang="ko-KR" altLang="en-US" sz="2400" dirty="0"/>
              <a:t>즉</a:t>
            </a:r>
            <a:r>
              <a:rPr lang="en-US" altLang="ko-KR" sz="2400" dirty="0"/>
              <a:t>, </a:t>
            </a:r>
            <a:r>
              <a:rPr lang="ko-KR" altLang="en-US" sz="2400" dirty="0"/>
              <a:t>간단하게 </a:t>
            </a:r>
            <a:r>
              <a:rPr lang="en-US" altLang="ko-KR" sz="2400" dirty="0"/>
              <a:t>Bean </a:t>
            </a:r>
            <a:r>
              <a:rPr lang="ko-KR" altLang="en-US" sz="2400" dirty="0"/>
              <a:t>을 등록하기 위해 사용되는 </a:t>
            </a:r>
            <a:r>
              <a:rPr lang="en-US" altLang="ko-KR" sz="2400" dirty="0"/>
              <a:t>Annotation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AD08DB-0E7C-4778-0C3E-5EC4582BA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6AA0F5-6DCD-7F12-F6F7-7F2DF6502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1BB0460-AD3C-66BE-31AE-736458F83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@Component</a:t>
            </a:r>
            <a:endParaRPr lang="ko-KR" alt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1523F07-B041-8099-4160-2050444B5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9012" y="4563696"/>
            <a:ext cx="5153975" cy="1292662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@Component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NotificationManager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void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sendNotification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message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알림 전송 로직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   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ko-KR" altLang="ko-KR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171E1D-27FC-3D6D-E4F3-26D64374FFB8}"/>
              </a:ext>
            </a:extLst>
          </p:cNvPr>
          <p:cNvSpPr txBox="1"/>
          <p:nvPr/>
        </p:nvSpPr>
        <p:spPr>
          <a:xfrm>
            <a:off x="6060248" y="1647973"/>
            <a:ext cx="43604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accent6"/>
                </a:solidFill>
              </a:rPr>
              <a:t>*</a:t>
            </a:r>
            <a:r>
              <a:rPr lang="ko-KR" altLang="en-US" sz="1400" dirty="0">
                <a:solidFill>
                  <a:schemeClr val="accent6"/>
                </a:solidFill>
              </a:rPr>
              <a:t>스프링 컴포넌트</a:t>
            </a:r>
            <a:r>
              <a:rPr lang="en-US" altLang="ko-KR" sz="1400" dirty="0">
                <a:solidFill>
                  <a:schemeClr val="accent6"/>
                </a:solidFill>
              </a:rPr>
              <a:t>: </a:t>
            </a:r>
            <a:r>
              <a:rPr lang="ko-KR" altLang="en-US" sz="1400" dirty="0">
                <a:solidFill>
                  <a:schemeClr val="accent6"/>
                </a:solidFill>
              </a:rPr>
              <a:t>스프링 프레임워크에 의해 관리되는 객체</a:t>
            </a:r>
          </a:p>
        </p:txBody>
      </p:sp>
    </p:spTree>
    <p:extLst>
      <p:ext uri="{BB962C8B-B14F-4D97-AF65-F5344CB8AC3E}">
        <p14:creationId xmlns:p14="http://schemas.microsoft.com/office/powerpoint/2010/main" val="9048652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A2991DC-1ED3-7321-8F76-FCB6034FF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클래스를 </a:t>
            </a:r>
            <a:r>
              <a:rPr lang="ko-KR" altLang="en-US" sz="2400" dirty="0">
                <a:solidFill>
                  <a:schemeClr val="accent1"/>
                </a:solidFill>
              </a:rPr>
              <a:t>스프링의 컨트롤러로 표시</a:t>
            </a:r>
            <a:endParaRPr lang="en-US" altLang="ko-KR" sz="2400" dirty="0">
              <a:solidFill>
                <a:schemeClr val="accent1"/>
              </a:solidFill>
            </a:endParaRPr>
          </a:p>
          <a:p>
            <a:r>
              <a:rPr lang="ko-KR" altLang="en-US" sz="2400" dirty="0"/>
              <a:t>요청 매핑 </a:t>
            </a:r>
            <a:r>
              <a:rPr lang="ko-KR" altLang="en-US" sz="2400" dirty="0" err="1"/>
              <a:t>어노테이션</a:t>
            </a:r>
            <a:r>
              <a:rPr lang="ko-KR" altLang="en-US" sz="2400" dirty="0"/>
              <a:t> </a:t>
            </a:r>
            <a:r>
              <a:rPr lang="en-US" altLang="ko-KR" sz="2400" dirty="0"/>
              <a:t>(@GetMapping, @PostMapping </a:t>
            </a:r>
            <a:r>
              <a:rPr lang="ko-KR" altLang="en-US" sz="2400" dirty="0"/>
              <a:t>등</a:t>
            </a:r>
            <a:r>
              <a:rPr lang="en-US" altLang="ko-KR" sz="2400" dirty="0"/>
              <a:t>) </a:t>
            </a:r>
            <a:r>
              <a:rPr lang="ko-KR" altLang="en-US" sz="2400" dirty="0"/>
              <a:t>과 함께 사용해 </a:t>
            </a:r>
            <a:r>
              <a:rPr lang="en-US" altLang="ko-KR" sz="2400" dirty="0"/>
              <a:t>HTTP </a:t>
            </a:r>
            <a:r>
              <a:rPr lang="ko-KR" altLang="en-US" sz="2400" dirty="0"/>
              <a:t>요청을 특정 메서드에 매핑</a:t>
            </a:r>
            <a:endParaRPr lang="en-US" altLang="ko-KR" sz="2400" dirty="0"/>
          </a:p>
          <a:p>
            <a:r>
              <a:rPr lang="ko-KR" altLang="en-US" sz="2400" dirty="0"/>
              <a:t>뷰 이름을 반환하거나 </a:t>
            </a:r>
            <a:r>
              <a:rPr lang="en-US" altLang="ko-KR" sz="2400" dirty="0" err="1"/>
              <a:t>ResonseBody</a:t>
            </a:r>
            <a:r>
              <a:rPr lang="en-US" altLang="ko-KR" sz="2400" dirty="0"/>
              <a:t> </a:t>
            </a:r>
            <a:r>
              <a:rPr lang="ko-KR" altLang="en-US" sz="2400" dirty="0"/>
              <a:t>를 사용하여 직접 응답 생성 가능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80AB81B-FD12-838B-88B2-5BC497F71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DDFA78-7909-DA3E-00FA-8DDE10C02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03C6D94-384B-0BAC-0119-A74E8AB56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@Controller</a:t>
            </a:r>
            <a:endParaRPr lang="ko-KR" alt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6BA60A2-111C-CA39-7167-6900C281C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0134" y="4001294"/>
            <a:ext cx="6091732" cy="1815882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@Controller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HelloController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@GetMapping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"/hello"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hello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Model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model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model.addAttribute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message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Hello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World!"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hello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ko-KR" altLang="ko-K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0928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9731DC8-94CB-84F9-720D-38524006F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>
                <a:solidFill>
                  <a:schemeClr val="accent1"/>
                </a:solidFill>
              </a:rPr>
              <a:t>RESTful </a:t>
            </a:r>
            <a:r>
              <a:rPr lang="ko-KR" altLang="en-US" sz="2400" dirty="0">
                <a:solidFill>
                  <a:schemeClr val="accent1"/>
                </a:solidFill>
              </a:rPr>
              <a:t>웹 서비스의 컨트롤러</a:t>
            </a:r>
            <a:r>
              <a:rPr lang="ko-KR" altLang="en-US" sz="2400" dirty="0"/>
              <a:t>를 정의</a:t>
            </a:r>
            <a:endParaRPr lang="en-US" altLang="ko-KR" sz="2400" dirty="0"/>
          </a:p>
          <a:p>
            <a:r>
              <a:rPr lang="en-US" altLang="ko-KR" sz="2400" dirty="0"/>
              <a:t>@Controller, @ResponseBody </a:t>
            </a:r>
            <a:r>
              <a:rPr lang="ko-KR" altLang="en-US" sz="2400" dirty="0"/>
              <a:t>를 결합한 </a:t>
            </a:r>
            <a:r>
              <a:rPr lang="ko-KR" altLang="en-US" sz="2400" dirty="0" err="1"/>
              <a:t>어노테이션</a:t>
            </a:r>
            <a:endParaRPr lang="en-US" altLang="ko-KR" sz="2400" dirty="0"/>
          </a:p>
          <a:p>
            <a:r>
              <a:rPr lang="ko-KR" altLang="en-US" sz="2400" dirty="0"/>
              <a:t>모든 요청 처리 메서드의 반환 값을 </a:t>
            </a:r>
            <a:r>
              <a:rPr lang="en-US" altLang="ko-KR" sz="2400" dirty="0"/>
              <a:t>HTTP </a:t>
            </a:r>
            <a:r>
              <a:rPr lang="ko-KR" altLang="en-US" sz="2400" dirty="0"/>
              <a:t>응답 본문으로 직접 전송</a:t>
            </a:r>
            <a:endParaRPr lang="en-US" altLang="ko-KR" sz="2400" dirty="0"/>
          </a:p>
          <a:p>
            <a:r>
              <a:rPr lang="en-US" altLang="ko-KR" sz="2400" dirty="0"/>
              <a:t>JSON </a:t>
            </a:r>
            <a:r>
              <a:rPr lang="ko-KR" altLang="en-US" sz="2400" dirty="0"/>
              <a:t>또는 </a:t>
            </a:r>
            <a:r>
              <a:rPr lang="en-US" altLang="ko-KR" sz="2400" dirty="0"/>
              <a:t>XML </a:t>
            </a:r>
            <a:r>
              <a:rPr lang="ko-KR" altLang="en-US" sz="2400" dirty="0"/>
              <a:t>형식의 데이터를 쉽게 반환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D0CF2D3-8C25-12E6-C1AC-0CBF18B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F47856-DD57-F516-7527-C19D71104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8BFAE22-979E-A46F-20E8-ADF74D2F3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@RestController</a:t>
            </a:r>
            <a:endParaRPr lang="ko-KR" alt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6EC5E19-427F-299C-33E4-05FFACB78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694" y="3891824"/>
            <a:ext cx="5454611" cy="2031325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@RestController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@RequestMapping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"/api"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UserController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@GetMapping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"/users/{id}"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@PathVariable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Long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사용자 조회 로직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new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John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Doe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89588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8A3BA8D-12C8-7156-1149-335ABC638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비즈니스 로직을 처리하는 </a:t>
            </a:r>
            <a:r>
              <a:rPr lang="ko-KR" altLang="en-US" sz="2400" dirty="0">
                <a:solidFill>
                  <a:schemeClr val="accent1"/>
                </a:solidFill>
              </a:rPr>
              <a:t>서비스 클래스를 정의</a:t>
            </a:r>
            <a:endParaRPr lang="en-US" altLang="ko-KR" sz="2400" dirty="0">
              <a:solidFill>
                <a:schemeClr val="accent1"/>
              </a:solidFill>
            </a:endParaRPr>
          </a:p>
          <a:p>
            <a:r>
              <a:rPr lang="ko-KR" altLang="en-US" sz="2400" dirty="0"/>
              <a:t>클래스를 스프링의 서비스 컴포넌트로 표시</a:t>
            </a:r>
            <a:endParaRPr lang="en-US" altLang="ko-KR" sz="2400" dirty="0"/>
          </a:p>
          <a:p>
            <a:r>
              <a:rPr lang="ko-KR" altLang="en-US" sz="2400" dirty="0"/>
              <a:t>컴포넌트 스캔 대상이 되어 자동으로 빈으로 등록</a:t>
            </a:r>
            <a:endParaRPr lang="en-US" altLang="ko-KR" sz="2400" dirty="0"/>
          </a:p>
          <a:p>
            <a:r>
              <a:rPr lang="ko-KR" altLang="en-US" sz="2400" dirty="0"/>
              <a:t>주로 비즈니스 로직을 포함하는 클래스에 사용됨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8FD6613-7DF9-D2EF-930A-9EB8E59AD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08BACB-A5BF-3667-152D-3BC6F2309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0E1F05BF-258F-BB43-B6BC-36DCC09D7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@Service</a:t>
            </a:r>
            <a:endParaRPr lang="ko-KR" alt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6D5DB9E-C4B7-9707-74A2-CEC316960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4230" y="4001294"/>
            <a:ext cx="6843540" cy="1292662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@Service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EmailService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void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sendEmail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to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subject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body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이메일 전송 로직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   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ko-KR" altLang="ko-KR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709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43C3D7D-4C57-28F4-8676-19184CAFC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데이터 접근 계층의 </a:t>
            </a:r>
            <a:r>
              <a:rPr lang="en-US" altLang="ko-KR" sz="2400" dirty="0"/>
              <a:t>DAO(Data</a:t>
            </a:r>
            <a:r>
              <a:rPr lang="ko-KR" altLang="en-US" sz="2400" dirty="0"/>
              <a:t> </a:t>
            </a:r>
            <a:r>
              <a:rPr lang="en-US" altLang="ko-KR" sz="2400" dirty="0"/>
              <a:t>Access</a:t>
            </a:r>
            <a:r>
              <a:rPr lang="ko-KR" altLang="en-US" sz="2400" dirty="0"/>
              <a:t> </a:t>
            </a:r>
            <a:r>
              <a:rPr lang="en-US" altLang="ko-KR" sz="2400" dirty="0"/>
              <a:t>Object)</a:t>
            </a:r>
            <a:r>
              <a:rPr lang="ko-KR" altLang="en-US" sz="2400" dirty="0"/>
              <a:t>를 정의</a:t>
            </a:r>
            <a:endParaRPr lang="en-US" altLang="ko-KR" sz="2400" dirty="0"/>
          </a:p>
          <a:p>
            <a:r>
              <a:rPr lang="ko-KR" altLang="en-US" sz="2400" dirty="0"/>
              <a:t>데이터베이스 예외를 스프링 데이터 접근 예외로 변환</a:t>
            </a:r>
            <a:endParaRPr lang="en-US" altLang="ko-KR" sz="2400" dirty="0"/>
          </a:p>
          <a:p>
            <a:r>
              <a:rPr lang="en-US" altLang="ko-KR" sz="2400" dirty="0"/>
              <a:t>JPA</a:t>
            </a:r>
            <a:r>
              <a:rPr lang="ko-KR" altLang="en-US" sz="2400" dirty="0"/>
              <a:t> </a:t>
            </a:r>
            <a:r>
              <a:rPr lang="ko-KR" altLang="en-US" sz="2400" dirty="0" err="1"/>
              <a:t>리포지토리와</a:t>
            </a:r>
            <a:r>
              <a:rPr lang="ko-KR" altLang="en-US" sz="2400" dirty="0"/>
              <a:t> 함께 사용하면 쿼리 메소드를 자동으로 구현해줌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6219489-5522-E4D7-9602-1DF502225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4043EF-2023-0D5F-1721-C2DB08BED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E02BC6D2-CE62-2D11-3A1B-CEE584D6A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@Repository</a:t>
            </a:r>
            <a:endParaRPr lang="ko-KR" alt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9453D27-4EBE-A2DC-341D-F181AE899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4230" y="4238210"/>
            <a:ext cx="6843540" cy="892552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@Repository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interface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UserRepository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extends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JpaRepository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Long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 {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List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findByLastName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lastName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ko-KR" altLang="ko-KR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4181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83A3F7-D037-F4AF-B21E-31442A4DB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611750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스프링 컨테이너에 등록한 </a:t>
            </a:r>
            <a:r>
              <a:rPr lang="en-US" altLang="ko-KR" sz="2400" dirty="0"/>
              <a:t>Bean </a:t>
            </a:r>
            <a:r>
              <a:rPr lang="ko-KR" altLang="en-US" sz="2400" dirty="0"/>
              <a:t>에게 의존 관계 주입이 필요할 때</a:t>
            </a:r>
            <a:r>
              <a:rPr lang="en-US" altLang="ko-KR" sz="2400" dirty="0"/>
              <a:t>, </a:t>
            </a:r>
            <a:r>
              <a:rPr lang="en-US" altLang="ko-KR" sz="2400" dirty="0">
                <a:solidFill>
                  <a:schemeClr val="accent1"/>
                </a:solidFill>
              </a:rPr>
              <a:t>DI (</a:t>
            </a:r>
            <a:r>
              <a:rPr lang="ko-KR" altLang="en-US" sz="2400" dirty="0">
                <a:solidFill>
                  <a:schemeClr val="accent1"/>
                </a:solidFill>
              </a:rPr>
              <a:t>의존성 주입</a:t>
            </a:r>
            <a:r>
              <a:rPr lang="en-US" altLang="ko-KR" sz="2400" dirty="0">
                <a:solidFill>
                  <a:schemeClr val="accent1"/>
                </a:solidFill>
              </a:rPr>
              <a:t>) </a:t>
            </a:r>
            <a:r>
              <a:rPr lang="ko-KR" altLang="en-US" sz="2400" dirty="0"/>
              <a:t>을 가능하게 하는 </a:t>
            </a:r>
            <a:r>
              <a:rPr lang="ko-KR" altLang="en-US" sz="2400" dirty="0" err="1"/>
              <a:t>어노테이션</a:t>
            </a:r>
            <a:endParaRPr lang="en-US" altLang="ko-KR" sz="2400" dirty="0"/>
          </a:p>
          <a:p>
            <a:r>
              <a:rPr lang="ko-KR" altLang="en-US" sz="2400" dirty="0"/>
              <a:t>스프링 컨테이너가 해당 타입의 빈을 찾아 자동으로 주입</a:t>
            </a:r>
            <a:endParaRPr lang="en-US" altLang="ko-KR" sz="2400" dirty="0"/>
          </a:p>
          <a:p>
            <a:r>
              <a:rPr lang="ko-KR" altLang="en-US" sz="2400" dirty="0"/>
              <a:t>생성자</a:t>
            </a:r>
            <a:r>
              <a:rPr lang="en-US" altLang="ko-KR" sz="2400" dirty="0"/>
              <a:t>, </a:t>
            </a:r>
            <a:r>
              <a:rPr lang="ko-KR" altLang="en-US" sz="2400" dirty="0"/>
              <a:t>세터</a:t>
            </a:r>
            <a:r>
              <a:rPr lang="en-US" altLang="ko-KR" sz="2400" dirty="0"/>
              <a:t>, </a:t>
            </a:r>
            <a:r>
              <a:rPr lang="ko-KR" altLang="en-US" sz="2400" dirty="0"/>
              <a:t>필드에 사용 가능</a:t>
            </a:r>
            <a:endParaRPr lang="en-US" altLang="ko-KR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0E7C5B-71D2-5B04-45B6-D5514BA40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2117AE-B5B4-8A97-6FFF-7066FC711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5732BE4-5348-757E-065E-297538FCB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@Autowired</a:t>
            </a:r>
            <a:endParaRPr lang="ko-KR" alt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1CB7439-F344-5FE1-06D3-3314EF965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0854" y="3653374"/>
            <a:ext cx="5750292" cy="2092881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@Service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UserService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@Autowired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private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UserRepository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userRepository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findById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Long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userRepository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.findById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orElse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null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endParaRPr kumimoji="0" lang="ko-KR" altLang="ko-KR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8527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57BB282-D4E6-AC9F-55B5-ED8BB0CAA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>
                <a:solidFill>
                  <a:schemeClr val="accent1"/>
                </a:solidFill>
              </a:rPr>
              <a:t>HTTP </a:t>
            </a:r>
            <a:r>
              <a:rPr lang="ko-KR" altLang="en-US" sz="2400" dirty="0">
                <a:solidFill>
                  <a:schemeClr val="accent1"/>
                </a:solidFill>
              </a:rPr>
              <a:t>특정 요청을 특정 </a:t>
            </a:r>
            <a:r>
              <a:rPr lang="ko-KR" altLang="en-US" sz="2400" dirty="0" err="1">
                <a:solidFill>
                  <a:schemeClr val="accent1"/>
                </a:solidFill>
              </a:rPr>
              <a:t>핸들러</a:t>
            </a:r>
            <a:r>
              <a:rPr lang="ko-KR" altLang="en-US" sz="2400" dirty="0">
                <a:solidFill>
                  <a:schemeClr val="accent1"/>
                </a:solidFill>
              </a:rPr>
              <a:t> 메서드에 매핑</a:t>
            </a:r>
            <a:r>
              <a:rPr lang="ko-KR" altLang="en-US" sz="2400" dirty="0"/>
              <a:t>하는데 사용 </a:t>
            </a:r>
            <a:endParaRPr lang="en-US" altLang="ko-KR" sz="2400" dirty="0"/>
          </a:p>
          <a:p>
            <a:r>
              <a:rPr lang="ko-KR" altLang="en-US" sz="2400" dirty="0"/>
              <a:t>클래스 레벨과 메소드 레벨 모두에서 사용 가능</a:t>
            </a:r>
            <a:endParaRPr lang="en-US" altLang="ko-KR" sz="2400" dirty="0"/>
          </a:p>
          <a:p>
            <a:pPr lvl="1"/>
            <a:r>
              <a:rPr lang="ko-KR" altLang="en-US" sz="2000" dirty="0"/>
              <a:t>클래스 레벨에서 사용 시 해당 컨트롤러의 모든 </a:t>
            </a:r>
            <a:r>
              <a:rPr lang="ko-KR" altLang="en-US" sz="2000" dirty="0" err="1"/>
              <a:t>핸들러</a:t>
            </a:r>
            <a:r>
              <a:rPr lang="ko-KR" altLang="en-US" sz="2000" dirty="0"/>
              <a:t> 메서드에 적용됨</a:t>
            </a:r>
            <a:endParaRPr lang="en-US" altLang="ko-KR" sz="2000" dirty="0"/>
          </a:p>
          <a:p>
            <a:endParaRPr lang="ko-KR" altLang="en-US" sz="24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521971B-FEDE-9963-2E4E-F33607163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A46AA9-522F-B4C5-ED18-56E3B5D68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65B14ED-4A1F-643F-97D0-DFB8C2199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@RequestMapping</a:t>
            </a:r>
            <a:endParaRPr lang="ko-KR" alt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18B6C20-4130-AA50-7C83-3B1801F5E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8493" y="3314641"/>
            <a:ext cx="6135013" cy="2862322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@Controller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@RequestMapping(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"/users"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UserController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@RequestMapping(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method =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RequestMethod.GET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listUsers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사용자 목록을 반환하는 로직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       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userList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@RequestMapping(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value =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"/{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method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RequestMethod.GET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getUser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(@PathVariable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Long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특정 사용자 정보를 반환하는 로직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       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userDetails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2576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9018F4C-ED41-C046-0249-2D63B20DF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@GetMapping: HTTP GET</a:t>
            </a:r>
            <a:r>
              <a:rPr lang="ko-KR" altLang="en-US" sz="2400" dirty="0"/>
              <a:t> 요청 처리</a:t>
            </a:r>
            <a:endParaRPr lang="en-US" altLang="ko-KR" sz="2400" dirty="0"/>
          </a:p>
          <a:p>
            <a:pPr lvl="1"/>
            <a:r>
              <a:rPr lang="en-US" altLang="ko-KR" sz="1600" dirty="0">
                <a:solidFill>
                  <a:schemeClr val="accent6"/>
                </a:solidFill>
              </a:rPr>
              <a:t>@RequestMapping(method = </a:t>
            </a:r>
            <a:r>
              <a:rPr lang="en-US" altLang="ko-KR" sz="1600" dirty="0" err="1">
                <a:solidFill>
                  <a:schemeClr val="accent6"/>
                </a:solidFill>
              </a:rPr>
              <a:t>RequestMethod.GET</a:t>
            </a:r>
            <a:r>
              <a:rPr lang="en-US" altLang="ko-KR" sz="1600" dirty="0">
                <a:solidFill>
                  <a:schemeClr val="accent6"/>
                </a:solidFill>
              </a:rPr>
              <a:t>) → @GetMapping</a:t>
            </a:r>
            <a:endParaRPr lang="en-US" altLang="ko-KR" sz="2000" dirty="0">
              <a:solidFill>
                <a:schemeClr val="accent6"/>
              </a:solidFill>
            </a:endParaRPr>
          </a:p>
          <a:p>
            <a:r>
              <a:rPr lang="en-US" altLang="ko-KR" sz="2400" dirty="0"/>
              <a:t>@PostMapping: HTTP POST</a:t>
            </a:r>
            <a:r>
              <a:rPr lang="ko-KR" altLang="en-US" sz="2400" dirty="0"/>
              <a:t> 요청 처리</a:t>
            </a:r>
            <a:endParaRPr lang="en-US" altLang="ko-KR" sz="2400" dirty="0"/>
          </a:p>
          <a:p>
            <a:pPr lvl="1"/>
            <a:r>
              <a:rPr lang="en-US" altLang="ko-KR" sz="1600" dirty="0">
                <a:solidFill>
                  <a:schemeClr val="accent6"/>
                </a:solidFill>
              </a:rPr>
              <a:t>@RequestMapping(method = </a:t>
            </a:r>
            <a:r>
              <a:rPr lang="en-US" altLang="ko-KR" sz="1600" dirty="0" err="1">
                <a:solidFill>
                  <a:schemeClr val="accent6"/>
                </a:solidFill>
              </a:rPr>
              <a:t>RequestMethod.POST</a:t>
            </a:r>
            <a:r>
              <a:rPr lang="en-US" altLang="ko-KR" sz="1600" dirty="0">
                <a:solidFill>
                  <a:schemeClr val="accent6"/>
                </a:solidFill>
              </a:rPr>
              <a:t>) → @PostMapping</a:t>
            </a:r>
            <a:endParaRPr lang="en-US" altLang="ko-KR" sz="2000" dirty="0">
              <a:solidFill>
                <a:schemeClr val="accent6"/>
              </a:solidFill>
            </a:endParaRPr>
          </a:p>
          <a:p>
            <a:r>
              <a:rPr lang="en-US" altLang="ko-KR" sz="2400" dirty="0"/>
              <a:t>@PutMapping:</a:t>
            </a:r>
            <a:r>
              <a:rPr lang="ko-KR" altLang="en-US" sz="2400" dirty="0"/>
              <a:t> </a:t>
            </a:r>
            <a:r>
              <a:rPr lang="en-US" altLang="ko-KR" sz="2400" dirty="0"/>
              <a:t>HTTP PUT </a:t>
            </a:r>
            <a:r>
              <a:rPr lang="ko-KR" altLang="en-US" sz="2400" dirty="0"/>
              <a:t>요청 처리</a:t>
            </a:r>
            <a:endParaRPr lang="en-US" altLang="ko-KR" sz="2400" dirty="0"/>
          </a:p>
          <a:p>
            <a:pPr lvl="1"/>
            <a:r>
              <a:rPr lang="en-US" altLang="ko-KR" sz="1600" dirty="0">
                <a:solidFill>
                  <a:schemeClr val="accent6"/>
                </a:solidFill>
              </a:rPr>
              <a:t>@RequestMapping(method = </a:t>
            </a:r>
            <a:r>
              <a:rPr lang="en-US" altLang="ko-KR" sz="1600" dirty="0" err="1">
                <a:solidFill>
                  <a:schemeClr val="accent6"/>
                </a:solidFill>
              </a:rPr>
              <a:t>RequestMethod.PUT</a:t>
            </a:r>
            <a:r>
              <a:rPr lang="en-US" altLang="ko-KR" sz="1600" dirty="0">
                <a:solidFill>
                  <a:schemeClr val="accent6"/>
                </a:solidFill>
              </a:rPr>
              <a:t>) → @PutMapping</a:t>
            </a:r>
            <a:endParaRPr lang="en-US" altLang="ko-KR" sz="2000" dirty="0">
              <a:solidFill>
                <a:schemeClr val="accent6"/>
              </a:solidFill>
            </a:endParaRPr>
          </a:p>
          <a:p>
            <a:r>
              <a:rPr lang="en-US" altLang="ko-KR" sz="2400" dirty="0"/>
              <a:t>@PatchMapping: HTTP PATCH </a:t>
            </a:r>
            <a:r>
              <a:rPr lang="ko-KR" altLang="en-US" sz="2400" dirty="0"/>
              <a:t>요청 처리</a:t>
            </a:r>
            <a:endParaRPr lang="en-US" altLang="ko-KR" sz="2400" dirty="0"/>
          </a:p>
          <a:p>
            <a:pPr lvl="1"/>
            <a:r>
              <a:rPr lang="en-US" altLang="ko-KR" sz="1600" dirty="0">
                <a:solidFill>
                  <a:schemeClr val="accent6"/>
                </a:solidFill>
              </a:rPr>
              <a:t>@RequestMapping(method = </a:t>
            </a:r>
            <a:r>
              <a:rPr lang="en-US" altLang="ko-KR" sz="1600" dirty="0" err="1">
                <a:solidFill>
                  <a:schemeClr val="accent6"/>
                </a:solidFill>
              </a:rPr>
              <a:t>RequestMethod.PATCH</a:t>
            </a:r>
            <a:r>
              <a:rPr lang="en-US" altLang="ko-KR" sz="1600" dirty="0">
                <a:solidFill>
                  <a:schemeClr val="accent6"/>
                </a:solidFill>
              </a:rPr>
              <a:t>) → @PatchMapping</a:t>
            </a:r>
            <a:endParaRPr lang="en-US" altLang="ko-KR" sz="2000" dirty="0">
              <a:solidFill>
                <a:schemeClr val="accent6"/>
              </a:solidFill>
            </a:endParaRPr>
          </a:p>
          <a:p>
            <a:r>
              <a:rPr lang="en-US" altLang="ko-KR" sz="2400" dirty="0"/>
              <a:t>@DeleteMapping: HTTP DELETE </a:t>
            </a:r>
            <a:r>
              <a:rPr lang="ko-KR" altLang="en-US" sz="2400" dirty="0"/>
              <a:t>요청 처리</a:t>
            </a:r>
            <a:endParaRPr lang="en-US" altLang="ko-KR" sz="2400" dirty="0"/>
          </a:p>
          <a:p>
            <a:pPr lvl="1"/>
            <a:r>
              <a:rPr lang="en-US" altLang="ko-KR" sz="1600" dirty="0">
                <a:solidFill>
                  <a:schemeClr val="accent6"/>
                </a:solidFill>
              </a:rPr>
              <a:t>@RequestMapping(method = </a:t>
            </a:r>
            <a:r>
              <a:rPr lang="en-US" altLang="ko-KR" sz="1600" dirty="0" err="1">
                <a:solidFill>
                  <a:schemeClr val="accent6"/>
                </a:solidFill>
              </a:rPr>
              <a:t>RequestMethod.DELETE</a:t>
            </a:r>
            <a:r>
              <a:rPr lang="en-US" altLang="ko-KR" sz="1600" dirty="0">
                <a:solidFill>
                  <a:schemeClr val="accent6"/>
                </a:solidFill>
              </a:rPr>
              <a:t>) → @DeleteMapping</a:t>
            </a:r>
            <a:endParaRPr lang="en-US" altLang="ko-KR" sz="2000" dirty="0">
              <a:solidFill>
                <a:schemeClr val="accent6"/>
              </a:solidFill>
            </a:endParaRPr>
          </a:p>
          <a:p>
            <a:endParaRPr lang="ko-KR" altLang="en-US" sz="24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36A18F0-0C9C-4A01-8048-6415D8218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6BC280-EA15-9D3B-95D0-119506C97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45D51A6D-C3CD-A608-E051-965FCCDFE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@{HTTP_Method}Mapping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98435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36A18F0-0C9C-4A01-8048-6415D8218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6BC280-EA15-9D3B-95D0-119506C97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45D51A6D-C3CD-A608-E051-965FCCDFE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@{HTTP_Method}Mapping</a:t>
            </a:r>
            <a:endParaRPr lang="ko-KR" altLang="en-US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CD0775B-5ED9-DA97-C09B-A3741C944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272" y="2570428"/>
            <a:ext cx="6437522" cy="3477875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@RestController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@RequestMapping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"/api/users"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UserController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@GetMapping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List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getAllUsers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모든 사용자 조회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    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userService.findAll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@GetMapping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"/{id}"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getUser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@PathVariable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Long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특정 사용자 조회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    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userService.findById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@PostMapping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ResponseEntity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createUser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@RequestBody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새 사용자 생성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    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newUser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userService.create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ResponseEntity.status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HttpStatus.CREATED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).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body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newUser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B2FEEF8-810A-FD87-27D0-591A6D0B1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1206" y="1520695"/>
            <a:ext cx="6437522" cy="3170099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@PutMapping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"/{id}"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updateUser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@PathVariable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Long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@RequestBody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사용자 전체 정보 업데이트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    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userService.update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@PatchMapping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"/{id}"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partialUpdateUser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@PathVariable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Long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@RequestBody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Map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Object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updates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사용자 정보 부분 업데이트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    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userService.partialUpdate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updates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@DeleteMapping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"/{id}"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ResponseEntity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Void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deleteUser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@PathVariable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Long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사용자 삭제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    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userService.delete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ResponseEntity.noContent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().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build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0460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0CE6152-2AFD-A300-CAF1-577752A96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HTTP </a:t>
            </a:r>
            <a:r>
              <a:rPr lang="ko-KR" altLang="en-US" sz="2400" dirty="0"/>
              <a:t>요청 파라미터를 메서드 파라미터에 바인딩</a:t>
            </a:r>
            <a:endParaRPr lang="en-US" altLang="ko-KR" sz="2400" dirty="0"/>
          </a:p>
          <a:p>
            <a:r>
              <a:rPr lang="en-US" altLang="ko-KR" sz="2400" dirty="0"/>
              <a:t>URL</a:t>
            </a:r>
            <a:r>
              <a:rPr lang="ko-KR" altLang="en-US" sz="2400" dirty="0"/>
              <a:t>의 쿼리 파라미터나 폼 데이터를 메서드 파라미터로 </a:t>
            </a:r>
            <a:r>
              <a:rPr lang="ko-KR" altLang="en-US" sz="2400" dirty="0" err="1"/>
              <a:t>받아옴</a:t>
            </a:r>
            <a:endParaRPr lang="en-US" altLang="ko-KR" sz="2400" dirty="0"/>
          </a:p>
          <a:p>
            <a:r>
              <a:rPr lang="ko-KR" altLang="en-US" sz="2400" dirty="0"/>
              <a:t>필수 여부</a:t>
            </a:r>
            <a:r>
              <a:rPr lang="en-US" altLang="ko-KR" sz="2400" dirty="0"/>
              <a:t>, </a:t>
            </a:r>
            <a:r>
              <a:rPr lang="ko-KR" altLang="en-US" sz="2400" dirty="0"/>
              <a:t>기본 값 등을 지정 가능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505A7CA-C164-FBCB-A8F6-7A5B6D97B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0DD266-A3A4-15B9-BB4A-59AAA5AB8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A2CE4BB-1FFC-58F5-FCB4-F7B0B2A7D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@RequestParam</a:t>
            </a:r>
            <a:endParaRPr lang="ko-KR" alt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7773157-59C9-665F-99A9-8B6932712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3744" y="4001294"/>
            <a:ext cx="9924512" cy="109260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@GetMapping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"/search"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searchUsers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@RequestParam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@RequestParam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(defaultValue =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"1"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page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과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page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를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 이용한 검색 로직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searchResult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ko-KR" altLang="ko-KR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3631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6C1B35D-EA16-3D8C-C0FC-A467D5D8C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URL</a:t>
            </a:r>
            <a:r>
              <a:rPr lang="ko-KR" altLang="en-US" dirty="0"/>
              <a:t> 경로에 있는 변수 값을 추출하여 메서드 파라미터로 전달</a:t>
            </a:r>
            <a:endParaRPr lang="en-US" altLang="ko-KR" dirty="0"/>
          </a:p>
          <a:p>
            <a:r>
              <a:rPr lang="en-US" altLang="ko-KR" dirty="0"/>
              <a:t>RESTful API </a:t>
            </a:r>
            <a:r>
              <a:rPr lang="ko-KR" altLang="en-US" dirty="0"/>
              <a:t>설계에서 자주 사용됨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5913A98-0395-185C-11C1-5D714CBA2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4E4130-0749-A509-D2B6-1BF8C11EE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B03302F5-8CFB-E72F-75E5-37B79CE44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@PathVariable</a:t>
            </a:r>
            <a:endParaRPr lang="ko-KR" alt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61A6BD5-AF4B-4C4A-0663-7A62092B8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3771" y="3774481"/>
            <a:ext cx="4557658" cy="109260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@GetMapping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"/users/{id}"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getUser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@PathVariable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Long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7A7E8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를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 이용해 사용자 정보를 조회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JetBrains Mono" panose="02000009000000000000" pitchFamily="49" charset="0"/>
              </a:rPr>
              <a:t>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userService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.findById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ko-KR" altLang="ko-KR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5821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0E1C5BB-D48F-03F1-A49C-6D595B898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요청 파라미터를 객체에 바인딩하고</a:t>
            </a:r>
            <a:r>
              <a:rPr lang="en-US" altLang="ko-KR" sz="2400" dirty="0"/>
              <a:t>, </a:t>
            </a:r>
            <a:r>
              <a:rPr lang="ko-KR" altLang="en-US" sz="2400" dirty="0"/>
              <a:t>해당 객체를 모델에 추가</a:t>
            </a:r>
            <a:endParaRPr lang="en-US" altLang="ko-KR" sz="2400" dirty="0"/>
          </a:p>
          <a:p>
            <a:r>
              <a:rPr lang="en-US" altLang="ko-KR" sz="2400" dirty="0"/>
              <a:t>HTTP </a:t>
            </a:r>
            <a:r>
              <a:rPr lang="ko-KR" altLang="en-US" sz="2400" dirty="0"/>
              <a:t>요청 파라미터를 지정된 객체의 프로퍼티에 바인딩</a:t>
            </a:r>
            <a:endParaRPr lang="en-US" altLang="ko-KR" sz="2400" dirty="0"/>
          </a:p>
          <a:p>
            <a:r>
              <a:rPr lang="ko-KR" altLang="en-US" sz="2400" dirty="0"/>
              <a:t>객체를 자동으로 모델에 추가하여 뷰에서 사용할 수 있게 함</a:t>
            </a:r>
            <a:endParaRPr lang="en-US" altLang="ko-KR" sz="2400" dirty="0"/>
          </a:p>
          <a:p>
            <a:r>
              <a:rPr lang="ko-KR" altLang="en-US" sz="2400" dirty="0"/>
              <a:t>폼 데이터를 받아 처리할 때 주로 사용됨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174C3CC-472E-D3DC-39B1-3DC8E4AE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1A11A2-FD49-E311-53C1-27D92CF1E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47D82AE-1C00-F904-153E-D84E48B4B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@ModelAttribute</a:t>
            </a:r>
            <a:endParaRPr lang="ko-KR" alt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E20A1B6-D5EB-8FFF-A064-7EB58B65B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6533" y="4210228"/>
            <a:ext cx="5452134" cy="109260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@PostMapping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"/users"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createUser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@ModelAttribute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userService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.save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redirect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:/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ko-KR" altLang="ko-KR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1316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7AAAB0-C014-1B11-5BDE-BE914E919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611750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스프링 컨테이너에 의해 관리될 </a:t>
            </a:r>
            <a:r>
              <a:rPr lang="ko-KR" altLang="en-US" sz="2400" dirty="0">
                <a:solidFill>
                  <a:schemeClr val="accent1"/>
                </a:solidFill>
              </a:rPr>
              <a:t>빈 객체를 생성하는 메서드를 표시</a:t>
            </a:r>
            <a:endParaRPr lang="en-US" altLang="ko-KR" sz="2400" dirty="0">
              <a:solidFill>
                <a:schemeClr val="accent1"/>
              </a:solidFill>
            </a:endParaRPr>
          </a:p>
          <a:p>
            <a:r>
              <a:rPr lang="ko-KR" altLang="en-US" sz="2400" dirty="0"/>
              <a:t>메서드가 반환하는 객체를 스프링 컨테이너의 빈으로 등록</a:t>
            </a:r>
            <a:endParaRPr lang="en-US" altLang="ko-KR" sz="2400" dirty="0"/>
          </a:p>
          <a:p>
            <a:r>
              <a:rPr lang="ko-KR" altLang="en-US" sz="2400" dirty="0"/>
              <a:t>주로 </a:t>
            </a:r>
            <a:r>
              <a:rPr lang="en-US" altLang="ko-KR" sz="2400" dirty="0"/>
              <a:t>@Configuration </a:t>
            </a:r>
            <a:r>
              <a:rPr lang="ko-KR" altLang="en-US" sz="2400" dirty="0"/>
              <a:t>클래스 내에서 사용됨</a:t>
            </a:r>
            <a:endParaRPr lang="en-US" altLang="ko-KR" sz="2400" dirty="0"/>
          </a:p>
          <a:p>
            <a:r>
              <a:rPr lang="ko-KR" altLang="en-US" sz="2400" dirty="0" err="1"/>
              <a:t>서드파티</a:t>
            </a:r>
            <a:r>
              <a:rPr lang="ko-KR" altLang="en-US" sz="2400" dirty="0"/>
              <a:t> 라이브러리</a:t>
            </a:r>
            <a:r>
              <a:rPr lang="en-US" altLang="ko-KR" sz="2400" dirty="0"/>
              <a:t>(</a:t>
            </a:r>
            <a:r>
              <a:rPr lang="ko-KR" altLang="en-US" sz="2400" dirty="0"/>
              <a:t>개발자가 직접 제어가 불가능한 외부 라이브러리 등</a:t>
            </a:r>
            <a:r>
              <a:rPr lang="en-US" altLang="ko-KR" sz="2400" dirty="0"/>
              <a:t>)</a:t>
            </a:r>
            <a:r>
              <a:rPr lang="ko-KR" altLang="en-US" sz="2400" dirty="0"/>
              <a:t>의 클래스를 빈으로 등록할 때 유용</a:t>
            </a:r>
            <a:endParaRPr lang="en-US" altLang="ko-KR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2698A4-1B41-3CB4-F30B-B2B80F739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E3655D-B2AA-2AE3-ACE5-3F0714809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0289985-C057-019E-CA0B-7FEA41435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@Bean</a:t>
            </a:r>
            <a:endParaRPr lang="ko-KR" alt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D27C192-654E-AB7B-8320-A3E293424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7135" y="3839756"/>
            <a:ext cx="7157729" cy="2308324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@Configuration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AppConfig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@Bean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DataSource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dataSource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DriverManagerDataSource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dataSource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new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DriverManagerDataSource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dataSource.setDriverClassName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com.mysql.cj.jdbc.Driver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dataSource.setUrl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jdbc:mysql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://localhost:3306/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mydb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dataSource.setUsername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dataSource.setPassword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password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dataSource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3210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D953AD8-650D-6BCB-15BA-6291F9B5B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>
                <a:solidFill>
                  <a:schemeClr val="accent1"/>
                </a:solidFill>
              </a:rPr>
              <a:t>해당 클래스가 하나 이상의 </a:t>
            </a:r>
            <a:r>
              <a:rPr lang="en-US" altLang="ko-KR" sz="2400" dirty="0">
                <a:solidFill>
                  <a:schemeClr val="accent1"/>
                </a:solidFill>
              </a:rPr>
              <a:t>@Bean</a:t>
            </a:r>
            <a:r>
              <a:rPr lang="ko-KR" altLang="en-US" sz="2400" dirty="0">
                <a:solidFill>
                  <a:schemeClr val="accent1"/>
                </a:solidFill>
              </a:rPr>
              <a:t> 메서드를 선언하고 있음</a:t>
            </a:r>
            <a:r>
              <a:rPr lang="ko-KR" altLang="en-US" sz="2400" dirty="0"/>
              <a:t>을 나타냄</a:t>
            </a:r>
            <a:endParaRPr lang="en-US" altLang="ko-KR" sz="2400" dirty="0"/>
          </a:p>
          <a:p>
            <a:r>
              <a:rPr lang="ko-KR" altLang="en-US" sz="2400" dirty="0"/>
              <a:t>클래스를 </a:t>
            </a:r>
            <a:r>
              <a:rPr lang="en-US" altLang="ko-KR" sz="2400" dirty="0"/>
              <a:t>Spring </a:t>
            </a:r>
            <a:r>
              <a:rPr lang="ko-KR" altLang="en-US" sz="2400" dirty="0"/>
              <a:t>의 설정 클래스로 지정</a:t>
            </a:r>
            <a:endParaRPr lang="en-US" altLang="ko-KR" sz="2400" dirty="0"/>
          </a:p>
          <a:p>
            <a:r>
              <a:rPr lang="en-US" altLang="ko-KR" sz="2400" dirty="0"/>
              <a:t>@Bean </a:t>
            </a:r>
            <a:r>
              <a:rPr lang="ko-KR" altLang="en-US" sz="2400" dirty="0" err="1"/>
              <a:t>어노테이션이</a:t>
            </a:r>
            <a:r>
              <a:rPr lang="ko-KR" altLang="en-US" sz="2400" dirty="0"/>
              <a:t> 붙은 메서드를 통해 </a:t>
            </a:r>
            <a:r>
              <a:rPr lang="en-US" altLang="ko-KR" sz="2400" dirty="0"/>
              <a:t>Bean </a:t>
            </a:r>
            <a:r>
              <a:rPr lang="ko-KR" altLang="en-US" sz="2400" dirty="0"/>
              <a:t>을 정의 가능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95C2283-09C2-5683-E11C-7930EAD7E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901AF-1190-3B07-AE23-F0DE6F032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27326906-B4F0-08FB-04EC-13EA4F500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@Congifuration	</a:t>
            </a:r>
            <a:endParaRPr lang="ko-KR" alt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6088872-F9C5-BB90-FB60-1AA0054ED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7135" y="3429000"/>
            <a:ext cx="7157729" cy="2308324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@Configuration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AppConfig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@Bean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DataSource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dataSource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DriverManagerDataSource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dataSource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new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DriverManagerDataSource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dataSource.setDriverClassName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com.mysql.cj.jdbc.Driver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dataSource.setUrl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jdbc:mysql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://localhost:3306/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mydb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dataSource.setUsername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user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dataSource.setPassword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password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dataSource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8247318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 GOV">
      <a:majorFont>
        <a:latin typeface="Pretendard GOV"/>
        <a:ea typeface="Pretendard GOV"/>
        <a:cs typeface=""/>
      </a:majorFont>
      <a:minorFont>
        <a:latin typeface="Pretendard GOV"/>
        <a:ea typeface="Pretendard 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6198</TotalTime>
  <Words>3181</Words>
  <Application>Microsoft Office PowerPoint</Application>
  <PresentationFormat>와이드스크린</PresentationFormat>
  <Paragraphs>341</Paragraphs>
  <Slides>32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9" baseType="lpstr">
      <vt:lpstr>Arial Unicode MS</vt:lpstr>
      <vt:lpstr>JetBrains Mono</vt:lpstr>
      <vt:lpstr>Pretendard GOV</vt:lpstr>
      <vt:lpstr>맑은 고딕</vt:lpstr>
      <vt:lpstr>Arial</vt:lpstr>
      <vt:lpstr>Wingdings</vt:lpstr>
      <vt:lpstr>3_Office 테마</vt:lpstr>
      <vt:lpstr>웹 개발자 부트캠프 과정</vt:lpstr>
      <vt:lpstr>Dependency Injection</vt:lpstr>
      <vt:lpstr>복습. DI (Dependency Injection, 의존성 주입)</vt:lpstr>
      <vt:lpstr>의존성이란?</vt:lpstr>
      <vt:lpstr>앞선 코드의 문제점은?</vt:lpstr>
      <vt:lpstr>의존성 주입(DI, Dependency Injection)</vt:lpstr>
      <vt:lpstr>의존성 주입(DI, Dependency Injection)</vt:lpstr>
      <vt:lpstr>복습. DI (Dependency Injection, 의존성 주입) 방법</vt:lpstr>
      <vt:lpstr>실습. 온라인 쇼핑몰 주문 시스템 구현하기</vt:lpstr>
      <vt:lpstr>스프링 프레임워크 </vt:lpstr>
      <vt:lpstr>Bean</vt:lpstr>
      <vt:lpstr>Bean 이란?</vt:lpstr>
      <vt:lpstr>Bean 등록 방법</vt:lpstr>
      <vt:lpstr>Annotation</vt:lpstr>
      <vt:lpstr>Annotation이란?</vt:lpstr>
      <vt:lpstr>Annotation 장점과 사용법</vt:lpstr>
      <vt:lpstr>Spring Boot Annotation 종류</vt:lpstr>
      <vt:lpstr>@SpringBootApplication</vt:lpstr>
      <vt:lpstr>@Component</vt:lpstr>
      <vt:lpstr>@Controller</vt:lpstr>
      <vt:lpstr>@RestController</vt:lpstr>
      <vt:lpstr>@Service</vt:lpstr>
      <vt:lpstr>@Repository</vt:lpstr>
      <vt:lpstr>@Autowired</vt:lpstr>
      <vt:lpstr>@RequestMapping</vt:lpstr>
      <vt:lpstr>@{HTTP_Method}Mapping</vt:lpstr>
      <vt:lpstr>@{HTTP_Method}Mapping</vt:lpstr>
      <vt:lpstr>@RequestParam</vt:lpstr>
      <vt:lpstr>@PathVariable</vt:lpstr>
      <vt:lpstr>@ModelAttribute</vt:lpstr>
      <vt:lpstr>@Bean</vt:lpstr>
      <vt:lpstr>@Congifuration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On Coding</cp:lastModifiedBy>
  <cp:revision>1497</cp:revision>
  <dcterms:created xsi:type="dcterms:W3CDTF">2022-06-26T11:10:22Z</dcterms:created>
  <dcterms:modified xsi:type="dcterms:W3CDTF">2024-07-18T02:29:41Z</dcterms:modified>
</cp:coreProperties>
</file>