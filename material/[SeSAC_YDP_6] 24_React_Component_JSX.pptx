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2"/>
  </p:notesMasterIdLst>
  <p:sldIdLst>
    <p:sldId id="256" r:id="rId2"/>
    <p:sldId id="261" r:id="rId3"/>
    <p:sldId id="262" r:id="rId4"/>
    <p:sldId id="263" r:id="rId5"/>
    <p:sldId id="264" r:id="rId6"/>
    <p:sldId id="268" r:id="rId7"/>
    <p:sldId id="283" r:id="rId8"/>
    <p:sldId id="265" r:id="rId9"/>
    <p:sldId id="267" r:id="rId10"/>
    <p:sldId id="269" r:id="rId11"/>
    <p:sldId id="282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53A6"/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73684" autoAdjust="0"/>
  </p:normalViewPr>
  <p:slideViewPr>
    <p:cSldViewPr snapToGrid="0">
      <p:cViewPr varScale="1">
        <p:scale>
          <a:sx n="86" d="100"/>
          <a:sy n="86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654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764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C000"/>
                </a:solidFill>
              </a:rPr>
              <a:t>컴포넌트 안에 컴포넌트 안에 컴포넌트</a:t>
            </a:r>
            <a:r>
              <a:rPr lang="en-US" altLang="ko-KR" dirty="0">
                <a:solidFill>
                  <a:srgbClr val="FFC000"/>
                </a:solidFill>
              </a:rPr>
              <a:t>… </a:t>
            </a:r>
            <a:r>
              <a:rPr lang="ko-KR" altLang="en-US" dirty="0">
                <a:solidFill>
                  <a:srgbClr val="FFC000"/>
                </a:solidFill>
              </a:rPr>
              <a:t>가 될 수 있다</a:t>
            </a:r>
            <a:r>
              <a:rPr lang="en-US" altLang="ko-KR" dirty="0">
                <a:solidFill>
                  <a:srgbClr val="FFC000"/>
                </a:solidFill>
              </a:rPr>
              <a:t>.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325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App.js </a:t>
            </a:r>
            <a:r>
              <a:rPr lang="ko-KR" altLang="en-US" dirty="0"/>
              <a:t>밑으로 컴포넌트 </a:t>
            </a:r>
            <a:r>
              <a:rPr lang="ko-KR" altLang="en-US" dirty="0" err="1"/>
              <a:t>와다다다</a:t>
            </a:r>
            <a:r>
              <a:rPr lang="ko-KR" altLang="en-US" dirty="0"/>
              <a:t> 달림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983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 </a:t>
            </a:r>
            <a:r>
              <a:rPr lang="ko-KR" altLang="en-US" dirty="0" err="1"/>
              <a:t>클래스형</a:t>
            </a:r>
            <a:r>
              <a:rPr lang="ko-KR" altLang="en-US" dirty="0"/>
              <a:t> 컴포넌트</a:t>
            </a:r>
            <a:endParaRPr lang="en-US" altLang="ko-KR" dirty="0"/>
          </a:p>
          <a:p>
            <a:r>
              <a:rPr lang="en-US" altLang="ko-KR" dirty="0" err="1"/>
              <a:t>React.Component</a:t>
            </a:r>
            <a:r>
              <a:rPr lang="en-US" altLang="ko-KR" baseline="0" dirty="0"/>
              <a:t> </a:t>
            </a:r>
            <a:r>
              <a:rPr lang="ko-KR" altLang="en-US" baseline="0" dirty="0"/>
              <a:t>를 상속 받아야함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다양한 생명주기 메서드 제공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baseline="0" dirty="0"/>
              <a:t>** </a:t>
            </a:r>
            <a:r>
              <a:rPr lang="ko-KR" altLang="en-US" baseline="0" dirty="0"/>
              <a:t>함수형 컴포넌트</a:t>
            </a:r>
            <a:endParaRPr lang="en-US" altLang="ko-KR" baseline="0" dirty="0"/>
          </a:p>
          <a:p>
            <a:r>
              <a:rPr lang="ko-KR" altLang="en-US" baseline="0" dirty="0"/>
              <a:t>단순히 </a:t>
            </a:r>
            <a:r>
              <a:rPr lang="en-US" altLang="ko-KR" baseline="0" dirty="0"/>
              <a:t>JS </a:t>
            </a:r>
            <a:r>
              <a:rPr lang="ko-KR" altLang="en-US" baseline="0" dirty="0"/>
              <a:t>함수로 정의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03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/>
              <a:t>React 16.8 </a:t>
            </a:r>
            <a:r>
              <a:rPr lang="ko-KR" altLang="en-US" baseline="0" dirty="0"/>
              <a:t>이후로 훅 을 통해 상태와 생명주기 기능 사용 가능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React </a:t>
            </a:r>
            <a:r>
              <a:rPr lang="ko-KR" altLang="en-US" baseline="0" dirty="0"/>
              <a:t>커뮤니티에서는 함수형 컴포넌트와 훅 사용을 더 권장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코드의 간결성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가독성</a:t>
            </a:r>
            <a:r>
              <a:rPr lang="en-US" altLang="ko-KR" baseline="0" dirty="0"/>
              <a:t>, </a:t>
            </a:r>
            <a:r>
              <a:rPr lang="ko-KR" altLang="en-US" baseline="0" dirty="0"/>
              <a:t>그리고 미래 방향성 때문</a:t>
            </a:r>
            <a:r>
              <a:rPr lang="en-US" altLang="ko-KR" baseline="0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908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export</a:t>
            </a:r>
            <a:r>
              <a:rPr lang="en-US" altLang="ko-KR" baseline="0" dirty="0"/>
              <a:t> default</a:t>
            </a:r>
            <a:r>
              <a:rPr lang="ko-KR" altLang="en-US" baseline="0" dirty="0"/>
              <a:t>는 따로 </a:t>
            </a:r>
            <a:r>
              <a:rPr lang="ko-KR" altLang="en-US" baseline="0" dirty="0" err="1"/>
              <a:t>빼둬도</a:t>
            </a:r>
            <a:r>
              <a:rPr lang="ko-KR" altLang="en-US" baseline="0" dirty="0"/>
              <a:t> 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함수</a:t>
            </a:r>
            <a:r>
              <a:rPr lang="en-US" altLang="ko-KR" baseline="0" dirty="0"/>
              <a:t>/</a:t>
            </a:r>
            <a:r>
              <a:rPr lang="ko-KR" altLang="en-US" baseline="0" dirty="0" err="1"/>
              <a:t>클래스형</a:t>
            </a:r>
            <a:r>
              <a:rPr lang="ko-KR" altLang="en-US" baseline="0" dirty="0"/>
              <a:t> 앞에 둬도 됨</a:t>
            </a:r>
            <a:endParaRPr lang="en-US" altLang="ko-KR" baseline="0" dirty="0"/>
          </a:p>
          <a:p>
            <a:r>
              <a:rPr lang="ko-KR" altLang="en-US" dirty="0" err="1"/>
              <a:t>클래스형</a:t>
            </a:r>
            <a:endParaRPr lang="en-US" altLang="ko-KR" baseline="0" dirty="0"/>
          </a:p>
          <a:p>
            <a:r>
              <a:rPr lang="en-US" altLang="ko-KR" baseline="0" dirty="0"/>
              <a:t>1. Components class </a:t>
            </a:r>
            <a:r>
              <a:rPr lang="ko-KR" altLang="en-US" baseline="0" dirty="0"/>
              <a:t>상속</a:t>
            </a:r>
            <a:r>
              <a:rPr lang="en-US" altLang="ko-KR" baseline="0" dirty="0"/>
              <a:t>, </a:t>
            </a:r>
          </a:p>
          <a:p>
            <a:r>
              <a:rPr lang="en-US" altLang="ko-KR" baseline="0" dirty="0"/>
              <a:t>2. render() </a:t>
            </a:r>
            <a:r>
              <a:rPr lang="ko-KR" altLang="en-US" baseline="0" dirty="0"/>
              <a:t>함수 사용 리턴에 실제로 보여주고 싶은 </a:t>
            </a:r>
            <a:r>
              <a:rPr lang="en-US" altLang="ko-KR" baseline="0" dirty="0"/>
              <a:t>html </a:t>
            </a:r>
            <a:r>
              <a:rPr lang="ko-KR" altLang="en-US" baseline="0" dirty="0"/>
              <a:t>요소 작성</a:t>
            </a:r>
            <a:endParaRPr lang="en-US" altLang="ko-KR" baseline="0" dirty="0"/>
          </a:p>
          <a:p>
            <a:r>
              <a:rPr lang="ko-KR" altLang="en-US" dirty="0"/>
              <a:t>함수형 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직관적으로 함수 이름만 만들고</a:t>
            </a:r>
            <a:r>
              <a:rPr lang="en-US" altLang="ko-KR" dirty="0"/>
              <a:t>, </a:t>
            </a:r>
            <a:r>
              <a:rPr lang="ko-KR" altLang="en-US" dirty="0"/>
              <a:t>보여줄 </a:t>
            </a:r>
            <a:r>
              <a:rPr lang="en-US" altLang="ko-KR" dirty="0"/>
              <a:t>html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요소 </a:t>
            </a:r>
            <a:r>
              <a:rPr lang="en-US" altLang="ko-KR" baseline="0" dirty="0"/>
              <a:t>return </a:t>
            </a:r>
          </a:p>
          <a:p>
            <a:pPr marL="0" indent="0">
              <a:buNone/>
            </a:pPr>
            <a:r>
              <a:rPr lang="en-US" altLang="ko-KR" baseline="0" dirty="0"/>
              <a:t>+ </a:t>
            </a:r>
            <a:r>
              <a:rPr lang="ko-KR" altLang="en-US" baseline="0" dirty="0"/>
              <a:t>화살표 함수</a:t>
            </a:r>
            <a:r>
              <a:rPr lang="en-US" altLang="ko-KR" baseline="0" dirty="0"/>
              <a:t>(</a:t>
            </a:r>
            <a:r>
              <a:rPr lang="ko-KR" altLang="en-US" baseline="0" dirty="0" err="1"/>
              <a:t>함수표현식</a:t>
            </a:r>
            <a:r>
              <a:rPr lang="en-US" altLang="ko-KR" baseline="0" dirty="0"/>
              <a:t>)</a:t>
            </a:r>
            <a:r>
              <a:rPr lang="ko-KR" altLang="en-US" baseline="0" dirty="0"/>
              <a:t>로 </a:t>
            </a:r>
            <a:r>
              <a:rPr lang="ko-KR" altLang="en-US" baseline="0" dirty="0" err="1"/>
              <a:t>작성해놨지만</a:t>
            </a:r>
            <a:r>
              <a:rPr lang="ko-KR" altLang="en-US" baseline="0" dirty="0"/>
              <a:t> 함수선언문으로 작성해도 무방함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9246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과 유사한 구문 사용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JS </a:t>
            </a:r>
            <a:r>
              <a:rPr lang="ko-KR" altLang="en-US" dirty="0"/>
              <a:t>코드 내에서 </a:t>
            </a:r>
            <a:r>
              <a:rPr lang="en-US" altLang="ko-KR" dirty="0"/>
              <a:t>UI </a:t>
            </a:r>
            <a:r>
              <a:rPr lang="ko-KR" altLang="en-US" dirty="0"/>
              <a:t>구조를 정의 할 수 있게 해줌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**</a:t>
            </a:r>
            <a:r>
              <a:rPr lang="en-US" altLang="ko-KR" baseline="0" dirty="0"/>
              <a:t> </a:t>
            </a:r>
            <a:r>
              <a:rPr lang="ko-KR" altLang="en-US" baseline="0" dirty="0"/>
              <a:t>브라우저는 </a:t>
            </a:r>
            <a:r>
              <a:rPr lang="en-US" altLang="ko-KR" baseline="0" dirty="0"/>
              <a:t>JSX</a:t>
            </a:r>
            <a:r>
              <a:rPr lang="ko-KR" altLang="en-US" baseline="0" dirty="0"/>
              <a:t>를 직접 이해 못함</a:t>
            </a:r>
            <a:r>
              <a:rPr lang="en-US" altLang="ko-KR" baseline="0" dirty="0"/>
              <a:t>.</a:t>
            </a:r>
          </a:p>
          <a:p>
            <a:r>
              <a:rPr lang="ko-KR" altLang="en-US" dirty="0"/>
              <a:t>따라서 </a:t>
            </a:r>
            <a:r>
              <a:rPr lang="en-US" altLang="ko-KR" dirty="0"/>
              <a:t>Babel</a:t>
            </a:r>
            <a:r>
              <a:rPr lang="ko-KR" altLang="en-US" dirty="0"/>
              <a:t>과 같은 트랜스파일러를 사용하여 </a:t>
            </a:r>
            <a:r>
              <a:rPr lang="en-US" altLang="ko-KR" dirty="0"/>
              <a:t>JSX</a:t>
            </a:r>
            <a:r>
              <a:rPr lang="ko-KR" altLang="en-US" dirty="0"/>
              <a:t>를 일반 </a:t>
            </a:r>
            <a:r>
              <a:rPr lang="en-US" altLang="ko-KR" dirty="0"/>
              <a:t>JS</a:t>
            </a:r>
            <a:r>
              <a:rPr lang="ko-KR" altLang="en-US" dirty="0"/>
              <a:t>로 변환해야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바벨은 </a:t>
            </a:r>
            <a:r>
              <a:rPr lang="en-US" altLang="ko-KR" dirty="0"/>
              <a:t>JSX </a:t>
            </a:r>
            <a:r>
              <a:rPr lang="ko-KR" altLang="en-US" dirty="0"/>
              <a:t>코드를 </a:t>
            </a:r>
            <a:r>
              <a:rPr lang="en-US" altLang="ko-KR" dirty="0" err="1"/>
              <a:t>React.createElement</a:t>
            </a:r>
            <a:r>
              <a:rPr lang="en-US" altLang="ko-KR" dirty="0"/>
              <a:t> </a:t>
            </a:r>
            <a:r>
              <a:rPr lang="ko-KR" altLang="en-US" dirty="0"/>
              <a:t>호출로 </a:t>
            </a:r>
            <a:r>
              <a:rPr lang="ko-KR" altLang="en-US" dirty="0" err="1"/>
              <a:t>변환해줌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const</a:t>
            </a:r>
            <a:r>
              <a:rPr lang="en-US" altLang="ko-KR" dirty="0"/>
              <a:t> element = &lt;h1 </a:t>
            </a:r>
            <a:r>
              <a:rPr lang="en-US" altLang="ko-KR" dirty="0" err="1"/>
              <a:t>className</a:t>
            </a:r>
            <a:r>
              <a:rPr lang="en-US" altLang="ko-KR" dirty="0"/>
              <a:t>=＂hello"&gt;Hello, world!&lt;/h1&gt;;</a:t>
            </a:r>
          </a:p>
          <a:p>
            <a:endParaRPr lang="en-US" altLang="ko-KR" dirty="0"/>
          </a:p>
          <a:p>
            <a:r>
              <a:rPr lang="en-US" altLang="ko-KR" dirty="0"/>
              <a:t>=&gt;</a:t>
            </a:r>
          </a:p>
          <a:p>
            <a:endParaRPr lang="en-US" altLang="ko-KR" dirty="0"/>
          </a:p>
          <a:p>
            <a:r>
              <a:rPr lang="en-US" altLang="ko-KR" dirty="0" err="1"/>
              <a:t>const</a:t>
            </a:r>
            <a:r>
              <a:rPr lang="en-US" altLang="ko-KR" dirty="0"/>
              <a:t> element = </a:t>
            </a:r>
            <a:r>
              <a:rPr lang="en-US" altLang="ko-KR" dirty="0" err="1"/>
              <a:t>React.createElement</a:t>
            </a:r>
            <a:r>
              <a:rPr lang="en-US" altLang="ko-KR" dirty="0"/>
              <a:t>(</a:t>
            </a:r>
          </a:p>
          <a:p>
            <a:r>
              <a:rPr lang="en-US" altLang="ko-KR" dirty="0"/>
              <a:t> 'h1', {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className</a:t>
            </a:r>
            <a:r>
              <a:rPr lang="en-US" altLang="ko-KR" dirty="0"/>
              <a:t>: hello' }, </a:t>
            </a:r>
          </a:p>
          <a:p>
            <a:r>
              <a:rPr lang="en-US" altLang="ko-KR" dirty="0"/>
              <a:t>'Hello, world!' </a:t>
            </a:r>
          </a:p>
          <a:p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507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67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쓰다가 변수를 넣는다거나</a:t>
            </a:r>
            <a:r>
              <a:rPr lang="en-US" altLang="ko-KR" baseline="0" dirty="0"/>
              <a:t>, </a:t>
            </a:r>
            <a:r>
              <a:rPr lang="ko-KR" altLang="en-US" baseline="0" dirty="0"/>
              <a:t>연산을 하고 싶을 때는 중괄호 쓰고</a:t>
            </a:r>
            <a:r>
              <a:rPr lang="en-US" altLang="ko-KR" baseline="0" dirty="0"/>
              <a:t>,</a:t>
            </a:r>
          </a:p>
          <a:p>
            <a:r>
              <a:rPr lang="ko-KR" altLang="en-US" dirty="0"/>
              <a:t>중괄호안에서 자바스크립트 문법을 쓰다가 </a:t>
            </a:r>
            <a:r>
              <a:rPr lang="en-US" altLang="ko-KR" dirty="0"/>
              <a:t>html </a:t>
            </a:r>
            <a:r>
              <a:rPr lang="ko-KR" altLang="en-US" dirty="0"/>
              <a:t>요소를 쓰고 싶으면 </a:t>
            </a:r>
            <a:r>
              <a:rPr lang="ko-KR" altLang="en-US" dirty="0" err="1"/>
              <a:t>소괄호안에다가</a:t>
            </a:r>
            <a:r>
              <a:rPr lang="ko-KR" altLang="en-US" dirty="0"/>
              <a:t> </a:t>
            </a:r>
            <a:r>
              <a:rPr lang="en-US" altLang="ko-KR" dirty="0"/>
              <a:t>html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요소 쓰기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(return </a:t>
            </a:r>
            <a:r>
              <a:rPr lang="ko-KR" altLang="en-US" baseline="0" dirty="0"/>
              <a:t>과 마찬가지로 하나의 태그만 </a:t>
            </a:r>
            <a:r>
              <a:rPr lang="ko-KR" altLang="en-US" baseline="0" dirty="0" err="1"/>
              <a:t>쓸때는</a:t>
            </a:r>
            <a:r>
              <a:rPr lang="ko-KR" altLang="en-US" baseline="0" dirty="0"/>
              <a:t> 소괄호로 감싸지 않아도 됨</a:t>
            </a:r>
            <a:r>
              <a:rPr lang="en-US" altLang="ko-KR" baseline="0" dirty="0"/>
              <a:t>. </a:t>
            </a:r>
          </a:p>
          <a:p>
            <a:r>
              <a:rPr lang="en-US" altLang="ko-KR" baseline="0" dirty="0"/>
              <a:t>div&gt;h2 </a:t>
            </a:r>
            <a:r>
              <a:rPr lang="ko-KR" altLang="en-US" baseline="0" dirty="0"/>
              <a:t>가 아닌 </a:t>
            </a:r>
            <a:r>
              <a:rPr lang="en-US" altLang="ko-KR" baseline="0" dirty="0"/>
              <a:t>h2</a:t>
            </a:r>
            <a:r>
              <a:rPr lang="ko-KR" altLang="en-US" baseline="0" dirty="0"/>
              <a:t>만 쓰고 싶었다면</a:t>
            </a:r>
            <a:r>
              <a:rPr lang="en-US" altLang="ko-KR" baseline="0" dirty="0"/>
              <a:t>, </a:t>
            </a:r>
            <a:r>
              <a:rPr lang="ko-KR" altLang="en-US" baseline="0" dirty="0"/>
              <a:t>소괄호 굳이 필요 없고</a:t>
            </a:r>
            <a:r>
              <a:rPr lang="en-US" altLang="ko-KR" baseline="0" dirty="0"/>
              <a:t>,  </a:t>
            </a:r>
          </a:p>
          <a:p>
            <a:r>
              <a:rPr lang="ko-KR" altLang="en-US" baseline="0" dirty="0"/>
              <a:t>중괄호 내부에서 </a:t>
            </a:r>
            <a:r>
              <a:rPr lang="en-US" altLang="ko-KR" baseline="0" dirty="0"/>
              <a:t>html</a:t>
            </a:r>
            <a:r>
              <a:rPr lang="ko-KR" altLang="en-US" baseline="0" dirty="0"/>
              <a:t>을 작성할 때도 마찬가지로 하나의 전체 태그가 </a:t>
            </a:r>
            <a:r>
              <a:rPr lang="ko-KR" altLang="en-US" baseline="0" dirty="0" err="1"/>
              <a:t>모든것을</a:t>
            </a:r>
            <a:r>
              <a:rPr lang="ko-KR" altLang="en-US" baseline="0" dirty="0"/>
              <a:t> 감싸야 함</a:t>
            </a:r>
            <a:r>
              <a:rPr lang="en-US" altLang="ko-KR" baseline="0" dirty="0"/>
              <a:t>)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{</a:t>
            </a:r>
            <a:r>
              <a:rPr lang="ko-KR" altLang="en-US" baseline="0" dirty="0"/>
              <a:t>중괄호</a:t>
            </a:r>
            <a:r>
              <a:rPr lang="en-US" altLang="ko-KR" baseline="0" dirty="0"/>
              <a:t>}</a:t>
            </a:r>
            <a:r>
              <a:rPr lang="ko-KR" altLang="en-US" baseline="0" dirty="0"/>
              <a:t>는 </a:t>
            </a:r>
            <a:r>
              <a:rPr lang="en-US" altLang="ko-KR" baseline="0" dirty="0"/>
              <a:t>id </a:t>
            </a:r>
            <a:r>
              <a:rPr lang="ko-KR" altLang="en-US" baseline="0" dirty="0"/>
              <a:t>속성에도 가능</a:t>
            </a:r>
            <a:r>
              <a:rPr lang="en-US" altLang="ko-KR" baseline="0" dirty="0"/>
              <a:t>, </a:t>
            </a:r>
            <a:r>
              <a:rPr lang="en-US" altLang="ko-KR" baseline="0" dirty="0" err="1"/>
              <a:t>className</a:t>
            </a:r>
            <a:r>
              <a:rPr lang="ko-KR" altLang="en-US" baseline="0" dirty="0"/>
              <a:t> 등등 왠만한 모든 곳에 가능하다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이런걸 </a:t>
            </a:r>
            <a:r>
              <a:rPr lang="en-US" altLang="ko-KR" baseline="0" dirty="0"/>
              <a:t>– </a:t>
            </a:r>
            <a:r>
              <a:rPr lang="ko-KR" altLang="en-US" baseline="0" dirty="0"/>
              <a:t>데이터 바인딩이라고 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423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str</a:t>
            </a:r>
            <a:r>
              <a:rPr lang="ko-KR" altLang="en-US" dirty="0"/>
              <a:t>이 </a:t>
            </a:r>
            <a:r>
              <a:rPr lang="en-US" altLang="ko-KR" dirty="0"/>
              <a:t>‘hello,’ </a:t>
            </a:r>
            <a:r>
              <a:rPr lang="ko-KR" altLang="en-US" dirty="0"/>
              <a:t>였기 때문에 </a:t>
            </a:r>
            <a:r>
              <a:rPr lang="ko-KR" altLang="en-US" dirty="0" err="1"/>
              <a:t>결과화면</a:t>
            </a:r>
            <a:r>
              <a:rPr lang="ko-KR" altLang="en-US" dirty="0"/>
              <a:t> 저렇게 나타남</a:t>
            </a:r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우리는 </a:t>
            </a:r>
            <a:r>
              <a:rPr lang="en-US" altLang="ko-KR" dirty="0"/>
              <a:t>JSX </a:t>
            </a:r>
            <a:r>
              <a:rPr lang="ko-KR" altLang="en-US" dirty="0"/>
              <a:t>형태로 썼지만 실제 브라우저는 </a:t>
            </a:r>
            <a:r>
              <a:rPr lang="en-US" altLang="ko-KR" dirty="0" err="1"/>
              <a:t>js</a:t>
            </a:r>
            <a:r>
              <a:rPr lang="ko-KR" altLang="en-US" dirty="0"/>
              <a:t>로 받아서 봄</a:t>
            </a:r>
            <a:r>
              <a:rPr lang="en-US" altLang="ko-KR" dirty="0"/>
              <a:t>. </a:t>
            </a:r>
            <a:r>
              <a:rPr lang="ko-KR" altLang="en-US" dirty="0"/>
              <a:t>바벨이 번역해서 전달해주니까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1277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밑줄쳐진</a:t>
            </a:r>
            <a:r>
              <a:rPr lang="ko-KR" altLang="en-US" dirty="0"/>
              <a:t> </a:t>
            </a:r>
            <a:r>
              <a:rPr lang="ko-KR" altLang="en-US" dirty="0" err="1"/>
              <a:t>삼항연산자</a:t>
            </a:r>
            <a:r>
              <a:rPr lang="ko-KR" altLang="en-US" dirty="0"/>
              <a:t> 대신 </a:t>
            </a:r>
            <a:r>
              <a:rPr lang="en-US" altLang="ko-KR" dirty="0"/>
              <a:t>if</a:t>
            </a:r>
            <a:r>
              <a:rPr lang="en-US" altLang="ko-KR" baseline="0" dirty="0"/>
              <a:t> ~ else </a:t>
            </a:r>
            <a:r>
              <a:rPr lang="ko-KR" altLang="en-US" baseline="0" dirty="0"/>
              <a:t>문이 올 수 없음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JSX </a:t>
            </a:r>
            <a:r>
              <a:rPr lang="ko-KR" altLang="en-US" baseline="0" dirty="0"/>
              <a:t>외부에서 </a:t>
            </a:r>
            <a:r>
              <a:rPr lang="ko-KR" altLang="en-US" baseline="0" dirty="0" err="1"/>
              <a:t>로직처리</a:t>
            </a:r>
            <a:r>
              <a:rPr lang="en-US" altLang="ko-KR" baseline="0" dirty="0"/>
              <a:t>!</a:t>
            </a:r>
          </a:p>
          <a:p>
            <a:r>
              <a:rPr lang="ko-KR" altLang="en-US" baseline="0" dirty="0"/>
              <a:t>렌더링할 요소를 결정한 후</a:t>
            </a:r>
            <a:r>
              <a:rPr lang="en-US" altLang="ko-KR" baseline="0" dirty="0"/>
              <a:t>, </a:t>
            </a:r>
            <a:r>
              <a:rPr lang="ko-KR" altLang="en-US" baseline="0" dirty="0"/>
              <a:t>해당 요소를 </a:t>
            </a:r>
            <a:r>
              <a:rPr lang="en-US" altLang="ko-KR" baseline="0" dirty="0"/>
              <a:t>JSX</a:t>
            </a:r>
            <a:r>
              <a:rPr lang="ko-KR" altLang="en-US" baseline="0" dirty="0"/>
              <a:t>에 </a:t>
            </a:r>
            <a:r>
              <a:rPr lang="ko-KR" altLang="en-US" baseline="0"/>
              <a:t>포함하는 방식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4030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dash-case(kebab-case</a:t>
            </a:r>
            <a:r>
              <a:rPr lang="ko-KR" altLang="en-US" dirty="0"/>
              <a:t>라고도 함</a:t>
            </a:r>
            <a:r>
              <a:rPr lang="en-US" altLang="ko-KR" dirty="0"/>
              <a:t>): </a:t>
            </a:r>
            <a:r>
              <a:rPr lang="en-US" altLang="ko-KR" dirty="0" err="1"/>
              <a:t>dashcase</a:t>
            </a:r>
            <a:r>
              <a:rPr lang="en-US" altLang="ko-KR" dirty="0"/>
              <a:t>?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js</a:t>
            </a:r>
            <a:r>
              <a:rPr lang="ko-KR" altLang="en-US" baseline="0" dirty="0"/>
              <a:t>가 </a:t>
            </a:r>
            <a:r>
              <a:rPr lang="ko-KR" altLang="en-US" baseline="0" dirty="0" err="1"/>
              <a:t>볼때</a:t>
            </a:r>
            <a:r>
              <a:rPr lang="ko-KR" altLang="en-US" baseline="0" dirty="0"/>
              <a:t> </a:t>
            </a:r>
            <a:r>
              <a:rPr lang="en-US" altLang="ko-KR" baseline="0" dirty="0"/>
              <a:t>-</a:t>
            </a:r>
            <a:r>
              <a:rPr lang="ko-KR" altLang="en-US" baseline="0" dirty="0"/>
              <a:t>는 </a:t>
            </a:r>
            <a:r>
              <a:rPr lang="ko-KR" altLang="en-US" baseline="0" dirty="0" err="1"/>
              <a:t>빼기라고</a:t>
            </a:r>
            <a:r>
              <a:rPr lang="ko-KR" altLang="en-US" baseline="0" dirty="0"/>
              <a:t> 생각할 수 있기 </a:t>
            </a:r>
            <a:r>
              <a:rPr lang="ko-KR" altLang="en-US" baseline="0" dirty="0" err="1"/>
              <a:t>떄문에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dirty="0"/>
              <a:t>객체를 담는 방식을 </a:t>
            </a:r>
            <a:r>
              <a:rPr lang="en-US" altLang="ko-KR" dirty="0" err="1"/>
              <a:t>jsx</a:t>
            </a:r>
            <a:r>
              <a:rPr lang="en-US" altLang="ko-KR" dirty="0"/>
              <a:t> </a:t>
            </a:r>
            <a:r>
              <a:rPr lang="ko-KR" altLang="en-US" dirty="0"/>
              <a:t>문법을 통해서 </a:t>
            </a:r>
            <a:r>
              <a:rPr lang="ko-KR" altLang="en-US" dirty="0" err="1"/>
              <a:t>쓴것이기</a:t>
            </a:r>
            <a:r>
              <a:rPr lang="ko-KR" altLang="en-US" dirty="0"/>
              <a:t> 때문에 스타일 적용 시에는 두번의 중괄호가 필요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오브젝트를 따로 변수에 선언해서 사용할 수도 있음</a:t>
            </a:r>
            <a:endParaRPr lang="en-US" altLang="ko-KR" dirty="0"/>
          </a:p>
          <a:p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style </a:t>
            </a:r>
            <a:r>
              <a:rPr lang="ko-KR" altLang="en-US" dirty="0"/>
              <a:t>넣을 땐 </a:t>
            </a:r>
            <a:r>
              <a:rPr lang="en-US" altLang="ko-KR" dirty="0"/>
              <a:t>style = { }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{ {</a:t>
            </a:r>
            <a:r>
              <a:rPr lang="ko-KR" altLang="en-US" dirty="0" err="1"/>
              <a:t>스타일명</a:t>
            </a:r>
            <a:r>
              <a:rPr lang="ko-KR" altLang="en-US" dirty="0"/>
              <a:t> </a:t>
            </a:r>
            <a:r>
              <a:rPr lang="en-US" altLang="ko-KR" dirty="0"/>
              <a:t>: ‘</a:t>
            </a:r>
            <a:r>
              <a:rPr lang="ko-KR" altLang="en-US" dirty="0"/>
              <a:t>값’</a:t>
            </a:r>
            <a:r>
              <a:rPr lang="en-US" altLang="ko-KR" dirty="0"/>
              <a:t>} } 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객체 형태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font-size(x)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fontSize</a:t>
            </a:r>
            <a:r>
              <a:rPr lang="en-US" altLang="ko-KR" dirty="0"/>
              <a:t> </a:t>
            </a:r>
            <a:r>
              <a:rPr lang="ko-KR" altLang="en-US" dirty="0"/>
              <a:t>형식으로 </a:t>
            </a:r>
            <a:r>
              <a:rPr lang="ko-KR" altLang="en-US" dirty="0" err="1"/>
              <a:t>써줘야함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JSX</a:t>
            </a:r>
            <a:r>
              <a:rPr lang="ko-KR" altLang="en-US" dirty="0"/>
              <a:t>에서는 </a:t>
            </a:r>
            <a:r>
              <a:rPr lang="en-US" altLang="ko-KR" dirty="0"/>
              <a:t>-</a:t>
            </a:r>
            <a:r>
              <a:rPr lang="ko-KR" altLang="en-US" dirty="0"/>
              <a:t>는 진짜 빼기를 말함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0792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js</a:t>
            </a:r>
            <a:r>
              <a:rPr lang="ko-KR" altLang="en-US" dirty="0"/>
              <a:t>에서</a:t>
            </a:r>
            <a:r>
              <a:rPr lang="ko-KR" altLang="en-US" baseline="0" dirty="0"/>
              <a:t> </a:t>
            </a:r>
            <a:r>
              <a:rPr lang="en-US" altLang="ko-KR" baseline="0" dirty="0"/>
              <a:t>class </a:t>
            </a:r>
            <a:r>
              <a:rPr lang="ko-KR" altLang="en-US" baseline="0" dirty="0"/>
              <a:t>는 </a:t>
            </a:r>
            <a:r>
              <a:rPr lang="en-US" altLang="ko-KR" baseline="0" dirty="0"/>
              <a:t>? </a:t>
            </a:r>
            <a:r>
              <a:rPr lang="ko-KR" altLang="en-US" baseline="0" dirty="0"/>
              <a:t>다른 기능이 있으니 </a:t>
            </a:r>
            <a:r>
              <a:rPr lang="en-US" altLang="ko-KR" baseline="0" dirty="0"/>
              <a:t>CSS </a:t>
            </a:r>
            <a:r>
              <a:rPr lang="ko-KR" altLang="en-US" baseline="0" dirty="0"/>
              <a:t>에서의 클래스를 구분하기 위해서 </a:t>
            </a:r>
            <a:r>
              <a:rPr lang="en-US" altLang="ko-KR" baseline="0" dirty="0" err="1"/>
              <a:t>className</a:t>
            </a:r>
            <a:r>
              <a:rPr lang="ko-KR" altLang="en-US" baseline="0" dirty="0"/>
              <a:t>사용</a:t>
            </a:r>
            <a:endParaRPr lang="en-US" altLang="ko-KR" baseline="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7219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err: </a:t>
            </a:r>
            <a:r>
              <a:rPr lang="ko-KR" altLang="en-US" dirty="0"/>
              <a:t>인풋에 대한 </a:t>
            </a:r>
            <a:r>
              <a:rPr lang="ko-KR" altLang="en-US" dirty="0" err="1"/>
              <a:t>클로징</a:t>
            </a:r>
            <a:r>
              <a:rPr lang="ko-KR" altLang="en-US" dirty="0"/>
              <a:t> 태그가 존재하지 않습니다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html</a:t>
            </a:r>
            <a:r>
              <a:rPr lang="en-US" altLang="ko-KR" baseline="0" dirty="0">
                <a:sym typeface="Wingdings" panose="05000000000000000000" pitchFamily="2" charset="2"/>
              </a:rPr>
              <a:t> </a:t>
            </a:r>
            <a:r>
              <a:rPr lang="ko-KR" altLang="en-US" baseline="0" dirty="0">
                <a:sym typeface="Wingdings" panose="05000000000000000000" pitchFamily="2" charset="2"/>
              </a:rPr>
              <a:t>수업에서 배웠던 것처럼</a:t>
            </a:r>
            <a:r>
              <a:rPr lang="en-US" altLang="ko-KR" baseline="0" dirty="0">
                <a:sym typeface="Wingdings" panose="05000000000000000000" pitchFamily="2" charset="2"/>
              </a:rPr>
              <a:t>, </a:t>
            </a:r>
            <a:r>
              <a:rPr lang="ko-KR" altLang="en-US" baseline="0" dirty="0" err="1">
                <a:sym typeface="Wingdings" panose="05000000000000000000" pitchFamily="2" charset="2"/>
              </a:rPr>
              <a:t>빈태그</a:t>
            </a:r>
            <a:r>
              <a:rPr lang="ko-KR" altLang="en-US" baseline="0" dirty="0">
                <a:sym typeface="Wingdings" panose="05000000000000000000" pitchFamily="2" charset="2"/>
              </a:rPr>
              <a:t> 마지막에 슬래시를 붙여서 닫아주거나</a:t>
            </a:r>
            <a:r>
              <a:rPr lang="en-US" altLang="ko-KR" baseline="0" dirty="0">
                <a:sym typeface="Wingdings" panose="05000000000000000000" pitchFamily="2" charset="2"/>
              </a:rPr>
              <a:t>,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baseline="0" dirty="0">
                <a:sym typeface="Wingdings" panose="05000000000000000000" pitchFamily="2" charset="2"/>
              </a:rPr>
              <a:t>기존의 </a:t>
            </a:r>
            <a:r>
              <a:rPr lang="en-US" altLang="ko-KR" baseline="0" dirty="0">
                <a:sym typeface="Wingdings" panose="05000000000000000000" pitchFamily="2" charset="2"/>
              </a:rPr>
              <a:t>div span</a:t>
            </a:r>
            <a:r>
              <a:rPr lang="ko-KR" altLang="en-US" baseline="0" dirty="0">
                <a:sym typeface="Wingdings" panose="05000000000000000000" pitchFamily="2" charset="2"/>
              </a:rPr>
              <a:t>등의 태그처럼 아예 닫는 태그를 만들어줘도 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6028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2798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디버깅 </a:t>
            </a:r>
            <a:r>
              <a:rPr lang="en-US" altLang="ko-KR" dirty="0"/>
              <a:t>= </a:t>
            </a:r>
            <a:r>
              <a:rPr lang="ko-KR" altLang="en-US" dirty="0" err="1"/>
              <a:t>오류있는지</a:t>
            </a:r>
            <a:r>
              <a:rPr lang="ko-KR" altLang="en-US" dirty="0"/>
              <a:t> 검사하는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96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0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43339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0205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23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16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03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28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96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47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77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604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3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8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Compoment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627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3707F33-E737-AFB7-B776-FD130002B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87380"/>
            <a:ext cx="10515600" cy="3827828"/>
          </a:xfrm>
          <a:prstGeom prst="rect">
            <a:avLst/>
          </a:prstGeom>
          <a:effectLst>
            <a:outerShdw blurRad="254000" dir="18900000" algn="b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057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</a:t>
            </a:r>
            <a:r>
              <a:rPr lang="ko-KR" altLang="en-US" dirty="0"/>
              <a:t>의 꽃이라 불리는 </a:t>
            </a:r>
            <a:r>
              <a:rPr lang="en-US" altLang="ko-KR" dirty="0">
                <a:solidFill>
                  <a:schemeClr val="accent1"/>
                </a:solidFill>
              </a:rPr>
              <a:t>React</a:t>
            </a:r>
            <a:r>
              <a:rPr lang="ko-KR" altLang="en-US" dirty="0">
                <a:solidFill>
                  <a:schemeClr val="accent1"/>
                </a:solidFill>
              </a:rPr>
              <a:t>의 핵심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en-US" altLang="ko-KR" dirty="0"/>
              <a:t>React </a:t>
            </a:r>
            <a:r>
              <a:rPr lang="ko-KR" altLang="en-US" dirty="0"/>
              <a:t>를 화면을 구성하는 하나의 부분</a:t>
            </a:r>
            <a:endParaRPr lang="en-US" altLang="ko-KR" dirty="0"/>
          </a:p>
          <a:p>
            <a:r>
              <a:rPr lang="ko-KR" altLang="en-US" dirty="0"/>
              <a:t>내부의 데이터만 변경해서 전체적인 틀</a:t>
            </a:r>
            <a:r>
              <a:rPr lang="en-US" altLang="ko-KR" dirty="0"/>
              <a:t>(UI)</a:t>
            </a:r>
            <a:r>
              <a:rPr lang="ko-KR" altLang="en-US" dirty="0"/>
              <a:t>을 재사용 가능</a:t>
            </a:r>
            <a:endParaRPr lang="en-US" altLang="ko-KR" dirty="0"/>
          </a:p>
          <a:p>
            <a:r>
              <a:rPr lang="en-US" altLang="ko-KR" dirty="0"/>
              <a:t>UI</a:t>
            </a:r>
            <a:r>
              <a:rPr lang="ko-KR" altLang="en-US" dirty="0"/>
              <a:t>를 재사용 가능한 개별적인 여러 조각으로 나누고</a:t>
            </a:r>
            <a:r>
              <a:rPr lang="en-US" altLang="ko-KR" dirty="0"/>
              <a:t>, </a:t>
            </a:r>
            <a:r>
              <a:rPr lang="ko-KR" altLang="en-US" dirty="0"/>
              <a:t>각 조각을 개별적으로 나누어 분리 가능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065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3707F33-E737-AFB7-B776-FD130002B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87380"/>
            <a:ext cx="10515600" cy="3827828"/>
          </a:xfrm>
          <a:prstGeom prst="rect">
            <a:avLst/>
          </a:prstGeom>
          <a:effectLst>
            <a:outerShdw blurRad="254000" dir="18900000" algn="b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8201" y="3203798"/>
            <a:ext cx="10515600" cy="2711410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38199" y="2601532"/>
            <a:ext cx="10515601" cy="602266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865423" y="3258528"/>
            <a:ext cx="2085304" cy="2562723"/>
          </a:xfrm>
          <a:prstGeom prst="roundRect">
            <a:avLst/>
          </a:prstGeom>
          <a:noFill/>
          <a:ln w="28575"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38198" y="2087380"/>
            <a:ext cx="10515601" cy="514152"/>
          </a:xfrm>
          <a:prstGeom prst="rect">
            <a:avLst/>
          </a:pr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851076" y="2619061"/>
            <a:ext cx="733026" cy="543873"/>
          </a:xfrm>
          <a:prstGeom prst="roundRect">
            <a:avLst/>
          </a:prstGeom>
          <a:noFill/>
          <a:ln w="28575"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48045" y="1983347"/>
            <a:ext cx="10701273" cy="403108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83802" y="681953"/>
            <a:ext cx="6180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399FF"/>
                </a:solidFill>
                <a:latin typeface="+mn-ea"/>
              </a:rPr>
              <a:t>1. </a:t>
            </a:r>
            <a:r>
              <a:rPr lang="ko-KR" altLang="en-US" dirty="0">
                <a:solidFill>
                  <a:srgbClr val="3399FF"/>
                </a:solidFill>
                <a:latin typeface="+mn-ea"/>
              </a:rPr>
              <a:t>재사용 되고 있는 부분을 담당하고 있는 작은 단위의 컴포넌트</a:t>
            </a:r>
            <a:endParaRPr lang="en-US" altLang="ko-KR" dirty="0">
              <a:solidFill>
                <a:srgbClr val="3399FF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FF5050"/>
                </a:solidFill>
                <a:latin typeface="+mn-ea"/>
              </a:rPr>
              <a:t>2. </a:t>
            </a:r>
            <a:r>
              <a:rPr lang="ko-KR" altLang="en-US" dirty="0">
                <a:solidFill>
                  <a:srgbClr val="FF5050"/>
                </a:solidFill>
                <a:latin typeface="+mn-ea"/>
              </a:rPr>
              <a:t>페이지의 부분</a:t>
            </a:r>
            <a:r>
              <a:rPr lang="en-US" altLang="ko-KR" dirty="0">
                <a:solidFill>
                  <a:srgbClr val="FF5050"/>
                </a:solidFill>
                <a:latin typeface="+mn-ea"/>
              </a:rPr>
              <a:t>(section, header </a:t>
            </a:r>
            <a:r>
              <a:rPr lang="ko-KR" altLang="en-US" dirty="0">
                <a:solidFill>
                  <a:srgbClr val="FF5050"/>
                </a:solidFill>
                <a:latin typeface="+mn-ea"/>
              </a:rPr>
              <a:t>등</a:t>
            </a:r>
            <a:r>
              <a:rPr lang="en-US" altLang="ko-KR" dirty="0">
                <a:solidFill>
                  <a:srgbClr val="FF5050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rgbClr val="FF5050"/>
                </a:solidFill>
                <a:latin typeface="+mn-ea"/>
              </a:rPr>
              <a:t>을 담당하고 있는 컴포넌트</a:t>
            </a:r>
            <a:endParaRPr lang="en-US" altLang="ko-KR" dirty="0">
              <a:solidFill>
                <a:srgbClr val="FF5050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FFC000"/>
                </a:solidFill>
                <a:latin typeface="+mn-ea"/>
              </a:rPr>
              <a:t>3. </a:t>
            </a:r>
            <a:r>
              <a:rPr lang="ko-KR" altLang="en-US" dirty="0">
                <a:solidFill>
                  <a:srgbClr val="FFC000"/>
                </a:solidFill>
                <a:latin typeface="+mn-ea"/>
              </a:rPr>
              <a:t>페이지 전체를 담당하고 있는 컴포넌트</a:t>
            </a:r>
          </a:p>
        </p:txBody>
      </p:sp>
    </p:spTree>
    <p:extLst>
      <p:ext uri="{BB962C8B-B14F-4D97-AF65-F5344CB8AC3E}">
        <p14:creationId xmlns:p14="http://schemas.microsoft.com/office/powerpoint/2010/main" val="110651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 animBg="1"/>
      <p:bldP spid="7" grpId="0" animBg="1"/>
      <p:bldP spid="8" grpId="0" animBg="1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9A688-2F5D-8B51-60C9-FFEB0523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698F-A099-4459-96DD-C5B99D5CE837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D0328C-2E8F-DD57-52F6-4CEE68F3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6F743E-6D99-228E-21E4-B6FD029F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</a:t>
            </a:r>
            <a:r>
              <a:rPr lang="ko-KR" altLang="en-US" dirty="0"/>
              <a:t>트리 구조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3A8DE69-7729-8C4A-3329-8DF0B36FF9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" r="345" b="7003"/>
          <a:stretch/>
        </p:blipFill>
        <p:spPr>
          <a:xfrm>
            <a:off x="2164575" y="1488687"/>
            <a:ext cx="7862849" cy="388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27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CA096F-6F3F-6E1B-B93A-CE04A9DF4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클래스형 컴포넌트 </a:t>
            </a:r>
            <a:r>
              <a:rPr lang="en-US" altLang="ko-KR" dirty="0">
                <a:solidFill>
                  <a:schemeClr val="accent1"/>
                </a:solidFill>
              </a:rPr>
              <a:t>(Class Component)</a:t>
            </a:r>
          </a:p>
          <a:p>
            <a:pPr lvl="1"/>
            <a:r>
              <a:rPr lang="en-US" altLang="ko-KR" dirty="0"/>
              <a:t>render </a:t>
            </a:r>
            <a:r>
              <a:rPr lang="ko-KR" altLang="en-US" dirty="0"/>
              <a:t>함수를 반드시 사용해야 함</a:t>
            </a:r>
            <a:endParaRPr lang="en-US" altLang="ko-KR" dirty="0"/>
          </a:p>
          <a:p>
            <a:pPr lvl="1"/>
            <a:r>
              <a:rPr lang="en-US" altLang="ko-KR" dirty="0"/>
              <a:t>lifecycle </a:t>
            </a:r>
            <a:r>
              <a:rPr lang="ko-KR" altLang="en-US" dirty="0"/>
              <a:t>기능 </a:t>
            </a:r>
            <a:endParaRPr lang="en-US" altLang="ko-KR" dirty="0"/>
          </a:p>
          <a:p>
            <a:pPr lvl="1"/>
            <a:r>
              <a:rPr lang="ko-KR" altLang="en-US" dirty="0"/>
              <a:t>컴포넌트를 만들 때 기존 </a:t>
            </a:r>
            <a:r>
              <a:rPr lang="en-US" altLang="ko-KR" dirty="0"/>
              <a:t>Components </a:t>
            </a:r>
            <a:r>
              <a:rPr lang="ko-KR" altLang="en-US" dirty="0"/>
              <a:t>클래스에서 상속받아서 사용</a:t>
            </a:r>
          </a:p>
          <a:p>
            <a:pPr lvl="1"/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함수형 컴포넌트 </a:t>
            </a:r>
            <a:r>
              <a:rPr lang="en-US" altLang="ko-KR" dirty="0">
                <a:solidFill>
                  <a:schemeClr val="accent1"/>
                </a:solidFill>
              </a:rPr>
              <a:t>(Functional Component)</a:t>
            </a:r>
          </a:p>
          <a:p>
            <a:pPr lvl="1"/>
            <a:r>
              <a:rPr lang="ko-KR" altLang="en-US" dirty="0"/>
              <a:t>짧고 직관적이며</a:t>
            </a:r>
            <a:r>
              <a:rPr lang="en-US" altLang="ko-KR" dirty="0"/>
              <a:t>, </a:t>
            </a:r>
            <a:r>
              <a:rPr lang="ko-KR" altLang="en-US" dirty="0"/>
              <a:t>사용방법이 더 간단함</a:t>
            </a:r>
            <a:endParaRPr lang="en-US" altLang="ko-KR" dirty="0"/>
          </a:p>
          <a:p>
            <a:pPr lvl="1"/>
            <a:r>
              <a:rPr lang="ko-KR" altLang="en-US" dirty="0"/>
              <a:t>메모리 사용에 이점이 있음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8A712E-47C4-D02F-744F-A910EE24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E7DD45-DE90-3D89-3299-F2DF57E2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38601F7-E9A8-CB0C-86CB-96A8625F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 컴포넌트 종류</a:t>
            </a:r>
          </a:p>
        </p:txBody>
      </p:sp>
    </p:spTree>
    <p:extLst>
      <p:ext uri="{BB962C8B-B14F-4D97-AF65-F5344CB8AC3E}">
        <p14:creationId xmlns:p14="http://schemas.microsoft.com/office/powerpoint/2010/main" val="4162559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987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 err="1">
                <a:solidFill>
                  <a:srgbClr val="92D050"/>
                </a:solidFill>
              </a:rPr>
              <a:t>클래스형</a:t>
            </a:r>
            <a:r>
              <a:rPr lang="ko-KR" altLang="en-US" dirty="0">
                <a:solidFill>
                  <a:srgbClr val="92D050"/>
                </a:solidFill>
              </a:rPr>
              <a:t> 컴포넌트 </a:t>
            </a:r>
            <a:r>
              <a:rPr lang="en-US" altLang="ko-KR" dirty="0">
                <a:solidFill>
                  <a:srgbClr val="2FA599"/>
                </a:solidFill>
              </a:rPr>
              <a:t>vs.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6DC172"/>
                </a:solidFill>
              </a:rPr>
              <a:t>함수형 컴포넌트</a:t>
            </a:r>
            <a:endParaRPr lang="en-US" altLang="ko-KR" dirty="0">
              <a:solidFill>
                <a:srgbClr val="6DC172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ko-KR" dirty="0"/>
              <a:t>React </a:t>
            </a:r>
            <a:r>
              <a:rPr lang="ko-KR" altLang="en-US" dirty="0"/>
              <a:t>초창기에는 </a:t>
            </a:r>
            <a:r>
              <a:rPr lang="ko-KR" altLang="en-US" dirty="0">
                <a:solidFill>
                  <a:srgbClr val="6DC172"/>
                </a:solidFill>
              </a:rPr>
              <a:t>함수형 컴포넌트</a:t>
            </a:r>
            <a:r>
              <a:rPr lang="ko-KR" altLang="en-US" dirty="0"/>
              <a:t>에는 현재 </a:t>
            </a:r>
            <a:r>
              <a:rPr lang="ko-KR" altLang="en-US" dirty="0" err="1"/>
              <a:t>리액트의</a:t>
            </a:r>
            <a:r>
              <a:rPr lang="ko-KR" altLang="en-US" dirty="0"/>
              <a:t> 핵심기능</a:t>
            </a:r>
            <a:r>
              <a:rPr lang="en-US" altLang="ko-KR" dirty="0"/>
              <a:t>(state, lifecycle..)</a:t>
            </a:r>
            <a:r>
              <a:rPr lang="ko-KR" altLang="en-US" dirty="0"/>
              <a:t>등 기능을 사용할 수 없었어요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endParaRPr lang="en-US" altLang="ko-KR" sz="1000" dirty="0"/>
          </a:p>
          <a:p>
            <a:pPr lvl="1">
              <a:lnSpc>
                <a:spcPct val="110000"/>
              </a:lnSpc>
            </a:pPr>
            <a:r>
              <a:rPr lang="en-US" altLang="ko-KR" dirty="0"/>
              <a:t>React 16.8 </a:t>
            </a:r>
            <a:r>
              <a:rPr lang="ko-KR" altLang="en-US" dirty="0"/>
              <a:t>부터 </a:t>
            </a:r>
            <a:r>
              <a:rPr lang="en-US" altLang="ko-KR" dirty="0"/>
              <a:t>hooks </a:t>
            </a:r>
            <a:r>
              <a:rPr lang="ko-KR" altLang="en-US" dirty="0"/>
              <a:t>의 등장으로 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6DC172"/>
                </a:solidFill>
              </a:rPr>
              <a:t>함수형 컴포넌트</a:t>
            </a:r>
            <a:r>
              <a:rPr lang="ko-KR" altLang="en-US" dirty="0"/>
              <a:t>에도 핵심기능을 사용할 수 있게 되었습니다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endParaRPr lang="en-US" altLang="ko-KR" sz="1000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과거에는 다양한 기능을 사용할 수 있는 </a:t>
            </a:r>
            <a:r>
              <a:rPr lang="ko-KR" altLang="en-US" dirty="0" err="1">
                <a:solidFill>
                  <a:srgbClr val="92D050"/>
                </a:solidFill>
              </a:rPr>
              <a:t>클래스형</a:t>
            </a:r>
            <a:r>
              <a:rPr lang="ko-KR" altLang="en-US" dirty="0">
                <a:solidFill>
                  <a:srgbClr val="92D050"/>
                </a:solidFill>
              </a:rPr>
              <a:t> 컴포넌트</a:t>
            </a:r>
            <a:r>
              <a:rPr lang="ko-KR" altLang="en-US" dirty="0"/>
              <a:t>를 사용했지만</a:t>
            </a:r>
            <a:r>
              <a:rPr lang="en-US" altLang="ko-KR" dirty="0"/>
              <a:t>, </a:t>
            </a:r>
            <a:r>
              <a:rPr lang="ko-KR" altLang="en-US" dirty="0"/>
              <a:t>현재는 더 쉬운 문법을 가지고 있는 </a:t>
            </a:r>
            <a:r>
              <a:rPr lang="ko-KR" altLang="en-US" u="sng" dirty="0">
                <a:solidFill>
                  <a:srgbClr val="6DC172"/>
                </a:solidFill>
              </a:rPr>
              <a:t>함수형 컴포넌트의</a:t>
            </a:r>
            <a:r>
              <a:rPr lang="ko-KR" altLang="en-US" u="sng" dirty="0"/>
              <a:t> 사용 비율이 압도적으로 높아요</a:t>
            </a:r>
            <a:r>
              <a:rPr lang="en-US" altLang="ko-KR" u="sng" dirty="0"/>
              <a:t>!</a:t>
            </a:r>
          </a:p>
          <a:p>
            <a:pPr lvl="1">
              <a:lnSpc>
                <a:spcPct val="110000"/>
              </a:lnSpc>
            </a:pPr>
            <a:endParaRPr lang="en-US" altLang="ko-KR" sz="1000" u="sng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공통적으로 컴포넌트의 이름은 </a:t>
            </a:r>
            <a:r>
              <a:rPr lang="en-US" altLang="ko-KR" dirty="0" err="1">
                <a:solidFill>
                  <a:schemeClr val="accent5"/>
                </a:solidFill>
              </a:rPr>
              <a:t>PascalCase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!</a:t>
            </a:r>
          </a:p>
          <a:p>
            <a:pPr lvl="1">
              <a:lnSpc>
                <a:spcPct val="110000"/>
              </a:lnSpc>
            </a:pPr>
            <a:endParaRPr lang="en-US" altLang="ko-KR" sz="1800" u="sng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</a:rPr>
              <a:t>클래스형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컴포넌트를 만드는 방법도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</a:rPr>
              <a:t>배울거지만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저렇게 쓰는구나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~ 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하고 알아만 주시면 됩니다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</a:t>
            </a:r>
            <a:r>
              <a:rPr lang="ko-KR" altLang="en-US" dirty="0"/>
              <a:t>를 만드는 방법</a:t>
            </a:r>
          </a:p>
        </p:txBody>
      </p:sp>
    </p:spTree>
    <p:extLst>
      <p:ext uri="{BB962C8B-B14F-4D97-AF65-F5344CB8AC3E}">
        <p14:creationId xmlns:p14="http://schemas.microsoft.com/office/powerpoint/2010/main" val="41434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이렇게</a:t>
            </a:r>
            <a:r>
              <a:rPr lang="en-US" altLang="ko-KR" dirty="0"/>
              <a:t> </a:t>
            </a:r>
            <a:r>
              <a:rPr lang="ko-KR" altLang="en-US" dirty="0"/>
              <a:t>생겼어요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FFE2C-D46A-FD74-FBC3-4E1A499D5FF6}"/>
              </a:ext>
            </a:extLst>
          </p:cNvPr>
          <p:cNvSpPr txBox="1"/>
          <p:nvPr/>
        </p:nvSpPr>
        <p:spPr>
          <a:xfrm>
            <a:off x="302149" y="1690688"/>
            <a:ext cx="6553200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ClassComponent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Class Component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ClassComponent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E8C96-0434-7B0F-CD73-1384897015A5}"/>
              </a:ext>
            </a:extLst>
          </p:cNvPr>
          <p:cNvSpPr txBox="1"/>
          <p:nvPr/>
        </p:nvSpPr>
        <p:spPr>
          <a:xfrm>
            <a:off x="5698523" y="4354030"/>
            <a:ext cx="6096000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FunctionComponent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</a:p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     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Funtional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Component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입니다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    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9449" y="4795669"/>
            <a:ext cx="1657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클래스형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컴포넌트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4974" y="4001294"/>
            <a:ext cx="1483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함수형 컴포넌트</a:t>
            </a:r>
          </a:p>
        </p:txBody>
      </p:sp>
    </p:spTree>
    <p:extLst>
      <p:ext uri="{BB962C8B-B14F-4D97-AF65-F5344CB8AC3E}">
        <p14:creationId xmlns:p14="http://schemas.microsoft.com/office/powerpoint/2010/main" val="127307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JSX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3120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EE62515-77DC-5636-47A6-D37F1B113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31" y="1825625"/>
            <a:ext cx="10515600" cy="435133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800" dirty="0">
                <a:solidFill>
                  <a:srgbClr val="F3DF49"/>
                </a:solidFill>
                <a:latin typeface="+mj-lt"/>
              </a:rPr>
              <a:t>Java</a:t>
            </a:r>
            <a:r>
              <a:rPr lang="en-US" altLang="ko-KR" dirty="0">
                <a:solidFill>
                  <a:srgbClr val="F3DF49"/>
                </a:solidFill>
                <a:latin typeface="+mj-lt"/>
              </a:rPr>
              <a:t>S</a:t>
            </a:r>
            <a:r>
              <a:rPr lang="en-US" altLang="ko-KR" sz="2800" dirty="0">
                <a:solidFill>
                  <a:srgbClr val="F3DF49"/>
                </a:solidFill>
                <a:latin typeface="+mj-lt"/>
              </a:rPr>
              <a:t>cript</a:t>
            </a:r>
            <a:r>
              <a:rPr lang="en-US" altLang="ko-KR" dirty="0">
                <a:latin typeface="+mj-lt"/>
              </a:rPr>
              <a:t> + </a:t>
            </a:r>
            <a:r>
              <a:rPr lang="en-US" altLang="ko-KR" dirty="0">
                <a:solidFill>
                  <a:srgbClr val="8A53A6"/>
                </a:solidFill>
                <a:latin typeface="+mj-lt"/>
              </a:rPr>
              <a:t>XML</a:t>
            </a:r>
          </a:p>
          <a:p>
            <a:r>
              <a:rPr lang="ko-KR" altLang="en-US" dirty="0"/>
              <a:t>자바스크립트 확장 문법으로 </a:t>
            </a:r>
            <a:r>
              <a:rPr lang="en-US" altLang="ko-KR" dirty="0"/>
              <a:t>XML </a:t>
            </a:r>
            <a:r>
              <a:rPr lang="ko-KR" altLang="en-US" dirty="0"/>
              <a:t>과 유사</a:t>
            </a:r>
            <a:endParaRPr lang="en-US" altLang="ko-KR" dirty="0"/>
          </a:p>
          <a:p>
            <a:r>
              <a:rPr lang="ko-KR" altLang="en-US" dirty="0"/>
              <a:t>바벨을 이용해 일반 자바스크립트 코드로 변환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B72458-EFF5-77A4-A6F9-13EB3EDE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09E7A-0652-D644-D24E-338EF03B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E191F99-BB90-B152-95C7-F086E168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JSX</a:t>
            </a:r>
            <a:endParaRPr lang="ko-KR" altLang="en-US" dirty="0"/>
          </a:p>
        </p:txBody>
      </p:sp>
      <p:pic>
        <p:nvPicPr>
          <p:cNvPr id="6" name="Picture 2" descr="GitHub - OpenJSX/logo: Logo of JSX-IR">
            <a:extLst>
              <a:ext uri="{FF2B5EF4-FFF2-40B4-BE49-F238E27FC236}">
                <a16:creationId xmlns:a16="http://schemas.microsoft.com/office/drawing/2014/main" id="{4D814A0F-C916-7827-5A00-789759C21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556" y="1825625"/>
            <a:ext cx="3385819" cy="338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42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6685" y="1464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600" dirty="0"/>
              <a:t>html </a:t>
            </a:r>
            <a:r>
              <a:rPr lang="ko-KR" altLang="en-US" sz="2600" dirty="0"/>
              <a:t>태그는 항상 </a:t>
            </a:r>
            <a:r>
              <a:rPr lang="en-US" altLang="ko-KR" sz="2600" dirty="0"/>
              <a:t>return </a:t>
            </a:r>
            <a:r>
              <a:rPr lang="ko-KR" altLang="en-US" sz="2600" dirty="0"/>
              <a:t>이후에</a:t>
            </a:r>
            <a:r>
              <a:rPr lang="en-US" altLang="ko-KR" sz="2600" dirty="0"/>
              <a:t>, </a:t>
            </a:r>
            <a:r>
              <a:rPr lang="ko-KR" altLang="en-US" sz="2600" dirty="0"/>
              <a:t>반드시 하나의 부모 요소가 전체 요소를 감싸는 형태로</a:t>
            </a:r>
            <a:r>
              <a:rPr lang="en-US" altLang="ko-KR" sz="2600" dirty="0"/>
              <a:t>!</a:t>
            </a:r>
          </a:p>
          <a:p>
            <a:pPr marL="457200" lvl="1" indent="0">
              <a:buNone/>
            </a:pPr>
            <a:r>
              <a:rPr lang="en-US" altLang="ko-KR" sz="2000" dirty="0"/>
              <a:t>+ </a:t>
            </a:r>
            <a:r>
              <a:rPr lang="ko-KR" altLang="en-US" sz="2000" dirty="0"/>
              <a:t>딱 하나의 태그만 </a:t>
            </a:r>
            <a:r>
              <a:rPr lang="en-US" altLang="ko-KR" sz="2000" dirty="0"/>
              <a:t>return</a:t>
            </a:r>
            <a:r>
              <a:rPr lang="ko-KR" altLang="en-US" sz="2000" dirty="0"/>
              <a:t>할 때는 </a:t>
            </a:r>
            <a:r>
              <a:rPr lang="en-US" altLang="ko-KR" sz="2000" dirty="0"/>
              <a:t>()</a:t>
            </a:r>
            <a:r>
              <a:rPr lang="ko-KR" altLang="en-US" sz="2000" dirty="0"/>
              <a:t>가 필요 없지만 여러 개의 태그가 있다면 </a:t>
            </a:r>
            <a:r>
              <a:rPr lang="en-US" altLang="ko-KR" sz="2000" dirty="0"/>
              <a:t>return (~) </a:t>
            </a:r>
            <a:r>
              <a:rPr lang="ko-KR" altLang="en-US" sz="2000" dirty="0"/>
              <a:t>괄호 내부에</a:t>
            </a:r>
            <a:r>
              <a:rPr lang="en-US" altLang="ko-KR" sz="2000" dirty="0"/>
              <a:t> </a:t>
            </a:r>
            <a:r>
              <a:rPr lang="ko-KR" altLang="en-US" sz="2000" dirty="0"/>
              <a:t>작성해야 해요</a:t>
            </a:r>
            <a:r>
              <a:rPr lang="en-US" altLang="ko-KR" sz="2000" dirty="0"/>
              <a:t>!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1. </a:t>
            </a:r>
            <a:r>
              <a:rPr lang="ko-KR" altLang="en-US" dirty="0"/>
              <a:t>전체는 하나의 태그로 감싸야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277793" y="3040851"/>
            <a:ext cx="4284807" cy="3139321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hello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b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&gt;world&lt;/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EEFF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210" y="3040851"/>
            <a:ext cx="4229201" cy="313123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608" y="4703970"/>
            <a:ext cx="855418" cy="59879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985" y="5208801"/>
            <a:ext cx="5356195" cy="344327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448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59715" y="13291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html</a:t>
            </a:r>
            <a:r>
              <a:rPr lang="ko-KR" altLang="en-US" dirty="0"/>
              <a:t>를 작성하다가 중간에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문법을 사용하고 싶을 때는 </a:t>
            </a:r>
            <a:r>
              <a:rPr lang="en-US" altLang="ko-KR" dirty="0"/>
              <a:t>{</a:t>
            </a:r>
            <a:r>
              <a:rPr lang="ko-KR" altLang="en-US" dirty="0"/>
              <a:t>중괄호</a:t>
            </a:r>
            <a:r>
              <a:rPr lang="en-US" altLang="ko-KR" dirty="0"/>
              <a:t>}</a:t>
            </a:r>
            <a:r>
              <a:rPr lang="ko-KR" altLang="en-US" dirty="0"/>
              <a:t>로 감싸야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2. </a:t>
            </a:r>
            <a:r>
              <a:rPr lang="en-US" altLang="ko-KR" dirty="0"/>
              <a:t>html with JS</a:t>
            </a:r>
            <a:endParaRPr lang="ko-KR" altLang="en-US" dirty="0"/>
          </a:p>
        </p:txBody>
      </p:sp>
      <p:grpSp>
        <p:nvGrpSpPr>
          <p:cNvPr id="11" name="그룹 10"/>
          <p:cNvGrpSpPr/>
          <p:nvPr/>
        </p:nvGrpSpPr>
        <p:grpSpPr>
          <a:xfrm>
            <a:off x="2853003" y="2281023"/>
            <a:ext cx="7867511" cy="1802235"/>
            <a:chOff x="1204507" y="2708046"/>
            <a:chExt cx="7867511" cy="180223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809190">
              <a:off x="6875440" y="2977881"/>
              <a:ext cx="1532400" cy="153240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866071" flipH="1" flipV="1">
              <a:off x="2428431" y="2957033"/>
              <a:ext cx="1492557" cy="1492557"/>
            </a:xfrm>
            <a:prstGeom prst="rect">
              <a:avLst/>
            </a:prstGeom>
          </p:spPr>
        </p:pic>
        <p:pic>
          <p:nvPicPr>
            <p:cNvPr id="4" name="Picture 2" descr="Learn HTML - Google Play 앱">
              <a:extLst>
                <a:ext uri="{FF2B5EF4-FFF2-40B4-BE49-F238E27FC236}">
                  <a16:creationId xmlns:a16="http://schemas.microsoft.com/office/drawing/2014/main" id="{2CF6B682-995A-6BCE-AC16-873A5A06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4507" y="2738141"/>
              <a:ext cx="1469721" cy="1469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Javascript ] Javascript 기본 이론">
              <a:extLst>
                <a:ext uri="{FF2B5EF4-FFF2-40B4-BE49-F238E27FC236}">
                  <a16:creationId xmlns:a16="http://schemas.microsoft.com/office/drawing/2014/main" id="{D483B20F-94E8-4157-B953-877AE2EDD5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78"/>
            <a:stretch/>
          </p:blipFill>
          <p:spPr bwMode="auto">
            <a:xfrm>
              <a:off x="5534284" y="2708047"/>
              <a:ext cx="2568853" cy="1724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FBA9DC-FBA2-F61A-ECC5-30460748177C}"/>
                </a:ext>
              </a:extLst>
            </p:cNvPr>
            <p:cNvSpPr txBox="1"/>
            <p:nvPr/>
          </p:nvSpPr>
          <p:spPr>
            <a:xfrm>
              <a:off x="3221918" y="2708047"/>
              <a:ext cx="2156360" cy="523220"/>
            </a:xfrm>
            <a:prstGeom prst="rect">
              <a:avLst/>
            </a:prstGeom>
            <a:solidFill>
              <a:srgbClr val="07090F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2800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28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();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172934-1DE0-E8D4-D8D4-F69331765EF4}"/>
                </a:ext>
              </a:extLst>
            </p:cNvPr>
            <p:cNvSpPr txBox="1"/>
            <p:nvPr/>
          </p:nvSpPr>
          <p:spPr>
            <a:xfrm>
              <a:off x="8435305" y="2708046"/>
              <a:ext cx="636713" cy="584775"/>
            </a:xfrm>
            <a:prstGeom prst="rect">
              <a:avLst/>
            </a:prstGeom>
            <a:solidFill>
              <a:srgbClr val="07090F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32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{}</a:t>
              </a:r>
              <a:endParaRPr lang="en-US" altLang="ko-K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531874" y="4083258"/>
            <a:ext cx="11353800" cy="2708434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world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ko-KR" altLang="en-US" sz="1700" dirty="0">
                <a:solidFill>
                  <a:srgbClr val="C3E88D"/>
                </a:solidFill>
                <a:latin typeface="Consolas" panose="020B0609020204030204" pitchFamily="49" charset="0"/>
              </a:rPr>
              <a:t>세상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&gt;react&lt;/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700" dirty="0" err="1">
                <a:solidFill>
                  <a:srgbClr val="89DDFF"/>
                </a:solidFill>
                <a:latin typeface="Consolas" panose="020B0609020204030204" pitchFamily="49" charset="0"/>
              </a:rPr>
              <a:t>리액트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&gt;)}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7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034862" y="4870803"/>
            <a:ext cx="631065" cy="296215"/>
          </a:xfrm>
          <a:prstGeom prst="rect">
            <a:avLst/>
          </a:prstGeom>
          <a:noFill/>
          <a:ln w="28575">
            <a:solidFill>
              <a:srgbClr val="F3DF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034862" y="5167018"/>
            <a:ext cx="4391696" cy="286951"/>
          </a:xfrm>
          <a:prstGeom prst="rect">
            <a:avLst/>
          </a:prstGeom>
          <a:noFill/>
          <a:ln w="28575">
            <a:solidFill>
              <a:srgbClr val="F3DF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556898" y="5680491"/>
            <a:ext cx="9390144" cy="286951"/>
          </a:xfrm>
          <a:prstGeom prst="rect">
            <a:avLst/>
          </a:prstGeom>
          <a:noFill/>
          <a:ln w="28575">
            <a:solidFill>
              <a:srgbClr val="F3DF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972410" y="5612302"/>
            <a:ext cx="3210370" cy="431391"/>
          </a:xfrm>
          <a:prstGeom prst="rect">
            <a:avLst/>
          </a:prstGeom>
          <a:noFill/>
          <a:ln w="28575">
            <a:solidFill>
              <a:srgbClr val="8A5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rgbClr val="8A53A6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513676" y="5602013"/>
            <a:ext cx="3278819" cy="441680"/>
          </a:xfrm>
          <a:prstGeom prst="rect">
            <a:avLst/>
          </a:prstGeom>
          <a:noFill/>
          <a:ln w="28575">
            <a:solidFill>
              <a:srgbClr val="8A5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rgbClr val="8A53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2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915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html</a:t>
            </a:r>
            <a:r>
              <a:rPr lang="ko-KR" altLang="en-US" dirty="0"/>
              <a:t>를 작성하다가 중간에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문법을 사용하고 싶을 때는 </a:t>
            </a:r>
            <a:r>
              <a:rPr lang="en-US" altLang="ko-KR" dirty="0">
                <a:solidFill>
                  <a:srgbClr val="FFC000"/>
                </a:solidFill>
              </a:rPr>
              <a:t>{</a:t>
            </a:r>
            <a:r>
              <a:rPr lang="ko-KR" altLang="en-US" dirty="0"/>
              <a:t>중괄호</a:t>
            </a:r>
            <a:r>
              <a:rPr lang="en-US" altLang="ko-KR" dirty="0">
                <a:solidFill>
                  <a:srgbClr val="FFC000"/>
                </a:solidFill>
              </a:rPr>
              <a:t>}</a:t>
            </a:r>
            <a:r>
              <a:rPr lang="ko-KR" altLang="en-US" dirty="0"/>
              <a:t>로 감싸야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2</a:t>
            </a:r>
            <a:r>
              <a:rPr lang="en-US" altLang="ko-KR" dirty="0"/>
              <a:t>. html with JS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72385" y="3222062"/>
            <a:ext cx="11353800" cy="2708434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world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ko-KR" altLang="en-US" sz="1700" dirty="0">
                <a:solidFill>
                  <a:srgbClr val="C3E88D"/>
                </a:solidFill>
                <a:latin typeface="Consolas" panose="020B0609020204030204" pitchFamily="49" charset="0"/>
              </a:rPr>
              <a:t>세상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'}&lt;/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{</a:t>
            </a:r>
            <a:r>
              <a:rPr lang="en-US" altLang="ko-KR" sz="17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7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&gt;react&lt;/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 </a:t>
            </a:r>
            <a:r>
              <a:rPr lang="en-US" altLang="ko-KR" sz="17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700" dirty="0" err="1">
                <a:solidFill>
                  <a:srgbClr val="89DDFF"/>
                </a:solidFill>
                <a:latin typeface="Consolas" panose="020B0609020204030204" pitchFamily="49" charset="0"/>
              </a:rPr>
              <a:t>리액트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&gt;)}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7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7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7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7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7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164" y="2383882"/>
            <a:ext cx="3891451" cy="216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00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구부러진 연결선 16"/>
          <p:cNvCxnSpPr/>
          <p:nvPr/>
        </p:nvCxnSpPr>
        <p:spPr>
          <a:xfrm rot="10800000">
            <a:off x="7796817" y="3617302"/>
            <a:ext cx="573647" cy="385544"/>
          </a:xfrm>
          <a:prstGeom prst="curvedConnector3">
            <a:avLst>
              <a:gd name="adj1" fmla="val 99392"/>
            </a:avLst>
          </a:prstGeom>
          <a:ln w="57150">
            <a:solidFill>
              <a:srgbClr val="6DC1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구부러진 연결선 14"/>
          <p:cNvCxnSpPr/>
          <p:nvPr/>
        </p:nvCxnSpPr>
        <p:spPr>
          <a:xfrm flipV="1">
            <a:off x="1275012" y="3741947"/>
            <a:ext cx="489397" cy="401525"/>
          </a:xfrm>
          <a:prstGeom prst="curvedConnector3">
            <a:avLst/>
          </a:prstGeom>
          <a:ln w="57150">
            <a:solidFill>
              <a:srgbClr val="6DC1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79158"/>
            <a:ext cx="1101090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JSX </a:t>
            </a:r>
            <a:r>
              <a:rPr lang="ko-KR" altLang="en-US" dirty="0" err="1"/>
              <a:t>삼항연산자</a:t>
            </a:r>
            <a:r>
              <a:rPr lang="ko-KR" altLang="en-US" dirty="0"/>
              <a:t> 대신 </a:t>
            </a:r>
            <a:r>
              <a:rPr lang="en-US" altLang="ko-KR" dirty="0">
                <a:solidFill>
                  <a:srgbClr val="FF5050"/>
                </a:solidFill>
              </a:rPr>
              <a:t>if </a:t>
            </a:r>
            <a:r>
              <a:rPr lang="ko-KR" altLang="en-US" dirty="0">
                <a:solidFill>
                  <a:srgbClr val="FF5050"/>
                </a:solidFill>
              </a:rPr>
              <a:t>문이 올 수 없어요</a:t>
            </a:r>
            <a:r>
              <a:rPr lang="en-US" altLang="ko-KR" dirty="0">
                <a:solidFill>
                  <a:srgbClr val="FF5050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ko-KR" dirty="0"/>
              <a:t>+ </a:t>
            </a:r>
            <a:r>
              <a:rPr lang="en-US" altLang="ko-KR" dirty="0">
                <a:solidFill>
                  <a:srgbClr val="FF5050"/>
                </a:solidFill>
              </a:rPr>
              <a:t>for</a:t>
            </a:r>
            <a:r>
              <a:rPr lang="ko-KR" altLang="en-US" dirty="0" err="1">
                <a:solidFill>
                  <a:srgbClr val="FF5050"/>
                </a:solidFill>
              </a:rPr>
              <a:t>문</a:t>
            </a:r>
            <a:r>
              <a:rPr lang="ko-KR" altLang="en-US" dirty="0" err="1"/>
              <a:t>또한</a:t>
            </a:r>
            <a:r>
              <a:rPr lang="ko-KR" altLang="en-US" dirty="0"/>
              <a:t> </a:t>
            </a:r>
            <a:r>
              <a:rPr lang="en-US" altLang="ko-KR" dirty="0"/>
              <a:t>JSX </a:t>
            </a:r>
            <a:r>
              <a:rPr lang="ko-KR" altLang="en-US" dirty="0"/>
              <a:t>내부에 </a:t>
            </a:r>
            <a:r>
              <a:rPr lang="ko-KR" altLang="en-US" dirty="0">
                <a:solidFill>
                  <a:srgbClr val="FF5050"/>
                </a:solidFill>
              </a:rPr>
              <a:t>올 수 없어요</a:t>
            </a:r>
            <a:r>
              <a:rPr lang="en-US" altLang="ko-KR" dirty="0">
                <a:solidFill>
                  <a:srgbClr val="FF5050"/>
                </a:solidFill>
              </a:rPr>
              <a:t>!</a:t>
            </a:r>
          </a:p>
          <a:p>
            <a:pPr marL="0" indent="0">
              <a:buNone/>
            </a:pPr>
            <a:r>
              <a:rPr lang="en-US" altLang="ko-KR" sz="2400" dirty="0"/>
              <a:t>(for</a:t>
            </a:r>
            <a:r>
              <a:rPr lang="ko-KR" altLang="en-US" sz="2400" dirty="0"/>
              <a:t>문과 </a:t>
            </a:r>
            <a:r>
              <a:rPr lang="en-US" altLang="ko-KR" sz="2400" dirty="0"/>
              <a:t>if </a:t>
            </a:r>
            <a:r>
              <a:rPr lang="ko-KR" altLang="en-US" sz="2400" dirty="0"/>
              <a:t>문을 사용하고 싶다면 </a:t>
            </a:r>
            <a:r>
              <a:rPr lang="en-US" altLang="ko-KR" sz="2400" dirty="0"/>
              <a:t>return </a:t>
            </a:r>
            <a:r>
              <a:rPr lang="ko-KR" altLang="en-US" sz="2400" dirty="0"/>
              <a:t>이 오기 전에 결과값을 저장하고 사용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8A53A6"/>
                </a:solidFill>
              </a:rPr>
              <a:t>2. </a:t>
            </a:r>
            <a:r>
              <a:rPr lang="en-US" altLang="ko-KR" dirty="0"/>
              <a:t>html with JS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343439" y="4079078"/>
            <a:ext cx="10083621" cy="2662267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4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400" dirty="0">
                <a:solidFill>
                  <a:srgbClr val="89DDFF"/>
                </a:solidFill>
                <a:latin typeface="Consolas" panose="020B0609020204030204" pitchFamily="49" charset="0"/>
              </a:rPr>
              <a:t>';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className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world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ko-KR" altLang="en-US" sz="1600" dirty="0">
                <a:solidFill>
                  <a:srgbClr val="C3E88D"/>
                </a:solidFill>
                <a:latin typeface="Consolas" panose="020B0609020204030204" pitchFamily="49" charset="0"/>
              </a:rPr>
              <a:t>세상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'}&lt;/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{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===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hello,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?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&gt;react&lt;/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&gt;)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(&lt;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sz="1600" dirty="0" err="1">
                <a:solidFill>
                  <a:srgbClr val="89DDFF"/>
                </a:solidFill>
                <a:latin typeface="Consolas" panose="020B0609020204030204" pitchFamily="49" charset="0"/>
              </a:rPr>
              <a:t>리액트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h2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&gt;)}</a:t>
            </a:r>
          </a:p>
          <a:p>
            <a:endParaRPr lang="en-US" altLang="ko-KR" sz="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083641" y="3155523"/>
            <a:ext cx="3765461" cy="2339102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EEFFFF"/>
                </a:solidFill>
                <a:latin typeface="Consolas" panose="020B0609020204030204" pitchFamily="49" charset="0"/>
              </a:rPr>
              <a:t>numbers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[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EEFFFF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F78C6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of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EEFFFF"/>
                </a:solidFill>
                <a:latin typeface="Consolas" panose="020B0609020204030204" pitchFamily="49" charset="0"/>
              </a:rPr>
              <a:t>numbers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+=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b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</a:b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&gt;{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span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92045" y="3557281"/>
            <a:ext cx="2973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삼항연산자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대신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if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문이 나올 수 없어요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!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04873" y="3128396"/>
            <a:ext cx="2701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for, if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등이 오려면 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특정 변수에 저장하고 사용해야 해요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1742014" y="5344732"/>
            <a:ext cx="4167096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1353364" y="5831986"/>
            <a:ext cx="8640644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20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3836" y="1391204"/>
            <a:ext cx="10515600" cy="4351338"/>
          </a:xfrm>
        </p:spPr>
        <p:txBody>
          <a:bodyPr/>
          <a:lstStyle/>
          <a:p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를 인라인 형태로 적용할 때는 </a:t>
            </a:r>
            <a:r>
              <a:rPr lang="en-US" altLang="ko-KR" dirty="0"/>
              <a:t>{object}</a:t>
            </a:r>
            <a:r>
              <a:rPr lang="ko-KR" altLang="en-US" dirty="0"/>
              <a:t>형태로 저장해야 해요</a:t>
            </a:r>
            <a:r>
              <a:rPr lang="en-US" altLang="ko-KR" dirty="0"/>
              <a:t>!</a:t>
            </a:r>
          </a:p>
          <a:p>
            <a:r>
              <a:rPr lang="en-US" altLang="ko-KR" dirty="0" err="1">
                <a:solidFill>
                  <a:srgbClr val="FF5050"/>
                </a:solidFill>
              </a:rPr>
              <a:t>CSS</a:t>
            </a:r>
            <a:r>
              <a:rPr lang="en-US" altLang="ko-KR" dirty="0">
                <a:solidFill>
                  <a:srgbClr val="FF5050"/>
                </a:solidFill>
              </a:rPr>
              <a:t> </a:t>
            </a:r>
            <a:r>
              <a:rPr lang="ko-KR" altLang="en-US" dirty="0">
                <a:solidFill>
                  <a:srgbClr val="FF5050"/>
                </a:solidFill>
              </a:rPr>
              <a:t>속성은 </a:t>
            </a:r>
            <a:r>
              <a:rPr lang="en-US" altLang="ko-KR" dirty="0"/>
              <a:t>dash-case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rgbClr val="FF5050"/>
                </a:solidFill>
              </a:rPr>
              <a:t>camelCase</a:t>
            </a:r>
            <a:endParaRPr lang="en-US" altLang="ko-KR" dirty="0">
              <a:solidFill>
                <a:srgbClr val="FF505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return </a:t>
            </a:r>
            <a:r>
              <a:rPr lang="ko-KR" altLang="en-US" dirty="0"/>
              <a:t>위에 </a:t>
            </a:r>
            <a:r>
              <a:rPr lang="en-US" altLang="ko-KR" dirty="0"/>
              <a:t>object</a:t>
            </a:r>
            <a:r>
              <a:rPr lang="ko-KR" altLang="en-US" dirty="0"/>
              <a:t>를 변수에 담아놓고 사용할 수도 있어요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>
                <a:solidFill>
                  <a:srgbClr val="8A53A6"/>
                </a:solidFill>
              </a:rPr>
              <a:t>  3. </a:t>
            </a:r>
            <a:r>
              <a:rPr lang="ko-KR" altLang="en-US" dirty="0"/>
              <a:t>인라인 </a:t>
            </a:r>
            <a:r>
              <a:rPr lang="en-US" altLang="ko-KR" dirty="0"/>
              <a:t>style</a:t>
            </a:r>
            <a:r>
              <a:rPr lang="ko-KR" altLang="en-US" dirty="0"/>
              <a:t> 적용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54416" y="2922362"/>
            <a:ext cx="9674443" cy="369332"/>
          </a:xfrm>
          <a:prstGeom prst="rect">
            <a:avLst/>
          </a:prstGeom>
          <a:solidFill>
            <a:srgbClr val="07090F"/>
          </a:solidFill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style=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font-size: 32px; background-color: crimson;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"&gt;</a:t>
            </a:r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인라인 스타일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92787" y="3441398"/>
            <a:ext cx="11590985" cy="923330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style=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{{ 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 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32px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', 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</a:rPr>
              <a:t>backgroundColor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 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crimson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 }}&gt;</a:t>
            </a:r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인라인 스타일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아래쪽 화살표 15"/>
          <p:cNvSpPr/>
          <p:nvPr/>
        </p:nvSpPr>
        <p:spPr>
          <a:xfrm>
            <a:off x="5731099" y="3374264"/>
            <a:ext cx="360537" cy="385218"/>
          </a:xfrm>
          <a:prstGeom prst="downArrow">
            <a:avLst/>
          </a:prstGeom>
          <a:noFill/>
          <a:ln w="38100">
            <a:solidFill>
              <a:srgbClr val="8A53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669959" y="5437762"/>
            <a:ext cx="9354356" cy="1200329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divStyle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BBBBBB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32px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BBBBBB"/>
                </a:solidFill>
                <a:latin typeface="Consolas" panose="020B0609020204030204" pitchFamily="49" charset="0"/>
              </a:rPr>
              <a:t>backgroundColor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C3E88D"/>
                </a:solidFill>
                <a:latin typeface="Consolas" panose="020B0609020204030204" pitchFamily="49" charset="0"/>
              </a:rPr>
              <a:t>crimson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style=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 err="1">
                <a:solidFill>
                  <a:srgbClr val="F07178"/>
                </a:solidFill>
                <a:latin typeface="Consolas" panose="020B0609020204030204" pitchFamily="49" charset="0"/>
              </a:rPr>
              <a:t>divStyle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}&gt;</a:t>
            </a:r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인라인 스타일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7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class </a:t>
            </a:r>
            <a:r>
              <a:rPr lang="ko-KR" altLang="en-US" dirty="0"/>
              <a:t>대신 </a:t>
            </a:r>
            <a:r>
              <a:rPr lang="en-US" altLang="ko-KR" dirty="0" err="1">
                <a:solidFill>
                  <a:srgbClr val="FF5050"/>
                </a:solidFill>
              </a:rPr>
              <a:t>class</a:t>
            </a:r>
            <a:r>
              <a:rPr lang="en-US" altLang="ko-KR" b="1" dirty="0" err="1">
                <a:solidFill>
                  <a:srgbClr val="8A53A6"/>
                </a:solidFill>
              </a:rPr>
              <a:t>N</a:t>
            </a:r>
            <a:r>
              <a:rPr lang="en-US" altLang="ko-KR" dirty="0" err="1">
                <a:solidFill>
                  <a:srgbClr val="FF5050"/>
                </a:solidFill>
              </a:rPr>
              <a:t>ame</a:t>
            </a:r>
            <a:r>
              <a:rPr lang="en-US" altLang="ko-KR" dirty="0"/>
              <a:t>, </a:t>
            </a:r>
            <a:r>
              <a:rPr lang="en-US" altLang="ko-KR" dirty="0" err="1"/>
              <a:t>onclick</a:t>
            </a:r>
            <a:r>
              <a:rPr lang="ko-KR" altLang="en-US" dirty="0"/>
              <a:t>대신 </a:t>
            </a:r>
            <a:r>
              <a:rPr lang="en-US" altLang="ko-KR" dirty="0" err="1">
                <a:solidFill>
                  <a:srgbClr val="FF5050"/>
                </a:solidFill>
              </a:rPr>
              <a:t>on</a:t>
            </a:r>
            <a:r>
              <a:rPr lang="en-US" altLang="ko-KR" b="1" dirty="0" err="1">
                <a:solidFill>
                  <a:srgbClr val="8A53A6"/>
                </a:solidFill>
              </a:rPr>
              <a:t>C</a:t>
            </a:r>
            <a:r>
              <a:rPr lang="en-US" altLang="ko-KR" dirty="0" err="1">
                <a:solidFill>
                  <a:srgbClr val="FF5050"/>
                </a:solidFill>
              </a:rPr>
              <a:t>lick</a:t>
            </a:r>
            <a:r>
              <a:rPr lang="en-US" altLang="ko-KR" dirty="0"/>
              <a:t> </a:t>
            </a:r>
            <a:r>
              <a:rPr lang="ko-KR" altLang="en-US" dirty="0"/>
              <a:t>을 사용합니다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sz="2000" dirty="0" err="1"/>
              <a:t>onClick</a:t>
            </a:r>
            <a:r>
              <a:rPr lang="en-US" altLang="ko-KR" sz="2000" dirty="0"/>
              <a:t>={</a:t>
            </a:r>
            <a:r>
              <a:rPr lang="ko-KR" altLang="en-US" sz="2000" dirty="0" err="1"/>
              <a:t>클릭되었을</a:t>
            </a:r>
            <a:r>
              <a:rPr lang="ko-KR" altLang="en-US" sz="2000" dirty="0"/>
              <a:t> 때 실행할 </a:t>
            </a:r>
            <a:r>
              <a:rPr lang="en-US" altLang="ko-KR" sz="2000" dirty="0"/>
              <a:t>JS </a:t>
            </a:r>
            <a:r>
              <a:rPr lang="ko-KR" altLang="en-US" sz="2000" dirty="0"/>
              <a:t>코드</a:t>
            </a:r>
            <a:r>
              <a:rPr lang="en-US" altLang="ko-KR" sz="2000" dirty="0"/>
              <a:t>} </a:t>
            </a:r>
          </a:p>
          <a:p>
            <a:r>
              <a:rPr lang="en-US" altLang="ko-KR" sz="2000" dirty="0" err="1"/>
              <a:t>className</a:t>
            </a:r>
            <a:r>
              <a:rPr lang="en-US" altLang="ko-KR" sz="2000" dirty="0"/>
              <a:t>=‘</a:t>
            </a:r>
            <a:r>
              <a:rPr lang="ko-KR" altLang="en-US" sz="2000" dirty="0"/>
              <a:t>클래스 이름</a:t>
            </a:r>
            <a:r>
              <a:rPr lang="en-US" altLang="ko-KR" sz="2000" dirty="0"/>
              <a:t>’</a:t>
            </a:r>
          </a:p>
          <a:p>
            <a:r>
              <a:rPr lang="ko-KR" altLang="en-US" sz="2000" dirty="0"/>
              <a:t>클래스 이름도 따로 선언해서 </a:t>
            </a:r>
            <a:r>
              <a:rPr lang="en-US" altLang="ko-KR" sz="2000" dirty="0" err="1"/>
              <a:t>className</a:t>
            </a:r>
            <a:r>
              <a:rPr lang="en-US" altLang="ko-KR" sz="2000" dirty="0"/>
              <a:t>={class-name}</a:t>
            </a:r>
            <a:r>
              <a:rPr lang="ko-KR" altLang="en-US" sz="2000" dirty="0"/>
              <a:t>처럼 사용할 수 있어요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>
                <a:solidFill>
                  <a:srgbClr val="8A53A6"/>
                </a:solidFill>
              </a:rPr>
              <a:t>  4. </a:t>
            </a:r>
            <a:r>
              <a:rPr lang="en-US" altLang="ko-KR" dirty="0"/>
              <a:t>class</a:t>
            </a:r>
            <a:r>
              <a:rPr lang="ko-KR" altLang="en-US" dirty="0"/>
              <a:t>와 </a:t>
            </a:r>
            <a:r>
              <a:rPr lang="en-US" altLang="ko-KR" dirty="0" err="1"/>
              <a:t>onclick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961624" y="2540580"/>
            <a:ext cx="7564192" cy="1754326"/>
            <a:chOff x="987381" y="2387581"/>
            <a:chExt cx="7564192" cy="1754326"/>
          </a:xfrm>
        </p:grpSpPr>
        <p:sp>
          <p:nvSpPr>
            <p:cNvPr id="6" name="직사각형 5"/>
            <p:cNvSpPr/>
            <p:nvPr/>
          </p:nvSpPr>
          <p:spPr>
            <a:xfrm>
              <a:off x="987381" y="2387581"/>
              <a:ext cx="7564192" cy="1754326"/>
            </a:xfrm>
            <a:prstGeom prst="rect">
              <a:avLst/>
            </a:prstGeom>
            <a:solidFill>
              <a:srgbClr val="07090F"/>
            </a:solidFill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altLang="ko-KR" dirty="0">
                  <a:solidFill>
                    <a:srgbClr val="BBBBBB"/>
                  </a:solidFill>
                  <a:latin typeface="Consolas" panose="020B0609020204030204" pitchFamily="49" charset="0"/>
                </a:rPr>
                <a:t> (</a:t>
              </a:r>
            </a:p>
            <a:p>
              <a:r>
                <a:rPr lang="en-US" altLang="ko-KR" dirty="0">
                  <a:solidFill>
                    <a:srgbClr val="BBBBBB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div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className</a:t>
              </a:r>
              <a:r>
                <a:rPr lang="en-US" altLang="ko-KR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dirty="0">
                  <a:solidFill>
                    <a:srgbClr val="C3E88D"/>
                  </a:solidFill>
                  <a:latin typeface="Consolas" panose="020B0609020204030204" pitchFamily="49" charset="0"/>
                </a:rPr>
                <a:t>App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' </a:t>
              </a:r>
              <a:r>
                <a:rPr lang="en-US" altLang="ko-KR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onClick</a:t>
              </a:r>
              <a:r>
                <a:rPr lang="en-US" altLang="ko-KR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{()</a:t>
              </a:r>
              <a:r>
                <a:rPr lang="en-US" altLang="ko-KR" dirty="0">
                  <a:solidFill>
                    <a:srgbClr val="C792EA"/>
                  </a:solidFill>
                  <a:latin typeface="Consolas" panose="020B0609020204030204" pitchFamily="49" charset="0"/>
                </a:rPr>
                <a:t>=&gt;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{</a:t>
              </a:r>
              <a:r>
                <a:rPr lang="en-US" altLang="ko-KR" dirty="0">
                  <a:solidFill>
                    <a:srgbClr val="82AAFF"/>
                  </a:solidFill>
                  <a:latin typeface="Consolas" panose="020B0609020204030204" pitchFamily="49" charset="0"/>
                </a:rPr>
                <a:t>alert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('</a:t>
              </a:r>
              <a:r>
                <a:rPr lang="en-US" altLang="ko-KR" dirty="0">
                  <a:solidFill>
                    <a:srgbClr val="C3E88D"/>
                  </a:solidFill>
                  <a:latin typeface="Consolas" panose="020B0609020204030204" pitchFamily="49" charset="0"/>
                </a:rPr>
                <a:t>hi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')}}&gt;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      &lt;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&gt;{</a:t>
              </a:r>
              <a:r>
                <a:rPr lang="en-US" altLang="ko-KR" dirty="0" err="1">
                  <a:solidFill>
                    <a:srgbClr val="F07178"/>
                  </a:solidFill>
                  <a:latin typeface="Consolas" panose="020B0609020204030204" pitchFamily="49" charset="0"/>
                </a:rPr>
                <a:t>str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}&lt;/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      &lt;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&gt;world!!&lt;/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span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    &lt;/</a:t>
              </a:r>
              <a:r>
                <a:rPr lang="en-US" altLang="ko-KR" dirty="0">
                  <a:solidFill>
                    <a:srgbClr val="F07178"/>
                  </a:solidFill>
                  <a:latin typeface="Consolas" panose="020B0609020204030204" pitchFamily="49" charset="0"/>
                </a:rPr>
                <a:t>div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dirty="0">
                  <a:solidFill>
                    <a:srgbClr val="BBBBBB"/>
                  </a:solidFill>
                  <a:latin typeface="Consolas" panose="020B0609020204030204" pitchFamily="49" charset="0"/>
                </a:rPr>
                <a:t>  )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</a:rPr>
                <a:t>;</a:t>
              </a:r>
              <a:endParaRPr lang="en-US" altLang="ko-K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086377" y="2707153"/>
              <a:ext cx="2009105" cy="319382"/>
            </a:xfrm>
            <a:prstGeom prst="rect">
              <a:avLst/>
            </a:prstGeom>
            <a:noFill/>
            <a:ln w="28575">
              <a:solidFill>
                <a:srgbClr val="F3DF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189925" y="2707153"/>
              <a:ext cx="3408610" cy="319382"/>
            </a:xfrm>
            <a:prstGeom prst="rect">
              <a:avLst/>
            </a:prstGeom>
            <a:noFill/>
            <a:ln w="28575">
              <a:solidFill>
                <a:srgbClr val="F3DF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1026" name="Picture 2" descr="Apple Emoji Faces, Emoji Pictures [Download PNG] | Emoji Isla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099" y="1743729"/>
            <a:ext cx="539884" cy="53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398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opening tag(</a:t>
            </a:r>
            <a:r>
              <a:rPr lang="ko-KR" altLang="en-US" dirty="0" err="1"/>
              <a:t>빈태그</a:t>
            </a:r>
            <a:r>
              <a:rPr lang="en-US" altLang="ko-KR" dirty="0"/>
              <a:t>)</a:t>
            </a:r>
            <a:r>
              <a:rPr lang="ko-KR" altLang="en-US" dirty="0"/>
              <a:t>도 </a:t>
            </a:r>
            <a:r>
              <a:rPr lang="en-US" altLang="ko-KR" dirty="0"/>
              <a:t>closing tag</a:t>
            </a:r>
            <a:r>
              <a:rPr lang="ko-KR" altLang="en-US" dirty="0"/>
              <a:t>가 필요해요</a:t>
            </a:r>
            <a:r>
              <a:rPr lang="en-US" altLang="ko-KR" dirty="0"/>
              <a:t>!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3DF49"/>
                </a:solidFill>
              </a:rPr>
              <a:t>JS</a:t>
            </a:r>
            <a:r>
              <a:rPr lang="en-US" altLang="ko-KR" dirty="0">
                <a:solidFill>
                  <a:srgbClr val="8A53A6"/>
                </a:solidFill>
              </a:rPr>
              <a:t>X  5. </a:t>
            </a:r>
            <a:r>
              <a:rPr lang="en-US" altLang="ko-KR" dirty="0"/>
              <a:t>closing tag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32" y="3553118"/>
            <a:ext cx="3651777" cy="1914524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061008" y="2454564"/>
            <a:ext cx="4160636" cy="2339102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input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type=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text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/&gt;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br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/&gt;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src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~~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alt=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alt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 /&gt;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848386" y="4367951"/>
            <a:ext cx="4505414" cy="2339102"/>
          </a:xfrm>
          <a:prstGeom prst="rect">
            <a:avLst/>
          </a:prstGeom>
          <a:solidFill>
            <a:srgbClr val="07090F"/>
          </a:solidFill>
          <a:ln w="38100">
            <a:solidFill>
              <a:srgbClr val="6DC172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input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type=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text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'&gt;&lt;/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input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br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&gt;&lt;/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br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  &lt;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C792EA"/>
                </a:solidFill>
                <a:latin typeface="Consolas" panose="020B0609020204030204" pitchFamily="49" charset="0"/>
              </a:rPr>
              <a:t>src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~~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 </a:t>
            </a:r>
            <a:r>
              <a:rPr lang="en-US" altLang="ko-KR" sz="1600" dirty="0">
                <a:solidFill>
                  <a:srgbClr val="C792EA"/>
                </a:solidFill>
                <a:latin typeface="Consolas" panose="020B0609020204030204" pitchFamily="49" charset="0"/>
              </a:rPr>
              <a:t>alt=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C3E88D"/>
                </a:solidFill>
                <a:latin typeface="Consolas" panose="020B0609020204030204" pitchFamily="49" charset="0"/>
              </a:rPr>
              <a:t>alt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'&gt;&lt;/</a:t>
            </a:r>
            <a:r>
              <a:rPr lang="en-US" altLang="ko-KR" sz="1600" dirty="0" err="1">
                <a:solidFill>
                  <a:srgbClr val="F07178"/>
                </a:solidFill>
                <a:latin typeface="Consolas" panose="020B0609020204030204" pitchFamily="49" charset="0"/>
              </a:rPr>
              <a:t>img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    &lt;/</a:t>
            </a:r>
            <a:r>
              <a:rPr lang="en-US" altLang="ko-KR" sz="16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BBBBBB"/>
                </a:solidFill>
                <a:latin typeface="Consolas" panose="020B0609020204030204" pitchFamily="49" charset="0"/>
              </a:rPr>
              <a:t>  )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16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아래쪽 화살표 11"/>
          <p:cNvSpPr/>
          <p:nvPr/>
        </p:nvSpPr>
        <p:spPr>
          <a:xfrm rot="16200000">
            <a:off x="5235919" y="4188713"/>
            <a:ext cx="360537" cy="643332"/>
          </a:xfrm>
          <a:prstGeom prst="downArrow">
            <a:avLst/>
          </a:prstGeom>
          <a:noFill/>
          <a:ln w="38100">
            <a:solidFill>
              <a:srgbClr val="6DC1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788" y="4582756"/>
            <a:ext cx="855418" cy="59879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61" y="4996671"/>
            <a:ext cx="6549951" cy="36975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9313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주석은 </a:t>
            </a:r>
            <a:r>
              <a:rPr lang="en-US" altLang="ko-KR" dirty="0">
                <a:solidFill>
                  <a:srgbClr val="6DC172"/>
                </a:solidFill>
              </a:rPr>
              <a:t>{/* </a:t>
            </a:r>
            <a:r>
              <a:rPr lang="ko-KR" altLang="en-US" dirty="0">
                <a:solidFill>
                  <a:srgbClr val="6DC172"/>
                </a:solidFill>
              </a:rPr>
              <a:t>이렇게 씁니다</a:t>
            </a:r>
            <a:r>
              <a:rPr lang="en-US" altLang="ko-KR" dirty="0">
                <a:solidFill>
                  <a:srgbClr val="6DC172"/>
                </a:solidFill>
              </a:rPr>
              <a:t>!*/}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F3DF49"/>
                </a:solidFill>
              </a:rPr>
              <a:t>JS</a:t>
            </a:r>
            <a:r>
              <a:rPr lang="en-US" altLang="ko-KR" dirty="0" err="1">
                <a:solidFill>
                  <a:srgbClr val="8A53A6"/>
                </a:solidFill>
              </a:rPr>
              <a:t>X</a:t>
            </a:r>
            <a:r>
              <a:rPr lang="en-US" altLang="ko-KR" dirty="0">
                <a:solidFill>
                  <a:srgbClr val="8A53A6"/>
                </a:solidFill>
              </a:rPr>
              <a:t>  6. </a:t>
            </a:r>
            <a:r>
              <a:rPr lang="ko-KR" altLang="en-US" dirty="0"/>
              <a:t>주석 사용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16168" y="2702803"/>
            <a:ext cx="7757375" cy="3139321"/>
          </a:xfrm>
          <a:prstGeom prst="rect">
            <a:avLst/>
          </a:prstGeom>
          <a:solidFill>
            <a:srgbClr val="07090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export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default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function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App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// return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밖에서는 기존의 </a:t>
            </a:r>
            <a:r>
              <a:rPr lang="en-US" altLang="ko-KR" i="1" dirty="0" err="1">
                <a:solidFill>
                  <a:srgbClr val="546E7A"/>
                </a:solidFill>
                <a:latin typeface="Consolas" panose="020B0609020204030204" pitchFamily="49" charset="0"/>
              </a:rPr>
              <a:t>Javascript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처럼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/*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주석을 사용하면 돼요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! */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</a:t>
            </a:r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주석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test!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/* return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내부에서주석사용은 이렇게 합니다 *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/*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물론 기존의 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ctrl + '/' </a:t>
            </a:r>
            <a:r>
              <a:rPr lang="ko-KR" altLang="en-US" i="1" dirty="0">
                <a:solidFill>
                  <a:srgbClr val="546E7A"/>
                </a:solidFill>
                <a:latin typeface="Consolas" panose="020B0609020204030204" pitchFamily="49" charset="0"/>
              </a:rPr>
              <a:t>단축키 이용하면 됩니다</a:t>
            </a:r>
            <a:r>
              <a:rPr lang="en-US" altLang="ko-KR" i="1" dirty="0">
                <a:solidFill>
                  <a:srgbClr val="546E7A"/>
                </a:solidFill>
                <a:latin typeface="Consolas" panose="020B0609020204030204" pitchFamily="49" charset="0"/>
              </a:rPr>
              <a:t>. */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&lt;/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&gt;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BBBBBB"/>
                </a:solidFill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78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ko-KR" altLang="en-US" dirty="0"/>
              <a:t>기존 </a:t>
            </a:r>
            <a:r>
              <a:rPr lang="en-US" altLang="ko-KR" dirty="0"/>
              <a:t>JavaScript </a:t>
            </a:r>
            <a:r>
              <a:rPr lang="ko-KR" altLang="en-US" dirty="0"/>
              <a:t>에서는 에러를 확인하기 위해서 </a:t>
            </a:r>
            <a:r>
              <a:rPr lang="en-US" altLang="ko-KR" dirty="0"/>
              <a:t>console</a:t>
            </a:r>
            <a:r>
              <a:rPr lang="ko-KR" altLang="en-US" dirty="0"/>
              <a:t>창으로 봐야하지만</a:t>
            </a:r>
            <a:r>
              <a:rPr lang="en-US" altLang="ko-KR" dirty="0"/>
              <a:t>, React</a:t>
            </a:r>
            <a:r>
              <a:rPr lang="ko-KR" altLang="en-US" dirty="0"/>
              <a:t>는 치명적인 버그일 경우에 화면에 바로 띄워줍니다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endParaRPr lang="en-US" altLang="ko-KR" dirty="0"/>
          </a:p>
          <a:p>
            <a:pPr marL="0" indent="0">
              <a:lnSpc>
                <a:spcPct val="160000"/>
              </a:lnSpc>
              <a:buNone/>
            </a:pPr>
            <a:endParaRPr lang="en-US" altLang="ko-KR" dirty="0"/>
          </a:p>
          <a:p>
            <a:pPr marL="0" indent="0">
              <a:lnSpc>
                <a:spcPct val="160000"/>
              </a:lnSpc>
              <a:buNone/>
            </a:pPr>
            <a:endParaRPr lang="en-US" altLang="ko-KR" dirty="0"/>
          </a:p>
          <a:p>
            <a:pPr>
              <a:lnSpc>
                <a:spcPct val="160000"/>
              </a:lnSpc>
            </a:pPr>
            <a:r>
              <a:rPr lang="en-US" altLang="ko-KR" dirty="0"/>
              <a:t>JS</a:t>
            </a:r>
            <a:r>
              <a:rPr lang="ko-KR" altLang="en-US" dirty="0"/>
              <a:t>의 문제점을 보완하고자 </a:t>
            </a:r>
            <a:r>
              <a:rPr lang="en-US" altLang="ko-KR" dirty="0"/>
              <a:t>strict mode </a:t>
            </a:r>
            <a:r>
              <a:rPr lang="ko-KR" altLang="en-US" dirty="0"/>
              <a:t>강제</a:t>
            </a:r>
            <a:r>
              <a:rPr lang="en-US" altLang="ko-KR" dirty="0"/>
              <a:t>! </a:t>
            </a:r>
          </a:p>
          <a:p>
            <a:pPr lvl="1">
              <a:lnSpc>
                <a:spcPct val="160000"/>
              </a:lnSpc>
            </a:pPr>
            <a:r>
              <a:rPr lang="ko-KR" altLang="en-US" dirty="0"/>
              <a:t>어디서 </a:t>
            </a:r>
            <a:r>
              <a:rPr lang="ko-KR" altLang="en-US"/>
              <a:t>실수 했는지까지 </a:t>
            </a:r>
            <a:r>
              <a:rPr lang="ko-KR" altLang="en-US" dirty="0"/>
              <a:t>자세히 제공하니 </a:t>
            </a:r>
            <a:r>
              <a:rPr lang="ko-KR" altLang="en-US" dirty="0">
                <a:solidFill>
                  <a:srgbClr val="FF5050"/>
                </a:solidFill>
              </a:rPr>
              <a:t>에러 창을 두려워하지 말고 에러메세지를 잘 읽어주세요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리액트의</a:t>
            </a:r>
            <a:r>
              <a:rPr lang="ko-KR" altLang="en-US" dirty="0"/>
              <a:t> 디버깅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8DBC1B-5901-7E2B-982F-F49F11DFC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230" y="2761684"/>
            <a:ext cx="4943770" cy="190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61678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</TotalTime>
  <Words>1698</Words>
  <Application>Microsoft Office PowerPoint</Application>
  <PresentationFormat>와이드스크린</PresentationFormat>
  <Paragraphs>289</Paragraphs>
  <Slides>20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Pretendard GOV</vt:lpstr>
      <vt:lpstr>맑은 고딕</vt:lpstr>
      <vt:lpstr>Arial</vt:lpstr>
      <vt:lpstr>Consolas</vt:lpstr>
      <vt:lpstr>Wingdings</vt:lpstr>
      <vt:lpstr>3_Office 테마</vt:lpstr>
      <vt:lpstr>웹 개발자 부트캠프 과정</vt:lpstr>
      <vt:lpstr>Compoment</vt:lpstr>
      <vt:lpstr>Component</vt:lpstr>
      <vt:lpstr>Component</vt:lpstr>
      <vt:lpstr>Component</vt:lpstr>
      <vt:lpstr>Component 트리 구조</vt:lpstr>
      <vt:lpstr>React 컴포넌트 종류</vt:lpstr>
      <vt:lpstr>Component 를 만드는 방법</vt:lpstr>
      <vt:lpstr>이렇게 생겼어요!</vt:lpstr>
      <vt:lpstr>JSX</vt:lpstr>
      <vt:lpstr>JSX</vt:lpstr>
      <vt:lpstr>JSX  1. 전체는 하나의 태그로 감싸야</vt:lpstr>
      <vt:lpstr>JSX  2. html with JS</vt:lpstr>
      <vt:lpstr>JSX  2. html with JS</vt:lpstr>
      <vt:lpstr>JSX  2. html with JS</vt:lpstr>
      <vt:lpstr>JSX  3. 인라인 style 적용</vt:lpstr>
      <vt:lpstr>JSX  4. class와 onclick</vt:lpstr>
      <vt:lpstr>JSX  5. closing tag</vt:lpstr>
      <vt:lpstr>JSX  6. 주석 사용</vt:lpstr>
      <vt:lpstr>리액트의 디버깅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108</cp:revision>
  <dcterms:created xsi:type="dcterms:W3CDTF">2022-06-26T11:10:22Z</dcterms:created>
  <dcterms:modified xsi:type="dcterms:W3CDTF">2024-07-29T05:57:39Z</dcterms:modified>
</cp:coreProperties>
</file>