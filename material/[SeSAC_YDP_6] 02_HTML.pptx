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  <p:sldMasterId id="2147483686" r:id="rId2"/>
  </p:sldMasterIdLst>
  <p:notesMasterIdLst>
    <p:notesMasterId r:id="rId66"/>
  </p:notesMasterIdLst>
  <p:sldIdLst>
    <p:sldId id="675" r:id="rId3"/>
    <p:sldId id="570" r:id="rId4"/>
    <p:sldId id="268" r:id="rId5"/>
    <p:sldId id="557" r:id="rId6"/>
    <p:sldId id="549" r:id="rId7"/>
    <p:sldId id="550" r:id="rId8"/>
    <p:sldId id="558" r:id="rId9"/>
    <p:sldId id="291" r:id="rId10"/>
    <p:sldId id="574" r:id="rId11"/>
    <p:sldId id="575" r:id="rId12"/>
    <p:sldId id="576" r:id="rId13"/>
    <p:sldId id="577" r:id="rId14"/>
    <p:sldId id="578" r:id="rId15"/>
    <p:sldId id="559" r:id="rId16"/>
    <p:sldId id="292" r:id="rId17"/>
    <p:sldId id="560" r:id="rId18"/>
    <p:sldId id="561" r:id="rId19"/>
    <p:sldId id="562" r:id="rId20"/>
    <p:sldId id="563" r:id="rId21"/>
    <p:sldId id="586" r:id="rId22"/>
    <p:sldId id="564" r:id="rId23"/>
    <p:sldId id="579" r:id="rId24"/>
    <p:sldId id="580" r:id="rId25"/>
    <p:sldId id="581" r:id="rId26"/>
    <p:sldId id="582" r:id="rId27"/>
    <p:sldId id="583" r:id="rId28"/>
    <p:sldId id="584" r:id="rId29"/>
    <p:sldId id="585" r:id="rId30"/>
    <p:sldId id="676" r:id="rId31"/>
    <p:sldId id="587" r:id="rId32"/>
    <p:sldId id="588" r:id="rId33"/>
    <p:sldId id="280" r:id="rId34"/>
    <p:sldId id="599" r:id="rId35"/>
    <p:sldId id="590" r:id="rId36"/>
    <p:sldId id="591" r:id="rId37"/>
    <p:sldId id="592" r:id="rId38"/>
    <p:sldId id="593" r:id="rId39"/>
    <p:sldId id="594" r:id="rId40"/>
    <p:sldId id="595" r:id="rId41"/>
    <p:sldId id="596" r:id="rId42"/>
    <p:sldId id="597" r:id="rId43"/>
    <p:sldId id="677" r:id="rId44"/>
    <p:sldId id="571" r:id="rId45"/>
    <p:sldId id="601" r:id="rId46"/>
    <p:sldId id="277" r:id="rId47"/>
    <p:sldId id="282" r:id="rId48"/>
    <p:sldId id="602" r:id="rId49"/>
    <p:sldId id="603" r:id="rId50"/>
    <p:sldId id="679" r:id="rId51"/>
    <p:sldId id="678" r:id="rId52"/>
    <p:sldId id="681" r:id="rId53"/>
    <p:sldId id="682" r:id="rId54"/>
    <p:sldId id="572" r:id="rId55"/>
    <p:sldId id="568" r:id="rId56"/>
    <p:sldId id="573" r:id="rId57"/>
    <p:sldId id="298" r:id="rId58"/>
    <p:sldId id="299" r:id="rId59"/>
    <p:sldId id="301" r:id="rId60"/>
    <p:sldId id="302" r:id="rId61"/>
    <p:sldId id="303" r:id="rId62"/>
    <p:sldId id="304" r:id="rId63"/>
    <p:sldId id="305" r:id="rId64"/>
    <p:sldId id="300" r:id="rId6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02" autoAdjust="0"/>
    <p:restoredTop sz="73684" autoAdjust="0"/>
  </p:normalViewPr>
  <p:slideViewPr>
    <p:cSldViewPr snapToGrid="0">
      <p:cViewPr varScale="1">
        <p:scale>
          <a:sx n="89" d="100"/>
          <a:sy n="89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1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사전지식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262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좋아하는 </a:t>
            </a:r>
            <a:r>
              <a:rPr lang="ko-KR" altLang="en-US" dirty="0" err="1"/>
              <a:t>미니언</a:t>
            </a:r>
            <a:r>
              <a:rPr lang="ko-KR" altLang="en-US" dirty="0"/>
              <a:t> 등장 </a:t>
            </a:r>
            <a:r>
              <a:rPr lang="en-US" altLang="ko-KR" dirty="0"/>
              <a:t>&gt;_&lt;</a:t>
            </a:r>
          </a:p>
          <a:p>
            <a:endParaRPr lang="en-US" altLang="ko-KR" dirty="0"/>
          </a:p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dirty="0"/>
              <a:t>- CSS: </a:t>
            </a:r>
            <a:r>
              <a:rPr lang="ko-KR" altLang="en-US" dirty="0"/>
              <a:t>형용사</a:t>
            </a:r>
            <a:endParaRPr lang="en-US" altLang="ko-KR" dirty="0"/>
          </a:p>
          <a:p>
            <a:r>
              <a:rPr lang="en-US" altLang="ko-KR" dirty="0"/>
              <a:t>- JS: </a:t>
            </a:r>
            <a:r>
              <a:rPr lang="ko-KR" altLang="en-US" dirty="0"/>
              <a:t>동사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33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4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006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10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09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시작태그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 err="1"/>
              <a:t>속성명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속성값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내용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종료태그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556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태그 안에 태그 중첩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403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17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924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883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734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r>
              <a:rPr lang="ko-KR" altLang="en-US" dirty="0"/>
              <a:t> 실습 </a:t>
            </a:r>
            <a:r>
              <a:rPr lang="en-US" altLang="ko-KR" dirty="0"/>
              <a:t>(kdt3rd-workspace/01_html/tag.html)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676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749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059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928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1929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36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60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상대경로와</a:t>
            </a:r>
            <a:r>
              <a:rPr lang="ko-KR" altLang="en-US" dirty="0"/>
              <a:t> </a:t>
            </a:r>
            <a:r>
              <a:rPr lang="ko-KR" altLang="en-US" dirty="0" err="1"/>
              <a:t>절대경로</a:t>
            </a:r>
            <a:endParaRPr lang="en-US" altLang="ko-KR" dirty="0"/>
          </a:p>
          <a:p>
            <a:r>
              <a:rPr lang="ko-KR" altLang="en-US" dirty="0" err="1"/>
              <a:t>상대경로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현재 위치를 기준으로 하여 목적지까지 </a:t>
            </a:r>
            <a:r>
              <a:rPr lang="ko-KR" altLang="en-US" dirty="0" err="1"/>
              <a:t>가는것</a:t>
            </a:r>
            <a:r>
              <a:rPr lang="en-US" altLang="ko-KR" dirty="0"/>
              <a:t>. </a:t>
            </a:r>
            <a:r>
              <a:rPr lang="ko-KR" altLang="en-US" dirty="0"/>
              <a:t>현재위치 기준  </a:t>
            </a:r>
            <a:r>
              <a:rPr lang="en-US" altLang="ko-KR" dirty="0"/>
              <a:t>&gt;&gt; ./</a:t>
            </a:r>
          </a:p>
          <a:p>
            <a:r>
              <a:rPr lang="ko-KR" altLang="en-US" dirty="0" err="1"/>
              <a:t>절대경로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최상위 디렉토리부터 해당 파일까지 경유하는 경로</a:t>
            </a:r>
            <a:r>
              <a:rPr lang="en-US" altLang="ko-KR" dirty="0"/>
              <a:t>.</a:t>
            </a:r>
            <a:r>
              <a:rPr lang="ko-KR" altLang="en-US" baseline="0" dirty="0"/>
              <a:t> 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최상위 파일</a:t>
            </a:r>
            <a:r>
              <a:rPr lang="en-US" altLang="ko-KR" baseline="0" dirty="0"/>
              <a:t>(</a:t>
            </a:r>
            <a:r>
              <a:rPr lang="ko-KR" altLang="en-US" baseline="0" dirty="0"/>
              <a:t>파일 여는 위치</a:t>
            </a:r>
            <a:r>
              <a:rPr lang="en-US" altLang="ko-KR" baseline="0" dirty="0"/>
              <a:t>)</a:t>
            </a:r>
            <a:r>
              <a:rPr lang="ko-KR" altLang="en-US" baseline="0" dirty="0"/>
              <a:t>가 달라지면 경로도 달라져야 함</a:t>
            </a:r>
            <a:r>
              <a:rPr lang="en-US" altLang="ko-KR" baseline="0" dirty="0"/>
              <a:t>. &gt;&gt; /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81615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310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1485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39648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7772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name</a:t>
            </a:r>
            <a:r>
              <a:rPr lang="ko-KR" altLang="en-US" dirty="0"/>
              <a:t>이라는 속성으로 하나의 그룹으로 묶는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6283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7422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15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7818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31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0915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2985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0353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6924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0115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262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4057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9971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9549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721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6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66956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8880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18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73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6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22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71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494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73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342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693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1D706-EEE4-39D8-5851-4A082407B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9B6194-185F-05C6-95B2-A6BB84BEA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F78136-463E-35D7-4552-75FA081E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2133C-2150-2F8D-E29C-6B874485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E01FF9-143C-26B5-9071-83749773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022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CB445-C721-8163-445C-56AAB5CB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386CA-7191-6323-BD1B-711F34FDB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B0F178-C892-3D24-9ED1-41FA4FA4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13D8A3-E083-830C-0C30-E551222F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2D1B2-00F8-C439-8793-202EEA99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434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3B4BCB-63AE-EC07-3C12-3B9AA9AD3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7E84DB-2898-4A9B-060A-2156F5447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2C3C0-3F9F-E6D4-99DA-E4B8089A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CBF688-12D5-7093-B841-E757439C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26DB54-AAA6-21A7-0716-3879008E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545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A0538-EC3D-7DE3-EE9F-EF97F6F3B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6D88CC-1689-6EEE-74AB-EF431536A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C19A02-D85E-5409-8FC1-3C6B35B42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7DFE69-911C-0508-4F2D-F7BFBD1D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C01AAE-C7DA-2CE1-D4CB-2E2815E7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B77DB5-8A9C-F56B-A4E6-D9D308FC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424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0E402-7F65-AC4D-C81C-ADACB951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2DF302-8486-746C-9DD1-5E5663244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EB5CE3-C61B-9302-A6C6-06B860D83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530B6C-AA40-7C15-CBEA-E59751E74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376E94-ABDE-2F5D-3874-857BA8103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F215C9F-B372-DD88-502F-60712035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0E1A53-314F-C792-ABE9-BCA50DDF8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BE614E-BAAA-9C2C-505A-6568951B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605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1125D-E927-1309-36D5-954F64AA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E42A66-C669-1C4F-6968-F2AED478D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CD2335-3AED-F62B-B756-825D5BFD0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7168BE-1DF3-6141-944C-2B784D07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489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AAF023-EA96-FDA4-B32D-B940C0F0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F1B634-5E5C-CA44-FB75-89FD28F9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BB3195-2935-65B0-5122-C52AF731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412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B81E9-CEFE-B2CE-A545-5606ABB8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6EC66-3D52-53A5-4088-E929D9B9C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E740C6-964F-9C10-5AD0-A8D646C07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0168D9-2008-665A-E4E4-3D619E7B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1CD306-5367-5DEE-454E-9A3000D5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F3DFBA-DD7A-1D5A-10E2-CAF629D0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327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1BF10-C041-A8AB-8D1E-0B765D70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98A44F-6CC5-4D07-59BE-54994FF9A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6B43E1-D4FE-9B22-8FE2-AC62E2B4F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180AF6-A9D1-F1FC-A06E-1C48E3EE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4FEB13-3A59-A243-350C-21971463D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BC1BC0-17FA-EA4D-867C-08E3C425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7686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B7206-7359-F670-2CF3-01F12E58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E710AC-C3E6-2D94-0CBB-92A8B233D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453DAF-8369-E147-553D-0B725219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5C727-5704-A814-3863-03906A7A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5FBD65-F46A-A3C0-F9C9-6975240B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065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8F3A4E-EA9F-9C5F-47C1-293848ABD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FBEC11-4682-3D79-09D7-786E73AF1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1EAB4F-72B5-4EBE-A601-28C0A71C7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17952-59D6-B955-2BC5-46EBC8A7A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8B56FE-2946-C982-4356-E43DF08D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96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6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1FC193-40D0-BCFD-25F3-78A77149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DAD5CA-1B8B-2C06-0381-EB90B3506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297A3-B411-FAFC-2E97-FEBFE9A10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31C3C-9957-41B2-9EF9-BC9D69040AAB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33C53F-EA43-4855-FC69-6FC19AE7F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1E2DB-B4B7-9CB7-BB77-407B24B1D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045C6-46ED-4558-BD67-E24000998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6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com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05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8140-662B-4C70-8D54-95183800525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76AA2F-B8E7-A2EF-0578-8EF88B06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52EA24-2D13-56F8-F480-D4CE1C25B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785" y="1124252"/>
            <a:ext cx="9312430" cy="460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4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7929-DE41-4EFD-B9A3-21C9B8736D52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9672635" y="286313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9619452" y="156579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9649445" y="416048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09D5B2F-BAE4-2D11-FD57-5737AF70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46" y="2655413"/>
            <a:ext cx="6705600" cy="622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600" b="1" dirty="0">
                <a:solidFill>
                  <a:schemeClr val="accent1"/>
                </a:solidFill>
              </a:rPr>
              <a:t>Hypertext Markup Language</a:t>
            </a:r>
            <a:endParaRPr lang="ko-KR" altLang="en-US" sz="3600" b="1" dirty="0">
              <a:solidFill>
                <a:schemeClr val="accent1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55FA2E-6F25-ED04-4010-07127101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ACD98A-296E-5205-6F3F-69AA5D2D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DA9F0D-8AC9-C950-4E29-CDDE1C43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207A9B6-6876-97C7-ABB0-E318FF6E2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63" y="1541235"/>
            <a:ext cx="2616476" cy="337123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91614D6-D49C-8B70-4966-325109E31AF1}"/>
              </a:ext>
            </a:extLst>
          </p:cNvPr>
          <p:cNvSpPr txBox="1">
            <a:spLocks/>
          </p:cNvSpPr>
          <p:nvPr/>
        </p:nvSpPr>
        <p:spPr>
          <a:xfrm>
            <a:off x="3975646" y="3614403"/>
            <a:ext cx="6705600" cy="6228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웹 페이지를 </a:t>
            </a:r>
            <a:r>
              <a:rPr lang="ko-KR" altLang="en-US"/>
              <a:t>구성하는 가장 기초적인 언어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3108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4372032-120B-9A0C-D8CA-6F064ABEE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757" y="2640502"/>
            <a:ext cx="10820404" cy="962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6000" dirty="0">
                <a:solidFill>
                  <a:srgbClr val="FF0000"/>
                </a:solidFill>
              </a:rPr>
              <a:t>Hypertext</a:t>
            </a:r>
            <a:r>
              <a:rPr lang="en-US" altLang="ko-KR" sz="4400" dirty="0"/>
              <a:t> </a:t>
            </a:r>
            <a:r>
              <a:rPr lang="en-US" altLang="ko-KR" sz="6000" dirty="0">
                <a:solidFill>
                  <a:srgbClr val="0070C0"/>
                </a:solidFill>
              </a:rPr>
              <a:t>Markup</a:t>
            </a:r>
            <a:r>
              <a:rPr lang="en-US" altLang="ko-KR" sz="4400" dirty="0"/>
              <a:t> Language</a:t>
            </a:r>
            <a:endParaRPr lang="ko-KR" altLang="en-US" sz="4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A93B80-D1A2-D6A3-3964-EC0BFB5B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4B4D81-70D0-E858-37B3-9D17CA66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EF3C5D1-1CAA-A3D2-29C0-1F3AE60AB798}"/>
              </a:ext>
            </a:extLst>
          </p:cNvPr>
          <p:cNvSpPr txBox="1">
            <a:spLocks/>
          </p:cNvSpPr>
          <p:nvPr/>
        </p:nvSpPr>
        <p:spPr>
          <a:xfrm>
            <a:off x="1182757" y="1439568"/>
            <a:ext cx="8163339" cy="11166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rgbClr val="FF0000"/>
                </a:solidFill>
              </a:rPr>
              <a:t>링크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웹 페이지에서 다른 페이지로 이동할 수 있도록 하는 것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DB91E2B-653F-6C18-95E5-160071529D9A}"/>
              </a:ext>
            </a:extLst>
          </p:cNvPr>
          <p:cNvSpPr txBox="1">
            <a:spLocks/>
          </p:cNvSpPr>
          <p:nvPr/>
        </p:nvSpPr>
        <p:spPr>
          <a:xfrm>
            <a:off x="1620336" y="3771555"/>
            <a:ext cx="8163339" cy="1116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rgbClr val="0070C0"/>
                </a:solidFill>
              </a:rPr>
              <a:t>마크업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문서나 데이터의 구조를 명기하는 언어</a:t>
            </a:r>
          </a:p>
        </p:txBody>
      </p:sp>
    </p:spTree>
    <p:extLst>
      <p:ext uri="{BB962C8B-B14F-4D97-AF65-F5344CB8AC3E}">
        <p14:creationId xmlns:p14="http://schemas.microsoft.com/office/powerpoint/2010/main" val="16664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16181-5C08-5EE6-6B67-D609775E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84782-6B9D-7CC7-FE35-B0999AAD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C69CDC-E9C2-360F-E5DA-BEBC3CE9D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931" y="1635881"/>
            <a:ext cx="6068321" cy="399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1BF078-1727-925A-CF31-A89190D36191}"/>
              </a:ext>
            </a:extLst>
          </p:cNvPr>
          <p:cNvSpPr txBox="1"/>
          <p:nvPr/>
        </p:nvSpPr>
        <p:spPr>
          <a:xfrm>
            <a:off x="671791" y="511419"/>
            <a:ext cx="57727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</a:rPr>
              <a:t>Hypertext</a:t>
            </a:r>
          </a:p>
          <a:p>
            <a:r>
              <a:rPr lang="en-US" altLang="ko-KR" sz="2000" dirty="0"/>
              <a:t>: </a:t>
            </a:r>
            <a:r>
              <a:rPr lang="ko-KR" altLang="en-US" sz="2000" dirty="0"/>
              <a:t>웹 페이지에서 다른 페이지로 이동할 수 있도록 하는 것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4863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16181-5C08-5EE6-6B67-D609775E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84782-6B9D-7CC7-FE35-B0999AAD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B5E08-CDC4-0054-D619-3EB8F985AD1D}"/>
              </a:ext>
            </a:extLst>
          </p:cNvPr>
          <p:cNvSpPr txBox="1"/>
          <p:nvPr/>
        </p:nvSpPr>
        <p:spPr>
          <a:xfrm>
            <a:off x="671791" y="511418"/>
            <a:ext cx="3788217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0070C0"/>
                </a:solidFill>
              </a:rPr>
              <a:t>Markup</a:t>
            </a:r>
            <a:r>
              <a:rPr lang="en-US" altLang="ko-KR" sz="3600" dirty="0">
                <a:solidFill>
                  <a:srgbClr val="F9A130"/>
                </a:solidFill>
              </a:rPr>
              <a:t/>
            </a:r>
            <a:br>
              <a:rPr lang="en-US" altLang="ko-KR" sz="3600" dirty="0">
                <a:solidFill>
                  <a:srgbClr val="F9A130"/>
                </a:solidFill>
              </a:rPr>
            </a:br>
            <a:r>
              <a:rPr lang="en-US" altLang="ko-KR" sz="2000" dirty="0"/>
              <a:t>: </a:t>
            </a:r>
            <a:r>
              <a:rPr lang="ko-KR" altLang="en-US" sz="2000" dirty="0"/>
              <a:t>문서나 데이터의 구조를 명기하다 </a:t>
            </a:r>
          </a:p>
          <a:p>
            <a:endParaRPr lang="ko-KR" altLang="en-US" sz="3600" dirty="0">
              <a:solidFill>
                <a:srgbClr val="F9A13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5EA069-3788-3460-1BDD-523F726F3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90545"/>
            <a:ext cx="9010644" cy="394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036C060-E889-021E-C1D0-70A306032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093" y="1997911"/>
            <a:ext cx="6243917" cy="4179865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HTML5 </a:t>
            </a:r>
            <a:r>
              <a:rPr lang="ko-KR" altLang="en-US" sz="2400" dirty="0"/>
              <a:t>문서는 반드시 </a:t>
            </a:r>
            <a:r>
              <a:rPr lang="en-US" altLang="ko-KR" sz="2400" dirty="0">
                <a:solidFill>
                  <a:srgbClr val="6EC173"/>
                </a:solidFill>
              </a:rPr>
              <a:t>&lt;!DOCTYPE html&gt;</a:t>
            </a:r>
            <a:r>
              <a:rPr lang="ko-KR" altLang="en-US" sz="2400" dirty="0"/>
              <a:t>으로 시작하여 문서 형식을 </a:t>
            </a:r>
            <a:r>
              <a:rPr lang="en-US" altLang="ko-KR" sz="2400" dirty="0"/>
              <a:t>HTML5</a:t>
            </a:r>
            <a:r>
              <a:rPr lang="ko-KR" altLang="en-US" sz="2400" dirty="0"/>
              <a:t>로 지정</a:t>
            </a:r>
            <a:endParaRPr lang="en-US" altLang="ko-KR" sz="2400" dirty="0"/>
          </a:p>
          <a:p>
            <a:r>
              <a:rPr lang="ko-KR" altLang="en-US" sz="2400" dirty="0"/>
              <a:t>실제적인 </a:t>
            </a:r>
            <a:r>
              <a:rPr lang="en-US" altLang="ko-KR" sz="2400" dirty="0"/>
              <a:t>HTML </a:t>
            </a:r>
            <a:r>
              <a:rPr lang="ko-KR" altLang="en-US" sz="2400" dirty="0"/>
              <a:t>문서는 </a:t>
            </a:r>
            <a:r>
              <a:rPr lang="en-US" altLang="ko-KR" sz="2400" dirty="0"/>
              <a:t>2</a:t>
            </a:r>
            <a:r>
              <a:rPr lang="ko-KR" altLang="en-US" sz="2400" dirty="0"/>
              <a:t>번째 행부터 시작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en-US" altLang="ko-KR" sz="2400" dirty="0">
                <a:solidFill>
                  <a:srgbClr val="6EC173"/>
                </a:solidFill>
              </a:rPr>
              <a:t>&lt;html&gt;</a:t>
            </a:r>
            <a:r>
              <a:rPr lang="ko-KR" altLang="en-US" sz="2400" dirty="0">
                <a:solidFill>
                  <a:srgbClr val="6EC173"/>
                </a:solidFill>
              </a:rPr>
              <a:t>과 </a:t>
            </a:r>
            <a:r>
              <a:rPr lang="en-US" altLang="ko-KR" sz="2400" dirty="0">
                <a:solidFill>
                  <a:srgbClr val="6EC173"/>
                </a:solidFill>
              </a:rPr>
              <a:t>&lt;/html&gt; </a:t>
            </a:r>
            <a:r>
              <a:rPr lang="ko-KR" altLang="en-US" sz="2400" dirty="0"/>
              <a:t>사이에 작성</a:t>
            </a:r>
            <a:endParaRPr lang="en-US" altLang="ko-KR" sz="2400" dirty="0"/>
          </a:p>
          <a:p>
            <a:r>
              <a:rPr lang="en-US" altLang="ko-KR" sz="2400" dirty="0">
                <a:solidFill>
                  <a:srgbClr val="6EC173"/>
                </a:solidFill>
              </a:rPr>
              <a:t>&lt;head&gt;</a:t>
            </a:r>
            <a:r>
              <a:rPr lang="ko-KR" altLang="en-US" sz="2400" dirty="0">
                <a:solidFill>
                  <a:srgbClr val="6EC173"/>
                </a:solidFill>
              </a:rPr>
              <a:t>와 </a:t>
            </a:r>
            <a:r>
              <a:rPr lang="en-US" altLang="ko-KR" sz="2400" dirty="0">
                <a:solidFill>
                  <a:srgbClr val="6EC173"/>
                </a:solidFill>
              </a:rPr>
              <a:t>&lt;/head&gt; </a:t>
            </a:r>
            <a:r>
              <a:rPr lang="ko-KR" altLang="en-US" sz="2400" dirty="0"/>
              <a:t>사이에는 </a:t>
            </a:r>
            <a:r>
              <a:rPr lang="en-US" altLang="ko-KR" sz="2400" dirty="0">
                <a:solidFill>
                  <a:srgbClr val="6EC173"/>
                </a:solidFill>
              </a:rPr>
              <a:t>HTML </a:t>
            </a:r>
            <a:r>
              <a:rPr lang="ko-KR" altLang="en-US" sz="2400" dirty="0">
                <a:solidFill>
                  <a:srgbClr val="6EC173"/>
                </a:solidFill>
              </a:rPr>
              <a:t>문서 정보</a:t>
            </a:r>
            <a:r>
              <a:rPr lang="ko-KR" altLang="en-US" sz="2400" dirty="0"/>
              <a:t>를 정의하는 코드가 포함된다</a:t>
            </a:r>
            <a:r>
              <a:rPr lang="en-US" altLang="ko-KR" sz="2400" dirty="0"/>
              <a:t>.(</a:t>
            </a:r>
            <a:r>
              <a:rPr lang="ko-KR" altLang="en-US" sz="2400" dirty="0"/>
              <a:t>제목</a:t>
            </a:r>
            <a:r>
              <a:rPr lang="en-US" altLang="ko-KR" sz="2400" dirty="0"/>
              <a:t>, </a:t>
            </a:r>
            <a:r>
              <a:rPr lang="ko-KR" altLang="en-US" sz="2400" dirty="0"/>
              <a:t>저장 방식</a:t>
            </a:r>
            <a:r>
              <a:rPr lang="en-US" altLang="ko-KR" sz="2400" dirty="0"/>
              <a:t>, </a:t>
            </a:r>
            <a:r>
              <a:rPr lang="ko-KR" altLang="en-US" sz="2400" dirty="0"/>
              <a:t>브라우저의 크기 등등</a:t>
            </a:r>
            <a:r>
              <a:rPr lang="en-US" altLang="ko-KR" sz="2400" dirty="0"/>
              <a:t>)</a:t>
            </a:r>
            <a:endParaRPr lang="en-US" altLang="ko-KR" sz="2400" dirty="0">
              <a:solidFill>
                <a:srgbClr val="0070C0"/>
              </a:solidFill>
            </a:endParaRPr>
          </a:p>
          <a:p>
            <a:r>
              <a:rPr lang="ko-KR" altLang="en-US" sz="2400" dirty="0"/>
              <a:t>웹 브라우저에 출력되는 모든 요소는 </a:t>
            </a:r>
            <a:r>
              <a:rPr lang="en-US" altLang="ko-KR" sz="2400" dirty="0">
                <a:solidFill>
                  <a:srgbClr val="6EC173"/>
                </a:solidFill>
              </a:rPr>
              <a:t>&lt;body&gt;</a:t>
            </a:r>
            <a:r>
              <a:rPr lang="ko-KR" altLang="en-US" sz="2400" dirty="0">
                <a:solidFill>
                  <a:srgbClr val="6EC173"/>
                </a:solidFill>
              </a:rPr>
              <a:t>와 </a:t>
            </a:r>
            <a:r>
              <a:rPr lang="en-US" altLang="ko-KR" sz="2400" dirty="0">
                <a:solidFill>
                  <a:srgbClr val="6EC173"/>
                </a:solidFill>
              </a:rPr>
              <a:t>&lt;/body&gt;</a:t>
            </a:r>
            <a:r>
              <a:rPr lang="en-US" altLang="ko-KR" sz="2400" dirty="0">
                <a:solidFill>
                  <a:srgbClr val="00B050"/>
                </a:solidFill>
              </a:rPr>
              <a:t> </a:t>
            </a:r>
            <a:r>
              <a:rPr lang="ko-KR" altLang="en-US" sz="2400" dirty="0"/>
              <a:t>사이에 위치한다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95D9-1944-4F99-AAE6-350D623C222B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구조 설명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5EB7512-E5A1-ACEF-C930-9E8D8B4EE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97911"/>
            <a:ext cx="4543228" cy="331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792F4-5D40-2971-5B93-B0A5877B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dirty="0"/>
              <a:t>HTML </a:t>
            </a:r>
            <a:r>
              <a:rPr lang="ko-KR" altLang="en-US" dirty="0"/>
              <a:t>문서의 </a:t>
            </a:r>
            <a:r>
              <a:rPr lang="ko-KR" altLang="en-US" dirty="0">
                <a:solidFill>
                  <a:schemeClr val="accent3"/>
                </a:solidFill>
              </a:rPr>
              <a:t>메타 데이터</a:t>
            </a:r>
            <a:r>
              <a:rPr lang="ko-KR" altLang="en-US" dirty="0"/>
              <a:t>와 문서 정보를 정의하는 데 사용되는 태그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메타 데이터</a:t>
            </a:r>
            <a:r>
              <a:rPr lang="en-US" altLang="ko-KR" dirty="0"/>
              <a:t>: </a:t>
            </a:r>
            <a:r>
              <a:rPr lang="ko-KR" altLang="en-US" dirty="0"/>
              <a:t>데이터에 대한 정보를 제공하는 데이터</a:t>
            </a:r>
            <a:endParaRPr lang="en-US" altLang="ko-KR" dirty="0"/>
          </a:p>
          <a:p>
            <a:pPr>
              <a:lnSpc>
                <a:spcPct val="110000"/>
              </a:lnSpc>
            </a:pPr>
            <a:r>
              <a:rPr lang="en-US" altLang="ko-KR" dirty="0"/>
              <a:t>HTML </a:t>
            </a:r>
            <a:r>
              <a:rPr lang="ko-KR" altLang="en-US" dirty="0"/>
              <a:t>문서의 </a:t>
            </a:r>
            <a:r>
              <a:rPr lang="en-US" altLang="ko-KR" dirty="0">
                <a:solidFill>
                  <a:schemeClr val="accent1"/>
                </a:solidFill>
              </a:rPr>
              <a:t>title, style, link, script, meta </a:t>
            </a:r>
            <a:r>
              <a:rPr lang="ko-KR" altLang="en-US" dirty="0"/>
              <a:t>에 대한 데이터로 화면에 표시되지 않음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title</a:t>
            </a:r>
            <a:r>
              <a:rPr lang="en-US" altLang="ko-KR" dirty="0"/>
              <a:t> : HTML </a:t>
            </a:r>
            <a:r>
              <a:rPr lang="ko-KR" altLang="en-US" dirty="0"/>
              <a:t>문서의 제목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style</a:t>
            </a:r>
            <a:r>
              <a:rPr lang="en-US" altLang="ko-KR" dirty="0"/>
              <a:t> : HTML </a:t>
            </a:r>
            <a:r>
              <a:rPr lang="ko-KR" altLang="en-US" dirty="0"/>
              <a:t>문서의 </a:t>
            </a:r>
            <a:r>
              <a:rPr lang="en-US" altLang="ko-KR" dirty="0"/>
              <a:t>Style </a:t>
            </a:r>
            <a:r>
              <a:rPr lang="ko-KR" altLang="en-US" dirty="0"/>
              <a:t>정보 정의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link</a:t>
            </a:r>
            <a:r>
              <a:rPr lang="en-US" altLang="ko-KR" dirty="0"/>
              <a:t> : </a:t>
            </a:r>
            <a:r>
              <a:rPr lang="ko-KR" altLang="en-US" dirty="0"/>
              <a:t>외부 리소스와의 연결 정보를 정의</a:t>
            </a:r>
            <a:r>
              <a:rPr lang="en-US" altLang="ko-KR" dirty="0"/>
              <a:t>(CSS </a:t>
            </a:r>
            <a:r>
              <a:rPr lang="ko-KR" altLang="en-US" dirty="0"/>
              <a:t>파일 연계에 사용</a:t>
            </a:r>
            <a:r>
              <a:rPr lang="en-US" altLang="ko-KR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script</a:t>
            </a:r>
            <a:r>
              <a:rPr lang="en-US" altLang="ko-KR" dirty="0"/>
              <a:t> : JavaScript </a:t>
            </a:r>
            <a:r>
              <a:rPr lang="ko-KR" altLang="en-US" dirty="0"/>
              <a:t>를 정의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meta</a:t>
            </a:r>
            <a:r>
              <a:rPr lang="en-US" altLang="ko-KR" dirty="0"/>
              <a:t> : </a:t>
            </a:r>
            <a:r>
              <a:rPr lang="ko-KR" altLang="en-US" dirty="0"/>
              <a:t>페이지 설명</a:t>
            </a:r>
            <a:r>
              <a:rPr lang="en-US" altLang="ko-KR" dirty="0"/>
              <a:t>, </a:t>
            </a:r>
            <a:r>
              <a:rPr lang="ko-KR" altLang="en-US" dirty="0"/>
              <a:t>키워드</a:t>
            </a:r>
            <a:r>
              <a:rPr lang="en-US" altLang="ko-KR" dirty="0"/>
              <a:t>, </a:t>
            </a:r>
            <a:r>
              <a:rPr lang="ko-KR" altLang="en-US" dirty="0"/>
              <a:t>저자</a:t>
            </a:r>
            <a:r>
              <a:rPr lang="en-US" altLang="ko-KR" dirty="0"/>
              <a:t>, </a:t>
            </a:r>
            <a:r>
              <a:rPr lang="ko-KR" altLang="en-US" dirty="0"/>
              <a:t>화면 크기 등의 정보</a:t>
            </a:r>
            <a:r>
              <a:rPr lang="en-US" altLang="ko-KR" dirty="0"/>
              <a:t>. </a:t>
            </a:r>
            <a:r>
              <a:rPr lang="ko-KR" altLang="en-US" dirty="0"/>
              <a:t>주로 브라우저 또는 검색 엔진에서 사용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450A5-EEAC-4EB9-A4BB-3194074132F5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5FF601-A502-9895-27BB-EA75BBFE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&lt;head&gt;</a:t>
            </a:r>
            <a:r>
              <a:rPr lang="en-US" altLang="ko-KR" dirty="0"/>
              <a:t> </a:t>
            </a:r>
            <a:r>
              <a:rPr lang="ko-KR" altLang="en-US" dirty="0"/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163853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792F4-5D40-2971-5B93-B0A5877B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HTML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ko-KR" altLang="en-US" dirty="0"/>
              <a:t>문서의 </a:t>
            </a:r>
            <a:r>
              <a:rPr lang="ko-KR" altLang="en-US" dirty="0">
                <a:solidFill>
                  <a:schemeClr val="accent3"/>
                </a:solidFill>
              </a:rPr>
              <a:t>실제 콘텐츠</a:t>
            </a:r>
            <a:r>
              <a:rPr lang="ko-KR" altLang="en-US" dirty="0"/>
              <a:t>를 정의하는 데 사용되는 태그</a:t>
            </a:r>
            <a:endParaRPr lang="en-US" altLang="ko-KR" dirty="0"/>
          </a:p>
          <a:p>
            <a:r>
              <a:rPr lang="ko-KR" altLang="en-US" dirty="0"/>
              <a:t>다양한 태그를 사용하여 웹 페이지의 구조를 설계할 수 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0A541-7613-44B4-B513-FCD596176F9F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5FF601-A502-9895-27BB-EA75BBFE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&lt;body&gt; </a:t>
            </a:r>
            <a:r>
              <a:rPr lang="ko-KR" altLang="en-US" dirty="0"/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487490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8728ACB7-8FD9-8BA8-7376-9DCC1F90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082" y="1529112"/>
            <a:ext cx="6696634" cy="49700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&lt;html&gt;&lt;/html&gt;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은 웹페이지를 구성하는 모든 요소들을 포함한다</a:t>
            </a:r>
            <a:endParaRPr lang="en-US" altLang="ko-KR" sz="2400" b="0" i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예제를 보면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&lt;html&gt;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은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&lt;head&gt;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와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&lt;body&gt;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를 포함하며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&lt;head&gt;</a:t>
            </a:r>
            <a:r>
              <a:rPr lang="en-US" altLang="ko-KR" sz="2400" b="0" i="0" dirty="0">
                <a:solidFill>
                  <a:srgbClr val="333333"/>
                </a:solidFill>
                <a:effectLst/>
              </a:rPr>
              <a:t>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는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&lt;meta&gt;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ko-KR" altLang="en-US" sz="2400" b="0" i="0" dirty="0">
                <a:effectLst/>
              </a:rPr>
              <a:t>와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&lt;title&gt;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요소를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&lt;body&gt;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요소는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&lt;h1&gt;, &lt;p&gt;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를 포함</a:t>
            </a:r>
            <a:endParaRPr lang="en-US" altLang="ko-KR" sz="2400" b="0" i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2400" b="0" i="0" dirty="0">
                <a:solidFill>
                  <a:schemeClr val="accent3"/>
                </a:solidFill>
                <a:effectLst/>
              </a:rPr>
              <a:t>중첩 관계</a:t>
            </a:r>
            <a:r>
              <a:rPr lang="en-US" altLang="ko-KR" sz="2400" b="0" i="0" dirty="0">
                <a:solidFill>
                  <a:schemeClr val="accent3"/>
                </a:solidFill>
                <a:effectLst/>
              </a:rPr>
              <a:t>(</a:t>
            </a:r>
            <a:r>
              <a:rPr lang="ko-KR" altLang="en-US" sz="2400" b="0" i="0" dirty="0">
                <a:solidFill>
                  <a:schemeClr val="accent3"/>
                </a:solidFill>
                <a:effectLst/>
              </a:rPr>
              <a:t>부모자식 관계</a:t>
            </a:r>
            <a:r>
              <a:rPr lang="en-US" altLang="ko-KR" sz="2400" b="0" i="0" dirty="0">
                <a:solidFill>
                  <a:schemeClr val="accent3"/>
                </a:solidFill>
                <a:effectLst/>
              </a:rPr>
              <a:t>)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로 웹페이지의 </a:t>
            </a:r>
            <a:r>
              <a:rPr lang="ko-KR" altLang="en-US" sz="2400" b="0" i="0" dirty="0">
                <a:solidFill>
                  <a:schemeClr val="accent3"/>
                </a:solidFill>
                <a:effectLst/>
              </a:rPr>
              <a:t>구조</a:t>
            </a:r>
            <a:r>
              <a:rPr lang="en-US" altLang="ko-KR" sz="2400" b="0" i="0" dirty="0">
                <a:solidFill>
                  <a:schemeClr val="accent3"/>
                </a:solidFill>
                <a:effectLst/>
              </a:rPr>
              <a:t>(structure)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를 표현한다</a:t>
            </a:r>
            <a:endParaRPr lang="ko-KR" altLang="en-US" sz="240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54F0-E21D-4792-A98D-B7ACEB0EFA6C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기본</a:t>
            </a:r>
            <a:r>
              <a:rPr lang="en-US" altLang="ko-KR" dirty="0"/>
              <a:t> </a:t>
            </a:r>
            <a:r>
              <a:rPr lang="ko-KR" altLang="en-US" dirty="0"/>
              <a:t>문법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chemeClr val="accent1"/>
                </a:solidFill>
              </a:rPr>
              <a:t>중첩</a:t>
            </a:r>
            <a:r>
              <a:rPr lang="en-US" altLang="ko-KR" dirty="0">
                <a:solidFill>
                  <a:schemeClr val="accent1"/>
                </a:solidFill>
              </a:rPr>
              <a:t>(Nested)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9B1002-B4C4-0069-28BA-3DC7BC0D9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09" y="1936021"/>
            <a:ext cx="4253505" cy="310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17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51F228-30DC-7E5C-B825-3983EE129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3835"/>
            <a:ext cx="10515600" cy="28331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chemeClr val="accent1"/>
                </a:solidFill>
                <a:effectLst/>
              </a:rPr>
              <a:t>주석</a:t>
            </a:r>
            <a:r>
              <a:rPr lang="en-US" altLang="ko-KR" b="0" i="0" dirty="0">
                <a:solidFill>
                  <a:schemeClr val="accent1"/>
                </a:solidFill>
                <a:effectLst/>
              </a:rPr>
              <a:t>(comment)</a:t>
            </a:r>
            <a:r>
              <a:rPr lang="ko-KR" altLang="en-US" b="0" i="0" dirty="0">
                <a:solidFill>
                  <a:srgbClr val="333333"/>
                </a:solidFill>
                <a:effectLst/>
              </a:rPr>
              <a:t>는 개발자에게 코드를 설명하기 위해 사용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rgbClr val="333333"/>
                </a:solidFill>
                <a:effectLst/>
              </a:rPr>
              <a:t>브라우저는 주석을 </a:t>
            </a:r>
            <a:r>
              <a:rPr lang="ko-KR" altLang="en-US" b="0" i="0" dirty="0">
                <a:solidFill>
                  <a:schemeClr val="accent1"/>
                </a:solidFill>
                <a:effectLst/>
              </a:rPr>
              <a:t>화면에 표시하지 않는다</a:t>
            </a:r>
            <a:r>
              <a:rPr lang="en-US" altLang="ko-KR" b="0" i="0" dirty="0">
                <a:solidFill>
                  <a:schemeClr val="accent1"/>
                </a:solidFill>
                <a:effectLst/>
              </a:rPr>
              <a:t>.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C937-8F0D-4DAD-A6A4-A8429524E696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기본</a:t>
            </a:r>
            <a:r>
              <a:rPr lang="en-US" altLang="ko-KR" dirty="0"/>
              <a:t> </a:t>
            </a:r>
            <a:r>
              <a:rPr lang="ko-KR" altLang="en-US" dirty="0"/>
              <a:t>문법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chemeClr val="accent1"/>
                </a:solidFill>
              </a:rPr>
              <a:t>주석</a:t>
            </a:r>
            <a:r>
              <a:rPr lang="en-US" altLang="ko-KR" dirty="0">
                <a:solidFill>
                  <a:schemeClr val="accent1"/>
                </a:solidFill>
              </a:rPr>
              <a:t>(Comments)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DBF26C-F16D-CF0D-F799-FC4CD8E3A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03" y="2024285"/>
            <a:ext cx="6234235" cy="105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4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256-BEB0-4A39-999F-E0158C3C0E74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77678F-3155-444E-80B9-FEFD8473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태그는 어떻게 생겼을까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205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5DE55960-81DC-6A9E-3F18-F60051465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82" y="1782763"/>
            <a:ext cx="988123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820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6D6DB-DFAE-8D18-9B06-1CB5441D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010" y="1418328"/>
            <a:ext cx="45471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600" dirty="0">
                <a:highlight>
                  <a:srgbClr val="FFFF00"/>
                </a:highlight>
              </a:rPr>
              <a:t>&lt;html&gt;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FFFF00"/>
                </a:highlight>
              </a:rPr>
              <a:t>&lt;head&gt;</a:t>
            </a:r>
            <a:r>
              <a:rPr lang="en-US" altLang="ko-KR" sz="3600" dirty="0"/>
              <a:t>  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00FFFF"/>
                </a:highlight>
              </a:rPr>
              <a:t>&lt;/head&gt;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FFFF00"/>
                </a:highlight>
              </a:rPr>
              <a:t>&lt;body&gt;</a:t>
            </a:r>
            <a:endParaRPr lang="en-US" altLang="ko-KR" sz="3600" dirty="0"/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00FFFF"/>
                </a:highlight>
              </a:rPr>
              <a:t>&lt;/body&gt;</a:t>
            </a:r>
          </a:p>
          <a:p>
            <a:pPr marL="0" indent="0">
              <a:buNone/>
            </a:pPr>
            <a:r>
              <a:rPr lang="en-US" altLang="ko-KR" sz="3600" dirty="0">
                <a:highlight>
                  <a:srgbClr val="00FFFF"/>
                </a:highlight>
              </a:rPr>
              <a:t>&lt;/html&gt;</a:t>
            </a:r>
            <a:endParaRPr lang="ko-KR" altLang="en-US" sz="3600" dirty="0">
              <a:highlight>
                <a:srgbClr val="00FFFF"/>
              </a:highlight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256-BEB0-4A39-999F-E0158C3C0E74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77678F-3155-444E-80B9-FEFD8473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1) </a:t>
            </a:r>
            <a:r>
              <a:rPr lang="ko-KR" altLang="en-US" dirty="0"/>
              <a:t>태그</a:t>
            </a:r>
          </a:p>
        </p:txBody>
      </p:sp>
      <p:pic>
        <p:nvPicPr>
          <p:cNvPr id="7" name="Picture 4" descr="HTML 요소 - 위키백과, 우리 모두의 백과사전">
            <a:extLst>
              <a:ext uri="{FF2B5EF4-FFF2-40B4-BE49-F238E27FC236}">
                <a16:creationId xmlns:a16="http://schemas.microsoft.com/office/drawing/2014/main" id="{86029549-3D8D-1F00-95ED-64F31D942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895" y="613570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122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45B51-F6E2-FA62-85F4-3EE05650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56246"/>
          </a:xfrm>
        </p:spPr>
        <p:txBody>
          <a:bodyPr/>
          <a:lstStyle/>
          <a:p>
            <a:r>
              <a:rPr lang="ko-KR" altLang="en-US" dirty="0"/>
              <a:t>시작태그와 종료태그</a:t>
            </a:r>
            <a:r>
              <a:rPr lang="en-US" altLang="ko-KR" dirty="0"/>
              <a:t>, </a:t>
            </a:r>
            <a:r>
              <a:rPr lang="ko-KR" altLang="en-US" dirty="0"/>
              <a:t>그 사이의 내용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8A8E-4312-471C-9717-F71E32010857}" type="datetime6">
              <a:rPr lang="ko-KR" altLang="en-US" smtClean="0"/>
              <a:t>2024년 11월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9FB62B-4777-531E-AF43-813902DC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838200" y="2359882"/>
            <a:ext cx="10515600" cy="288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3200" b="1" dirty="0">
                <a:solidFill>
                  <a:schemeClr val="accent1"/>
                </a:solidFill>
                <a:latin typeface="+mn-ea"/>
              </a:rPr>
              <a:t>① 빈 요소 </a:t>
            </a:r>
            <a:r>
              <a:rPr lang="en-US" altLang="ko-KR" sz="3200" b="1" dirty="0">
                <a:solidFill>
                  <a:schemeClr val="accent1"/>
                </a:solidFill>
                <a:latin typeface="+mn-ea"/>
              </a:rPr>
              <a:t>(Empty Element)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내용 없이 구조적인 기능</a:t>
            </a:r>
            <a:r>
              <a:rPr lang="ko-KR" altLang="en-US" dirty="0">
                <a:latin typeface="+mn-ea"/>
              </a:rPr>
              <a:t>만 하는 요소</a:t>
            </a: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 (ex)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br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&gt;, &lt;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ko-KR" altLang="en-US" dirty="0">
              <a:latin typeface="+mn-ea"/>
            </a:endParaRPr>
          </a:p>
        </p:txBody>
      </p:sp>
      <p:pic>
        <p:nvPicPr>
          <p:cNvPr id="8" name="Picture 4" descr="HTML 요소 - 위키백과, 우리 모두의 백과사전">
            <a:extLst>
              <a:ext uri="{FF2B5EF4-FFF2-40B4-BE49-F238E27FC236}">
                <a16:creationId xmlns:a16="http://schemas.microsoft.com/office/drawing/2014/main" id="{4662BD42-EEE8-A053-E6E2-C3F5797A5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895" y="613570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136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45B51-F6E2-FA62-85F4-3EE05650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56246"/>
          </a:xfrm>
        </p:spPr>
        <p:txBody>
          <a:bodyPr/>
          <a:lstStyle/>
          <a:p>
            <a:r>
              <a:rPr lang="ko-KR" altLang="en-US" dirty="0"/>
              <a:t>시작태그와 종료태그</a:t>
            </a:r>
            <a:r>
              <a:rPr lang="en-US" altLang="ko-KR" dirty="0"/>
              <a:t>, </a:t>
            </a:r>
            <a:r>
              <a:rPr lang="ko-KR" altLang="en-US" dirty="0"/>
              <a:t>그 사이의 내용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C24C-673B-40D3-9753-EEA1C8CCD9D4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9FB62B-4777-531E-AF43-813902DC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838200" y="2359882"/>
            <a:ext cx="10515600" cy="28813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3200" b="1" dirty="0">
                <a:solidFill>
                  <a:schemeClr val="accent1"/>
                </a:solidFill>
                <a:latin typeface="+mn-ea"/>
              </a:rPr>
              <a:t>② 블록 요소 </a:t>
            </a:r>
            <a:r>
              <a:rPr lang="en-US" altLang="ko-KR" sz="3200" b="1" dirty="0">
                <a:solidFill>
                  <a:schemeClr val="accent1"/>
                </a:solidFill>
                <a:latin typeface="+mn-ea"/>
              </a:rPr>
              <a:t>(Block Element)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 - </a:t>
            </a:r>
            <a:r>
              <a:rPr lang="ko-KR" altLang="en-US" dirty="0">
                <a:latin typeface="+mn-ea"/>
              </a:rPr>
              <a:t>기본적으로 부모 요소의 전체 너비</a:t>
            </a:r>
            <a:r>
              <a:rPr lang="en-US" altLang="ko-KR" dirty="0">
                <a:latin typeface="+mn-ea"/>
              </a:rPr>
              <a:t>(100%)</a:t>
            </a:r>
            <a:r>
              <a:rPr lang="ko-KR" altLang="en-US" dirty="0">
                <a:latin typeface="+mn-ea"/>
              </a:rPr>
              <a:t>를 차지한다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 - </a:t>
            </a:r>
            <a:r>
              <a:rPr lang="ko-KR" altLang="en-US" dirty="0">
                <a:latin typeface="+mn-ea"/>
              </a:rPr>
              <a:t>태그가 시작되면 무조건 </a:t>
            </a:r>
            <a:r>
              <a:rPr lang="ko-KR" altLang="en-US" dirty="0" err="1">
                <a:highlight>
                  <a:srgbClr val="FFFF00"/>
                </a:highlight>
                <a:latin typeface="+mn-ea"/>
              </a:rPr>
              <a:t>개행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dirty="0" err="1">
                <a:highlight>
                  <a:srgbClr val="FFFF00"/>
                </a:highlight>
                <a:latin typeface="+mn-ea"/>
              </a:rPr>
              <a:t>줄바꿈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이 일어난다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 - </a:t>
            </a:r>
            <a:r>
              <a:rPr lang="ko-KR" altLang="en-US" dirty="0">
                <a:latin typeface="+mn-ea"/>
              </a:rPr>
              <a:t>모든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인라인 요소를 포함</a:t>
            </a:r>
            <a:r>
              <a:rPr lang="ko-KR" altLang="en-US" dirty="0">
                <a:latin typeface="+mn-ea"/>
              </a:rPr>
              <a:t>하거나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다른 블록 요소를 포함</a:t>
            </a:r>
            <a:r>
              <a:rPr lang="ko-KR" altLang="en-US" dirty="0">
                <a:latin typeface="+mn-ea"/>
              </a:rPr>
              <a:t>한다</a:t>
            </a:r>
            <a:r>
              <a:rPr lang="en-US" altLang="ko-KR" dirty="0">
                <a:latin typeface="+mn-ea"/>
              </a:rPr>
              <a:t>.     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 (ex) 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&lt;h1&gt;&lt;/h1&gt;, &lt;div&gt;&lt;/div&gt;, &lt;p&gt;&lt;/p&gt;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ko-KR" altLang="en-US" dirty="0">
              <a:latin typeface="+mn-ea"/>
            </a:endParaRPr>
          </a:p>
        </p:txBody>
      </p:sp>
      <p:pic>
        <p:nvPicPr>
          <p:cNvPr id="8" name="Picture 4" descr="HTML 요소 - 위키백과, 우리 모두의 백과사전">
            <a:extLst>
              <a:ext uri="{FF2B5EF4-FFF2-40B4-BE49-F238E27FC236}">
                <a16:creationId xmlns:a16="http://schemas.microsoft.com/office/drawing/2014/main" id="{E58C4D9C-B676-CF70-3810-E5A5645C2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895" y="613570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446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45B51-F6E2-FA62-85F4-3EE05650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56246"/>
          </a:xfrm>
        </p:spPr>
        <p:txBody>
          <a:bodyPr/>
          <a:lstStyle/>
          <a:p>
            <a:r>
              <a:rPr lang="ko-KR" altLang="en-US" dirty="0"/>
              <a:t>시작태그와 종료태그</a:t>
            </a:r>
            <a:r>
              <a:rPr lang="en-US" altLang="ko-KR" dirty="0"/>
              <a:t>, </a:t>
            </a:r>
            <a:r>
              <a:rPr lang="ko-KR" altLang="en-US" dirty="0"/>
              <a:t>그 사이의 내용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B7F-F527-42BC-BFBF-2A1C33BFA621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9FB62B-4777-531E-AF43-813902DC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838200" y="2359882"/>
            <a:ext cx="10515600" cy="288135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32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ko-KR" altLang="en-US" sz="3200" b="1" dirty="0">
                <a:solidFill>
                  <a:schemeClr val="accent1"/>
                </a:solidFill>
                <a:latin typeface="+mn-ea"/>
              </a:rPr>
              <a:t> 인라인 요소 </a:t>
            </a:r>
            <a:r>
              <a:rPr lang="en-US" altLang="ko-KR" sz="3200" b="1" dirty="0">
                <a:solidFill>
                  <a:schemeClr val="accent1"/>
                </a:solidFill>
                <a:latin typeface="+mn-ea"/>
              </a:rPr>
              <a:t>(Inline Element)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en-US" dirty="0">
                <a:latin typeface="+mn-ea"/>
              </a:rPr>
              <a:t>텍스트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혹은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이미지 크기에 맞는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필요한 공간만을 차지</a:t>
            </a:r>
            <a:r>
              <a:rPr lang="ko-KR" altLang="en-US" dirty="0">
                <a:latin typeface="+mn-ea"/>
              </a:rPr>
              <a:t>하는 요소이다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en-US" dirty="0">
                <a:latin typeface="+mn-ea"/>
              </a:rPr>
              <a:t>너비와 높이를 지정할 수 없다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en-US" dirty="0">
                <a:latin typeface="+mn-ea"/>
              </a:rPr>
              <a:t>블록 요소 안에 포함되어 있는 것으로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인라인 요소만 가질 수</a:t>
            </a:r>
            <a:r>
              <a:rPr lang="ko-KR" altLang="en-US" dirty="0">
                <a:latin typeface="+mn-ea"/>
              </a:rPr>
              <a:t> 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     (ex) 	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&lt;a&gt;&lt;/a&gt;, &lt;span&gt;&lt;/span&gt;, &lt;strong&gt;&lt;/strong&gt;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ko-KR" altLang="en-US" dirty="0">
              <a:latin typeface="+mn-ea"/>
            </a:endParaRPr>
          </a:p>
        </p:txBody>
      </p:sp>
      <p:pic>
        <p:nvPicPr>
          <p:cNvPr id="8" name="Picture 4" descr="HTML 요소 - 위키백과, 우리 모두의 백과사전">
            <a:extLst>
              <a:ext uri="{FF2B5EF4-FFF2-40B4-BE49-F238E27FC236}">
                <a16:creationId xmlns:a16="http://schemas.microsoft.com/office/drawing/2014/main" id="{AAF665C2-E76B-ACA3-A26A-8C8AEF5FF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895" y="613570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324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45B51-F6E2-FA62-85F4-3EE05650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764"/>
            <a:ext cx="10515600" cy="3458472"/>
          </a:xfrm>
        </p:spPr>
        <p:txBody>
          <a:bodyPr>
            <a:norm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태그를 보조</a:t>
            </a:r>
            <a:r>
              <a:rPr lang="ko-KR" altLang="en-US" dirty="0"/>
              <a:t>하는 명령어로 태그 안쪽에서 작동</a:t>
            </a:r>
            <a:endParaRPr lang="en-US" altLang="ko-KR" dirty="0"/>
          </a:p>
          <a:p>
            <a:r>
              <a:rPr lang="en-US" altLang="ko-KR" dirty="0"/>
              <a:t>Ex) </a:t>
            </a:r>
            <a:r>
              <a:rPr lang="en-US" altLang="ko-KR" b="1" dirty="0">
                <a:solidFill>
                  <a:schemeClr val="accent1"/>
                </a:solidFill>
              </a:rPr>
              <a:t>id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class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style, width, height </a:t>
            </a:r>
            <a:r>
              <a:rPr lang="ko-KR" altLang="en-US" dirty="0"/>
              <a:t>등등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태그마다 사용 가능한 속성이 정해져 있음</a:t>
            </a:r>
            <a:endParaRPr lang="en-US" altLang="ko-KR" dirty="0"/>
          </a:p>
          <a:p>
            <a:pPr lvl="1"/>
            <a:r>
              <a:rPr lang="en-US" altLang="ko-KR" dirty="0"/>
              <a:t>id, class, style</a:t>
            </a:r>
            <a:r>
              <a:rPr lang="ko-KR" altLang="en-US" dirty="0"/>
              <a:t>은 모든 요소가 사용할 수 있는 속성</a:t>
            </a:r>
            <a:endParaRPr lang="en-US" altLang="ko-KR" dirty="0"/>
          </a:p>
          <a:p>
            <a:r>
              <a:rPr lang="en-US" altLang="ko-KR" dirty="0"/>
              <a:t>Ex) </a:t>
            </a:r>
            <a:r>
              <a:rPr lang="en-US" altLang="ko-KR" dirty="0">
                <a:cs typeface="Arial" panose="020B0604020202020204" pitchFamily="34" charset="0"/>
              </a:rPr>
              <a:t>&lt;a </a:t>
            </a:r>
            <a:r>
              <a:rPr lang="en-US" altLang="ko-KR" dirty="0" err="1">
                <a:cs typeface="Arial" panose="020B0604020202020204" pitchFamily="34" charset="0"/>
              </a:rPr>
              <a:t>href</a:t>
            </a:r>
            <a:r>
              <a:rPr lang="en-US" altLang="ko-KR" dirty="0">
                <a:cs typeface="Arial" panose="020B0604020202020204" pitchFamily="34" charset="0"/>
              </a:rPr>
              <a:t>=“” style=“”&gt; &lt;/a&gt;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FA044-78D0-41E6-8971-9762389E4B2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9FB62B-4777-531E-AF43-813902DC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3) </a:t>
            </a:r>
            <a:r>
              <a:rPr lang="ko-KR" altLang="en-US" dirty="0"/>
              <a:t>속성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Picture 4" descr="HTML 요소 - 위키백과, 우리 모두의 백과사전">
            <a:extLst>
              <a:ext uri="{FF2B5EF4-FFF2-40B4-BE49-F238E27FC236}">
                <a16:creationId xmlns:a16="http://schemas.microsoft.com/office/drawing/2014/main" id="{E90B9887-E4C3-F29E-5437-D707947B0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895" y="613570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066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tag </a:t>
            </a:r>
            <a:r>
              <a:rPr lang="ko-KR" altLang="en-US" sz="8000" dirty="0"/>
              <a:t>종류</a:t>
            </a:r>
          </a:p>
        </p:txBody>
      </p:sp>
    </p:spTree>
    <p:extLst>
      <p:ext uri="{BB962C8B-B14F-4D97-AF65-F5344CB8AC3E}">
        <p14:creationId xmlns:p14="http://schemas.microsoft.com/office/powerpoint/2010/main" val="2616845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6D6DB-DFAE-8D18-9B06-1CB5441D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4619" y="1550850"/>
            <a:ext cx="2743200" cy="405482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3200" dirty="0"/>
              <a:t>&lt;h1&gt; &lt;/h1&gt;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dirty="0"/>
              <a:t>&lt;p&gt; &lt;/p&gt;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dirty="0"/>
              <a:t>&lt;</a:t>
            </a:r>
            <a:r>
              <a:rPr lang="en-US" altLang="ko-KR" sz="3200" dirty="0" err="1"/>
              <a:t>br</a:t>
            </a:r>
            <a:r>
              <a:rPr lang="en-US" altLang="ko-KR" sz="3200" dirty="0"/>
              <a:t>&gt;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dirty="0"/>
              <a:t>&lt;</a:t>
            </a:r>
            <a:r>
              <a:rPr lang="en-US" altLang="ko-KR" sz="3200" dirty="0" err="1"/>
              <a:t>img</a:t>
            </a:r>
            <a:r>
              <a:rPr lang="en-US" altLang="ko-KR" sz="3200" dirty="0"/>
              <a:t>&gt;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CA9-35C0-4597-9D50-920FF7E22C98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77678F-3155-444E-80B9-FEFD8473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기본태그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C4A6BF0-0042-F46B-68EF-99B796A45F53}"/>
              </a:ext>
            </a:extLst>
          </p:cNvPr>
          <p:cNvSpPr txBox="1">
            <a:spLocks/>
          </p:cNvSpPr>
          <p:nvPr/>
        </p:nvSpPr>
        <p:spPr>
          <a:xfrm>
            <a:off x="6571002" y="1550850"/>
            <a:ext cx="3804897" cy="40548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3200" dirty="0"/>
              <a:t>&lt;a&gt; &lt;/a&gt;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16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3200" dirty="0"/>
              <a:t>&lt;div&gt; &lt;/div&gt;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16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3200" dirty="0"/>
              <a:t>&lt;span&gt; &lt;/span&gt;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16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3200" dirty="0"/>
              <a:t>&lt;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&gt; &lt;/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&gt;, &lt;</a:t>
            </a:r>
            <a:r>
              <a:rPr lang="en-US" altLang="ko-KR" sz="3200" dirty="0" err="1"/>
              <a:t>ol</a:t>
            </a:r>
            <a:r>
              <a:rPr lang="en-US" altLang="ko-KR" sz="3200" dirty="0"/>
              <a:t>&gt; &lt;/</a:t>
            </a:r>
            <a:r>
              <a:rPr lang="en-US" altLang="ko-KR" sz="3200" dirty="0" err="1"/>
              <a:t>ol</a:t>
            </a:r>
            <a:r>
              <a:rPr lang="en-US" altLang="ko-KR" sz="3200" dirty="0"/>
              <a:t>&gt;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3200" dirty="0"/>
              <a:t>&lt;li&gt;</a:t>
            </a:r>
            <a:r>
              <a:rPr lang="ko-KR" altLang="en-US" sz="3200" dirty="0"/>
              <a:t> </a:t>
            </a:r>
            <a:r>
              <a:rPr lang="en-US" altLang="ko-KR" sz="3200" dirty="0"/>
              <a:t>&lt;/li&gt;</a:t>
            </a:r>
          </a:p>
        </p:txBody>
      </p:sp>
    </p:spTree>
    <p:extLst>
      <p:ext uri="{BB962C8B-B14F-4D97-AF65-F5344CB8AC3E}">
        <p14:creationId xmlns:p14="http://schemas.microsoft.com/office/powerpoint/2010/main" val="1465103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제목을 뜻하는 </a:t>
            </a:r>
            <a:r>
              <a:rPr lang="en-US" altLang="ko-KR" dirty="0">
                <a:solidFill>
                  <a:schemeClr val="accent1"/>
                </a:solidFill>
              </a:rPr>
              <a:t>Heading</a:t>
            </a:r>
            <a:r>
              <a:rPr lang="en-US" altLang="ko-KR" dirty="0"/>
              <a:t> </a:t>
            </a:r>
            <a:r>
              <a:rPr lang="ko-KR" altLang="en-US" dirty="0"/>
              <a:t>의 약자</a:t>
            </a:r>
            <a:r>
              <a:rPr lang="en-US" altLang="ko-KR" dirty="0"/>
              <a:t>, h </a:t>
            </a:r>
            <a:r>
              <a:rPr lang="ko-KR" altLang="en-US" dirty="0"/>
              <a:t>사용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자동 줄 바꿈</a:t>
            </a:r>
            <a:r>
              <a:rPr lang="en-US" altLang="ko-KR" dirty="0">
                <a:solidFill>
                  <a:schemeClr val="accent1"/>
                </a:solidFill>
              </a:rPr>
              <a:t>! </a:t>
            </a:r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/>
              <a:t>제목이니까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하나의 </a:t>
            </a:r>
            <a:r>
              <a:rPr lang="en-US" altLang="ko-KR" dirty="0"/>
              <a:t>HTML </a:t>
            </a:r>
            <a:r>
              <a:rPr lang="ko-KR" altLang="en-US" dirty="0"/>
              <a:t>문서에는 </a:t>
            </a:r>
            <a:r>
              <a:rPr lang="ko-KR" altLang="en-US" dirty="0">
                <a:solidFill>
                  <a:schemeClr val="accent1"/>
                </a:solidFill>
              </a:rPr>
              <a:t>하나의 </a:t>
            </a:r>
            <a:r>
              <a:rPr lang="en-US" altLang="ko-KR" dirty="0">
                <a:solidFill>
                  <a:schemeClr val="accent1"/>
                </a:solidFill>
              </a:rPr>
              <a:t>h1 </a:t>
            </a:r>
            <a:r>
              <a:rPr lang="ko-KR" altLang="en-US" dirty="0">
                <a:solidFill>
                  <a:schemeClr val="accent1"/>
                </a:solidFill>
              </a:rPr>
              <a:t>태그를 권장</a:t>
            </a:r>
            <a:endParaRPr lang="en-US" altLang="ko-KR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웹 검색 엔진이 제일 먼저 검색하는 태그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A0B0-3066-4F8E-9BAC-0ECCBF49FC15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제목 태그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</a:rPr>
              <a:t>&lt;h1~6&gt;&lt;/h1~6&gt;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02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본문을 뜻하는 </a:t>
            </a:r>
            <a:r>
              <a:rPr lang="en-US" altLang="ko-KR" dirty="0">
                <a:solidFill>
                  <a:schemeClr val="accent1"/>
                </a:solidFill>
              </a:rPr>
              <a:t>paragraph</a:t>
            </a:r>
            <a:r>
              <a:rPr lang="en-US" altLang="ko-KR" dirty="0"/>
              <a:t> </a:t>
            </a:r>
            <a:r>
              <a:rPr lang="ko-KR" altLang="en-US" dirty="0"/>
              <a:t>의 약자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&lt;p&gt;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본문을 적기 위한 태그</a:t>
            </a:r>
            <a:r>
              <a:rPr lang="en-US" altLang="ko-KR" dirty="0"/>
              <a:t>!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29AF-CDF6-414F-9A6D-850B604A3A93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본문 태그</a:t>
            </a:r>
            <a:r>
              <a:rPr lang="en-US" altLang="ko-KR" dirty="0">
                <a:latin typeface="+mj-ea"/>
              </a:rPr>
              <a:t>, </a:t>
            </a:r>
            <a:r>
              <a:rPr lang="en-US" altLang="ko-KR" dirty="0">
                <a:solidFill>
                  <a:schemeClr val="accent1"/>
                </a:solidFill>
                <a:latin typeface="+mj-ea"/>
              </a:rPr>
              <a:t>&lt;p&gt;&lt;/p&gt;</a:t>
            </a:r>
            <a:endParaRPr lang="ko-KR" altLang="en-US" dirty="0">
              <a:solidFill>
                <a:schemeClr val="accen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26219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과연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br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ko-KR" altLang="en-US" dirty="0"/>
              <a:t>은 무엇의 약자 일까요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줄을 바꿔 준답니다</a:t>
            </a:r>
            <a:r>
              <a:rPr lang="en-US" altLang="ko-KR" dirty="0"/>
              <a:t>!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38DC-8B64-47A0-A830-1FF09837E62A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줄 바꿈 태그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br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12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&lt;ul&gt;</a:t>
            </a:r>
            <a:r>
              <a:rPr lang="en-US" altLang="ko-KR" dirty="0"/>
              <a:t>: </a:t>
            </a:r>
            <a:r>
              <a:rPr lang="ko-KR" altLang="en-US" dirty="0"/>
              <a:t>순서 없는 목록 </a:t>
            </a:r>
            <a:r>
              <a:rPr lang="en-US" altLang="ko-KR" dirty="0"/>
              <a:t>(unordered list)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&lt;ol&gt;</a:t>
            </a:r>
            <a:r>
              <a:rPr lang="en-US" altLang="ko-KR" dirty="0"/>
              <a:t>:</a:t>
            </a:r>
            <a:r>
              <a:rPr lang="ko-KR" altLang="en-US" dirty="0"/>
              <a:t> 순서 있는 목록 </a:t>
            </a:r>
            <a:r>
              <a:rPr lang="en-US" altLang="ko-KR" dirty="0"/>
              <a:t>(ordered list)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9FD3-5012-417D-9896-27B045C7CD66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46868"/>
            <a:ext cx="10515600" cy="1325563"/>
          </a:xfrm>
        </p:spPr>
        <p:txBody>
          <a:bodyPr/>
          <a:lstStyle/>
          <a:p>
            <a:r>
              <a:rPr lang="ko-KR" altLang="en-US" dirty="0"/>
              <a:t>목록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ul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ul</a:t>
            </a:r>
            <a:r>
              <a:rPr lang="en-US" altLang="ko-KR" dirty="0">
                <a:solidFill>
                  <a:schemeClr val="accent1"/>
                </a:solidFill>
              </a:rPr>
              <a:t>&gt; </a:t>
            </a:r>
            <a:r>
              <a:rPr lang="en-US" altLang="ko-KR" dirty="0"/>
              <a:t>or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ol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ol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055" y="2796987"/>
            <a:ext cx="5322200" cy="337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28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수평으로 된 줄을 그어 줍니다</a:t>
            </a:r>
            <a:r>
              <a:rPr lang="en-US" altLang="ko-KR" dirty="0"/>
              <a:t>!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322A-BD16-43DC-94B3-F4988EF931AF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수평 줄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hr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486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DCF5AE6-3C46-F957-2FEF-A16489A11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624" y="749576"/>
            <a:ext cx="5352752" cy="5358848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D48C-8DCB-41F1-ABBC-B8FF679AC18D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3477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149" y="1682406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&lt;b&gt;&lt;/b&gt;</a:t>
            </a:r>
            <a:r>
              <a:rPr lang="en-US" altLang="ko-KR" dirty="0"/>
              <a:t>: </a:t>
            </a:r>
            <a:r>
              <a:rPr lang="ko-KR" altLang="en-US" dirty="0"/>
              <a:t>두껍게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&lt;strong&gt;&lt;/strong&gt;</a:t>
            </a:r>
            <a:r>
              <a:rPr lang="en-US" altLang="ko-KR" dirty="0"/>
              <a:t>: </a:t>
            </a:r>
            <a:r>
              <a:rPr lang="ko-KR" altLang="en-US" dirty="0"/>
              <a:t>두껍게</a:t>
            </a:r>
            <a:r>
              <a:rPr lang="en-US" altLang="ko-KR" dirty="0"/>
              <a:t>! +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accent1"/>
                </a:solidFill>
              </a:rPr>
              <a:t>Semantic </a:t>
            </a:r>
            <a:r>
              <a:rPr lang="ko-KR" altLang="en-US" dirty="0">
                <a:solidFill>
                  <a:schemeClr val="accent1"/>
                </a:solidFill>
              </a:rPr>
              <a:t>한</a:t>
            </a:r>
            <a:r>
              <a:rPr lang="ko-KR" altLang="en-US" dirty="0"/>
              <a:t> 의미를 지님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i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i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en-US" altLang="ko-KR" dirty="0"/>
              <a:t>: </a:t>
            </a:r>
            <a:r>
              <a:rPr lang="ko-KR" altLang="en-US" dirty="0"/>
              <a:t>이탤릭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em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em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en-US" altLang="ko-KR" dirty="0"/>
              <a:t>: Emphasized, </a:t>
            </a:r>
            <a:r>
              <a:rPr lang="ko-KR" altLang="en-US" dirty="0"/>
              <a:t>강조</a:t>
            </a:r>
            <a:r>
              <a:rPr lang="en-US" altLang="ko-KR" dirty="0"/>
              <a:t>! </a:t>
            </a:r>
            <a:r>
              <a:rPr lang="ko-KR" altLang="en-US" dirty="0"/>
              <a:t>기울여서 표시됨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&lt;del&gt;&lt;/del&gt;</a:t>
            </a:r>
            <a:r>
              <a:rPr lang="en-US" altLang="ko-KR" dirty="0"/>
              <a:t>: </a:t>
            </a:r>
            <a:r>
              <a:rPr lang="ko-KR" altLang="en-US" dirty="0"/>
              <a:t>중간 줄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&lt;u&gt;&lt;/u&gt;</a:t>
            </a:r>
            <a:r>
              <a:rPr lang="en-US" altLang="ko-KR" dirty="0"/>
              <a:t>: </a:t>
            </a:r>
            <a:r>
              <a:rPr lang="ko-KR" altLang="en-US" dirty="0"/>
              <a:t>밑 줄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08BAE-7F50-4B88-B7A1-F6A865A29A4B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 꾸미기 태그들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33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기본 태그 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기본 태그 사용하기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카페 음료 문서 작성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7" y="2591845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5592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이미지</a:t>
            </a:r>
            <a:r>
              <a:rPr lang="ko-KR" altLang="en-US" dirty="0"/>
              <a:t>를 넣을 때 사용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속성 </a:t>
            </a:r>
            <a:r>
              <a:rPr lang="ko-KR" altLang="en-US" dirty="0"/>
              <a:t>값 중 하나인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>
                <a:solidFill>
                  <a:schemeClr val="accent1"/>
                </a:solidFill>
              </a:rPr>
              <a:t>src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를 사용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이미지 로드가 안될 경우 </a:t>
            </a:r>
            <a:r>
              <a:rPr lang="en-US" altLang="ko-KR" dirty="0">
                <a:solidFill>
                  <a:schemeClr val="accent1"/>
                </a:solidFill>
              </a:rPr>
              <a:t>alt </a:t>
            </a:r>
            <a:r>
              <a:rPr lang="ko-KR" altLang="en-US" dirty="0">
                <a:solidFill>
                  <a:schemeClr val="accent1"/>
                </a:solidFill>
              </a:rPr>
              <a:t>속성</a:t>
            </a:r>
            <a:r>
              <a:rPr lang="ko-KR" altLang="en-US" dirty="0"/>
              <a:t>이 중요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파일을 직접 가져오기</a:t>
            </a:r>
            <a:r>
              <a:rPr lang="en-US" altLang="ko-KR" dirty="0"/>
              <a:t>, </a:t>
            </a:r>
            <a:r>
              <a:rPr lang="ko-KR" altLang="en-US" dirty="0"/>
              <a:t>인터넷 주소에서 가져오기 등등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8CED-2597-4667-A518-B6308FA44F17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이미지를 넣어주는</a:t>
            </a:r>
            <a:r>
              <a:rPr lang="en-US" altLang="ko-KR" dirty="0">
                <a:solidFill>
                  <a:schemeClr val="accent1"/>
                </a:solidFill>
              </a:rPr>
              <a:t> &lt;</a:t>
            </a:r>
            <a:r>
              <a:rPr lang="en-US" altLang="ko-KR" dirty="0" err="1">
                <a:solidFill>
                  <a:schemeClr val="accent1"/>
                </a:solidFill>
              </a:rPr>
              <a:t>img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61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Anchor </a:t>
            </a:r>
            <a:r>
              <a:rPr lang="ko-KR" altLang="en-US" dirty="0"/>
              <a:t>의 약자인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&lt;a&gt; </a:t>
            </a:r>
            <a:r>
              <a:rPr lang="ko-KR" altLang="en-US" dirty="0"/>
              <a:t>태그 사용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속성 값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chemeClr val="accent1"/>
                </a:solidFill>
              </a:rPr>
              <a:t>href</a:t>
            </a:r>
            <a:r>
              <a:rPr lang="en-US" altLang="ko-KR" dirty="0"/>
              <a:t> : Hypertext Reference </a:t>
            </a:r>
            <a:r>
              <a:rPr lang="ko-KR" altLang="en-US" dirty="0"/>
              <a:t>의 약자</a:t>
            </a:r>
            <a:r>
              <a:rPr lang="en-US" altLang="ko-KR" dirty="0"/>
              <a:t>, </a:t>
            </a:r>
            <a:r>
              <a:rPr lang="ko-KR" altLang="en-US" dirty="0"/>
              <a:t>이동할 페이지의 링크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target</a:t>
            </a:r>
            <a:r>
              <a:rPr lang="en-US" altLang="ko-KR" dirty="0"/>
              <a:t> : </a:t>
            </a:r>
            <a:r>
              <a:rPr lang="ko-KR" altLang="en-US" dirty="0"/>
              <a:t>링크 된 문서를 열었을 때 문서가 열릴 위치 표시</a:t>
            </a:r>
            <a:endParaRPr lang="en-US" altLang="ko-KR" dirty="0"/>
          </a:p>
          <a:p>
            <a:pPr lvl="2"/>
            <a:r>
              <a:rPr lang="en-US" altLang="ko-KR" dirty="0"/>
              <a:t>_blank : </a:t>
            </a:r>
            <a:r>
              <a:rPr lang="ko-KR" altLang="en-US" dirty="0"/>
              <a:t>새로운 탭에서</a:t>
            </a:r>
            <a:endParaRPr lang="en-US" altLang="ko-KR" dirty="0"/>
          </a:p>
          <a:p>
            <a:pPr lvl="2"/>
            <a:r>
              <a:rPr lang="en-US" altLang="ko-KR" dirty="0"/>
              <a:t>_self : </a:t>
            </a:r>
            <a:r>
              <a:rPr lang="ko-KR" altLang="en-US" dirty="0"/>
              <a:t>현재 탭에서 </a:t>
            </a:r>
            <a:r>
              <a:rPr lang="en-US" altLang="ko-KR" dirty="0"/>
              <a:t>(</a:t>
            </a:r>
            <a:r>
              <a:rPr lang="ko-KR" altLang="en-US" dirty="0"/>
              <a:t>기본 값</a:t>
            </a:r>
            <a:r>
              <a:rPr lang="en-US" altLang="ko-KR" dirty="0"/>
              <a:t>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85C8E-84F8-4DED-A0D7-2C67F0F12C0A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의 </a:t>
            </a:r>
            <a:r>
              <a:rPr lang="ko-KR" altLang="en-US" dirty="0">
                <a:solidFill>
                  <a:schemeClr val="accent1"/>
                </a:solidFill>
              </a:rPr>
              <a:t>하이퍼링크</a:t>
            </a:r>
            <a:r>
              <a:rPr lang="en-US" altLang="ko-KR" dirty="0"/>
              <a:t>,</a:t>
            </a:r>
            <a:r>
              <a:rPr lang="en-US" altLang="ko-KR" dirty="0">
                <a:solidFill>
                  <a:schemeClr val="accent1"/>
                </a:solidFill>
              </a:rPr>
              <a:t> &lt;a&gt;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190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F4EE7-F121-686D-C7BD-DD9C6E2CE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앞에서 진행한 </a:t>
            </a:r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1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ko-KR" altLang="en-US" dirty="0"/>
              <a:t>에 이미지를 </a:t>
            </a:r>
            <a:r>
              <a:rPr lang="ko-KR" altLang="en-US" dirty="0" err="1"/>
              <a:t>추가하시오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이미지에 마우스를 올렸을 때 카페 이름이 나오도록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이미지를 클릭했을 때 </a:t>
            </a:r>
            <a:r>
              <a:rPr lang="en-US" altLang="ko-KR" dirty="0">
                <a:hlinkClick r:id="rId3"/>
              </a:rPr>
              <a:t>https://google.com</a:t>
            </a:r>
            <a:r>
              <a:rPr lang="en-US" altLang="ko-KR" dirty="0"/>
              <a:t> </a:t>
            </a:r>
            <a:r>
              <a:rPr lang="ko-KR" altLang="en-US" dirty="0"/>
              <a:t>으로 이동하게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565C8-D6EB-A69F-BE84-366383A4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A30161-287C-D707-CECE-79CB3B63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FB61D9-3172-F3C1-1021-E93D6A05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선택 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 err="1"/>
              <a:t>img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태그 실습</a:t>
            </a:r>
          </a:p>
        </p:txBody>
      </p:sp>
    </p:spTree>
    <p:extLst>
      <p:ext uri="{BB962C8B-B14F-4D97-AF65-F5344CB8AC3E}">
        <p14:creationId xmlns:p14="http://schemas.microsoft.com/office/powerpoint/2010/main" val="1330619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7200" dirty="0"/>
              <a:t>사용자 입력</a:t>
            </a:r>
            <a:r>
              <a:rPr lang="en-US" altLang="ko-KR" sz="7200" dirty="0"/>
              <a:t/>
            </a:r>
            <a:br>
              <a:rPr lang="en-US" altLang="ko-KR" sz="7200" dirty="0"/>
            </a:br>
            <a:r>
              <a:rPr lang="en-US" altLang="ko-KR" sz="7200" dirty="0"/>
              <a:t>Form </a:t>
            </a:r>
            <a:r>
              <a:rPr lang="ko-KR" altLang="en-US" sz="7200" dirty="0"/>
              <a:t>태그 </a:t>
            </a:r>
            <a:r>
              <a:rPr lang="en-US" altLang="ko-KR" sz="7200" dirty="0"/>
              <a:t>&amp; Input </a:t>
            </a:r>
            <a:r>
              <a:rPr lang="ko-KR" altLang="en-US" sz="7200" dirty="0"/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1681591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76061-2158-44CA-1EA3-F78E1FBD1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button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text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password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checkbox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radio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date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color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range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file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933F-0537-40E7-B48D-B5C53C90AF6F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입력 값 받기</a:t>
            </a:r>
            <a:r>
              <a:rPr lang="en-US" altLang="ko-KR" dirty="0"/>
              <a:t>! </a:t>
            </a:r>
            <a:r>
              <a:rPr lang="en-US" altLang="ko-KR" dirty="0">
                <a:solidFill>
                  <a:schemeClr val="accent1"/>
                </a:solidFill>
              </a:rPr>
              <a:t>&lt;input&gt;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982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버튼을 생성</a:t>
            </a:r>
            <a:endParaRPr lang="en-US" altLang="ko-KR" dirty="0"/>
          </a:p>
          <a:p>
            <a:r>
              <a:rPr lang="ko-KR" altLang="en-US" dirty="0"/>
              <a:t>주로 특정 기능을 수행 시킬 때 사용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24CD-2281-47EB-83C5-6799704FD369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버튼</a:t>
            </a:r>
            <a:r>
              <a:rPr lang="en-US" altLang="ko-KR" dirty="0"/>
              <a:t>, type=“button”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949" y="3900473"/>
            <a:ext cx="6995851" cy="51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74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입력 값을 받는 폼을 생성</a:t>
            </a:r>
            <a:endParaRPr lang="en-US" altLang="ko-KR" dirty="0"/>
          </a:p>
          <a:p>
            <a:r>
              <a:rPr lang="ko-KR" altLang="en-US" dirty="0"/>
              <a:t>우리가 입력하는 </a:t>
            </a:r>
            <a:r>
              <a:rPr lang="en-US" altLang="ko-KR" dirty="0"/>
              <a:t>ID </a:t>
            </a:r>
            <a:r>
              <a:rPr lang="ko-KR" altLang="en-US" dirty="0"/>
              <a:t>입력 부분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텍스트 값을 입력 받아 전달하는 기능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BD02-BEFC-43DA-BA86-BED505C5AF55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텍스트</a:t>
            </a:r>
            <a:r>
              <a:rPr lang="en-US" altLang="ko-KR" dirty="0"/>
              <a:t>, type=“text”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5143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비밀번호 값을 받는 폼을 생성</a:t>
            </a:r>
            <a:endParaRPr lang="en-US" altLang="ko-KR" dirty="0"/>
          </a:p>
          <a:p>
            <a:r>
              <a:rPr lang="ko-KR" altLang="en-US" dirty="0"/>
              <a:t>입력 값을 자동으로 안보이게 처리</a:t>
            </a:r>
            <a:endParaRPr lang="en-US" altLang="ko-KR" dirty="0"/>
          </a:p>
          <a:p>
            <a:r>
              <a:rPr lang="ko-KR" altLang="en-US" dirty="0"/>
              <a:t>중요 </a:t>
            </a:r>
            <a:r>
              <a:rPr lang="en-US" altLang="ko-KR" dirty="0"/>
              <a:t>or</a:t>
            </a:r>
            <a:r>
              <a:rPr lang="ko-KR" altLang="en-US" dirty="0"/>
              <a:t> 비밀 텍스트 값을 전달하는 기능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D069-7B29-400B-B981-595818B69B15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패스워드</a:t>
            </a:r>
            <a:r>
              <a:rPr lang="en-US" altLang="ko-KR" dirty="0"/>
              <a:t>, type=“password”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349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7028" cy="4351338"/>
          </a:xfrm>
        </p:spPr>
        <p:txBody>
          <a:bodyPr/>
          <a:lstStyle/>
          <a:p>
            <a:r>
              <a:rPr lang="ko-KR" altLang="en-US" dirty="0"/>
              <a:t>여러 선택지 중 </a:t>
            </a:r>
            <a:r>
              <a:rPr lang="ko-KR" altLang="en-US" dirty="0">
                <a:solidFill>
                  <a:schemeClr val="accent1"/>
                </a:solidFill>
              </a:rPr>
              <a:t>여러 개를 선택 가능</a:t>
            </a:r>
            <a:r>
              <a:rPr lang="ko-KR" altLang="en-US" dirty="0"/>
              <a:t>한 체크 박스 생성</a:t>
            </a:r>
            <a:endParaRPr lang="en-US" altLang="ko-KR" dirty="0"/>
          </a:p>
          <a:p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name</a:t>
            </a:r>
            <a:r>
              <a:rPr lang="en-US" altLang="ko-KR" dirty="0"/>
              <a:t> : </a:t>
            </a:r>
            <a:r>
              <a:rPr lang="ko-KR" altLang="en-US" dirty="0"/>
              <a:t>체크 박스의 이름</a:t>
            </a:r>
            <a:r>
              <a:rPr lang="en-US" altLang="ko-KR" dirty="0"/>
              <a:t>, </a:t>
            </a:r>
            <a:r>
              <a:rPr lang="ko-KR" altLang="en-US" dirty="0"/>
              <a:t>같은 분류의 체크 박스는 같은 이름으로 설정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value</a:t>
            </a:r>
            <a:r>
              <a:rPr lang="en-US" altLang="ko-KR" dirty="0"/>
              <a:t> : </a:t>
            </a:r>
            <a:r>
              <a:rPr lang="ko-KR" altLang="en-US" dirty="0"/>
              <a:t>체크 박스가 실제로 전달하는 값을 지정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checked</a:t>
            </a:r>
            <a:r>
              <a:rPr lang="en-US" altLang="ko-KR" dirty="0"/>
              <a:t> : </a:t>
            </a:r>
            <a:r>
              <a:rPr lang="ko-KR" altLang="en-US" dirty="0"/>
              <a:t>화면 최초 로딩 시에 선택 된 상태로 로딩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8D43-5FBB-4E05-B937-AB6CE5001749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체크 박스</a:t>
            </a:r>
            <a:r>
              <a:rPr lang="en-US" altLang="ko-KR" dirty="0"/>
              <a:t>, type=“checkbox”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631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44605" cy="4351338"/>
          </a:xfrm>
        </p:spPr>
        <p:txBody>
          <a:bodyPr/>
          <a:lstStyle/>
          <a:p>
            <a:r>
              <a:rPr lang="ko-KR" altLang="en-US" dirty="0"/>
              <a:t>여러 선택지 중 </a:t>
            </a:r>
            <a:r>
              <a:rPr lang="ko-KR" altLang="en-US" dirty="0">
                <a:solidFill>
                  <a:schemeClr val="accent1"/>
                </a:solidFill>
              </a:rPr>
              <a:t>하나만 선택 가능</a:t>
            </a:r>
            <a:r>
              <a:rPr lang="ko-KR" altLang="en-US" dirty="0"/>
              <a:t>한 라디오 버튼 생성</a:t>
            </a:r>
            <a:endParaRPr lang="en-US" altLang="ko-KR" dirty="0"/>
          </a:p>
          <a:p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name</a:t>
            </a:r>
            <a:r>
              <a:rPr lang="en-US" altLang="ko-KR" dirty="0"/>
              <a:t> : </a:t>
            </a:r>
            <a:r>
              <a:rPr lang="ko-KR" altLang="en-US" dirty="0"/>
              <a:t>라디오 버튼의 이름</a:t>
            </a:r>
            <a:r>
              <a:rPr lang="en-US" altLang="ko-KR" dirty="0"/>
              <a:t>, </a:t>
            </a:r>
            <a:r>
              <a:rPr lang="ko-KR" altLang="en-US" dirty="0"/>
              <a:t>같은 </a:t>
            </a:r>
            <a:r>
              <a:rPr lang="en-US" altLang="ko-KR" dirty="0"/>
              <a:t>name </a:t>
            </a:r>
            <a:r>
              <a:rPr lang="ko-KR" altLang="en-US" dirty="0"/>
              <a:t>을 가지는 라디오 버튼은 하나만 선택이 가능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하나를 선택하면 다른 선택 값이 취소 됨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value</a:t>
            </a:r>
            <a:r>
              <a:rPr lang="en-US" altLang="ko-KR" dirty="0"/>
              <a:t> : </a:t>
            </a:r>
            <a:r>
              <a:rPr lang="ko-KR" altLang="en-US" dirty="0"/>
              <a:t>라디오 버튼이 실제로 전달하는 값을 지정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checked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화면 최초 로딩 시에 선택 된 상태로 로딩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AB3D-ED5C-49D6-9C89-3645790B91E0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라디오 버튼</a:t>
            </a:r>
            <a:r>
              <a:rPr lang="en-US" altLang="ko-KR" dirty="0"/>
              <a:t>, type=“radio”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183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특정 날짜</a:t>
            </a:r>
            <a:r>
              <a:rPr lang="en-US" altLang="ko-KR" dirty="0"/>
              <a:t>(</a:t>
            </a:r>
            <a:r>
              <a:rPr lang="ko-KR" altLang="en-US" dirty="0"/>
              <a:t>년</a:t>
            </a:r>
            <a:r>
              <a:rPr lang="en-US" altLang="ko-KR" dirty="0"/>
              <a:t>/</a:t>
            </a:r>
            <a:r>
              <a:rPr lang="ko-KR" altLang="en-US" dirty="0"/>
              <a:t>월</a:t>
            </a:r>
            <a:r>
              <a:rPr lang="en-US" altLang="ko-KR" dirty="0"/>
              <a:t>/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  <a:r>
              <a:rPr lang="ko-KR" altLang="en-US" dirty="0"/>
              <a:t>를 선택</a:t>
            </a:r>
            <a:endParaRPr lang="en-US" altLang="ko-KR" dirty="0"/>
          </a:p>
          <a:p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/>
              <a:t>name : </a:t>
            </a:r>
            <a:r>
              <a:rPr lang="ko-KR" altLang="en-US" dirty="0"/>
              <a:t>날짜 선택 폼 이름</a:t>
            </a:r>
            <a:endParaRPr lang="en-US" altLang="ko-KR" dirty="0"/>
          </a:p>
          <a:p>
            <a:r>
              <a:rPr lang="en-US" altLang="ko-KR" dirty="0"/>
              <a:t>type=“datetime-local”</a:t>
            </a:r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시간 까지 선택 </a:t>
            </a:r>
            <a:r>
              <a:rPr lang="ko-KR" altLang="en-US" dirty="0"/>
              <a:t>가능</a:t>
            </a:r>
            <a:r>
              <a:rPr lang="en-US" altLang="ko-KR" dirty="0"/>
              <a:t>!</a:t>
            </a:r>
          </a:p>
          <a:p>
            <a:pPr lvl="1"/>
            <a:r>
              <a:rPr lang="ko-KR" altLang="en-US" dirty="0"/>
              <a:t>기존은 </a:t>
            </a:r>
            <a:r>
              <a:rPr lang="en-US" altLang="ko-KR" dirty="0">
                <a:solidFill>
                  <a:schemeClr val="accent6"/>
                </a:solidFill>
              </a:rPr>
              <a:t>“datetime” </a:t>
            </a:r>
            <a:r>
              <a:rPr lang="ko-KR" altLang="en-US" dirty="0"/>
              <a:t>을 사용하였으나 시간은 시간대의 영향을 받기 때문에 정확한 데이터 값 전달이 불가능 하여 지금은 사용 </a:t>
            </a:r>
            <a:r>
              <a:rPr lang="en-US" altLang="ko-KR" dirty="0"/>
              <a:t>X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52E9-5473-496C-B8E6-F7D738D9B5F2}" type="datetime1">
              <a:rPr lang="ko-KR" altLang="en-US" smtClean="0"/>
              <a:t>2024-11-17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날짜 선택</a:t>
            </a:r>
            <a:r>
              <a:rPr lang="en-US" altLang="ko-KR" dirty="0"/>
              <a:t>, type=“date”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486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76061-2158-44CA-1EA3-F78E1FBD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690688"/>
            <a:ext cx="11260802" cy="4386609"/>
          </a:xfrm>
        </p:spPr>
        <p:txBody>
          <a:bodyPr>
            <a:normAutofit/>
          </a:bodyPr>
          <a:lstStyle/>
          <a:p>
            <a:r>
              <a:rPr lang="ko-KR" altLang="en-US" dirty="0"/>
              <a:t>선택 메뉴</a:t>
            </a:r>
            <a:r>
              <a:rPr lang="en-US" altLang="ko-KR" dirty="0"/>
              <a:t>(</a:t>
            </a:r>
            <a:r>
              <a:rPr lang="ko-KR" altLang="en-US" dirty="0"/>
              <a:t>드롭 다운</a:t>
            </a:r>
            <a:r>
              <a:rPr lang="en-US" altLang="ko-KR" dirty="0"/>
              <a:t>)</a:t>
            </a:r>
            <a:r>
              <a:rPr lang="ko-KR" altLang="en-US" dirty="0"/>
              <a:t>를 만드는 태그</a:t>
            </a:r>
            <a:r>
              <a:rPr lang="en-US" altLang="ko-KR" dirty="0"/>
              <a:t>!</a:t>
            </a:r>
          </a:p>
          <a:p>
            <a:r>
              <a:rPr lang="en-US" altLang="ko-KR" dirty="0">
                <a:solidFill>
                  <a:schemeClr val="accent1"/>
                </a:solidFill>
              </a:rPr>
              <a:t>&lt;select&gt; </a:t>
            </a:r>
            <a:r>
              <a:rPr lang="en-US" altLang="ko-KR" dirty="0"/>
              <a:t>: select </a:t>
            </a:r>
            <a:r>
              <a:rPr lang="ko-KR" altLang="en-US" dirty="0"/>
              <a:t>폼 생성</a:t>
            </a:r>
            <a:endParaRPr lang="en-US" altLang="ko-KR" dirty="0"/>
          </a:p>
          <a:p>
            <a:pPr lvl="1"/>
            <a:r>
              <a:rPr lang="en-US" altLang="ko-KR" dirty="0"/>
              <a:t>name : select </a:t>
            </a:r>
            <a:r>
              <a:rPr lang="ko-KR" altLang="en-US" dirty="0"/>
              <a:t>박스의 이름</a:t>
            </a:r>
            <a:endParaRPr lang="en-US" altLang="ko-KR" dirty="0"/>
          </a:p>
          <a:p>
            <a:r>
              <a:rPr lang="en-US" altLang="ko-KR" dirty="0">
                <a:solidFill>
                  <a:schemeClr val="accent1"/>
                </a:solidFill>
              </a:rPr>
              <a:t>&lt;option&gt; </a:t>
            </a:r>
            <a:r>
              <a:rPr lang="en-US" altLang="ko-KR" dirty="0"/>
              <a:t>: select </a:t>
            </a:r>
            <a:r>
              <a:rPr lang="ko-KR" altLang="en-US" dirty="0"/>
              <a:t>폼의 옵션 값 생성</a:t>
            </a:r>
            <a:endParaRPr lang="en-US" altLang="ko-KR" dirty="0"/>
          </a:p>
          <a:p>
            <a:pPr lvl="1"/>
            <a:r>
              <a:rPr lang="en-US" altLang="ko-KR" dirty="0"/>
              <a:t>value : </a:t>
            </a:r>
            <a:r>
              <a:rPr lang="ko-KR" altLang="en-US" dirty="0"/>
              <a:t>실제적으로 전달 되는 값</a:t>
            </a:r>
            <a:endParaRPr lang="en-US" altLang="ko-KR" dirty="0"/>
          </a:p>
          <a:p>
            <a:pPr lvl="1"/>
            <a:r>
              <a:rPr lang="en-US" altLang="ko-KR" dirty="0"/>
              <a:t>selected : </a:t>
            </a:r>
            <a:r>
              <a:rPr lang="ko-KR" altLang="en-US" dirty="0"/>
              <a:t>최초에 선택 된 값으로 설정</a:t>
            </a:r>
            <a:endParaRPr lang="en-US" altLang="ko-KR" dirty="0"/>
          </a:p>
          <a:p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optgroup</a:t>
            </a:r>
            <a:r>
              <a:rPr lang="en-US" altLang="ko-KR" dirty="0">
                <a:solidFill>
                  <a:schemeClr val="accent1"/>
                </a:solidFill>
              </a:rPr>
              <a:t>&gt; </a:t>
            </a:r>
            <a:r>
              <a:rPr lang="en-US" altLang="ko-KR" dirty="0"/>
              <a:t>: option </a:t>
            </a:r>
            <a:r>
              <a:rPr lang="ko-KR" altLang="en-US" dirty="0"/>
              <a:t>을 그룹화</a:t>
            </a:r>
            <a:endParaRPr lang="en-US" altLang="ko-KR" dirty="0"/>
          </a:p>
          <a:p>
            <a:pPr lvl="1"/>
            <a:r>
              <a:rPr lang="en-US" altLang="ko-KR" dirty="0"/>
              <a:t>label : </a:t>
            </a:r>
            <a:r>
              <a:rPr lang="en-US" altLang="ko-KR" dirty="0" err="1"/>
              <a:t>optgroup</a:t>
            </a:r>
            <a:r>
              <a:rPr lang="en-US" altLang="ko-KR" dirty="0"/>
              <a:t> </a:t>
            </a:r>
            <a:r>
              <a:rPr lang="ko-KR" altLang="en-US" dirty="0"/>
              <a:t>이름 설정</a:t>
            </a:r>
            <a:endParaRPr lang="en-US" altLang="ko-KR" dirty="0"/>
          </a:p>
          <a:p>
            <a:r>
              <a:rPr lang="en-US" altLang="ko-KR" dirty="0"/>
              <a:t>disabled : </a:t>
            </a:r>
            <a:r>
              <a:rPr lang="ko-KR" altLang="en-US" dirty="0"/>
              <a:t>옵션은 보이지만 선택을 못하도록 설정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4413-D8B3-44FE-9460-DC12566AE16A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선택 메뉴를 </a:t>
            </a:r>
            <a:r>
              <a:rPr lang="ko-KR" altLang="en-US" dirty="0"/>
              <a:t>만드는</a:t>
            </a:r>
            <a:r>
              <a:rPr lang="en-US" altLang="ko-KR" dirty="0"/>
              <a:t>,</a:t>
            </a:r>
            <a:r>
              <a:rPr lang="en-US" altLang="ko-KR" dirty="0">
                <a:solidFill>
                  <a:schemeClr val="accent1"/>
                </a:solidFill>
              </a:rPr>
              <a:t> &lt;select&gt;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751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form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[form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만들기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[form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만들기 실습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</a:t>
            </a:r>
            <a:r>
              <a:rPr lang="ko-KR" altLang="en-US" dirty="0"/>
              <a:t>설문조사 폼 만들기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7" y="2591845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22226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&lt;Table&gt;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5816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ACB48E0-8170-9F85-5EB8-19F8545A0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99" y="1690688"/>
            <a:ext cx="11260802" cy="46378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chemeClr val="accent1"/>
                </a:solidFill>
                <a:effectLst/>
                <a:latin typeface="Lora" pitchFamily="2" charset="0"/>
              </a:rPr>
              <a:t>표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Lora" pitchFamily="2" charset="0"/>
              </a:rPr>
              <a:t>를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Lora" pitchFamily="2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Lora" pitchFamily="2" charset="0"/>
              </a:rPr>
              <a:t>만들 때 사용하는 태그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먼저 행을 쓰고 행의 자식 요소로 칸을 넣어주는 것이 기본</a:t>
            </a:r>
            <a:r>
              <a:rPr lang="en-US" altLang="ko-KR" dirty="0"/>
              <a:t>!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&lt;table&gt;</a:t>
            </a:r>
            <a:r>
              <a:rPr lang="en-US" altLang="ko-KR" dirty="0"/>
              <a:t> : </a:t>
            </a:r>
            <a:r>
              <a:rPr lang="ko-KR" altLang="en-US" dirty="0"/>
              <a:t>표를 감싸는 태그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&lt;tr&gt;</a:t>
            </a:r>
            <a:r>
              <a:rPr lang="en-US" altLang="ko-KR" dirty="0"/>
              <a:t> :</a:t>
            </a:r>
            <a:r>
              <a:rPr lang="ko-KR" altLang="en-US" dirty="0"/>
              <a:t> 표 내부의 행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</a:t>
            </a:r>
            <a:r>
              <a:rPr lang="en-US" altLang="ko-KR" dirty="0" err="1">
                <a:solidFill>
                  <a:srgbClr val="00B050"/>
                </a:solidFill>
              </a:rPr>
              <a:t>th</a:t>
            </a:r>
            <a:r>
              <a:rPr lang="en-US" altLang="ko-KR" dirty="0">
                <a:solidFill>
                  <a:srgbClr val="00B050"/>
                </a:solidFill>
              </a:rPr>
              <a:t>&gt;</a:t>
            </a:r>
            <a:r>
              <a:rPr lang="en-US" altLang="ko-KR" dirty="0"/>
              <a:t> : </a:t>
            </a:r>
            <a:r>
              <a:rPr lang="ko-KR" altLang="en-US" dirty="0"/>
              <a:t>행 내부의 제목 칸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&lt;td&gt;</a:t>
            </a:r>
            <a:r>
              <a:rPr lang="en-US" altLang="ko-KR" dirty="0"/>
              <a:t> : </a:t>
            </a:r>
            <a:r>
              <a:rPr lang="ko-KR" altLang="en-US" dirty="0"/>
              <a:t>행 내부의 일반 칸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3437-8AFD-4903-BC6B-CF849953625C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테이블을 만들자</a:t>
            </a:r>
            <a:r>
              <a:rPr lang="en-US" altLang="ko-KR" dirty="0"/>
              <a:t>!</a:t>
            </a:r>
            <a:r>
              <a:rPr lang="en-US" altLang="ko-KR" dirty="0">
                <a:solidFill>
                  <a:schemeClr val="accent1"/>
                </a:solidFill>
              </a:rPr>
              <a:t> &lt;table&gt;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9961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15FE50-0BED-0B3E-67A0-30B39469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7A066-C327-DA34-FEF7-8B1C17AB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67E905-86E9-EED9-A791-A0DB96C97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- Table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285405-5029-0C6A-4461-D565D40F8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37" y="1325563"/>
            <a:ext cx="9329463" cy="47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92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6D6DB-DFAE-8D18-9B06-1CB5441D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3367" y="1418328"/>
            <a:ext cx="409244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3600" dirty="0"/>
              <a:t>&lt;table&gt;</a:t>
            </a:r>
          </a:p>
          <a:p>
            <a:pPr marL="0" indent="0">
              <a:buNone/>
            </a:pPr>
            <a:r>
              <a:rPr lang="en-US" altLang="ko-KR" sz="3600" dirty="0"/>
              <a:t>	&lt;tr&gt;</a:t>
            </a:r>
          </a:p>
          <a:p>
            <a:pPr marL="0" indent="0">
              <a:buNone/>
            </a:pPr>
            <a:r>
              <a:rPr lang="en-US" altLang="ko-KR" sz="3600" dirty="0"/>
              <a:t>		&lt;td&gt;&lt;/td&gt;</a:t>
            </a:r>
          </a:p>
          <a:p>
            <a:pPr marL="0" indent="0">
              <a:buNone/>
            </a:pPr>
            <a:r>
              <a:rPr lang="en-US" altLang="ko-KR" sz="3600" dirty="0"/>
              <a:t>		&lt;td&gt;&lt;/td&gt;</a:t>
            </a:r>
          </a:p>
          <a:p>
            <a:pPr marL="0" indent="0">
              <a:buNone/>
            </a:pPr>
            <a:r>
              <a:rPr lang="en-US" altLang="ko-KR" sz="3600" dirty="0"/>
              <a:t>	&lt;/tr&gt;</a:t>
            </a:r>
          </a:p>
          <a:p>
            <a:pPr marL="0" indent="0">
              <a:buNone/>
            </a:pPr>
            <a:r>
              <a:rPr lang="en-US" altLang="ko-KR" sz="3600" dirty="0"/>
              <a:t>&lt;/table&gt;</a:t>
            </a:r>
            <a:endParaRPr lang="ko-KR" altLang="en-US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77678F-3155-444E-80B9-FEFD8473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– Table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219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7123F-B1F4-FA93-5FAF-675654DC3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&lt;table&gt;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border</a:t>
            </a:r>
            <a:r>
              <a:rPr lang="en-US" altLang="ko-KR" dirty="0"/>
              <a:t> : </a:t>
            </a:r>
            <a:r>
              <a:rPr lang="ko-KR" altLang="en-US" dirty="0"/>
              <a:t>테두리 두께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cellspacing</a:t>
            </a:r>
            <a:r>
              <a:rPr lang="en-US" altLang="ko-KR" dirty="0">
                <a:latin typeface="Arial Rounded MT Bold" panose="020F0704030504030204" pitchFamily="34" charset="0"/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테두리 간격 사이의 너비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cellpadding</a:t>
            </a:r>
            <a:r>
              <a:rPr lang="en-US" altLang="ko-KR" dirty="0"/>
              <a:t> : </a:t>
            </a:r>
            <a:r>
              <a:rPr lang="ko-KR" altLang="en-US" dirty="0"/>
              <a:t>셀 내부의 간격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align</a:t>
            </a:r>
            <a:r>
              <a:rPr lang="en-US" altLang="ko-KR" dirty="0"/>
              <a:t> : </a:t>
            </a:r>
            <a:r>
              <a:rPr lang="ko-KR" altLang="en-US" dirty="0"/>
              <a:t>테이블 정렬 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width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와 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height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테이블의 너비와 높이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bgcolor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와 </a:t>
            </a: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bordercolor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테이블 배경색과</a:t>
            </a:r>
            <a:r>
              <a:rPr lang="en-US" altLang="ko-KR" dirty="0"/>
              <a:t>, </a:t>
            </a:r>
            <a:r>
              <a:rPr lang="ko-KR" altLang="en-US" dirty="0"/>
              <a:t>테두리 색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9756-708A-42B2-ADAC-5037042AC683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B445C81-A955-36CC-4F01-ADAC0D17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&lt;table&gt;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0090796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&lt;td&gt;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colspan</a:t>
            </a:r>
            <a:r>
              <a:rPr lang="en-US" altLang="ko-KR" dirty="0"/>
              <a:t> : </a:t>
            </a:r>
            <a:r>
              <a:rPr lang="ko-KR" altLang="en-US" dirty="0"/>
              <a:t>해당 칸이 점유하는 열의 수 지정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rowspan</a:t>
            </a:r>
            <a:r>
              <a:rPr lang="en-US" altLang="ko-KR" dirty="0"/>
              <a:t> : </a:t>
            </a:r>
            <a:r>
              <a:rPr lang="ko-KR" altLang="en-US" dirty="0"/>
              <a:t>해당 칸이 점유하는 행의 수 지정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7A4FF-ED46-4427-A5F3-196455109A92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48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&lt;td&gt;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12106696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table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– table]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[table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latin typeface="+mn-ea"/>
              </a:rPr>
              <a:t>실습</a:t>
            </a:r>
            <a:r>
              <a:rPr lang="ko-KR" altLang="en-US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</a:t>
            </a:r>
            <a:r>
              <a:rPr lang="en-US" altLang="ko-KR" dirty="0" err="1"/>
              <a:t>colspan</a:t>
            </a:r>
            <a:r>
              <a:rPr lang="ko-KR" altLang="en-US" dirty="0"/>
              <a:t>과 </a:t>
            </a:r>
            <a:r>
              <a:rPr lang="en-US" altLang="ko-KR" dirty="0" err="1"/>
              <a:t>rowspan</a:t>
            </a:r>
            <a:r>
              <a:rPr lang="en-US" altLang="ko-KR" dirty="0"/>
              <a:t> </a:t>
            </a:r>
            <a:r>
              <a:rPr lang="ko-KR" altLang="en-US" dirty="0"/>
              <a:t>이용하기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7" y="2591845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87081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table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– table]</a:t>
            </a:r>
            <a:r>
              <a:rPr lang="en-US" altLang="ko-KR" sz="2800" b="1" dirty="0">
                <a:latin typeface="+mn-ea"/>
              </a:rPr>
              <a:t>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[table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</a:t>
            </a:r>
            <a:r>
              <a:rPr lang="ko-KR" altLang="en-US" dirty="0"/>
              <a:t>카페 음료 주문 테이블 작성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7" y="2591845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42351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7F67F6C-00F3-6A2D-01E0-35A42C393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그림과 같이 달력을 작성해주세요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힌트</a:t>
            </a:r>
            <a:endParaRPr lang="en-US" altLang="ko-KR" dirty="0"/>
          </a:p>
          <a:p>
            <a:pPr lvl="1"/>
            <a:r>
              <a:rPr lang="en-US" altLang="ko-KR" dirty="0"/>
              <a:t>style=“color: </a:t>
            </a:r>
            <a:r>
              <a:rPr lang="ko-KR" altLang="en-US" dirty="0"/>
              <a:t>컬러 이름</a:t>
            </a:r>
            <a:r>
              <a:rPr lang="en-US" altLang="ko-KR" dirty="0"/>
              <a:t>;”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D8A711-047C-5CDA-9A45-25FDA9A3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A55F98-B43E-888F-1112-39E04143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70E2722-A4D9-CAFF-9A6F-3F6025BC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선택 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Table </a:t>
            </a:r>
            <a:r>
              <a:rPr lang="ko-KR" altLang="en-US" dirty="0"/>
              <a:t>달력 실습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DB71A36-5CEC-8386-F523-BF7E0F6E8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626" y="1235025"/>
            <a:ext cx="5022574" cy="509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509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B455030-2625-F6E6-C77B-B65DBAD7D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1831" cy="4351338"/>
          </a:xfrm>
        </p:spPr>
        <p:txBody>
          <a:bodyPr/>
          <a:lstStyle/>
          <a:p>
            <a:r>
              <a:rPr lang="ko-KR" altLang="en-US" dirty="0"/>
              <a:t>그림과 같이 시간표를 작성해주세요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조건</a:t>
            </a:r>
            <a:endParaRPr lang="en-US" altLang="ko-KR" dirty="0"/>
          </a:p>
          <a:p>
            <a:pPr lvl="1"/>
            <a:r>
              <a:rPr lang="en-US" altLang="ko-KR" dirty="0"/>
              <a:t>MARVEL </a:t>
            </a:r>
            <a:r>
              <a:rPr lang="ko-KR" altLang="en-US" dirty="0"/>
              <a:t>로고를 클릭하면 마블 유튜브 링크로 이동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5DAB8D-E9FB-AA85-AFCF-58ACDD28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9D18E9-9D99-8B02-8BD4-6991C156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386C318-DDF0-9096-8AD0-6A2D4D74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선택 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/>
              <a:t>Table</a:t>
            </a:r>
            <a:r>
              <a:rPr lang="ko-KR" altLang="en-US" dirty="0"/>
              <a:t> 시간표 실습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6C512AA-AF8D-2AA8-9430-8C1FDB0159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"/>
          <a:stretch/>
        </p:blipFill>
        <p:spPr bwMode="auto">
          <a:xfrm>
            <a:off x="7772400" y="1131698"/>
            <a:ext cx="3907321" cy="504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2267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Semantic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98454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29132" y="2037259"/>
            <a:ext cx="1164934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dirty="0"/>
              <a:t>HTML </a:t>
            </a:r>
            <a:r>
              <a:rPr lang="ko-KR" altLang="en-US" sz="6600" dirty="0"/>
              <a:t>요소는</a:t>
            </a:r>
            <a:endParaRPr lang="en-US" altLang="ko-KR" sz="6600" dirty="0"/>
          </a:p>
          <a:p>
            <a:pPr algn="ctr"/>
            <a:r>
              <a:rPr lang="en-US" altLang="ko-KR" sz="6600" b="1" i="1" dirty="0">
                <a:solidFill>
                  <a:schemeClr val="accent1"/>
                </a:solidFill>
              </a:rPr>
              <a:t>Semantic</a:t>
            </a:r>
            <a:r>
              <a:rPr lang="en-US" altLang="ko-KR" sz="6600" b="1" i="1" dirty="0">
                <a:solidFill>
                  <a:srgbClr val="0070C0"/>
                </a:solidFill>
              </a:rPr>
              <a:t> </a:t>
            </a:r>
            <a:r>
              <a:rPr lang="ko-KR" altLang="en-US" sz="6600" dirty="0"/>
              <a:t>하게</a:t>
            </a:r>
            <a:r>
              <a:rPr lang="en-US" altLang="ko-KR" sz="6600" dirty="0"/>
              <a:t> </a:t>
            </a:r>
            <a:r>
              <a:rPr lang="ko-KR" altLang="en-US" sz="6600" dirty="0"/>
              <a:t>작성되어야 한다</a:t>
            </a:r>
            <a:r>
              <a:rPr lang="en-US" altLang="ko-KR" sz="6600" dirty="0"/>
              <a:t>.</a:t>
            </a:r>
            <a:endParaRPr lang="ko-KR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1918292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29132" y="2037259"/>
            <a:ext cx="1164934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dirty="0"/>
              <a:t>HTML </a:t>
            </a:r>
            <a:r>
              <a:rPr lang="ko-KR" altLang="en-US" sz="6600" dirty="0"/>
              <a:t>요소는</a:t>
            </a:r>
            <a:endParaRPr lang="en-US" altLang="ko-KR" sz="6600" dirty="0"/>
          </a:p>
          <a:p>
            <a:pPr algn="ctr"/>
            <a:r>
              <a:rPr lang="en-US" altLang="ko-KR" sz="6600" b="1" i="1" dirty="0">
                <a:solidFill>
                  <a:schemeClr val="accent1"/>
                </a:solidFill>
              </a:rPr>
              <a:t>Semantic</a:t>
            </a:r>
            <a:r>
              <a:rPr lang="en-US" altLang="ko-KR" sz="6600" b="1" i="1" dirty="0">
                <a:solidFill>
                  <a:srgbClr val="0070C0"/>
                </a:solidFill>
              </a:rPr>
              <a:t> </a:t>
            </a:r>
            <a:r>
              <a:rPr lang="ko-KR" altLang="en-US" sz="6600" dirty="0"/>
              <a:t>하게</a:t>
            </a:r>
            <a:r>
              <a:rPr lang="en-US" altLang="ko-KR" sz="6600" dirty="0"/>
              <a:t> </a:t>
            </a:r>
            <a:r>
              <a:rPr lang="ko-KR" altLang="en-US" sz="6600" dirty="0"/>
              <a:t>작성되어야 한다</a:t>
            </a:r>
            <a:r>
              <a:rPr lang="en-US" altLang="ko-KR" sz="6600" dirty="0"/>
              <a:t>.</a:t>
            </a:r>
            <a:endParaRPr lang="ko-KR" altLang="en-US" sz="6600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F8C2BBF-AC87-9CE1-F71A-280D424203CA}"/>
              </a:ext>
            </a:extLst>
          </p:cNvPr>
          <p:cNvSpPr txBox="1">
            <a:spLocks/>
          </p:cNvSpPr>
          <p:nvPr/>
        </p:nvSpPr>
        <p:spPr>
          <a:xfrm>
            <a:off x="968093" y="4456565"/>
            <a:ext cx="10099696" cy="6037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600" i="1" dirty="0"/>
              <a:t>“</a:t>
            </a:r>
            <a:r>
              <a:rPr lang="ko-KR" altLang="en-US" sz="3600" i="1" dirty="0"/>
              <a:t>웹 페이지를 이루는 요소에 </a:t>
            </a:r>
            <a:r>
              <a:rPr lang="ko-KR" altLang="en-US" sz="3600" i="1" dirty="0">
                <a:highlight>
                  <a:srgbClr val="FFFF00"/>
                </a:highlight>
              </a:rPr>
              <a:t>의미에 맞는 태그</a:t>
            </a:r>
            <a:r>
              <a:rPr lang="ko-KR" altLang="en-US" sz="3600" i="1" dirty="0"/>
              <a:t>를 사용하자</a:t>
            </a:r>
            <a:r>
              <a:rPr lang="en-US" altLang="ko-KR" sz="3600" i="1" dirty="0"/>
              <a:t>!”</a:t>
            </a:r>
            <a:endParaRPr lang="ko-KR" alt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6338561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91EA5-61F2-E551-B16F-293D0424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8D0E76D-3ED7-B220-3447-A926AB650D27}"/>
              </a:ext>
            </a:extLst>
          </p:cNvPr>
          <p:cNvSpPr txBox="1">
            <a:spLocks/>
          </p:cNvSpPr>
          <p:nvPr/>
        </p:nvSpPr>
        <p:spPr>
          <a:xfrm>
            <a:off x="1524000" y="1596116"/>
            <a:ext cx="2590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4800" dirty="0"/>
              <a:t>&lt;header&gt;</a:t>
            </a:r>
            <a:endParaRPr lang="ko-KR" altLang="en-US" sz="44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54CA42C-EC35-F790-47E8-825E1AE9AC8C}"/>
              </a:ext>
            </a:extLst>
          </p:cNvPr>
          <p:cNvSpPr txBox="1">
            <a:spLocks/>
          </p:cNvSpPr>
          <p:nvPr/>
        </p:nvSpPr>
        <p:spPr>
          <a:xfrm>
            <a:off x="1524000" y="2640833"/>
            <a:ext cx="2590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4800" dirty="0"/>
              <a:t>&lt;footer&gt;</a:t>
            </a:r>
            <a:endParaRPr lang="ko-KR" altLang="en-US" sz="44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EB23F11-260A-7EAC-F46C-8C1369D34425}"/>
              </a:ext>
            </a:extLst>
          </p:cNvPr>
          <p:cNvSpPr txBox="1">
            <a:spLocks/>
          </p:cNvSpPr>
          <p:nvPr/>
        </p:nvSpPr>
        <p:spPr>
          <a:xfrm>
            <a:off x="1524000" y="3718898"/>
            <a:ext cx="2590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4800" dirty="0"/>
              <a:t>&lt;main&gt;</a:t>
            </a:r>
            <a:endParaRPr lang="ko-KR" altLang="en-US" sz="44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55586A2-214E-BCA3-ACE1-D050F715CE6A}"/>
              </a:ext>
            </a:extLst>
          </p:cNvPr>
          <p:cNvSpPr txBox="1">
            <a:spLocks/>
          </p:cNvSpPr>
          <p:nvPr/>
        </p:nvSpPr>
        <p:spPr>
          <a:xfrm>
            <a:off x="6096000" y="1460499"/>
            <a:ext cx="2590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4800" dirty="0"/>
              <a:t>&lt;nav&gt;</a:t>
            </a:r>
            <a:endParaRPr lang="ko-KR" altLang="en-US" sz="44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5249FA7-6595-4202-64D9-05623A30C770}"/>
              </a:ext>
            </a:extLst>
          </p:cNvPr>
          <p:cNvSpPr txBox="1">
            <a:spLocks/>
          </p:cNvSpPr>
          <p:nvPr/>
        </p:nvSpPr>
        <p:spPr>
          <a:xfrm>
            <a:off x="6096000" y="2573105"/>
            <a:ext cx="2590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4800" dirty="0"/>
              <a:t>&lt;aside&gt;</a:t>
            </a:r>
            <a:endParaRPr lang="ko-KR" altLang="en-US" sz="4400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1311B8F-09F0-CE58-BBC3-C04239A453BF}"/>
              </a:ext>
            </a:extLst>
          </p:cNvPr>
          <p:cNvSpPr txBox="1">
            <a:spLocks/>
          </p:cNvSpPr>
          <p:nvPr/>
        </p:nvSpPr>
        <p:spPr>
          <a:xfrm>
            <a:off x="6096000" y="3685163"/>
            <a:ext cx="2590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4800" dirty="0"/>
              <a:t>&lt;article&gt;</a:t>
            </a:r>
            <a:endParaRPr lang="ko-KR" altLang="en-US" sz="4400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006BE6B-B0D8-2008-D261-B3B575CFA657}"/>
              </a:ext>
            </a:extLst>
          </p:cNvPr>
          <p:cNvSpPr txBox="1">
            <a:spLocks/>
          </p:cNvSpPr>
          <p:nvPr/>
        </p:nvSpPr>
        <p:spPr>
          <a:xfrm>
            <a:off x="6096000" y="4796962"/>
            <a:ext cx="2590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4800" dirty="0"/>
              <a:t>&lt;section&gt;</a:t>
            </a:r>
            <a:endParaRPr lang="ko-KR" altLang="en-US" sz="4400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A2C3F0C7-8493-0C2C-4E1C-24191AE5610B}"/>
              </a:ext>
            </a:extLst>
          </p:cNvPr>
          <p:cNvSpPr txBox="1">
            <a:spLocks/>
          </p:cNvSpPr>
          <p:nvPr/>
        </p:nvSpPr>
        <p:spPr>
          <a:xfrm>
            <a:off x="1524000" y="4796962"/>
            <a:ext cx="2590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4800" dirty="0"/>
              <a:t>&lt;h1&gt; ~ &lt;h6&gt;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3613099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1852BAFB-B43C-87A6-3082-2ED85993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2786" y="1325121"/>
            <a:ext cx="1387293" cy="50532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before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91EA5-61F2-E551-B16F-293D0424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93A4949-2F36-1260-DE1F-5F63E5C24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40" y="1830448"/>
            <a:ext cx="5359134" cy="37372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53" y="1830448"/>
            <a:ext cx="5359134" cy="3737202"/>
          </a:xfrm>
          <a:prstGeom prst="rect">
            <a:avLst/>
          </a:prstGeom>
        </p:spPr>
      </p:pic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F800D586-799C-4998-4092-2F9BF56454D7}"/>
              </a:ext>
            </a:extLst>
          </p:cNvPr>
          <p:cNvSpPr txBox="1">
            <a:spLocks/>
          </p:cNvSpPr>
          <p:nvPr/>
        </p:nvSpPr>
        <p:spPr>
          <a:xfrm>
            <a:off x="8198299" y="1309272"/>
            <a:ext cx="1387293" cy="505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after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54114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91EA5-61F2-E551-B16F-293D0424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87" y="1626103"/>
            <a:ext cx="5359134" cy="373720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7AE58B6-4CCD-B0F0-6D7F-62D8690B6615}"/>
              </a:ext>
            </a:extLst>
          </p:cNvPr>
          <p:cNvSpPr txBox="1">
            <a:spLocks/>
          </p:cNvSpPr>
          <p:nvPr/>
        </p:nvSpPr>
        <p:spPr>
          <a:xfrm>
            <a:off x="6104022" y="4552458"/>
            <a:ext cx="4716378" cy="810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&lt;footer&gt;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푸터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sz="2400" dirty="0"/>
              <a:t>하단 영역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095999" y="1718291"/>
            <a:ext cx="5503514" cy="810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&lt;header&gt;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헤더 </a:t>
            </a:r>
            <a:r>
              <a:rPr lang="en-US" altLang="ko-KR" sz="2400" dirty="0"/>
              <a:t>(</a:t>
            </a:r>
            <a:r>
              <a:rPr lang="ko-KR" altLang="en-US" sz="2400" dirty="0"/>
              <a:t>로고</a:t>
            </a:r>
            <a:r>
              <a:rPr lang="en-US" altLang="ko-KR" sz="2400" dirty="0"/>
              <a:t>, </a:t>
            </a:r>
            <a:r>
              <a:rPr lang="ko-KR" altLang="en-US" sz="2400" dirty="0"/>
              <a:t>메뉴 아이템</a:t>
            </a:r>
            <a:r>
              <a:rPr lang="en-US" altLang="ko-KR" sz="2400" dirty="0"/>
              <a:t>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46616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91EA5-61F2-E551-B16F-293D0424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87" y="1626103"/>
            <a:ext cx="5359134" cy="3737202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095999" y="1718291"/>
            <a:ext cx="5503514" cy="1458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&lt;nav&gt;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>: </a:t>
            </a:r>
            <a:r>
              <a:rPr lang="ko-KR" altLang="en-US" sz="2400" dirty="0"/>
              <a:t>네비게이션 </a:t>
            </a:r>
            <a:r>
              <a:rPr lang="en-US" altLang="ko-KR" sz="2400" dirty="0"/>
              <a:t>(</a:t>
            </a:r>
            <a:r>
              <a:rPr lang="ko-KR" altLang="en-US" sz="2400" dirty="0"/>
              <a:t>다른 곳으로 이동 가능한 링크들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47214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91EA5-61F2-E551-B16F-293D0424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87" y="1626103"/>
            <a:ext cx="5359134" cy="3737202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095999" y="1718291"/>
            <a:ext cx="5503514" cy="1843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&lt;main&gt;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>: </a:t>
            </a:r>
            <a:r>
              <a:rPr lang="ko-KR" altLang="en-US" sz="2400" dirty="0"/>
              <a:t>콘텐츠 영역임을 표시</a:t>
            </a:r>
            <a:r>
              <a:rPr lang="en-US" altLang="ko-KR" sz="2400" dirty="0"/>
              <a:t>. </a:t>
            </a:r>
            <a:r>
              <a:rPr lang="ko-KR" altLang="en-US" sz="2400" dirty="0"/>
              <a:t>한 </a:t>
            </a:r>
            <a:r>
              <a:rPr lang="en-US" altLang="ko-KR" sz="2400" dirty="0"/>
              <a:t>html</a:t>
            </a:r>
            <a:r>
              <a:rPr lang="ko-KR" altLang="en-US" sz="2400" dirty="0"/>
              <a:t> 페이지당 한 번 사용하는 것이 바람직함 </a:t>
            </a:r>
            <a:r>
              <a:rPr lang="en-US" altLang="ko-KR" sz="2400" dirty="0"/>
              <a:t>(</a:t>
            </a:r>
            <a:r>
              <a:rPr lang="ko-KR" altLang="en-US" sz="2400" dirty="0"/>
              <a:t>중첩 </a:t>
            </a:r>
            <a:r>
              <a:rPr lang="en-US" altLang="ko-KR" sz="2400" dirty="0"/>
              <a:t>x)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938876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91EA5-61F2-E551-B16F-293D0424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87" y="1626103"/>
            <a:ext cx="5359134" cy="3737202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095999" y="1718291"/>
            <a:ext cx="5503514" cy="1843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&lt;aside&gt;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>: </a:t>
            </a:r>
            <a:r>
              <a:rPr lang="ko-KR" altLang="en-US" sz="2400" dirty="0"/>
              <a:t>콘텐츠와 직접적인 연관이 없는 옆에 있는 부분 </a:t>
            </a:r>
            <a:r>
              <a:rPr lang="en-US" altLang="ko-KR" sz="2400" dirty="0"/>
              <a:t>(ex. </a:t>
            </a:r>
            <a:r>
              <a:rPr lang="ko-KR" altLang="en-US" sz="2400" dirty="0"/>
              <a:t>광고 등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57449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91EA5-61F2-E551-B16F-293D0424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87" y="1626103"/>
            <a:ext cx="5359134" cy="373720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7AE58B6-4CCD-B0F0-6D7F-62D8690B6615}"/>
              </a:ext>
            </a:extLst>
          </p:cNvPr>
          <p:cNvSpPr txBox="1">
            <a:spLocks/>
          </p:cNvSpPr>
          <p:nvPr/>
        </p:nvSpPr>
        <p:spPr>
          <a:xfrm>
            <a:off x="6168189" y="1638135"/>
            <a:ext cx="5183751" cy="1391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600" b="1" dirty="0"/>
              <a:t>&lt;article&gt;</a:t>
            </a:r>
            <a:r>
              <a:rPr lang="ko-KR" altLang="en-US" sz="2600" b="1" dirty="0"/>
              <a:t> </a:t>
            </a:r>
            <a:r>
              <a:rPr lang="en-US" altLang="ko-KR" sz="2600" dirty="0"/>
              <a:t>: </a:t>
            </a:r>
            <a:r>
              <a:rPr lang="ko-KR" altLang="en-US" sz="2600" dirty="0"/>
              <a:t>하나의 </a:t>
            </a:r>
            <a:r>
              <a:rPr lang="ko-KR" altLang="en-US" sz="2600" dirty="0" err="1"/>
              <a:t>의미있는</a:t>
            </a:r>
            <a:r>
              <a:rPr lang="ko-KR" altLang="en-US" sz="2600" dirty="0"/>
              <a:t> 요소        </a:t>
            </a:r>
            <a:r>
              <a:rPr lang="en-US" altLang="ko-KR" sz="2400" dirty="0"/>
              <a:t>(ex. </a:t>
            </a:r>
            <a:r>
              <a:rPr lang="ko-KR" altLang="en-US" sz="2400" dirty="0"/>
              <a:t>기사 리스트 중에서 기사 하나</a:t>
            </a:r>
            <a:r>
              <a:rPr lang="en-US" altLang="ko-KR" sz="2400" dirty="0"/>
              <a:t>) 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168190" y="3089280"/>
            <a:ext cx="5503514" cy="8108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&lt;section&gt;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article</a:t>
            </a:r>
            <a:r>
              <a:rPr lang="ko-KR" altLang="en-US" sz="2400" dirty="0"/>
              <a:t>을 포함 </a:t>
            </a:r>
            <a:r>
              <a:rPr lang="en-US" altLang="ko-KR" sz="2400" dirty="0"/>
              <a:t>(</a:t>
            </a:r>
            <a:r>
              <a:rPr lang="ko-KR" altLang="en-US" sz="2400" dirty="0"/>
              <a:t>그룹화 목적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774863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4231F7-65F9-77A2-ED8B-8326B352B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758" y="1469942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>
                <a:solidFill>
                  <a:srgbClr val="6EC173"/>
                </a:solidFill>
              </a:rPr>
              <a:t>SEO</a:t>
            </a:r>
            <a:r>
              <a:rPr lang="en-US" altLang="ko-KR" sz="3200" dirty="0"/>
              <a:t> (Search Engine Optimization, </a:t>
            </a:r>
            <a:r>
              <a:rPr lang="ko-KR" altLang="en-US" sz="3200" dirty="0"/>
              <a:t>검색최적화</a:t>
            </a:r>
            <a:r>
              <a:rPr lang="en-US" altLang="ko-KR" sz="32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200" dirty="0"/>
              <a:t>검색엔진은 </a:t>
            </a:r>
            <a:r>
              <a:rPr lang="en-US" altLang="ko-KR" sz="2200" dirty="0"/>
              <a:t>HTML </a:t>
            </a:r>
            <a:r>
              <a:rPr lang="ko-KR" altLang="en-US" sz="2200" dirty="0"/>
              <a:t>코드를 분석해 사이트를 노출시킨다</a:t>
            </a:r>
            <a:endParaRPr lang="en-US" altLang="ko-KR" sz="2200" dirty="0"/>
          </a:p>
          <a:p>
            <a:pPr lvl="1">
              <a:lnSpc>
                <a:spcPct val="150000"/>
              </a:lnSpc>
            </a:pPr>
            <a:r>
              <a:rPr lang="ko-KR" altLang="en-US" sz="2200" dirty="0" err="1"/>
              <a:t>크롤러가</a:t>
            </a:r>
            <a:r>
              <a:rPr lang="ko-KR" altLang="en-US" sz="2200" dirty="0"/>
              <a:t> 페이지의 구성 요소들이 무엇을 의미하는지 이해하여 사이트 노출에 영향을 준다</a:t>
            </a:r>
            <a:r>
              <a:rPr lang="en-US" altLang="ko-KR" sz="2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3200" b="1" dirty="0">
                <a:solidFill>
                  <a:srgbClr val="6EC173"/>
                </a:solidFill>
              </a:rPr>
              <a:t>유지보수성</a:t>
            </a:r>
            <a:endParaRPr lang="en-US" altLang="ko-KR" b="1" dirty="0">
              <a:solidFill>
                <a:srgbClr val="6EC173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200" dirty="0"/>
              <a:t>페이지를 유지보수 할 때</a:t>
            </a:r>
            <a:r>
              <a:rPr lang="en-US" altLang="ko-KR" sz="2200" dirty="0"/>
              <a:t>, &lt;div&gt; </a:t>
            </a:r>
            <a:r>
              <a:rPr lang="ko-KR" altLang="en-US" sz="2200" dirty="0"/>
              <a:t>태그만 가득하다면 요소를 찾기 정말 힘들다</a:t>
            </a:r>
            <a:r>
              <a:rPr lang="en-US" altLang="ko-KR" sz="2200" dirty="0"/>
              <a:t>..!!! </a:t>
            </a:r>
          </a:p>
          <a:p>
            <a:pPr lvl="1">
              <a:lnSpc>
                <a:spcPct val="150000"/>
              </a:lnSpc>
            </a:pPr>
            <a:r>
              <a:rPr lang="ko-KR" altLang="en-US" sz="2200" dirty="0" err="1"/>
              <a:t>시멘틱</a:t>
            </a:r>
            <a:r>
              <a:rPr lang="ko-KR" altLang="en-US" sz="2200" dirty="0"/>
              <a:t> 태그를 활용해 컨텐츠를 적절히 </a:t>
            </a:r>
            <a:r>
              <a:rPr lang="ko-KR" altLang="en-US" sz="2200" dirty="0" err="1"/>
              <a:t>구분시키자</a:t>
            </a:r>
            <a:r>
              <a:rPr lang="en-US" altLang="ko-KR" sz="22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2024년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91EA5-61F2-E551-B16F-293D0424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 err="1"/>
              <a:t>Semactic</a:t>
            </a:r>
            <a:r>
              <a:rPr lang="en-US" altLang="ko-KR" dirty="0"/>
              <a:t> </a:t>
            </a:r>
            <a:r>
              <a:rPr lang="ko-KR" altLang="en-US" dirty="0" err="1"/>
              <a:t>해야할까</a:t>
            </a:r>
            <a:r>
              <a:rPr lang="en-US" altLang="ko-KR" dirty="0"/>
              <a:t>?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012110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2101</Words>
  <Application>Microsoft Office PowerPoint</Application>
  <PresentationFormat>와이드스크린</PresentationFormat>
  <Paragraphs>494</Paragraphs>
  <Slides>63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63</vt:i4>
      </vt:variant>
    </vt:vector>
  </HeadingPairs>
  <TitlesOfParts>
    <vt:vector size="71" baseType="lpstr">
      <vt:lpstr>Arial Rounded MT Bold</vt:lpstr>
      <vt:lpstr>Lora</vt:lpstr>
      <vt:lpstr>PretendardGOV</vt:lpstr>
      <vt:lpstr>맑은 고딕</vt:lpstr>
      <vt:lpstr>Arial</vt:lpstr>
      <vt:lpstr>Wingdings</vt:lpstr>
      <vt:lpstr>2_Office 테마</vt:lpstr>
      <vt:lpstr>디자인 사용자 지정</vt:lpstr>
      <vt:lpstr>웹 개발자 부트캠프 과정</vt:lpstr>
      <vt:lpstr>HTML</vt:lpstr>
      <vt:lpstr>PowerPoint 프레젠테이션</vt:lpstr>
      <vt:lpstr>PowerPoint 프레젠테이션</vt:lpstr>
      <vt:lpstr>HTML 이란?</vt:lpstr>
      <vt:lpstr>PowerPoint 프레젠테이션</vt:lpstr>
      <vt:lpstr>PowerPoint 프레젠테이션</vt:lpstr>
      <vt:lpstr>PowerPoint 프레젠테이션</vt:lpstr>
      <vt:lpstr>HTML 구조 설명</vt:lpstr>
      <vt:lpstr>&lt;head&gt; 태그</vt:lpstr>
      <vt:lpstr>&lt;body&gt; 태그</vt:lpstr>
      <vt:lpstr>HTML 기본 문법, 중첩(Nested)</vt:lpstr>
      <vt:lpstr>HTML 기본 문법, 주석(Comments)</vt:lpstr>
      <vt:lpstr>HTML 태그는 어떻게 생겼을까?</vt:lpstr>
      <vt:lpstr>HTML 구성요소 – 1) 태그</vt:lpstr>
      <vt:lpstr>HTML 구성요소 – 2) 요소</vt:lpstr>
      <vt:lpstr>HTML 구성요소 – 2) 요소</vt:lpstr>
      <vt:lpstr>HTML 구성요소 – 2) 요소 </vt:lpstr>
      <vt:lpstr>HTML 구성요소 – 3) 속성 </vt:lpstr>
      <vt:lpstr>tag 종류</vt:lpstr>
      <vt:lpstr>HTML 기본태그</vt:lpstr>
      <vt:lpstr>제목 태그, &lt;h1~6&gt;&lt;/h1~6&gt;</vt:lpstr>
      <vt:lpstr>본문 태그, &lt;p&gt;&lt;/p&gt;</vt:lpstr>
      <vt:lpstr>줄 바꿈 태그, &lt;br&gt;</vt:lpstr>
      <vt:lpstr>목록, &lt;ul&gt;&lt;/ul&gt; or &lt;ol&gt;&lt;/ol&gt;</vt:lpstr>
      <vt:lpstr>수평 줄, &lt;hr&gt;</vt:lpstr>
      <vt:lpstr>PowerPoint 프레젠테이션</vt:lpstr>
      <vt:lpstr>문자 꾸미기 태그들</vt:lpstr>
      <vt:lpstr>실습. 카페 음료 문서 작성</vt:lpstr>
      <vt:lpstr>이미지를 넣어주는 &lt;img&gt;</vt:lpstr>
      <vt:lpstr>HTML의 하이퍼링크, &lt;a&gt;</vt:lpstr>
      <vt:lpstr>선택 실습. img, a 태그 실습</vt:lpstr>
      <vt:lpstr>사용자 입력 Form 태그 &amp; Input 태그</vt:lpstr>
      <vt:lpstr> 입력 값 받기! &lt;input&gt;</vt:lpstr>
      <vt:lpstr>버튼, type=“button”</vt:lpstr>
      <vt:lpstr>텍스트, type=“text”</vt:lpstr>
      <vt:lpstr>패스워드, type=“password”</vt:lpstr>
      <vt:lpstr>체크 박스, type=“checkbox”</vt:lpstr>
      <vt:lpstr>라디오 버튼, type=“radio”</vt:lpstr>
      <vt:lpstr>날짜 선택, type=“date”</vt:lpstr>
      <vt:lpstr>선택 메뉴를 만드는, &lt;select&gt;</vt:lpstr>
      <vt:lpstr>실습. 설문조사 폼 만들기</vt:lpstr>
      <vt:lpstr>&lt;Table&gt;</vt:lpstr>
      <vt:lpstr>테이블을 만들자! &lt;table&gt;</vt:lpstr>
      <vt:lpstr>HTML - Table</vt:lpstr>
      <vt:lpstr>HTML – Table</vt:lpstr>
      <vt:lpstr>&lt;table&gt; 속성</vt:lpstr>
      <vt:lpstr>&lt;td&gt; 속성</vt:lpstr>
      <vt:lpstr>실습. colspan과 rowspan 이용하기</vt:lpstr>
      <vt:lpstr>실습. 카페 음료 주문 테이블 작성</vt:lpstr>
      <vt:lpstr>선택 실습. Table 달력 실습</vt:lpstr>
      <vt:lpstr>선택 실습. Table 시간표 실습</vt:lpstr>
      <vt:lpstr>Semantic</vt:lpstr>
      <vt:lpstr>PowerPoint 프레젠테이션</vt:lpstr>
      <vt:lpstr>PowerPoint 프레젠테이션</vt:lpstr>
      <vt:lpstr>Semactic tag</vt:lpstr>
      <vt:lpstr>Semactic tag</vt:lpstr>
      <vt:lpstr>Semactic tag</vt:lpstr>
      <vt:lpstr>Semactic tag</vt:lpstr>
      <vt:lpstr>Semactic tag</vt:lpstr>
      <vt:lpstr>Semactic tag</vt:lpstr>
      <vt:lpstr>Semactic tag</vt:lpstr>
      <vt:lpstr>왜 Semactic 해야할까?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jae hyeon</cp:lastModifiedBy>
  <cp:revision>95</cp:revision>
  <dcterms:created xsi:type="dcterms:W3CDTF">2022-06-26T11:10:22Z</dcterms:created>
  <dcterms:modified xsi:type="dcterms:W3CDTF">2024-11-17T16:56:46Z</dcterms:modified>
</cp:coreProperties>
</file>