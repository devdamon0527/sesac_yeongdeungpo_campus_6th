
<file path=[Content_Types].xml><?xml version="1.0" encoding="utf-8"?>
<Types xmlns="http://schemas.openxmlformats.org/package/2006/content-types"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6" r:id="rId1"/>
  </p:sldMasterIdLst>
  <p:notesMasterIdLst>
    <p:notesMasterId r:id="rId18"/>
  </p:notesMasterIdLst>
  <p:sldIdLst>
    <p:sldId id="256" r:id="rId2"/>
    <p:sldId id="268" r:id="rId3"/>
    <p:sldId id="272" r:id="rId4"/>
    <p:sldId id="291" r:id="rId5"/>
    <p:sldId id="292" r:id="rId6"/>
    <p:sldId id="275" r:id="rId7"/>
    <p:sldId id="276" r:id="rId8"/>
    <p:sldId id="277" r:id="rId9"/>
    <p:sldId id="278" r:id="rId10"/>
    <p:sldId id="279" r:id="rId11"/>
    <p:sldId id="290" r:id="rId12"/>
    <p:sldId id="282" r:id="rId13"/>
    <p:sldId id="283" r:id="rId14"/>
    <p:sldId id="284" r:id="rId15"/>
    <p:sldId id="285" r:id="rId16"/>
    <p:sldId id="293" r:id="rId17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6EC173"/>
    <a:srgbClr val="F99F2C"/>
    <a:srgbClr val="FFFFFF"/>
    <a:srgbClr val="B4D56D"/>
    <a:srgbClr val="B1DDB4"/>
    <a:srgbClr val="F9A13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655" autoAdjust="0"/>
    <p:restoredTop sz="73684" autoAdjust="0"/>
  </p:normalViewPr>
  <p:slideViewPr>
    <p:cSldViewPr snapToGrid="0">
      <p:cViewPr varScale="1">
        <p:scale>
          <a:sx n="81" d="100"/>
          <a:sy n="81" d="100"/>
        </p:scale>
        <p:origin x="960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59" d="100"/>
          <a:sy n="59" d="100"/>
        </p:scale>
        <p:origin x="2524" y="64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EF3F159-7250-4DD4-91C2-13B35D56E1AF}" type="datetimeFigureOut">
              <a:rPr lang="ko-KR" altLang="en-US" smtClean="0"/>
              <a:t>2024-08-06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09E5BFC-1559-42F1-8940-AB342D56BF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3045930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6184230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React</a:t>
            </a:r>
            <a:r>
              <a:rPr lang="ko-KR" altLang="en-US" dirty="0"/>
              <a:t>에서 </a:t>
            </a:r>
            <a:r>
              <a:rPr lang="en-US" altLang="ko-KR" dirty="0"/>
              <a:t>‘map()’</a:t>
            </a:r>
            <a:r>
              <a:rPr lang="ko-KR" altLang="en-US" dirty="0"/>
              <a:t> 함수는 배열을 순회하며 각 요소에 대해 변환 작업을 수행할 때 사용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Map() </a:t>
            </a:r>
            <a:r>
              <a:rPr lang="ko-KR" altLang="en-US" dirty="0"/>
              <a:t>함수는 원본 배열을 변경하지 않고</a:t>
            </a:r>
            <a:r>
              <a:rPr lang="en-US" altLang="ko-KR" dirty="0"/>
              <a:t>, </a:t>
            </a:r>
            <a:r>
              <a:rPr lang="ko-KR" altLang="en-US" dirty="0"/>
              <a:t>변환된 새로운 배열을 반환함</a:t>
            </a:r>
            <a:r>
              <a:rPr lang="en-US" altLang="ko-KR" dirty="0"/>
              <a:t>.</a:t>
            </a:r>
          </a:p>
          <a:p>
            <a:r>
              <a:rPr lang="en-US" altLang="ko-KR" dirty="0">
                <a:sym typeface="Wingdings" panose="05000000000000000000" pitchFamily="2" charset="2"/>
              </a:rPr>
              <a:t> React</a:t>
            </a:r>
            <a:r>
              <a:rPr lang="ko-KR" altLang="en-US" dirty="0">
                <a:sym typeface="Wingdings" panose="05000000000000000000" pitchFamily="2" charset="2"/>
              </a:rPr>
              <a:t>에서는 상태</a:t>
            </a:r>
            <a:r>
              <a:rPr lang="en-US" altLang="ko-KR" dirty="0">
                <a:sym typeface="Wingdings" panose="05000000000000000000" pitchFamily="2" charset="2"/>
              </a:rPr>
              <a:t>(state)</a:t>
            </a:r>
            <a:r>
              <a:rPr lang="ko-KR" altLang="en-US" dirty="0">
                <a:sym typeface="Wingdings" panose="05000000000000000000" pitchFamily="2" charset="2"/>
              </a:rPr>
              <a:t>의 불변성을 유지하는 것이 중요함</a:t>
            </a:r>
            <a:r>
              <a:rPr lang="en-US" altLang="ko-KR" dirty="0">
                <a:sym typeface="Wingdings" panose="05000000000000000000" pitchFamily="2" charset="2"/>
              </a:rPr>
              <a:t>.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- </a:t>
            </a:r>
            <a:r>
              <a:rPr lang="en-US" altLang="ko-KR" dirty="0" err="1"/>
              <a:t>CurrentValue</a:t>
            </a:r>
            <a:r>
              <a:rPr lang="en-US" altLang="ko-KR" dirty="0"/>
              <a:t> = </a:t>
            </a:r>
            <a:r>
              <a:rPr lang="ko-KR" altLang="en-US" dirty="0"/>
              <a:t>배열의 현재 요소</a:t>
            </a:r>
            <a:endParaRPr lang="en-US" altLang="ko-KR" dirty="0"/>
          </a:p>
          <a:p>
            <a:r>
              <a:rPr lang="en-US" altLang="ko-KR" dirty="0"/>
              <a:t>- Index = </a:t>
            </a:r>
            <a:r>
              <a:rPr lang="ko-KR" altLang="en-US" dirty="0"/>
              <a:t>현재 요소의 인덱스 </a:t>
            </a:r>
            <a:r>
              <a:rPr lang="en-US" altLang="ko-KR" dirty="0"/>
              <a:t>(</a:t>
            </a:r>
            <a:r>
              <a:rPr lang="ko-KR" altLang="en-US" dirty="0"/>
              <a:t>선택</a:t>
            </a:r>
            <a:r>
              <a:rPr lang="en-US" altLang="ko-KR" dirty="0"/>
              <a:t>)</a:t>
            </a:r>
          </a:p>
          <a:p>
            <a:r>
              <a:rPr lang="en-US" altLang="ko-KR" dirty="0"/>
              <a:t>- Array = ‘map()’ </a:t>
            </a:r>
            <a:r>
              <a:rPr lang="ko-KR" altLang="en-US" dirty="0"/>
              <a:t>을 호출한 원본 배열을 참조 </a:t>
            </a:r>
            <a:r>
              <a:rPr lang="en-US" altLang="ko-KR" dirty="0"/>
              <a:t>(</a:t>
            </a:r>
            <a:r>
              <a:rPr lang="ko-KR" altLang="en-US" dirty="0"/>
              <a:t>선택</a:t>
            </a:r>
            <a:r>
              <a:rPr lang="en-US" altLang="ko-KR" dirty="0"/>
              <a:t>)</a:t>
            </a:r>
          </a:p>
          <a:p>
            <a:endParaRPr lang="en-US" altLang="ko-KR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6890108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map</a:t>
            </a:r>
            <a:r>
              <a:rPr lang="ko-KR" altLang="en-US" dirty="0"/>
              <a:t>을 사용하면 됩니다</a:t>
            </a:r>
            <a:r>
              <a:rPr lang="en-US" altLang="ko-KR" dirty="0"/>
              <a:t>!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F7660BF-9D8A-4D9B-A2EE-C667F9509E93}" type="slidenum">
              <a:rPr lang="ko-KR" altLang="en-US" smtClean="0"/>
              <a:t>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14956191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물론 오브젝트로 이루어진 배열 뿐만 아니라 </a:t>
            </a:r>
            <a:endParaRPr lang="en-US" altLang="ko-KR" dirty="0"/>
          </a:p>
          <a:p>
            <a:r>
              <a:rPr lang="ko-KR" altLang="en-US" dirty="0" err="1"/>
              <a:t>숫자형</a:t>
            </a:r>
            <a:r>
              <a:rPr lang="ko-KR" altLang="en-US" dirty="0"/>
              <a:t> 배열</a:t>
            </a:r>
            <a:r>
              <a:rPr lang="en-US" altLang="ko-KR" dirty="0"/>
              <a:t>, </a:t>
            </a:r>
            <a:r>
              <a:rPr lang="ko-KR" altLang="en-US" dirty="0"/>
              <a:t>문자형 </a:t>
            </a:r>
            <a:r>
              <a:rPr lang="ko-KR" altLang="en-US" dirty="0" err="1"/>
              <a:t>배열등</a:t>
            </a:r>
            <a:r>
              <a:rPr lang="ko-KR" altLang="en-US" dirty="0"/>
              <a:t> 모든 값을 </a:t>
            </a:r>
            <a:r>
              <a:rPr lang="en-US" altLang="ko-KR" dirty="0"/>
              <a:t>props</a:t>
            </a:r>
            <a:r>
              <a:rPr lang="ko-KR" altLang="en-US" dirty="0"/>
              <a:t>로 전달할 수 있다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ko-KR" altLang="en-US" dirty="0" err="1"/>
              <a:t>숫자형이나</a:t>
            </a:r>
            <a:r>
              <a:rPr lang="ko-KR" altLang="en-US" dirty="0"/>
              <a:t> </a:t>
            </a:r>
            <a:r>
              <a:rPr lang="ko-KR" altLang="en-US" dirty="0" err="1"/>
              <a:t>문자형일</a:t>
            </a:r>
            <a:r>
              <a:rPr lang="ko-KR" altLang="en-US" dirty="0"/>
              <a:t> 때는 그냥 </a:t>
            </a:r>
            <a:r>
              <a:rPr lang="en-US" altLang="ko-KR" dirty="0"/>
              <a:t>el </a:t>
            </a:r>
            <a:r>
              <a:rPr lang="ko-KR" altLang="en-US" dirty="0"/>
              <a:t>자체를 </a:t>
            </a:r>
            <a:r>
              <a:rPr lang="en-US" altLang="ko-KR" dirty="0"/>
              <a:t>props</a:t>
            </a:r>
            <a:r>
              <a:rPr lang="ko-KR" altLang="en-US" dirty="0"/>
              <a:t>로 전달하면 되지만</a:t>
            </a:r>
            <a:endParaRPr lang="en-US" altLang="ko-KR" dirty="0"/>
          </a:p>
          <a:p>
            <a:r>
              <a:rPr lang="ko-KR" altLang="en-US" dirty="0"/>
              <a:t>오브젝트 배열일 때는 점</a:t>
            </a:r>
            <a:r>
              <a:rPr lang="en-US" altLang="ko-KR" baseline="0" dirty="0"/>
              <a:t> </a:t>
            </a:r>
            <a:r>
              <a:rPr lang="ko-KR" altLang="en-US" baseline="0" dirty="0"/>
              <a:t>접근 법으로 </a:t>
            </a:r>
            <a:r>
              <a:rPr lang="en-US" altLang="ko-KR" baseline="0" dirty="0"/>
              <a:t>value</a:t>
            </a:r>
            <a:r>
              <a:rPr lang="ko-KR" altLang="en-US" baseline="0" dirty="0"/>
              <a:t>를 전달해야한다는 점을 주의</a:t>
            </a:r>
            <a:r>
              <a:rPr lang="en-US" altLang="ko-KR" baseline="0" dirty="0"/>
              <a:t>!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F7660BF-9D8A-4D9B-A2EE-C667F9509E93}" type="slidenum">
              <a:rPr lang="ko-KR" altLang="en-US" smtClean="0"/>
              <a:t>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81224586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1</a:t>
            </a:r>
            <a:r>
              <a:rPr lang="ko-KR" altLang="en-US" dirty="0"/>
              <a:t>줄 코드일땐 </a:t>
            </a:r>
            <a:r>
              <a:rPr lang="en-US" altLang="ko-KR" dirty="0"/>
              <a:t>return </a:t>
            </a:r>
            <a:r>
              <a:rPr lang="ko-KR" altLang="en-US" dirty="0"/>
              <a:t>생략 가능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2106426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반복문으로 </a:t>
            </a:r>
            <a:r>
              <a:rPr lang="en-US" altLang="ko-KR" dirty="0"/>
              <a:t>html</a:t>
            </a:r>
            <a:r>
              <a:rPr lang="ko-KR" altLang="en-US" dirty="0"/>
              <a:t>을 생성하면 </a:t>
            </a:r>
            <a:r>
              <a:rPr lang="en-US" altLang="ko-KR" dirty="0"/>
              <a:t>key={html</a:t>
            </a:r>
            <a:r>
              <a:rPr lang="ko-KR" altLang="en-US" dirty="0"/>
              <a:t>마다 다른 숫자</a:t>
            </a:r>
            <a:r>
              <a:rPr lang="en-US" altLang="ko-KR" dirty="0"/>
              <a:t>}</a:t>
            </a:r>
            <a:r>
              <a:rPr lang="ko-KR" altLang="en-US" dirty="0"/>
              <a:t>를 </a:t>
            </a:r>
            <a:r>
              <a:rPr lang="ko-KR" altLang="en-US" dirty="0" err="1"/>
              <a:t>만들어줘야함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5626823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ko-KR" altLang="en-US" dirty="0"/>
              <a:t>리스트</a:t>
            </a:r>
            <a:r>
              <a:rPr lang="en-US" altLang="ko-KR" dirty="0"/>
              <a:t> </a:t>
            </a:r>
            <a:r>
              <a:rPr lang="ko-KR" altLang="en-US" dirty="0"/>
              <a:t>재정렬 시 문제</a:t>
            </a:r>
            <a:br>
              <a:rPr lang="en-US" altLang="ko-KR" dirty="0"/>
            </a:br>
            <a:r>
              <a:rPr lang="ko-KR" altLang="en-US" dirty="0"/>
              <a:t>배열의 항목이 재정렬되거나 삽입</a:t>
            </a:r>
            <a:r>
              <a:rPr lang="en-US" altLang="ko-KR" dirty="0"/>
              <a:t>, </a:t>
            </a:r>
            <a:r>
              <a:rPr lang="ko-KR" altLang="en-US" dirty="0"/>
              <a:t>삭제될 때</a:t>
            </a:r>
            <a:r>
              <a:rPr lang="en-US" altLang="ko-KR" dirty="0"/>
              <a:t>, </a:t>
            </a:r>
            <a:r>
              <a:rPr lang="ko-KR" altLang="en-US" dirty="0"/>
              <a:t>인덱스가 변동하기 때문에 </a:t>
            </a:r>
            <a:r>
              <a:rPr lang="en-US" altLang="ko-KR" dirty="0"/>
              <a:t>React</a:t>
            </a:r>
            <a:r>
              <a:rPr lang="ko-KR" altLang="en-US" dirty="0"/>
              <a:t>가 리스트 항목의 상태를 정확히 추적하기 어려울 수 있습니다</a:t>
            </a:r>
            <a:r>
              <a:rPr lang="en-US" altLang="ko-KR" dirty="0"/>
              <a:t>. </a:t>
            </a:r>
            <a:br>
              <a:rPr lang="en-US" altLang="ko-KR" dirty="0"/>
            </a:br>
            <a:r>
              <a:rPr lang="ko-KR" altLang="en-US" dirty="0"/>
              <a:t>이로 인해 성능 저하와 렌더링 버그가 발생할 수 있습니다</a:t>
            </a:r>
            <a:r>
              <a:rPr lang="en-US" altLang="ko-KR" dirty="0"/>
              <a:t>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altLang="ko-KR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ko-KR" altLang="en-US" dirty="0" err="1"/>
              <a:t>예를들어</a:t>
            </a:r>
            <a:r>
              <a:rPr lang="en-US" altLang="ko-KR" dirty="0"/>
              <a:t>, DB</a:t>
            </a:r>
            <a:r>
              <a:rPr lang="ko-KR" altLang="en-US" dirty="0"/>
              <a:t>에서 가져온 고유한 </a:t>
            </a:r>
            <a:r>
              <a:rPr lang="en-US" altLang="ko-KR" dirty="0"/>
              <a:t>ID </a:t>
            </a:r>
            <a:r>
              <a:rPr lang="ko-KR" altLang="en-US" dirty="0"/>
              <a:t>값 같은</a:t>
            </a:r>
            <a:r>
              <a:rPr lang="en-US" altLang="ko-KR" dirty="0"/>
              <a:t>..</a:t>
            </a:r>
            <a:r>
              <a:rPr lang="ko-KR" altLang="en-US" dirty="0"/>
              <a:t> </a:t>
            </a:r>
            <a:r>
              <a:rPr lang="en-US" altLang="ko-KR" dirty="0"/>
              <a:t>(</a:t>
            </a:r>
            <a:r>
              <a:rPr lang="ko-KR" altLang="en-US" dirty="0"/>
              <a:t>가장 좋은 접근 방식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5862999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7225252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0919227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 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2877839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배열의　각　요소를　주어진　조건에　따라　평가한　후，　그　조건을　만족하는　요소만을　새로운　배열로　반환함．</a:t>
            </a:r>
            <a:endParaRPr lang="en-US" altLang="ko-KR" dirty="0"/>
          </a:p>
          <a:p>
            <a:r>
              <a:rPr lang="ko-KR" altLang="en-US" dirty="0"/>
              <a:t>이　또한　역시，　원본　배열을　변경하지　않음．</a:t>
            </a:r>
            <a:endParaRPr lang="en-US" altLang="ko-KR" dirty="0"/>
          </a:p>
          <a:p>
            <a:endParaRPr lang="en-US" altLang="ko-KR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4390219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5252577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4838820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B009D0C-0730-3FA7-D006-7345AAB817A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524000" y="1080511"/>
            <a:ext cx="9144000" cy="2387600"/>
          </a:xfrm>
        </p:spPr>
        <p:txBody>
          <a:bodyPr anchor="b"/>
          <a:lstStyle>
            <a:lvl1pPr algn="ctr">
              <a:defRPr sz="6000" b="1">
                <a:solidFill>
                  <a:srgbClr val="6EC173"/>
                </a:solidFill>
              </a:defRPr>
            </a:lvl1pPr>
          </a:lstStyle>
          <a:p>
            <a:r>
              <a:rPr lang="ko-KR" altLang="en-US" sz="6000" dirty="0" err="1"/>
              <a:t>과정명</a:t>
            </a:r>
            <a:endParaRPr lang="ko-KR" altLang="en-US" sz="60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BBAF2A3-6AB5-1035-43BF-2D5011F42D62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524000" y="3741092"/>
            <a:ext cx="9144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dirty="0"/>
              <a:t>부제목</a:t>
            </a:r>
          </a:p>
        </p:txBody>
      </p:sp>
      <p:sp>
        <p:nvSpPr>
          <p:cNvPr id="11" name="날짜 개체 틀 10">
            <a:extLst>
              <a:ext uri="{FF2B5EF4-FFF2-40B4-BE49-F238E27FC236}">
                <a16:creationId xmlns:a16="http://schemas.microsoft.com/office/drawing/2014/main" id="{AAFCC098-95A8-6767-4379-8DD4626B9D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8월</a:t>
            </a:fld>
            <a:endParaRPr lang="ko-KR" altLang="en-US"/>
          </a:p>
        </p:txBody>
      </p:sp>
      <p:sp>
        <p:nvSpPr>
          <p:cNvPr id="12" name="바닥글 개체 틀 11">
            <a:extLst>
              <a:ext uri="{FF2B5EF4-FFF2-40B4-BE49-F238E27FC236}">
                <a16:creationId xmlns:a16="http://schemas.microsoft.com/office/drawing/2014/main" id="{51CCB6AA-ECDD-5B10-7505-0EFEAC9C64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13" name="슬라이드 번호 개체 틀 12">
            <a:extLst>
              <a:ext uri="{FF2B5EF4-FFF2-40B4-BE49-F238E27FC236}">
                <a16:creationId xmlns:a16="http://schemas.microsoft.com/office/drawing/2014/main" id="{38B667F6-930A-7162-796D-3A16CE2AFD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14" name="제목 1">
            <a:extLst>
              <a:ext uri="{FF2B5EF4-FFF2-40B4-BE49-F238E27FC236}">
                <a16:creationId xmlns:a16="http://schemas.microsoft.com/office/drawing/2014/main" id="{92A323E6-E95B-6EB2-7753-649DE78B1653}"/>
              </a:ext>
            </a:extLst>
          </p:cNvPr>
          <p:cNvSpPr txBox="1">
            <a:spLocks/>
          </p:cNvSpPr>
          <p:nvPr userDrawn="1"/>
        </p:nvSpPr>
        <p:spPr>
          <a:xfrm>
            <a:off x="6096000" y="2203895"/>
            <a:ext cx="3287846" cy="45852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altLang="ko-KR" sz="2400" dirty="0">
              <a:solidFill>
                <a:srgbClr val="6EC173"/>
              </a:solidFill>
            </a:endParaRPr>
          </a:p>
        </p:txBody>
      </p:sp>
      <p:pic>
        <p:nvPicPr>
          <p:cNvPr id="5" name="그림 4" descr="그래픽, 그래픽 디자인, 클립아트, 다채로움이(가) 표시된 사진&#10;&#10;자동 생성된 설명">
            <a:extLst>
              <a:ext uri="{FF2B5EF4-FFF2-40B4-BE49-F238E27FC236}">
                <a16:creationId xmlns:a16="http://schemas.microsoft.com/office/drawing/2014/main" id="{BE5A577B-81A7-2FA6-9E57-9DCEC5BF71F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96000" y="1461146"/>
            <a:ext cx="3600000" cy="36521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582618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파트제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날짜 개체 틀 10">
            <a:extLst>
              <a:ext uri="{FF2B5EF4-FFF2-40B4-BE49-F238E27FC236}">
                <a16:creationId xmlns:a16="http://schemas.microsoft.com/office/drawing/2014/main" id="{AAFCC098-95A8-6767-4379-8DD4626B9D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8월</a:t>
            </a:fld>
            <a:endParaRPr lang="ko-KR" altLang="en-US"/>
          </a:p>
        </p:txBody>
      </p:sp>
      <p:sp>
        <p:nvSpPr>
          <p:cNvPr id="12" name="바닥글 개체 틀 11">
            <a:extLst>
              <a:ext uri="{FF2B5EF4-FFF2-40B4-BE49-F238E27FC236}">
                <a16:creationId xmlns:a16="http://schemas.microsoft.com/office/drawing/2014/main" id="{51CCB6AA-ECDD-5B10-7505-0EFEAC9C64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13" name="슬라이드 번호 개체 틀 12">
            <a:extLst>
              <a:ext uri="{FF2B5EF4-FFF2-40B4-BE49-F238E27FC236}">
                <a16:creationId xmlns:a16="http://schemas.microsoft.com/office/drawing/2014/main" id="{38B667F6-930A-7162-796D-3A16CE2AFD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14" name="제목 1">
            <a:extLst>
              <a:ext uri="{FF2B5EF4-FFF2-40B4-BE49-F238E27FC236}">
                <a16:creationId xmlns:a16="http://schemas.microsoft.com/office/drawing/2014/main" id="{92A323E6-E95B-6EB2-7753-649DE78B1653}"/>
              </a:ext>
            </a:extLst>
          </p:cNvPr>
          <p:cNvSpPr txBox="1">
            <a:spLocks/>
          </p:cNvSpPr>
          <p:nvPr userDrawn="1"/>
        </p:nvSpPr>
        <p:spPr>
          <a:xfrm>
            <a:off x="6096000" y="2203895"/>
            <a:ext cx="3287846" cy="45852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altLang="ko-KR" sz="2400" dirty="0">
              <a:solidFill>
                <a:srgbClr val="6EC173"/>
              </a:solidFill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 hasCustomPrompt="1"/>
          </p:nvPr>
        </p:nvSpPr>
        <p:spPr>
          <a:xfrm>
            <a:off x="838200" y="2598269"/>
            <a:ext cx="10515600" cy="1325563"/>
          </a:xfrm>
        </p:spPr>
        <p:txBody>
          <a:bodyPr>
            <a:noAutofit/>
          </a:bodyPr>
          <a:lstStyle>
            <a:lvl1pPr algn="ctr">
              <a:defRPr sz="8000" b="1">
                <a:solidFill>
                  <a:srgbClr val="6EC173"/>
                </a:solidFill>
              </a:defRPr>
            </a:lvl1pPr>
          </a:lstStyle>
          <a:p>
            <a:r>
              <a:rPr lang="ko-KR" altLang="en-US" dirty="0"/>
              <a:t>파트 제목</a:t>
            </a:r>
          </a:p>
        </p:txBody>
      </p:sp>
    </p:spTree>
    <p:extLst>
      <p:ext uri="{BB962C8B-B14F-4D97-AF65-F5344CB8AC3E}">
        <p14:creationId xmlns:p14="http://schemas.microsoft.com/office/powerpoint/2010/main" val="63091001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8757714-0D4F-E274-0B81-4198785050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784D0C3-D33B-7107-AB80-D9F33099C3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8월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9897DBF-398C-9DB6-E916-35AB4FE2F4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155B8D2-7CD5-9B15-8E13-87FF760EC8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7" name="제목 개체 틀 1">
            <a:extLst>
              <a:ext uri="{FF2B5EF4-FFF2-40B4-BE49-F238E27FC236}">
                <a16:creationId xmlns:a16="http://schemas.microsoft.com/office/drawing/2014/main" id="{964962A2-A4D4-9231-66A1-E1F593E604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239650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>
              <a:defRPr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49974746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14601C5-2723-67A2-7D21-9F39D14C7C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4B1E75F-8FF2-A69A-E094-650EAEFD048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331FDEF-673D-E199-7B54-FFD44BA297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5A7087-D460-46DD-B430-F8D9B9677D08}" type="datetime6">
              <a:rPr lang="ko-KR" altLang="en-US" smtClean="0"/>
              <a:t>2024년 8월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6E7B47C-D16B-1F66-3165-B941B9C612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6F13A5C-BE81-C46F-5191-E33C5F066F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4715196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D69A2ED-4026-CEC5-0F77-74287163EC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95CA756-D15D-464E-966E-2DF9AA9796A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FDC8A21-839F-87B3-9ABB-E0DA07E88EA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B268EA5-E313-8CB5-4A12-914620F474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81BA25-D675-4234-A003-8449BDEEF18E}" type="datetime6">
              <a:rPr lang="ko-KR" altLang="en-US" smtClean="0"/>
              <a:t>2024년 8월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02797BB-0DAF-A25A-8AC2-46D61F5D6C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48752A1-1625-10E7-A4F0-2E13719E44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1435205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8B7AE7F-26ED-35B6-1BBA-A08CB8ECE2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>
            <a:lvl1pPr>
              <a:defRPr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588D8DD-7148-8B19-6172-B0A169CFC3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E38CD1D6-87C8-BD82-7711-368227F17A5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EA208518-1B3C-A417-C6AC-99F9C66D122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5D843F92-B722-06A6-9A56-0A03BE26CFC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23532A15-9ECF-C043-5CC2-911757B5AC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155C29-A87F-46F0-A24C-6C9F0A4BF6AA}" type="datetime6">
              <a:rPr lang="ko-KR" altLang="en-US" smtClean="0"/>
              <a:t>2024년 8월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79998F67-77F3-1632-EC3C-114B75C5A3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8AB6C1BB-6866-2A3B-A1F3-28B5D93C14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4830240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F899283-9B12-5339-3042-B6B67884BD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D97E34E6-ECFD-E5F2-081F-39427DA947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2EDD62-8757-43DB-BAE0-460422B548EA}" type="datetime6">
              <a:rPr lang="ko-KR" altLang="en-US" smtClean="0"/>
              <a:t>2024년 8월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EAE04029-E47F-F52E-AF1E-D31E2D400E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03665754-DE22-245A-A4D5-FE78A35B0D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810893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35E82391-47AE-B4C0-C4C4-22E5D96331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6A871B-4800-495F-AC75-93D44C7DEBA5}" type="datetime6">
              <a:rPr lang="ko-KR" altLang="en-US" smtClean="0"/>
              <a:t>2024년 8월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B69BF5EA-4922-4594-BC0D-A1D7F17A9A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67BF1BF-296A-E655-349A-1877369A8C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522725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5094360-95AE-5B28-BF6B-212680601E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6D97E12-A7FB-C81A-18C2-34781A0686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8739CAA1-90A7-601C-BD90-A0DC6A391D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E885FF0-6BE8-F11D-CDAC-7E7B63F396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605888-30A6-49BB-95E2-DEAE4E5B09E9}" type="datetime6">
              <a:rPr lang="ko-KR" altLang="en-US" smtClean="0"/>
              <a:t>2024년 8월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53A67A35-AF67-BDC9-86E1-D6EE283B8D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8C23707-35CC-08DC-8C13-06293DE525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4564058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0BD7A00-094E-C3F9-1A07-8FD90B7C99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DFE9F136-9A64-0D06-F721-734E1E22447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B5C3BE40-4202-4B4A-C8A7-24945AC6EE2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DD21BA2-CA17-A4B0-BBDD-B3995CC85A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A39A32-5728-48B8-9F9C-437D214CCAF1}" type="datetime6">
              <a:rPr lang="ko-KR" altLang="en-US" smtClean="0"/>
              <a:t>2024년 8월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BE5E2437-D7E8-6CA8-856B-7C81E4CF80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000DA3E-B239-6A01-347D-5321CBE953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8596469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78DC3B4-86CF-2498-CC6E-A256E4AA68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A1E0FE57-EEBD-DC2E-5AAA-A425A6D59E3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C0A4B4C-46E0-9C94-5EAC-7237CB6A9F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ECC8BA-EBCB-4BF9-8E87-970CE0138376}" type="datetime6">
              <a:rPr lang="ko-KR" altLang="en-US" smtClean="0"/>
              <a:t>2024년 8월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816647A-6FF5-9F90-2812-CADD484055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F6AE80C-7F7A-130E-8BD8-5BA97658E5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5460681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E58AC244-4A84-09D3-50FB-F934F9F4796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B03D64C9-D76D-C43E-C82B-A315CE73F3E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40D0D7C-1A4D-433C-79F6-2C0633D1E9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69FA6E-4699-4AC6-B2CB-4E60A58ED7A8}" type="datetime6">
              <a:rPr lang="ko-KR" altLang="en-US" smtClean="0"/>
              <a:t>2024년 8월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C3F9A77-28DF-C409-13B2-D20C80BB4A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C466F88-F4F1-E00D-DC2A-8DBEA27072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3970021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D0FFFA81-23D3-040A-78B0-48B808FA70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239650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9EC21FE-078C-940B-0151-04DDA663F5E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257DE65-2350-3072-3D26-AE091FE7230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0" y="6479713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691C14A-5735-4A8B-B68B-DEC1DC2A3813}" type="datetime6">
              <a:rPr lang="ko-KR" altLang="en-US" smtClean="0"/>
              <a:t>2024년 8월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960F7DA-0F14-8211-C3E8-B6E466EE492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C8DDAAB-9487-BAAF-7209-B8E704131B6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448800" y="6479714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114AD115-409A-442E-434C-D90831860530}"/>
              </a:ext>
            </a:extLst>
          </p:cNvPr>
          <p:cNvSpPr/>
          <p:nvPr userDrawn="1"/>
        </p:nvSpPr>
        <p:spPr>
          <a:xfrm>
            <a:off x="0" y="6415344"/>
            <a:ext cx="12192000" cy="45719"/>
          </a:xfrm>
          <a:prstGeom prst="rect">
            <a:avLst/>
          </a:prstGeom>
          <a:solidFill>
            <a:srgbClr val="6EC173"/>
          </a:solidFill>
          <a:ln>
            <a:solidFill>
              <a:srgbClr val="6EC17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4" name="그림 13" descr="그래픽, 그래픽 디자인, 폰트, 원이(가) 표시된 사진&#10;&#10;자동 생성된 설명">
            <a:extLst>
              <a:ext uri="{FF2B5EF4-FFF2-40B4-BE49-F238E27FC236}">
                <a16:creationId xmlns:a16="http://schemas.microsoft.com/office/drawing/2014/main" id="{0EB71D7B-83F1-1414-954A-8C79751B7793}"/>
              </a:ext>
            </a:extLst>
          </p:cNvPr>
          <p:cNvPicPr>
            <a:picLocks noChangeAspect="1"/>
          </p:cNvPicPr>
          <p:nvPr userDrawn="1"/>
        </p:nvPicPr>
        <p:blipFill>
          <a:blip r:embed="rId1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35681" y="96056"/>
            <a:ext cx="1260000" cy="2708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40676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7" r:id="rId1"/>
    <p:sldLayoutId id="2147483688" r:id="rId2"/>
    <p:sldLayoutId id="2147483689" r:id="rId3"/>
    <p:sldLayoutId id="2147483690" r:id="rId4"/>
    <p:sldLayoutId id="2147483691" r:id="rId5"/>
    <p:sldLayoutId id="2147483692" r:id="rId6"/>
    <p:sldLayoutId id="2147483693" r:id="rId7"/>
    <p:sldLayoutId id="2147483694" r:id="rId8"/>
    <p:sldLayoutId id="2147483695" r:id="rId9"/>
    <p:sldLayoutId id="2147483696" r:id="rId10"/>
    <p:sldLayoutId id="2147483697" r:id="rId11"/>
    <p:sldLayoutId id="2147483698" r:id="rId12"/>
  </p:sldLayoutIdLst>
  <p:hf hdr="0" ftr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5" Type="http://schemas.openxmlformats.org/officeDocument/2006/relationships/image" Target="../media/image10.png"/><Relationship Id="rId4" Type="http://schemas.openxmlformats.org/officeDocument/2006/relationships/notesSlide" Target="../notesSlides/notesSlide9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3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video" Target="../media/media2.mp4"/><Relationship Id="rId1" Type="http://schemas.microsoft.com/office/2007/relationships/media" Target="../media/media2.mp4"/><Relationship Id="rId5" Type="http://schemas.openxmlformats.org/officeDocument/2006/relationships/image" Target="../media/image15.png"/><Relationship Id="rId4" Type="http://schemas.openxmlformats.org/officeDocument/2006/relationships/notesSlide" Target="../notesSlides/notesSlide1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제목 6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 altLang="en-US" dirty="0"/>
              <a:t>웹 개발자 부트캠프 과정</a:t>
            </a:r>
          </a:p>
        </p:txBody>
      </p:sp>
      <p:sp>
        <p:nvSpPr>
          <p:cNvPr id="8" name="부제목 7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ko-KR" sz="2800" dirty="0" err="1"/>
              <a:t>SeSAC</a:t>
            </a:r>
            <a:r>
              <a:rPr lang="en-US" altLang="ko-KR" sz="2800" dirty="0"/>
              <a:t> x </a:t>
            </a:r>
            <a:r>
              <a:rPr lang="en-US" altLang="ko-KR" sz="2800" dirty="0" err="1"/>
              <a:t>CODINGOn</a:t>
            </a: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0223B3B-2FCF-58AF-BC81-E9824EB6B1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A02FB7-A3D0-4BF4-B23F-90A4C3B73A56}" type="datetime6">
              <a:rPr lang="ko-KR" altLang="en-US" smtClean="0"/>
              <a:t>2024년 8월</a:t>
            </a:fld>
            <a:endParaRPr lang="ko-KR" altLang="en-US" dirty="0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C7112DC-52CD-A148-06F6-6813E1A67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1165530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8월</a:t>
            </a:fld>
            <a:endParaRPr lang="ko-KR" altLang="en-US"/>
          </a:p>
        </p:txBody>
      </p:sp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</a:t>
            </a:fld>
            <a:endParaRPr lang="ko-KR" altLang="en-US"/>
          </a:p>
        </p:txBody>
      </p:sp>
      <p:sp>
        <p:nvSpPr>
          <p:cNvPr id="4" name="제목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map()</a:t>
            </a:r>
            <a:r>
              <a:rPr lang="ko-KR" altLang="en-US" dirty="0"/>
              <a:t>을 이용한 반복</a:t>
            </a:r>
          </a:p>
        </p:txBody>
      </p:sp>
    </p:spTree>
    <p:extLst>
      <p:ext uri="{BB962C8B-B14F-4D97-AF65-F5344CB8AC3E}">
        <p14:creationId xmlns:p14="http://schemas.microsoft.com/office/powerpoint/2010/main" val="35769663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FB0A8FF-58B4-AADA-C277-115F024B2E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22960" y="2504145"/>
            <a:ext cx="10515600" cy="3461238"/>
          </a:xfrm>
        </p:spPr>
        <p:txBody>
          <a:bodyPr/>
          <a:lstStyle/>
          <a:p>
            <a:r>
              <a:rPr lang="en-US" altLang="ko-KR" dirty="0" err="1"/>
              <a:t>callbackFunction</a:t>
            </a:r>
            <a:endParaRPr lang="en-US" altLang="ko-KR" dirty="0"/>
          </a:p>
          <a:p>
            <a:pPr lvl="1"/>
            <a:r>
              <a:rPr lang="ko-KR" altLang="en-US" dirty="0"/>
              <a:t>새로운 배열의 요소를 생성하는 함수로</a:t>
            </a:r>
            <a:r>
              <a:rPr lang="en-US" altLang="ko-KR" dirty="0"/>
              <a:t>, </a:t>
            </a:r>
            <a:r>
              <a:rPr lang="en-US" altLang="ko-KR" dirty="0" err="1"/>
              <a:t>currentValue</a:t>
            </a:r>
            <a:r>
              <a:rPr lang="en-US" altLang="ko-KR" dirty="0"/>
              <a:t>, index, array 3</a:t>
            </a:r>
            <a:r>
              <a:rPr lang="ko-KR" altLang="en-US" dirty="0"/>
              <a:t>개의 인수를 가질 수 있다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[</a:t>
            </a:r>
            <a:r>
              <a:rPr lang="en-US" altLang="ko-KR" dirty="0" err="1"/>
              <a:t>this.Arg</a:t>
            </a:r>
            <a:r>
              <a:rPr lang="en-US" altLang="ko-KR" dirty="0"/>
              <a:t>] </a:t>
            </a:r>
            <a:r>
              <a:rPr lang="ko-KR" altLang="en-US" dirty="0"/>
              <a:t>는 생략 가능한 것으로 </a:t>
            </a:r>
            <a:r>
              <a:rPr lang="en-US" altLang="ko-KR" dirty="0" err="1"/>
              <a:t>callbackFunction</a:t>
            </a:r>
            <a:r>
              <a:rPr lang="en-US" altLang="ko-KR" dirty="0"/>
              <a:t> </a:t>
            </a:r>
            <a:r>
              <a:rPr lang="ko-KR" altLang="en-US" dirty="0"/>
              <a:t>에서 사용할 </a:t>
            </a:r>
            <a:r>
              <a:rPr lang="en-US" altLang="ko-KR" dirty="0"/>
              <a:t>this </a:t>
            </a:r>
            <a:r>
              <a:rPr lang="ko-KR" altLang="en-US" dirty="0"/>
              <a:t>객체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D912659-0178-7724-84E7-F9804EEB51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E2EEAA-2D64-41F3-9CC6-1D2C9158BEA1}" type="datetime6">
              <a:rPr lang="ko-KR" altLang="en-US" smtClean="0"/>
              <a:t>2024년 8월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038AD2A-D098-5002-7259-7C0CF8DAB8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</a:t>
            </a:fld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45FB17D5-C686-6D90-A10C-DFBDB6D2FE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map()</a:t>
            </a:r>
            <a:r>
              <a:rPr lang="ko-KR" altLang="en-US" dirty="0"/>
              <a:t> 함수 문법</a:t>
            </a: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C6DAE6A3-6074-A6A5-BC16-5ACF24C50B0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1614046"/>
            <a:ext cx="9416222" cy="7645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429107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ko-KR" altLang="en-US" dirty="0"/>
              <a:t>배열 데이터를 좀 더 효율적으로 그리기 위해서 </a:t>
            </a:r>
            <a:r>
              <a:rPr lang="en-US" altLang="ko-KR" dirty="0"/>
              <a:t>map </a:t>
            </a:r>
            <a:r>
              <a:rPr lang="ko-KR" altLang="en-US" dirty="0"/>
              <a:t>사용</a:t>
            </a:r>
            <a:r>
              <a:rPr lang="en-US" altLang="ko-KR" dirty="0"/>
              <a:t>!</a:t>
            </a:r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key</a:t>
            </a:r>
          </a:p>
          <a:p>
            <a:pPr lvl="1"/>
            <a:r>
              <a:rPr lang="ko-KR" altLang="en-US" dirty="0"/>
              <a:t>기존 요소와 업데이트 요소를 비교하는데 사용되는 속성</a:t>
            </a:r>
            <a:r>
              <a:rPr lang="en-US" altLang="ko-KR" dirty="0"/>
              <a:t>, </a:t>
            </a:r>
          </a:p>
          <a:p>
            <a:pPr lvl="1"/>
            <a:r>
              <a:rPr lang="ko-KR" altLang="en-US" dirty="0" err="1"/>
              <a:t>다른요소와</a:t>
            </a:r>
            <a:r>
              <a:rPr lang="ko-KR" altLang="en-US" dirty="0"/>
              <a:t> 겹치지 않는 </a:t>
            </a:r>
            <a:r>
              <a:rPr lang="ko-KR" altLang="en-US" dirty="0">
                <a:solidFill>
                  <a:schemeClr val="accent1"/>
                </a:solidFill>
              </a:rPr>
              <a:t>고유한 값</a:t>
            </a:r>
            <a:r>
              <a:rPr lang="ko-KR" altLang="en-US" dirty="0"/>
              <a:t>이어야 합니다</a:t>
            </a:r>
            <a:r>
              <a:rPr lang="en-US" altLang="ko-KR" dirty="0"/>
              <a:t>.</a:t>
            </a:r>
          </a:p>
          <a:p>
            <a:pPr lvl="1"/>
            <a:r>
              <a:rPr lang="en-US" altLang="ko-KR" dirty="0"/>
              <a:t>key</a:t>
            </a:r>
            <a:r>
              <a:rPr lang="ko-KR" altLang="en-US" dirty="0"/>
              <a:t>는 고유한 값을 가져야 하기 때문에 배열의 요소 중 고유한 값</a:t>
            </a:r>
            <a:r>
              <a:rPr lang="en-US" altLang="ko-KR" dirty="0"/>
              <a:t>(id </a:t>
            </a:r>
            <a:r>
              <a:rPr lang="ko-KR" altLang="en-US" dirty="0"/>
              <a:t>등</a:t>
            </a:r>
            <a:r>
              <a:rPr lang="en-US" altLang="ko-KR" dirty="0"/>
              <a:t>)</a:t>
            </a:r>
            <a:r>
              <a:rPr lang="ko-KR" altLang="en-US" dirty="0"/>
              <a:t>이 존재하지 않는다면 </a:t>
            </a:r>
            <a:r>
              <a:rPr lang="en-US" altLang="ko-KR" dirty="0"/>
              <a:t>index</a:t>
            </a:r>
            <a:r>
              <a:rPr lang="ko-KR" altLang="en-US" dirty="0"/>
              <a:t>로 사용해도 됩니다</a:t>
            </a:r>
            <a:r>
              <a:rPr lang="en-US" altLang="ko-KR" dirty="0"/>
              <a:t>! (</a:t>
            </a:r>
            <a:r>
              <a:rPr lang="ko-KR" altLang="en-US" dirty="0"/>
              <a:t>단</a:t>
            </a:r>
            <a:r>
              <a:rPr lang="en-US" altLang="ko-KR" dirty="0"/>
              <a:t>, index </a:t>
            </a:r>
            <a:r>
              <a:rPr lang="ko-KR" altLang="en-US" dirty="0"/>
              <a:t>를 사용하는 것은 최후의 수단</a:t>
            </a:r>
            <a:r>
              <a:rPr lang="en-US" altLang="ko-KR" dirty="0"/>
              <a:t>!)</a:t>
            </a: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배열 데이터</a:t>
            </a:r>
            <a:r>
              <a:rPr lang="en-US" altLang="ko-KR" dirty="0"/>
              <a:t>, map()</a:t>
            </a:r>
            <a:r>
              <a:rPr lang="ko-KR" altLang="en-US" dirty="0"/>
              <a:t>과 함께 사용</a:t>
            </a:r>
          </a:p>
        </p:txBody>
      </p:sp>
      <p:sp>
        <p:nvSpPr>
          <p:cNvPr id="5" name="직사각형 4"/>
          <p:cNvSpPr/>
          <p:nvPr/>
        </p:nvSpPr>
        <p:spPr>
          <a:xfrm>
            <a:off x="1163727" y="2323284"/>
            <a:ext cx="8365067" cy="1200329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2400" dirty="0">
                <a:solidFill>
                  <a:srgbClr val="3399FF"/>
                </a:solidFill>
                <a:latin typeface="Consolas" panose="020B0609020204030204" pitchFamily="49" charset="0"/>
              </a:rPr>
              <a:t>{</a:t>
            </a:r>
            <a:r>
              <a:rPr lang="ko-KR" altLang="en-US" sz="2400" dirty="0">
                <a:solidFill>
                  <a:srgbClr val="F07178"/>
                </a:solidFill>
                <a:latin typeface="Consolas" panose="020B0609020204030204" pitchFamily="49" charset="0"/>
              </a:rPr>
              <a:t>배열</a:t>
            </a:r>
            <a:r>
              <a:rPr lang="en-US" altLang="ko-KR" sz="2400" dirty="0">
                <a:solidFill>
                  <a:srgbClr val="89DDFF"/>
                </a:solidFill>
                <a:latin typeface="Consolas" panose="020B0609020204030204" pitchFamily="49" charset="0"/>
              </a:rPr>
              <a:t>.</a:t>
            </a:r>
            <a:r>
              <a:rPr lang="en-US" altLang="ko-KR" sz="2400" dirty="0">
                <a:solidFill>
                  <a:srgbClr val="82AAFF"/>
                </a:solidFill>
                <a:latin typeface="Consolas" panose="020B0609020204030204" pitchFamily="49" charset="0"/>
              </a:rPr>
              <a:t>map</a:t>
            </a:r>
            <a:r>
              <a:rPr lang="en-US" altLang="ko-KR" sz="2400" dirty="0">
                <a:solidFill>
                  <a:schemeClr val="accent4"/>
                </a:solidFill>
                <a:latin typeface="Consolas" panose="020B0609020204030204" pitchFamily="49" charset="0"/>
              </a:rPr>
              <a:t>(</a:t>
            </a:r>
            <a:r>
              <a:rPr lang="en-US" altLang="ko-KR" sz="2400" dirty="0">
                <a:solidFill>
                  <a:srgbClr val="FF00FF"/>
                </a:solidFill>
                <a:latin typeface="Consolas" panose="020B0609020204030204" pitchFamily="49" charset="0"/>
              </a:rPr>
              <a:t>(</a:t>
            </a:r>
            <a:r>
              <a:rPr lang="ko-KR" altLang="en-US" sz="2400" dirty="0">
                <a:solidFill>
                  <a:srgbClr val="F78C6C"/>
                </a:solidFill>
                <a:latin typeface="Consolas" panose="020B0609020204030204" pitchFamily="49" charset="0"/>
              </a:rPr>
              <a:t>요소</a:t>
            </a:r>
            <a:r>
              <a:rPr lang="en-US" altLang="ko-KR" sz="2400" dirty="0">
                <a:solidFill>
                  <a:srgbClr val="89DDFF"/>
                </a:solidFill>
                <a:latin typeface="Consolas" panose="020B0609020204030204" pitchFamily="49" charset="0"/>
              </a:rPr>
              <a:t>, </a:t>
            </a:r>
            <a:r>
              <a:rPr lang="ko-KR" altLang="en-US" sz="2400" dirty="0">
                <a:solidFill>
                  <a:srgbClr val="F78C6C"/>
                </a:solidFill>
                <a:latin typeface="Consolas" panose="020B0609020204030204" pitchFamily="49" charset="0"/>
              </a:rPr>
              <a:t>인덱스</a:t>
            </a:r>
            <a:r>
              <a:rPr lang="en-US" altLang="ko-KR" sz="2400" dirty="0">
                <a:solidFill>
                  <a:srgbClr val="FF00FF"/>
                </a:solidFill>
                <a:latin typeface="Consolas" panose="020B0609020204030204" pitchFamily="49" charset="0"/>
              </a:rPr>
              <a:t>)</a:t>
            </a:r>
            <a:r>
              <a:rPr lang="en-US" altLang="ko-KR" sz="2400" dirty="0">
                <a:solidFill>
                  <a:srgbClr val="89DDFF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2400" dirty="0">
                <a:solidFill>
                  <a:srgbClr val="C792EA"/>
                </a:solidFill>
                <a:latin typeface="Consolas" panose="020B0609020204030204" pitchFamily="49" charset="0"/>
              </a:rPr>
              <a:t>=&gt;</a:t>
            </a:r>
            <a:r>
              <a:rPr lang="ko-KR" altLang="en-US" sz="2400" dirty="0">
                <a:solidFill>
                  <a:srgbClr val="89DDFF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2400" dirty="0">
                <a:solidFill>
                  <a:srgbClr val="FF00FF"/>
                </a:solidFill>
                <a:latin typeface="Consolas" panose="020B0609020204030204" pitchFamily="49" charset="0"/>
              </a:rPr>
              <a:t>{</a:t>
            </a:r>
            <a:endParaRPr lang="ko-KR" altLang="en-US" sz="2400" dirty="0">
              <a:solidFill>
                <a:srgbClr val="FF00FF"/>
              </a:solidFill>
              <a:latin typeface="Consolas" panose="020B0609020204030204" pitchFamily="49" charset="0"/>
            </a:endParaRPr>
          </a:p>
          <a:p>
            <a:r>
              <a:rPr lang="ko-KR" altLang="en-US" sz="2400" dirty="0">
                <a:solidFill>
                  <a:srgbClr val="89DDFF"/>
                </a:solidFill>
                <a:latin typeface="Consolas" panose="020B0609020204030204" pitchFamily="49" charset="0"/>
              </a:rPr>
              <a:t>        </a:t>
            </a:r>
            <a:r>
              <a:rPr lang="en-US" altLang="ko-KR" sz="2400" dirty="0">
                <a:solidFill>
                  <a:srgbClr val="89DDFF"/>
                </a:solidFill>
                <a:latin typeface="Consolas" panose="020B0609020204030204" pitchFamily="49" charset="0"/>
              </a:rPr>
              <a:t>return &lt;</a:t>
            </a:r>
            <a:r>
              <a:rPr lang="en-US" altLang="ko-KR" sz="2400" dirty="0">
                <a:solidFill>
                  <a:srgbClr val="F07178"/>
                </a:solidFill>
                <a:latin typeface="Consolas" panose="020B0609020204030204" pitchFamily="49" charset="0"/>
              </a:rPr>
              <a:t>div</a:t>
            </a:r>
            <a:r>
              <a:rPr lang="ko-KR" altLang="en-US" sz="2400" dirty="0">
                <a:solidFill>
                  <a:srgbClr val="89DDFF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2400" dirty="0">
                <a:solidFill>
                  <a:srgbClr val="C792EA"/>
                </a:solidFill>
                <a:latin typeface="Consolas" panose="020B0609020204030204" pitchFamily="49" charset="0"/>
              </a:rPr>
              <a:t>key=</a:t>
            </a:r>
            <a:r>
              <a:rPr lang="en-US" altLang="ko-KR" sz="2400" dirty="0">
                <a:solidFill>
                  <a:srgbClr val="89DDFF"/>
                </a:solidFill>
                <a:latin typeface="Consolas" panose="020B0609020204030204" pitchFamily="49" charset="0"/>
              </a:rPr>
              <a:t>{</a:t>
            </a:r>
            <a:r>
              <a:rPr lang="ko-KR" altLang="en-US" sz="2400" dirty="0">
                <a:solidFill>
                  <a:srgbClr val="F07178"/>
                </a:solidFill>
                <a:latin typeface="Consolas" panose="020B0609020204030204" pitchFamily="49" charset="0"/>
              </a:rPr>
              <a:t>인덱스</a:t>
            </a:r>
            <a:r>
              <a:rPr lang="en-US" altLang="ko-KR" sz="2400" dirty="0">
                <a:solidFill>
                  <a:srgbClr val="89DDFF"/>
                </a:solidFill>
                <a:latin typeface="Consolas" panose="020B0609020204030204" pitchFamily="49" charset="0"/>
              </a:rPr>
              <a:t>}&gt;{</a:t>
            </a:r>
            <a:r>
              <a:rPr lang="ko-KR" altLang="en-US" sz="2400" dirty="0">
                <a:solidFill>
                  <a:srgbClr val="F07178"/>
                </a:solidFill>
                <a:latin typeface="Consolas" panose="020B0609020204030204" pitchFamily="49" charset="0"/>
              </a:rPr>
              <a:t>요소</a:t>
            </a:r>
            <a:r>
              <a:rPr lang="en-US" altLang="ko-KR" sz="2400" dirty="0">
                <a:solidFill>
                  <a:srgbClr val="89DDFF"/>
                </a:solidFill>
                <a:latin typeface="Consolas" panose="020B0609020204030204" pitchFamily="49" charset="0"/>
              </a:rPr>
              <a:t>}&lt;/</a:t>
            </a:r>
            <a:r>
              <a:rPr lang="en-US" altLang="ko-KR" sz="2400" dirty="0">
                <a:solidFill>
                  <a:srgbClr val="F07178"/>
                </a:solidFill>
                <a:latin typeface="Consolas" panose="020B0609020204030204" pitchFamily="49" charset="0"/>
              </a:rPr>
              <a:t>div</a:t>
            </a:r>
            <a:r>
              <a:rPr lang="en-US" altLang="ko-KR" sz="2400" dirty="0">
                <a:solidFill>
                  <a:srgbClr val="89DDFF"/>
                </a:solidFill>
                <a:latin typeface="Consolas" panose="020B0609020204030204" pitchFamily="49" charset="0"/>
              </a:rPr>
              <a:t>&gt;;</a:t>
            </a:r>
            <a:endParaRPr lang="ko-KR" altLang="en-US" sz="2400" dirty="0">
              <a:solidFill>
                <a:srgbClr val="BBBBBB"/>
              </a:solidFill>
              <a:latin typeface="Consolas" panose="020B0609020204030204" pitchFamily="49" charset="0"/>
            </a:endParaRPr>
          </a:p>
          <a:p>
            <a:r>
              <a:rPr lang="en-US" altLang="ko-KR" sz="2400" dirty="0">
                <a:solidFill>
                  <a:srgbClr val="FF00FF"/>
                </a:solidFill>
                <a:latin typeface="Consolas" panose="020B0609020204030204" pitchFamily="49" charset="0"/>
              </a:rPr>
              <a:t>}</a:t>
            </a:r>
            <a:r>
              <a:rPr lang="en-US" altLang="ko-KR" sz="2400" dirty="0">
                <a:solidFill>
                  <a:schemeClr val="accent4"/>
                </a:solidFill>
                <a:latin typeface="Consolas" panose="020B0609020204030204" pitchFamily="49" charset="0"/>
              </a:rPr>
              <a:t>)</a:t>
            </a:r>
            <a:r>
              <a:rPr lang="en-US" altLang="ko-KR" sz="2400" dirty="0">
                <a:solidFill>
                  <a:srgbClr val="3399FF"/>
                </a:solidFill>
                <a:latin typeface="Consolas" panose="020B0609020204030204" pitchFamily="49" charset="0"/>
              </a:rPr>
              <a:t>}</a:t>
            </a:r>
            <a:endParaRPr lang="ko-KR" altLang="en-US" sz="2400" b="0" dirty="0">
              <a:solidFill>
                <a:srgbClr val="3399FF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0485715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div </a:t>
            </a:r>
            <a:r>
              <a:rPr lang="ko-KR" altLang="en-US" dirty="0"/>
              <a:t>같은 태그가 아닌 만들어준 </a:t>
            </a:r>
            <a:r>
              <a:rPr lang="ko-KR" altLang="en-US" dirty="0">
                <a:solidFill>
                  <a:schemeClr val="accent1"/>
                </a:solidFill>
              </a:rPr>
              <a:t>컴포넌트</a:t>
            </a:r>
            <a:r>
              <a:rPr lang="ko-KR" altLang="en-US" dirty="0"/>
              <a:t>와 함께 사용할 수도 있겠죠</a:t>
            </a:r>
            <a:r>
              <a:rPr lang="en-US" altLang="ko-KR" dirty="0"/>
              <a:t>!</a:t>
            </a:r>
            <a:endParaRPr lang="ko-KR" alt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배열 데이터</a:t>
            </a:r>
            <a:r>
              <a:rPr lang="en-US" altLang="ko-KR" dirty="0"/>
              <a:t>, map()</a:t>
            </a:r>
            <a:r>
              <a:rPr lang="ko-KR" altLang="en-US" dirty="0"/>
              <a:t>과 함께 사용</a:t>
            </a:r>
          </a:p>
        </p:txBody>
      </p:sp>
      <p:sp>
        <p:nvSpPr>
          <p:cNvPr id="4" name="직사각형 3"/>
          <p:cNvSpPr/>
          <p:nvPr/>
        </p:nvSpPr>
        <p:spPr>
          <a:xfrm>
            <a:off x="1049867" y="2631632"/>
            <a:ext cx="8513233" cy="923330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{</a:t>
            </a:r>
            <a:r>
              <a:rPr lang="ko-KR" altLang="en-US" dirty="0">
                <a:solidFill>
                  <a:srgbClr val="F07178"/>
                </a:solidFill>
                <a:latin typeface="Consolas" panose="020B0609020204030204" pitchFamily="49" charset="0"/>
              </a:rPr>
              <a:t>배열</a:t>
            </a:r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.</a:t>
            </a:r>
            <a:r>
              <a:rPr lang="en-US" altLang="ko-KR" dirty="0">
                <a:solidFill>
                  <a:srgbClr val="82AAFF"/>
                </a:solidFill>
                <a:latin typeface="Consolas" panose="020B0609020204030204" pitchFamily="49" charset="0"/>
              </a:rPr>
              <a:t>map</a:t>
            </a:r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((</a:t>
            </a:r>
            <a:r>
              <a:rPr lang="en-US" altLang="ko-KR" dirty="0">
                <a:solidFill>
                  <a:srgbClr val="F78C6C"/>
                </a:solidFill>
                <a:latin typeface="Consolas" panose="020B0609020204030204" pitchFamily="49" charset="0"/>
              </a:rPr>
              <a:t>element</a:t>
            </a:r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, </a:t>
            </a:r>
            <a:r>
              <a:rPr lang="en-US" altLang="ko-KR" dirty="0">
                <a:solidFill>
                  <a:srgbClr val="F78C6C"/>
                </a:solidFill>
                <a:latin typeface="Consolas" panose="020B0609020204030204" pitchFamily="49" charset="0"/>
              </a:rPr>
              <a:t>index</a:t>
            </a:r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) </a:t>
            </a:r>
            <a:r>
              <a:rPr lang="en-US" altLang="ko-KR" dirty="0">
                <a:solidFill>
                  <a:srgbClr val="C792EA"/>
                </a:solidFill>
                <a:latin typeface="Consolas" panose="020B0609020204030204" pitchFamily="49" charset="0"/>
              </a:rPr>
              <a:t>=&gt;</a:t>
            </a:r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 {</a:t>
            </a:r>
            <a:endParaRPr lang="ko-KR" altLang="en-US" dirty="0">
              <a:solidFill>
                <a:srgbClr val="BBBBBB"/>
              </a:solidFill>
              <a:latin typeface="Consolas" panose="020B0609020204030204" pitchFamily="49" charset="0"/>
            </a:endParaRPr>
          </a:p>
          <a:p>
            <a:r>
              <a:rPr lang="ko-KR" altLang="en-US" dirty="0">
                <a:solidFill>
                  <a:srgbClr val="89DDFF"/>
                </a:solidFill>
                <a:latin typeface="Consolas" panose="020B0609020204030204" pitchFamily="49" charset="0"/>
              </a:rPr>
              <a:t>        </a:t>
            </a:r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return &lt;</a:t>
            </a:r>
            <a:r>
              <a:rPr lang="en-US" altLang="ko-KR" dirty="0" err="1">
                <a:solidFill>
                  <a:srgbClr val="FFCB6B"/>
                </a:solidFill>
                <a:latin typeface="Consolas" panose="020B0609020204030204" pitchFamily="49" charset="0"/>
              </a:rPr>
              <a:t>FunctionProps</a:t>
            </a:r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 </a:t>
            </a:r>
            <a:r>
              <a:rPr lang="en-US" altLang="ko-KR" dirty="0">
                <a:solidFill>
                  <a:srgbClr val="C792EA"/>
                </a:solidFill>
                <a:latin typeface="Consolas" panose="020B0609020204030204" pitchFamily="49" charset="0"/>
              </a:rPr>
              <a:t>name=</a:t>
            </a:r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{</a:t>
            </a:r>
            <a:r>
              <a:rPr lang="en-US" altLang="ko-KR" dirty="0">
                <a:solidFill>
                  <a:srgbClr val="F07178"/>
                </a:solidFill>
                <a:latin typeface="Consolas" panose="020B0609020204030204" pitchFamily="49" charset="0"/>
              </a:rPr>
              <a:t>element</a:t>
            </a:r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.</a:t>
            </a:r>
            <a:r>
              <a:rPr lang="en-US" altLang="ko-KR" dirty="0">
                <a:solidFill>
                  <a:srgbClr val="F07178"/>
                </a:solidFill>
                <a:latin typeface="Consolas" panose="020B0609020204030204" pitchFamily="49" charset="0"/>
              </a:rPr>
              <a:t>name</a:t>
            </a:r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} </a:t>
            </a:r>
            <a:r>
              <a:rPr lang="en-US" altLang="ko-KR" dirty="0">
                <a:solidFill>
                  <a:srgbClr val="C792EA"/>
                </a:solidFill>
                <a:latin typeface="Consolas" panose="020B0609020204030204" pitchFamily="49" charset="0"/>
              </a:rPr>
              <a:t>key=</a:t>
            </a:r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{</a:t>
            </a:r>
            <a:r>
              <a:rPr lang="en-US" altLang="ko-KR" dirty="0">
                <a:solidFill>
                  <a:srgbClr val="F07178"/>
                </a:solidFill>
                <a:latin typeface="Consolas" panose="020B0609020204030204" pitchFamily="49" charset="0"/>
              </a:rPr>
              <a:t>index</a:t>
            </a:r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} /&gt;;</a:t>
            </a:r>
            <a:endParaRPr lang="en-US" altLang="ko-KR" dirty="0">
              <a:solidFill>
                <a:srgbClr val="BBBBBB"/>
              </a:solidFill>
              <a:latin typeface="Consolas" panose="020B0609020204030204" pitchFamily="49" charset="0"/>
            </a:endParaRPr>
          </a:p>
          <a:p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      })}</a:t>
            </a:r>
            <a:endParaRPr lang="en-US" altLang="ko-KR" b="0" dirty="0">
              <a:solidFill>
                <a:srgbClr val="BBBBBB"/>
              </a:solidFill>
              <a:effectLst/>
              <a:latin typeface="Consolas" panose="020B0609020204030204" pitchFamily="49" charset="0"/>
            </a:endParaRPr>
          </a:p>
        </p:txBody>
      </p:sp>
      <p:cxnSp>
        <p:nvCxnSpPr>
          <p:cNvPr id="5" name="직선 화살표 연결선 4">
            <a:extLst>
              <a:ext uri="{FF2B5EF4-FFF2-40B4-BE49-F238E27FC236}">
                <a16:creationId xmlns:a16="http://schemas.microsoft.com/office/drawing/2014/main" id="{C97D4E95-2D1D-14FE-83B5-ED0363FF8405}"/>
              </a:ext>
            </a:extLst>
          </p:cNvPr>
          <p:cNvCxnSpPr>
            <a:cxnSpLocks/>
          </p:cNvCxnSpPr>
          <p:nvPr/>
        </p:nvCxnSpPr>
        <p:spPr>
          <a:xfrm>
            <a:off x="1507066" y="3074035"/>
            <a:ext cx="42846" cy="1628131"/>
          </a:xfrm>
          <a:prstGeom prst="straightConnector1">
            <a:avLst/>
          </a:prstGeom>
          <a:ln w="76200">
            <a:solidFill>
              <a:schemeClr val="accent5"/>
            </a:solidFill>
            <a:headEnd type="oval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449697" y="4702166"/>
            <a:ext cx="4211409" cy="16312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dirty="0">
                <a:latin typeface="+mn-ea"/>
              </a:rPr>
              <a:t>let</a:t>
            </a:r>
            <a:r>
              <a:rPr lang="ko-KR" altLang="en-US" sz="2000" dirty="0">
                <a:latin typeface="+mn-ea"/>
              </a:rPr>
              <a:t> 배열</a:t>
            </a:r>
            <a:r>
              <a:rPr lang="en-US" altLang="ko-KR" sz="2000" dirty="0">
                <a:latin typeface="+mn-ea"/>
              </a:rPr>
              <a:t>=[{name:”</a:t>
            </a:r>
            <a:r>
              <a:rPr lang="en-US" altLang="ko-KR" sz="2000" dirty="0" err="1">
                <a:latin typeface="+mn-ea"/>
              </a:rPr>
              <a:t>allie</a:t>
            </a:r>
            <a:r>
              <a:rPr lang="en-US" altLang="ko-KR" sz="2000" dirty="0">
                <a:latin typeface="+mn-ea"/>
              </a:rPr>
              <a:t>”},</a:t>
            </a:r>
          </a:p>
          <a:p>
            <a:r>
              <a:rPr lang="en-US" altLang="ko-KR" sz="2000" dirty="0">
                <a:latin typeface="+mn-ea"/>
              </a:rPr>
              <a:t>	 {</a:t>
            </a:r>
            <a:r>
              <a:rPr lang="en-US" altLang="ko-KR" sz="2000" dirty="0" err="1">
                <a:latin typeface="+mn-ea"/>
              </a:rPr>
              <a:t>name:”Lucy</a:t>
            </a:r>
            <a:r>
              <a:rPr lang="en-US" altLang="ko-KR" sz="2000" dirty="0">
                <a:latin typeface="+mn-ea"/>
              </a:rPr>
              <a:t>”},</a:t>
            </a:r>
          </a:p>
          <a:p>
            <a:r>
              <a:rPr lang="en-US" altLang="ko-KR" sz="2000" dirty="0">
                <a:latin typeface="+mn-ea"/>
              </a:rPr>
              <a:t>	 {</a:t>
            </a:r>
            <a:r>
              <a:rPr lang="en-US" altLang="ko-KR" sz="2000" dirty="0" err="1">
                <a:latin typeface="+mn-ea"/>
              </a:rPr>
              <a:t>name:”Linda</a:t>
            </a:r>
            <a:r>
              <a:rPr lang="en-US" altLang="ko-KR" sz="2000" dirty="0">
                <a:latin typeface="+mn-ea"/>
              </a:rPr>
              <a:t>”},</a:t>
            </a:r>
          </a:p>
          <a:p>
            <a:r>
              <a:rPr lang="en-US" altLang="ko-KR" sz="2000" dirty="0">
                <a:latin typeface="+mn-ea"/>
              </a:rPr>
              <a:t>	 ];</a:t>
            </a:r>
          </a:p>
          <a:p>
            <a:r>
              <a:rPr lang="ko-KR" altLang="en-US" sz="2000" dirty="0">
                <a:latin typeface="+mn-ea"/>
              </a:rPr>
              <a:t>와 같은 </a:t>
            </a:r>
            <a:r>
              <a:rPr lang="ko-KR" altLang="en-US" sz="2000" dirty="0">
                <a:solidFill>
                  <a:schemeClr val="accent1"/>
                </a:solidFill>
                <a:latin typeface="+mn-ea"/>
              </a:rPr>
              <a:t>오브젝트로 이루어진 배열</a:t>
            </a:r>
            <a:r>
              <a:rPr lang="ko-KR" altLang="en-US" sz="2000" dirty="0">
                <a:latin typeface="+mn-ea"/>
              </a:rPr>
              <a:t>이라면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49609" y="4348223"/>
            <a:ext cx="424154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000" dirty="0">
                <a:latin typeface="+mn-ea"/>
              </a:rPr>
              <a:t>오브젝트의 </a:t>
            </a:r>
            <a:r>
              <a:rPr lang="ko-KR" altLang="en-US" sz="2000" dirty="0">
                <a:solidFill>
                  <a:schemeClr val="accent1"/>
                </a:solidFill>
                <a:latin typeface="+mn-ea"/>
              </a:rPr>
              <a:t>점 접근법으로 </a:t>
            </a:r>
            <a:r>
              <a:rPr lang="en-US" altLang="ko-KR" sz="2000" dirty="0">
                <a:solidFill>
                  <a:schemeClr val="accent1"/>
                </a:solidFill>
                <a:latin typeface="+mn-ea"/>
              </a:rPr>
              <a:t>props </a:t>
            </a:r>
            <a:r>
              <a:rPr lang="ko-KR" altLang="en-US" sz="2000" dirty="0">
                <a:solidFill>
                  <a:schemeClr val="accent1"/>
                </a:solidFill>
                <a:latin typeface="+mn-ea"/>
              </a:rPr>
              <a:t>전달 </a:t>
            </a:r>
            <a:r>
              <a:rPr lang="en-US" altLang="ko-KR" sz="2000" dirty="0">
                <a:latin typeface="+mn-ea"/>
              </a:rPr>
              <a:t>&amp;</a:t>
            </a:r>
          </a:p>
          <a:p>
            <a:r>
              <a:rPr lang="ko-KR" altLang="en-US" sz="2000" dirty="0">
                <a:latin typeface="+mn-ea"/>
              </a:rPr>
              <a:t>배열의 개수만큼 컴포넌트 생성</a:t>
            </a:r>
            <a:r>
              <a:rPr lang="en-US" altLang="ko-KR" sz="2000" dirty="0">
                <a:latin typeface="+mn-ea"/>
              </a:rPr>
              <a:t>,</a:t>
            </a:r>
            <a:endParaRPr lang="ko-KR" altLang="en-US" sz="2000" dirty="0">
              <a:latin typeface="+mn-ea"/>
            </a:endParaRPr>
          </a:p>
        </p:txBody>
      </p:sp>
      <p:cxnSp>
        <p:nvCxnSpPr>
          <p:cNvPr id="10" name="직선 화살표 연결선 9">
            <a:extLst>
              <a:ext uri="{FF2B5EF4-FFF2-40B4-BE49-F238E27FC236}">
                <a16:creationId xmlns:a16="http://schemas.microsoft.com/office/drawing/2014/main" id="{C97D4E95-2D1D-14FE-83B5-ED0363FF8405}"/>
              </a:ext>
            </a:extLst>
          </p:cNvPr>
          <p:cNvCxnSpPr>
            <a:cxnSpLocks/>
          </p:cNvCxnSpPr>
          <p:nvPr/>
        </p:nvCxnSpPr>
        <p:spPr>
          <a:xfrm>
            <a:off x="6366933" y="3358729"/>
            <a:ext cx="54885" cy="833075"/>
          </a:xfrm>
          <a:prstGeom prst="straightConnector1">
            <a:avLst/>
          </a:prstGeom>
          <a:ln w="76200">
            <a:solidFill>
              <a:schemeClr val="accent5"/>
            </a:solidFill>
            <a:headEnd type="oval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9316567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E1A6BA4-B9B9-9FA3-03AE-2CA8C3F4E8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660D5C-6858-45BD-B9C9-03C5FB5E96FA}" type="datetime6">
              <a:rPr lang="ko-KR" altLang="en-US" smtClean="0"/>
              <a:t>2024년 8월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3635A7F-0D89-A433-921F-6ED7142029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6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4DDB0C6E-D947-B48D-9981-6D400FEE75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Component</a:t>
            </a:r>
            <a:r>
              <a:rPr lang="ko-KR" altLang="en-US" dirty="0"/>
              <a:t>에 </a:t>
            </a:r>
            <a:r>
              <a:rPr lang="en-US" altLang="ko-KR" dirty="0"/>
              <a:t>map() </a:t>
            </a:r>
            <a:r>
              <a:rPr lang="ko-KR" altLang="en-US" dirty="0"/>
              <a:t>적용</a:t>
            </a: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11FF6FC9-7FE9-72E4-431E-7887F5EFDC2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39629" y="2180255"/>
            <a:ext cx="1880771" cy="3496645"/>
          </a:xfrm>
          <a:prstGeom prst="rect">
            <a:avLst/>
          </a:prstGeom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952007B6-5F0A-F07E-35DE-D44EC376A00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5670" y="1325563"/>
            <a:ext cx="7499031" cy="3541209"/>
          </a:xfrm>
          <a:prstGeom prst="rect">
            <a:avLst/>
          </a:prstGeom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07D789E0-59CB-3676-215C-66F4D34A97A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5671" y="4950248"/>
            <a:ext cx="7499030" cy="12704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23749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CFC276A-553F-953B-7C0A-C456523CAD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6280" y="3835982"/>
            <a:ext cx="10904220" cy="2247900"/>
          </a:xfrm>
        </p:spPr>
        <p:txBody>
          <a:bodyPr>
            <a:normAutofit/>
          </a:bodyPr>
          <a:lstStyle/>
          <a:p>
            <a:r>
              <a:rPr lang="en-US" altLang="ko-KR" sz="2400" dirty="0"/>
              <a:t>map()</a:t>
            </a:r>
            <a:r>
              <a:rPr lang="ko-KR" altLang="en-US" sz="2400" dirty="0"/>
              <a:t> 함수를 이용해 컴포넌트를 생성할 때 </a:t>
            </a:r>
            <a:r>
              <a:rPr lang="en-US" altLang="ko-KR" sz="2400" dirty="0"/>
              <a:t>“key” </a:t>
            </a:r>
            <a:r>
              <a:rPr lang="ko-KR" altLang="en-US" sz="2400" dirty="0"/>
              <a:t>사용을 권장한다</a:t>
            </a:r>
            <a:r>
              <a:rPr lang="en-US" altLang="ko-KR" sz="2400" dirty="0"/>
              <a:t>.</a:t>
            </a:r>
          </a:p>
          <a:p>
            <a:r>
              <a:rPr lang="en-US" altLang="ko-KR" sz="2400" dirty="0"/>
              <a:t>Why? React</a:t>
            </a:r>
            <a:r>
              <a:rPr lang="ko-KR" altLang="en-US" sz="2400" dirty="0"/>
              <a:t>는 업데이트 전 기존 요소와 업데이트 후 요소를 비교하는데 </a:t>
            </a:r>
            <a:r>
              <a:rPr lang="en-US" altLang="ko-KR" sz="2400" dirty="0"/>
              <a:t>key</a:t>
            </a:r>
            <a:r>
              <a:rPr lang="ko-KR" altLang="en-US" sz="2400" dirty="0"/>
              <a:t>를 사용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C35DE98-1FC6-0BE5-FB5C-16A91CE481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40E07E-9745-4A1E-87D3-F87BED6F3F73}" type="datetime6">
              <a:rPr lang="ko-KR" altLang="en-US" smtClean="0"/>
              <a:t>2024년 8월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363854FD-40E1-1051-5F2A-D5BEBB161E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7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E95DC7FC-429E-6D32-128B-12D33F6D37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Component</a:t>
            </a:r>
            <a:r>
              <a:rPr lang="ko-KR" altLang="en-US" dirty="0"/>
              <a:t>에 </a:t>
            </a:r>
            <a:r>
              <a:rPr lang="en-US" altLang="ko-KR" dirty="0"/>
              <a:t>map() </a:t>
            </a:r>
            <a:r>
              <a:rPr lang="ko-KR" altLang="en-US" dirty="0"/>
              <a:t>적용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4E96540C-D1A1-4332-E3CD-CB173694DB24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8208" r="4189" b="7572"/>
          <a:stretch/>
        </p:blipFill>
        <p:spPr>
          <a:xfrm>
            <a:off x="662540" y="1629782"/>
            <a:ext cx="9484930" cy="20659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55635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3B6E6F2-4A1F-0E69-67A4-8E7EA10604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645871"/>
            <a:ext cx="10515600" cy="3031029"/>
          </a:xfrm>
        </p:spPr>
        <p:txBody>
          <a:bodyPr/>
          <a:lstStyle/>
          <a:p>
            <a:r>
              <a:rPr lang="en-US" altLang="ko-KR" dirty="0"/>
              <a:t>Key</a:t>
            </a:r>
            <a:r>
              <a:rPr lang="ko-KR" altLang="en-US" dirty="0"/>
              <a:t>를 </a:t>
            </a:r>
            <a:r>
              <a:rPr lang="en-US" altLang="ko-KR" dirty="0"/>
              <a:t>index </a:t>
            </a:r>
            <a:r>
              <a:rPr lang="ko-KR" altLang="en-US" dirty="0"/>
              <a:t>값으로 설정할 시</a:t>
            </a:r>
            <a:r>
              <a:rPr lang="en-US" altLang="ko-KR" dirty="0"/>
              <a:t>, </a:t>
            </a:r>
            <a:r>
              <a:rPr lang="ko-KR" altLang="en-US" dirty="0"/>
              <a:t>리스트의 순서가 변경되면 모든 </a:t>
            </a:r>
            <a:r>
              <a:rPr lang="en-US" altLang="ko-KR" dirty="0"/>
              <a:t>key</a:t>
            </a:r>
            <a:r>
              <a:rPr lang="ko-KR" altLang="en-US" dirty="0"/>
              <a:t>가 변경되므로 </a:t>
            </a:r>
            <a:r>
              <a:rPr lang="en-US" altLang="ko-KR" dirty="0"/>
              <a:t>key</a:t>
            </a:r>
            <a:r>
              <a:rPr lang="ko-KR" altLang="en-US" dirty="0"/>
              <a:t>는 </a:t>
            </a:r>
            <a:r>
              <a:rPr lang="en-US" altLang="ko-KR" dirty="0"/>
              <a:t>index </a:t>
            </a:r>
            <a:r>
              <a:rPr lang="ko-KR" altLang="en-US" dirty="0"/>
              <a:t>가 아닌 고유한 값으로 설정해야 한다</a:t>
            </a:r>
          </a:p>
          <a:p>
            <a:pPr lvl="1"/>
            <a:r>
              <a:rPr lang="en-US" altLang="ko-KR" dirty="0"/>
              <a:t>But,</a:t>
            </a:r>
            <a:r>
              <a:rPr lang="ko-KR" altLang="en-US" dirty="0"/>
              <a:t> 현재는 </a:t>
            </a:r>
            <a:r>
              <a:rPr lang="ko-KR" altLang="en-US" b="1" dirty="0"/>
              <a:t>고유 값으로 설정할 만한 게 없으니</a:t>
            </a:r>
            <a:r>
              <a:rPr lang="en-US" altLang="ko-KR" b="1" dirty="0"/>
              <a:t>, index</a:t>
            </a:r>
            <a:r>
              <a:rPr lang="ko-KR" altLang="en-US" dirty="0"/>
              <a:t>로 테스트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F058E69-2519-5C7B-E619-FCE4F8E785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9F60AA-9663-4C10-96A7-DFE487A1DFF7}" type="datetime6">
              <a:rPr lang="ko-KR" altLang="en-US" smtClean="0"/>
              <a:t>2024년 8월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A2D925E-B075-9DDE-125B-43171B9E6A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8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DEEAE432-154C-1C3F-A5EC-16DFF73F5E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Component</a:t>
            </a:r>
            <a:r>
              <a:rPr lang="ko-KR" altLang="en-US" dirty="0"/>
              <a:t>에 </a:t>
            </a:r>
            <a:r>
              <a:rPr lang="en-US" altLang="ko-KR" dirty="0"/>
              <a:t>map() </a:t>
            </a:r>
            <a:r>
              <a:rPr lang="ko-KR" altLang="en-US" dirty="0"/>
              <a:t>적용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29B0E144-7859-A3F0-B48F-A37AA81ED76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1551622"/>
            <a:ext cx="5282354" cy="7858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42448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3B6E6F2-4A1F-0E69-67A4-8E7EA10604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45820" y="1329783"/>
            <a:ext cx="10515600" cy="4461417"/>
          </a:xfrm>
        </p:spPr>
        <p:txBody>
          <a:bodyPr/>
          <a:lstStyle/>
          <a:p>
            <a:r>
              <a:rPr lang="ko-KR" altLang="en-US" dirty="0"/>
              <a:t>각 원소마다 고유 </a:t>
            </a:r>
            <a:r>
              <a:rPr lang="en-US" altLang="ko-KR" dirty="0"/>
              <a:t>id </a:t>
            </a:r>
            <a:r>
              <a:rPr lang="ko-KR" altLang="en-US" dirty="0"/>
              <a:t>값을 갖고 있다면</a:t>
            </a:r>
            <a:r>
              <a:rPr lang="en-US" altLang="ko-KR" dirty="0"/>
              <a:t>? </a:t>
            </a:r>
            <a:r>
              <a:rPr lang="ko-KR" altLang="en-US" dirty="0"/>
              <a:t>다음과 같이 설정할 수 있다</a:t>
            </a:r>
            <a:r>
              <a:rPr lang="en-US" altLang="ko-KR" dirty="0"/>
              <a:t>!</a:t>
            </a: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F058E69-2519-5C7B-E619-FCE4F8E785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9F60AA-9663-4C10-96A7-DFE487A1DFF7}" type="datetime6">
              <a:rPr lang="ko-KR" altLang="en-US" smtClean="0"/>
              <a:t>2024년 8월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A2D925E-B075-9DDE-125B-43171B9E6A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9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DEEAE432-154C-1C3F-A5EC-16DFF73F5E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Component</a:t>
            </a:r>
            <a:r>
              <a:rPr lang="ko-KR" altLang="en-US" dirty="0"/>
              <a:t>에 </a:t>
            </a:r>
            <a:r>
              <a:rPr lang="en-US" altLang="ko-KR" dirty="0"/>
              <a:t>map() </a:t>
            </a:r>
            <a:r>
              <a:rPr lang="ko-KR" altLang="en-US" dirty="0"/>
              <a:t>적용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C9EE1673-7212-FFAC-16ED-0C821377F6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1255" y="1970001"/>
            <a:ext cx="7609704" cy="41083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330758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3B6E6F2-4A1F-0E69-67A4-8E7EA10604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15483"/>
            <a:ext cx="10515600" cy="4461417"/>
          </a:xfrm>
        </p:spPr>
        <p:txBody>
          <a:bodyPr/>
          <a:lstStyle/>
          <a:p>
            <a:r>
              <a:rPr lang="en-US" altLang="ko-KR" dirty="0"/>
              <a:t>input</a:t>
            </a:r>
            <a:r>
              <a:rPr lang="ko-KR" altLang="en-US" dirty="0"/>
              <a:t>으로 새로운 알파벳 추가해보기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F058E69-2519-5C7B-E619-FCE4F8E785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9F60AA-9663-4C10-96A7-DFE487A1DFF7}" type="datetime6">
              <a:rPr lang="ko-KR" altLang="en-US" smtClean="0"/>
              <a:t>2024년 8월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A2D925E-B075-9DDE-125B-43171B9E6A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10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DEEAE432-154C-1C3F-A5EC-16DFF73F5E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Component</a:t>
            </a:r>
            <a:r>
              <a:rPr lang="ko-KR" altLang="en-US" dirty="0"/>
              <a:t>에 </a:t>
            </a:r>
            <a:r>
              <a:rPr lang="en-US" altLang="ko-KR" dirty="0"/>
              <a:t>map() </a:t>
            </a:r>
            <a:r>
              <a:rPr lang="ko-KR" altLang="en-US" dirty="0"/>
              <a:t>적용</a:t>
            </a:r>
          </a:p>
        </p:txBody>
      </p:sp>
      <p:pic>
        <p:nvPicPr>
          <p:cNvPr id="6" name="bandicam 2022-10-08 13-57-46-893">
            <a:hlinkClick r:id="" action="ppaction://media"/>
            <a:extLst>
              <a:ext uri="{FF2B5EF4-FFF2-40B4-BE49-F238E27FC236}">
                <a16:creationId xmlns:a16="http://schemas.microsoft.com/office/drawing/2014/main" id="{40814AFD-74E4-1F76-4E48-BF34D103EBA8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 rotWithShape="1">
          <a:blip r:embed="rId5"/>
          <a:srcRect t="16672"/>
          <a:stretch/>
        </p:blipFill>
        <p:spPr>
          <a:xfrm>
            <a:off x="1099280" y="2013991"/>
            <a:ext cx="6137861" cy="35233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07197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5733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6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8월</a:t>
            </a:fld>
            <a:endParaRPr lang="ko-KR" altLang="en-US"/>
          </a:p>
        </p:txBody>
      </p:sp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11</a:t>
            </a:fld>
            <a:endParaRPr lang="ko-KR" altLang="en-US"/>
          </a:p>
        </p:txBody>
      </p:sp>
      <p:sp>
        <p:nvSpPr>
          <p:cNvPr id="4" name="제목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7200" dirty="0"/>
              <a:t>filter()</a:t>
            </a:r>
            <a:r>
              <a:rPr lang="ko-KR" altLang="en-US" sz="7200" dirty="0"/>
              <a:t>를 이용한 </a:t>
            </a:r>
            <a:r>
              <a:rPr lang="ko-KR" altLang="en-US" sz="7200" dirty="0" err="1"/>
              <a:t>필터링</a:t>
            </a:r>
            <a:endParaRPr lang="ko-KR" altLang="en-US" sz="7200" dirty="0"/>
          </a:p>
        </p:txBody>
      </p:sp>
    </p:spTree>
    <p:extLst>
      <p:ext uri="{BB962C8B-B14F-4D97-AF65-F5344CB8AC3E}">
        <p14:creationId xmlns:p14="http://schemas.microsoft.com/office/powerpoint/2010/main" val="96071312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FB0A8FF-58B4-AADA-C277-115F024B2E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1500" y="1488141"/>
            <a:ext cx="11049000" cy="4553128"/>
          </a:xfrm>
        </p:spPr>
        <p:txBody>
          <a:bodyPr/>
          <a:lstStyle/>
          <a:p>
            <a:r>
              <a:rPr lang="en-US" altLang="ko-KR" dirty="0"/>
              <a:t>filter()</a:t>
            </a:r>
            <a:r>
              <a:rPr lang="ko-KR" altLang="en-US" dirty="0"/>
              <a:t>의 인자로 넘겨지는 </a:t>
            </a:r>
            <a:r>
              <a:rPr lang="en-US" altLang="ko-KR" dirty="0"/>
              <a:t>callback </a:t>
            </a:r>
            <a:r>
              <a:rPr lang="ko-KR" altLang="en-US" dirty="0"/>
              <a:t>함수의 </a:t>
            </a:r>
            <a:r>
              <a:rPr lang="ko-KR" altLang="en-US" dirty="0">
                <a:solidFill>
                  <a:schemeClr val="accent1"/>
                </a:solidFill>
              </a:rPr>
              <a:t>테스트</a:t>
            </a:r>
            <a:r>
              <a:rPr lang="en-US" altLang="ko-KR" dirty="0">
                <a:solidFill>
                  <a:schemeClr val="accent1"/>
                </a:solidFill>
              </a:rPr>
              <a:t>(</a:t>
            </a:r>
            <a:r>
              <a:rPr lang="ko-KR" altLang="en-US" dirty="0">
                <a:solidFill>
                  <a:schemeClr val="accent1"/>
                </a:solidFill>
              </a:rPr>
              <a:t>조건</a:t>
            </a:r>
            <a:r>
              <a:rPr lang="en-US" altLang="ko-KR" dirty="0">
                <a:solidFill>
                  <a:schemeClr val="accent1"/>
                </a:solidFill>
              </a:rPr>
              <a:t>)</a:t>
            </a:r>
            <a:r>
              <a:rPr lang="ko-KR" altLang="en-US" dirty="0">
                <a:solidFill>
                  <a:schemeClr val="accent1"/>
                </a:solidFill>
              </a:rPr>
              <a:t>를 통과하는 요소</a:t>
            </a:r>
            <a:r>
              <a:rPr lang="ko-KR" altLang="en-US" dirty="0"/>
              <a:t>를 모아 새로운 배열을 생성</a:t>
            </a:r>
            <a:r>
              <a:rPr lang="en-US" altLang="ko-KR" dirty="0"/>
              <a:t>. </a:t>
            </a:r>
          </a:p>
          <a:p>
            <a:r>
              <a:rPr lang="en-US" altLang="ko-KR" dirty="0"/>
              <a:t>filter() </a:t>
            </a:r>
            <a:r>
              <a:rPr lang="ko-KR" altLang="en-US" dirty="0"/>
              <a:t>함수를 사용하여 배열에서 원하는 값을 삭제하는 코드 구현 가능</a:t>
            </a:r>
            <a:r>
              <a:rPr lang="en-US" altLang="ko-KR" dirty="0"/>
              <a:t>.</a:t>
            </a:r>
            <a:endParaRPr lang="en-US" altLang="ko-KR" sz="4000" dirty="0"/>
          </a:p>
          <a:p>
            <a:pPr marL="0" indent="0">
              <a:buNone/>
            </a:pPr>
            <a:endParaRPr lang="en-US" altLang="ko-KR" sz="4000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D912659-0178-7724-84E7-F9804EEB51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E2EEAA-2D64-41F3-9CC6-1D2C9158BEA1}" type="datetime6">
              <a:rPr lang="ko-KR" altLang="en-US" smtClean="0"/>
              <a:t>2024년 8월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038AD2A-D098-5002-7259-7C0CF8DAB8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12</a:t>
            </a:fld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45FB17D5-C686-6D90-A10C-DFBDB6D2FE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filter()</a:t>
            </a:r>
            <a:r>
              <a:rPr lang="ko-KR" altLang="en-US" dirty="0"/>
              <a:t> 함수</a:t>
            </a:r>
          </a:p>
        </p:txBody>
      </p:sp>
    </p:spTree>
    <p:extLst>
      <p:ext uri="{BB962C8B-B14F-4D97-AF65-F5344CB8AC3E}">
        <p14:creationId xmlns:p14="http://schemas.microsoft.com/office/powerpoint/2010/main" val="135442916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6CC3575-1366-5D73-9DE9-B73FF85191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B2C582-12D8-4D41-A2C5-A40388E0E0C0}" type="datetime6">
              <a:rPr lang="ko-KR" altLang="en-US" smtClean="0"/>
              <a:t>2024년 8월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864B8AFD-EA3C-4E22-2FCF-360570853F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13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EA522050-7763-6208-1396-B5F36655AC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filter() </a:t>
            </a:r>
            <a:r>
              <a:rPr lang="ko-KR" altLang="en-US" dirty="0"/>
              <a:t>함수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2EEADD0B-E0F6-DF81-16CA-3F1243869F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0704" y="1604886"/>
            <a:ext cx="9885264" cy="1594397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CF54EA57-41CC-BC70-A478-9980B25D57D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73336" y="3388702"/>
            <a:ext cx="5061184" cy="962045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2C297A26-E454-67FE-5A8A-9677FB65002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8980" y="4726383"/>
            <a:ext cx="9678408" cy="5998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282420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6CC3575-1366-5D73-9DE9-B73FF85191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388F0C-5E74-4ECC-96D5-84470E352FFC}" type="datetime6">
              <a:rPr lang="ko-KR" altLang="en-US" smtClean="0"/>
              <a:t>2024년 8월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864B8AFD-EA3C-4E22-2FCF-360570853F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14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EA522050-7763-6208-1396-B5F36655AC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filter() </a:t>
            </a:r>
            <a:r>
              <a:rPr lang="ko-KR" altLang="en-US" dirty="0"/>
              <a:t>함수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5A2BF954-D47F-45A4-DC9D-2859843737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61211" y="2016797"/>
            <a:ext cx="7669578" cy="29688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153070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3B6E6F2-4A1F-0E69-67A4-8E7EA10604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15483"/>
            <a:ext cx="10515600" cy="4461417"/>
          </a:xfrm>
        </p:spPr>
        <p:txBody>
          <a:bodyPr/>
          <a:lstStyle/>
          <a:p>
            <a:r>
              <a:rPr lang="ko-KR" altLang="en-US" dirty="0"/>
              <a:t>알파벳을 더블 클릭 했을 때 알파벳 삭제해보기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F058E69-2519-5C7B-E619-FCE4F8E785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9F60AA-9663-4C10-96A7-DFE487A1DFF7}" type="datetime6">
              <a:rPr lang="ko-KR" altLang="en-US" smtClean="0"/>
              <a:t>2024년 8월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A2D925E-B075-9DDE-125B-43171B9E6A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15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DEEAE432-154C-1C3F-A5EC-16DFF73F5E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filter() </a:t>
            </a:r>
            <a:r>
              <a:rPr lang="ko-KR" altLang="en-US" dirty="0"/>
              <a:t>응용</a:t>
            </a:r>
          </a:p>
        </p:txBody>
      </p:sp>
      <p:pic>
        <p:nvPicPr>
          <p:cNvPr id="7" name="bandicam 2022-10-08 16-14-20-833">
            <a:hlinkClick r:id="" action="ppaction://media"/>
            <a:extLst>
              <a:ext uri="{FF2B5EF4-FFF2-40B4-BE49-F238E27FC236}">
                <a16:creationId xmlns:a16="http://schemas.microsoft.com/office/drawing/2014/main" id="{227B04B9-B351-59E3-A93A-BCC15B0DE93F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 rotWithShape="1">
          <a:blip r:embed="rId5"/>
          <a:srcRect t="21597"/>
          <a:stretch/>
        </p:blipFill>
        <p:spPr>
          <a:xfrm>
            <a:off x="1140908" y="2285999"/>
            <a:ext cx="5884360" cy="31781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63019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7133" fill="hold"/>
                                        <p:tgtEl>
                                          <p:spTgt spid="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7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"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내용 개체 틀 2">
            <a:extLst>
              <a:ext uri="{FF2B5EF4-FFF2-40B4-BE49-F238E27FC236}">
                <a16:creationId xmlns:a16="http://schemas.microsoft.com/office/drawing/2014/main" id="{847FD532-7F61-A001-537F-B970BD821A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0988" y="1328391"/>
            <a:ext cx="11260802" cy="5328442"/>
          </a:xfrm>
        </p:spPr>
        <p:txBody>
          <a:bodyPr>
            <a:normAutofit/>
          </a:bodyPr>
          <a:lstStyle/>
          <a:p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endParaRPr lang="en-US" altLang="ko-KR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695DDE5-0A39-A366-4CFE-A283911999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2024-08-06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E040F43-60A7-C50D-1F5B-F984054F2D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16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FAC57F5-99D7-9C46-B6C1-D16224151F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rgbClr val="6EC173"/>
                </a:solidFill>
              </a:rPr>
              <a:t>실습</a:t>
            </a:r>
            <a:r>
              <a:rPr lang="en-US" altLang="ko-KR" dirty="0">
                <a:solidFill>
                  <a:srgbClr val="6EC173"/>
                </a:solidFill>
              </a:rPr>
              <a:t>.  </a:t>
            </a:r>
            <a:r>
              <a:rPr lang="en-US" altLang="ko-KR" dirty="0"/>
              <a:t> Map &amp; Filter </a:t>
            </a:r>
            <a:r>
              <a:rPr lang="ko-KR" altLang="en-US" dirty="0"/>
              <a:t>실습</a:t>
            </a:r>
          </a:p>
        </p:txBody>
      </p:sp>
      <p:sp>
        <p:nvSpPr>
          <p:cNvPr id="6" name="내용 개체 틀 1">
            <a:extLst>
              <a:ext uri="{FF2B5EF4-FFF2-40B4-BE49-F238E27FC236}">
                <a16:creationId xmlns:a16="http://schemas.microsoft.com/office/drawing/2014/main" id="{70C2BA37-BE91-39C4-AC08-0E8A1052E2F7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>
              <a:buFont typeface="Arial" panose="020B0604020202020204" pitchFamily="34" charset="0"/>
              <a:buNone/>
            </a:pP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marL="457200" lvl="1" indent="0">
              <a:buFont typeface="Arial" panose="020B0604020202020204" pitchFamily="34" charset="0"/>
              <a:buNone/>
            </a:pP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r>
              <a:rPr lang="en-US" altLang="ko-KR" b="1" dirty="0">
                <a:solidFill>
                  <a:srgbClr val="212529"/>
                </a:solidFill>
                <a:latin typeface="+mn-ea"/>
              </a:rPr>
              <a:t>[</a:t>
            </a:r>
            <a:r>
              <a:rPr lang="ko-KR" altLang="en-US" b="1" dirty="0" err="1">
                <a:solidFill>
                  <a:srgbClr val="212529"/>
                </a:solidFill>
                <a:latin typeface="+mn-ea"/>
              </a:rPr>
              <a:t>코딩온</a:t>
            </a:r>
            <a:r>
              <a:rPr lang="en-US" altLang="ko-KR" b="1" dirty="0">
                <a:solidFill>
                  <a:srgbClr val="212529"/>
                </a:solidFill>
                <a:latin typeface="+mn-ea"/>
              </a:rPr>
              <a:t>] React </a:t>
            </a:r>
            <a:r>
              <a:rPr lang="ko-KR" altLang="en-US" b="1" dirty="0">
                <a:solidFill>
                  <a:srgbClr val="212529"/>
                </a:solidFill>
                <a:latin typeface="+mn-ea"/>
              </a:rPr>
              <a:t>실습 </a:t>
            </a:r>
            <a:r>
              <a:rPr lang="ko-KR" altLang="en-US" dirty="0">
                <a:solidFill>
                  <a:srgbClr val="212529"/>
                </a:solidFill>
                <a:latin typeface="+mn-ea"/>
              </a:rPr>
              <a:t>강의 클릭</a:t>
            </a:r>
            <a:br>
              <a:rPr lang="en-US" altLang="ko-KR" dirty="0">
                <a:solidFill>
                  <a:srgbClr val="212529"/>
                </a:solidFill>
                <a:latin typeface="+mn-ea"/>
              </a:rPr>
            </a:b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[</a:t>
            </a:r>
            <a:r>
              <a:rPr lang="en-US" altLang="ko-KR" sz="2800" b="1" dirty="0"/>
              <a:t>Map &amp; Filter</a:t>
            </a:r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 실습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]</a:t>
            </a:r>
            <a:r>
              <a:rPr lang="en-US" altLang="ko-KR" sz="2800" dirty="0">
                <a:solidFill>
                  <a:srgbClr val="212529"/>
                </a:solidFill>
                <a:latin typeface="+mn-ea"/>
              </a:rPr>
              <a:t> </a:t>
            </a:r>
            <a:r>
              <a:rPr lang="ko-KR" altLang="en-US" sz="2800" dirty="0">
                <a:solidFill>
                  <a:srgbClr val="212529"/>
                </a:solidFill>
                <a:latin typeface="+mn-ea"/>
              </a:rPr>
              <a:t>커리큘럼 클릭</a:t>
            </a:r>
            <a:endParaRPr lang="en-US" altLang="ko-KR" sz="2800" dirty="0">
              <a:solidFill>
                <a:srgbClr val="212529"/>
              </a:solidFill>
              <a:latin typeface="+mn-ea"/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[1~3</a:t>
            </a:r>
            <a:r>
              <a:rPr lang="ko-KR" altLang="en-US" sz="2800" b="1" dirty="0">
                <a:solidFill>
                  <a:schemeClr val="accent1"/>
                </a:solidFill>
                <a:latin typeface="+mn-ea"/>
              </a:rPr>
              <a:t>번 문제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]</a:t>
            </a:r>
            <a:r>
              <a:rPr lang="en-US" altLang="ko-KR" sz="2800" dirty="0">
                <a:solidFill>
                  <a:schemeClr val="accent1"/>
                </a:solidFill>
                <a:latin typeface="+mn-ea"/>
              </a:rPr>
              <a:t> </a:t>
            </a:r>
            <a:r>
              <a:rPr lang="ko-KR" altLang="en-US" sz="2800" dirty="0">
                <a:solidFill>
                  <a:srgbClr val="212529"/>
                </a:solidFill>
                <a:latin typeface="+mn-ea"/>
              </a:rPr>
              <a:t> 진행</a:t>
            </a:r>
            <a:endParaRPr lang="en-US" altLang="ko-KR" sz="2800" dirty="0">
              <a:solidFill>
                <a:srgbClr val="212529"/>
              </a:solidFill>
              <a:latin typeface="+mn-ea"/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[(</a:t>
            </a:r>
            <a:r>
              <a:rPr lang="ko-KR" altLang="en-US" sz="2800" b="1" dirty="0">
                <a:solidFill>
                  <a:schemeClr val="accent1"/>
                </a:solidFill>
                <a:latin typeface="+mn-ea"/>
              </a:rPr>
              <a:t>심화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)</a:t>
            </a:r>
            <a:r>
              <a:rPr lang="ko-KR" altLang="en-US" sz="2800" b="1" dirty="0">
                <a:solidFill>
                  <a:schemeClr val="accent1"/>
                </a:solidFill>
                <a:latin typeface="+mn-ea"/>
              </a:rPr>
              <a:t> 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4</a:t>
            </a:r>
            <a:r>
              <a:rPr lang="ko-KR" altLang="en-US" sz="2800" b="1" dirty="0">
                <a:solidFill>
                  <a:schemeClr val="accent1"/>
                </a:solidFill>
                <a:latin typeface="+mn-ea"/>
              </a:rPr>
              <a:t>번 문제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]</a:t>
            </a:r>
            <a:r>
              <a:rPr lang="en-US" altLang="ko-KR" sz="2800" dirty="0">
                <a:solidFill>
                  <a:schemeClr val="accent1"/>
                </a:solidFill>
                <a:latin typeface="+mn-ea"/>
              </a:rPr>
              <a:t> </a:t>
            </a:r>
            <a:r>
              <a:rPr lang="ko-KR" altLang="en-US" sz="2800" dirty="0">
                <a:solidFill>
                  <a:srgbClr val="212529"/>
                </a:solidFill>
                <a:latin typeface="+mn-ea"/>
              </a:rPr>
              <a:t> 진행</a:t>
            </a:r>
          </a:p>
          <a:p>
            <a:pPr lvl="1"/>
            <a:endParaRPr lang="ko-KR" altLang="en-US" sz="2800" dirty="0">
              <a:solidFill>
                <a:srgbClr val="212529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848865641"/>
      </p:ext>
    </p:extLst>
  </p:cSld>
  <p:clrMapOvr>
    <a:masterClrMapping/>
  </p:clrMapOvr>
</p:sld>
</file>

<file path=ppt/theme/theme1.xml><?xml version="1.0" encoding="utf-8"?>
<a:theme xmlns:a="http://schemas.openxmlformats.org/drawingml/2006/main" name="3_Office 테마">
  <a:themeElements>
    <a:clrScheme name="코딩온_새싹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6EC173"/>
      </a:accent1>
      <a:accent2>
        <a:srgbClr val="B4D56D"/>
      </a:accent2>
      <a:accent3>
        <a:srgbClr val="F99F2C"/>
      </a:accent3>
      <a:accent4>
        <a:srgbClr val="FFDB83"/>
      </a:accent4>
      <a:accent5>
        <a:srgbClr val="2894FF"/>
      </a:accent5>
      <a:accent6>
        <a:srgbClr val="A5A5A5"/>
      </a:accent6>
      <a:hlink>
        <a:srgbClr val="2894FF"/>
      </a:hlink>
      <a:folHlink>
        <a:srgbClr val="954F72"/>
      </a:folHlink>
    </a:clrScheme>
    <a:fontScheme name="Pretendard GOV">
      <a:majorFont>
        <a:latin typeface="Pretendard GOV"/>
        <a:ea typeface="Pretendard GOV"/>
        <a:cs typeface=""/>
      </a:majorFont>
      <a:minorFont>
        <a:latin typeface="Pretendard GOV"/>
        <a:ea typeface="Pretendard GOV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845</TotalTime>
  <Words>690</Words>
  <Application>Microsoft Office PowerPoint</Application>
  <PresentationFormat>와이드스크린</PresentationFormat>
  <Paragraphs>120</Paragraphs>
  <Slides>16</Slides>
  <Notes>13</Notes>
  <HiddenSlides>0</HiddenSlides>
  <MMClips>2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16</vt:i4>
      </vt:variant>
    </vt:vector>
  </HeadingPairs>
  <TitlesOfParts>
    <vt:vector size="22" baseType="lpstr">
      <vt:lpstr>Pretendard GOV</vt:lpstr>
      <vt:lpstr>맑은 고딕</vt:lpstr>
      <vt:lpstr>Arial</vt:lpstr>
      <vt:lpstr>Consolas</vt:lpstr>
      <vt:lpstr>Wingdings</vt:lpstr>
      <vt:lpstr>3_Office 테마</vt:lpstr>
      <vt:lpstr>웹 개발자 부트캠프 과정</vt:lpstr>
      <vt:lpstr>map()을 이용한 반복</vt:lpstr>
      <vt:lpstr>map() 함수 문법</vt:lpstr>
      <vt:lpstr>배열 데이터, map()과 함께 사용</vt:lpstr>
      <vt:lpstr>배열 데이터, map()과 함께 사용</vt:lpstr>
      <vt:lpstr>Component에 map() 적용</vt:lpstr>
      <vt:lpstr>Component에 map() 적용</vt:lpstr>
      <vt:lpstr>Component에 map() 적용</vt:lpstr>
      <vt:lpstr>Component에 map() 적용</vt:lpstr>
      <vt:lpstr>Component에 map() 적용</vt:lpstr>
      <vt:lpstr>filter()를 이용한 필터링</vt:lpstr>
      <vt:lpstr>filter() 함수</vt:lpstr>
      <vt:lpstr>filter() 함수</vt:lpstr>
      <vt:lpstr>filter() 함수</vt:lpstr>
      <vt:lpstr>filter() 응용</vt:lpstr>
      <vt:lpstr>실습.   Map &amp; Filter 실습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김규리</dc:creator>
  <cp:lastModifiedBy>On Coding</cp:lastModifiedBy>
  <cp:revision>115</cp:revision>
  <dcterms:created xsi:type="dcterms:W3CDTF">2022-06-26T11:10:22Z</dcterms:created>
  <dcterms:modified xsi:type="dcterms:W3CDTF">2024-08-06T06:42:10Z</dcterms:modified>
</cp:coreProperties>
</file>