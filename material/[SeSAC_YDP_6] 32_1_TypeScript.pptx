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6"/>
  </p:notesMasterIdLst>
  <p:sldIdLst>
    <p:sldId id="649" r:id="rId2"/>
    <p:sldId id="650" r:id="rId3"/>
    <p:sldId id="651" r:id="rId4"/>
    <p:sldId id="257" r:id="rId5"/>
    <p:sldId id="652" r:id="rId6"/>
    <p:sldId id="653" r:id="rId7"/>
    <p:sldId id="259" r:id="rId8"/>
    <p:sldId id="261" r:id="rId9"/>
    <p:sldId id="654" r:id="rId10"/>
    <p:sldId id="264" r:id="rId11"/>
    <p:sldId id="655" r:id="rId12"/>
    <p:sldId id="265" r:id="rId13"/>
    <p:sldId id="268" r:id="rId14"/>
    <p:sldId id="266" r:id="rId15"/>
    <p:sldId id="267" r:id="rId16"/>
    <p:sldId id="269" r:id="rId17"/>
    <p:sldId id="270" r:id="rId18"/>
    <p:sldId id="304" r:id="rId19"/>
    <p:sldId id="656" r:id="rId20"/>
    <p:sldId id="280" r:id="rId21"/>
    <p:sldId id="659" r:id="rId22"/>
    <p:sldId id="271" r:id="rId23"/>
    <p:sldId id="660" r:id="rId24"/>
    <p:sldId id="66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53"/>
    <a:srgbClr val="FFFFFF"/>
    <a:srgbClr val="FF6600"/>
    <a:srgbClr val="14F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69" autoAdjust="0"/>
    <p:restoredTop sz="74000" autoAdjust="0"/>
  </p:normalViewPr>
  <p:slideViewPr>
    <p:cSldViewPr snapToGrid="0">
      <p:cViewPr varScale="1">
        <p:scale>
          <a:sx n="79" d="100"/>
          <a:sy n="79" d="100"/>
        </p:scale>
        <p:origin x="3042" y="93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36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0F02C-F923-483B-B7AF-E4D1E093BA0E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8C33-55A0-4375-B4B0-E8B5C9E6A8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7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i="0" dirty="0"/>
              <a:t>** </a:t>
            </a:r>
            <a:r>
              <a:rPr lang="en-US" altLang="ko-KR" i="0" dirty="0" err="1"/>
              <a:t>TypeScript</a:t>
            </a:r>
            <a:r>
              <a:rPr lang="en-US" altLang="ko-KR" i="0" dirty="0"/>
              <a:t>?</a:t>
            </a:r>
          </a:p>
          <a:p>
            <a:r>
              <a:rPr lang="ko-KR" altLang="en-US" i="0" dirty="0"/>
              <a:t>타입이 있는</a:t>
            </a:r>
            <a:r>
              <a:rPr lang="en-US" altLang="ko-KR" i="0" dirty="0"/>
              <a:t>(typed)</a:t>
            </a:r>
            <a:r>
              <a:rPr lang="ko-KR" altLang="en-US" i="0" dirty="0"/>
              <a:t> 상위 집합</a:t>
            </a:r>
            <a:r>
              <a:rPr lang="en-US" altLang="ko-KR" i="0" dirty="0"/>
              <a:t>(superset)</a:t>
            </a:r>
          </a:p>
          <a:p>
            <a:r>
              <a:rPr lang="en-US" altLang="ko-KR" dirty="0"/>
              <a:t>JavaScript</a:t>
            </a:r>
            <a:r>
              <a:rPr lang="ko-KR" altLang="en-US" dirty="0"/>
              <a:t>에 정적 타입을 추가한 언어</a:t>
            </a:r>
            <a:endParaRPr lang="en-US" altLang="ko-KR" i="0" dirty="0"/>
          </a:p>
          <a:p>
            <a:endParaRPr lang="en-US" altLang="ko-KR" i="0" dirty="0"/>
          </a:p>
          <a:p>
            <a:r>
              <a:rPr lang="en-US" altLang="ko-KR" dirty="0" err="1"/>
              <a:t>TypeScript</a:t>
            </a:r>
            <a:r>
              <a:rPr lang="ko-KR" altLang="en-US" dirty="0"/>
              <a:t>를 처음 접하는 개발자들에게 </a:t>
            </a:r>
            <a:r>
              <a:rPr lang="en-US" altLang="ko-KR" dirty="0" err="1"/>
              <a:t>TypeScript</a:t>
            </a:r>
            <a:r>
              <a:rPr lang="ko-KR" altLang="en-US" dirty="0"/>
              <a:t>의 기본 개념과 기능을 소개하는 데 초점을 맞춘 가이드</a:t>
            </a:r>
            <a:endParaRPr lang="ko-KR" altLang="en-US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85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</a:t>
            </a:r>
            <a:r>
              <a:rPr lang="ko-KR" altLang="en-US" dirty="0"/>
              <a:t>정적 타입 언어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b="1" dirty="0"/>
              <a:t>실행 전 타입 검사</a:t>
            </a:r>
            <a:r>
              <a:rPr lang="en-US" altLang="ko-KR" dirty="0"/>
              <a:t>: </a:t>
            </a:r>
            <a:r>
              <a:rPr lang="ko-KR" altLang="en-US" dirty="0"/>
              <a:t>정적 타입 언어에서는 코드가 실행되기 전에 타입 검사와 오류 검출이 이루어집니다</a:t>
            </a:r>
            <a:r>
              <a:rPr lang="en-US" altLang="ko-KR" dirty="0"/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이는 코드가 실행되기 전에 타입 관련 오류를 발견할 수 있도록 도와줍니다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dirty="0" err="1"/>
              <a:t>TypeScript</a:t>
            </a:r>
            <a:r>
              <a:rPr lang="ko-KR" altLang="en-US" dirty="0"/>
              <a:t>와 같은 언어는 코드 작성 시 타입 오류를 검출하여 컴파일 타임에 수정할 수 있게 합니다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ko-KR" altLang="en-US" b="1" dirty="0"/>
              <a:t>컴파일 타임 타입 검사</a:t>
            </a:r>
          </a:p>
          <a:p>
            <a:r>
              <a:rPr lang="ko-KR" altLang="en-US" b="1" dirty="0"/>
              <a:t>오류 조기 발견</a:t>
            </a:r>
            <a:r>
              <a:rPr lang="en-US" altLang="ko-KR" dirty="0"/>
              <a:t>: </a:t>
            </a:r>
            <a:r>
              <a:rPr lang="ko-KR" altLang="en-US" dirty="0"/>
              <a:t>코드가 실행되기 전에 타입 검사를 수행하므로</a:t>
            </a:r>
            <a:r>
              <a:rPr lang="en-US" altLang="ko-KR" dirty="0"/>
              <a:t>, </a:t>
            </a:r>
            <a:r>
              <a:rPr lang="ko-KR" altLang="en-US" dirty="0"/>
              <a:t>런타임에 발생할 수 있는 타입 관련 오류를 사전에 발견하고 수정할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dirty="0" err="1"/>
              <a:t>TypeScript</a:t>
            </a:r>
            <a:r>
              <a:rPr lang="ko-KR" altLang="en-US" dirty="0"/>
              <a:t>에서는 변수나 함수의 타입이 잘못 사용되면 컴파일 시점에서 오류를 발생시킵니다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1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334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트랜스파일</a:t>
            </a:r>
            <a:r>
              <a:rPr lang="en-US" altLang="ko-KR" dirty="0"/>
              <a:t>: </a:t>
            </a:r>
            <a:r>
              <a:rPr lang="ko-KR" altLang="en-US" dirty="0"/>
              <a:t>한 종류의 소스코드에서 다른 종류의 소스코드로 변환하는 툴</a:t>
            </a:r>
            <a:endParaRPr lang="en-US" altLang="ko-KR" dirty="0"/>
          </a:p>
          <a:p>
            <a:r>
              <a:rPr lang="ko-KR" altLang="en-US" dirty="0" err="1"/>
              <a:t>트랜스파일러</a:t>
            </a:r>
            <a:r>
              <a:rPr lang="en-US" altLang="ko-KR" dirty="0"/>
              <a:t>:  </a:t>
            </a:r>
            <a:r>
              <a:rPr lang="ko-KR" altLang="en-US" dirty="0"/>
              <a:t>한 프로그래밍 언어로 작성된 코드를 다른 프로그램이 언어로 변환하는 도구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. TypeScript </a:t>
            </a:r>
            <a:r>
              <a:rPr lang="ko-KR" altLang="en-US" dirty="0"/>
              <a:t>컴파일러</a:t>
            </a:r>
            <a:r>
              <a:rPr lang="en-US" altLang="ko-KR" dirty="0"/>
              <a:t>(</a:t>
            </a:r>
            <a:r>
              <a:rPr lang="en-US" altLang="ko-KR" dirty="0" err="1"/>
              <a:t>tsc</a:t>
            </a:r>
            <a:r>
              <a:rPr lang="en-US" altLang="ko-KR" dirty="0"/>
              <a:t>) : TypeScript </a:t>
            </a:r>
            <a:r>
              <a:rPr lang="ko-KR" altLang="en-US" dirty="0"/>
              <a:t>코드를 </a:t>
            </a:r>
            <a:r>
              <a:rPr lang="en-US" altLang="ko-KR" dirty="0"/>
              <a:t>JavaScript </a:t>
            </a:r>
            <a:r>
              <a:rPr lang="ko-KR" altLang="en-US" dirty="0"/>
              <a:t>코드로 변환하는 </a:t>
            </a:r>
            <a:r>
              <a:rPr lang="ko-KR" altLang="en-US" dirty="0" err="1"/>
              <a:t>트랜스파일러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TypeScript</a:t>
            </a:r>
            <a:r>
              <a:rPr lang="ko-KR" altLang="en-US" dirty="0"/>
              <a:t>는 </a:t>
            </a:r>
            <a:r>
              <a:rPr lang="en-US" altLang="ko-KR" dirty="0"/>
              <a:t>JavaScript</a:t>
            </a:r>
            <a:r>
              <a:rPr lang="ko-KR" altLang="en-US" dirty="0"/>
              <a:t>의 상위 집합으로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en-US" altLang="ko-KR" dirty="0"/>
              <a:t>JavaScript </a:t>
            </a:r>
            <a:r>
              <a:rPr lang="ko-KR" altLang="en-US" dirty="0"/>
              <a:t>코드는 유효한 </a:t>
            </a:r>
            <a:r>
              <a:rPr lang="en-US" altLang="ko-KR" dirty="0"/>
              <a:t>TypeScript </a:t>
            </a:r>
            <a:r>
              <a:rPr lang="ko-KR" altLang="en-US" dirty="0"/>
              <a:t>코드가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그러나 </a:t>
            </a:r>
            <a:r>
              <a:rPr lang="en-US" altLang="ko-KR" dirty="0"/>
              <a:t>TypeScript</a:t>
            </a:r>
            <a:r>
              <a:rPr lang="ko-KR" altLang="en-US" dirty="0"/>
              <a:t>에서 추가된 타입 정보나 최신 문법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async/await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브라우저나 환경에서 지원되지 않을 수 있으므로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JavaScript</a:t>
            </a:r>
            <a:r>
              <a:rPr lang="ko-KR" altLang="en-US" dirty="0"/>
              <a:t>로 변환하여 호환성을 유지합니다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668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7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: </a:t>
            </a:r>
            <a:r>
              <a:rPr lang="ko-KR" altLang="en-US" dirty="0"/>
              <a:t>콜론으로 타입을 명시적으로 선언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/>
              <a:t>여기서 코드 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917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ko-KR" altLang="en-US" dirty="0"/>
              <a:t>으로 설치한다는 것</a:t>
            </a:r>
            <a:r>
              <a:rPr lang="en-US" altLang="ko-KR" dirty="0"/>
              <a:t>? = node</a:t>
            </a:r>
            <a:r>
              <a:rPr lang="ko-KR" altLang="en-US" dirty="0"/>
              <a:t>가 필요함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https://www.daleseo.com/tsc/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전역 설치</a:t>
            </a:r>
            <a:r>
              <a:rPr lang="en-US" altLang="ko-KR" dirty="0"/>
              <a:t>&gt; </a:t>
            </a:r>
            <a:r>
              <a:rPr lang="ko-KR" altLang="en-US" dirty="0"/>
              <a:t>프로젝트 구분 없이 전역적으로 사용</a:t>
            </a:r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en-US" altLang="ko-KR" dirty="0"/>
              <a:t> install </a:t>
            </a:r>
            <a:r>
              <a:rPr lang="en-US" altLang="ko-KR" b="1" dirty="0"/>
              <a:t>–g </a:t>
            </a:r>
            <a:r>
              <a:rPr lang="en-US" altLang="ko-KR" dirty="0"/>
              <a:t>typescript </a:t>
            </a:r>
          </a:p>
          <a:p>
            <a:r>
              <a:rPr lang="en-US" altLang="ko-KR" dirty="0" err="1"/>
              <a:t>tsc</a:t>
            </a:r>
            <a:r>
              <a:rPr lang="en-US" altLang="ko-KR" dirty="0"/>
              <a:t> –v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지역 설치</a:t>
            </a:r>
            <a:r>
              <a:rPr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npm</a:t>
            </a:r>
            <a:r>
              <a:rPr lang="en-US" altLang="ko-KR" dirty="0"/>
              <a:t> install typescript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err="1"/>
              <a:t>npx</a:t>
            </a:r>
            <a:r>
              <a:rPr lang="en-US" altLang="ko-KR" b="1" dirty="0"/>
              <a:t> </a:t>
            </a:r>
            <a:r>
              <a:rPr lang="en-US" altLang="ko-KR" dirty="0" err="1"/>
              <a:t>tsc</a:t>
            </a:r>
            <a:r>
              <a:rPr lang="en-US" altLang="ko-KR" dirty="0"/>
              <a:t> –v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152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ts</a:t>
            </a:r>
            <a:r>
              <a:rPr lang="en-US" altLang="ko-KR" baseline="0" dirty="0"/>
              <a:t>-node</a:t>
            </a:r>
          </a:p>
          <a:p>
            <a:r>
              <a:rPr lang="en-US" altLang="ko-KR" baseline="0" dirty="0"/>
              <a:t>- TS</a:t>
            </a:r>
            <a:r>
              <a:rPr lang="ko-KR" altLang="en-US" baseline="0" dirty="0"/>
              <a:t>파일을 직접 실행 할 수 있게 해주는 도구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70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*never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절대 발생하지 않는 값의 타입을 나타냄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*void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일반적으로</a:t>
            </a:r>
            <a:r>
              <a:rPr lang="en-US" altLang="ko-KR" dirty="0"/>
              <a:t> </a:t>
            </a:r>
            <a:r>
              <a:rPr lang="ko-KR" altLang="en-US" dirty="0"/>
              <a:t>함수에서 아무것도 반환하지 않는 경우에 사용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아무것도 반환하지 않음을 의미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853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튜플은</a:t>
            </a:r>
            <a:r>
              <a:rPr lang="ko-KR" altLang="en-US" dirty="0"/>
              <a:t> 고정된 개수의 요소를 가짐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+</a:t>
            </a:r>
            <a:r>
              <a:rPr lang="ko-KR" altLang="en-US" dirty="0"/>
              <a:t> 각 요소의 타입이 미리 지정된 배열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각 요소의 순서가 중요하며</a:t>
            </a:r>
            <a:r>
              <a:rPr lang="en-US" altLang="ko-KR" dirty="0"/>
              <a:t>, </a:t>
            </a:r>
            <a:r>
              <a:rPr lang="ko-KR" altLang="en-US" dirty="0"/>
              <a:t>순서에 따라 타입이 다를 수 있음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Drink = [1 , “cola”] =&gt; Error!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227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</a:t>
            </a:r>
            <a:r>
              <a:rPr lang="en-US" altLang="ko-KR" dirty="0" err="1"/>
              <a:t>ReadOnly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객체나 배열</a:t>
            </a:r>
            <a:r>
              <a:rPr lang="en-US" altLang="ko-KR" dirty="0"/>
              <a:t>, </a:t>
            </a:r>
            <a:r>
              <a:rPr lang="ko-KR" altLang="en-US" dirty="0" err="1"/>
              <a:t>튜플의</a:t>
            </a:r>
            <a:r>
              <a:rPr lang="ko-KR" altLang="en-US" dirty="0"/>
              <a:t> 요소가 </a:t>
            </a:r>
            <a:r>
              <a:rPr lang="en-US" altLang="ko-KR" dirty="0"/>
              <a:t>“</a:t>
            </a:r>
            <a:r>
              <a:rPr lang="ko-KR" altLang="en-US" dirty="0"/>
              <a:t>불변</a:t>
            </a:r>
            <a:r>
              <a:rPr lang="en-US" altLang="ko-KR" dirty="0"/>
              <a:t>＂</a:t>
            </a:r>
            <a:r>
              <a:rPr lang="ko-KR" altLang="en-US" dirty="0"/>
              <a:t>임을 보장하는 타입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타입을 사용하면 값이 할당 된 후 수정될 수 없음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코드가 의도치 않게 변경되는 것을 방지하여 타입 안전성을 높입니다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288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열거형은 개발자가 이름 붙인 상수들의 집합을 정의할 수 있는 타입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TS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en-US" altLang="ko-KR" dirty="0" err="1"/>
              <a:t>enum</a:t>
            </a:r>
            <a:r>
              <a:rPr lang="en-US" altLang="ko-KR" dirty="0"/>
              <a:t>’</a:t>
            </a:r>
            <a:r>
              <a:rPr lang="ko-KR" altLang="en-US" dirty="0"/>
              <a:t>을 사용하면 값에 의미를 부여하여 코드를 더 가독성 있게 </a:t>
            </a:r>
            <a:r>
              <a:rPr lang="ko-KR" altLang="en-US" dirty="0" err="1"/>
              <a:t>만듬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자동 값 할당</a:t>
            </a:r>
            <a:r>
              <a:rPr lang="en-US" altLang="ko-KR" dirty="0"/>
              <a:t>: </a:t>
            </a:r>
            <a:r>
              <a:rPr lang="ko-KR" altLang="en-US" dirty="0"/>
              <a:t>기본적으로 열거형의 값은 </a:t>
            </a:r>
            <a:r>
              <a:rPr lang="en-US" altLang="ko-KR" dirty="0"/>
              <a:t>0</a:t>
            </a:r>
            <a:r>
              <a:rPr lang="ko-KR" altLang="en-US" dirty="0"/>
              <a:t>부터 시작하는 숫자입니다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원하는 값으로 초기화할 수도 있습니다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양방향 매핑</a:t>
            </a:r>
            <a:r>
              <a:rPr lang="en-US" altLang="ko-KR" dirty="0"/>
              <a:t>: </a:t>
            </a:r>
            <a:r>
              <a:rPr lang="ko-KR" altLang="en-US" dirty="0"/>
              <a:t>숫자 기반의 열거형은 값과 이름을 상호 참조할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902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const USER = 1, const ADMIN =0, const GUEST =2</a:t>
            </a:r>
          </a:p>
          <a:p>
            <a:r>
              <a:rPr lang="ko-KR" altLang="en-US" dirty="0" err="1"/>
              <a:t>처럼</a:t>
            </a:r>
            <a:r>
              <a:rPr lang="ko-KR" altLang="en-US" dirty="0"/>
              <a:t> 상수 선언을 </a:t>
            </a:r>
            <a:r>
              <a:rPr lang="ko-KR" altLang="en-US" dirty="0" err="1"/>
              <a:t>해놓을</a:t>
            </a:r>
            <a:r>
              <a:rPr lang="ko-KR" altLang="en-US" dirty="0"/>
              <a:t> 수도 있지만 </a:t>
            </a:r>
            <a:endParaRPr lang="en-US" altLang="ko-KR" dirty="0"/>
          </a:p>
          <a:p>
            <a:r>
              <a:rPr lang="ko-KR" altLang="en-US" dirty="0"/>
              <a:t>권한이라는 그룹으로 </a:t>
            </a:r>
            <a:r>
              <a:rPr lang="en-US" altLang="ko-KR" dirty="0"/>
              <a:t>0,1,2 </a:t>
            </a:r>
            <a:r>
              <a:rPr lang="ko-KR" altLang="en-US" dirty="0"/>
              <a:t>라는 숫자를 </a:t>
            </a:r>
            <a:r>
              <a:rPr lang="ko-KR" altLang="en-US" dirty="0" err="1"/>
              <a:t>묶어두고</a:t>
            </a:r>
            <a:r>
              <a:rPr lang="en-US" altLang="ko-KR" dirty="0"/>
              <a:t>, </a:t>
            </a:r>
            <a:r>
              <a:rPr lang="ko-KR" altLang="en-US" dirty="0"/>
              <a:t>각 숫자가 어떤 것을 의미하는지 미리 기록해두고 사용하는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14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https://curryyou.tistory.com/495</a:t>
            </a:r>
          </a:p>
          <a:p>
            <a:endParaRPr lang="en-US" altLang="ko-KR" dirty="0"/>
          </a:p>
          <a:p>
            <a:r>
              <a:rPr lang="ko-KR" altLang="en-US" dirty="0"/>
              <a:t>문자열과 숫자로도 선언이 가능하지만 되도록 같은 타입의 열거형을 사용하길 권고한다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15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**any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모든 타입을 허용하는 타입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타입 체크를 하지 않도록 명시적으로 설정하는 용도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특징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타입 안전성 없음</a:t>
            </a:r>
            <a:r>
              <a:rPr lang="en-US" altLang="ko-KR" dirty="0"/>
              <a:t>. – </a:t>
            </a:r>
            <a:r>
              <a:rPr lang="ko-KR" altLang="en-US" dirty="0"/>
              <a:t>가능한 사용 자제하는 것이 좋음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타입을 정확히 알 수 없거나 동적으로 타입이 결정되는 값에 사용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230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133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399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39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7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06561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6405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5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5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5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98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1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docs/handbook/typescript-from-scratch.html#a-typed-superset-of-javascri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367CE0-85D8-F70F-C033-BE942249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i="1" dirty="0"/>
              <a:t>“</a:t>
            </a:r>
            <a:r>
              <a:rPr lang="en-US" altLang="ko-KR" sz="2400" i="1" dirty="0">
                <a:effectLst/>
              </a:rPr>
              <a:t>Typescript is a </a:t>
            </a:r>
            <a:r>
              <a:rPr lang="en-US" altLang="ko-KR" sz="2400" b="1" i="1" dirty="0">
                <a:solidFill>
                  <a:schemeClr val="accent1"/>
                </a:solidFill>
                <a:effectLst/>
              </a:rPr>
              <a:t>typed superset</a:t>
            </a:r>
            <a:r>
              <a:rPr lang="en-US" altLang="ko-KR" sz="2400" i="1" dirty="0">
                <a:effectLst/>
              </a:rPr>
              <a:t> of </a:t>
            </a:r>
            <a:r>
              <a:rPr lang="en-US" altLang="ko-KR" sz="2400" i="1" dirty="0" err="1">
                <a:effectLst/>
              </a:rPr>
              <a:t>Javascript</a:t>
            </a:r>
            <a:endParaRPr lang="en-US" altLang="ko-KR" sz="2400" i="1" dirty="0"/>
          </a:p>
          <a:p>
            <a:pPr marL="0" indent="0" algn="ctr">
              <a:buNone/>
            </a:pPr>
            <a:r>
              <a:rPr lang="en-US" altLang="ko-KR" sz="2400" i="1" dirty="0">
                <a:effectLst/>
              </a:rPr>
              <a:t>		 		that compiles to plain </a:t>
            </a:r>
            <a:r>
              <a:rPr lang="en-US" altLang="ko-KR" sz="2400" i="1" dirty="0" err="1">
                <a:effectLst/>
              </a:rPr>
              <a:t>Javascript</a:t>
            </a:r>
            <a:r>
              <a:rPr lang="en-US" altLang="ko-KR" sz="2400" i="1" dirty="0"/>
              <a:t>”</a:t>
            </a:r>
          </a:p>
          <a:p>
            <a:pPr marL="0" indent="0" algn="ctr">
              <a:buNone/>
            </a:pPr>
            <a:endParaRPr lang="en-US" altLang="ko-KR" sz="2400" i="1" dirty="0"/>
          </a:p>
          <a:p>
            <a:pPr marL="0" indent="0" algn="ctr">
              <a:buNone/>
            </a:pPr>
            <a:endParaRPr lang="en-US" altLang="ko-KR" sz="2400" i="1" dirty="0">
              <a:effectLst/>
            </a:endParaRPr>
          </a:p>
          <a:p>
            <a:r>
              <a:rPr lang="en-US" altLang="ko-KR" sz="2400" dirty="0">
                <a:effectLst/>
              </a:rPr>
              <a:t>2012</a:t>
            </a:r>
            <a:r>
              <a:rPr lang="ko-KR" altLang="en-US" sz="2400" dirty="0">
                <a:effectLst/>
              </a:rPr>
              <a:t>년에 발표된 오픈 소스 프로그래밍 언어로 </a:t>
            </a:r>
            <a:r>
              <a:rPr lang="en-US" altLang="ko-KR" sz="2400" dirty="0">
                <a:effectLst/>
              </a:rPr>
              <a:t>Microsoft</a:t>
            </a:r>
            <a:r>
              <a:rPr lang="ko-KR" altLang="en-US" sz="2400" dirty="0">
                <a:effectLst/>
              </a:rPr>
              <a:t>에 의해 개발됨</a:t>
            </a:r>
            <a:endParaRPr lang="en-US" altLang="ko-KR" sz="2400" dirty="0">
              <a:effectLst/>
            </a:endParaRPr>
          </a:p>
          <a:p>
            <a:endParaRPr lang="en-US" altLang="ko-KR" sz="2400" i="1" dirty="0"/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A35D84-C3D8-4028-A25E-6B3106CF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C6669F-71DA-E8F4-5A11-EBF580E0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3F272FB-274A-887E-82D8-E2D190A0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329F1-C47F-2DA5-2223-B442119F25B7}"/>
              </a:ext>
            </a:extLst>
          </p:cNvPr>
          <p:cNvSpPr txBox="1"/>
          <p:nvPr/>
        </p:nvSpPr>
        <p:spPr>
          <a:xfrm>
            <a:off x="1355464" y="2695361"/>
            <a:ext cx="954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accent6"/>
                </a:solidFill>
                <a:effectLst/>
              </a:rPr>
              <a:t>타입스크립트는 자바스크립트로 컴파일 되는</a:t>
            </a:r>
            <a:r>
              <a:rPr lang="en-US" altLang="ko-KR" dirty="0">
                <a:solidFill>
                  <a:schemeClr val="accent6"/>
                </a:solidFill>
                <a:effectLst/>
              </a:rPr>
              <a:t>, 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자바스크립트의 </a:t>
            </a:r>
            <a:r>
              <a:rPr lang="ko-KR" altLang="en-US" b="1" dirty="0">
                <a:solidFill>
                  <a:schemeClr val="accent6"/>
                </a:solidFill>
                <a:effectLst/>
              </a:rPr>
              <a:t>타입이 있는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 </a:t>
            </a:r>
            <a:r>
              <a:rPr lang="ko-KR" altLang="en-US" b="1" dirty="0">
                <a:solidFill>
                  <a:schemeClr val="accent6"/>
                </a:solidFill>
                <a:effectLst/>
              </a:rPr>
              <a:t>상위집합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이다</a:t>
            </a:r>
            <a:r>
              <a:rPr lang="en-US" altLang="ko-KR" dirty="0">
                <a:solidFill>
                  <a:schemeClr val="accent6"/>
                </a:solidFill>
                <a:effectLst/>
              </a:rPr>
              <a:t>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47240-16AF-E6C2-9743-4BB48BE2CB29}"/>
              </a:ext>
            </a:extLst>
          </p:cNvPr>
          <p:cNvSpPr txBox="1"/>
          <p:nvPr/>
        </p:nvSpPr>
        <p:spPr>
          <a:xfrm>
            <a:off x="572386" y="5089508"/>
            <a:ext cx="11047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hlinkClick r:id="rId3"/>
              </a:rPr>
              <a:t>https://www.typescriptlang.org/docs/handbook/typescript-from-scratch.html#a-typed-superset-of-javascript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386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1820E-89AE-C0C8-5928-4AA786FF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676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타입이 있는 자바스크립트</a:t>
            </a:r>
            <a:endParaRPr lang="en-US" altLang="ko-KR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즉</a:t>
            </a:r>
            <a:r>
              <a:rPr lang="en-US" altLang="ko-KR" dirty="0"/>
              <a:t>, JavaScript </a:t>
            </a:r>
            <a:r>
              <a:rPr lang="ko-KR" altLang="en-US" dirty="0"/>
              <a:t>의 기본 문법에 자료형 체크하는 기능을 추가한 것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자바스크립트가 자의적으로 </a:t>
            </a:r>
            <a:r>
              <a:rPr lang="en-US" altLang="ko-KR" dirty="0"/>
              <a:t>type </a:t>
            </a:r>
            <a:r>
              <a:rPr lang="ko-KR" altLang="en-US" dirty="0"/>
              <a:t>해석을 하고 코드를 실행시켰을 때</a:t>
            </a:r>
            <a:r>
              <a:rPr lang="en-US" altLang="ko-KR" dirty="0"/>
              <a:t>, </a:t>
            </a:r>
            <a:r>
              <a:rPr lang="ko-KR" altLang="en-US" dirty="0"/>
              <a:t>의도와 다른 방식으로 쓰이지 않도록 방지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정적 타입 언어</a:t>
            </a:r>
            <a:br>
              <a:rPr lang="en-US" altLang="ko-KR" dirty="0"/>
            </a:br>
            <a:r>
              <a:rPr lang="en-US" altLang="ko-KR" dirty="0"/>
              <a:t>	-&gt; </a:t>
            </a:r>
            <a:r>
              <a:rPr lang="ko-KR" altLang="en-US" dirty="0"/>
              <a:t>실행하지 않고도 코드 상의 에러를 알려줌 </a:t>
            </a:r>
            <a:r>
              <a:rPr lang="en-US" altLang="ko-KR" dirty="0"/>
              <a:t>(</a:t>
            </a:r>
            <a:r>
              <a:rPr lang="ko-KR" altLang="en-US" dirty="0"/>
              <a:t>실시간 디버깅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33B1D3-4AD3-226D-DA01-F3036E0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29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37DDDD-E2FF-E370-603B-68C2EA52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r>
              <a:rPr lang="ko-KR" altLang="en-US" dirty="0"/>
              <a:t>에서 지원하지 않는 기능을 지원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TypeScript</a:t>
            </a:r>
            <a:r>
              <a:rPr lang="ko-KR" altLang="en-US" dirty="0"/>
              <a:t> 대표 기능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엄격한 타입 관리 </a:t>
            </a:r>
            <a:r>
              <a:rPr lang="en-US" altLang="ko-KR" dirty="0">
                <a:solidFill>
                  <a:schemeClr val="accent1"/>
                </a:solidFill>
              </a:rPr>
              <a:t>(Strongly Typed)</a:t>
            </a:r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제너릭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(Generics)</a:t>
            </a:r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인터페이스 </a:t>
            </a:r>
            <a:r>
              <a:rPr lang="en-US" altLang="ko-KR" dirty="0">
                <a:solidFill>
                  <a:schemeClr val="accent1"/>
                </a:solidFill>
              </a:rPr>
              <a:t>(Interface)</a:t>
            </a:r>
          </a:p>
          <a:p>
            <a:pPr lvl="1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BAD158-27F9-D63C-170F-7FAC8F4C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A9A97-A679-19F6-486D-3806B45B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BEE60F1-D4D5-C14B-8985-D581153C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는 </a:t>
            </a:r>
            <a:r>
              <a:rPr lang="en-US" altLang="ko-KR" dirty="0"/>
              <a:t>JavaScript</a:t>
            </a:r>
            <a:r>
              <a:rPr lang="ko-KR" altLang="en-US" dirty="0"/>
              <a:t> </a:t>
            </a:r>
            <a:r>
              <a:rPr lang="en-US" altLang="ko-KR" dirty="0"/>
              <a:t>Superset!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79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4A3548-4282-CE9A-7399-720686C4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TS</a:t>
            </a:r>
            <a:r>
              <a:rPr lang="ko-KR" altLang="en-US" sz="2400" dirty="0"/>
              <a:t>는 웹 브라우저에서 바로 해석될 수 없음</a:t>
            </a:r>
            <a:endParaRPr lang="en-US" altLang="ko-KR" sz="2400" dirty="0"/>
          </a:p>
          <a:p>
            <a:r>
              <a:rPr lang="en-US" altLang="ko-KR" sz="2400" dirty="0">
                <a:solidFill>
                  <a:schemeClr val="accent1"/>
                </a:solidFill>
              </a:rPr>
              <a:t>TS</a:t>
            </a:r>
            <a:r>
              <a:rPr lang="ko-KR" altLang="en-US" sz="2400" dirty="0">
                <a:solidFill>
                  <a:schemeClr val="accent1"/>
                </a:solidFill>
              </a:rPr>
              <a:t>가 </a:t>
            </a:r>
            <a:r>
              <a:rPr lang="en-US" altLang="ko-KR" sz="2400" dirty="0">
                <a:solidFill>
                  <a:schemeClr val="accent1"/>
                </a:solidFill>
              </a:rPr>
              <a:t>JS</a:t>
            </a:r>
            <a:r>
              <a:rPr lang="ko-KR" altLang="en-US" sz="2400" dirty="0">
                <a:solidFill>
                  <a:schemeClr val="accent1"/>
                </a:solidFill>
              </a:rPr>
              <a:t>로 변환</a:t>
            </a:r>
            <a:r>
              <a:rPr lang="ko-KR" altLang="en-US" sz="2400" dirty="0"/>
              <a:t>되어야 브라우저가 해석 할 수 있음</a:t>
            </a:r>
            <a:r>
              <a:rPr lang="en-US" altLang="ko-KR" sz="2400" dirty="0"/>
              <a:t>! </a:t>
            </a:r>
          </a:p>
          <a:p>
            <a:r>
              <a:rPr lang="en-US" altLang="ko-KR" sz="2400" dirty="0"/>
              <a:t>TS</a:t>
            </a:r>
            <a:r>
              <a:rPr lang="ko-KR" altLang="en-US" sz="2400" dirty="0"/>
              <a:t>가 </a:t>
            </a:r>
            <a:r>
              <a:rPr lang="en-US" altLang="ko-KR" sz="2400" dirty="0"/>
              <a:t>JS</a:t>
            </a:r>
            <a:r>
              <a:rPr lang="ko-KR" altLang="en-US" sz="2400" dirty="0"/>
              <a:t>로 출력되기에 </a:t>
            </a:r>
            <a:r>
              <a:rPr lang="ko-KR" altLang="en-US" sz="2400" dirty="0" err="1"/>
              <a:t>트랜스파일러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Transpiler</a:t>
            </a:r>
            <a:r>
              <a:rPr lang="en-US" altLang="ko-KR" sz="2400" dirty="0"/>
              <a:t>) </a:t>
            </a:r>
            <a:r>
              <a:rPr lang="ko-KR" altLang="en-US" sz="2400" dirty="0"/>
              <a:t>라고 부름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12C5C0-9960-9C44-9ADC-CBBE5445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AB249-4F3B-97C8-0F37-1B17C9D7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DAFA535-9BDF-D859-3EFD-AFC414F1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트랜스파일러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sz="4400" dirty="0" err="1"/>
              <a:t>Transpiler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1E6A66-C703-4CB5-2247-E07CAC6BE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07" y="1981949"/>
            <a:ext cx="3252233" cy="38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3778B2-BAC5-80C1-EB62-4B2E141D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7" y="3027346"/>
            <a:ext cx="572452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87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D548E-F4C9-B383-E5BF-E72D8E94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number</a:t>
            </a:r>
          </a:p>
          <a:p>
            <a:r>
              <a:rPr lang="en-US" altLang="ko-KR" dirty="0"/>
              <a:t>string</a:t>
            </a:r>
          </a:p>
          <a:p>
            <a:r>
              <a:rPr lang="en-US" altLang="ko-KR" dirty="0" err="1"/>
              <a:t>boolean</a:t>
            </a:r>
            <a:endParaRPr lang="en-US" altLang="ko-KR" dirty="0"/>
          </a:p>
          <a:p>
            <a:r>
              <a:rPr lang="en-US" altLang="ko-KR" dirty="0"/>
              <a:t>null</a:t>
            </a:r>
          </a:p>
          <a:p>
            <a:r>
              <a:rPr lang="en-US" altLang="ko-KR" dirty="0"/>
              <a:t>undefined</a:t>
            </a:r>
          </a:p>
          <a:p>
            <a:r>
              <a:rPr lang="en-US" altLang="ko-KR" dirty="0"/>
              <a:t>object</a:t>
            </a:r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D19334-C98A-6B45-185A-6F24AC31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의 자료형</a:t>
            </a:r>
          </a:p>
        </p:txBody>
      </p:sp>
    </p:spTree>
    <p:extLst>
      <p:ext uri="{BB962C8B-B14F-4D97-AF65-F5344CB8AC3E}">
        <p14:creationId xmlns:p14="http://schemas.microsoft.com/office/powerpoint/2010/main" val="243434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C876B-7AF1-9172-C355-129FEBD2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변수나 함수를 만들어줄 때 타입까지 명시해서 선언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let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변수이름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: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타입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; </a:t>
            </a:r>
            <a:r>
              <a:rPr lang="ko-KR" altLang="en-US" dirty="0"/>
              <a:t>으로 선언할 수 있어요</a:t>
            </a:r>
            <a:r>
              <a:rPr lang="en-US" altLang="ko-KR" dirty="0"/>
              <a:t>! </a:t>
            </a:r>
            <a:r>
              <a:rPr lang="en-US" altLang="ko-KR" sz="1600" dirty="0"/>
              <a:t>(</a:t>
            </a:r>
            <a:r>
              <a:rPr lang="ko-KR" altLang="en-US" sz="1600" dirty="0"/>
              <a:t>물론 </a:t>
            </a:r>
            <a:r>
              <a:rPr lang="en-US" altLang="ko-KR" sz="1600" dirty="0"/>
              <a:t>const </a:t>
            </a:r>
            <a:r>
              <a:rPr lang="ko-KR" altLang="en-US" sz="1600" dirty="0"/>
              <a:t>로도 가능하겠죠</a:t>
            </a:r>
            <a:r>
              <a:rPr lang="en-US" altLang="ko-KR" sz="1600" dirty="0"/>
              <a:t>? ^^)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34A692-1E8A-FB56-32FA-4B5EF1F6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타입과 함께 선언하는 </a:t>
            </a:r>
            <a:r>
              <a:rPr lang="en-US" altLang="ko-KR" dirty="0"/>
              <a:t>typescript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AEF5E-46BA-A797-53E5-CBC5AEAB3A3C}"/>
              </a:ext>
            </a:extLst>
          </p:cNvPr>
          <p:cNvSpPr txBox="1"/>
          <p:nvPr/>
        </p:nvSpPr>
        <p:spPr>
          <a:xfrm>
            <a:off x="965533" y="2551837"/>
            <a:ext cx="7987081" cy="17543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altLang="ko-KR" dirty="0" err="1">
                <a:solidFill>
                  <a:srgbClr val="9ECE6A"/>
                </a:solidFill>
                <a:latin typeface="Consolas" panose="020B0609020204030204" pitchFamily="49" charset="0"/>
              </a:rPr>
              <a:t>gildong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75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FF1CE3-5F60-DC29-49EB-02E03510A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웹 브라우저는 </a:t>
            </a:r>
            <a:r>
              <a:rPr lang="en-US" altLang="ko-KR" sz="2400" dirty="0" err="1"/>
              <a:t>ts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읽을 수 없기 때문에 </a:t>
            </a:r>
            <a:r>
              <a:rPr lang="en-US" altLang="ko-KR" sz="2400" dirty="0" err="1"/>
              <a:t>ts</a:t>
            </a:r>
            <a:r>
              <a:rPr lang="en-US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의 변환 과정이 필요합니다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 marL="514350" indent="-514350">
              <a:buAutoNum type="arabicPeriod"/>
            </a:pPr>
            <a:r>
              <a:rPr lang="en-US" altLang="ko-KR" sz="2400" dirty="0">
                <a:sym typeface="Wingdings" panose="05000000000000000000" pitchFamily="2" charset="2"/>
              </a:rPr>
              <a:t>TypeScript </a:t>
            </a:r>
            <a:r>
              <a:rPr lang="ko-KR" altLang="en-US" sz="2400" dirty="0">
                <a:sym typeface="Wingdings" panose="05000000000000000000" pitchFamily="2" charset="2"/>
              </a:rPr>
              <a:t>설치 </a:t>
            </a: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전역 설치를 희망한다면 </a:t>
            </a:r>
            <a:r>
              <a:rPr lang="en-US" altLang="ko-KR" sz="2400" dirty="0">
                <a:sym typeface="Wingdings" panose="05000000000000000000" pitchFamily="2" charset="2"/>
              </a:rPr>
              <a:t>–g</a:t>
            </a:r>
            <a:r>
              <a:rPr lang="ko-KR" altLang="en-US" sz="2400" dirty="0">
                <a:sym typeface="Wingdings" panose="05000000000000000000" pitchFamily="2" charset="2"/>
              </a:rPr>
              <a:t> 옵션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npm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install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typescript</a:t>
            </a:r>
            <a:r>
              <a:rPr lang="en-US" altLang="ko-KR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(Mac :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sudo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npm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install typescript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2. </a:t>
            </a:r>
            <a:r>
              <a:rPr lang="ko-KR" altLang="en-US" sz="2400" dirty="0">
                <a:sym typeface="Wingdings" panose="05000000000000000000" pitchFamily="2" charset="2"/>
              </a:rPr>
              <a:t>설치가 잘 되었는지 </a:t>
            </a:r>
            <a:r>
              <a:rPr lang="en-US" altLang="ko-KR" sz="2400" dirty="0">
                <a:sym typeface="Wingdings" panose="05000000000000000000" pitchFamily="2" charset="2"/>
              </a:rPr>
              <a:t>version </a:t>
            </a:r>
            <a:r>
              <a:rPr lang="ko-KR" altLang="en-US" sz="2400" dirty="0">
                <a:sym typeface="Wingdings" panose="05000000000000000000" pitchFamily="2" charset="2"/>
              </a:rPr>
              <a:t>확인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-v</a:t>
            </a: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3. </a:t>
            </a:r>
            <a:r>
              <a:rPr lang="en-US" altLang="ko-KR" sz="2400" dirty="0" err="1">
                <a:sym typeface="Wingdings" panose="05000000000000000000" pitchFamily="2" charset="2"/>
              </a:rPr>
              <a:t>tsconfig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파일 생성 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--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init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4. </a:t>
            </a:r>
            <a:r>
              <a:rPr lang="en-US" altLang="ko-KR" sz="2400" dirty="0" err="1">
                <a:sym typeface="Wingdings" panose="05000000000000000000" pitchFamily="2" charset="2"/>
              </a:rPr>
              <a:t>ts</a:t>
            </a:r>
            <a:r>
              <a:rPr lang="ko-KR" altLang="en-US" sz="2400" dirty="0">
                <a:sym typeface="Wingdings" panose="05000000000000000000" pitchFamily="2" charset="2"/>
              </a:rPr>
              <a:t> 파일을 만들고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ko-KR" altLang="en-US" sz="2400" dirty="0">
                <a:sym typeface="Wingdings" panose="05000000000000000000" pitchFamily="2" charset="2"/>
              </a:rPr>
              <a:t>로 변환하고 싶을 때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파일이름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실제 사용은 변환된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파일을 사용하면 됩니다</a:t>
            </a:r>
            <a:r>
              <a:rPr lang="en-US" altLang="ko-KR" sz="2400" dirty="0">
                <a:sym typeface="Wingdings" panose="05000000000000000000" pitchFamily="2" charset="2"/>
              </a:rPr>
              <a:t>. (</a:t>
            </a:r>
            <a:r>
              <a:rPr lang="en-US" altLang="ko-KR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node</a:t>
            </a:r>
            <a:r>
              <a:rPr lang="ko-KR" altLang="en-US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파일이름</a:t>
            </a:r>
            <a:r>
              <a:rPr lang="en-US" altLang="ko-KR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.</a:t>
            </a:r>
            <a:r>
              <a:rPr lang="en-US" altLang="ko-KR" sz="2400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BCA8AC-557E-6855-43A5-D106099C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9DAE7-F251-C883-675E-40C23EF6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B5891A1-1261-798B-BA6C-97D97615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404754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3E26B4-0144-5D67-C72C-7EB1933D6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ts</a:t>
            </a:r>
            <a:r>
              <a:rPr lang="ko-KR" altLang="en-US" dirty="0"/>
              <a:t> 파일을 일일이 변환한 후에</a:t>
            </a:r>
            <a:r>
              <a:rPr lang="en-US" altLang="ko-KR" dirty="0"/>
              <a:t>,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ko-KR" altLang="en-US" dirty="0" err="1"/>
              <a:t>실행하는게</a:t>
            </a:r>
            <a:r>
              <a:rPr lang="ko-KR" altLang="en-US" dirty="0"/>
              <a:t> 귀찮아요</a:t>
            </a:r>
            <a:r>
              <a:rPr lang="en-US" altLang="ko-KR" dirty="0"/>
              <a:t>!</a:t>
            </a:r>
          </a:p>
          <a:p>
            <a:r>
              <a:rPr lang="en-US" altLang="ko-KR" dirty="0" err="1"/>
              <a:t>ts</a:t>
            </a:r>
            <a:r>
              <a:rPr lang="en-US" altLang="ko-KR" dirty="0"/>
              <a:t>-node </a:t>
            </a:r>
            <a:r>
              <a:rPr lang="ko-KR" altLang="en-US" dirty="0"/>
              <a:t>모듈 설치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npm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install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-node </a:t>
            </a:r>
          </a:p>
          <a:p>
            <a:pPr lvl="1"/>
            <a:r>
              <a:rPr lang="en-US" altLang="ko-KR" dirty="0" err="1"/>
              <a:t>package.json</a:t>
            </a:r>
            <a:r>
              <a:rPr lang="en-US" altLang="ko-KR" dirty="0"/>
              <a:t>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en-US" altLang="ko-KR" dirty="0" err="1"/>
              <a:t>ts</a:t>
            </a:r>
            <a:r>
              <a:rPr lang="en-US" altLang="ko-KR" dirty="0"/>
              <a:t>-node</a:t>
            </a:r>
            <a:r>
              <a:rPr lang="ko-KR" altLang="en-US" dirty="0"/>
              <a:t> 모듈이 잘 </a:t>
            </a:r>
            <a:r>
              <a:rPr lang="ko-KR" altLang="en-US" dirty="0" err="1"/>
              <a:t>설치되어있는지</a:t>
            </a:r>
            <a:r>
              <a:rPr lang="ko-KR" altLang="en-US" dirty="0"/>
              <a:t> 확인하기</a:t>
            </a:r>
            <a:endParaRPr lang="en-US" altLang="ko-KR" dirty="0"/>
          </a:p>
          <a:p>
            <a:r>
              <a:rPr lang="ko-KR" altLang="en-US" dirty="0"/>
              <a:t>실행은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-node 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파일이름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DB84DF-A6F0-309E-22AB-C2BA0401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변환 </a:t>
            </a:r>
            <a:r>
              <a:rPr lang="en-US" altLang="ko-KR" dirty="0"/>
              <a:t>+ </a:t>
            </a:r>
            <a:r>
              <a:rPr lang="ko-KR" altLang="en-US" dirty="0"/>
              <a:t>실행 자동화</a:t>
            </a:r>
          </a:p>
        </p:txBody>
      </p:sp>
    </p:spTree>
    <p:extLst>
      <p:ext uri="{BB962C8B-B14F-4D97-AF65-F5344CB8AC3E}">
        <p14:creationId xmlns:p14="http://schemas.microsoft.com/office/powerpoint/2010/main" val="5111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3D4D577-AE5E-0320-9118-567D882BC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</a:p>
          <a:p>
            <a:r>
              <a:rPr lang="en-US" altLang="ko-KR" dirty="0"/>
              <a:t>Enum</a:t>
            </a:r>
          </a:p>
          <a:p>
            <a:r>
              <a:rPr lang="en-US" altLang="ko-KR" dirty="0"/>
              <a:t>never</a:t>
            </a:r>
          </a:p>
          <a:p>
            <a:r>
              <a:rPr lang="en-US" altLang="ko-KR" dirty="0"/>
              <a:t>void</a:t>
            </a:r>
          </a:p>
          <a:p>
            <a:r>
              <a:rPr lang="en-US" altLang="ko-KR" dirty="0"/>
              <a:t>any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116249-7261-C4B8-87E7-2580C7CB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27FD9-5978-A5F3-4064-AB732519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4C84F3B-6419-1CF0-69E6-2F2FC752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 type </a:t>
            </a:r>
            <a:r>
              <a:rPr lang="ko-KR" altLang="en-US" dirty="0"/>
              <a:t>알아보기</a:t>
            </a:r>
            <a:r>
              <a:rPr lang="en-US" altLang="ko-KR" dirty="0"/>
              <a:t>2 (JS </a:t>
            </a:r>
            <a:r>
              <a:rPr lang="ko-KR" altLang="en-US" dirty="0"/>
              <a:t>에서는 없던 </a:t>
            </a:r>
            <a:r>
              <a:rPr lang="en-US" altLang="ko-KR" dirty="0"/>
              <a:t>type</a:t>
            </a:r>
            <a:r>
              <a:rPr lang="ko-KR" altLang="en-US" dirty="0"/>
              <a:t>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48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1570C-7FAF-90D1-B57F-AE468E84C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045"/>
          </a:xfrm>
        </p:spPr>
        <p:txBody>
          <a:bodyPr>
            <a:normAutofit/>
          </a:bodyPr>
          <a:lstStyle/>
          <a:p>
            <a:r>
              <a:rPr lang="en-US" altLang="ko-KR" dirty="0"/>
              <a:t>JS</a:t>
            </a:r>
            <a:r>
              <a:rPr lang="ko-KR" altLang="en-US" dirty="0"/>
              <a:t>에서는 배열과 같습니다</a:t>
            </a:r>
            <a:r>
              <a:rPr lang="en-US" altLang="ko-KR" dirty="0"/>
              <a:t>. </a:t>
            </a:r>
            <a:r>
              <a:rPr lang="en-US" altLang="ko-KR" sz="2400" dirty="0"/>
              <a:t>(</a:t>
            </a:r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요소의 길이와 타입이 고정된 특수한 배열</a:t>
            </a:r>
            <a:r>
              <a:rPr lang="en-US" altLang="ko-KR" sz="2400" dirty="0"/>
              <a:t>)</a:t>
            </a:r>
          </a:p>
          <a:p>
            <a:r>
              <a:rPr lang="ko-KR" altLang="en-US" dirty="0"/>
              <a:t>순서와 개수가 정해져 있는 배열 </a:t>
            </a:r>
            <a:r>
              <a:rPr lang="en-US" altLang="ko-KR" dirty="0"/>
              <a:t>(</a:t>
            </a:r>
            <a:r>
              <a:rPr lang="ko-KR" altLang="en-US" dirty="0"/>
              <a:t>요소의 길이와 타입 고정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일반 배열과 다른 점은 배열의 각각의 타입에 모두 </a:t>
            </a:r>
            <a:r>
              <a:rPr lang="en-US" altLang="ko-KR" dirty="0"/>
              <a:t>type</a:t>
            </a:r>
            <a:r>
              <a:rPr lang="ko-KR" altLang="en-US" dirty="0"/>
              <a:t>을 지정해줘야 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순서와 규칙이 있는 배열이 있다면 </a:t>
            </a:r>
            <a:r>
              <a:rPr lang="en-US" altLang="ko-KR" dirty="0"/>
              <a:t>Tuple</a:t>
            </a:r>
            <a:r>
              <a:rPr lang="ko-KR" altLang="en-US" dirty="0"/>
              <a:t>을 이용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698FFC-4B2A-889A-6546-F5DACE8C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4B111-B3A1-B494-EF40-282A3CC3B571}"/>
              </a:ext>
            </a:extLst>
          </p:cNvPr>
          <p:cNvSpPr txBox="1"/>
          <p:nvPr/>
        </p:nvSpPr>
        <p:spPr>
          <a:xfrm>
            <a:off x="304800" y="4494664"/>
            <a:ext cx="6093618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dirty="0" err="1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 타입 선언</a:t>
            </a:r>
            <a:endParaRPr lang="en-US" altLang="ko-KR" b="0" i="1" dirty="0">
              <a:solidFill>
                <a:srgbClr val="444B6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drink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dirty="0" err="1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 초기화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drink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cola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1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95453-43FC-DB88-776E-51F8DE7BC015}"/>
              </a:ext>
            </a:extLst>
          </p:cNvPr>
          <p:cNvSpPr txBox="1"/>
          <p:nvPr/>
        </p:nvSpPr>
        <p:spPr>
          <a:xfrm>
            <a:off x="6398418" y="4863996"/>
            <a:ext cx="5044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drink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라는 배열은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요소를 가지며</a:t>
            </a:r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첫번째 요소는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string,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두번째 요소는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number</a:t>
            </a:r>
          </a:p>
          <a:p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즉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요소들의 타입이 모두 같을 필요는 없음을 나타냄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98418" y="4488273"/>
            <a:ext cx="4710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배열의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element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에게 개별적으로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 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105195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03059-1A0D-054E-FDB0-D47CF2A64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길이와 데이터 타입이 정해진 배열인 </a:t>
            </a:r>
            <a:r>
              <a:rPr lang="en-US" altLang="ko-KR" dirty="0"/>
              <a:t>tuple</a:t>
            </a:r>
          </a:p>
          <a:p>
            <a:r>
              <a:rPr lang="en-US" altLang="ko-KR" dirty="0" err="1"/>
              <a:t>Readonly</a:t>
            </a:r>
            <a:r>
              <a:rPr lang="en-US" altLang="ko-KR" dirty="0"/>
              <a:t> ? </a:t>
            </a:r>
            <a:r>
              <a:rPr lang="ko-KR" altLang="en-US" dirty="0"/>
              <a:t>읽기만 가능한 </a:t>
            </a:r>
            <a:r>
              <a:rPr lang="en-US" altLang="ko-KR" dirty="0"/>
              <a:t>data type!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Readonly</a:t>
            </a:r>
            <a:r>
              <a:rPr lang="ko-KR" altLang="en-US" dirty="0"/>
              <a:t>로 만들어진 </a:t>
            </a:r>
            <a:r>
              <a:rPr lang="en-US" altLang="ko-KR" dirty="0"/>
              <a:t>tuple </a:t>
            </a:r>
            <a:r>
              <a:rPr lang="ko-KR" altLang="en-US" dirty="0"/>
              <a:t>은 데이터를 변경할 수 없음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85D9E-65AA-D8C7-CDD0-080038F6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 </a:t>
            </a:r>
            <a:r>
              <a:rPr lang="ko-KR" altLang="en-US" dirty="0"/>
              <a:t>과 </a:t>
            </a:r>
            <a:r>
              <a:rPr lang="en-US" altLang="ko-KR" dirty="0" err="1"/>
              <a:t>readonly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7DCC4-174B-BEA5-4897-C4BC598A9343}"/>
              </a:ext>
            </a:extLst>
          </p:cNvPr>
          <p:cNvSpPr txBox="1"/>
          <p:nvPr/>
        </p:nvSpPr>
        <p:spPr>
          <a:xfrm>
            <a:off x="982133" y="3327779"/>
            <a:ext cx="9719734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drink3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[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"cola"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2500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88961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6C5B7-DDD1-A5F2-45CF-D7055E65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u="sng" dirty="0"/>
              <a:t>숫자 열거형</a:t>
            </a:r>
            <a:r>
              <a:rPr lang="ko-KR" altLang="en-US" dirty="0"/>
              <a:t>과 </a:t>
            </a:r>
            <a:r>
              <a:rPr lang="ko-KR" altLang="en-US" u="sng" dirty="0"/>
              <a:t>문자 열거형</a:t>
            </a:r>
            <a:r>
              <a:rPr lang="en-US" altLang="ko-KR" dirty="0"/>
              <a:t> (</a:t>
            </a:r>
            <a:r>
              <a:rPr lang="ko-KR" altLang="en-US" dirty="0"/>
              <a:t>특정 값들의 집합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값들에 미리 이름을 정의하고 사용하는 타입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위는 권한 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/</a:t>
            </a:r>
            <a:r>
              <a:rPr lang="ko-KR" altLang="en-US" dirty="0"/>
              <a:t>사용자</a:t>
            </a:r>
            <a:r>
              <a:rPr lang="en-US" altLang="ko-KR" dirty="0"/>
              <a:t>/</a:t>
            </a:r>
            <a:r>
              <a:rPr lang="ko-KR" altLang="en-US" dirty="0"/>
              <a:t>게스트</a:t>
            </a:r>
            <a:r>
              <a:rPr lang="en-US" altLang="ko-KR" dirty="0"/>
              <a:t>) </a:t>
            </a:r>
            <a:r>
              <a:rPr lang="ko-KR" altLang="en-US" dirty="0"/>
              <a:t>별로 </a:t>
            </a:r>
            <a:r>
              <a:rPr lang="ko-KR" altLang="en-US" dirty="0" err="1"/>
              <a:t>숫자값으로</a:t>
            </a:r>
            <a:r>
              <a:rPr lang="ko-KR" altLang="en-US" dirty="0"/>
              <a:t> 관리를 하는 것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57C0F4-EFC4-74B6-0D5D-C72613CD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BDB0D7-BBE8-A2CD-17D0-B4703323E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29" y="2976788"/>
            <a:ext cx="5327058" cy="177568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122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839DB-4C6C-7A87-9552-8964B6A9A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804"/>
            <a:ext cx="10515600" cy="4351338"/>
          </a:xfrm>
        </p:spPr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0,1,2</a:t>
            </a:r>
            <a:r>
              <a:rPr lang="ko-KR" altLang="en-US" sz="2400" dirty="0"/>
              <a:t> 로 비교하는 코드를 </a:t>
            </a:r>
            <a:r>
              <a:rPr lang="ko-KR" altLang="en-US" sz="2400" dirty="0" err="1"/>
              <a:t>짜야하지만</a:t>
            </a:r>
            <a:r>
              <a:rPr lang="ko-KR" altLang="en-US" sz="2400" dirty="0"/>
              <a:t> 개발자가 </a:t>
            </a:r>
            <a:r>
              <a:rPr lang="en-US" altLang="ko-KR" sz="2400" dirty="0"/>
              <a:t>0,1,2 </a:t>
            </a:r>
            <a:r>
              <a:rPr lang="ko-KR" altLang="en-US" sz="2400" dirty="0"/>
              <a:t>의 의미를 모두 외우고 있어야 가능함</a:t>
            </a:r>
            <a:endParaRPr lang="en-US" altLang="ko-KR" sz="2400" dirty="0"/>
          </a:p>
          <a:p>
            <a:r>
              <a:rPr lang="ko-KR" altLang="en-US" sz="2400" dirty="0"/>
              <a:t>문자열이나 숫자에 미리 의미를 지정해 두고 그룹화할 수 있는 속성</a:t>
            </a:r>
            <a:endParaRPr lang="en-US" altLang="ko-KR" sz="2400" dirty="0"/>
          </a:p>
          <a:p>
            <a:pPr lvl="1"/>
            <a:r>
              <a:rPr lang="en-US" altLang="ko-KR" dirty="0"/>
              <a:t>Enum</a:t>
            </a:r>
            <a:r>
              <a:rPr lang="ko-KR" altLang="en-US" dirty="0"/>
              <a:t>으로 정의된 타입 </a:t>
            </a:r>
            <a:r>
              <a:rPr lang="en-US" altLang="ko-KR" dirty="0"/>
              <a:t>Auth(</a:t>
            </a:r>
            <a:r>
              <a:rPr lang="ko-KR" altLang="en-US" dirty="0"/>
              <a:t>그룹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Auth</a:t>
            </a:r>
            <a:r>
              <a:rPr lang="ko-KR" altLang="en-US" dirty="0"/>
              <a:t>에 정의된 </a:t>
            </a:r>
            <a:r>
              <a:rPr lang="en-US" altLang="ko-KR" dirty="0"/>
              <a:t>0,1,2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사용할 때에는 점 접근으로 사용할 수 있음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altLang="ko-KR" dirty="0" err="1">
                <a:solidFill>
                  <a:schemeClr val="accent1"/>
                </a:solidFill>
              </a:rPr>
              <a:t>Auth.admin</a:t>
            </a:r>
            <a:r>
              <a:rPr lang="en-US" altLang="ko-KR" dirty="0">
                <a:solidFill>
                  <a:schemeClr val="accent1"/>
                </a:solidFill>
              </a:rPr>
              <a:t> / </a:t>
            </a:r>
            <a:r>
              <a:rPr lang="en-US" altLang="ko-KR" dirty="0" err="1">
                <a:solidFill>
                  <a:schemeClr val="accent1"/>
                </a:solidFill>
              </a:rPr>
              <a:t>Auth.user</a:t>
            </a:r>
            <a:r>
              <a:rPr lang="en-US" altLang="ko-KR" dirty="0">
                <a:solidFill>
                  <a:schemeClr val="accent1"/>
                </a:solidFill>
              </a:rPr>
              <a:t> / </a:t>
            </a:r>
            <a:r>
              <a:rPr lang="en-US" altLang="ko-KR" dirty="0" err="1">
                <a:solidFill>
                  <a:schemeClr val="accent1"/>
                </a:solidFill>
              </a:rPr>
              <a:t>Auth.guest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EB2D2A-D3E6-7637-4E49-E934B126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300995-17EC-7E93-AD0F-3CC4B55EB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80" y="1699535"/>
            <a:ext cx="4130842" cy="107336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449F7D-9DEB-3919-3EBA-6730E2467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424" y="902431"/>
            <a:ext cx="3850976" cy="218294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68DDD23-A485-0AC8-8414-05770B1B36A0}"/>
              </a:ext>
            </a:extLst>
          </p:cNvPr>
          <p:cNvSpPr/>
          <p:nvPr/>
        </p:nvSpPr>
        <p:spPr>
          <a:xfrm>
            <a:off x="5704973" y="1885887"/>
            <a:ext cx="782053" cy="48463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13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D1820-09F7-CFC5-1543-E71F7B0A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JS</a:t>
            </a:r>
            <a:r>
              <a:rPr lang="ko-KR" altLang="en-US" sz="2400" dirty="0"/>
              <a:t> 의 오브젝트와 유사하지만 선언 이후로는 내용을 추가하거나 삭제할 수 없음</a:t>
            </a:r>
            <a:endParaRPr lang="en-US" altLang="ko-KR" sz="2400" dirty="0"/>
          </a:p>
          <a:p>
            <a:r>
              <a:rPr lang="en-US" altLang="ko-KR" sz="2400" dirty="0" err="1"/>
              <a:t>enum</a:t>
            </a:r>
            <a:r>
              <a:rPr lang="en-US" altLang="ko-KR" sz="2400" dirty="0"/>
              <a:t> </a:t>
            </a:r>
            <a:r>
              <a:rPr lang="ko-KR" altLang="en-US" sz="2400" dirty="0"/>
              <a:t>의 </a:t>
            </a:r>
            <a:r>
              <a:rPr lang="en-US" altLang="ko-KR" sz="2400" dirty="0"/>
              <a:t>value</a:t>
            </a:r>
            <a:r>
              <a:rPr lang="ko-KR" altLang="en-US" sz="2400" dirty="0"/>
              <a:t>로는 문자열 혹은 숫자만 허용</a:t>
            </a:r>
            <a:endParaRPr lang="en-US" altLang="ko-KR" sz="2400" dirty="0"/>
          </a:p>
          <a:p>
            <a:r>
              <a:rPr lang="ko-KR" altLang="en-US" sz="2400" dirty="0"/>
              <a:t>값을 넣지 않고 선언한다면 숫자형</a:t>
            </a:r>
            <a:r>
              <a:rPr lang="en-US" altLang="ko-KR" sz="2400" dirty="0"/>
              <a:t> Enum. </a:t>
            </a:r>
            <a:r>
              <a:rPr lang="ko-KR" altLang="en-US" sz="2400" dirty="0"/>
              <a:t>가장 위의 요소부터 </a:t>
            </a:r>
            <a:r>
              <a:rPr lang="en-US" altLang="ko-KR" sz="2400" dirty="0"/>
              <a:t>0</a:t>
            </a:r>
            <a:r>
              <a:rPr lang="ko-KR" altLang="en-US" sz="2400" dirty="0"/>
              <a:t>으로 할당돼서 </a:t>
            </a:r>
            <a:r>
              <a:rPr lang="en-US" altLang="ko-KR" sz="2400" dirty="0"/>
              <a:t>1</a:t>
            </a:r>
            <a:r>
              <a:rPr lang="ko-KR" altLang="en-US" sz="2400" dirty="0"/>
              <a:t>씩 늘어남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1C2D0A-62F7-441F-F72D-37538F4F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 </a:t>
            </a:r>
            <a:r>
              <a:rPr lang="ko-KR" altLang="en-US" dirty="0"/>
              <a:t>문법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8A882-54AE-AC8D-4047-698F9520EC67}"/>
              </a:ext>
            </a:extLst>
          </p:cNvPr>
          <p:cNvSpPr txBox="1"/>
          <p:nvPr/>
        </p:nvSpPr>
        <p:spPr>
          <a:xfrm>
            <a:off x="1124742" y="3724866"/>
            <a:ext cx="2932698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choco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vanilla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strawberry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6559C-B413-D56E-D4FA-233DAF462016}"/>
              </a:ext>
            </a:extLst>
          </p:cNvPr>
          <p:cNvSpPr txBox="1"/>
          <p:nvPr/>
        </p:nvSpPr>
        <p:spPr>
          <a:xfrm>
            <a:off x="4750095" y="4001865"/>
            <a:ext cx="4957430" cy="9233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choco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//0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vanilla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//1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strawberry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//2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988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DA537-EE85-D14B-587C-03511FCC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893"/>
            <a:ext cx="10515600" cy="3847069"/>
          </a:xfrm>
        </p:spPr>
        <p:txBody>
          <a:bodyPr/>
          <a:lstStyle/>
          <a:p>
            <a:r>
              <a:rPr lang="ko-KR" altLang="en-US" dirty="0"/>
              <a:t>어떤 타입이든 상관 없이 오류가 나지 않아요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sz="2400" dirty="0"/>
              <a:t>빈 배열을 먼저 선언하고 싶을 때</a:t>
            </a:r>
            <a:endParaRPr lang="en-US" altLang="ko-KR" sz="2400" dirty="0"/>
          </a:p>
          <a:p>
            <a:r>
              <a:rPr lang="ko-KR" altLang="en-US" sz="2400" dirty="0"/>
              <a:t>받아오는 데이터 타입이 확실하지 않을 때</a:t>
            </a:r>
            <a:endParaRPr lang="en-US" altLang="ko-KR" sz="2400" dirty="0"/>
          </a:p>
          <a:p>
            <a:r>
              <a:rPr lang="ko-KR" altLang="en-US" sz="2400" dirty="0"/>
              <a:t>어떤 타입을 할당해야 할지 알지 못하는 경우 </a:t>
            </a:r>
            <a:r>
              <a:rPr lang="en-US" altLang="ko-KR" sz="2400" dirty="0"/>
              <a:t>(</a:t>
            </a:r>
            <a:r>
              <a:rPr lang="ko-KR" altLang="en-US" sz="2400" dirty="0"/>
              <a:t>외부 라이브러리를 사용하거나 동적 콘텐츠를 사용하는 경우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>
                <a:solidFill>
                  <a:schemeClr val="accent5"/>
                </a:solidFill>
              </a:rPr>
              <a:t>하지만 정말 어쩔 수 없는 경우가 아니라면 지양</a:t>
            </a:r>
            <a:r>
              <a:rPr lang="en-US" altLang="ko-KR" sz="2400" dirty="0">
                <a:solidFill>
                  <a:schemeClr val="accent5"/>
                </a:solidFill>
              </a:rPr>
              <a:t>!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3BF12C-AA05-DB97-213C-2661FDDA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any (</a:t>
            </a:r>
            <a:r>
              <a:rPr lang="ko-KR" altLang="en-US" dirty="0"/>
              <a:t>어떤 타입이든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3BA10-A5C9-0637-BB80-03039B254C9D}"/>
              </a:ext>
            </a:extLst>
          </p:cNvPr>
          <p:cNvSpPr txBox="1"/>
          <p:nvPr/>
        </p:nvSpPr>
        <p:spPr>
          <a:xfrm>
            <a:off x="964905" y="1825625"/>
            <a:ext cx="1863356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post-thumbnail">
            <a:extLst>
              <a:ext uri="{FF2B5EF4-FFF2-40B4-BE49-F238E27FC236}">
                <a16:creationId xmlns:a16="http://schemas.microsoft.com/office/drawing/2014/main" id="{95E0895D-4935-2078-23E5-AFE883AB4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980" y="1700149"/>
            <a:ext cx="3358115" cy="225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02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</a:t>
            </a:r>
            <a:r>
              <a:rPr lang="ko-KR" altLang="en-US" dirty="0"/>
              <a:t>기초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</a:t>
            </a:r>
            <a:r>
              <a:rPr lang="ko-KR" altLang="en-US" sz="2800" b="1" dirty="0"/>
              <a:t>기초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94392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CAED9C-A919-07A8-F740-8DD59791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682717-BA47-E291-BE0B-6A1C1571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6ADCFC8-6998-3231-F7E5-D7639E52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</a:t>
            </a:r>
            <a:r>
              <a:rPr lang="en-US" altLang="ko-KR" dirty="0"/>
              <a:t>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7371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A57B93F9-AA75-1F0D-7440-C85B372F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45" y="4400957"/>
            <a:ext cx="5235394" cy="12802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7DFD-F2F9-30D2-8873-2432290BE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 </a:t>
            </a:r>
            <a:r>
              <a:rPr lang="ko-KR" altLang="en-US" dirty="0"/>
              <a:t>키워드로 복잡한 타입을 </a:t>
            </a:r>
            <a:r>
              <a:rPr lang="en-US" altLang="ko-KR" dirty="0"/>
              <a:t>type alias (</a:t>
            </a:r>
            <a:r>
              <a:rPr lang="ko-KR" altLang="en-US" dirty="0"/>
              <a:t>타입 별칭</a:t>
            </a:r>
            <a:r>
              <a:rPr lang="en-US" altLang="ko-KR" dirty="0"/>
              <a:t>)</a:t>
            </a:r>
            <a:r>
              <a:rPr lang="ko-KR" altLang="en-US" dirty="0"/>
              <a:t>을 정의</a:t>
            </a:r>
            <a:endParaRPr lang="en-US" altLang="ko-KR" dirty="0"/>
          </a:p>
          <a:p>
            <a:pPr lvl="1"/>
            <a:r>
              <a:rPr lang="ko-KR" altLang="en-US" dirty="0"/>
              <a:t>사용자 정의 타입을 </a:t>
            </a:r>
            <a:r>
              <a:rPr lang="ko-KR" altLang="en-US" dirty="0" err="1"/>
              <a:t>만들어줌</a:t>
            </a:r>
            <a:endParaRPr lang="en-US" altLang="ko-KR" dirty="0"/>
          </a:p>
          <a:p>
            <a:r>
              <a:rPr lang="ko-KR" altLang="en-US" dirty="0"/>
              <a:t>오브젝트 뿐만 아니라 문자열이나 숫자로 제한을 둘 수 있음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F8CACA-1450-192A-8D2D-F2A55B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359022-CF93-C0EE-979F-A8322F687E75}"/>
              </a:ext>
            </a:extLst>
          </p:cNvPr>
          <p:cNvSpPr/>
          <p:nvPr/>
        </p:nvSpPr>
        <p:spPr>
          <a:xfrm>
            <a:off x="1174045" y="5178057"/>
            <a:ext cx="4571999" cy="443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269BE-57D0-E444-CC2D-94394B3E9661}"/>
              </a:ext>
            </a:extLst>
          </p:cNvPr>
          <p:cNvSpPr txBox="1"/>
          <p:nvPr/>
        </p:nvSpPr>
        <p:spPr>
          <a:xfrm>
            <a:off x="6910466" y="4607373"/>
            <a:ext cx="4849597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이용해서 </a:t>
            </a:r>
            <a:r>
              <a:rPr lang="ko-KR" altLang="en-US" sz="1700" dirty="0" err="1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만들어둔</a:t>
            </a:r>
            <a:r>
              <a:rPr lang="ko-KR" altLang="en-US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Gender 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형으로 변수 선언</a:t>
            </a:r>
            <a:r>
              <a:rPr lang="en-US" altLang="ko-KR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en-US" altLang="ko-KR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설정한 것 이외의 값이 들어오면 </a:t>
            </a:r>
            <a:endParaRPr lang="en-US" altLang="ko-KR" sz="1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코드에서 </a:t>
            </a:r>
            <a:r>
              <a:rPr lang="ko-KR" altLang="en-US" sz="17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빨간줄로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틀렸음을 알려줌</a:t>
            </a:r>
            <a:endParaRPr lang="en-US" altLang="ko-KR" sz="1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B9BB3-FAE3-08A1-1C95-25F9C9312387}"/>
              </a:ext>
            </a:extLst>
          </p:cNvPr>
          <p:cNvSpPr txBox="1"/>
          <p:nvPr/>
        </p:nvSpPr>
        <p:spPr>
          <a:xfrm>
            <a:off x="6915938" y="3350570"/>
            <a:ext cx="169924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만드는 법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18406-461E-B9EC-0CC2-9CAB90A7C512}"/>
              </a:ext>
            </a:extLst>
          </p:cNvPr>
          <p:cNvSpPr txBox="1"/>
          <p:nvPr/>
        </p:nvSpPr>
        <p:spPr>
          <a:xfrm>
            <a:off x="1174045" y="3312097"/>
            <a:ext cx="5610578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84910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052AF6-B5B3-8545-A945-B36D931E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8DF6E4-840F-D9E8-D250-FD0C8748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863C530-0106-D17F-4898-EABA49FB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079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7DFD-F2F9-30D2-8873-2432290BE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254"/>
            <a:ext cx="10515600" cy="4351338"/>
          </a:xfrm>
        </p:spPr>
        <p:txBody>
          <a:bodyPr/>
          <a:lstStyle/>
          <a:p>
            <a:r>
              <a:rPr lang="ko-KR" altLang="en-US" dirty="0"/>
              <a:t>여러 오브젝트의 타입을 정의하는 규칙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F8CACA-1450-192A-8D2D-F2A55B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66B73-26EB-D99D-D211-7713FB7891BF}"/>
              </a:ext>
            </a:extLst>
          </p:cNvPr>
          <p:cNvSpPr txBox="1"/>
          <p:nvPr/>
        </p:nvSpPr>
        <p:spPr>
          <a:xfrm>
            <a:off x="2038532" y="2259561"/>
            <a:ext cx="3611879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81AA7-8821-1C06-CBE8-67E2775BBC0C}"/>
              </a:ext>
            </a:extLst>
          </p:cNvPr>
          <p:cNvSpPr txBox="1"/>
          <p:nvPr/>
        </p:nvSpPr>
        <p:spPr>
          <a:xfrm>
            <a:off x="2016499" y="4242062"/>
            <a:ext cx="3611880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student1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lang="en-US" altLang="ko-KR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jh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359022-CF93-C0EE-979F-A8322F687E75}"/>
              </a:ext>
            </a:extLst>
          </p:cNvPr>
          <p:cNvSpPr/>
          <p:nvPr/>
        </p:nvSpPr>
        <p:spPr>
          <a:xfrm>
            <a:off x="3882865" y="4280827"/>
            <a:ext cx="1032528" cy="3346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269BE-57D0-E444-CC2D-94394B3E9661}"/>
              </a:ext>
            </a:extLst>
          </p:cNvPr>
          <p:cNvSpPr txBox="1"/>
          <p:nvPr/>
        </p:nvSpPr>
        <p:spPr>
          <a:xfrm>
            <a:off x="6368527" y="3971360"/>
            <a:ext cx="5207836" cy="2108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오브젝트를 선언할 때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:object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쓰는 것이 아닌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:interface</a:t>
            </a:r>
            <a:r>
              <a:rPr lang="ko-KR" altLang="en-US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만든 </a:t>
            </a:r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써준다면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내부에 있는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key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까지 지정할 수 있다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내가 만들어준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Student!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되는 것</a:t>
            </a:r>
            <a:b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(student1</a:t>
            </a:r>
            <a:r>
              <a:rPr lang="ko-KR" altLang="en-US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이라는 오브젝트를 </a:t>
            </a: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Student </a:t>
            </a:r>
            <a:r>
              <a:rPr lang="ko-KR" altLang="en-US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형으로 만들겠다</a:t>
            </a: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B9BB3-FAE3-08A1-1C95-25F9C9312387}"/>
              </a:ext>
            </a:extLst>
          </p:cNvPr>
          <p:cNvSpPr txBox="1"/>
          <p:nvPr/>
        </p:nvSpPr>
        <p:spPr>
          <a:xfrm>
            <a:off x="6374887" y="2332139"/>
            <a:ext cx="231441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Interface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만드는 법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344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0C02F76-6D8A-BCCE-805A-026D74818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5491"/>
              </p:ext>
            </p:extLst>
          </p:nvPr>
        </p:nvGraphicFramePr>
        <p:xfrm>
          <a:off x="838200" y="2539103"/>
          <a:ext cx="10515600" cy="14833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103674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53595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interface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1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타입 또는 새 타입을 생성하는데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객체 타입의 구조를 정의하는데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6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다른 타입 또는 인터페이스를 상속하거나 구현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다른 인터페이스를 상속하거나 구현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3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리터럴</a:t>
                      </a:r>
                      <a:r>
                        <a:rPr lang="ko-KR" altLang="en-US" dirty="0"/>
                        <a:t> 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유티온</a:t>
                      </a:r>
                      <a:r>
                        <a:rPr lang="ko-KR" altLang="en-US" dirty="0"/>
                        <a:t> 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인터섹션</a:t>
                      </a:r>
                      <a:r>
                        <a:rPr lang="ko-KR" altLang="en-US" dirty="0"/>
                        <a:t> 타입 사용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extends </a:t>
                      </a:r>
                      <a:r>
                        <a:rPr lang="ko-KR" altLang="en-US" dirty="0"/>
                        <a:t>키워드로 인터페이스 확장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75765"/>
                  </a:ext>
                </a:extLst>
              </a:tr>
            </a:tbl>
          </a:graphicData>
        </a:graphic>
      </p:graphicFrame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7248E4-2ECA-9AD9-C61A-DB31FF83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8E27E-2FCF-627B-C1D4-13E7A9C3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8F74397-3D30-D1CD-72B6-CF98C199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A8377-6E2E-6A4C-5BB2-C384A43EE02E}"/>
              </a:ext>
            </a:extLst>
          </p:cNvPr>
          <p:cNvSpPr txBox="1"/>
          <p:nvPr/>
        </p:nvSpPr>
        <p:spPr>
          <a:xfrm>
            <a:off x="838200" y="4192593"/>
            <a:ext cx="2786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간단한 타입을 정할 때 적합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C95CB-E06D-844C-4069-BDC4193B8CA1}"/>
              </a:ext>
            </a:extLst>
          </p:cNvPr>
          <p:cNvSpPr txBox="1"/>
          <p:nvPr/>
        </p:nvSpPr>
        <p:spPr>
          <a:xfrm>
            <a:off x="6073966" y="4203139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객체 구조가 잘 정의되어 있는 경우 적합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360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interface</a:t>
            </a:r>
            <a:r>
              <a:rPr lang="ko-KR" altLang="en-US" dirty="0"/>
              <a:t>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interface</a:t>
            </a:r>
            <a:r>
              <a:rPr lang="ko-KR" altLang="en-US" sz="2800" b="1" dirty="0"/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4175402690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</TotalTime>
  <Words>1627</Words>
  <Application>Microsoft Office PowerPoint</Application>
  <PresentationFormat>와이드스크린</PresentationFormat>
  <Paragraphs>304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메이플스토리</vt:lpstr>
      <vt:lpstr>Arial</vt:lpstr>
      <vt:lpstr>Consolas</vt:lpstr>
      <vt:lpstr>Pretendard GOV</vt:lpstr>
      <vt:lpstr>Wingdings</vt:lpstr>
      <vt:lpstr>맑은 고딕</vt:lpstr>
      <vt:lpstr>3_Office 테마</vt:lpstr>
      <vt:lpstr>웹 개발자 부트캠프 과정</vt:lpstr>
      <vt:lpstr>TypeScript</vt:lpstr>
      <vt:lpstr>TypeScript란?</vt:lpstr>
      <vt:lpstr>TypeScript란?</vt:lpstr>
      <vt:lpstr>TypeScript는 JavaScript Superset!</vt:lpstr>
      <vt:lpstr>트랜스파일러 (Transpiler)</vt:lpstr>
      <vt:lpstr>JavaScript 의 자료형</vt:lpstr>
      <vt:lpstr>타입과 함께 선언하는 typescript</vt:lpstr>
      <vt:lpstr>TS 사용</vt:lpstr>
      <vt:lpstr>변환 + 실행 자동화</vt:lpstr>
      <vt:lpstr>Ts type 알아보기2 (JS 에서는 없던 type들)</vt:lpstr>
      <vt:lpstr>Tuple</vt:lpstr>
      <vt:lpstr>Tuple 과 readonly</vt:lpstr>
      <vt:lpstr>Enum (열거형)</vt:lpstr>
      <vt:lpstr>Enum (열거형)</vt:lpstr>
      <vt:lpstr>Enum (열거형) 문법</vt:lpstr>
      <vt:lpstr>any (어떤 타입이든)</vt:lpstr>
      <vt:lpstr>실습.   TypeScript 기초 실습</vt:lpstr>
      <vt:lpstr>사용자 정의 type</vt:lpstr>
      <vt:lpstr>type</vt:lpstr>
      <vt:lpstr>interface</vt:lpstr>
      <vt:lpstr>interface</vt:lpstr>
      <vt:lpstr>type vs. interface</vt:lpstr>
      <vt:lpstr>실습.   TypeScript interface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진형 유</dc:creator>
  <cp:lastModifiedBy>On Coding</cp:lastModifiedBy>
  <cp:revision>82</cp:revision>
  <dcterms:created xsi:type="dcterms:W3CDTF">2023-09-17T07:13:14Z</dcterms:created>
  <dcterms:modified xsi:type="dcterms:W3CDTF">2024-08-19T02:34:54Z</dcterms:modified>
</cp:coreProperties>
</file>