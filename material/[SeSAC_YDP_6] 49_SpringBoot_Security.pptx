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649" r:id="rId2"/>
    <p:sldId id="651" r:id="rId3"/>
    <p:sldId id="654" r:id="rId4"/>
    <p:sldId id="652" r:id="rId5"/>
    <p:sldId id="661" r:id="rId6"/>
    <p:sldId id="659" r:id="rId7"/>
    <p:sldId id="656" r:id="rId8"/>
    <p:sldId id="657" r:id="rId9"/>
    <p:sldId id="658" r:id="rId10"/>
    <p:sldId id="655" r:id="rId11"/>
    <p:sldId id="6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130"/>
    <a:srgbClr val="C32F2F"/>
    <a:srgbClr val="FF0000"/>
    <a:srgbClr val="F99FD9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 autoAdjust="0"/>
    <p:restoredTop sz="87619" autoAdjust="0"/>
  </p:normalViewPr>
  <p:slideViewPr>
    <p:cSldViewPr snapToGrid="0">
      <p:cViewPr varScale="1">
        <p:scale>
          <a:sx n="102" d="100"/>
          <a:sy n="102" d="100"/>
        </p:scale>
        <p:origin x="774" y="108"/>
      </p:cViewPr>
      <p:guideLst/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중요</a:t>
            </a:r>
            <a:r>
              <a:rPr kumimoji="1" lang="en-US" altLang="ko-KR" dirty="0"/>
              <a:t>!</a:t>
            </a:r>
            <a:r>
              <a:rPr kumimoji="1" lang="ko-KR" altLang="en-US" dirty="0"/>
              <a:t> 면접 단골 질문</a:t>
            </a:r>
            <a:r>
              <a:rPr kumimoji="1" lang="en-US" altLang="ko-KR" dirty="0"/>
              <a:t>! </a:t>
            </a:r>
            <a:r>
              <a:rPr kumimoji="1" lang="ko-KR" altLang="en-US" dirty="0"/>
              <a:t>영어로도 </a:t>
            </a:r>
            <a:r>
              <a:rPr kumimoji="1" lang="ko-KR" altLang="en-US" dirty="0" err="1"/>
              <a:t>알아두자</a:t>
            </a: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875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Spring MVC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 </a:t>
            </a:r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(</a:t>
            </a:r>
            <a:r>
              <a:rPr lang="ko-KR" altLang="en-US" b="0" i="0" dirty="0" err="1">
                <a:solidFill>
                  <a:srgbClr val="3B3F4E"/>
                </a:solidFill>
                <a:effectLst/>
                <a:latin typeface="Pretendard"/>
              </a:rPr>
              <a:t>타임리프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 단원에서</a:t>
            </a:r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..)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 에서 </a:t>
            </a:r>
            <a:r>
              <a:rPr lang="ko-KR" altLang="en-US" b="0" i="0" dirty="0" err="1">
                <a:solidFill>
                  <a:srgbClr val="3B3F4E"/>
                </a:solidFill>
                <a:effectLst/>
                <a:latin typeface="Pretendard"/>
              </a:rPr>
              <a:t>디스패처서블릿</a:t>
            </a:r>
            <a:r>
              <a:rPr lang="ko-KR" altLang="en-US" b="0" i="0" dirty="0">
                <a:solidFill>
                  <a:srgbClr val="3B3F4E"/>
                </a:solidFill>
                <a:effectLst/>
                <a:latin typeface="Pretendard"/>
              </a:rPr>
              <a:t> 을 잠깐 봤었음</a:t>
            </a:r>
            <a:r>
              <a:rPr lang="en-US" altLang="ko-KR" b="0" i="0" dirty="0">
                <a:solidFill>
                  <a:srgbClr val="3B3F4E"/>
                </a:solidFill>
                <a:effectLst/>
                <a:latin typeface="Pretendard"/>
              </a:rPr>
              <a:t>!</a:t>
            </a:r>
          </a:p>
          <a:p>
            <a:endParaRPr lang="en-US" altLang="ko-KR" b="0" i="0" dirty="0">
              <a:solidFill>
                <a:srgbClr val="3B3F4E"/>
              </a:solidFill>
              <a:effectLst/>
              <a:latin typeface="Pretendard"/>
            </a:endParaRPr>
          </a:p>
          <a:p>
            <a:r>
              <a:rPr lang="en-US" altLang="ko-KR" dirty="0"/>
              <a:t>https://</a:t>
            </a:r>
            <a:r>
              <a:rPr lang="en-US" altLang="ko-KR" dirty="0" err="1"/>
              <a:t>catsbi.oopy.io</a:t>
            </a:r>
            <a:r>
              <a:rPr lang="en-US" altLang="ko-KR" dirty="0"/>
              <a:t>/f52511f3-1455-4a01-b8b7-f10875895d5b</a:t>
            </a:r>
          </a:p>
          <a:p>
            <a:endParaRPr lang="en-US" altLang="ko-KR" dirty="0"/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1.</a:t>
            </a:r>
            <a:r>
              <a:rPr lang="ko-KR" altLang="en-US" b="1" i="0" dirty="0" err="1">
                <a:solidFill>
                  <a:srgbClr val="D9730D"/>
                </a:solidFill>
                <a:effectLst/>
                <a:latin typeface="Gmarket Sans"/>
              </a:rPr>
              <a:t>핸들러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 조회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매핑을 통해 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URL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에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매핑된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(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컨트롤러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) 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조회</a:t>
            </a: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2.</a:t>
            </a:r>
            <a:r>
              <a:rPr lang="ko-KR" altLang="en-US" b="1" i="0" dirty="0" err="1">
                <a:solidFill>
                  <a:srgbClr val="D9730D"/>
                </a:solidFill>
                <a:effectLst/>
                <a:latin typeface="Gmarket Sans"/>
              </a:rPr>
              <a:t>핸들러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 어댑터 조회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핸들러를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실행할 수 있는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어댑터 조회</a:t>
            </a: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3.</a:t>
            </a:r>
            <a:r>
              <a:rPr lang="ko-KR" altLang="en-US" b="1" i="0" dirty="0" err="1">
                <a:solidFill>
                  <a:srgbClr val="D9730D"/>
                </a:solidFill>
                <a:effectLst/>
                <a:latin typeface="Gmarket Sans"/>
              </a:rPr>
              <a:t>핸들러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 어댑터 실행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어댑터 실행</a:t>
            </a: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4.</a:t>
            </a:r>
            <a:r>
              <a:rPr lang="ko-KR" altLang="en-US" b="1" i="0" dirty="0" err="1">
                <a:solidFill>
                  <a:srgbClr val="D9730D"/>
                </a:solidFill>
                <a:effectLst/>
                <a:latin typeface="Gmarket Sans"/>
              </a:rPr>
              <a:t>핸들러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 실행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어댑터가 실제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핸들러를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실행</a:t>
            </a: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5.</a:t>
            </a:r>
            <a:r>
              <a:rPr lang="en-US" altLang="ko-KR" b="1" i="0" dirty="0">
                <a:solidFill>
                  <a:srgbClr val="D9730D"/>
                </a:solidFill>
                <a:effectLst/>
                <a:latin typeface="Gmarket Sans"/>
              </a:rPr>
              <a:t>ModelAndView 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반환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어댑터는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핸들러가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반환하는 정보를 </a:t>
            </a:r>
            <a:r>
              <a:rPr lang="en-US" altLang="ko-KR" b="0" i="0" dirty="0" err="1">
                <a:solidFill>
                  <a:srgbClr val="37352F"/>
                </a:solidFill>
                <a:effectLst/>
                <a:latin typeface="Gmarket Sans"/>
              </a:rPr>
              <a:t>ModelAndView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로 변환해 반환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6.</a:t>
            </a:r>
            <a:r>
              <a:rPr lang="en-US" altLang="ko-KR" b="1" i="0" dirty="0">
                <a:solidFill>
                  <a:srgbClr val="D9730D"/>
                </a:solidFill>
                <a:effectLst/>
                <a:latin typeface="Gmarket Sans"/>
              </a:rPr>
              <a:t>viewResolver 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호출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뷰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리졸버를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찾아 실행한다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. </a:t>
            </a:r>
          </a:p>
          <a:p>
            <a:pPr algn="l"/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⇒ </a:t>
            </a:r>
            <a:r>
              <a:rPr lang="en-US" altLang="ko-KR" b="0" i="1" dirty="0">
                <a:solidFill>
                  <a:srgbClr val="37352F"/>
                </a:solidFill>
                <a:effectLst/>
                <a:latin typeface="Gmarket Sans"/>
              </a:rPr>
              <a:t>JSP: </a:t>
            </a:r>
            <a:r>
              <a:rPr lang="en-US" altLang="ko-KR" b="0" i="1" dirty="0" err="1">
                <a:solidFill>
                  <a:srgbClr val="EB5757"/>
                </a:solidFill>
                <a:effectLst/>
                <a:latin typeface="SFMono-Regular"/>
              </a:rPr>
              <a:t>InternalResourceViewResolver</a:t>
            </a:r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가 </a:t>
            </a:r>
            <a:r>
              <a:rPr lang="ko-KR" altLang="en-US" b="0" i="1" dirty="0" err="1">
                <a:solidFill>
                  <a:srgbClr val="37352F"/>
                </a:solidFill>
                <a:effectLst/>
                <a:latin typeface="Gmarket Sans"/>
              </a:rPr>
              <a:t>자등</a:t>
            </a:r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 등록되어 사용된다</a:t>
            </a:r>
            <a:r>
              <a:rPr lang="en-US" altLang="ko-KR" b="0" i="1" dirty="0">
                <a:solidFill>
                  <a:srgbClr val="37352F"/>
                </a:solidFill>
                <a:effectLst/>
                <a:latin typeface="Gmarket Sans"/>
              </a:rPr>
              <a:t>.</a:t>
            </a:r>
            <a:endParaRPr lang="ko-KR" altLang="en-US" b="0" i="0" dirty="0">
              <a:solidFill>
                <a:srgbClr val="37352F"/>
              </a:solidFill>
              <a:effectLst/>
              <a:latin typeface="Gmarket Sans"/>
            </a:endParaRP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7.</a:t>
            </a:r>
            <a:r>
              <a:rPr lang="en-US" altLang="ko-KR" b="1" i="0" dirty="0">
                <a:solidFill>
                  <a:srgbClr val="D9730D"/>
                </a:solidFill>
                <a:effectLst/>
                <a:latin typeface="Gmarket Sans"/>
              </a:rPr>
              <a:t>View 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반환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뷰 </a:t>
            </a:r>
            <a:r>
              <a:rPr lang="ko-KR" altLang="en-US" b="0" i="0" dirty="0" err="1">
                <a:solidFill>
                  <a:srgbClr val="37352F"/>
                </a:solidFill>
                <a:effectLst/>
                <a:latin typeface="Gmarket Sans"/>
              </a:rPr>
              <a:t>리졸버는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 뷰의 논리 이름을 물이 이름으로 바꾸고 렌더링 역할을 담당하는 뷰 객체 반환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.</a:t>
            </a:r>
          </a:p>
          <a:p>
            <a:pPr algn="l"/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⇒ </a:t>
            </a:r>
            <a:r>
              <a:rPr lang="en-US" altLang="ko-KR" b="0" i="1" dirty="0">
                <a:solidFill>
                  <a:srgbClr val="37352F"/>
                </a:solidFill>
                <a:effectLst/>
                <a:latin typeface="Gmarket Sans"/>
              </a:rPr>
              <a:t>JSP: </a:t>
            </a:r>
            <a:r>
              <a:rPr lang="en-US" altLang="ko-KR" b="0" i="1" dirty="0" err="1">
                <a:solidFill>
                  <a:srgbClr val="EB5757"/>
                </a:solidFill>
                <a:effectLst/>
                <a:latin typeface="SFMono-Regular"/>
              </a:rPr>
              <a:t>InternalResourceView</a:t>
            </a:r>
            <a:r>
              <a:rPr lang="en-US" altLang="ko-KR" b="0" i="1" dirty="0">
                <a:solidFill>
                  <a:srgbClr val="EB5757"/>
                </a:solidFill>
                <a:effectLst/>
                <a:latin typeface="SFMono-Regular"/>
              </a:rPr>
              <a:t>(</a:t>
            </a:r>
            <a:r>
              <a:rPr lang="en-US" altLang="ko-KR" b="0" i="1" dirty="0" err="1">
                <a:solidFill>
                  <a:srgbClr val="EB5757"/>
                </a:solidFill>
                <a:effectLst/>
                <a:latin typeface="SFMono-Regular"/>
              </a:rPr>
              <a:t>JstlView</a:t>
            </a:r>
            <a:r>
              <a:rPr lang="en-US" altLang="ko-KR" b="0" i="1" dirty="0">
                <a:solidFill>
                  <a:srgbClr val="EB5757"/>
                </a:solidFill>
                <a:effectLst/>
                <a:latin typeface="SFMono-Regular"/>
              </a:rPr>
              <a:t>)</a:t>
            </a:r>
            <a:r>
              <a:rPr lang="ko-KR" altLang="en-US" b="0" i="1" dirty="0" err="1">
                <a:solidFill>
                  <a:srgbClr val="37352F"/>
                </a:solidFill>
                <a:effectLst/>
                <a:latin typeface="Gmarket Sans"/>
              </a:rPr>
              <a:t>를</a:t>
            </a:r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 반환하는데</a:t>
            </a:r>
            <a:r>
              <a:rPr lang="en-US" altLang="ko-KR" b="0" i="1" dirty="0">
                <a:solidFill>
                  <a:srgbClr val="37352F"/>
                </a:solidFill>
                <a:effectLst/>
                <a:latin typeface="Gmarket Sans"/>
              </a:rPr>
              <a:t>, </a:t>
            </a:r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내부에는 </a:t>
            </a:r>
            <a:r>
              <a:rPr lang="en-US" altLang="ko-KR" b="0" i="1" dirty="0">
                <a:solidFill>
                  <a:srgbClr val="37352F"/>
                </a:solidFill>
                <a:effectLst/>
                <a:latin typeface="Gmarket Sans"/>
              </a:rPr>
              <a:t>forward() </a:t>
            </a:r>
            <a:r>
              <a:rPr lang="ko-KR" altLang="en-US" b="0" i="1" dirty="0">
                <a:solidFill>
                  <a:srgbClr val="37352F"/>
                </a:solidFill>
                <a:effectLst/>
                <a:latin typeface="Gmarket Sans"/>
              </a:rPr>
              <a:t>가 있다</a:t>
            </a:r>
            <a:r>
              <a:rPr lang="en-US" altLang="ko-KR" b="0" i="1" dirty="0">
                <a:solidFill>
                  <a:srgbClr val="37352F"/>
                </a:solidFill>
                <a:effectLst/>
                <a:latin typeface="Gmarket Sans"/>
              </a:rPr>
              <a:t>. </a:t>
            </a:r>
            <a:endParaRPr lang="ko-KR" altLang="en-US" b="0" i="0" dirty="0">
              <a:solidFill>
                <a:srgbClr val="37352F"/>
              </a:solidFill>
              <a:effectLst/>
              <a:latin typeface="Gmarket Sans"/>
            </a:endParaRPr>
          </a:p>
          <a:p>
            <a:pPr algn="l"/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8.</a:t>
            </a:r>
            <a:r>
              <a:rPr lang="ko-KR" altLang="en-US" b="1" i="0" dirty="0">
                <a:solidFill>
                  <a:srgbClr val="D9730D"/>
                </a:solidFill>
                <a:effectLst/>
                <a:latin typeface="Gmarket Sans"/>
              </a:rPr>
              <a:t>뷰 렌더링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: </a:t>
            </a:r>
            <a:r>
              <a:rPr lang="ko-KR" altLang="en-US" b="0" i="0" dirty="0">
                <a:solidFill>
                  <a:srgbClr val="37352F"/>
                </a:solidFill>
                <a:effectLst/>
                <a:latin typeface="Gmarket Sans"/>
              </a:rPr>
              <a:t>뷰를 통해서 뷰를 렌더링한다</a:t>
            </a:r>
            <a:r>
              <a:rPr lang="en-US" altLang="ko-KR" b="0" i="0" dirty="0">
                <a:solidFill>
                  <a:srgbClr val="37352F"/>
                </a:solidFill>
                <a:effectLst/>
                <a:latin typeface="Gmarket San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343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821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https://</a:t>
            </a:r>
            <a:r>
              <a:rPr kumimoji="1" lang="en-US" altLang="ko-KR" dirty="0" err="1"/>
              <a:t>velog.io</a:t>
            </a:r>
            <a:r>
              <a:rPr kumimoji="1" lang="en-US" altLang="ko-KR" dirty="0"/>
              <a:t>/@hope0206/Spring-Security-%EA%B5%AC%EC%A1%B0-%ED%9D%90%EB%A6%84-%EA%B7%B8%EB%A6%AC%EA%B3%A0-%EC%97%AD%ED%95%A0-%EC%95%8C%EC%95%84%EB%B3%B4%EA%B8%B0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762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흐름을 모두 외워야 하는 것은 아니지만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어떤 흐름인지 이해하고 있으면 좋음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059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타임리프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안쓰고</a:t>
            </a:r>
            <a:r>
              <a:rPr kumimoji="1" lang="ko-KR" altLang="en-US" dirty="0"/>
              <a:t> </a:t>
            </a:r>
            <a:r>
              <a:rPr kumimoji="1" lang="en-US" altLang="ko-KR" dirty="0"/>
              <a:t>REST API </a:t>
            </a:r>
            <a:r>
              <a:rPr kumimoji="1" lang="ko-KR" altLang="en-US" dirty="0"/>
              <a:t>만 개발할 거라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번만 추가해주자</a:t>
            </a:r>
            <a:r>
              <a:rPr kumimoji="1" lang="en-US" altLang="ko-KR" dirty="0"/>
              <a:t>~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981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같이 만들어보자</a:t>
            </a:r>
            <a:r>
              <a:rPr kumimoji="1" lang="en-US" altLang="ko-KR" dirty="0"/>
              <a:t>~</a:t>
            </a:r>
          </a:p>
          <a:p>
            <a:r>
              <a:rPr kumimoji="1" lang="ko-KR" altLang="en-US" dirty="0"/>
              <a:t>단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투두</a:t>
            </a:r>
            <a:r>
              <a:rPr kumimoji="1" lang="ko-KR" altLang="en-US" dirty="0"/>
              <a:t> 수정</a:t>
            </a:r>
            <a:r>
              <a:rPr kumimoji="1" lang="en-US" altLang="ko-KR" dirty="0"/>
              <a:t>/</a:t>
            </a:r>
            <a:r>
              <a:rPr kumimoji="1" lang="ko-KR" altLang="en-US" dirty="0"/>
              <a:t>삭제는 별도 실습으로 드릴 예정</a:t>
            </a:r>
            <a:r>
              <a:rPr kumimoji="1" lang="en-US" altLang="ko-KR"/>
              <a:t>!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247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0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76270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740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94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55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19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7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685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41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72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454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47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7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7월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Spring Security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8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1FEC558-BEB4-4344-2AEB-0EA078D16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dirty="0">
                <a:solidFill>
                  <a:schemeClr val="accent1"/>
                </a:solidFill>
              </a:rPr>
              <a:t>인증</a:t>
            </a:r>
            <a:r>
              <a:rPr kumimoji="1" lang="en-US" altLang="ko-KR" sz="2400" dirty="0">
                <a:solidFill>
                  <a:schemeClr val="accent1"/>
                </a:solidFill>
              </a:rPr>
              <a:t>(</a:t>
            </a:r>
            <a:r>
              <a:rPr lang="en-US" altLang="ko-KR" sz="2400" i="0" dirty="0">
                <a:solidFill>
                  <a:schemeClr val="accent1"/>
                </a:solidFill>
                <a:effectLst/>
              </a:rPr>
              <a:t>Authentication)</a:t>
            </a:r>
          </a:p>
          <a:p>
            <a:pPr lvl="1"/>
            <a:r>
              <a:rPr lang="ko-KR" altLang="en-US" sz="2000" i="0" dirty="0">
                <a:solidFill>
                  <a:srgbClr val="212529"/>
                </a:solidFill>
                <a:effectLst/>
              </a:rPr>
              <a:t>사용자의 신원 입증</a:t>
            </a:r>
            <a:endParaRPr lang="en-US" altLang="ko-KR" sz="2000" i="0" dirty="0">
              <a:solidFill>
                <a:srgbClr val="212529"/>
              </a:solidFill>
              <a:effectLst/>
            </a:endParaRPr>
          </a:p>
          <a:p>
            <a:pPr lvl="1"/>
            <a:r>
              <a:rPr lang="en-US" altLang="ko-KR" sz="2000" i="0" dirty="0">
                <a:solidFill>
                  <a:srgbClr val="212529"/>
                </a:solidFill>
                <a:effectLst/>
              </a:rPr>
              <a:t>ex. </a:t>
            </a:r>
            <a:r>
              <a:rPr lang="ko-KR" altLang="en-US" sz="2000" i="0" dirty="0">
                <a:solidFill>
                  <a:srgbClr val="212529"/>
                </a:solidFill>
                <a:effectLst/>
              </a:rPr>
              <a:t>특정 사이트에 로그인할 때 누구인지 확인하는 절차를 거침</a:t>
            </a:r>
            <a:endParaRPr lang="en-US" altLang="ko-KR" sz="2000" i="0" dirty="0">
              <a:solidFill>
                <a:srgbClr val="212529"/>
              </a:solidFill>
              <a:effectLst/>
            </a:endParaRPr>
          </a:p>
          <a:p>
            <a:endParaRPr kumimoji="1" lang="en-US" altLang="ko-KR" sz="2400" dirty="0">
              <a:solidFill>
                <a:srgbClr val="212529"/>
              </a:solidFill>
            </a:endParaRPr>
          </a:p>
          <a:p>
            <a:r>
              <a:rPr kumimoji="1" lang="ko-KR" altLang="en-US" sz="2400" dirty="0">
                <a:solidFill>
                  <a:schemeClr val="accent1"/>
                </a:solidFill>
              </a:rPr>
              <a:t>인가</a:t>
            </a:r>
            <a:r>
              <a:rPr kumimoji="1" lang="en-US" altLang="ko-KR" sz="2400" dirty="0">
                <a:solidFill>
                  <a:schemeClr val="accent1"/>
                </a:solidFill>
              </a:rPr>
              <a:t>(</a:t>
            </a:r>
            <a:r>
              <a:rPr lang="en-US" altLang="ko-KR" sz="2400" i="0" dirty="0">
                <a:solidFill>
                  <a:schemeClr val="accent1"/>
                </a:solidFill>
                <a:effectLst/>
              </a:rPr>
              <a:t>Authorization)</a:t>
            </a:r>
          </a:p>
          <a:p>
            <a:pPr lvl="1"/>
            <a:r>
              <a:rPr kumimoji="1" lang="ko-KR" altLang="en-US" sz="2000" dirty="0">
                <a:solidFill>
                  <a:srgbClr val="212529"/>
                </a:solidFill>
              </a:rPr>
              <a:t>인증된 사용자가 요청된 자원에 접근 가능한지 권한 확인 </a:t>
            </a:r>
            <a:endParaRPr kumimoji="1" lang="en-US" altLang="ko-KR" sz="2000" dirty="0">
              <a:solidFill>
                <a:srgbClr val="212529"/>
              </a:solidFill>
            </a:endParaRPr>
          </a:p>
          <a:p>
            <a:pPr lvl="1"/>
            <a:r>
              <a:rPr kumimoji="1" lang="en-US" altLang="ko-KR" sz="2000" dirty="0">
                <a:solidFill>
                  <a:srgbClr val="212529"/>
                </a:solidFill>
              </a:rPr>
              <a:t>ex. </a:t>
            </a:r>
            <a:r>
              <a:rPr kumimoji="1" lang="ko-KR" altLang="en-US" sz="2000" dirty="0">
                <a:solidFill>
                  <a:srgbClr val="212529"/>
                </a:solidFill>
              </a:rPr>
              <a:t>일반 유저는 관리자 페이지에 접속할 수 없음</a:t>
            </a:r>
            <a:endParaRPr kumimoji="1" lang="en-US" altLang="ko-KR" sz="2000" dirty="0">
              <a:solidFill>
                <a:srgbClr val="212529"/>
              </a:solidFill>
            </a:endParaRPr>
          </a:p>
          <a:p>
            <a:pPr lvl="1"/>
            <a:endParaRPr kumimoji="1" lang="en-US" altLang="ko-KR" sz="2000" dirty="0">
              <a:solidFill>
                <a:srgbClr val="212529"/>
              </a:solidFill>
            </a:endParaRPr>
          </a:p>
          <a:p>
            <a:pPr marL="0" indent="0" algn="ctr">
              <a:buNone/>
            </a:pPr>
            <a:r>
              <a:rPr kumimoji="1" lang="en-US" altLang="ko-KR" sz="2400" b="1" dirty="0">
                <a:solidFill>
                  <a:schemeClr val="accent5"/>
                </a:solidFill>
              </a:rPr>
              <a:t>“Spring Security </a:t>
            </a:r>
            <a:r>
              <a:rPr kumimoji="1" lang="ko-KR" altLang="en-US" sz="2400" b="1" dirty="0" err="1">
                <a:solidFill>
                  <a:schemeClr val="accent5"/>
                </a:solidFill>
              </a:rPr>
              <a:t>를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 사용하면 인증</a:t>
            </a:r>
            <a:r>
              <a:rPr kumimoji="1" lang="en-US" altLang="ko-KR" sz="2400" b="1" dirty="0">
                <a:solidFill>
                  <a:schemeClr val="accent5"/>
                </a:solidFill>
              </a:rPr>
              <a:t>,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 인가를 쉽게 구현할 수 있다</a:t>
            </a:r>
            <a:r>
              <a:rPr kumimoji="1" lang="en-US" altLang="ko-KR" sz="2400" b="1" dirty="0">
                <a:solidFill>
                  <a:schemeClr val="accent5"/>
                </a:solidFill>
              </a:rPr>
              <a:t>!”</a:t>
            </a:r>
            <a:endParaRPr kumimoji="1" lang="ko-KR" altLang="en-US" sz="2400" b="1" dirty="0">
              <a:solidFill>
                <a:schemeClr val="accent5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507259-D36D-4AB4-A592-6BC4F2F7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7B2041-041F-FA32-EB82-0E810190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BE08DFB-E635-2780-AD4C-25A770D1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4000" dirty="0"/>
              <a:t>인증</a:t>
            </a:r>
            <a:r>
              <a:rPr kumimoji="1" lang="en-US" altLang="ko-KR" sz="4000" dirty="0"/>
              <a:t>(</a:t>
            </a:r>
            <a:r>
              <a:rPr lang="en-US" altLang="ko-KR" sz="4000" i="0" dirty="0">
                <a:solidFill>
                  <a:srgbClr val="212529"/>
                </a:solidFill>
                <a:effectLst/>
              </a:rPr>
              <a:t>Authentication</a:t>
            </a:r>
            <a:r>
              <a:rPr lang="en-US" altLang="ko-KR" sz="4000" dirty="0">
                <a:solidFill>
                  <a:srgbClr val="212529"/>
                </a:solidFill>
              </a:rPr>
              <a:t>)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vs.</a:t>
            </a:r>
            <a:r>
              <a:rPr kumimoji="1" lang="ko-KR" altLang="en-US" sz="4000" dirty="0"/>
              <a:t> 인가</a:t>
            </a:r>
            <a:r>
              <a:rPr kumimoji="1" lang="en-US" altLang="ko-KR" sz="4000" dirty="0"/>
              <a:t>(</a:t>
            </a:r>
            <a:r>
              <a:rPr lang="en-US" altLang="ko-KR" sz="4000" i="0" dirty="0">
                <a:solidFill>
                  <a:srgbClr val="212529"/>
                </a:solidFill>
                <a:effectLst/>
              </a:rPr>
              <a:t>Authorization)</a:t>
            </a:r>
            <a:endParaRPr kumimoji="1"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9310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1FEC558-BEB4-4344-2AEB-0EA078D16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dirty="0"/>
              <a:t>스프링 기반의 애플리케이션 보안</a:t>
            </a:r>
            <a:r>
              <a:rPr kumimoji="1" lang="en-US" altLang="ko-KR" sz="2400" dirty="0"/>
              <a:t>(</a:t>
            </a:r>
            <a:r>
              <a:rPr kumimoji="1" lang="ko-KR" altLang="en-US" sz="2400" dirty="0"/>
              <a:t>인증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인가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을 담당하는 스프링 하위 프레임워크 </a:t>
            </a:r>
            <a:endParaRPr kumimoji="1" lang="en-US" altLang="ko-KR" sz="2400" dirty="0"/>
          </a:p>
          <a:p>
            <a:r>
              <a:rPr kumimoji="1" lang="ko-KR" altLang="en-US" sz="2400" dirty="0"/>
              <a:t>프레임워크의 일종으로 반드시 필요한 것은 아님 </a:t>
            </a:r>
            <a:r>
              <a:rPr kumimoji="1" lang="en-US" altLang="ko-KR" sz="2400" dirty="0"/>
              <a:t>	</a:t>
            </a:r>
          </a:p>
          <a:p>
            <a:pPr lvl="1"/>
            <a:r>
              <a:rPr kumimoji="1" lang="ko-KR" altLang="en-US" sz="1400" dirty="0">
                <a:solidFill>
                  <a:schemeClr val="accent6"/>
                </a:solidFill>
              </a:rPr>
              <a:t>하지만 쓰는 것이 편하다</a:t>
            </a:r>
            <a:r>
              <a:rPr kumimoji="1" lang="en-US" altLang="ko-KR" sz="1400" dirty="0">
                <a:solidFill>
                  <a:schemeClr val="accent6"/>
                </a:solidFill>
              </a:rPr>
              <a:t>..</a:t>
            </a:r>
            <a:r>
              <a:rPr kumimoji="1" lang="ko-KR" altLang="en-US" sz="1400" dirty="0">
                <a:solidFill>
                  <a:schemeClr val="accent6"/>
                </a:solidFill>
              </a:rPr>
              <a:t> 그렇지 않으면 개발자가 보안 로직을 직접 개발해야 한다</a:t>
            </a:r>
            <a:r>
              <a:rPr kumimoji="1" lang="en-US" altLang="ko-KR" sz="1400" dirty="0">
                <a:solidFill>
                  <a:schemeClr val="accent6"/>
                </a:solidFill>
              </a:rPr>
              <a:t>..</a:t>
            </a:r>
            <a:r>
              <a:rPr kumimoji="1" lang="ko-KR" altLang="en-US" sz="1400" dirty="0">
                <a:solidFill>
                  <a:schemeClr val="accent6"/>
                </a:solidFill>
              </a:rPr>
              <a:t> 🤦🏻</a:t>
            </a:r>
            <a:endParaRPr kumimoji="1" lang="en-US" altLang="ko-KR" sz="1400" dirty="0">
              <a:solidFill>
                <a:schemeClr val="accent6"/>
              </a:solidFill>
            </a:endParaRPr>
          </a:p>
          <a:p>
            <a:r>
              <a:rPr kumimoji="1" lang="ko-KR" altLang="en-US" sz="2400" dirty="0"/>
              <a:t>다양한 보안 관련 옵션 제공 </a:t>
            </a:r>
            <a:endParaRPr kumimoji="1" lang="en-US" altLang="ko-KR" sz="2400" dirty="0"/>
          </a:p>
          <a:p>
            <a:endParaRPr kumimoji="1" lang="en-US" altLang="ko-KR" sz="2400" dirty="0"/>
          </a:p>
          <a:p>
            <a:r>
              <a:rPr kumimoji="1" lang="ko-KR" altLang="en-US" sz="2400" dirty="0"/>
              <a:t>특징</a:t>
            </a:r>
            <a:endParaRPr kumimoji="1" lang="en-US" altLang="ko-KR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ko-KR" sz="2000" b="1" dirty="0">
                <a:solidFill>
                  <a:schemeClr val="accent1"/>
                </a:solidFill>
              </a:rPr>
              <a:t>Filter </a:t>
            </a:r>
            <a:r>
              <a:rPr kumimoji="1" lang="ko-KR" altLang="en-US" sz="2000" b="1" dirty="0" err="1">
                <a:solidFill>
                  <a:schemeClr val="accent1"/>
                </a:solidFill>
              </a:rPr>
              <a:t>를</a:t>
            </a:r>
            <a:r>
              <a:rPr kumimoji="1" lang="ko-KR" altLang="en-US" sz="2000" b="1" dirty="0">
                <a:solidFill>
                  <a:schemeClr val="accent1"/>
                </a:solidFill>
              </a:rPr>
              <a:t> 기반</a:t>
            </a:r>
            <a:r>
              <a:rPr kumimoji="1" lang="ko-KR" altLang="en-US" sz="2000" dirty="0"/>
              <a:t>으로 동작 </a:t>
            </a:r>
            <a:br>
              <a:rPr kumimoji="1" lang="en-US" altLang="ko-KR" sz="2000" dirty="0"/>
            </a:br>
            <a:r>
              <a:rPr kumimoji="1" lang="en-US" altLang="ko-KR" sz="1800" dirty="0"/>
              <a:t>(Filter</a:t>
            </a:r>
            <a:r>
              <a:rPr kumimoji="1" lang="ko-KR" altLang="en-US" sz="1800" dirty="0"/>
              <a:t>는 </a:t>
            </a:r>
            <a:r>
              <a:rPr kumimoji="1" lang="en-US" altLang="ko-KR" sz="1800" dirty="0"/>
              <a:t>Dispatcher Servlet</a:t>
            </a:r>
            <a:r>
              <a:rPr kumimoji="1" lang="ko-KR" altLang="en-US" sz="1800" dirty="0" err="1"/>
              <a:t>으로</a:t>
            </a:r>
            <a:r>
              <a:rPr kumimoji="1" lang="ko-KR" altLang="en-US" sz="1800" dirty="0"/>
              <a:t> 가기 전에 적용되므로 가장 먼저 요청을 받음</a:t>
            </a:r>
            <a:r>
              <a:rPr kumimoji="1" lang="en-US" altLang="ko-KR" sz="1800" dirty="0"/>
              <a:t>!</a:t>
            </a:r>
            <a:r>
              <a:rPr kumimoji="1" lang="ko-KR" altLang="en-US" sz="1800" dirty="0"/>
              <a:t> 다음 장에 이어서</a:t>
            </a:r>
            <a:r>
              <a:rPr kumimoji="1" lang="en-US" altLang="ko-KR" sz="1800" dirty="0"/>
              <a:t>..)</a:t>
            </a:r>
            <a:endParaRPr kumimoji="1"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ko-KR" sz="2000" b="1" dirty="0">
                <a:solidFill>
                  <a:schemeClr val="accent1"/>
                </a:solidFill>
              </a:rPr>
              <a:t>Bean</a:t>
            </a:r>
            <a:r>
              <a:rPr kumimoji="1" lang="ko-KR" altLang="en-US" sz="2000" b="1" dirty="0" err="1">
                <a:solidFill>
                  <a:schemeClr val="accent1"/>
                </a:solidFill>
              </a:rPr>
              <a:t>으로</a:t>
            </a:r>
            <a:r>
              <a:rPr kumimoji="1" lang="en-US" altLang="ko-KR" sz="2000" b="1" dirty="0">
                <a:solidFill>
                  <a:schemeClr val="accent1"/>
                </a:solidFill>
              </a:rPr>
              <a:t> </a:t>
            </a:r>
            <a:r>
              <a:rPr kumimoji="1" lang="ko-KR" altLang="en-US" sz="2000" b="1" dirty="0">
                <a:solidFill>
                  <a:schemeClr val="accent1"/>
                </a:solidFill>
              </a:rPr>
              <a:t>설정</a:t>
            </a:r>
            <a:r>
              <a:rPr kumimoji="1" lang="ko-KR" altLang="en-US" sz="2000" dirty="0"/>
              <a:t> 가능 </a:t>
            </a:r>
            <a:endParaRPr kumimoji="1" lang="en-US" altLang="ko-KR" sz="2000" dirty="0"/>
          </a:p>
          <a:p>
            <a:endParaRPr kumimoji="1"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507259-D36D-4AB4-A592-6BC4F2F7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7B2041-041F-FA32-EB82-0E810190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BE08DFB-E635-2780-AD4C-25A770D1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Spring Security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049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24AEBC4-73D1-F344-4AEA-FEB687233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chemeClr val="accent6"/>
                </a:solidFill>
              </a:rPr>
              <a:t>Spring </a:t>
            </a:r>
            <a:r>
              <a:rPr lang="ko-KR" altLang="en-US" sz="2000" dirty="0">
                <a:solidFill>
                  <a:schemeClr val="accent6"/>
                </a:solidFill>
              </a:rPr>
              <a:t>에서 제공하는 웹 모듈로 웹 애플리케이션을 빌드하기 위한 프레임워크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en-US" altLang="ko-KR" sz="2000" dirty="0">
                <a:solidFill>
                  <a:schemeClr val="accent6"/>
                </a:solidFill>
              </a:rPr>
              <a:t>Model, View, Controller </a:t>
            </a:r>
            <a:r>
              <a:rPr lang="ko-KR" altLang="en-US" sz="2000" dirty="0">
                <a:solidFill>
                  <a:schemeClr val="accent6"/>
                </a:solidFill>
              </a:rPr>
              <a:t>의 </a:t>
            </a:r>
            <a:r>
              <a:rPr lang="en-US" altLang="ko-KR" sz="2000" dirty="0">
                <a:solidFill>
                  <a:schemeClr val="accent6"/>
                </a:solidFill>
              </a:rPr>
              <a:t>3</a:t>
            </a:r>
            <a:r>
              <a:rPr lang="ko-KR" altLang="en-US" sz="2000" dirty="0">
                <a:solidFill>
                  <a:schemeClr val="accent6"/>
                </a:solidFill>
              </a:rPr>
              <a:t>가지 구성 요소 </a:t>
            </a:r>
            <a:endParaRPr lang="en-US" altLang="ko-KR" sz="2000" dirty="0">
              <a:solidFill>
                <a:schemeClr val="accent6"/>
              </a:solidFill>
            </a:endParaRPr>
          </a:p>
          <a:p>
            <a:r>
              <a:rPr lang="en-US" altLang="ko-KR" sz="2000" dirty="0"/>
              <a:t>MVC</a:t>
            </a:r>
            <a:r>
              <a:rPr lang="ko-KR" altLang="en-US" sz="2000" dirty="0"/>
              <a:t> 패턴을 지원하고 </a:t>
            </a:r>
            <a:r>
              <a:rPr lang="en-US" altLang="ko-KR" sz="2000" dirty="0" err="1">
                <a:solidFill>
                  <a:schemeClr val="accent1"/>
                </a:solidFill>
              </a:rPr>
              <a:t>DispatcherServlet</a:t>
            </a:r>
            <a:r>
              <a:rPr lang="en-US" altLang="ko-KR" sz="2000" dirty="0">
                <a:solidFill>
                  <a:schemeClr val="accent1"/>
                </a:solidFill>
              </a:rPr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이라는 특수 </a:t>
            </a:r>
            <a:r>
              <a:rPr lang="ko-KR" altLang="en-US" sz="2000" dirty="0" err="1">
                <a:solidFill>
                  <a:schemeClr val="accent1"/>
                </a:solidFill>
              </a:rPr>
              <a:t>서블릿</a:t>
            </a:r>
            <a:r>
              <a:rPr lang="ko-KR" altLang="en-US" sz="2000" dirty="0" err="1"/>
              <a:t>을</a:t>
            </a:r>
            <a:r>
              <a:rPr lang="ko-KR" altLang="en-US" sz="2000" dirty="0"/>
              <a:t> 통해 요청 처리</a:t>
            </a:r>
            <a:endParaRPr lang="en-US" altLang="ko-KR" sz="2000" dirty="0"/>
          </a:p>
          <a:p>
            <a:pPr lvl="1"/>
            <a:r>
              <a:rPr lang="ko-KR" altLang="en-US" sz="1800" dirty="0"/>
              <a:t>이 </a:t>
            </a:r>
            <a:r>
              <a:rPr lang="ko-KR" altLang="en-US" sz="1800" dirty="0" err="1"/>
              <a:t>서블릿은</a:t>
            </a:r>
            <a:r>
              <a:rPr lang="ko-KR" altLang="en-US" sz="1800" dirty="0"/>
              <a:t> 모든 요청을 받아 적절한 </a:t>
            </a:r>
            <a:r>
              <a:rPr lang="en-US" altLang="ko-KR" sz="1800" dirty="0"/>
              <a:t>Controller </a:t>
            </a:r>
            <a:r>
              <a:rPr lang="ko-KR" altLang="en-US" sz="1800" dirty="0"/>
              <a:t>에게 전달하고 그 결과를 다시 사용자에게 반환</a:t>
            </a:r>
            <a:endParaRPr lang="en-US" altLang="ko-KR" sz="18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1FCF2E-A3DE-A470-A35B-E2FE106D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87A0B4-51B7-FF6A-7C95-C15C0AF1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5B74534-26E2-E9D2-C415-D6D8E0487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Spring</a:t>
            </a:r>
            <a:r>
              <a:rPr lang="ko-KR" altLang="en-US" dirty="0"/>
              <a:t> </a:t>
            </a:r>
            <a:r>
              <a:rPr lang="en-US" altLang="ko-KR" dirty="0"/>
              <a:t>MVC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862091-82EA-0F46-ABB3-0FFFE0976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49" y="3406408"/>
            <a:ext cx="6012637" cy="274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92005F8-1277-1578-1B49-9A573EED3825}"/>
              </a:ext>
            </a:extLst>
          </p:cNvPr>
          <p:cNvSpPr/>
          <p:nvPr/>
        </p:nvSpPr>
        <p:spPr>
          <a:xfrm>
            <a:off x="2560320" y="4353465"/>
            <a:ext cx="953589" cy="3788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021D3-0251-2779-1D34-A5E94043B3F2}"/>
              </a:ext>
            </a:extLst>
          </p:cNvPr>
          <p:cNvSpPr txBox="1"/>
          <p:nvPr/>
        </p:nvSpPr>
        <p:spPr>
          <a:xfrm>
            <a:off x="5286592" y="5167677"/>
            <a:ext cx="657968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HTTP </a:t>
            </a:r>
            <a:r>
              <a:rPr kumimoji="1" lang="ko-KR" altLang="en-US" dirty="0"/>
              <a:t>요청이 </a:t>
            </a:r>
            <a:r>
              <a:rPr kumimoji="1" lang="en-US" altLang="ko-KR" b="1" dirty="0"/>
              <a:t>Dispatcher Servlet</a:t>
            </a:r>
            <a:r>
              <a:rPr kumimoji="1" lang="ko-KR" altLang="en-US" dirty="0"/>
              <a:t>을 거쳐 </a:t>
            </a:r>
            <a:r>
              <a:rPr kumimoji="1" lang="en-US" altLang="ko-KR" dirty="0"/>
              <a:t>Controller</a:t>
            </a:r>
            <a:r>
              <a:rPr kumimoji="1" lang="ko-KR" altLang="en-US" dirty="0"/>
              <a:t>로 전달된다</a:t>
            </a:r>
            <a:r>
              <a:rPr kumimoji="1" lang="en-US" altLang="ko-KR" dirty="0"/>
              <a:t>!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77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62AB9D6-B3C3-B0D8-6758-6A37ADCB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/>
              <a:t>Spring Security </a:t>
            </a:r>
            <a:r>
              <a:rPr kumimoji="1" lang="ko-KR" altLang="en-US" sz="2400" dirty="0"/>
              <a:t>는 요청이 </a:t>
            </a:r>
            <a:br>
              <a:rPr kumimoji="1" lang="en-US" altLang="ko-KR" sz="2400" dirty="0"/>
            </a:br>
            <a:r>
              <a:rPr kumimoji="1" lang="en-US" altLang="ko-KR" sz="2400" b="1" dirty="0">
                <a:solidFill>
                  <a:schemeClr val="accent5"/>
                </a:solidFill>
              </a:rPr>
              <a:t>Dispatcher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 </a:t>
            </a:r>
            <a:r>
              <a:rPr kumimoji="1" lang="en-US" altLang="ko-KR" sz="2400" b="1" dirty="0">
                <a:solidFill>
                  <a:schemeClr val="accent5"/>
                </a:solidFill>
              </a:rPr>
              <a:t>Servlet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 </a:t>
            </a:r>
            <a:r>
              <a:rPr kumimoji="1" lang="ko-KR" altLang="en-US" sz="2400" b="1" dirty="0" err="1">
                <a:solidFill>
                  <a:schemeClr val="accent5"/>
                </a:solidFill>
              </a:rPr>
              <a:t>으로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 가기 전에 </a:t>
            </a:r>
            <a:r>
              <a:rPr kumimoji="1" lang="en-US" altLang="ko-KR" sz="2400" b="1" dirty="0">
                <a:solidFill>
                  <a:schemeClr val="accent5"/>
                </a:solidFill>
              </a:rPr>
              <a:t>Filter 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단에서 인증</a:t>
            </a:r>
            <a:r>
              <a:rPr kumimoji="1" lang="en-US" altLang="ko-KR" sz="2400" b="1" dirty="0">
                <a:solidFill>
                  <a:schemeClr val="accent5"/>
                </a:solidFill>
              </a:rPr>
              <a:t>/</a:t>
            </a:r>
            <a:r>
              <a:rPr kumimoji="1" lang="ko-KR" altLang="en-US" sz="2400" b="1" dirty="0">
                <a:solidFill>
                  <a:schemeClr val="accent5"/>
                </a:solidFill>
              </a:rPr>
              <a:t>인가 처리</a:t>
            </a:r>
            <a:r>
              <a:rPr kumimoji="1" lang="ko-KR" altLang="en-US" sz="2400" dirty="0"/>
              <a:t>를 진행</a:t>
            </a:r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60F3D9-1B0A-9E8C-6DCF-2B2F2AD6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62FA7-BE6C-2460-2DA6-80E2B96C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48C899E-A128-24AA-EC71-6CDC844D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Spring Security</a:t>
            </a:r>
            <a:r>
              <a:rPr kumimoji="1" lang="ko-KR" altLang="en-US" dirty="0"/>
              <a:t> 동작 과정</a:t>
            </a:r>
          </a:p>
        </p:txBody>
      </p:sp>
      <p:pic>
        <p:nvPicPr>
          <p:cNvPr id="11" name="그림 10" descr="스크린샷, 텍스트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BE661317-9120-E6B8-639E-3C552EB54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5" y="3272524"/>
            <a:ext cx="10543795" cy="149987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EEF6B2-5B63-9960-603D-DD23B2E44FDD}"/>
              </a:ext>
            </a:extLst>
          </p:cNvPr>
          <p:cNvSpPr/>
          <p:nvPr/>
        </p:nvSpPr>
        <p:spPr>
          <a:xfrm>
            <a:off x="2638697" y="3272524"/>
            <a:ext cx="2325189" cy="941822"/>
          </a:xfrm>
          <a:prstGeom prst="rect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1698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2947CC-5A13-54BC-D1F2-D6BFB907D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7" y="1293852"/>
            <a:ext cx="9279467" cy="77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800" dirty="0">
                <a:solidFill>
                  <a:schemeClr val="accent6"/>
                </a:solidFill>
              </a:rPr>
              <a:t>Q. </a:t>
            </a:r>
            <a:r>
              <a:rPr kumimoji="1" lang="ko-KR" altLang="en-US" sz="1800" dirty="0">
                <a:solidFill>
                  <a:schemeClr val="accent6"/>
                </a:solidFill>
              </a:rPr>
              <a:t>아이디</a:t>
            </a:r>
            <a:r>
              <a:rPr kumimoji="1" lang="en-US" altLang="ko-KR" sz="1800" dirty="0">
                <a:solidFill>
                  <a:schemeClr val="accent6"/>
                </a:solidFill>
              </a:rPr>
              <a:t>,</a:t>
            </a:r>
            <a:r>
              <a:rPr kumimoji="1" lang="ko-KR" altLang="en-US" sz="1800" dirty="0">
                <a:solidFill>
                  <a:schemeClr val="accent6"/>
                </a:solidFill>
              </a:rPr>
              <a:t> 패스워드 기반 폼 로그인 시도 시 </a:t>
            </a:r>
            <a:r>
              <a:rPr kumimoji="1" lang="en-US" altLang="ko-KR" sz="1800" dirty="0">
                <a:solidFill>
                  <a:schemeClr val="accent6"/>
                </a:solidFill>
              </a:rPr>
              <a:t>Spring Security </a:t>
            </a:r>
            <a:r>
              <a:rPr kumimoji="1" lang="ko-KR" altLang="en-US" sz="1800" dirty="0">
                <a:solidFill>
                  <a:schemeClr val="accent6"/>
                </a:solidFill>
              </a:rPr>
              <a:t>는 어떻게 인증 처리를 할까</a:t>
            </a:r>
            <a:r>
              <a:rPr kumimoji="1" lang="en-US" altLang="ko-KR" sz="1800" dirty="0">
                <a:solidFill>
                  <a:schemeClr val="accent6"/>
                </a:solidFill>
              </a:rPr>
              <a:t>?</a:t>
            </a:r>
            <a:endParaRPr kumimoji="1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91CA25-9097-9E1D-1C68-BC983A7C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55F3A-ED86-6A72-D47D-5BC6EBEE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34011A0-67EE-4607-A19C-3E31D685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Spring Security</a:t>
            </a:r>
            <a:r>
              <a:rPr kumimoji="1" lang="ko-KR" altLang="en-US" dirty="0"/>
              <a:t> </a:t>
            </a:r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E47AAB-C0EC-B6F7-A13C-1314D831A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622" y="1683186"/>
            <a:ext cx="6750756" cy="467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6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2947CC-5A13-54BC-D1F2-D6BFB907D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7" y="1293852"/>
            <a:ext cx="9279467" cy="77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800" dirty="0">
                <a:solidFill>
                  <a:schemeClr val="accent6"/>
                </a:solidFill>
              </a:rPr>
              <a:t>Q. </a:t>
            </a:r>
            <a:r>
              <a:rPr kumimoji="1" lang="ko-KR" altLang="en-US" sz="1800" dirty="0">
                <a:solidFill>
                  <a:schemeClr val="accent6"/>
                </a:solidFill>
              </a:rPr>
              <a:t>아이디</a:t>
            </a:r>
            <a:r>
              <a:rPr kumimoji="1" lang="en-US" altLang="ko-KR" sz="1800" dirty="0">
                <a:solidFill>
                  <a:schemeClr val="accent6"/>
                </a:solidFill>
              </a:rPr>
              <a:t>,</a:t>
            </a:r>
            <a:r>
              <a:rPr kumimoji="1" lang="ko-KR" altLang="en-US" sz="1800" dirty="0">
                <a:solidFill>
                  <a:schemeClr val="accent6"/>
                </a:solidFill>
              </a:rPr>
              <a:t> 패스워드 기반 폼 로그인 시도 시 </a:t>
            </a:r>
            <a:r>
              <a:rPr kumimoji="1" lang="en-US" altLang="ko-KR" sz="1800" dirty="0">
                <a:solidFill>
                  <a:schemeClr val="accent6"/>
                </a:solidFill>
              </a:rPr>
              <a:t>Spring Security </a:t>
            </a:r>
            <a:r>
              <a:rPr kumimoji="1" lang="ko-KR" altLang="en-US" sz="1800" dirty="0">
                <a:solidFill>
                  <a:schemeClr val="accent6"/>
                </a:solidFill>
              </a:rPr>
              <a:t>는 어떻게 인증 처리를 할까</a:t>
            </a:r>
            <a:r>
              <a:rPr kumimoji="1" lang="en-US" altLang="ko-KR" sz="1800" dirty="0">
                <a:solidFill>
                  <a:schemeClr val="accent6"/>
                </a:solidFill>
              </a:rPr>
              <a:t>?</a:t>
            </a:r>
            <a:endParaRPr kumimoji="1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91CA25-9097-9E1D-1C68-BC983A7C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55F3A-ED86-6A72-D47D-5BC6EBEE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34011A0-67EE-4607-A19C-3E31D685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Spring Security</a:t>
            </a:r>
            <a:r>
              <a:rPr kumimoji="1" lang="ko-KR" altLang="en-US" dirty="0"/>
              <a:t> </a:t>
            </a:r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E47AAB-C0EC-B6F7-A13C-1314D831A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77" y="1690255"/>
            <a:ext cx="6750756" cy="4677690"/>
          </a:xfrm>
          <a:prstGeom prst="rect">
            <a:avLst/>
          </a:prstGeom>
        </p:spPr>
      </p:pic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28C3FD3B-1475-0C91-2BFE-5ACC8AEB9EF6}"/>
              </a:ext>
            </a:extLst>
          </p:cNvPr>
          <p:cNvSpPr txBox="1">
            <a:spLocks/>
          </p:cNvSpPr>
          <p:nvPr/>
        </p:nvSpPr>
        <p:spPr>
          <a:xfrm>
            <a:off x="6705600" y="1825625"/>
            <a:ext cx="46482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kumimoji="1" lang="en-US" altLang="ko-KR" sz="1800" dirty="0"/>
              <a:t>HTTP Request </a:t>
            </a:r>
            <a:r>
              <a:rPr kumimoji="1" lang="ko-KR" altLang="en-US" sz="1800" dirty="0"/>
              <a:t>수신</a:t>
            </a:r>
            <a:endParaRPr kumimoji="1" lang="en-US" altLang="ko-KR" sz="1800" dirty="0"/>
          </a:p>
          <a:p>
            <a:pPr lvl="1">
              <a:lnSpc>
                <a:spcPct val="130000"/>
              </a:lnSpc>
            </a:pPr>
            <a:r>
              <a:rPr kumimoji="1" lang="ko-KR" altLang="en-US" sz="1400" dirty="0"/>
              <a:t>사용자의 로그인 정보</a:t>
            </a:r>
            <a:r>
              <a:rPr kumimoji="1" lang="en-US" altLang="ko-KR" sz="1400" dirty="0"/>
              <a:t>(id, pw) </a:t>
            </a:r>
            <a:r>
              <a:rPr kumimoji="1" lang="ko-KR" altLang="en-US" sz="1400" dirty="0"/>
              <a:t>입력하면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</a:t>
            </a:r>
            <a:r>
              <a:rPr kumimoji="1" lang="en-US" altLang="ko-KR" sz="1400" dirty="0" err="1"/>
              <a:t>HTTPServletRequest</a:t>
            </a:r>
            <a:r>
              <a:rPr kumimoji="1" lang="ko-KR" altLang="en-US" sz="1400" dirty="0"/>
              <a:t> 에 </a:t>
            </a:r>
            <a:r>
              <a:rPr kumimoji="1" lang="en-US" altLang="ko-KR" sz="1400" dirty="0"/>
              <a:t>id, pw </a:t>
            </a:r>
            <a:r>
              <a:rPr kumimoji="1" lang="ko-KR" altLang="en-US" sz="1400" dirty="0"/>
              <a:t>가 전달됨</a:t>
            </a:r>
            <a:endParaRPr kumimoji="1" lang="en-US" altLang="ko-KR" sz="1400" dirty="0"/>
          </a:p>
          <a:p>
            <a:pPr lvl="1">
              <a:lnSpc>
                <a:spcPct val="130000"/>
              </a:lnSpc>
            </a:pPr>
            <a:r>
              <a:rPr kumimoji="1" lang="en-US" altLang="ko-KR" sz="1400" dirty="0" err="1"/>
              <a:t>AuthenticaionFilter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가 넘어온 아이디와 비밀번호 유효성 검사 진행</a:t>
            </a:r>
            <a:endParaRPr kumimoji="1" lang="en-US" altLang="ko-KR" sz="1800" dirty="0"/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kumimoji="1" lang="ko-KR" altLang="en-US" sz="1800" dirty="0"/>
              <a:t>유효성 검사가 끝나면 인증용 객체인</a:t>
            </a:r>
            <a:r>
              <a:rPr lang="en-US" altLang="ko-KR" sz="1800" b="0" i="0" dirty="0" err="1">
                <a:solidFill>
                  <a:srgbClr val="212529"/>
                </a:solidFill>
                <a:effectLst/>
                <a:latin typeface="-apple-system"/>
              </a:rPr>
              <a:t>UsernamePasswordAuthenticationToken</a:t>
            </a:r>
            <a:r>
              <a:rPr lang="ko-KR" altLang="en-US" sz="1800" dirty="0" err="1">
                <a:solidFill>
                  <a:srgbClr val="212529"/>
                </a:solidFill>
                <a:latin typeface="-apple-system"/>
              </a:rPr>
              <a:t>를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 생성 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ko-KR" sz="1800" b="0" i="0" dirty="0" err="1">
                <a:solidFill>
                  <a:srgbClr val="212529"/>
                </a:solidFill>
                <a:effectLst/>
                <a:latin typeface="-apple-system"/>
              </a:rPr>
              <a:t>UsernamePasswordAuthenticationToken</a:t>
            </a:r>
            <a:r>
              <a:rPr lang="ko-KR" altLang="en-US" sz="18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을</a:t>
            </a:r>
            <a:r>
              <a:rPr kumimoji="1" lang="en-US" altLang="ko-KR" sz="1800" b="0" i="0" dirty="0" err="1">
                <a:solidFill>
                  <a:srgbClr val="212529"/>
                </a:solidFill>
                <a:effectLst/>
                <a:latin typeface="-apple-system"/>
              </a:rPr>
              <a:t>AuthenticationManager</a:t>
            </a:r>
            <a:r>
              <a:rPr kumimoji="1" lang="en-US" altLang="ko-KR" sz="18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kumimoji="1" lang="ko-KR" altLang="en-US" sz="1800" b="0" i="0" dirty="0">
                <a:solidFill>
                  <a:srgbClr val="212529"/>
                </a:solidFill>
                <a:effectLst/>
                <a:latin typeface="-apple-system"/>
              </a:rPr>
              <a:t>에게 보냄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ko-KR" sz="1800" b="0" i="0" dirty="0" err="1">
                <a:solidFill>
                  <a:srgbClr val="212529"/>
                </a:solidFill>
                <a:effectLst/>
                <a:latin typeface="-apple-system"/>
              </a:rPr>
              <a:t>UsernamePasswordAuthenticationToken</a:t>
            </a:r>
            <a:r>
              <a:rPr lang="ko-KR" altLang="en-US" sz="18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ko-KR" altLang="en-US" sz="1800" dirty="0">
                <a:solidFill>
                  <a:srgbClr val="212529"/>
                </a:solidFill>
                <a:latin typeface="-apple-system"/>
              </a:rPr>
              <a:t>을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en-US" altLang="ko-KR" sz="1800" dirty="0" err="1">
                <a:solidFill>
                  <a:srgbClr val="212529"/>
                </a:solidFill>
                <a:latin typeface="-apple-system"/>
              </a:rPr>
              <a:t>AuthenticationProvider</a:t>
            </a:r>
            <a:r>
              <a:rPr kumimoji="1" lang="en-US" altLang="ko-KR" sz="18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에 보냄</a:t>
            </a:r>
            <a:endParaRPr lang="en-US" altLang="ko-KR" sz="1800" dirty="0">
              <a:solidFill>
                <a:srgbClr val="212529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05397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2947CC-5A13-54BC-D1F2-D6BFB907D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7" y="1293852"/>
            <a:ext cx="9279467" cy="77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800" dirty="0">
                <a:solidFill>
                  <a:schemeClr val="accent6"/>
                </a:solidFill>
              </a:rPr>
              <a:t>Q. </a:t>
            </a:r>
            <a:r>
              <a:rPr kumimoji="1" lang="ko-KR" altLang="en-US" sz="1800" dirty="0">
                <a:solidFill>
                  <a:schemeClr val="accent6"/>
                </a:solidFill>
              </a:rPr>
              <a:t>아이디</a:t>
            </a:r>
            <a:r>
              <a:rPr kumimoji="1" lang="en-US" altLang="ko-KR" sz="1800" dirty="0">
                <a:solidFill>
                  <a:schemeClr val="accent6"/>
                </a:solidFill>
              </a:rPr>
              <a:t>,</a:t>
            </a:r>
            <a:r>
              <a:rPr kumimoji="1" lang="ko-KR" altLang="en-US" sz="1800" dirty="0">
                <a:solidFill>
                  <a:schemeClr val="accent6"/>
                </a:solidFill>
              </a:rPr>
              <a:t> 패스워드 기반 폼 로그인 시도 시 </a:t>
            </a:r>
            <a:r>
              <a:rPr kumimoji="1" lang="en-US" altLang="ko-KR" sz="1800" dirty="0">
                <a:solidFill>
                  <a:schemeClr val="accent6"/>
                </a:solidFill>
              </a:rPr>
              <a:t>Spring Security </a:t>
            </a:r>
            <a:r>
              <a:rPr kumimoji="1" lang="ko-KR" altLang="en-US" sz="1800" dirty="0">
                <a:solidFill>
                  <a:schemeClr val="accent6"/>
                </a:solidFill>
              </a:rPr>
              <a:t>는 어떻게 인증 처리를 할까</a:t>
            </a:r>
            <a:r>
              <a:rPr kumimoji="1" lang="en-US" altLang="ko-KR" sz="1800" dirty="0">
                <a:solidFill>
                  <a:schemeClr val="accent6"/>
                </a:solidFill>
              </a:rPr>
              <a:t>?</a:t>
            </a:r>
            <a:endParaRPr kumimoji="1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91CA25-9097-9E1D-1C68-BC983A7C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55F3A-ED86-6A72-D47D-5BC6EBEE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34011A0-67EE-4607-A19C-3E31D685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Spring Security</a:t>
            </a:r>
            <a:r>
              <a:rPr kumimoji="1" lang="ko-KR" altLang="en-US" dirty="0"/>
              <a:t> </a:t>
            </a:r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E47AAB-C0EC-B6F7-A13C-1314D831A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77" y="1690255"/>
            <a:ext cx="6750756" cy="4677690"/>
          </a:xfrm>
          <a:prstGeom prst="rect">
            <a:avLst/>
          </a:prstGeom>
        </p:spPr>
      </p:pic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28C3FD3B-1475-0C91-2BFE-5ACC8AEB9EF6}"/>
              </a:ext>
            </a:extLst>
          </p:cNvPr>
          <p:cNvSpPr txBox="1">
            <a:spLocks/>
          </p:cNvSpPr>
          <p:nvPr/>
        </p:nvSpPr>
        <p:spPr>
          <a:xfrm>
            <a:off x="6705599" y="1825625"/>
            <a:ext cx="47639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buFont typeface="+mj-lt"/>
              <a:buAutoNum type="arabicPeriod" startAt="5"/>
            </a:pP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사용자 아이디를 </a:t>
            </a:r>
            <a:r>
              <a:rPr kumimoji="1" lang="en-US" altLang="ko-KR" sz="1800" dirty="0" err="1">
                <a:solidFill>
                  <a:srgbClr val="212529"/>
                </a:solidFill>
                <a:latin typeface="-apple-system"/>
              </a:rPr>
              <a:t>UserDetailsService</a:t>
            </a:r>
            <a:r>
              <a:rPr kumimoji="1" lang="en-US" altLang="ko-KR" sz="18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에 보냄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 startAt="5"/>
            </a:pPr>
            <a:r>
              <a:rPr kumimoji="1" lang="en-US" altLang="ko-KR" sz="1800" dirty="0">
                <a:solidFill>
                  <a:srgbClr val="212529"/>
                </a:solidFill>
                <a:latin typeface="-apple-system"/>
              </a:rPr>
              <a:t>DB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 에 있는 사용자 정보를 가져와 찾아낸 사용자 정보를 </a:t>
            </a:r>
            <a:r>
              <a:rPr kumimoji="1" lang="en-US" altLang="ko-KR" sz="1800" dirty="0" err="1">
                <a:solidFill>
                  <a:srgbClr val="212529"/>
                </a:solidFill>
                <a:latin typeface="-apple-system"/>
              </a:rPr>
              <a:t>UserDetails</a:t>
            </a:r>
            <a:r>
              <a:rPr kumimoji="1" lang="en-US" altLang="ko-KR" sz="18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객체로 만듦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 startAt="5"/>
            </a:pP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입력된 사용자 정보와 </a:t>
            </a:r>
            <a:r>
              <a:rPr kumimoji="1" lang="en-US" altLang="ko-KR" sz="1800" dirty="0" err="1">
                <a:solidFill>
                  <a:srgbClr val="212529"/>
                </a:solidFill>
                <a:latin typeface="-apple-system"/>
              </a:rPr>
              <a:t>UserDetails</a:t>
            </a:r>
            <a:r>
              <a:rPr kumimoji="1" lang="en-US" altLang="ko-KR" sz="18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정보를 비교해 실제 인증 처리 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 startAt="5"/>
            </a:pP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인증 완료 여부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  <a:p>
            <a:pPr lvl="1">
              <a:lnSpc>
                <a:spcPct val="130000"/>
              </a:lnSpc>
            </a:pPr>
            <a:r>
              <a:rPr kumimoji="1" lang="ko-KR" altLang="en-US" sz="1400" dirty="0">
                <a:solidFill>
                  <a:srgbClr val="212529"/>
                </a:solidFill>
                <a:latin typeface="-apple-system"/>
              </a:rPr>
              <a:t>인증 완료</a:t>
            </a:r>
            <a:r>
              <a:rPr kumimoji="1" lang="en-US" altLang="ko-KR" sz="1400" dirty="0">
                <a:solidFill>
                  <a:srgbClr val="212529"/>
                </a:solidFill>
                <a:latin typeface="-apple-system"/>
              </a:rPr>
              <a:t>:</a:t>
            </a:r>
            <a:r>
              <a:rPr kumimoji="1" lang="ko-KR" altLang="en-US" sz="1400" dirty="0">
                <a:solidFill>
                  <a:srgbClr val="212529"/>
                </a:solidFill>
                <a:latin typeface="-apple-system"/>
              </a:rPr>
              <a:t> 사용자 정보를 담은 </a:t>
            </a:r>
            <a:r>
              <a:rPr kumimoji="1" lang="en-US" altLang="ko-KR" sz="1400" dirty="0">
                <a:solidFill>
                  <a:srgbClr val="212529"/>
                </a:solidFill>
                <a:latin typeface="-apple-system"/>
              </a:rPr>
              <a:t>Authentication</a:t>
            </a:r>
            <a:r>
              <a:rPr kumimoji="1" lang="ko-KR" altLang="en-US" sz="1400" dirty="0">
                <a:solidFill>
                  <a:srgbClr val="212529"/>
                </a:solidFill>
                <a:latin typeface="-apple-system"/>
              </a:rPr>
              <a:t> 객체 반환</a:t>
            </a:r>
            <a:endParaRPr kumimoji="1" lang="en-US" altLang="ko-KR" sz="1400" dirty="0">
              <a:solidFill>
                <a:srgbClr val="212529"/>
              </a:solidFill>
              <a:latin typeface="-apple-system"/>
            </a:endParaRPr>
          </a:p>
          <a:p>
            <a:pPr lvl="1">
              <a:lnSpc>
                <a:spcPct val="130000"/>
              </a:lnSpc>
            </a:pPr>
            <a:r>
              <a:rPr kumimoji="1" lang="ko-KR" altLang="en-US" sz="1400" dirty="0">
                <a:solidFill>
                  <a:srgbClr val="212529"/>
                </a:solidFill>
                <a:latin typeface="-apple-system"/>
              </a:rPr>
              <a:t>인증 실패</a:t>
            </a:r>
            <a:r>
              <a:rPr kumimoji="1" lang="en-US" altLang="ko-KR" sz="1400" dirty="0">
                <a:solidFill>
                  <a:srgbClr val="212529"/>
                </a:solidFill>
                <a:latin typeface="-apple-system"/>
              </a:rPr>
              <a:t>:</a:t>
            </a:r>
            <a:r>
              <a:rPr kumimoji="1" lang="ko-KR" altLang="en-US" sz="14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en-US" altLang="ko-KR" sz="1400" dirty="0" err="1">
                <a:solidFill>
                  <a:srgbClr val="212529"/>
                </a:solidFill>
                <a:latin typeface="-apple-system"/>
              </a:rPr>
              <a:t>AuthenticationException</a:t>
            </a:r>
            <a:r>
              <a:rPr kumimoji="1" lang="en-US" altLang="ko-KR" sz="1400" dirty="0">
                <a:solidFill>
                  <a:srgbClr val="212529"/>
                </a:solidFill>
                <a:latin typeface="-apple-system"/>
              </a:rPr>
              <a:t> </a:t>
            </a:r>
            <a:r>
              <a:rPr kumimoji="1" lang="ko-KR" altLang="en-US" sz="1400" dirty="0">
                <a:solidFill>
                  <a:srgbClr val="212529"/>
                </a:solidFill>
                <a:latin typeface="-apple-system"/>
              </a:rPr>
              <a:t>발생</a:t>
            </a:r>
            <a:endParaRPr kumimoji="1" lang="en-US" altLang="ko-KR" sz="1400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 startAt="5"/>
            </a:pPr>
            <a:r>
              <a:rPr kumimoji="1" lang="en-US" altLang="ko-KR" sz="1800" dirty="0">
                <a:solidFill>
                  <a:srgbClr val="212529"/>
                </a:solidFill>
                <a:latin typeface="-apple-system"/>
              </a:rPr>
              <a:t>Authentication 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객체가 </a:t>
            </a:r>
            <a:r>
              <a:rPr kumimoji="1" lang="en-US" altLang="ko-KR" sz="1800" dirty="0" err="1">
                <a:solidFill>
                  <a:srgbClr val="212529"/>
                </a:solidFill>
                <a:latin typeface="-apple-system"/>
              </a:rPr>
              <a:t>SecurityContextHolder</a:t>
            </a:r>
            <a:r>
              <a:rPr kumimoji="1" lang="ko-KR" altLang="en-US" sz="1800" dirty="0">
                <a:solidFill>
                  <a:srgbClr val="212529"/>
                </a:solidFill>
                <a:latin typeface="-apple-system"/>
              </a:rPr>
              <a:t> 에 저장됨</a:t>
            </a:r>
            <a:endParaRPr kumimoji="1" lang="en-US" altLang="ko-KR" sz="1800" dirty="0">
              <a:solidFill>
                <a:srgbClr val="212529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26383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1FEC558-BEB4-4344-2AEB-0EA078D16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400" dirty="0" err="1"/>
              <a:t>build.gradle</a:t>
            </a:r>
            <a:r>
              <a:rPr kumimoji="1" lang="en-US" altLang="ko-KR" sz="2400" dirty="0"/>
              <a:t> </a:t>
            </a:r>
            <a:r>
              <a:rPr kumimoji="1" lang="ko-KR" altLang="en-US" sz="2400" dirty="0"/>
              <a:t>에</a:t>
            </a:r>
            <a:r>
              <a:rPr kumimoji="1" lang="en-US" altLang="ko-KR" sz="2400" dirty="0"/>
              <a:t> dependencies </a:t>
            </a:r>
            <a:r>
              <a:rPr kumimoji="1" lang="ko-KR" altLang="en-US" sz="2400" dirty="0"/>
              <a:t>추가</a:t>
            </a:r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endParaRPr kumimoji="1" lang="en-US" altLang="ko-KR" sz="2400" dirty="0"/>
          </a:p>
          <a:p>
            <a:r>
              <a:rPr kumimoji="1" lang="ko-KR" altLang="en-US" sz="2400" dirty="0"/>
              <a:t>참고</a:t>
            </a:r>
            <a:r>
              <a:rPr kumimoji="1" lang="en-US" altLang="ko-KR" sz="2400" dirty="0"/>
              <a:t>.</a:t>
            </a:r>
            <a:r>
              <a:rPr kumimoji="1" lang="ko-KR" altLang="en-US" sz="2400" dirty="0"/>
              <a:t> </a:t>
            </a:r>
            <a:r>
              <a:rPr kumimoji="1" lang="en-US" altLang="ko-KR" sz="2400" dirty="0" err="1"/>
              <a:t>Thymeleaf</a:t>
            </a:r>
            <a:r>
              <a:rPr kumimoji="1" lang="ko-KR" altLang="en-US" sz="2400" dirty="0"/>
              <a:t> 에서 </a:t>
            </a:r>
            <a:r>
              <a:rPr kumimoji="1" lang="en-US" altLang="ko-KR" sz="2400" dirty="0"/>
              <a:t>Spring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Security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사용한다면</a:t>
            </a:r>
            <a:r>
              <a:rPr kumimoji="1" lang="en-US" altLang="ko-KR" sz="2400" dirty="0"/>
              <a:t>?</a:t>
            </a:r>
            <a:r>
              <a:rPr kumimoji="1" lang="ko-KR" altLang="en-US" sz="2400" dirty="0"/>
              <a:t> </a:t>
            </a:r>
            <a:endParaRPr kumimoji="1" lang="en-US" altLang="ko-KR" sz="2400" dirty="0"/>
          </a:p>
          <a:p>
            <a:endParaRPr kumimoji="1"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507259-D36D-4AB4-A592-6BC4F2F7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7B2041-041F-FA32-EB82-0E810190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EBE08DFB-E635-2780-AD4C-25A770D1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Spring Security</a:t>
            </a:r>
            <a:r>
              <a:rPr kumimoji="1" lang="ko-KR" altLang="en-US" dirty="0"/>
              <a:t> 사용하기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89BFB7-E09E-3E35-AFB3-7BB10671C4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19"/>
          <a:stretch/>
        </p:blipFill>
        <p:spPr>
          <a:xfrm>
            <a:off x="1143705" y="2471211"/>
            <a:ext cx="9175957" cy="5722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CB8C3C4-ACB4-DAA3-3ED0-FE3BE399F2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063"/>
          <a:stretch/>
        </p:blipFill>
        <p:spPr>
          <a:xfrm>
            <a:off x="1143705" y="4359698"/>
            <a:ext cx="9220245" cy="50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26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35C070C-AF73-03CD-F668-4D1D8C557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ko-KR" altLang="en-US" sz="2400" dirty="0"/>
              <a:t>유저별로 </a:t>
            </a:r>
            <a:r>
              <a:rPr kumimoji="1" lang="en-US" altLang="ko-KR" sz="2400" dirty="0" err="1"/>
              <a:t>Todo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관리할 수 있는 애플리케이션 제작 </a:t>
            </a:r>
            <a:r>
              <a:rPr kumimoji="1" lang="en-US" altLang="ko-KR" sz="2400" dirty="0"/>
              <a:t>(Backend </a:t>
            </a:r>
            <a:r>
              <a:rPr kumimoji="1" lang="ko-KR" altLang="en-US" sz="2400" dirty="0"/>
              <a:t>만</a:t>
            </a:r>
            <a:r>
              <a:rPr kumimoji="1" lang="en-US" altLang="ko-KR" sz="2400" dirty="0"/>
              <a:t>!)</a:t>
            </a:r>
          </a:p>
          <a:p>
            <a:r>
              <a:rPr kumimoji="1" lang="ko-KR" altLang="en-US" sz="2400" dirty="0"/>
              <a:t>즉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본인이 작성한 </a:t>
            </a:r>
            <a:r>
              <a:rPr kumimoji="1" lang="en-US" altLang="ko-KR" sz="2400" dirty="0" err="1"/>
              <a:t>Todo</a:t>
            </a:r>
            <a:r>
              <a:rPr kumimoji="1" lang="ko-KR" altLang="en-US" sz="2400" dirty="0"/>
              <a:t> 만 확인 가능해야 함</a:t>
            </a:r>
            <a:endParaRPr kumimoji="1" lang="en-US" altLang="ko-KR" sz="2400" dirty="0"/>
          </a:p>
          <a:p>
            <a:r>
              <a:rPr kumimoji="1" lang="en-US" altLang="ko-KR" sz="2400" dirty="0" err="1"/>
              <a:t>Thymeleaf</a:t>
            </a:r>
            <a:r>
              <a:rPr kumimoji="1" lang="ko-KR" altLang="en-US" sz="2400" dirty="0"/>
              <a:t> 없이 </a:t>
            </a:r>
            <a:r>
              <a:rPr kumimoji="1" lang="en-US" altLang="ko-KR" sz="2400" dirty="0"/>
              <a:t>REST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API</a:t>
            </a:r>
            <a:r>
              <a:rPr kumimoji="1" lang="ko-KR" altLang="en-US" sz="2400" dirty="0"/>
              <a:t> 용 서버로 만들 것</a:t>
            </a:r>
            <a:endParaRPr kumimoji="1" lang="en-US" altLang="ko-KR" sz="2400" dirty="0"/>
          </a:p>
          <a:p>
            <a:r>
              <a:rPr kumimoji="1" lang="en-US" altLang="ko-KR" sz="2400" dirty="0"/>
              <a:t>JWT</a:t>
            </a:r>
            <a:r>
              <a:rPr kumimoji="1" lang="ko-KR" altLang="en-US" sz="2400" dirty="0"/>
              <a:t> 사용</a:t>
            </a:r>
            <a:endParaRPr kumimoji="1" lang="en-US" altLang="ko-KR" dirty="0"/>
          </a:p>
          <a:p>
            <a:r>
              <a:rPr kumimoji="1" lang="en-US" altLang="ko-KR" sz="2400" dirty="0"/>
              <a:t>API </a:t>
            </a:r>
            <a:r>
              <a:rPr kumimoji="1" lang="ko-KR" altLang="en-US" sz="2400" dirty="0"/>
              <a:t>정리</a:t>
            </a:r>
            <a:endParaRPr kumimoji="1" lang="en-US" altLang="ko-K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POST /auth/signup: </a:t>
            </a:r>
            <a:r>
              <a:rPr lang="ko-KR" altLang="en-US" sz="2000" dirty="0"/>
              <a:t>회원가입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POST /auth/</a:t>
            </a:r>
            <a:r>
              <a:rPr lang="en-US" altLang="ko-KR" sz="2000" dirty="0" err="1"/>
              <a:t>signin</a:t>
            </a:r>
            <a:r>
              <a:rPr lang="en-US" altLang="ko-KR" sz="2000" dirty="0"/>
              <a:t>: </a:t>
            </a:r>
            <a:r>
              <a:rPr lang="ko-KR" altLang="en-US" sz="2000" dirty="0"/>
              <a:t>로그인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GET /</a:t>
            </a:r>
            <a:r>
              <a:rPr lang="en-US" altLang="ko-KR" sz="2000" dirty="0" err="1"/>
              <a:t>todo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투두</a:t>
            </a:r>
            <a:r>
              <a:rPr lang="ko-KR" altLang="en-US" sz="2000" dirty="0"/>
              <a:t> 조회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POST /</a:t>
            </a:r>
            <a:r>
              <a:rPr lang="en-US" altLang="ko-KR" sz="2000" dirty="0" err="1"/>
              <a:t>todo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투두</a:t>
            </a:r>
            <a:r>
              <a:rPr lang="ko-KR" altLang="en-US" sz="2000" dirty="0"/>
              <a:t> 생성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accent6"/>
                </a:solidFill>
              </a:rPr>
              <a:t>PUT /</a:t>
            </a:r>
            <a:r>
              <a:rPr lang="en-US" altLang="ko-KR" sz="2000" dirty="0" err="1">
                <a:solidFill>
                  <a:schemeClr val="accent6"/>
                </a:solidFill>
              </a:rPr>
              <a:t>todo</a:t>
            </a:r>
            <a:r>
              <a:rPr lang="en-US" altLang="ko-KR" sz="2000" dirty="0">
                <a:solidFill>
                  <a:schemeClr val="accent6"/>
                </a:solidFill>
              </a:rPr>
              <a:t>: </a:t>
            </a:r>
            <a:r>
              <a:rPr lang="ko-KR" altLang="en-US" sz="2000" dirty="0" err="1">
                <a:solidFill>
                  <a:schemeClr val="accent6"/>
                </a:solidFill>
              </a:rPr>
              <a:t>투두</a:t>
            </a:r>
            <a:r>
              <a:rPr lang="ko-KR" altLang="en-US" sz="2000" dirty="0">
                <a:solidFill>
                  <a:schemeClr val="accent6"/>
                </a:solidFill>
              </a:rPr>
              <a:t> 수정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accent6"/>
                </a:solidFill>
              </a:rPr>
              <a:t>DELETE /</a:t>
            </a:r>
            <a:r>
              <a:rPr lang="en-US" altLang="ko-KR" sz="2000" dirty="0" err="1">
                <a:solidFill>
                  <a:schemeClr val="accent6"/>
                </a:solidFill>
              </a:rPr>
              <a:t>todo</a:t>
            </a:r>
            <a:r>
              <a:rPr lang="en-US" altLang="ko-KR" sz="2000" dirty="0">
                <a:solidFill>
                  <a:schemeClr val="accent6"/>
                </a:solidFill>
              </a:rPr>
              <a:t>: </a:t>
            </a:r>
            <a:r>
              <a:rPr lang="ko-KR" altLang="en-US" sz="2000" dirty="0" err="1">
                <a:solidFill>
                  <a:schemeClr val="accent6"/>
                </a:solidFill>
              </a:rPr>
              <a:t>투두</a:t>
            </a:r>
            <a:r>
              <a:rPr lang="ko-KR" altLang="en-US" sz="2000" dirty="0">
                <a:solidFill>
                  <a:schemeClr val="accent6"/>
                </a:solidFill>
              </a:rPr>
              <a:t> 삭제</a:t>
            </a:r>
          </a:p>
          <a:p>
            <a:endParaRPr kumimoji="1"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4431EE-6A43-4360-5534-B8725B6B9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7월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B18DA9-D4C5-7C5E-FA75-A52F362F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3C4641D-4C09-CCC4-9841-F9E2FF63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solidFill>
                  <a:schemeClr val="accent1"/>
                </a:solidFill>
              </a:rPr>
              <a:t>실전</a:t>
            </a:r>
            <a:r>
              <a:rPr kumimoji="1" lang="en-US" altLang="ko-KR" dirty="0">
                <a:solidFill>
                  <a:schemeClr val="accent1"/>
                </a:solidFill>
              </a:rPr>
              <a:t>.</a:t>
            </a:r>
            <a:r>
              <a:rPr kumimoji="1" lang="ko-KR" altLang="en-US" dirty="0">
                <a:solidFill>
                  <a:schemeClr val="accent1"/>
                </a:solidFill>
              </a:rPr>
              <a:t> </a:t>
            </a:r>
            <a:r>
              <a:rPr kumimoji="1" lang="ko-KR" altLang="en-US" dirty="0" err="1"/>
              <a:t>유저별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Todo</a:t>
            </a:r>
            <a:r>
              <a:rPr kumimoji="1" lang="ko-KR" altLang="en-US" dirty="0"/>
              <a:t> 관리 웹 애플리케이션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8F4A3-D1B2-D2F3-931F-4E3E1DCE8B6A}"/>
              </a:ext>
            </a:extLst>
          </p:cNvPr>
          <p:cNvSpPr txBox="1"/>
          <p:nvPr/>
        </p:nvSpPr>
        <p:spPr>
          <a:xfrm>
            <a:off x="4631376" y="5533901"/>
            <a:ext cx="4328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>
                <a:solidFill>
                  <a:schemeClr val="accent6"/>
                </a:solidFill>
              </a:rPr>
              <a:t>-&gt; </a:t>
            </a:r>
            <a:r>
              <a:rPr kumimoji="1" lang="ko-KR" altLang="en-US" sz="1600" dirty="0">
                <a:solidFill>
                  <a:schemeClr val="accent6"/>
                </a:solidFill>
              </a:rPr>
              <a:t>수정</a:t>
            </a:r>
            <a:r>
              <a:rPr kumimoji="1" lang="en-US" altLang="ko-KR" sz="1600" dirty="0">
                <a:solidFill>
                  <a:schemeClr val="accent6"/>
                </a:solidFill>
              </a:rPr>
              <a:t>,</a:t>
            </a:r>
            <a:r>
              <a:rPr kumimoji="1" lang="ko-KR" altLang="en-US" sz="1600" dirty="0">
                <a:solidFill>
                  <a:schemeClr val="accent6"/>
                </a:solidFill>
              </a:rPr>
              <a:t> 삭제 구현은 별도 실습으로 드릴 예정</a:t>
            </a:r>
            <a:r>
              <a:rPr kumimoji="1" lang="en-US" altLang="ko-KR" sz="1600" dirty="0">
                <a:solidFill>
                  <a:schemeClr val="accent6"/>
                </a:solidFill>
              </a:rPr>
              <a:t>!</a:t>
            </a:r>
            <a:r>
              <a:rPr kumimoji="1" lang="ko-KR" altLang="en-US" sz="1600" dirty="0">
                <a:solidFill>
                  <a:schemeClr val="accent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545937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5873</TotalTime>
  <Words>789</Words>
  <Application>Microsoft Office PowerPoint</Application>
  <PresentationFormat>와이드스크린</PresentationFormat>
  <Paragraphs>123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-apple-system</vt:lpstr>
      <vt:lpstr>Gmarket Sans</vt:lpstr>
      <vt:lpstr>Pretendard</vt:lpstr>
      <vt:lpstr>Pretendard GOV</vt:lpstr>
      <vt:lpstr>SFMono-Regular</vt:lpstr>
      <vt:lpstr>맑은 고딕</vt:lpstr>
      <vt:lpstr>Arial</vt:lpstr>
      <vt:lpstr>3_Office 테마</vt:lpstr>
      <vt:lpstr>웹 개발자 부트캠프 과정</vt:lpstr>
      <vt:lpstr>Spring Security</vt:lpstr>
      <vt:lpstr>인증(Authentication) vs. 인가(Authorization)</vt:lpstr>
      <vt:lpstr>Spring Security</vt:lpstr>
      <vt:lpstr>복습. Spring MVC</vt:lpstr>
      <vt:lpstr>Spring Security 동작 과정</vt:lpstr>
      <vt:lpstr>Spring Security Architecture</vt:lpstr>
      <vt:lpstr>Spring Security Architecture</vt:lpstr>
      <vt:lpstr>Spring Security Architecture</vt:lpstr>
      <vt:lpstr>Spring Security 사용하기</vt:lpstr>
      <vt:lpstr>실전. 유저별 Todo 관리 웹 애플리케이션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1484</cp:revision>
  <dcterms:created xsi:type="dcterms:W3CDTF">2022-06-26T11:10:22Z</dcterms:created>
  <dcterms:modified xsi:type="dcterms:W3CDTF">2024-07-02T08:06:42Z</dcterms:modified>
</cp:coreProperties>
</file>