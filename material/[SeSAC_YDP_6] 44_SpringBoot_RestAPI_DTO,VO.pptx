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23"/>
  </p:notesMasterIdLst>
  <p:sldIdLst>
    <p:sldId id="649" r:id="rId2"/>
    <p:sldId id="651" r:id="rId3"/>
    <p:sldId id="625" r:id="rId4"/>
    <p:sldId id="632" r:id="rId5"/>
    <p:sldId id="627" r:id="rId6"/>
    <p:sldId id="654" r:id="rId7"/>
    <p:sldId id="655" r:id="rId8"/>
    <p:sldId id="656" r:id="rId9"/>
    <p:sldId id="661" r:id="rId10"/>
    <p:sldId id="662" r:id="rId11"/>
    <p:sldId id="657" r:id="rId12"/>
    <p:sldId id="658" r:id="rId13"/>
    <p:sldId id="659" r:id="rId14"/>
    <p:sldId id="660" r:id="rId15"/>
    <p:sldId id="652" r:id="rId16"/>
    <p:sldId id="634" r:id="rId17"/>
    <p:sldId id="635" r:id="rId18"/>
    <p:sldId id="653" r:id="rId19"/>
    <p:sldId id="637" r:id="rId20"/>
    <p:sldId id="664" r:id="rId21"/>
    <p:sldId id="663" r:id="rId2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A130"/>
    <a:srgbClr val="C32F2F"/>
    <a:srgbClr val="FF0000"/>
    <a:srgbClr val="F99FD9"/>
    <a:srgbClr val="F99F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454" autoAdjust="0"/>
    <p:restoredTop sz="91979" autoAdjust="0"/>
  </p:normalViewPr>
  <p:slideViewPr>
    <p:cSldViewPr snapToGrid="0">
      <p:cViewPr varScale="1">
        <p:scale>
          <a:sx n="125" d="100"/>
          <a:sy n="125" d="100"/>
        </p:scale>
        <p:origin x="86" y="182"/>
      </p:cViewPr>
      <p:guideLst/>
    </p:cSldViewPr>
  </p:slideViewPr>
  <p:outlineViewPr>
    <p:cViewPr>
      <p:scale>
        <a:sx n="33" d="100"/>
        <a:sy n="33" d="100"/>
      </p:scale>
      <p:origin x="0" y="-702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64" d="100"/>
          <a:sy n="64" d="100"/>
        </p:scale>
        <p:origin x="2226" y="5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F3F159-7250-4DD4-91C2-13B35D56E1AF}" type="datetimeFigureOut">
              <a:rPr lang="ko-KR" altLang="en-US" smtClean="0"/>
              <a:t>2024-07-16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9E5BFC-1559-42F1-8940-AB342D56BF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04593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82480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웹이라든지</a:t>
            </a:r>
            <a:r>
              <a:rPr lang="ko-KR" altLang="en-US" dirty="0"/>
              <a:t> </a:t>
            </a:r>
            <a:r>
              <a:rPr lang="ko-KR" altLang="en-US" dirty="0" err="1"/>
              <a:t>앱이라든지</a:t>
            </a:r>
            <a:r>
              <a:rPr lang="ko-KR" altLang="en-US" dirty="0"/>
              <a:t> 하나의 애플리케이션은 보통 백과 프론트로 나뉘어져 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여러분이 알다시피 프론트는 사용자가 직접 보는 화면을 구성하는 것이고</a:t>
            </a:r>
            <a:r>
              <a:rPr lang="en-US" altLang="ko-KR" dirty="0"/>
              <a:t>,</a:t>
            </a:r>
          </a:p>
          <a:p>
            <a:r>
              <a:rPr lang="ko-KR" altLang="en-US" dirty="0"/>
              <a:t>백은 화면이 아닌 그 </a:t>
            </a:r>
            <a:r>
              <a:rPr lang="ko-KR" altLang="en-US" dirty="0" err="1"/>
              <a:t>뒷편에서</a:t>
            </a:r>
            <a:r>
              <a:rPr lang="ko-KR" altLang="en-US" dirty="0"/>
              <a:t> 일어나는 일들을 구성하 것</a:t>
            </a:r>
            <a:r>
              <a:rPr lang="en-US" altLang="ko-KR" dirty="0"/>
              <a:t>.!</a:t>
            </a:r>
          </a:p>
          <a:p>
            <a:endParaRPr lang="en-US" altLang="ko-KR" dirty="0"/>
          </a:p>
          <a:p>
            <a:r>
              <a:rPr lang="ko-KR" altLang="en-US" dirty="0"/>
              <a:t>그렇다면 </a:t>
            </a:r>
            <a:r>
              <a:rPr lang="ko-KR" altLang="en-US" dirty="0" err="1"/>
              <a:t>백엔드는</a:t>
            </a:r>
            <a:r>
              <a:rPr lang="ko-KR" altLang="en-US" dirty="0"/>
              <a:t> 정확히 무슨 일을 하는데요</a:t>
            </a:r>
            <a:r>
              <a:rPr lang="en-US" altLang="ko-KR" dirty="0"/>
              <a:t>?</a:t>
            </a:r>
          </a:p>
          <a:p>
            <a:r>
              <a:rPr lang="ko-KR" altLang="en-US" dirty="0"/>
              <a:t>눈에 보이지 않는 정보</a:t>
            </a:r>
            <a:r>
              <a:rPr lang="en-US" altLang="ko-KR" dirty="0"/>
              <a:t>, </a:t>
            </a:r>
            <a:r>
              <a:rPr lang="ko-KR" altLang="en-US" dirty="0"/>
              <a:t>즉 데이터를 관리하는 역할을 </a:t>
            </a:r>
            <a:r>
              <a:rPr lang="ko-KR" altLang="en-US" dirty="0" err="1"/>
              <a:t>백엔드측에서</a:t>
            </a:r>
            <a:r>
              <a:rPr lang="ko-KR" altLang="en-US" dirty="0"/>
              <a:t> 하는 것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로그인을 하기 위해서 </a:t>
            </a:r>
            <a:r>
              <a:rPr lang="en-US" altLang="ko-KR" dirty="0"/>
              <a:t>id,</a:t>
            </a:r>
            <a:r>
              <a:rPr lang="ko-KR" altLang="en-US" dirty="0"/>
              <a:t> 비밀번호</a:t>
            </a:r>
            <a:r>
              <a:rPr lang="en-US" altLang="ko-KR" dirty="0"/>
              <a:t> </a:t>
            </a:r>
            <a:r>
              <a:rPr lang="ko-KR" altLang="en-US" dirty="0"/>
              <a:t>등의 </a:t>
            </a:r>
            <a:r>
              <a:rPr lang="ko-KR" altLang="en-US" dirty="0" err="1"/>
              <a:t>정보등이</a:t>
            </a:r>
            <a:r>
              <a:rPr lang="ko-KR" altLang="en-US" dirty="0"/>
              <a:t> 필요한데</a:t>
            </a:r>
            <a:r>
              <a:rPr lang="en-US" altLang="ko-KR" dirty="0"/>
              <a:t>, </a:t>
            </a:r>
            <a:r>
              <a:rPr lang="ko-KR" altLang="en-US" dirty="0"/>
              <a:t>이런 정보는 </a:t>
            </a:r>
            <a:r>
              <a:rPr lang="en-US" altLang="ko-KR" dirty="0"/>
              <a:t>DB </a:t>
            </a:r>
            <a:r>
              <a:rPr lang="ko-KR" altLang="en-US" dirty="0"/>
              <a:t>에 저장되어 있을 것</a:t>
            </a:r>
            <a:endParaRPr lang="en-US" altLang="ko-KR" dirty="0"/>
          </a:p>
          <a:p>
            <a:r>
              <a:rPr lang="ko-KR" altLang="en-US" dirty="0"/>
              <a:t>아니면 내가 어떤 블로그에 글을 썼다면 블로그 제목</a:t>
            </a:r>
            <a:r>
              <a:rPr lang="en-US" altLang="ko-KR" dirty="0"/>
              <a:t>, </a:t>
            </a:r>
            <a:r>
              <a:rPr lang="ko-KR" altLang="en-US" dirty="0"/>
              <a:t>내용에 대한 데이터가 데이터 베이스에 저장되어 있는 것</a:t>
            </a:r>
            <a:r>
              <a:rPr lang="en-US" altLang="ko-KR" dirty="0"/>
              <a:t>..</a:t>
            </a:r>
          </a:p>
          <a:p>
            <a:endParaRPr lang="en-US" altLang="ko-KR" dirty="0"/>
          </a:p>
          <a:p>
            <a:r>
              <a:rPr lang="ko-KR" altLang="en-US" dirty="0"/>
              <a:t>예를 들어 내가 어떤 블로그에서 </a:t>
            </a:r>
            <a:r>
              <a:rPr lang="en-US" altLang="ko-KR" u="sng" dirty="0"/>
              <a:t>API</a:t>
            </a:r>
            <a:r>
              <a:rPr lang="ko-KR" altLang="en-US" u="sng" dirty="0"/>
              <a:t>란 무엇인가</a:t>
            </a:r>
            <a:r>
              <a:rPr lang="en-US" altLang="ko-KR" u="sng" dirty="0"/>
              <a:t>?(</a:t>
            </a:r>
            <a:r>
              <a:rPr lang="ko-KR" altLang="en-US" u="sng" dirty="0"/>
              <a:t>라는 제목의</a:t>
            </a:r>
            <a:r>
              <a:rPr lang="en-US" altLang="ko-KR" u="sng" dirty="0"/>
              <a:t>)</a:t>
            </a:r>
          </a:p>
          <a:p>
            <a:r>
              <a:rPr lang="ko-KR" altLang="en-US" dirty="0"/>
              <a:t>라는 글을 선택해서 보고 싶다면</a:t>
            </a:r>
            <a:r>
              <a:rPr lang="en-US" altLang="ko-KR" dirty="0"/>
              <a:t>, </a:t>
            </a:r>
            <a:r>
              <a:rPr lang="ko-KR" altLang="en-US" dirty="0"/>
              <a:t>프론트에선 해당 글에 대한 정보를 서버에 요청하고</a:t>
            </a:r>
            <a:r>
              <a:rPr lang="en-US" altLang="ko-KR" dirty="0"/>
              <a:t>, </a:t>
            </a:r>
            <a:r>
              <a:rPr lang="ko-KR" altLang="en-US" dirty="0"/>
              <a:t>서버는 프론트가 요청한 정보를 프론트에 넘겨준다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30C9E-C456-4168-991F-BE6F4DF251AE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46901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웹이라든지</a:t>
            </a:r>
            <a:r>
              <a:rPr lang="ko-KR" altLang="en-US" dirty="0"/>
              <a:t> </a:t>
            </a:r>
            <a:r>
              <a:rPr lang="ko-KR" altLang="en-US" dirty="0" err="1"/>
              <a:t>앱이라든지</a:t>
            </a:r>
            <a:r>
              <a:rPr lang="ko-KR" altLang="en-US" dirty="0"/>
              <a:t> 하나의 애플리케이션은 보통 백과 프론트로 나뉘어져 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여러분이 알다시피 프론트는 사용자가 직접 보는 화면을 구성하는 것이고</a:t>
            </a:r>
            <a:r>
              <a:rPr lang="en-US" altLang="ko-KR" dirty="0"/>
              <a:t>,</a:t>
            </a:r>
          </a:p>
          <a:p>
            <a:r>
              <a:rPr lang="ko-KR" altLang="en-US" dirty="0"/>
              <a:t>백은 화면이 아닌 그 </a:t>
            </a:r>
            <a:r>
              <a:rPr lang="ko-KR" altLang="en-US" dirty="0" err="1"/>
              <a:t>뒷편에서</a:t>
            </a:r>
            <a:r>
              <a:rPr lang="ko-KR" altLang="en-US" dirty="0"/>
              <a:t> 일어나는 일들을 구성하 것</a:t>
            </a:r>
            <a:r>
              <a:rPr lang="en-US" altLang="ko-KR" dirty="0"/>
              <a:t>.!</a:t>
            </a:r>
          </a:p>
          <a:p>
            <a:endParaRPr lang="en-US" altLang="ko-KR" dirty="0"/>
          </a:p>
          <a:p>
            <a:r>
              <a:rPr lang="ko-KR" altLang="en-US" dirty="0"/>
              <a:t>그렇다면 </a:t>
            </a:r>
            <a:r>
              <a:rPr lang="ko-KR" altLang="en-US" dirty="0" err="1"/>
              <a:t>백엔드는</a:t>
            </a:r>
            <a:r>
              <a:rPr lang="ko-KR" altLang="en-US" dirty="0"/>
              <a:t> 정확히 무슨 일을 하는데요</a:t>
            </a:r>
            <a:r>
              <a:rPr lang="en-US" altLang="ko-KR" dirty="0"/>
              <a:t>?</a:t>
            </a:r>
          </a:p>
          <a:p>
            <a:r>
              <a:rPr lang="ko-KR" altLang="en-US" dirty="0"/>
              <a:t>눈에 보이지 않는 정보</a:t>
            </a:r>
            <a:r>
              <a:rPr lang="en-US" altLang="ko-KR" dirty="0"/>
              <a:t>, </a:t>
            </a:r>
            <a:r>
              <a:rPr lang="ko-KR" altLang="en-US" dirty="0"/>
              <a:t>즉 데이터를 관리하는 역할을 </a:t>
            </a:r>
            <a:r>
              <a:rPr lang="ko-KR" altLang="en-US" dirty="0" err="1"/>
              <a:t>백엔드측에서</a:t>
            </a:r>
            <a:r>
              <a:rPr lang="ko-KR" altLang="en-US" dirty="0"/>
              <a:t> 하는 것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로그인을 하기 위해서 </a:t>
            </a:r>
            <a:r>
              <a:rPr lang="en-US" altLang="ko-KR" dirty="0"/>
              <a:t>id,</a:t>
            </a:r>
            <a:r>
              <a:rPr lang="ko-KR" altLang="en-US" dirty="0"/>
              <a:t> 비밀번호</a:t>
            </a:r>
            <a:r>
              <a:rPr lang="en-US" altLang="ko-KR" dirty="0"/>
              <a:t> </a:t>
            </a:r>
            <a:r>
              <a:rPr lang="ko-KR" altLang="en-US" dirty="0"/>
              <a:t>등의 </a:t>
            </a:r>
            <a:r>
              <a:rPr lang="ko-KR" altLang="en-US" dirty="0" err="1"/>
              <a:t>정보등이</a:t>
            </a:r>
            <a:r>
              <a:rPr lang="ko-KR" altLang="en-US" dirty="0"/>
              <a:t> 필요한데</a:t>
            </a:r>
            <a:r>
              <a:rPr lang="en-US" altLang="ko-KR" dirty="0"/>
              <a:t>, </a:t>
            </a:r>
            <a:r>
              <a:rPr lang="ko-KR" altLang="en-US" dirty="0"/>
              <a:t>이런 정보는 </a:t>
            </a:r>
            <a:r>
              <a:rPr lang="en-US" altLang="ko-KR" dirty="0"/>
              <a:t>DB </a:t>
            </a:r>
            <a:r>
              <a:rPr lang="ko-KR" altLang="en-US" dirty="0"/>
              <a:t>에 저장되어 있을 것</a:t>
            </a:r>
            <a:endParaRPr lang="en-US" altLang="ko-KR" dirty="0"/>
          </a:p>
          <a:p>
            <a:r>
              <a:rPr lang="ko-KR" altLang="en-US" dirty="0"/>
              <a:t>아니면 내가 어떤 블로그에 글을 썼다면 블로그 제목</a:t>
            </a:r>
            <a:r>
              <a:rPr lang="en-US" altLang="ko-KR" dirty="0"/>
              <a:t>, </a:t>
            </a:r>
            <a:r>
              <a:rPr lang="ko-KR" altLang="en-US" dirty="0"/>
              <a:t>내용에 대한 데이터가 데이터 베이스에 저장되어 있는 것</a:t>
            </a:r>
            <a:r>
              <a:rPr lang="en-US" altLang="ko-KR" dirty="0"/>
              <a:t>..</a:t>
            </a:r>
          </a:p>
          <a:p>
            <a:endParaRPr lang="en-US" altLang="ko-KR" dirty="0"/>
          </a:p>
          <a:p>
            <a:r>
              <a:rPr lang="ko-KR" altLang="en-US" dirty="0"/>
              <a:t>예를 들어 내가 어떤 블로그에서 </a:t>
            </a:r>
            <a:r>
              <a:rPr lang="en-US" altLang="ko-KR" u="sng" dirty="0"/>
              <a:t>API</a:t>
            </a:r>
            <a:r>
              <a:rPr lang="ko-KR" altLang="en-US" u="sng" dirty="0"/>
              <a:t>란 무엇인가</a:t>
            </a:r>
            <a:r>
              <a:rPr lang="en-US" altLang="ko-KR" u="sng" dirty="0"/>
              <a:t>?(</a:t>
            </a:r>
            <a:r>
              <a:rPr lang="ko-KR" altLang="en-US" u="sng" dirty="0"/>
              <a:t>라는 제목의</a:t>
            </a:r>
            <a:r>
              <a:rPr lang="en-US" altLang="ko-KR" u="sng" dirty="0"/>
              <a:t>)</a:t>
            </a:r>
          </a:p>
          <a:p>
            <a:r>
              <a:rPr lang="ko-KR" altLang="en-US" dirty="0"/>
              <a:t>라는 글을 선택해서 보고 싶다면</a:t>
            </a:r>
            <a:r>
              <a:rPr lang="en-US" altLang="ko-KR" dirty="0"/>
              <a:t>, </a:t>
            </a:r>
            <a:r>
              <a:rPr lang="ko-KR" altLang="en-US" dirty="0"/>
              <a:t>프론트에선 해당 글에 대한 정보를 서버에 요청하고</a:t>
            </a:r>
            <a:r>
              <a:rPr lang="en-US" altLang="ko-KR" dirty="0"/>
              <a:t>, </a:t>
            </a:r>
            <a:r>
              <a:rPr lang="ko-KR" altLang="en-US" dirty="0"/>
              <a:t>서버는 프론트가 요청한 정보를 프론트에 넘겨준다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30C9E-C456-4168-991F-BE6F4DF251AE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37158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자원의 이름을 구분해서 어떤 요청을 </a:t>
            </a:r>
            <a:r>
              <a:rPr lang="ko-KR" altLang="en-US" dirty="0" err="1"/>
              <a:t>할건지</a:t>
            </a:r>
            <a:r>
              <a:rPr lang="ko-KR" altLang="en-US" dirty="0"/>
              <a:t> 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F30C9E-C456-4168-991F-BE6F4DF251AE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91938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4844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080511"/>
            <a:ext cx="9144000" cy="2387600"/>
          </a:xfrm>
        </p:spPr>
        <p:txBody>
          <a:bodyPr anchor="b"/>
          <a:lstStyle>
            <a:lvl1pPr algn="ctr">
              <a:defRPr sz="6000" b="1">
                <a:solidFill>
                  <a:srgbClr val="6EC173"/>
                </a:solidFill>
              </a:defRPr>
            </a:lvl1pPr>
          </a:lstStyle>
          <a:p>
            <a:r>
              <a:rPr lang="ko-KR" altLang="en-US" sz="6000" dirty="0" err="1"/>
              <a:t>과정명</a:t>
            </a:r>
            <a:endParaRPr lang="ko-KR" altLang="en-US" sz="60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741092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부제목</a:t>
            </a:r>
          </a:p>
        </p:txBody>
      </p:sp>
      <p:sp>
        <p:nvSpPr>
          <p:cNvPr id="11" name="날짜 개체 틀 10">
            <a:extLst>
              <a:ext uri="{FF2B5EF4-FFF2-40B4-BE49-F238E27FC236}">
                <a16:creationId xmlns:a16="http://schemas.microsoft.com/office/drawing/2014/main" id="{AAFCC098-95A8-6767-4379-8DD4626B9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12" name="바닥글 개체 틀 11">
            <a:extLst>
              <a:ext uri="{FF2B5EF4-FFF2-40B4-BE49-F238E27FC236}">
                <a16:creationId xmlns:a16="http://schemas.microsoft.com/office/drawing/2014/main" id="{51CCB6AA-ECDD-5B10-7505-0EFEAC9C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38B667F6-930A-7162-796D-3A16CE2AF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92A323E6-E95B-6EB2-7753-649DE78B1653}"/>
              </a:ext>
            </a:extLst>
          </p:cNvPr>
          <p:cNvSpPr txBox="1">
            <a:spLocks/>
          </p:cNvSpPr>
          <p:nvPr userDrawn="1"/>
        </p:nvSpPr>
        <p:spPr>
          <a:xfrm>
            <a:off x="6096000" y="2203895"/>
            <a:ext cx="3287846" cy="4585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ko-KR" sz="2400" dirty="0">
              <a:solidFill>
                <a:srgbClr val="6EC173"/>
              </a:solidFill>
            </a:endParaRPr>
          </a:p>
        </p:txBody>
      </p:sp>
      <p:pic>
        <p:nvPicPr>
          <p:cNvPr id="5" name="그림 4" descr="그래픽, 그래픽 디자인, 클립아트, 다채로움이(가) 표시된 사진&#10;&#10;자동 생성된 설명">
            <a:extLst>
              <a:ext uri="{FF2B5EF4-FFF2-40B4-BE49-F238E27FC236}">
                <a16:creationId xmlns:a16="http://schemas.microsoft.com/office/drawing/2014/main" id="{BE5A577B-81A7-2FA6-9E57-9DCEC5BF71F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6000" y="1461146"/>
            <a:ext cx="3600000" cy="3652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18678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파트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날짜 개체 틀 10">
            <a:extLst>
              <a:ext uri="{FF2B5EF4-FFF2-40B4-BE49-F238E27FC236}">
                <a16:creationId xmlns:a16="http://schemas.microsoft.com/office/drawing/2014/main" id="{AAFCC098-95A8-6767-4379-8DD4626B9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12" name="바닥글 개체 틀 11">
            <a:extLst>
              <a:ext uri="{FF2B5EF4-FFF2-40B4-BE49-F238E27FC236}">
                <a16:creationId xmlns:a16="http://schemas.microsoft.com/office/drawing/2014/main" id="{51CCB6AA-ECDD-5B10-7505-0EFEAC9C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38B667F6-930A-7162-796D-3A16CE2AF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92A323E6-E95B-6EB2-7753-649DE78B1653}"/>
              </a:ext>
            </a:extLst>
          </p:cNvPr>
          <p:cNvSpPr txBox="1">
            <a:spLocks/>
          </p:cNvSpPr>
          <p:nvPr userDrawn="1"/>
        </p:nvSpPr>
        <p:spPr>
          <a:xfrm>
            <a:off x="6096000" y="2203895"/>
            <a:ext cx="3287846" cy="4585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ko-KR" sz="2400" dirty="0">
              <a:solidFill>
                <a:srgbClr val="6EC173"/>
              </a:solidFill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838200" y="2598269"/>
            <a:ext cx="10515600" cy="1325563"/>
          </a:xfrm>
        </p:spPr>
        <p:txBody>
          <a:bodyPr>
            <a:noAutofit/>
          </a:bodyPr>
          <a:lstStyle>
            <a:lvl1pPr algn="ctr">
              <a:defRPr sz="8000" b="1">
                <a:solidFill>
                  <a:srgbClr val="6EC173"/>
                </a:solidFill>
              </a:defRPr>
            </a:lvl1pPr>
          </a:lstStyle>
          <a:p>
            <a:r>
              <a:rPr lang="ko-KR" altLang="en-US" dirty="0"/>
              <a:t>파트 제목</a:t>
            </a:r>
          </a:p>
        </p:txBody>
      </p:sp>
    </p:spTree>
    <p:extLst>
      <p:ext uri="{BB962C8B-B14F-4D97-AF65-F5344CB8AC3E}">
        <p14:creationId xmlns:p14="http://schemas.microsoft.com/office/powerpoint/2010/main" val="24290556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784D0C3-D33B-7107-AB80-D9F33099C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897DBF-398C-9DB6-E916-35AB4FE2F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55B8D2-7CD5-9B15-8E13-87FF760EC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제목 개체 틀 1">
            <a:extLst>
              <a:ext uri="{FF2B5EF4-FFF2-40B4-BE49-F238E27FC236}">
                <a16:creationId xmlns:a16="http://schemas.microsoft.com/office/drawing/2014/main" id="{964962A2-A4D4-9231-66A1-E1F593E60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3965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1562987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4601C5-2723-67A2-7D21-9F39D14C7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4B1E75F-8FF2-A69A-E094-650EAEFD04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331FDEF-673D-E199-7B54-FFD44BA29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A7087-D460-46DD-B430-F8D9B9677D08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6E7B47C-D16B-1F66-3165-B941B9C61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6F13A5C-BE81-C46F-5191-E33C5F066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94376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69A2ED-4026-CEC5-0F77-74287163E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95CA756-D15D-464E-966E-2DF9AA9796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FDC8A21-839F-87B3-9ABB-E0DA07E88E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B268EA5-E313-8CB5-4A12-914620F47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1BA25-D675-4234-A003-8449BDEEF18E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02797BB-0DAF-A25A-8AC2-46D61F5D6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48752A1-1625-10E7-A4F0-2E13719E4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2702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B7AE7F-26ED-35B6-1BBA-A08CB8ECE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588D8DD-7148-8B19-6172-B0A169CFC3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38CD1D6-87C8-BD82-7711-368227F17A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A208518-1B3C-A417-C6AC-99F9C66D12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D843F92-B722-06A6-9A56-0A03BE26CF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3532A15-9ECF-C043-5CC2-911757B5A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55C29-A87F-46F0-A24C-6C9F0A4BF6AA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9998F67-77F3-1632-EC3C-114B75C5A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AB6C1BB-6866-2A3B-A1F3-28B5D93C1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61008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899283-9B12-5339-3042-B6B67884B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97E34E6-ECFD-E5F2-081F-39427DA94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EDD62-8757-43DB-BAE0-460422B548EA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AE04029-E47F-F52E-AF1E-D31E2D400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3665754-DE22-245A-A4D5-FE78A35B0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19470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5E82391-47AE-B4C0-C4C4-22E5D9633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A871B-4800-495F-AC75-93D44C7DEBA5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69BF5EA-4922-4594-BC0D-A1D7F17A9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67BF1BF-296A-E655-349A-1877369A8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49128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094360-95AE-5B28-BF6B-212680601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6D97E12-A7FB-C81A-18C2-34781A0686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739CAA1-90A7-601C-BD90-A0DC6A391D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E885FF0-6BE8-F11D-CDAC-7E7B63F39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05888-30A6-49BB-95E2-DEAE4E5B09E9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3A67A35-AF67-BDC9-86E1-D6EE283B8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8C23707-35CC-08DC-8C13-06293DE52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29473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BD7A00-094E-C3F9-1A07-8FD90B7C9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FE9F136-9A64-0D06-F721-734E1E2244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5C3BE40-4202-4B4A-C8A7-24945AC6EE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DD21BA2-CA17-A4B0-BBDD-B3995CC85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39A32-5728-48B8-9F9C-437D214CCAF1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E5E2437-D7E8-6CA8-856B-7C81E4CF8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000DA3E-B239-6A01-347D-5321CBE95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09126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8DC3B4-86CF-2498-CC6E-A256E4AA6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1E0FE57-EEBD-DC2E-5AAA-A425A6D59E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C0A4B4C-46E0-9C94-5EAC-7237CB6A9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CC8BA-EBCB-4BF9-8E87-970CE0138376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16647A-6FF5-9F90-2812-CADD48405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F6AE80C-7F7A-130E-8BD8-5BA97658E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15446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58AC244-4A84-09D3-50FB-F934F9F479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03D64C9-D76D-C43E-C82B-A315CE73F3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40D0D7C-1A4D-433C-79F6-2C0633D1E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9FA6E-4699-4AC6-B2CB-4E60A58ED7A8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C3F9A77-28DF-C409-13B2-D20C80BB4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C466F88-F4F1-E00D-DC2A-8DBEA2707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0071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3965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57DE65-2350-3072-3D26-AE091FE723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47971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91C14A-5735-4A8B-B68B-DEC1DC2A3813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960F7DA-0F14-8211-C3E8-B6E466EE49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C8DDAAB-9487-BAAF-7209-B8E704131B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7971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4AD115-409A-442E-434C-D90831860530}"/>
              </a:ext>
            </a:extLst>
          </p:cNvPr>
          <p:cNvSpPr/>
          <p:nvPr userDrawn="1"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6EC173"/>
          </a:solidFill>
          <a:ln>
            <a:solidFill>
              <a:srgbClr val="6EC17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4" name="그림 13" descr="그래픽, 그래픽 디자인, 폰트, 원이(가) 표시된 사진&#10;&#10;자동 생성된 설명">
            <a:extLst>
              <a:ext uri="{FF2B5EF4-FFF2-40B4-BE49-F238E27FC236}">
                <a16:creationId xmlns:a16="http://schemas.microsoft.com/office/drawing/2014/main" id="{0EB71D7B-83F1-1414-954A-8C79751B7793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5681" y="96056"/>
            <a:ext cx="1260000" cy="270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6098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</p:sldLayoutIdLst>
  <p:hf hdr="0" ft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웹 개발자 부트캠프 과정</a:t>
            </a:r>
          </a:p>
        </p:txBody>
      </p:sp>
      <p:sp>
        <p:nvSpPr>
          <p:cNvPr id="8" name="부제목 7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sz="2800" dirty="0" err="1"/>
              <a:t>CodingOn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0223B3B-2FCF-58AF-BC81-E9824EB6B1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02FB7-A3D0-4BF4-B23F-90A4C3B73A56}" type="datetime6">
              <a:rPr lang="ko-KR" altLang="en-US" smtClean="0"/>
              <a:t>2024년 7월</a:t>
            </a:fld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C7112DC-52CD-A148-06F6-6813E1A67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02932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REST API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092178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6B06FC2-7691-E49D-7DB6-EDA50715DD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2400" b="1" dirty="0">
                <a:solidFill>
                  <a:schemeClr val="accent1"/>
                </a:solidFill>
              </a:rPr>
              <a:t>A</a:t>
            </a:r>
            <a:r>
              <a:rPr lang="en-US" altLang="ko-KR" sz="2400" dirty="0"/>
              <a:t>pplication </a:t>
            </a:r>
            <a:r>
              <a:rPr lang="en-US" altLang="ko-KR" sz="2400" b="1" dirty="0">
                <a:solidFill>
                  <a:schemeClr val="accent1"/>
                </a:solidFill>
              </a:rPr>
              <a:t>P</a:t>
            </a:r>
            <a:r>
              <a:rPr lang="en-US" altLang="ko-KR" sz="2400" dirty="0"/>
              <a:t>rogramming </a:t>
            </a:r>
            <a:r>
              <a:rPr lang="en-US" altLang="ko-KR" sz="2400" b="1" dirty="0">
                <a:solidFill>
                  <a:schemeClr val="accent1"/>
                </a:solidFill>
              </a:rPr>
              <a:t>I</a:t>
            </a:r>
            <a:r>
              <a:rPr lang="en-US" altLang="ko-KR" sz="2400" dirty="0"/>
              <a:t>nterface</a:t>
            </a:r>
          </a:p>
          <a:p>
            <a:r>
              <a:rPr lang="ko-KR" altLang="en-US" sz="2400" dirty="0"/>
              <a:t>한 프로그램에서 다른 프로그램으로 </a:t>
            </a:r>
            <a:r>
              <a:rPr lang="ko-KR" altLang="en-US" sz="2400" dirty="0">
                <a:solidFill>
                  <a:schemeClr val="accent1"/>
                </a:solidFill>
              </a:rPr>
              <a:t>정보를 주고받기 위한 규약</a:t>
            </a:r>
            <a:r>
              <a:rPr lang="en-US" altLang="ko-KR" sz="2400" dirty="0">
                <a:solidFill>
                  <a:schemeClr val="accent1"/>
                </a:solidFill>
              </a:rPr>
              <a:t>(</a:t>
            </a:r>
            <a:r>
              <a:rPr lang="ko-KR" altLang="en-US" sz="2400" dirty="0">
                <a:solidFill>
                  <a:schemeClr val="accent1"/>
                </a:solidFill>
              </a:rPr>
              <a:t>약속</a:t>
            </a:r>
            <a:r>
              <a:rPr lang="en-US" altLang="ko-KR" sz="2400" dirty="0">
                <a:solidFill>
                  <a:schemeClr val="accent1"/>
                </a:solidFill>
              </a:rPr>
              <a:t>)</a:t>
            </a:r>
          </a:p>
          <a:p>
            <a:r>
              <a:rPr lang="ko-KR" altLang="en-US" sz="2400" dirty="0"/>
              <a:t>모든 프로그램은 </a:t>
            </a:r>
            <a:r>
              <a:rPr lang="en-US" altLang="ko-KR" sz="2400" dirty="0"/>
              <a:t>API</a:t>
            </a:r>
            <a:r>
              <a:rPr lang="ko-KR" altLang="en-US" sz="2400" dirty="0"/>
              <a:t>를 가질 수 있음</a:t>
            </a:r>
            <a:endParaRPr lang="en-US" altLang="ko-KR" sz="2400" dirty="0"/>
          </a:p>
          <a:p>
            <a:pPr lvl="1"/>
            <a:r>
              <a:rPr lang="en-US" altLang="ko-KR" sz="2000" dirty="0"/>
              <a:t>Windows API: </a:t>
            </a:r>
            <a:r>
              <a:rPr lang="ko-KR" altLang="en-US" sz="2000" dirty="0"/>
              <a:t>윈도우 운영체제 기능 사용 가능 </a:t>
            </a:r>
            <a:r>
              <a:rPr lang="en-US" altLang="ko-KR" sz="2000" dirty="0"/>
              <a:t>(ex. </a:t>
            </a:r>
            <a:r>
              <a:rPr lang="ko-KR" altLang="en-US" sz="2000" dirty="0"/>
              <a:t>알림</a:t>
            </a:r>
            <a:r>
              <a:rPr lang="en-US" altLang="ko-KR" sz="2000" dirty="0"/>
              <a:t>, </a:t>
            </a:r>
            <a:r>
              <a:rPr lang="ko-KR" altLang="en-US" sz="2000" dirty="0"/>
              <a:t>설치</a:t>
            </a:r>
            <a:r>
              <a:rPr lang="en-US" altLang="ko-KR" sz="2000" dirty="0"/>
              <a:t>, </a:t>
            </a:r>
            <a:r>
              <a:rPr lang="ko-KR" altLang="en-US" sz="2000" dirty="0"/>
              <a:t>삭제 등</a:t>
            </a:r>
            <a:r>
              <a:rPr lang="en-US" altLang="ko-KR" sz="2000" dirty="0"/>
              <a:t>)</a:t>
            </a:r>
          </a:p>
          <a:p>
            <a:pPr lvl="1"/>
            <a:r>
              <a:rPr lang="en-US" altLang="ko-KR" sz="2000" dirty="0"/>
              <a:t>Database </a:t>
            </a:r>
            <a:r>
              <a:rPr lang="ko-KR" altLang="en-US" sz="2000" dirty="0"/>
              <a:t>관리 프로그램</a:t>
            </a:r>
            <a:r>
              <a:rPr lang="en-US" altLang="ko-KR" sz="2000" dirty="0"/>
              <a:t> API: DB </a:t>
            </a:r>
            <a:r>
              <a:rPr lang="ko-KR" altLang="en-US" sz="2000" dirty="0"/>
              <a:t>입출력 기능 사용 가능</a:t>
            </a:r>
            <a:endParaRPr lang="en-US" altLang="ko-KR" sz="2000" dirty="0"/>
          </a:p>
          <a:p>
            <a:pPr lvl="1"/>
            <a:r>
              <a:rPr lang="en-US" altLang="ko-KR" sz="2000" dirty="0"/>
              <a:t>XX </a:t>
            </a:r>
            <a:r>
              <a:rPr lang="ko-KR" altLang="en-US" sz="2000" dirty="0"/>
              <a:t>프로그램 </a:t>
            </a:r>
            <a:r>
              <a:rPr lang="en-US" altLang="ko-KR" sz="2000" dirty="0"/>
              <a:t>API: XX</a:t>
            </a:r>
            <a:r>
              <a:rPr lang="ko-KR" altLang="en-US" sz="2000" dirty="0"/>
              <a:t>를 사용 가능</a:t>
            </a:r>
            <a:endParaRPr lang="en-US" altLang="ko-KR" sz="2000" dirty="0"/>
          </a:p>
          <a:p>
            <a:pPr marL="0" indent="0">
              <a:buNone/>
            </a:pPr>
            <a:endParaRPr lang="en-US" altLang="ko-KR" sz="2400" dirty="0"/>
          </a:p>
          <a:p>
            <a:pPr marL="0" indent="0">
              <a:buNone/>
            </a:pPr>
            <a:endParaRPr lang="ko-KR" altLang="en-US" sz="2400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30F7B6B0-77FD-F1A9-F41A-FF4C39563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복습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r>
              <a:rPr lang="en-US" altLang="ko-KR" dirty="0"/>
              <a:t>API </a:t>
            </a:r>
            <a:r>
              <a:rPr lang="ko-KR" altLang="en-US" dirty="0"/>
              <a:t>란</a:t>
            </a:r>
            <a:r>
              <a:rPr lang="en-US" altLang="ko-KR" dirty="0"/>
              <a:t>?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900380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6B06FC2-7691-E49D-7DB6-EDA50715DD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6853"/>
            <a:ext cx="10515600" cy="4560110"/>
          </a:xfrm>
        </p:spPr>
        <p:txBody>
          <a:bodyPr>
            <a:normAutofit/>
          </a:bodyPr>
          <a:lstStyle/>
          <a:p>
            <a:r>
              <a:rPr lang="ko-KR" altLang="en-US" sz="2400" dirty="0"/>
              <a:t>웹 서비스 개발에 널리 사용되는 아키텍처 스타일</a:t>
            </a:r>
            <a:endParaRPr lang="en-US" altLang="ko-KR" sz="2400" dirty="0"/>
          </a:p>
          <a:p>
            <a:r>
              <a:rPr lang="en-US" altLang="ko-KR" sz="2400" dirty="0"/>
              <a:t>HTTP </a:t>
            </a:r>
            <a:r>
              <a:rPr lang="ko-KR" altLang="en-US" sz="2400" dirty="0"/>
              <a:t>프로토콜 위에서 동작</a:t>
            </a:r>
            <a:endParaRPr lang="en-US" altLang="ko-KR" sz="2400" dirty="0"/>
          </a:p>
          <a:p>
            <a:r>
              <a:rPr lang="en-US" altLang="ko-KR" sz="2400" dirty="0"/>
              <a:t>HTTP URI</a:t>
            </a:r>
            <a:r>
              <a:rPr lang="ko-KR" altLang="en-US" sz="2400" dirty="0"/>
              <a:t>를 통해 자원</a:t>
            </a:r>
            <a:r>
              <a:rPr lang="en-US" altLang="ko-KR" sz="2400" dirty="0"/>
              <a:t>(Resource) </a:t>
            </a:r>
            <a:r>
              <a:rPr lang="ko-KR" altLang="en-US" sz="2400" dirty="0"/>
              <a:t>명시</a:t>
            </a:r>
            <a:r>
              <a:rPr lang="en-US" altLang="ko-KR" sz="2400" dirty="0"/>
              <a:t>, HTTP Method</a:t>
            </a:r>
            <a:r>
              <a:rPr lang="ko-KR" altLang="en-US" sz="2400" dirty="0"/>
              <a:t>를 통해 자원에 대한 </a:t>
            </a:r>
            <a:r>
              <a:rPr lang="en-US" altLang="ko-KR" sz="2400" dirty="0"/>
              <a:t>CRUD </a:t>
            </a:r>
            <a:r>
              <a:rPr lang="ko-KR" altLang="en-US" sz="2400" dirty="0"/>
              <a:t>작업을</a:t>
            </a:r>
            <a:r>
              <a:rPr lang="en-US" altLang="ko-KR" sz="2400" dirty="0"/>
              <a:t> </a:t>
            </a:r>
            <a:r>
              <a:rPr lang="ko-KR" altLang="en-US" sz="2400" dirty="0"/>
              <a:t>수행</a:t>
            </a:r>
            <a:endParaRPr lang="en-US" altLang="ko-KR" sz="2400" dirty="0"/>
          </a:p>
          <a:p>
            <a:r>
              <a:rPr lang="ko-KR" altLang="en-US" sz="2400" dirty="0"/>
              <a:t>자원을 이름</a:t>
            </a:r>
            <a:r>
              <a:rPr lang="en-US" altLang="ko-KR" sz="2400" dirty="0"/>
              <a:t>(</a:t>
            </a:r>
            <a:r>
              <a:rPr lang="ko-KR" altLang="en-US" sz="2400" dirty="0"/>
              <a:t>자원의 표현</a:t>
            </a:r>
            <a:r>
              <a:rPr lang="en-US" altLang="ko-KR" sz="2400" dirty="0"/>
              <a:t>)</a:t>
            </a:r>
            <a:r>
              <a:rPr lang="ko-KR" altLang="en-US" sz="2400" dirty="0"/>
              <a:t>으로 구분하여 해당 자원의 상태</a:t>
            </a:r>
            <a:r>
              <a:rPr lang="en-US" altLang="ko-KR" sz="2400" dirty="0"/>
              <a:t>(</a:t>
            </a:r>
            <a:r>
              <a:rPr lang="ko-KR" altLang="en-US" sz="2400" dirty="0"/>
              <a:t>정보</a:t>
            </a:r>
            <a:r>
              <a:rPr lang="en-US" altLang="ko-KR" sz="2400" dirty="0"/>
              <a:t>)</a:t>
            </a:r>
            <a:r>
              <a:rPr lang="ko-KR" altLang="en-US" sz="2400" dirty="0"/>
              <a:t>를 주고 받는 모든 것을 의미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30F7B6B0-77FD-F1A9-F41A-FF4C39563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복습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r>
              <a:rPr lang="en-US" altLang="ko-KR" dirty="0"/>
              <a:t>REST</a:t>
            </a:r>
            <a:endParaRPr lang="ko-KR" altLang="en-US" dirty="0"/>
          </a:p>
        </p:txBody>
      </p:sp>
      <p:sp>
        <p:nvSpPr>
          <p:cNvPr id="4" name="직사각형 3"/>
          <p:cNvSpPr/>
          <p:nvPr/>
        </p:nvSpPr>
        <p:spPr>
          <a:xfrm>
            <a:off x="4415564" y="3981834"/>
            <a:ext cx="7526138" cy="206210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sz="1600" dirty="0"/>
              <a:t>resource(</a:t>
            </a:r>
            <a:r>
              <a:rPr lang="ko-KR" altLang="en-US" sz="1600" dirty="0"/>
              <a:t>자원</a:t>
            </a:r>
            <a:r>
              <a:rPr lang="en-US" altLang="ko-KR" sz="1600" dirty="0"/>
              <a:t>)? method?</a:t>
            </a:r>
          </a:p>
          <a:p>
            <a:pPr lvl="1"/>
            <a:r>
              <a:rPr lang="en-US" altLang="ko-KR" sz="1600" dirty="0"/>
              <a:t>resource : </a:t>
            </a:r>
            <a:r>
              <a:rPr lang="ko-KR" altLang="en-US" sz="1600" dirty="0"/>
              <a:t>내가 필요한 데이터</a:t>
            </a:r>
            <a:r>
              <a:rPr lang="en-US" altLang="ko-KR" sz="1600" dirty="0"/>
              <a:t>, </a:t>
            </a:r>
            <a:r>
              <a:rPr lang="ko-KR" altLang="en-US" sz="1600" dirty="0"/>
              <a:t>모든 데이터들은 특정 장소에 보관되어 있음 </a:t>
            </a:r>
            <a:br>
              <a:rPr lang="en-US" altLang="ko-KR" sz="1600" dirty="0"/>
            </a:br>
            <a:r>
              <a:rPr lang="en-US" altLang="ko-KR" sz="1600" dirty="0"/>
              <a:t>(HTTP URI</a:t>
            </a:r>
            <a:r>
              <a:rPr lang="ko-KR" altLang="en-US" sz="1600" dirty="0"/>
              <a:t>를 통해 자원을 명시</a:t>
            </a:r>
            <a:r>
              <a:rPr lang="en-US" altLang="ko-KR" sz="1600" dirty="0"/>
              <a:t>)</a:t>
            </a:r>
          </a:p>
          <a:p>
            <a:pPr lvl="1"/>
            <a:r>
              <a:rPr lang="en-US" altLang="ko-KR" sz="1600" dirty="0"/>
              <a:t>method : CRUD </a:t>
            </a:r>
            <a:r>
              <a:rPr lang="ko-KR" altLang="en-US" sz="1600" dirty="0"/>
              <a:t>중 어떤 방식으로 요청할 건지</a:t>
            </a:r>
            <a:br>
              <a:rPr lang="en-US" altLang="ko-KR" sz="1600" dirty="0"/>
            </a:br>
            <a:endParaRPr lang="en-US" altLang="ko-KR" sz="1400" dirty="0">
              <a:solidFill>
                <a:schemeClr val="accent6"/>
              </a:solidFill>
            </a:endParaRPr>
          </a:p>
          <a:p>
            <a:pPr lvl="1"/>
            <a:r>
              <a:rPr lang="en-US" altLang="ko-KR" sz="1400" dirty="0">
                <a:solidFill>
                  <a:schemeClr val="accent6"/>
                </a:solidFill>
              </a:rPr>
              <a:t>(</a:t>
            </a:r>
            <a:r>
              <a:rPr lang="ko-KR" altLang="en-US" sz="1400" dirty="0">
                <a:solidFill>
                  <a:schemeClr val="accent6"/>
                </a:solidFill>
              </a:rPr>
              <a:t>참고</a:t>
            </a:r>
            <a:r>
              <a:rPr lang="en-US" altLang="ko-KR" sz="1400" dirty="0">
                <a:solidFill>
                  <a:schemeClr val="accent6"/>
                </a:solidFill>
              </a:rPr>
              <a:t>)</a:t>
            </a:r>
            <a:r>
              <a:rPr lang="ko-KR" altLang="en-US" sz="1400" dirty="0">
                <a:solidFill>
                  <a:schemeClr val="accent6"/>
                </a:solidFill>
              </a:rPr>
              <a:t> </a:t>
            </a:r>
            <a:r>
              <a:rPr lang="en-US" altLang="ko-KR" dirty="0">
                <a:solidFill>
                  <a:schemeClr val="accent5"/>
                </a:solidFill>
              </a:rPr>
              <a:t>CRUD</a:t>
            </a:r>
          </a:p>
          <a:p>
            <a:pPr lvl="1"/>
            <a:r>
              <a:rPr lang="en-US" altLang="ko-KR" sz="1400" dirty="0">
                <a:solidFill>
                  <a:srgbClr val="FF0000"/>
                </a:solidFill>
              </a:rPr>
              <a:t>		</a:t>
            </a:r>
            <a:r>
              <a:rPr lang="en-US" altLang="ko-KR" sz="1400" dirty="0">
                <a:solidFill>
                  <a:schemeClr val="accent5"/>
                </a:solidFill>
              </a:rPr>
              <a:t>C</a:t>
            </a: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reate       </a:t>
            </a:r>
            <a:r>
              <a:rPr lang="en-US" altLang="ko-KR" sz="1400" dirty="0">
                <a:solidFill>
                  <a:schemeClr val="accent5"/>
                </a:solidFill>
              </a:rPr>
              <a:t>R</a:t>
            </a: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ead       </a:t>
            </a:r>
            <a:r>
              <a:rPr lang="en-US" altLang="ko-KR" sz="1400" dirty="0">
                <a:solidFill>
                  <a:schemeClr val="accent5"/>
                </a:solidFill>
              </a:rPr>
              <a:t>U</a:t>
            </a: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pdate       </a:t>
            </a:r>
            <a:r>
              <a:rPr lang="en-US" altLang="ko-KR" sz="1400" dirty="0">
                <a:solidFill>
                  <a:schemeClr val="accent5"/>
                </a:solidFill>
              </a:rPr>
              <a:t>D</a:t>
            </a: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elete</a:t>
            </a:r>
          </a:p>
          <a:p>
            <a:pPr lvl="1"/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블로그 </a:t>
            </a:r>
            <a:r>
              <a:rPr lang="ko-KR" alt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게시글</a:t>
            </a: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</a:t>
            </a: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생성          읽기           수정           삭제</a:t>
            </a:r>
            <a:endParaRPr lang="en-US" altLang="ko-KR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07739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653187"/>
            <a:ext cx="10515600" cy="4523776"/>
          </a:xfrm>
        </p:spPr>
        <p:txBody>
          <a:bodyPr>
            <a:normAutofit/>
          </a:bodyPr>
          <a:lstStyle/>
          <a:p>
            <a:r>
              <a:rPr lang="en-US" altLang="ko-KR" sz="2400" dirty="0"/>
              <a:t>representational state transfer API   </a:t>
            </a:r>
          </a:p>
          <a:p>
            <a:r>
              <a:rPr lang="en-US" altLang="ko-KR" sz="2400" dirty="0"/>
              <a:t>REST </a:t>
            </a:r>
            <a:r>
              <a:rPr lang="ko-KR" altLang="en-US" sz="2400" dirty="0"/>
              <a:t>아키텍처 스타일을 따르는 </a:t>
            </a:r>
            <a:r>
              <a:rPr lang="en-US" altLang="ko-KR" sz="2400" dirty="0"/>
              <a:t>API</a:t>
            </a:r>
          </a:p>
          <a:p>
            <a:pPr lvl="1"/>
            <a:r>
              <a:rPr lang="ko-KR" altLang="en-US" sz="2000" dirty="0"/>
              <a:t>즉</a:t>
            </a:r>
            <a:r>
              <a:rPr lang="en-US" altLang="ko-KR" sz="2000" dirty="0"/>
              <a:t>, </a:t>
            </a:r>
            <a:r>
              <a:rPr lang="ko-KR" altLang="en-US" sz="2000" dirty="0"/>
              <a:t>클라이언트와 서버 간의 통신 방식을 정의할 때 </a:t>
            </a:r>
            <a:r>
              <a:rPr lang="en-US" altLang="ko-KR" sz="2000" dirty="0"/>
              <a:t>REST </a:t>
            </a:r>
            <a:r>
              <a:rPr lang="ko-KR" altLang="en-US" sz="2000" dirty="0"/>
              <a:t>원칙을 따름</a:t>
            </a:r>
            <a:endParaRPr lang="en-US" altLang="ko-KR" sz="2000" dirty="0"/>
          </a:p>
          <a:p>
            <a:r>
              <a:rPr lang="en-US" altLang="ko-KR" sz="2400" b="1" dirty="0">
                <a:solidFill>
                  <a:schemeClr val="accent1"/>
                </a:solidFill>
              </a:rPr>
              <a:t>REST </a:t>
            </a:r>
            <a:r>
              <a:rPr lang="ko-KR" altLang="en-US" sz="2400" b="1" dirty="0">
                <a:solidFill>
                  <a:schemeClr val="accent1"/>
                </a:solidFill>
              </a:rPr>
              <a:t>기반으로 서비스 </a:t>
            </a:r>
            <a:r>
              <a:rPr lang="en-US" altLang="ko-KR" sz="2400" b="1" dirty="0">
                <a:solidFill>
                  <a:schemeClr val="accent1"/>
                </a:solidFill>
              </a:rPr>
              <a:t>API</a:t>
            </a:r>
            <a:r>
              <a:rPr lang="ko-KR" altLang="en-US" sz="2400" b="1" dirty="0">
                <a:solidFill>
                  <a:schemeClr val="accent1"/>
                </a:solidFill>
              </a:rPr>
              <a:t>를 구현</a:t>
            </a:r>
            <a:r>
              <a:rPr lang="ko-KR" altLang="en-US" sz="2400" dirty="0"/>
              <a:t>한 것</a:t>
            </a:r>
            <a:endParaRPr lang="en-US" altLang="ko-KR" sz="2400" dirty="0"/>
          </a:p>
          <a:p>
            <a:pPr lvl="1"/>
            <a:r>
              <a:rPr lang="en-US" altLang="ko-KR" sz="2000" dirty="0"/>
              <a:t>REST</a:t>
            </a:r>
            <a:r>
              <a:rPr lang="ko-KR" altLang="en-US" sz="2000" dirty="0"/>
              <a:t> </a:t>
            </a:r>
            <a:r>
              <a:rPr lang="ko-KR" altLang="en-US" sz="2000" dirty="0" err="1"/>
              <a:t>를</a:t>
            </a:r>
            <a:r>
              <a:rPr lang="ko-KR" altLang="en-US" sz="2000" dirty="0"/>
              <a:t> 적용한 웹 서비스를 </a:t>
            </a:r>
            <a:r>
              <a:rPr lang="en-US" altLang="ko-KR" sz="2000" b="1" dirty="0">
                <a:solidFill>
                  <a:schemeClr val="accent5"/>
                </a:solidFill>
              </a:rPr>
              <a:t>RESTful</a:t>
            </a:r>
            <a:r>
              <a:rPr lang="en-US" altLang="ko-KR" sz="2000" dirty="0">
                <a:solidFill>
                  <a:schemeClr val="accent5"/>
                </a:solidFill>
              </a:rPr>
              <a:t> </a:t>
            </a:r>
            <a:r>
              <a:rPr lang="ko-KR" altLang="en-US" sz="2000" dirty="0">
                <a:solidFill>
                  <a:schemeClr val="accent5"/>
                </a:solidFill>
              </a:rPr>
              <a:t>웹 서비스</a:t>
            </a:r>
            <a:r>
              <a:rPr lang="ko-KR" altLang="en-US" sz="2000" dirty="0"/>
              <a:t>라고 함</a:t>
            </a:r>
          </a:p>
          <a:p>
            <a:endParaRPr lang="en-US" altLang="ko-KR" sz="2400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복습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r>
              <a:rPr lang="en-US" altLang="ko-KR" dirty="0"/>
              <a:t>REST API</a:t>
            </a:r>
            <a:endParaRPr lang="ko-KR" alt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189F73D8-F527-672A-01DB-64A6E5796A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5050" y="3727771"/>
            <a:ext cx="8632579" cy="2449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29313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57321EC6-E234-AFEE-618E-9347C16A57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ko-KR" sz="2400" dirty="0">
                <a:solidFill>
                  <a:schemeClr val="accent1"/>
                </a:solidFill>
              </a:rPr>
              <a:t>URL</a:t>
            </a:r>
            <a:r>
              <a:rPr kumimoji="1" lang="ko-KR" altLang="en-US" sz="2400" dirty="0">
                <a:solidFill>
                  <a:schemeClr val="accent1"/>
                </a:solidFill>
              </a:rPr>
              <a:t>로 리소스 식별</a:t>
            </a:r>
            <a:endParaRPr kumimoji="1" lang="en-US" altLang="ko-KR" sz="2400" dirty="0">
              <a:solidFill>
                <a:schemeClr val="accent1"/>
              </a:solidFill>
            </a:endParaRPr>
          </a:p>
          <a:p>
            <a:pPr lvl="1"/>
            <a:r>
              <a:rPr kumimoji="1" lang="ko-KR" altLang="en-US" sz="2000" dirty="0" err="1"/>
              <a:t>투두</a:t>
            </a:r>
            <a:r>
              <a:rPr kumimoji="1" lang="ko-KR" altLang="en-US" sz="2000" dirty="0"/>
              <a:t> 리스트 목록을 식별하는 </a:t>
            </a:r>
            <a:r>
              <a:rPr kumimoji="1" lang="en-US" altLang="ko-KR" sz="2000" dirty="0"/>
              <a:t>URL</a:t>
            </a:r>
          </a:p>
          <a:p>
            <a:pPr lvl="1"/>
            <a:r>
              <a:rPr kumimoji="1" lang="en-US" altLang="ko-KR" sz="2000" dirty="0"/>
              <a:t>ex. http://codingon.example.com/todos </a:t>
            </a:r>
          </a:p>
          <a:p>
            <a:pPr lvl="1"/>
            <a:endParaRPr kumimoji="1" lang="en-US" altLang="ko-KR" sz="2000" dirty="0"/>
          </a:p>
          <a:p>
            <a:pPr lvl="1"/>
            <a:r>
              <a:rPr kumimoji="1" lang="en-US" altLang="ko-KR" sz="2000" dirty="0"/>
              <a:t>2</a:t>
            </a:r>
            <a:r>
              <a:rPr kumimoji="1" lang="ko-KR" altLang="en-US" sz="2000" dirty="0"/>
              <a:t>번 </a:t>
            </a:r>
            <a:r>
              <a:rPr kumimoji="1" lang="ko-KR" altLang="en-US" sz="2000" dirty="0" err="1"/>
              <a:t>투두</a:t>
            </a:r>
            <a:r>
              <a:rPr kumimoji="1" lang="ko-KR" altLang="en-US" sz="2000" dirty="0"/>
              <a:t> 리스트를 식별하는 </a:t>
            </a:r>
            <a:r>
              <a:rPr kumimoji="1" lang="en-US" altLang="ko-KR" sz="2000" dirty="0"/>
              <a:t>URL</a:t>
            </a:r>
          </a:p>
          <a:p>
            <a:pPr lvl="1"/>
            <a:r>
              <a:rPr kumimoji="1" lang="en-US" altLang="ko-KR" sz="2000" dirty="0"/>
              <a:t>ex. http://codingon.example.com/todos/t02</a:t>
            </a:r>
          </a:p>
          <a:p>
            <a:pPr lvl="1"/>
            <a:endParaRPr kumimoji="1" lang="en-US" altLang="ko-KR" sz="2000" dirty="0"/>
          </a:p>
          <a:p>
            <a:pPr lvl="1"/>
            <a:r>
              <a:rPr kumimoji="1" lang="ko-KR" altLang="en-US" sz="2000" dirty="0"/>
              <a:t>클래스 </a:t>
            </a:r>
            <a:r>
              <a:rPr kumimoji="1" lang="en-US" altLang="ko-KR" sz="2000" dirty="0"/>
              <a:t>04</a:t>
            </a:r>
            <a:r>
              <a:rPr kumimoji="1" lang="ko-KR" altLang="en-US" sz="2000" dirty="0"/>
              <a:t> 강의실의 </a:t>
            </a:r>
            <a:r>
              <a:rPr kumimoji="1" lang="ko-KR" altLang="en-US" sz="2000" dirty="0" err="1"/>
              <a:t>투두</a:t>
            </a:r>
            <a:r>
              <a:rPr kumimoji="1" lang="ko-KR" altLang="en-US" sz="2000" dirty="0"/>
              <a:t> 리스트를 식별하는 </a:t>
            </a:r>
            <a:r>
              <a:rPr kumimoji="1" lang="en-US" altLang="ko-KR" sz="2000" dirty="0"/>
              <a:t>URL</a:t>
            </a:r>
          </a:p>
          <a:p>
            <a:pPr lvl="1"/>
            <a:r>
              <a:rPr kumimoji="1" lang="en-US" altLang="ko-KR" sz="2000" dirty="0"/>
              <a:t>ex. http://</a:t>
            </a:r>
            <a:r>
              <a:rPr kumimoji="1" lang="en-US" altLang="ko-KR" sz="2000" dirty="0" err="1"/>
              <a:t>codingon.co.kr</a:t>
            </a:r>
            <a:r>
              <a:rPr kumimoji="1" lang="en-US" altLang="ko-KR" sz="2000" dirty="0"/>
              <a:t>/class/c04/</a:t>
            </a:r>
            <a:r>
              <a:rPr kumimoji="1" lang="en-US" altLang="ko-KR" sz="2000" dirty="0" err="1"/>
              <a:t>todos</a:t>
            </a:r>
            <a:r>
              <a:rPr kumimoji="1" lang="en-US" altLang="ko-KR" sz="2000" dirty="0"/>
              <a:t>/t02</a:t>
            </a:r>
            <a:endParaRPr kumimoji="1" lang="ko-KR" altLang="en-US" sz="2000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6C1D942-1167-89C6-1C92-B71008F00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9CA1886-1701-DD9A-7034-1E56C05E1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66FB6B43-289F-8EC0-DE07-822C88E5A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REST </a:t>
            </a:r>
            <a:r>
              <a:rPr kumimoji="1" lang="ko-KR" altLang="en-US" dirty="0"/>
              <a:t>규칙 </a:t>
            </a:r>
            <a:r>
              <a:rPr kumimoji="1" lang="en-US" altLang="ko-KR" dirty="0"/>
              <a:t>(1)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623329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57321EC6-E234-AFEE-618E-9347C16A57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ko-KR" sz="2400" dirty="0">
                <a:solidFill>
                  <a:schemeClr val="accent1"/>
                </a:solidFill>
              </a:rPr>
              <a:t>HTTP </a:t>
            </a:r>
            <a:r>
              <a:rPr kumimoji="1" lang="ko-KR" altLang="en-US" sz="2400" dirty="0">
                <a:solidFill>
                  <a:schemeClr val="accent1"/>
                </a:solidFill>
              </a:rPr>
              <a:t>메서드로 리소스 조작</a:t>
            </a:r>
            <a:endParaRPr kumimoji="1" lang="en-US" altLang="ko-KR" sz="2400" dirty="0">
              <a:solidFill>
                <a:schemeClr val="accent1"/>
              </a:solidFill>
            </a:endParaRPr>
          </a:p>
          <a:p>
            <a:pPr lvl="1"/>
            <a:r>
              <a:rPr kumimoji="1" lang="en-US" altLang="ko-KR" sz="2000" b="1" dirty="0"/>
              <a:t>GET</a:t>
            </a:r>
            <a:r>
              <a:rPr kumimoji="1" lang="ko-KR" altLang="en-US" sz="2000" dirty="0"/>
              <a:t> </a:t>
            </a:r>
            <a:r>
              <a:rPr kumimoji="1" lang="en-US" altLang="ko-KR" sz="2000" dirty="0"/>
              <a:t>:</a:t>
            </a:r>
            <a:r>
              <a:rPr kumimoji="1" lang="ko-KR" altLang="en-US" sz="2000" dirty="0"/>
              <a:t> 조회</a:t>
            </a:r>
            <a:endParaRPr kumimoji="1" lang="en-US" altLang="ko-KR" sz="2000" dirty="0"/>
          </a:p>
          <a:p>
            <a:pPr lvl="1"/>
            <a:r>
              <a:rPr kumimoji="1" lang="en-US" altLang="ko-KR" sz="2000" b="1" dirty="0"/>
              <a:t>POST</a:t>
            </a:r>
            <a:r>
              <a:rPr kumimoji="1" lang="en-US" altLang="ko-KR" sz="2000" dirty="0"/>
              <a:t> : </a:t>
            </a:r>
            <a:r>
              <a:rPr kumimoji="1" lang="ko-KR" altLang="en-US" sz="2000" dirty="0"/>
              <a:t>생성</a:t>
            </a:r>
            <a:endParaRPr kumimoji="1" lang="en-US" altLang="ko-KR" sz="2000" dirty="0"/>
          </a:p>
          <a:p>
            <a:pPr lvl="1"/>
            <a:r>
              <a:rPr kumimoji="1" lang="en-US" altLang="ko-KR" sz="2000" b="1" dirty="0"/>
              <a:t>PUT</a:t>
            </a:r>
            <a:r>
              <a:rPr kumimoji="1" lang="en-US" altLang="ko-KR" sz="2000" dirty="0"/>
              <a:t>,</a:t>
            </a:r>
            <a:r>
              <a:rPr kumimoji="1" lang="ko-KR" altLang="en-US" sz="2000" dirty="0"/>
              <a:t> </a:t>
            </a:r>
            <a:r>
              <a:rPr kumimoji="1" lang="en-US" altLang="ko-KR" sz="2000" b="1" dirty="0"/>
              <a:t>PATCH</a:t>
            </a:r>
            <a:r>
              <a:rPr kumimoji="1" lang="ko-KR" altLang="en-US" sz="2000" dirty="0"/>
              <a:t> </a:t>
            </a:r>
            <a:r>
              <a:rPr kumimoji="1" lang="en-US" altLang="ko-KR" sz="2000" dirty="0"/>
              <a:t>:</a:t>
            </a:r>
            <a:r>
              <a:rPr kumimoji="1" lang="ko-KR" altLang="en-US" sz="2000" dirty="0"/>
              <a:t> 수정</a:t>
            </a:r>
            <a:endParaRPr kumimoji="1" lang="en-US" altLang="ko-KR" sz="2000" dirty="0"/>
          </a:p>
          <a:p>
            <a:pPr lvl="1"/>
            <a:r>
              <a:rPr kumimoji="1" lang="en-US" altLang="ko-KR" sz="2000" b="1" dirty="0"/>
              <a:t>DELETE</a:t>
            </a:r>
            <a:r>
              <a:rPr kumimoji="1" lang="ko-KR" altLang="en-US" sz="2000" dirty="0"/>
              <a:t> </a:t>
            </a:r>
            <a:r>
              <a:rPr kumimoji="1" lang="en-US" altLang="ko-KR" sz="2000" dirty="0"/>
              <a:t>:</a:t>
            </a:r>
            <a:r>
              <a:rPr kumimoji="1" lang="ko-KR" altLang="en-US" sz="2000" dirty="0"/>
              <a:t> 삭제</a:t>
            </a:r>
            <a:endParaRPr kumimoji="1" lang="en-US" altLang="ko-KR" sz="2000" dirty="0"/>
          </a:p>
          <a:p>
            <a:pPr lvl="1"/>
            <a:endParaRPr kumimoji="1" lang="en-US" altLang="ko-KR" sz="2000" dirty="0"/>
          </a:p>
          <a:p>
            <a:r>
              <a:rPr kumimoji="1" lang="en-US" altLang="ko-KR" sz="2400" dirty="0"/>
              <a:t>Quiz. </a:t>
            </a:r>
            <a:r>
              <a:rPr kumimoji="1" lang="en-US" altLang="ko-KR" sz="2400" i="1" u="sng" dirty="0"/>
              <a:t>POST</a:t>
            </a:r>
            <a:r>
              <a:rPr kumimoji="1" lang="ko-KR" altLang="en-US" sz="2400" i="1" u="sng" dirty="0"/>
              <a:t> </a:t>
            </a:r>
            <a:r>
              <a:rPr kumimoji="1" lang="en-US" altLang="ko-KR" sz="2400" i="1" u="sng" dirty="0"/>
              <a:t>http://</a:t>
            </a:r>
            <a:r>
              <a:rPr kumimoji="1" lang="en-US" altLang="ko-KR" sz="2400" i="1" u="sng" dirty="0" err="1"/>
              <a:t>codingon.example.com</a:t>
            </a:r>
            <a:r>
              <a:rPr kumimoji="1" lang="en-US" altLang="ko-KR" sz="2400" i="1" u="sng" dirty="0"/>
              <a:t>/</a:t>
            </a:r>
            <a:r>
              <a:rPr kumimoji="1" lang="en-US" altLang="ko-KR" sz="2400" i="1" u="sng" dirty="0" err="1"/>
              <a:t>todos</a:t>
            </a:r>
            <a:r>
              <a:rPr kumimoji="1" lang="en-US" altLang="ko-KR" sz="2400" i="1" u="sng" dirty="0"/>
              <a:t>/t100</a:t>
            </a:r>
            <a:r>
              <a:rPr kumimoji="1" lang="ko-KR" altLang="en-US" sz="2400" dirty="0"/>
              <a:t> 요청의 의미는</a:t>
            </a:r>
            <a:r>
              <a:rPr kumimoji="1" lang="en-US" altLang="ko-KR" sz="2400" dirty="0"/>
              <a:t>?</a:t>
            </a:r>
          </a:p>
          <a:p>
            <a:pPr lvl="1"/>
            <a:r>
              <a:rPr kumimoji="1" lang="en-US" altLang="ko-KR" sz="2000" dirty="0"/>
              <a:t>T100 </a:t>
            </a:r>
            <a:r>
              <a:rPr kumimoji="1" lang="ko-KR" altLang="en-US" sz="2000" dirty="0" err="1"/>
              <a:t>투두를</a:t>
            </a:r>
            <a:r>
              <a:rPr kumimoji="1" lang="ko-KR" altLang="en-US" sz="2000" dirty="0"/>
              <a:t> 생성하는 요청</a:t>
            </a:r>
            <a:endParaRPr kumimoji="1" lang="en-US" altLang="ko-KR" sz="2000" dirty="0"/>
          </a:p>
          <a:p>
            <a:endParaRPr kumimoji="1" lang="en-US" altLang="ko-KR" sz="2400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6C1D942-1167-89C6-1C92-B71008F00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9CA1886-1701-DD9A-7034-1E56C05E1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66FB6B43-289F-8EC0-DE07-822C88E5A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REST </a:t>
            </a:r>
            <a:r>
              <a:rPr kumimoji="1" lang="ko-KR" altLang="en-US" dirty="0"/>
              <a:t>규칙 </a:t>
            </a:r>
            <a:r>
              <a:rPr kumimoji="1" lang="en-US" altLang="ko-KR" dirty="0"/>
              <a:t>(2)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39329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57321EC6-E234-AFEE-618E-9347C16A57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>
            <a:normAutofit/>
          </a:bodyPr>
          <a:lstStyle/>
          <a:p>
            <a:r>
              <a:rPr kumimoji="1" lang="en-US" altLang="ko-KR" sz="2400" b="1" dirty="0">
                <a:solidFill>
                  <a:schemeClr val="accent5"/>
                </a:solidFill>
              </a:rPr>
              <a:t>Request</a:t>
            </a:r>
            <a:r>
              <a:rPr kumimoji="1" lang="en-US" altLang="ko-KR" sz="2400" dirty="0"/>
              <a:t> </a:t>
            </a:r>
            <a:r>
              <a:rPr kumimoji="1" lang="ko-KR" altLang="en-US" sz="2400" dirty="0"/>
              <a:t>의 데이터 형식</a:t>
            </a:r>
            <a:endParaRPr kumimoji="1" lang="en-US" altLang="ko-KR" sz="2400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6C1D942-1167-89C6-1C92-B71008F00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9CA1886-1701-DD9A-7034-1E56C05E1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66FB6B43-289F-8EC0-DE07-822C88E5A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REST </a:t>
            </a:r>
            <a:r>
              <a:rPr kumimoji="1" lang="ko-KR" altLang="en-US" dirty="0"/>
              <a:t>규칙 </a:t>
            </a:r>
            <a:r>
              <a:rPr kumimoji="1" lang="en-US" altLang="ko-KR" dirty="0"/>
              <a:t>(3)</a:t>
            </a:r>
            <a:endParaRPr kumimoji="1"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991934-6161-19F3-FEF0-A0204B3A08D3}"/>
              </a:ext>
            </a:extLst>
          </p:cNvPr>
          <p:cNvSpPr txBox="1"/>
          <p:nvPr/>
        </p:nvSpPr>
        <p:spPr>
          <a:xfrm>
            <a:off x="1058092" y="2452802"/>
            <a:ext cx="3658874" cy="28931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ko-KR" altLang="en-US" sz="1600" dirty="0"/>
              <a:t>POST /</a:t>
            </a:r>
            <a:r>
              <a:rPr lang="ko-KR" altLang="en-US" sz="1600" dirty="0" err="1"/>
              <a:t>api</a:t>
            </a:r>
            <a:r>
              <a:rPr lang="ko-KR" altLang="en-US" sz="1600" dirty="0"/>
              <a:t>/</a:t>
            </a:r>
            <a:r>
              <a:rPr lang="ko-KR" altLang="en-US" sz="1600" dirty="0" err="1"/>
              <a:t>users</a:t>
            </a:r>
            <a:r>
              <a:rPr lang="ko-KR" altLang="en-US" sz="1600" dirty="0"/>
              <a:t> HTTP/1.1</a:t>
            </a:r>
          </a:p>
          <a:p>
            <a:r>
              <a:rPr lang="ko-KR" altLang="en-US" sz="1600" dirty="0"/>
              <a:t>Host: </a:t>
            </a:r>
            <a:r>
              <a:rPr lang="ko-KR" altLang="en-US" sz="1600" dirty="0" err="1"/>
              <a:t>example.com</a:t>
            </a:r>
            <a:endParaRPr lang="ko-KR" altLang="en-US" sz="1600" dirty="0"/>
          </a:p>
          <a:p>
            <a:r>
              <a:rPr lang="ko-KR" altLang="en-US" sz="1600" dirty="0" err="1"/>
              <a:t>User-Agent</a:t>
            </a:r>
            <a:r>
              <a:rPr lang="ko-KR" altLang="en-US" sz="1600" dirty="0"/>
              <a:t>: </a:t>
            </a:r>
            <a:r>
              <a:rPr lang="ko-KR" altLang="en-US" sz="1600" dirty="0" err="1"/>
              <a:t>Mozilla</a:t>
            </a:r>
            <a:r>
              <a:rPr lang="ko-KR" altLang="en-US" sz="1600" dirty="0"/>
              <a:t>/5.0</a:t>
            </a:r>
          </a:p>
          <a:p>
            <a:r>
              <a:rPr lang="ko-KR" altLang="en-US" sz="1600" dirty="0" err="1"/>
              <a:t>Content-Type</a:t>
            </a:r>
            <a:r>
              <a:rPr lang="ko-KR" altLang="en-US" sz="1600" dirty="0"/>
              <a:t>: </a:t>
            </a:r>
            <a:r>
              <a:rPr lang="ko-KR" altLang="en-US" sz="1600" dirty="0" err="1"/>
              <a:t>application</a:t>
            </a:r>
            <a:r>
              <a:rPr lang="ko-KR" altLang="en-US" sz="1600" dirty="0"/>
              <a:t>/</a:t>
            </a:r>
            <a:r>
              <a:rPr lang="ko-KR" altLang="en-US" sz="1600" dirty="0" err="1"/>
              <a:t>json</a:t>
            </a:r>
            <a:endParaRPr lang="ko-KR" altLang="en-US" sz="1600" dirty="0"/>
          </a:p>
          <a:p>
            <a:r>
              <a:rPr lang="ko-KR" altLang="en-US" sz="1600" dirty="0" err="1"/>
              <a:t>Content-Length</a:t>
            </a:r>
            <a:r>
              <a:rPr lang="ko-KR" altLang="en-US" sz="1600" dirty="0"/>
              <a:t>: 57</a:t>
            </a:r>
          </a:p>
          <a:p>
            <a:r>
              <a:rPr lang="ko-KR" altLang="en-US" sz="1600" dirty="0" err="1"/>
              <a:t>Accept</a:t>
            </a:r>
            <a:r>
              <a:rPr lang="ko-KR" altLang="en-US" sz="1600" dirty="0"/>
              <a:t>: </a:t>
            </a:r>
            <a:r>
              <a:rPr lang="ko-KR" altLang="en-US" sz="1600" dirty="0" err="1"/>
              <a:t>application</a:t>
            </a:r>
            <a:r>
              <a:rPr lang="ko-KR" altLang="en-US" sz="1600" dirty="0"/>
              <a:t>/</a:t>
            </a:r>
            <a:r>
              <a:rPr lang="ko-KR" altLang="en-US" sz="1600" dirty="0" err="1"/>
              <a:t>json</a:t>
            </a:r>
            <a:endParaRPr lang="ko-KR" altLang="en-US" sz="1600" dirty="0"/>
          </a:p>
          <a:p>
            <a:endParaRPr lang="ko-KR" altLang="en-US" sz="1600" dirty="0"/>
          </a:p>
          <a:p>
            <a:r>
              <a:rPr lang="ko-KR" altLang="en-US" sz="1600" dirty="0"/>
              <a:t>{</a:t>
            </a:r>
          </a:p>
          <a:p>
            <a:r>
              <a:rPr lang="ko-KR" altLang="en-US" sz="1600" dirty="0"/>
              <a:t>  "</a:t>
            </a:r>
            <a:r>
              <a:rPr lang="ko-KR" altLang="en-US" sz="1600" dirty="0" err="1"/>
              <a:t>name</a:t>
            </a:r>
            <a:r>
              <a:rPr lang="ko-KR" altLang="en-US" sz="1600" dirty="0"/>
              <a:t>": "</a:t>
            </a:r>
            <a:r>
              <a:rPr lang="ko-KR" altLang="en-US" sz="1600" dirty="0" err="1"/>
              <a:t>Jane</a:t>
            </a:r>
            <a:r>
              <a:rPr lang="ko-KR" altLang="en-US" sz="1600" dirty="0"/>
              <a:t> </a:t>
            </a:r>
            <a:r>
              <a:rPr lang="ko-KR" altLang="en-US" sz="1600" dirty="0" err="1"/>
              <a:t>Doe</a:t>
            </a:r>
            <a:r>
              <a:rPr lang="ko-KR" altLang="en-US" sz="1600" dirty="0"/>
              <a:t>",</a:t>
            </a:r>
          </a:p>
          <a:p>
            <a:r>
              <a:rPr lang="ko-KR" altLang="en-US" sz="1600" dirty="0"/>
              <a:t>  "</a:t>
            </a:r>
            <a:r>
              <a:rPr lang="ko-KR" altLang="en-US" sz="1600" dirty="0" err="1"/>
              <a:t>email</a:t>
            </a:r>
            <a:r>
              <a:rPr lang="ko-KR" altLang="en-US" sz="1600" dirty="0"/>
              <a:t>": "</a:t>
            </a:r>
            <a:r>
              <a:rPr lang="ko-KR" altLang="en-US" sz="1600" dirty="0" err="1"/>
              <a:t>jane.doe@example.com</a:t>
            </a:r>
            <a:r>
              <a:rPr lang="ko-KR" altLang="en-US" sz="1600" dirty="0"/>
              <a:t>"</a:t>
            </a:r>
          </a:p>
          <a:p>
            <a:r>
              <a:rPr lang="ko-KR" altLang="en-US" sz="1600" dirty="0"/>
              <a:t>}</a:t>
            </a:r>
          </a:p>
        </p:txBody>
      </p:sp>
      <p:sp>
        <p:nvSpPr>
          <p:cNvPr id="8" name="오른쪽 중괄호[R] 7">
            <a:extLst>
              <a:ext uri="{FF2B5EF4-FFF2-40B4-BE49-F238E27FC236}">
                <a16:creationId xmlns:a16="http://schemas.microsoft.com/office/drawing/2014/main" id="{D8FF0C47-0A8B-C415-7A03-C4F07C24FC24}"/>
              </a:ext>
            </a:extLst>
          </p:cNvPr>
          <p:cNvSpPr/>
          <p:nvPr/>
        </p:nvSpPr>
        <p:spPr>
          <a:xfrm>
            <a:off x="4553733" y="2452802"/>
            <a:ext cx="163233" cy="312700"/>
          </a:xfrm>
          <a:prstGeom prst="righ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9" name="오른쪽 중괄호[R] 8">
            <a:extLst>
              <a:ext uri="{FF2B5EF4-FFF2-40B4-BE49-F238E27FC236}">
                <a16:creationId xmlns:a16="http://schemas.microsoft.com/office/drawing/2014/main" id="{59860CEC-C0B9-CF72-9FE2-6C10C602AB8F}"/>
              </a:ext>
            </a:extLst>
          </p:cNvPr>
          <p:cNvSpPr/>
          <p:nvPr/>
        </p:nvSpPr>
        <p:spPr>
          <a:xfrm>
            <a:off x="4568443" y="2844474"/>
            <a:ext cx="148522" cy="1107931"/>
          </a:xfrm>
          <a:prstGeom prst="righ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0" name="오른쪽 중괄호[R] 9">
            <a:extLst>
              <a:ext uri="{FF2B5EF4-FFF2-40B4-BE49-F238E27FC236}">
                <a16:creationId xmlns:a16="http://schemas.microsoft.com/office/drawing/2014/main" id="{9BC4B3A0-9B1E-FDB5-CEF2-B42D435EFB88}"/>
              </a:ext>
            </a:extLst>
          </p:cNvPr>
          <p:cNvSpPr/>
          <p:nvPr/>
        </p:nvSpPr>
        <p:spPr>
          <a:xfrm>
            <a:off x="4560715" y="4216104"/>
            <a:ext cx="163233" cy="923298"/>
          </a:xfrm>
          <a:prstGeom prst="righ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D575E36-854F-1998-622F-AD6799773F30}"/>
              </a:ext>
            </a:extLst>
          </p:cNvPr>
          <p:cNvSpPr txBox="1"/>
          <p:nvPr/>
        </p:nvSpPr>
        <p:spPr>
          <a:xfrm>
            <a:off x="4716966" y="2452802"/>
            <a:ext cx="1160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>
                <a:solidFill>
                  <a:schemeClr val="accent1"/>
                </a:solidFill>
              </a:rPr>
              <a:t>요청 라인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330A7F1-C4BF-D017-CA5E-D9B56B9DF70D}"/>
              </a:ext>
            </a:extLst>
          </p:cNvPr>
          <p:cNvSpPr txBox="1"/>
          <p:nvPr/>
        </p:nvSpPr>
        <p:spPr>
          <a:xfrm>
            <a:off x="4723948" y="3264645"/>
            <a:ext cx="1160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>
                <a:solidFill>
                  <a:schemeClr val="accent1"/>
                </a:solidFill>
              </a:rPr>
              <a:t>요청 헤더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AB56C7C-EA29-891F-9B61-BA73C874B88C}"/>
              </a:ext>
            </a:extLst>
          </p:cNvPr>
          <p:cNvSpPr txBox="1"/>
          <p:nvPr/>
        </p:nvSpPr>
        <p:spPr>
          <a:xfrm>
            <a:off x="4716965" y="4511852"/>
            <a:ext cx="1160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>
                <a:solidFill>
                  <a:schemeClr val="accent1"/>
                </a:solidFill>
              </a:rPr>
              <a:t>요청 바디</a:t>
            </a:r>
          </a:p>
        </p:txBody>
      </p:sp>
      <p:sp>
        <p:nvSpPr>
          <p:cNvPr id="15" name="내용 개체 틀 1">
            <a:extLst>
              <a:ext uri="{FF2B5EF4-FFF2-40B4-BE49-F238E27FC236}">
                <a16:creationId xmlns:a16="http://schemas.microsoft.com/office/drawing/2014/main" id="{E62EA324-7B83-C72A-EB46-375D42E319E5}"/>
              </a:ext>
            </a:extLst>
          </p:cNvPr>
          <p:cNvSpPr txBox="1">
            <a:spLocks/>
          </p:cNvSpPr>
          <p:nvPr/>
        </p:nvSpPr>
        <p:spPr>
          <a:xfrm>
            <a:off x="6244523" y="1825625"/>
            <a:ext cx="5257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ko-KR" sz="2400" b="1" dirty="0">
                <a:solidFill>
                  <a:schemeClr val="accent3"/>
                </a:solidFill>
              </a:rPr>
              <a:t>Response</a:t>
            </a:r>
            <a:r>
              <a:rPr kumimoji="1" lang="en-US" altLang="ko-KR" sz="2400" dirty="0"/>
              <a:t> </a:t>
            </a:r>
            <a:r>
              <a:rPr kumimoji="1" lang="ko-KR" altLang="en-US" sz="2400" dirty="0"/>
              <a:t>의 데이터 형식</a:t>
            </a:r>
            <a:endParaRPr kumimoji="1" lang="en-US" altLang="ko-KR" sz="24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92E21C6-87E2-A007-BBC9-88AF3BB5A872}"/>
              </a:ext>
            </a:extLst>
          </p:cNvPr>
          <p:cNvSpPr txBox="1"/>
          <p:nvPr/>
        </p:nvSpPr>
        <p:spPr>
          <a:xfrm>
            <a:off x="6464416" y="2452802"/>
            <a:ext cx="3606176" cy="367023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" altLang="ko-KR" sz="1550" dirty="0"/>
              <a:t>HTTP/1.1 201 Created</a:t>
            </a:r>
          </a:p>
          <a:p>
            <a:r>
              <a:rPr lang="en" altLang="ko-KR" sz="1550" dirty="0"/>
              <a:t>Date: Mon, 08 Jul 2024 12:30:15 GMT</a:t>
            </a:r>
          </a:p>
          <a:p>
            <a:r>
              <a:rPr lang="en" altLang="ko-KR" sz="1550" dirty="0"/>
              <a:t>Server: Apache/2.4.41 (Ubuntu)</a:t>
            </a:r>
          </a:p>
          <a:p>
            <a:r>
              <a:rPr lang="en" altLang="ko-KR" sz="1550" dirty="0"/>
              <a:t>Content-Type: application/</a:t>
            </a:r>
            <a:r>
              <a:rPr lang="en" altLang="ko-KR" sz="1550" dirty="0" err="1"/>
              <a:t>json</a:t>
            </a:r>
            <a:endParaRPr lang="en" altLang="ko-KR" sz="1550" dirty="0"/>
          </a:p>
          <a:p>
            <a:r>
              <a:rPr lang="en" altLang="ko-KR" sz="1550" dirty="0"/>
              <a:t>Content-Length: 121</a:t>
            </a:r>
          </a:p>
          <a:p>
            <a:r>
              <a:rPr lang="en" altLang="ko-KR" sz="1550" dirty="0"/>
              <a:t>Location: /</a:t>
            </a:r>
            <a:r>
              <a:rPr lang="en" altLang="ko-KR" sz="1550" dirty="0" err="1"/>
              <a:t>api</a:t>
            </a:r>
            <a:r>
              <a:rPr lang="en" altLang="ko-KR" sz="1550" dirty="0"/>
              <a:t>/users/1001</a:t>
            </a:r>
          </a:p>
          <a:p>
            <a:r>
              <a:rPr lang="en" altLang="ko-KR" sz="1550" dirty="0"/>
              <a:t>Access-Control-Allow-Origin: *</a:t>
            </a:r>
          </a:p>
          <a:p>
            <a:endParaRPr lang="en" altLang="ko-KR" sz="1550" dirty="0"/>
          </a:p>
          <a:p>
            <a:r>
              <a:rPr lang="en" altLang="ko-KR" sz="1550" dirty="0"/>
              <a:t>{</a:t>
            </a:r>
          </a:p>
          <a:p>
            <a:r>
              <a:rPr lang="en" altLang="ko-KR" sz="1550" dirty="0"/>
              <a:t>  "id": 1001,</a:t>
            </a:r>
          </a:p>
          <a:p>
            <a:r>
              <a:rPr lang="en" altLang="ko-KR" sz="1550" dirty="0"/>
              <a:t>  "name": "Jane Doe",</a:t>
            </a:r>
          </a:p>
          <a:p>
            <a:r>
              <a:rPr lang="en" altLang="ko-KR" sz="1550" dirty="0"/>
              <a:t>  "email": "</a:t>
            </a:r>
            <a:r>
              <a:rPr lang="en" altLang="ko-KR" sz="1550" dirty="0" err="1"/>
              <a:t>jane.doe@example.com</a:t>
            </a:r>
            <a:r>
              <a:rPr lang="en" altLang="ko-KR" sz="1550" dirty="0"/>
              <a:t>",</a:t>
            </a:r>
          </a:p>
          <a:p>
            <a:r>
              <a:rPr lang="en" altLang="ko-KR" sz="1550" dirty="0"/>
              <a:t>  "</a:t>
            </a:r>
            <a:r>
              <a:rPr lang="en" altLang="ko-KR" sz="1550" dirty="0" err="1"/>
              <a:t>created_at</a:t>
            </a:r>
            <a:r>
              <a:rPr lang="en" altLang="ko-KR" sz="1550" dirty="0"/>
              <a:t>": "2024-07-08T12:30:15Z"</a:t>
            </a:r>
          </a:p>
          <a:p>
            <a:r>
              <a:rPr lang="en" altLang="ko-KR" sz="1550" dirty="0"/>
              <a:t>}</a:t>
            </a:r>
            <a:endParaRPr lang="ko-KR" altLang="en-US" sz="1550" dirty="0"/>
          </a:p>
        </p:txBody>
      </p:sp>
      <p:sp>
        <p:nvSpPr>
          <p:cNvPr id="17" name="오른쪽 중괄호[R] 16">
            <a:extLst>
              <a:ext uri="{FF2B5EF4-FFF2-40B4-BE49-F238E27FC236}">
                <a16:creationId xmlns:a16="http://schemas.microsoft.com/office/drawing/2014/main" id="{BA90EE51-7543-8306-1286-86F516C4C4F9}"/>
              </a:ext>
            </a:extLst>
          </p:cNvPr>
          <p:cNvSpPr/>
          <p:nvPr/>
        </p:nvSpPr>
        <p:spPr>
          <a:xfrm>
            <a:off x="9960056" y="2452802"/>
            <a:ext cx="163233" cy="312700"/>
          </a:xfrm>
          <a:prstGeom prst="righ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8" name="오른쪽 중괄호[R] 17">
            <a:extLst>
              <a:ext uri="{FF2B5EF4-FFF2-40B4-BE49-F238E27FC236}">
                <a16:creationId xmlns:a16="http://schemas.microsoft.com/office/drawing/2014/main" id="{7EC58DC3-34A1-8E1F-8F31-9A817A6C15F2}"/>
              </a:ext>
            </a:extLst>
          </p:cNvPr>
          <p:cNvSpPr/>
          <p:nvPr/>
        </p:nvSpPr>
        <p:spPr>
          <a:xfrm>
            <a:off x="9974766" y="2844474"/>
            <a:ext cx="148523" cy="1371629"/>
          </a:xfrm>
          <a:prstGeom prst="righ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9" name="오른쪽 중괄호[R] 18">
            <a:extLst>
              <a:ext uri="{FF2B5EF4-FFF2-40B4-BE49-F238E27FC236}">
                <a16:creationId xmlns:a16="http://schemas.microsoft.com/office/drawing/2014/main" id="{E9E9ACE9-3180-DD13-5E3C-A69B83C68D1C}"/>
              </a:ext>
            </a:extLst>
          </p:cNvPr>
          <p:cNvSpPr/>
          <p:nvPr/>
        </p:nvSpPr>
        <p:spPr>
          <a:xfrm>
            <a:off x="9974767" y="4476514"/>
            <a:ext cx="95826" cy="1564621"/>
          </a:xfrm>
          <a:prstGeom prst="righ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00A20F8-9B29-846D-9CBD-C65821BFD05A}"/>
              </a:ext>
            </a:extLst>
          </p:cNvPr>
          <p:cNvSpPr txBox="1"/>
          <p:nvPr/>
        </p:nvSpPr>
        <p:spPr>
          <a:xfrm>
            <a:off x="10123289" y="2452802"/>
            <a:ext cx="1160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>
                <a:solidFill>
                  <a:schemeClr val="accent1"/>
                </a:solidFill>
              </a:rPr>
              <a:t>상태 라인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D341524-3DF1-A4CB-73A1-4CCABF6F712D}"/>
              </a:ext>
            </a:extLst>
          </p:cNvPr>
          <p:cNvSpPr txBox="1"/>
          <p:nvPr/>
        </p:nvSpPr>
        <p:spPr>
          <a:xfrm>
            <a:off x="10123289" y="3391358"/>
            <a:ext cx="10454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>
                <a:solidFill>
                  <a:schemeClr val="accent1"/>
                </a:solidFill>
              </a:rPr>
              <a:t>응답 헤더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2EBB163-7CC7-5C4D-9821-566039B64DDD}"/>
              </a:ext>
            </a:extLst>
          </p:cNvPr>
          <p:cNvSpPr txBox="1"/>
          <p:nvPr/>
        </p:nvSpPr>
        <p:spPr>
          <a:xfrm>
            <a:off x="10123289" y="4977663"/>
            <a:ext cx="10454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>
                <a:solidFill>
                  <a:schemeClr val="accent1"/>
                </a:solidFill>
              </a:rPr>
              <a:t>응답 바디</a:t>
            </a:r>
          </a:p>
        </p:txBody>
      </p:sp>
    </p:spTree>
    <p:extLst>
      <p:ext uri="{BB962C8B-B14F-4D97-AF65-F5344CB8AC3E}">
        <p14:creationId xmlns:p14="http://schemas.microsoft.com/office/powerpoint/2010/main" val="27060124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57321EC6-E234-AFEE-618E-9347C16A57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>
            <a:normAutofit/>
          </a:bodyPr>
          <a:lstStyle/>
          <a:p>
            <a:r>
              <a:rPr kumimoji="1" lang="en-US" altLang="ko-KR" sz="2400" b="1" dirty="0">
                <a:solidFill>
                  <a:schemeClr val="accent5"/>
                </a:solidFill>
              </a:rPr>
              <a:t>Request</a:t>
            </a:r>
            <a:r>
              <a:rPr kumimoji="1" lang="en-US" altLang="ko-KR" sz="2400" dirty="0"/>
              <a:t> </a:t>
            </a:r>
            <a:r>
              <a:rPr kumimoji="1" lang="ko-KR" altLang="en-US" sz="2400" dirty="0"/>
              <a:t>의 데이터 형식</a:t>
            </a:r>
            <a:endParaRPr kumimoji="1" lang="en-US" altLang="ko-KR" sz="2400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6C1D942-1167-89C6-1C92-B71008F00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9CA1886-1701-DD9A-7034-1E56C05E1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66FB6B43-289F-8EC0-DE07-822C88E5A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REST </a:t>
            </a:r>
            <a:r>
              <a:rPr kumimoji="1" lang="ko-KR" altLang="en-US" dirty="0"/>
              <a:t>규칙 </a:t>
            </a:r>
            <a:r>
              <a:rPr kumimoji="1" lang="en-US" altLang="ko-KR" dirty="0"/>
              <a:t>(3)</a:t>
            </a:r>
            <a:endParaRPr kumimoji="1"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991934-6161-19F3-FEF0-A0204B3A08D3}"/>
              </a:ext>
            </a:extLst>
          </p:cNvPr>
          <p:cNvSpPr txBox="1"/>
          <p:nvPr/>
        </p:nvSpPr>
        <p:spPr>
          <a:xfrm>
            <a:off x="1058092" y="2452802"/>
            <a:ext cx="3658874" cy="28931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ko-KR" altLang="en-US" sz="1600" dirty="0"/>
              <a:t>POST /</a:t>
            </a:r>
            <a:r>
              <a:rPr lang="ko-KR" altLang="en-US" sz="1600" dirty="0" err="1"/>
              <a:t>api</a:t>
            </a:r>
            <a:r>
              <a:rPr lang="ko-KR" altLang="en-US" sz="1600" dirty="0"/>
              <a:t>/</a:t>
            </a:r>
            <a:r>
              <a:rPr lang="ko-KR" altLang="en-US" sz="1600" dirty="0" err="1"/>
              <a:t>users</a:t>
            </a:r>
            <a:r>
              <a:rPr lang="ko-KR" altLang="en-US" sz="1600" dirty="0"/>
              <a:t> HTTP/1.1</a:t>
            </a:r>
          </a:p>
          <a:p>
            <a:r>
              <a:rPr lang="ko-KR" altLang="en-US" sz="1600" dirty="0"/>
              <a:t>Host: </a:t>
            </a:r>
            <a:r>
              <a:rPr lang="ko-KR" altLang="en-US" sz="1600" dirty="0" err="1"/>
              <a:t>example.com</a:t>
            </a:r>
            <a:endParaRPr lang="ko-KR" altLang="en-US" sz="1600" dirty="0"/>
          </a:p>
          <a:p>
            <a:r>
              <a:rPr lang="ko-KR" altLang="en-US" sz="1600" dirty="0" err="1"/>
              <a:t>User-Agent</a:t>
            </a:r>
            <a:r>
              <a:rPr lang="ko-KR" altLang="en-US" sz="1600" dirty="0"/>
              <a:t>: </a:t>
            </a:r>
            <a:r>
              <a:rPr lang="ko-KR" altLang="en-US" sz="1600" dirty="0" err="1"/>
              <a:t>Mozilla</a:t>
            </a:r>
            <a:r>
              <a:rPr lang="ko-KR" altLang="en-US" sz="1600" dirty="0"/>
              <a:t>/5.0</a:t>
            </a:r>
          </a:p>
          <a:p>
            <a:r>
              <a:rPr lang="ko-KR" altLang="en-US" sz="1600" dirty="0" err="1"/>
              <a:t>Content-Type</a:t>
            </a:r>
            <a:r>
              <a:rPr lang="ko-KR" altLang="en-US" sz="1600" dirty="0"/>
              <a:t>: </a:t>
            </a:r>
            <a:r>
              <a:rPr lang="ko-KR" altLang="en-US" sz="1600" dirty="0" err="1"/>
              <a:t>application</a:t>
            </a:r>
            <a:r>
              <a:rPr lang="ko-KR" altLang="en-US" sz="1600" dirty="0"/>
              <a:t>/</a:t>
            </a:r>
            <a:r>
              <a:rPr lang="ko-KR" altLang="en-US" sz="1600" dirty="0" err="1"/>
              <a:t>json</a:t>
            </a:r>
            <a:endParaRPr lang="ko-KR" altLang="en-US" sz="1600" dirty="0"/>
          </a:p>
          <a:p>
            <a:r>
              <a:rPr lang="ko-KR" altLang="en-US" sz="1600" dirty="0" err="1"/>
              <a:t>Content-Length</a:t>
            </a:r>
            <a:r>
              <a:rPr lang="ko-KR" altLang="en-US" sz="1600" dirty="0"/>
              <a:t>: 57</a:t>
            </a:r>
          </a:p>
          <a:p>
            <a:r>
              <a:rPr lang="ko-KR" altLang="en-US" sz="1600" dirty="0" err="1"/>
              <a:t>Accept</a:t>
            </a:r>
            <a:r>
              <a:rPr lang="ko-KR" altLang="en-US" sz="1600" dirty="0"/>
              <a:t>: </a:t>
            </a:r>
            <a:r>
              <a:rPr lang="ko-KR" altLang="en-US" sz="1600" dirty="0" err="1"/>
              <a:t>application</a:t>
            </a:r>
            <a:r>
              <a:rPr lang="ko-KR" altLang="en-US" sz="1600" dirty="0"/>
              <a:t>/</a:t>
            </a:r>
            <a:r>
              <a:rPr lang="ko-KR" altLang="en-US" sz="1600" dirty="0" err="1"/>
              <a:t>json</a:t>
            </a:r>
            <a:endParaRPr lang="ko-KR" altLang="en-US" sz="1600" dirty="0"/>
          </a:p>
          <a:p>
            <a:endParaRPr lang="ko-KR" altLang="en-US" sz="1600" dirty="0"/>
          </a:p>
          <a:p>
            <a:r>
              <a:rPr lang="ko-KR" altLang="en-US" sz="1600" dirty="0"/>
              <a:t>{</a:t>
            </a:r>
          </a:p>
          <a:p>
            <a:r>
              <a:rPr lang="ko-KR" altLang="en-US" sz="1600" dirty="0"/>
              <a:t>  "</a:t>
            </a:r>
            <a:r>
              <a:rPr lang="ko-KR" altLang="en-US" sz="1600" dirty="0" err="1"/>
              <a:t>name</a:t>
            </a:r>
            <a:r>
              <a:rPr lang="ko-KR" altLang="en-US" sz="1600" dirty="0"/>
              <a:t>": "</a:t>
            </a:r>
            <a:r>
              <a:rPr lang="ko-KR" altLang="en-US" sz="1600" dirty="0" err="1"/>
              <a:t>Jane</a:t>
            </a:r>
            <a:r>
              <a:rPr lang="ko-KR" altLang="en-US" sz="1600" dirty="0"/>
              <a:t> </a:t>
            </a:r>
            <a:r>
              <a:rPr lang="ko-KR" altLang="en-US" sz="1600" dirty="0" err="1"/>
              <a:t>Doe</a:t>
            </a:r>
            <a:r>
              <a:rPr lang="ko-KR" altLang="en-US" sz="1600" dirty="0"/>
              <a:t>",</a:t>
            </a:r>
          </a:p>
          <a:p>
            <a:r>
              <a:rPr lang="ko-KR" altLang="en-US" sz="1600" dirty="0"/>
              <a:t>  "</a:t>
            </a:r>
            <a:r>
              <a:rPr lang="ko-KR" altLang="en-US" sz="1600" dirty="0" err="1"/>
              <a:t>email</a:t>
            </a:r>
            <a:r>
              <a:rPr lang="ko-KR" altLang="en-US" sz="1600" dirty="0"/>
              <a:t>": "</a:t>
            </a:r>
            <a:r>
              <a:rPr lang="ko-KR" altLang="en-US" sz="1600" dirty="0" err="1"/>
              <a:t>jane.doe@example.com</a:t>
            </a:r>
            <a:r>
              <a:rPr lang="ko-KR" altLang="en-US" sz="1600" dirty="0"/>
              <a:t>"</a:t>
            </a:r>
          </a:p>
          <a:p>
            <a:r>
              <a:rPr lang="ko-KR" altLang="en-US" sz="1600" dirty="0"/>
              <a:t>}</a:t>
            </a:r>
          </a:p>
        </p:txBody>
      </p:sp>
      <p:sp>
        <p:nvSpPr>
          <p:cNvPr id="8" name="오른쪽 중괄호[R] 7">
            <a:extLst>
              <a:ext uri="{FF2B5EF4-FFF2-40B4-BE49-F238E27FC236}">
                <a16:creationId xmlns:a16="http://schemas.microsoft.com/office/drawing/2014/main" id="{D8FF0C47-0A8B-C415-7A03-C4F07C24FC24}"/>
              </a:ext>
            </a:extLst>
          </p:cNvPr>
          <p:cNvSpPr/>
          <p:nvPr/>
        </p:nvSpPr>
        <p:spPr>
          <a:xfrm>
            <a:off x="4553733" y="2452802"/>
            <a:ext cx="163233" cy="312700"/>
          </a:xfrm>
          <a:prstGeom prst="righ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9" name="오른쪽 중괄호[R] 8">
            <a:extLst>
              <a:ext uri="{FF2B5EF4-FFF2-40B4-BE49-F238E27FC236}">
                <a16:creationId xmlns:a16="http://schemas.microsoft.com/office/drawing/2014/main" id="{59860CEC-C0B9-CF72-9FE2-6C10C602AB8F}"/>
              </a:ext>
            </a:extLst>
          </p:cNvPr>
          <p:cNvSpPr/>
          <p:nvPr/>
        </p:nvSpPr>
        <p:spPr>
          <a:xfrm>
            <a:off x="4568443" y="2844474"/>
            <a:ext cx="148522" cy="1107931"/>
          </a:xfrm>
          <a:prstGeom prst="righ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0" name="오른쪽 중괄호[R] 9">
            <a:extLst>
              <a:ext uri="{FF2B5EF4-FFF2-40B4-BE49-F238E27FC236}">
                <a16:creationId xmlns:a16="http://schemas.microsoft.com/office/drawing/2014/main" id="{9BC4B3A0-9B1E-FDB5-CEF2-B42D435EFB88}"/>
              </a:ext>
            </a:extLst>
          </p:cNvPr>
          <p:cNvSpPr/>
          <p:nvPr/>
        </p:nvSpPr>
        <p:spPr>
          <a:xfrm>
            <a:off x="4560715" y="4216104"/>
            <a:ext cx="163233" cy="923298"/>
          </a:xfrm>
          <a:prstGeom prst="righ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D575E36-854F-1998-622F-AD6799773F30}"/>
              </a:ext>
            </a:extLst>
          </p:cNvPr>
          <p:cNvSpPr txBox="1"/>
          <p:nvPr/>
        </p:nvSpPr>
        <p:spPr>
          <a:xfrm>
            <a:off x="4716966" y="2452802"/>
            <a:ext cx="1160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>
                <a:solidFill>
                  <a:schemeClr val="accent1"/>
                </a:solidFill>
              </a:rPr>
              <a:t>요청 라인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330A7F1-C4BF-D017-CA5E-D9B56B9DF70D}"/>
              </a:ext>
            </a:extLst>
          </p:cNvPr>
          <p:cNvSpPr txBox="1"/>
          <p:nvPr/>
        </p:nvSpPr>
        <p:spPr>
          <a:xfrm>
            <a:off x="4723948" y="2973509"/>
            <a:ext cx="1160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>
                <a:solidFill>
                  <a:schemeClr val="accent1"/>
                </a:solidFill>
              </a:rPr>
              <a:t>요청 헤더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AB56C7C-EA29-891F-9B61-BA73C874B88C}"/>
              </a:ext>
            </a:extLst>
          </p:cNvPr>
          <p:cNvSpPr txBox="1"/>
          <p:nvPr/>
        </p:nvSpPr>
        <p:spPr>
          <a:xfrm>
            <a:off x="4716965" y="4511852"/>
            <a:ext cx="1160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>
                <a:solidFill>
                  <a:schemeClr val="accent1"/>
                </a:solidFill>
              </a:rPr>
              <a:t>요청 바디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6DF027-61F4-A16F-D0DB-E77871B02BFB}"/>
              </a:ext>
            </a:extLst>
          </p:cNvPr>
          <p:cNvSpPr txBox="1"/>
          <p:nvPr/>
        </p:nvSpPr>
        <p:spPr>
          <a:xfrm>
            <a:off x="5811170" y="2419511"/>
            <a:ext cx="51009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:</a:t>
            </a:r>
            <a:r>
              <a:rPr kumimoji="1" lang="ko-KR" altLang="en-US" dirty="0"/>
              <a:t> 요청의 개요 </a:t>
            </a:r>
            <a:r>
              <a:rPr kumimoji="1" lang="en-US" altLang="ko-KR" dirty="0"/>
              <a:t>(HTTP </a:t>
            </a:r>
            <a:r>
              <a:rPr kumimoji="1" lang="ko-KR" altLang="en-US" dirty="0"/>
              <a:t>메소드</a:t>
            </a:r>
            <a:r>
              <a:rPr kumimoji="1" lang="en-US" altLang="ko-KR" dirty="0"/>
              <a:t>,</a:t>
            </a:r>
            <a:r>
              <a:rPr kumimoji="1" lang="ko-KR" altLang="en-US" dirty="0"/>
              <a:t> </a:t>
            </a:r>
            <a:r>
              <a:rPr kumimoji="1" lang="en-US" altLang="ko-KR" dirty="0"/>
              <a:t>URL </a:t>
            </a:r>
            <a:r>
              <a:rPr kumimoji="1" lang="ko-KR" altLang="en-US" dirty="0"/>
              <a:t>경로</a:t>
            </a:r>
            <a:r>
              <a:rPr kumimoji="1" lang="en-US" altLang="ko-KR" dirty="0"/>
              <a:t>,</a:t>
            </a:r>
            <a:r>
              <a:rPr kumimoji="1" lang="ko-KR" altLang="en-US" dirty="0"/>
              <a:t> </a:t>
            </a:r>
            <a:r>
              <a:rPr kumimoji="1" lang="en-US" altLang="ko-KR" dirty="0"/>
              <a:t>HTTP </a:t>
            </a:r>
            <a:r>
              <a:rPr kumimoji="1" lang="ko-KR" altLang="en-US" dirty="0"/>
              <a:t>버전</a:t>
            </a:r>
            <a:r>
              <a:rPr kumimoji="1" lang="en-US" altLang="ko-KR" dirty="0"/>
              <a:t>)</a:t>
            </a:r>
            <a:endParaRPr kumimoji="1"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A56496-684E-11A3-DAEB-02CDBAF61934}"/>
              </a:ext>
            </a:extLst>
          </p:cNvPr>
          <p:cNvSpPr txBox="1"/>
          <p:nvPr/>
        </p:nvSpPr>
        <p:spPr>
          <a:xfrm>
            <a:off x="5895134" y="2973509"/>
            <a:ext cx="4364272" cy="15234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:</a:t>
            </a:r>
            <a:r>
              <a:rPr kumimoji="1" lang="ko-KR" altLang="en-US" dirty="0"/>
              <a:t> 요청에 대한 부가적인 정보</a:t>
            </a:r>
            <a:br>
              <a:rPr kumimoji="1" lang="en-US" altLang="ko-KR" sz="1400" dirty="0"/>
            </a:br>
            <a:r>
              <a:rPr lang="en" altLang="ko-KR" sz="1500" dirty="0">
                <a:solidFill>
                  <a:schemeClr val="accent6"/>
                </a:solidFill>
              </a:rPr>
              <a:t>Host: </a:t>
            </a:r>
            <a:r>
              <a:rPr lang="ko-KR" altLang="en-US" sz="1500" dirty="0">
                <a:solidFill>
                  <a:schemeClr val="accent6"/>
                </a:solidFill>
              </a:rPr>
              <a:t>요청을 보내는 서버의 도메인 이름 </a:t>
            </a:r>
            <a:br>
              <a:rPr lang="en-US" altLang="ko-KR" sz="1500" dirty="0">
                <a:solidFill>
                  <a:schemeClr val="accent6"/>
                </a:solidFill>
              </a:rPr>
            </a:br>
            <a:r>
              <a:rPr lang="en" altLang="ko-KR" sz="1500" dirty="0">
                <a:solidFill>
                  <a:schemeClr val="accent6"/>
                </a:solidFill>
              </a:rPr>
              <a:t>User-Agent: </a:t>
            </a:r>
            <a:r>
              <a:rPr lang="ko-KR" altLang="en-US" sz="1500" dirty="0">
                <a:solidFill>
                  <a:schemeClr val="accent6"/>
                </a:solidFill>
              </a:rPr>
              <a:t>클라이언트 애플리케이션 정보 </a:t>
            </a:r>
            <a:br>
              <a:rPr lang="en-US" altLang="ko-KR" sz="1500" dirty="0">
                <a:solidFill>
                  <a:schemeClr val="accent6"/>
                </a:solidFill>
              </a:rPr>
            </a:br>
            <a:r>
              <a:rPr lang="en" altLang="ko-KR" sz="1500" dirty="0">
                <a:solidFill>
                  <a:schemeClr val="accent6"/>
                </a:solidFill>
              </a:rPr>
              <a:t>Content-Type: </a:t>
            </a:r>
            <a:r>
              <a:rPr lang="ko-KR" altLang="en-US" sz="1500" dirty="0">
                <a:solidFill>
                  <a:schemeClr val="accent6"/>
                </a:solidFill>
              </a:rPr>
              <a:t>본문 데이터의 형식 </a:t>
            </a:r>
            <a:r>
              <a:rPr lang="en-US" altLang="ko-KR" sz="1500" dirty="0">
                <a:solidFill>
                  <a:schemeClr val="accent6"/>
                </a:solidFill>
              </a:rPr>
              <a:t>(</a:t>
            </a:r>
            <a:r>
              <a:rPr lang="ko-KR" altLang="en-US" sz="1500" dirty="0">
                <a:solidFill>
                  <a:schemeClr val="accent6"/>
                </a:solidFill>
              </a:rPr>
              <a:t>여기서는 </a:t>
            </a:r>
            <a:r>
              <a:rPr lang="en" altLang="ko-KR" sz="1500" dirty="0">
                <a:solidFill>
                  <a:schemeClr val="accent6"/>
                </a:solidFill>
              </a:rPr>
              <a:t>JSON) </a:t>
            </a:r>
            <a:br>
              <a:rPr lang="en" altLang="ko-KR" sz="1500" dirty="0">
                <a:solidFill>
                  <a:schemeClr val="accent6"/>
                </a:solidFill>
              </a:rPr>
            </a:br>
            <a:r>
              <a:rPr lang="en" altLang="ko-KR" sz="1500" dirty="0">
                <a:solidFill>
                  <a:schemeClr val="accent6"/>
                </a:solidFill>
              </a:rPr>
              <a:t>Content-Length: </a:t>
            </a:r>
            <a:r>
              <a:rPr lang="ko-KR" altLang="en-US" sz="1500" dirty="0">
                <a:solidFill>
                  <a:schemeClr val="accent6"/>
                </a:solidFill>
              </a:rPr>
              <a:t>본문의 길이 </a:t>
            </a:r>
            <a:r>
              <a:rPr lang="en-US" altLang="ko-KR" sz="1500" dirty="0">
                <a:solidFill>
                  <a:schemeClr val="accent6"/>
                </a:solidFill>
              </a:rPr>
              <a:t>(</a:t>
            </a:r>
            <a:r>
              <a:rPr lang="ko-KR" altLang="en-US" sz="1500" dirty="0">
                <a:solidFill>
                  <a:schemeClr val="accent6"/>
                </a:solidFill>
              </a:rPr>
              <a:t>바이트 단위</a:t>
            </a:r>
            <a:r>
              <a:rPr lang="en-US" altLang="ko-KR" sz="1500" dirty="0">
                <a:solidFill>
                  <a:schemeClr val="accent6"/>
                </a:solidFill>
              </a:rPr>
              <a:t>) </a:t>
            </a:r>
            <a:br>
              <a:rPr lang="en-US" altLang="ko-KR" sz="1500" dirty="0">
                <a:solidFill>
                  <a:schemeClr val="accent6"/>
                </a:solidFill>
              </a:rPr>
            </a:br>
            <a:r>
              <a:rPr lang="en" altLang="ko-KR" sz="1500" dirty="0">
                <a:solidFill>
                  <a:schemeClr val="accent6"/>
                </a:solidFill>
              </a:rPr>
              <a:t>Accept: </a:t>
            </a:r>
            <a:r>
              <a:rPr lang="ko-KR" altLang="en-US" sz="1500" dirty="0">
                <a:solidFill>
                  <a:schemeClr val="accent6"/>
                </a:solidFill>
              </a:rPr>
              <a:t>클라이언트가 받아들일 수 있는 응답 형식</a:t>
            </a:r>
            <a:endParaRPr kumimoji="1" lang="ko-KR" altLang="en-US" sz="1500" dirty="0">
              <a:solidFill>
                <a:schemeClr val="accent6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291912D-7F59-93F2-0F88-2E3B22560EEF}"/>
              </a:ext>
            </a:extLst>
          </p:cNvPr>
          <p:cNvSpPr txBox="1"/>
          <p:nvPr/>
        </p:nvSpPr>
        <p:spPr>
          <a:xfrm>
            <a:off x="2924496" y="5399814"/>
            <a:ext cx="182934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ko-KR" altLang="en-US" sz="1200" dirty="0"/>
              <a:t>*빈 줄</a:t>
            </a:r>
            <a:r>
              <a:rPr kumimoji="1" lang="en-US" altLang="ko-KR" sz="1200" dirty="0"/>
              <a:t>:</a:t>
            </a:r>
            <a:r>
              <a:rPr kumimoji="1" lang="ko-KR" altLang="en-US" sz="1200" dirty="0"/>
              <a:t> 헤더와 본문 구분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52844F9-956A-A7DC-A5DD-41FF882EA370}"/>
              </a:ext>
            </a:extLst>
          </p:cNvPr>
          <p:cNvSpPr txBox="1"/>
          <p:nvPr/>
        </p:nvSpPr>
        <p:spPr>
          <a:xfrm>
            <a:off x="4843931" y="4847893"/>
            <a:ext cx="42578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:</a:t>
            </a:r>
            <a:r>
              <a:rPr kumimoji="1" lang="ko-KR" altLang="en-US" dirty="0"/>
              <a:t> 서버가 요청을 처리할 때 필요한 데이터</a:t>
            </a:r>
          </a:p>
        </p:txBody>
      </p:sp>
    </p:spTree>
    <p:extLst>
      <p:ext uri="{BB962C8B-B14F-4D97-AF65-F5344CB8AC3E}">
        <p14:creationId xmlns:p14="http://schemas.microsoft.com/office/powerpoint/2010/main" val="7520186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6C1D942-1167-89C6-1C92-B71008F00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9CA1886-1701-DD9A-7034-1E56C05E1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66FB6B43-289F-8EC0-DE07-822C88E5A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REST </a:t>
            </a:r>
            <a:r>
              <a:rPr kumimoji="1" lang="ko-KR" altLang="en-US" dirty="0"/>
              <a:t>규칙 </a:t>
            </a:r>
            <a:r>
              <a:rPr kumimoji="1" lang="en-US" altLang="ko-KR" dirty="0"/>
              <a:t>(3)</a:t>
            </a:r>
            <a:endParaRPr kumimoji="1" lang="ko-KR" altLang="en-US" dirty="0"/>
          </a:p>
        </p:txBody>
      </p:sp>
      <p:sp>
        <p:nvSpPr>
          <p:cNvPr id="15" name="내용 개체 틀 1">
            <a:extLst>
              <a:ext uri="{FF2B5EF4-FFF2-40B4-BE49-F238E27FC236}">
                <a16:creationId xmlns:a16="http://schemas.microsoft.com/office/drawing/2014/main" id="{E62EA324-7B83-C72A-EB46-375D42E319E5}"/>
              </a:ext>
            </a:extLst>
          </p:cNvPr>
          <p:cNvSpPr txBox="1">
            <a:spLocks/>
          </p:cNvSpPr>
          <p:nvPr/>
        </p:nvSpPr>
        <p:spPr>
          <a:xfrm>
            <a:off x="907816" y="1825625"/>
            <a:ext cx="10594507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ko-KR" sz="2400" b="1" dirty="0">
                <a:solidFill>
                  <a:schemeClr val="accent3"/>
                </a:solidFill>
              </a:rPr>
              <a:t>Response</a:t>
            </a:r>
            <a:r>
              <a:rPr kumimoji="1" lang="en-US" altLang="ko-KR" sz="2400" dirty="0"/>
              <a:t> </a:t>
            </a:r>
            <a:r>
              <a:rPr kumimoji="1" lang="ko-KR" altLang="en-US" sz="2400" dirty="0"/>
              <a:t>의 데이터 형식</a:t>
            </a:r>
            <a:endParaRPr kumimoji="1" lang="en-US" altLang="ko-KR" sz="24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92E21C6-87E2-A007-BBC9-88AF3BB5A872}"/>
              </a:ext>
            </a:extLst>
          </p:cNvPr>
          <p:cNvSpPr txBox="1"/>
          <p:nvPr/>
        </p:nvSpPr>
        <p:spPr>
          <a:xfrm>
            <a:off x="1167587" y="2369458"/>
            <a:ext cx="3658874" cy="36625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" altLang="ko-KR" sz="1550" dirty="0"/>
              <a:t>HTTP/1.1 201 Created</a:t>
            </a:r>
          </a:p>
          <a:p>
            <a:r>
              <a:rPr lang="en" altLang="ko-KR" sz="1550" dirty="0"/>
              <a:t>Date: Mon, 08 Jul 2024 12:30:15 GMT</a:t>
            </a:r>
          </a:p>
          <a:p>
            <a:r>
              <a:rPr lang="en" altLang="ko-KR" sz="1550" dirty="0"/>
              <a:t>Server: Apache/2.4.41 (Ubuntu)</a:t>
            </a:r>
          </a:p>
          <a:p>
            <a:r>
              <a:rPr lang="en" altLang="ko-KR" sz="1550" dirty="0"/>
              <a:t>Content-Type: application/</a:t>
            </a:r>
            <a:r>
              <a:rPr lang="en" altLang="ko-KR" sz="1550" dirty="0" err="1"/>
              <a:t>json</a:t>
            </a:r>
            <a:endParaRPr lang="en" altLang="ko-KR" sz="1550" dirty="0"/>
          </a:p>
          <a:p>
            <a:r>
              <a:rPr lang="en" altLang="ko-KR" sz="1550" dirty="0"/>
              <a:t>Content-Length: 121</a:t>
            </a:r>
          </a:p>
          <a:p>
            <a:r>
              <a:rPr lang="en" altLang="ko-KR" sz="1550" dirty="0"/>
              <a:t>Location: /</a:t>
            </a:r>
            <a:r>
              <a:rPr lang="en" altLang="ko-KR" sz="1550" dirty="0" err="1"/>
              <a:t>api</a:t>
            </a:r>
            <a:r>
              <a:rPr lang="en" altLang="ko-KR" sz="1550" dirty="0"/>
              <a:t>/users/1001</a:t>
            </a:r>
          </a:p>
          <a:p>
            <a:r>
              <a:rPr lang="en" altLang="ko-KR" sz="1550" dirty="0"/>
              <a:t>Access-Control-Allow-Origin: *</a:t>
            </a:r>
          </a:p>
          <a:p>
            <a:endParaRPr lang="en" altLang="ko-KR" sz="1550" dirty="0"/>
          </a:p>
          <a:p>
            <a:r>
              <a:rPr lang="en" altLang="ko-KR" sz="1550" dirty="0"/>
              <a:t>{</a:t>
            </a:r>
          </a:p>
          <a:p>
            <a:r>
              <a:rPr lang="en" altLang="ko-KR" sz="1550" dirty="0"/>
              <a:t>  "id": 1001,</a:t>
            </a:r>
          </a:p>
          <a:p>
            <a:r>
              <a:rPr lang="en" altLang="ko-KR" sz="1550" dirty="0"/>
              <a:t>  "name": "Jane Doe",</a:t>
            </a:r>
          </a:p>
          <a:p>
            <a:r>
              <a:rPr lang="en" altLang="ko-KR" sz="1550" dirty="0"/>
              <a:t>  "email": "</a:t>
            </a:r>
            <a:r>
              <a:rPr lang="en" altLang="ko-KR" sz="1550" dirty="0" err="1"/>
              <a:t>jane.doe@example.com</a:t>
            </a:r>
            <a:r>
              <a:rPr lang="en" altLang="ko-KR" sz="1550" dirty="0"/>
              <a:t>",</a:t>
            </a:r>
          </a:p>
          <a:p>
            <a:r>
              <a:rPr lang="en" altLang="ko-KR" sz="1550" dirty="0"/>
              <a:t>  "</a:t>
            </a:r>
            <a:r>
              <a:rPr lang="en" altLang="ko-KR" sz="1550" dirty="0" err="1"/>
              <a:t>created_at</a:t>
            </a:r>
            <a:r>
              <a:rPr lang="en" altLang="ko-KR" sz="1550" dirty="0"/>
              <a:t>": "2024-07-08T12:30:15Z"</a:t>
            </a:r>
          </a:p>
          <a:p>
            <a:r>
              <a:rPr lang="en" altLang="ko-KR" sz="1550" dirty="0"/>
              <a:t>}</a:t>
            </a:r>
            <a:endParaRPr lang="ko-KR" altLang="en-US" sz="1550" dirty="0"/>
          </a:p>
        </p:txBody>
      </p:sp>
      <p:sp>
        <p:nvSpPr>
          <p:cNvPr id="17" name="오른쪽 중괄호[R] 16">
            <a:extLst>
              <a:ext uri="{FF2B5EF4-FFF2-40B4-BE49-F238E27FC236}">
                <a16:creationId xmlns:a16="http://schemas.microsoft.com/office/drawing/2014/main" id="{BA90EE51-7543-8306-1286-86F516C4C4F9}"/>
              </a:ext>
            </a:extLst>
          </p:cNvPr>
          <p:cNvSpPr/>
          <p:nvPr/>
        </p:nvSpPr>
        <p:spPr>
          <a:xfrm>
            <a:off x="4663227" y="2369458"/>
            <a:ext cx="163233" cy="312700"/>
          </a:xfrm>
          <a:prstGeom prst="righ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8" name="오른쪽 중괄호[R] 17">
            <a:extLst>
              <a:ext uri="{FF2B5EF4-FFF2-40B4-BE49-F238E27FC236}">
                <a16:creationId xmlns:a16="http://schemas.microsoft.com/office/drawing/2014/main" id="{7EC58DC3-34A1-8E1F-8F31-9A817A6C15F2}"/>
              </a:ext>
            </a:extLst>
          </p:cNvPr>
          <p:cNvSpPr/>
          <p:nvPr/>
        </p:nvSpPr>
        <p:spPr>
          <a:xfrm>
            <a:off x="4677937" y="2761130"/>
            <a:ext cx="148523" cy="1371629"/>
          </a:xfrm>
          <a:prstGeom prst="righ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9" name="오른쪽 중괄호[R] 18">
            <a:extLst>
              <a:ext uri="{FF2B5EF4-FFF2-40B4-BE49-F238E27FC236}">
                <a16:creationId xmlns:a16="http://schemas.microsoft.com/office/drawing/2014/main" id="{E9E9ACE9-3180-DD13-5E3C-A69B83C68D1C}"/>
              </a:ext>
            </a:extLst>
          </p:cNvPr>
          <p:cNvSpPr/>
          <p:nvPr/>
        </p:nvSpPr>
        <p:spPr>
          <a:xfrm>
            <a:off x="4677937" y="4393170"/>
            <a:ext cx="137903" cy="1605293"/>
          </a:xfrm>
          <a:prstGeom prst="righ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00A20F8-9B29-846D-9CBD-C65821BFD05A}"/>
              </a:ext>
            </a:extLst>
          </p:cNvPr>
          <p:cNvSpPr txBox="1"/>
          <p:nvPr/>
        </p:nvSpPr>
        <p:spPr>
          <a:xfrm>
            <a:off x="4826460" y="2369458"/>
            <a:ext cx="1160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>
                <a:solidFill>
                  <a:schemeClr val="accent1"/>
                </a:solidFill>
              </a:rPr>
              <a:t>상태 라인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D341524-3DF1-A4CB-73A1-4CCABF6F712D}"/>
              </a:ext>
            </a:extLst>
          </p:cNvPr>
          <p:cNvSpPr txBox="1"/>
          <p:nvPr/>
        </p:nvSpPr>
        <p:spPr>
          <a:xfrm>
            <a:off x="4826460" y="3308014"/>
            <a:ext cx="10454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>
                <a:solidFill>
                  <a:schemeClr val="accent1"/>
                </a:solidFill>
              </a:rPr>
              <a:t>응답 헤더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2EBB163-7CC7-5C4D-9821-566039B64DDD}"/>
              </a:ext>
            </a:extLst>
          </p:cNvPr>
          <p:cNvSpPr txBox="1"/>
          <p:nvPr/>
        </p:nvSpPr>
        <p:spPr>
          <a:xfrm>
            <a:off x="4826460" y="4894319"/>
            <a:ext cx="10454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>
                <a:solidFill>
                  <a:schemeClr val="accent1"/>
                </a:solidFill>
              </a:rPr>
              <a:t>응답 바디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923EBEC-C298-3828-2082-BDAF1257223D}"/>
              </a:ext>
            </a:extLst>
          </p:cNvPr>
          <p:cNvSpPr txBox="1"/>
          <p:nvPr/>
        </p:nvSpPr>
        <p:spPr>
          <a:xfrm>
            <a:off x="5923465" y="2347118"/>
            <a:ext cx="51635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:</a:t>
            </a:r>
            <a:r>
              <a:rPr kumimoji="1" lang="ko-KR" altLang="en-US" dirty="0"/>
              <a:t> 응답의 결과 </a:t>
            </a:r>
            <a:r>
              <a:rPr kumimoji="1" lang="en-US" altLang="ko-KR" dirty="0"/>
              <a:t>(HTTP </a:t>
            </a:r>
            <a:r>
              <a:rPr kumimoji="1" lang="ko-KR" altLang="en-US" dirty="0"/>
              <a:t>버전</a:t>
            </a:r>
            <a:r>
              <a:rPr kumimoji="1" lang="en-US" altLang="ko-KR" dirty="0"/>
              <a:t>,</a:t>
            </a:r>
            <a:r>
              <a:rPr kumimoji="1" lang="ko-KR" altLang="en-US" dirty="0"/>
              <a:t> 상태 코드</a:t>
            </a:r>
            <a:r>
              <a:rPr kumimoji="1" lang="en-US" altLang="ko-KR" dirty="0"/>
              <a:t>,</a:t>
            </a:r>
            <a:r>
              <a:rPr kumimoji="1" lang="ko-KR" altLang="en-US" dirty="0"/>
              <a:t> 상태 </a:t>
            </a:r>
            <a:r>
              <a:rPr kumimoji="1" lang="ko-KR" altLang="en-US" dirty="0" err="1"/>
              <a:t>메세지</a:t>
            </a:r>
            <a:r>
              <a:rPr kumimoji="1" lang="en-US" altLang="ko-KR" dirty="0"/>
              <a:t>)</a:t>
            </a:r>
            <a:r>
              <a:rPr kumimoji="1" lang="ko-KR" altLang="en-US" dirty="0"/>
              <a:t>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C8A7103-746B-72A5-7F31-7D73C6AC9577}"/>
              </a:ext>
            </a:extLst>
          </p:cNvPr>
          <p:cNvSpPr txBox="1"/>
          <p:nvPr/>
        </p:nvSpPr>
        <p:spPr>
          <a:xfrm>
            <a:off x="5987355" y="3308014"/>
            <a:ext cx="5346144" cy="16619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:</a:t>
            </a:r>
            <a:r>
              <a:rPr kumimoji="1" lang="ko-KR" altLang="en-US" dirty="0"/>
              <a:t> 응답의 부가적인 정보</a:t>
            </a:r>
            <a:br>
              <a:rPr kumimoji="1" lang="en-US" altLang="ko-KR" sz="1400" dirty="0">
                <a:solidFill>
                  <a:schemeClr val="accent6"/>
                </a:solidFill>
              </a:rPr>
            </a:br>
            <a:r>
              <a:rPr lang="en" altLang="ko-KR" sz="1400" dirty="0">
                <a:solidFill>
                  <a:schemeClr val="accent6"/>
                </a:solidFill>
              </a:rPr>
              <a:t>Date: </a:t>
            </a:r>
            <a:r>
              <a:rPr lang="ko-KR" altLang="en-US" sz="1400" dirty="0">
                <a:solidFill>
                  <a:schemeClr val="accent6"/>
                </a:solidFill>
              </a:rPr>
              <a:t>응답이 생성된 날짜와 시간 </a:t>
            </a:r>
            <a:br>
              <a:rPr lang="en-US" altLang="ko-KR" sz="1400" dirty="0">
                <a:solidFill>
                  <a:schemeClr val="accent6"/>
                </a:solidFill>
              </a:rPr>
            </a:br>
            <a:r>
              <a:rPr lang="en" altLang="ko-KR" sz="1400" dirty="0">
                <a:solidFill>
                  <a:schemeClr val="accent6"/>
                </a:solidFill>
              </a:rPr>
              <a:t>Server: </a:t>
            </a:r>
            <a:r>
              <a:rPr lang="ko-KR" altLang="en-US" sz="1400" dirty="0">
                <a:solidFill>
                  <a:schemeClr val="accent6"/>
                </a:solidFill>
              </a:rPr>
              <a:t>웹 서버 소프트웨어 정보 </a:t>
            </a:r>
            <a:br>
              <a:rPr lang="en-US" altLang="ko-KR" sz="1400" dirty="0">
                <a:solidFill>
                  <a:schemeClr val="accent6"/>
                </a:solidFill>
              </a:rPr>
            </a:br>
            <a:r>
              <a:rPr lang="en" altLang="ko-KR" sz="1400" dirty="0">
                <a:solidFill>
                  <a:schemeClr val="accent6"/>
                </a:solidFill>
              </a:rPr>
              <a:t>Content-Type: </a:t>
            </a:r>
            <a:r>
              <a:rPr lang="ko-KR" altLang="en-US" sz="1400" dirty="0">
                <a:solidFill>
                  <a:schemeClr val="accent6"/>
                </a:solidFill>
              </a:rPr>
              <a:t>응답 본문의 미디어 타입 </a:t>
            </a:r>
            <a:r>
              <a:rPr lang="en-US" altLang="ko-KR" sz="1400" dirty="0">
                <a:solidFill>
                  <a:schemeClr val="accent6"/>
                </a:solidFill>
              </a:rPr>
              <a:t>(</a:t>
            </a:r>
            <a:r>
              <a:rPr lang="en" altLang="ko-KR" sz="1400" dirty="0">
                <a:solidFill>
                  <a:schemeClr val="accent6"/>
                </a:solidFill>
              </a:rPr>
              <a:t>JSON) </a:t>
            </a:r>
            <a:br>
              <a:rPr lang="en" altLang="ko-KR" sz="1400" dirty="0">
                <a:solidFill>
                  <a:schemeClr val="accent6"/>
                </a:solidFill>
              </a:rPr>
            </a:br>
            <a:r>
              <a:rPr lang="en" altLang="ko-KR" sz="1400" dirty="0">
                <a:solidFill>
                  <a:schemeClr val="accent6"/>
                </a:solidFill>
              </a:rPr>
              <a:t>Content-Length: </a:t>
            </a:r>
            <a:r>
              <a:rPr lang="ko-KR" altLang="en-US" sz="1400" dirty="0">
                <a:solidFill>
                  <a:schemeClr val="accent6"/>
                </a:solidFill>
              </a:rPr>
              <a:t>응답 본문의 길이 </a:t>
            </a:r>
            <a:r>
              <a:rPr lang="en-US" altLang="ko-KR" sz="1400" dirty="0">
                <a:solidFill>
                  <a:schemeClr val="accent6"/>
                </a:solidFill>
              </a:rPr>
              <a:t>(</a:t>
            </a:r>
            <a:r>
              <a:rPr lang="ko-KR" altLang="en-US" sz="1400" dirty="0">
                <a:solidFill>
                  <a:schemeClr val="accent6"/>
                </a:solidFill>
              </a:rPr>
              <a:t>바이트</a:t>
            </a:r>
            <a:r>
              <a:rPr lang="en-US" altLang="ko-KR" sz="1400" dirty="0">
                <a:solidFill>
                  <a:schemeClr val="accent6"/>
                </a:solidFill>
              </a:rPr>
              <a:t>) </a:t>
            </a:r>
            <a:br>
              <a:rPr lang="en-US" altLang="ko-KR" sz="1400" dirty="0">
                <a:solidFill>
                  <a:schemeClr val="accent6"/>
                </a:solidFill>
              </a:rPr>
            </a:br>
            <a:r>
              <a:rPr lang="en" altLang="ko-KR" sz="1400" dirty="0">
                <a:solidFill>
                  <a:schemeClr val="accent6"/>
                </a:solidFill>
              </a:rPr>
              <a:t>Location: </a:t>
            </a:r>
            <a:r>
              <a:rPr lang="ko-KR" altLang="en-US" sz="1400" dirty="0">
                <a:solidFill>
                  <a:schemeClr val="accent6"/>
                </a:solidFill>
              </a:rPr>
              <a:t>새로 생성된 리소스의 </a:t>
            </a:r>
            <a:r>
              <a:rPr lang="en" altLang="ko-KR" sz="1400" dirty="0">
                <a:solidFill>
                  <a:schemeClr val="accent6"/>
                </a:solidFill>
              </a:rPr>
              <a:t>URI </a:t>
            </a:r>
            <a:br>
              <a:rPr lang="en" altLang="ko-KR" sz="1400" dirty="0">
                <a:solidFill>
                  <a:schemeClr val="accent6"/>
                </a:solidFill>
              </a:rPr>
            </a:br>
            <a:r>
              <a:rPr lang="en" altLang="ko-KR" sz="1400" dirty="0">
                <a:solidFill>
                  <a:schemeClr val="accent6"/>
                </a:solidFill>
              </a:rPr>
              <a:t>Access-Control-Allow-Origin: CORS </a:t>
            </a:r>
            <a:r>
              <a:rPr lang="ko-KR" altLang="en-US" sz="1400" dirty="0">
                <a:solidFill>
                  <a:schemeClr val="accent6"/>
                </a:solidFill>
              </a:rPr>
              <a:t>정책 </a:t>
            </a:r>
            <a:r>
              <a:rPr lang="en-US" altLang="ko-KR" sz="1400" dirty="0">
                <a:solidFill>
                  <a:schemeClr val="accent6"/>
                </a:solidFill>
              </a:rPr>
              <a:t>(</a:t>
            </a:r>
            <a:r>
              <a:rPr lang="ko-KR" altLang="en-US" sz="1400" dirty="0">
                <a:solidFill>
                  <a:schemeClr val="accent6"/>
                </a:solidFill>
              </a:rPr>
              <a:t>모든 도메인에서 접근 허용</a:t>
            </a:r>
            <a:r>
              <a:rPr lang="en-US" altLang="ko-KR" sz="1400" dirty="0">
                <a:solidFill>
                  <a:schemeClr val="accent6"/>
                </a:solidFill>
              </a:rPr>
              <a:t>)</a:t>
            </a:r>
            <a:endParaRPr kumimoji="1" lang="ko-KR" altLang="en-US" sz="1400" dirty="0">
              <a:solidFill>
                <a:schemeClr val="accent6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27E4B6A-0349-10F3-3615-43DF92AF1A64}"/>
              </a:ext>
            </a:extLst>
          </p:cNvPr>
          <p:cNvSpPr txBox="1"/>
          <p:nvPr/>
        </p:nvSpPr>
        <p:spPr>
          <a:xfrm>
            <a:off x="4910839" y="5192239"/>
            <a:ext cx="31758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:</a:t>
            </a:r>
            <a:r>
              <a:rPr kumimoji="1" lang="ko-KR" altLang="en-US" dirty="0"/>
              <a:t> 클라이언트가 요청한 데이터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0605D6C-0410-18EF-B1D0-53AA7F4AFB53}"/>
              </a:ext>
            </a:extLst>
          </p:cNvPr>
          <p:cNvSpPr txBox="1"/>
          <p:nvPr/>
        </p:nvSpPr>
        <p:spPr>
          <a:xfrm>
            <a:off x="3081492" y="6023706"/>
            <a:ext cx="182934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ko-KR" altLang="en-US" sz="1200" dirty="0"/>
              <a:t>*빈 줄</a:t>
            </a:r>
            <a:r>
              <a:rPr kumimoji="1" lang="en-US" altLang="ko-KR" sz="1200" dirty="0"/>
              <a:t>:</a:t>
            </a:r>
            <a:r>
              <a:rPr kumimoji="1" lang="ko-KR" altLang="en-US" sz="1200" dirty="0"/>
              <a:t> 헤더와 본문 구분</a:t>
            </a:r>
          </a:p>
        </p:txBody>
      </p:sp>
    </p:spTree>
    <p:extLst>
      <p:ext uri="{BB962C8B-B14F-4D97-AF65-F5344CB8AC3E}">
        <p14:creationId xmlns:p14="http://schemas.microsoft.com/office/powerpoint/2010/main" val="25818501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57321EC6-E234-AFEE-618E-9347C16A57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ko-KR" altLang="en-US" sz="2400" b="1" dirty="0">
                <a:solidFill>
                  <a:schemeClr val="accent1"/>
                </a:solidFill>
              </a:rPr>
              <a:t>상태 코드</a:t>
            </a:r>
            <a:r>
              <a:rPr kumimoji="1" lang="en-US" altLang="ko-KR" sz="2400" b="1" dirty="0">
                <a:solidFill>
                  <a:schemeClr val="accent1"/>
                </a:solidFill>
              </a:rPr>
              <a:t>(Status</a:t>
            </a:r>
            <a:r>
              <a:rPr kumimoji="1" lang="ko-KR" altLang="en-US" sz="2400" b="1" dirty="0">
                <a:solidFill>
                  <a:schemeClr val="accent1"/>
                </a:solidFill>
              </a:rPr>
              <a:t> </a:t>
            </a:r>
            <a:r>
              <a:rPr kumimoji="1" lang="en-US" altLang="ko-KR" sz="2400" b="1" dirty="0">
                <a:solidFill>
                  <a:schemeClr val="accent1"/>
                </a:solidFill>
              </a:rPr>
              <a:t>code)</a:t>
            </a:r>
            <a:r>
              <a:rPr kumimoji="1" lang="ko-KR" altLang="en-US" sz="2400" b="1" dirty="0">
                <a:solidFill>
                  <a:schemeClr val="accent1"/>
                </a:solidFill>
              </a:rPr>
              <a:t> </a:t>
            </a:r>
            <a:r>
              <a:rPr kumimoji="1" lang="ko-KR" altLang="en-US" sz="2400" dirty="0"/>
              <a:t>활용하기</a:t>
            </a:r>
            <a:endParaRPr kumimoji="1" lang="en-US" altLang="ko-KR" sz="2400" dirty="0"/>
          </a:p>
          <a:p>
            <a:r>
              <a:rPr kumimoji="1" lang="ko-KR" altLang="en-US" sz="2400" dirty="0"/>
              <a:t>상태코드 란</a:t>
            </a:r>
            <a:r>
              <a:rPr kumimoji="1" lang="en-US" altLang="ko-KR" sz="2400" dirty="0"/>
              <a:t>?</a:t>
            </a:r>
          </a:p>
          <a:p>
            <a:pPr lvl="1"/>
            <a:r>
              <a:rPr kumimoji="1" lang="en-US" altLang="ko-KR" sz="2000" dirty="0"/>
              <a:t>3</a:t>
            </a:r>
            <a:r>
              <a:rPr kumimoji="1" lang="ko-KR" altLang="en-US" sz="2000" dirty="0"/>
              <a:t>자리의 숫자로 클라이언트의 요청에 대한 서버의 처리 결과</a:t>
            </a:r>
            <a:endParaRPr kumimoji="1" lang="en-US" altLang="ko-KR" sz="2000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6C1D942-1167-89C6-1C92-B71008F00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9CA1886-1701-DD9A-7034-1E56C05E1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66FB6B43-289F-8EC0-DE07-822C88E5A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REST </a:t>
            </a:r>
            <a:r>
              <a:rPr kumimoji="1" lang="ko-KR" altLang="en-US" dirty="0"/>
              <a:t>규칙 </a:t>
            </a:r>
            <a:r>
              <a:rPr kumimoji="1" lang="en-US" altLang="ko-KR" dirty="0"/>
              <a:t>(4)</a:t>
            </a:r>
            <a:endParaRPr kumimoji="1" lang="ko-KR" altLang="en-US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EB87F182-1CB4-FDAF-57A6-3D3EBBF8E2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586745"/>
              </p:ext>
            </p:extLst>
          </p:nvPr>
        </p:nvGraphicFramePr>
        <p:xfrm>
          <a:off x="2032000" y="3429000"/>
          <a:ext cx="81280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1989">
                  <a:extLst>
                    <a:ext uri="{9D8B030D-6E8A-4147-A177-3AD203B41FA5}">
                      <a16:colId xmlns:a16="http://schemas.microsoft.com/office/drawing/2014/main" val="2075853039"/>
                    </a:ext>
                  </a:extLst>
                </a:gridCol>
                <a:gridCol w="6006011">
                  <a:extLst>
                    <a:ext uri="{9D8B030D-6E8A-4147-A177-3AD203B41FA5}">
                      <a16:colId xmlns:a16="http://schemas.microsoft.com/office/drawing/2014/main" val="8583848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코드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의미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114498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1xx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요청이 수신되어 처리중임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31247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2xx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요청이 성공적으로 처리되어 종료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70567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3xx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다른 처리의 호출이 필요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027406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4xx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요청에 오류가 있음 </a:t>
                      </a:r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/>
                        <a:t>클라이언트 측 에러</a:t>
                      </a:r>
                      <a:r>
                        <a:rPr lang="en-US" altLang="ko-KR" sz="1400" dirty="0"/>
                        <a:t>)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347559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5xx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서버가 유효한 요청을 처리하지 못함 </a:t>
                      </a:r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/>
                        <a:t>서버 측 오류</a:t>
                      </a:r>
                      <a:r>
                        <a:rPr lang="en-US" altLang="ko-KR" sz="1400" dirty="0"/>
                        <a:t>)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61022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86634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내용 개체 틀 5">
            <a:extLst>
              <a:ext uri="{FF2B5EF4-FFF2-40B4-BE49-F238E27FC236}">
                <a16:creationId xmlns:a16="http://schemas.microsoft.com/office/drawing/2014/main" id="{647A7219-B975-82D0-1B40-D870610630F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69251529"/>
              </p:ext>
            </p:extLst>
          </p:nvPr>
        </p:nvGraphicFramePr>
        <p:xfrm>
          <a:off x="1790700" y="1565213"/>
          <a:ext cx="8610600" cy="445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888">
                  <a:extLst>
                    <a:ext uri="{9D8B030D-6E8A-4147-A177-3AD203B41FA5}">
                      <a16:colId xmlns:a16="http://schemas.microsoft.com/office/drawing/2014/main" val="1925054768"/>
                    </a:ext>
                  </a:extLst>
                </a:gridCol>
                <a:gridCol w="6232712">
                  <a:extLst>
                    <a:ext uri="{9D8B030D-6E8A-4147-A177-3AD203B41FA5}">
                      <a16:colId xmlns:a16="http://schemas.microsoft.com/office/drawing/2014/main" val="38583915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상태코드 </a:t>
                      </a:r>
                      <a:r>
                        <a:rPr lang="en-US" altLang="ko-KR" sz="1400" dirty="0"/>
                        <a:t>/</a:t>
                      </a:r>
                      <a:r>
                        <a:rPr lang="ko-KR" altLang="en-US" sz="1400" dirty="0"/>
                        <a:t> 상태 메시지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의미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924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/>
                        <a:t>200</a:t>
                      </a:r>
                      <a:r>
                        <a:rPr lang="ko-KR" altLang="en-US" sz="1400" dirty="0"/>
                        <a:t> </a:t>
                      </a:r>
                      <a:r>
                        <a:rPr lang="en-US" altLang="ko-KR" sz="1400" dirty="0"/>
                        <a:t>OK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요청이 성공적으로 처리되었음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843703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/>
                        <a:t>201</a:t>
                      </a:r>
                      <a:r>
                        <a:rPr lang="ko-KR" altLang="en-US" sz="1400" dirty="0"/>
                        <a:t> </a:t>
                      </a:r>
                      <a:r>
                        <a:rPr lang="en-US" altLang="ko-KR" sz="1400" dirty="0"/>
                        <a:t>Created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새로운 리소스가 성공적으로 생성되었음 </a:t>
                      </a:r>
                      <a:r>
                        <a:rPr lang="en-US" altLang="ko-KR" sz="1200" dirty="0"/>
                        <a:t>(</a:t>
                      </a:r>
                      <a:r>
                        <a:rPr lang="ko-KR" altLang="en-US" sz="1200" dirty="0"/>
                        <a:t>주로 </a:t>
                      </a:r>
                      <a:r>
                        <a:rPr lang="en-US" altLang="ko-KR" sz="1200" dirty="0"/>
                        <a:t>POST </a:t>
                      </a:r>
                      <a:r>
                        <a:rPr lang="ko-KR" altLang="en-US" sz="1200" dirty="0"/>
                        <a:t>요청에서 사용</a:t>
                      </a:r>
                      <a:r>
                        <a:rPr lang="en-US" altLang="ko-KR" sz="1200" dirty="0"/>
                        <a:t>)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008867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/>
                        <a:t>204</a:t>
                      </a:r>
                      <a:r>
                        <a:rPr lang="en-US" altLang="ko-KR" sz="1400" dirty="0"/>
                        <a:t> No Content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요청이 성공적으로 처리되었지만</a:t>
                      </a:r>
                      <a:r>
                        <a:rPr lang="en-US" altLang="ko-KR" sz="1200" dirty="0"/>
                        <a:t>,</a:t>
                      </a:r>
                      <a:r>
                        <a:rPr lang="ko-KR" altLang="en-US" sz="1200" dirty="0"/>
                        <a:t> 응답 본문에 반환할 내용이 없음 </a:t>
                      </a:r>
                      <a:r>
                        <a:rPr lang="en-US" altLang="ko-KR" sz="1200" dirty="0"/>
                        <a:t>(DELETE </a:t>
                      </a:r>
                      <a:r>
                        <a:rPr lang="ko-KR" altLang="en-US" sz="1200" dirty="0"/>
                        <a:t>요청 후 사용 가능</a:t>
                      </a:r>
                      <a:r>
                        <a:rPr lang="en-US" altLang="ko-KR" sz="1200" dirty="0"/>
                        <a:t>)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13327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/>
                        <a:t>400</a:t>
                      </a:r>
                      <a:r>
                        <a:rPr lang="en-US" altLang="ko-KR" sz="1400" dirty="0"/>
                        <a:t> Bad Request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클라이언트의 요청이 잘못되었음 </a:t>
                      </a:r>
                      <a:r>
                        <a:rPr lang="en-US" altLang="ko-KR" sz="1200" dirty="0"/>
                        <a:t>(ex. </a:t>
                      </a:r>
                      <a:r>
                        <a:rPr lang="ko-KR" altLang="en-US" sz="1200" dirty="0"/>
                        <a:t>잘못된 요청 구문 등</a:t>
                      </a:r>
                      <a:r>
                        <a:rPr lang="en-US" altLang="ko-KR" sz="1200" dirty="0"/>
                        <a:t>)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1551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/>
                        <a:t>401</a:t>
                      </a:r>
                      <a:r>
                        <a:rPr lang="en-US" altLang="ko-KR" sz="1400" dirty="0"/>
                        <a:t> Unauthorized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인증이 필요한 리소스에 대해 인증되지 않은 요청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5378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/>
                        <a:t>403</a:t>
                      </a:r>
                      <a:r>
                        <a:rPr lang="en-US" altLang="ko-KR" sz="1400" dirty="0"/>
                        <a:t> Forbidden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서버가 요청을 이해했지만 수행을 거부했음 </a:t>
                      </a:r>
                      <a:r>
                        <a:rPr lang="en-US" altLang="ko-KR" sz="1200" dirty="0"/>
                        <a:t>(ex. </a:t>
                      </a:r>
                      <a:r>
                        <a:rPr lang="ko-KR" altLang="en-US" sz="1200" dirty="0"/>
                        <a:t>권한 부족으로 인한 접근 거부</a:t>
                      </a:r>
                      <a:r>
                        <a:rPr lang="en-US" altLang="ko-KR" sz="1200" dirty="0"/>
                        <a:t>)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28975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/>
                        <a:t>404</a:t>
                      </a:r>
                      <a:r>
                        <a:rPr lang="en-US" altLang="ko-KR" sz="1400" dirty="0"/>
                        <a:t> Not Found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요청한 리소스를 서버에서 찾을 수 없음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110931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/>
                        <a:t>405</a:t>
                      </a:r>
                      <a:r>
                        <a:rPr lang="en-US" altLang="ko-KR" sz="1400" dirty="0"/>
                        <a:t> Method Not Allowed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요청한 </a:t>
                      </a:r>
                      <a:r>
                        <a:rPr lang="en-US" altLang="ko-KR" sz="1200" dirty="0"/>
                        <a:t>HTTP </a:t>
                      </a:r>
                      <a:r>
                        <a:rPr lang="ko-KR" altLang="en-US" sz="1200" dirty="0"/>
                        <a:t>메소드가 해당 리소스에 대해 허용되지 않음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45834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/>
                        <a:t>409</a:t>
                      </a:r>
                      <a:r>
                        <a:rPr lang="en-US" altLang="ko-KR" sz="1400" dirty="0"/>
                        <a:t> Conflict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요청이 현재 서버의 상태와 충돌함 </a:t>
                      </a:r>
                      <a:r>
                        <a:rPr lang="en-US" altLang="ko-KR" sz="1200" dirty="0"/>
                        <a:t>(ex. </a:t>
                      </a:r>
                      <a:r>
                        <a:rPr lang="ko-KR" altLang="en-US" sz="1200" dirty="0"/>
                        <a:t>다른 클라이언트가 동시에 갱신하는 경우</a:t>
                      </a:r>
                      <a:r>
                        <a:rPr lang="en-US" altLang="ko-KR" sz="1200" dirty="0"/>
                        <a:t>)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74491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/>
                        <a:t>500</a:t>
                      </a:r>
                      <a:r>
                        <a:rPr lang="en-US" altLang="ko-KR" sz="1400" dirty="0"/>
                        <a:t> Internal Server Error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서버에 예기치 않은 상황이 발생하여 요청을 처리할 수 없음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59878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/>
                        <a:t>503</a:t>
                      </a:r>
                      <a:r>
                        <a:rPr lang="en-US" altLang="ko-KR" sz="1400" dirty="0"/>
                        <a:t> Service unavailable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서버가 일시적으로 요청을 처리할 수 없음 </a:t>
                      </a:r>
                      <a:r>
                        <a:rPr lang="en-US" altLang="ko-KR" sz="1200" dirty="0"/>
                        <a:t>(ex. </a:t>
                      </a:r>
                      <a:r>
                        <a:rPr lang="ko-KR" altLang="en-US" sz="1200" dirty="0"/>
                        <a:t>과부하</a:t>
                      </a:r>
                      <a:r>
                        <a:rPr lang="en-US" altLang="ko-KR" sz="1200" dirty="0"/>
                        <a:t>,</a:t>
                      </a:r>
                      <a:r>
                        <a:rPr lang="ko-KR" altLang="en-US" sz="1200" dirty="0"/>
                        <a:t> 점검 등</a:t>
                      </a:r>
                      <a:r>
                        <a:rPr lang="en-US" altLang="ko-KR" sz="1200" dirty="0"/>
                        <a:t>)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0037161"/>
                  </a:ext>
                </a:extLst>
              </a:tr>
            </a:tbl>
          </a:graphicData>
        </a:graphic>
      </p:graphicFrame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69EBC15-C03D-B00A-73DD-4723752259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323D6E5-180D-C50D-B269-E7AECBFF5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FFFEA547-36D1-6895-A56C-11278E445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보충</a:t>
            </a:r>
            <a:r>
              <a:rPr kumimoji="1" lang="en-US" altLang="ko-KR" dirty="0"/>
              <a:t>.</a:t>
            </a:r>
            <a:r>
              <a:rPr kumimoji="1" lang="ko-KR" altLang="en-US" dirty="0"/>
              <a:t> 주요 상태 코드</a:t>
            </a:r>
            <a:r>
              <a:rPr kumimoji="1" lang="en-US" altLang="ko-KR" dirty="0"/>
              <a:t>	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83591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57321EC6-E234-AFEE-618E-9347C16A57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ko-KR" altLang="en-US" sz="2400" dirty="0"/>
              <a:t>헤더 활용하기</a:t>
            </a:r>
            <a:endParaRPr kumimoji="1" lang="en-US" altLang="ko-KR" sz="2400" dirty="0"/>
          </a:p>
          <a:p>
            <a:pPr lvl="1"/>
            <a:r>
              <a:rPr kumimoji="1" lang="en-US" altLang="ko-KR" sz="2000" dirty="0"/>
              <a:t>Request</a:t>
            </a:r>
            <a:r>
              <a:rPr kumimoji="1" lang="ko-KR" altLang="en-US" sz="2000" dirty="0"/>
              <a:t> 와</a:t>
            </a:r>
            <a:r>
              <a:rPr kumimoji="1" lang="en-US" altLang="ko-KR" sz="2000" dirty="0"/>
              <a:t> Response</a:t>
            </a:r>
            <a:r>
              <a:rPr kumimoji="1" lang="ko-KR" altLang="en-US" sz="2000" dirty="0"/>
              <a:t> 에서 </a:t>
            </a:r>
            <a:r>
              <a:rPr kumimoji="1" lang="en-US" altLang="ko-KR" sz="2000" dirty="0"/>
              <a:t>Header </a:t>
            </a:r>
            <a:r>
              <a:rPr kumimoji="1" lang="ko-KR" altLang="en-US" sz="2000" dirty="0" err="1"/>
              <a:t>를</a:t>
            </a:r>
            <a:r>
              <a:rPr kumimoji="1" lang="ko-KR" altLang="en-US" sz="2000" dirty="0"/>
              <a:t> 이용해 부가 정보를 기입 가능</a:t>
            </a:r>
            <a:endParaRPr kumimoji="1" lang="en-US" altLang="ko-KR" sz="2000" dirty="0"/>
          </a:p>
          <a:p>
            <a:pPr lvl="1"/>
            <a:endParaRPr kumimoji="1" lang="en-US" altLang="ko-KR" sz="2000" dirty="0"/>
          </a:p>
          <a:p>
            <a:r>
              <a:rPr kumimoji="1" lang="en-US" altLang="ko-KR" sz="2400" dirty="0"/>
              <a:t>Request Header</a:t>
            </a:r>
          </a:p>
          <a:p>
            <a:pPr lvl="1"/>
            <a:r>
              <a:rPr kumimoji="1" lang="en-US" altLang="ko-KR" sz="2000" dirty="0"/>
              <a:t>Accept: </a:t>
            </a:r>
            <a:r>
              <a:rPr kumimoji="1" lang="ko-KR" altLang="en-US" sz="2000" dirty="0"/>
              <a:t>응답으로 받고 싶은 데이터 형식 지정</a:t>
            </a:r>
            <a:endParaRPr kumimoji="1" lang="en-US" altLang="ko-KR" sz="2000" dirty="0"/>
          </a:p>
          <a:p>
            <a:pPr lvl="1"/>
            <a:r>
              <a:rPr kumimoji="1" lang="en-US" altLang="ko-KR" sz="2000" dirty="0"/>
              <a:t>Authorization: </a:t>
            </a:r>
            <a:r>
              <a:rPr kumimoji="1" lang="ko-KR" altLang="en-US" sz="2000" dirty="0"/>
              <a:t>인증하기 위한 정보</a:t>
            </a:r>
            <a:r>
              <a:rPr kumimoji="1" lang="en-US" altLang="ko-KR" sz="2000" dirty="0"/>
              <a:t>(ID</a:t>
            </a:r>
            <a:r>
              <a:rPr kumimoji="1" lang="ko-KR" altLang="en-US" sz="2000" dirty="0"/>
              <a:t>나 비밀번호 등</a:t>
            </a:r>
            <a:r>
              <a:rPr kumimoji="1" lang="en-US" altLang="ko-KR" sz="2000" dirty="0"/>
              <a:t>)</a:t>
            </a:r>
            <a:r>
              <a:rPr kumimoji="1" lang="ko-KR" altLang="en-US" sz="2000" dirty="0" err="1"/>
              <a:t>를</a:t>
            </a:r>
            <a:r>
              <a:rPr kumimoji="1" lang="ko-KR" altLang="en-US" sz="2000" dirty="0"/>
              <a:t> 지정</a:t>
            </a:r>
            <a:endParaRPr kumimoji="1" lang="en-US" altLang="ko-KR" sz="2000" dirty="0"/>
          </a:p>
          <a:p>
            <a:pPr lvl="1"/>
            <a:r>
              <a:rPr kumimoji="1" lang="en-US" altLang="ko-KR" sz="2000" dirty="0"/>
              <a:t>Content-Type:</a:t>
            </a:r>
            <a:r>
              <a:rPr kumimoji="1" lang="ko-KR" altLang="en-US" sz="2000" dirty="0"/>
              <a:t> 요청의 바디 데이터 형식 지정</a:t>
            </a:r>
            <a:endParaRPr kumimoji="1" lang="en-US" altLang="ko-KR" sz="2000" dirty="0"/>
          </a:p>
          <a:p>
            <a:pPr lvl="1"/>
            <a:endParaRPr kumimoji="1" lang="en-US" altLang="ko-KR" sz="2000" dirty="0"/>
          </a:p>
          <a:p>
            <a:r>
              <a:rPr kumimoji="1" lang="en-US" altLang="ko-KR" sz="2400" dirty="0"/>
              <a:t>Response Header</a:t>
            </a:r>
          </a:p>
          <a:p>
            <a:pPr lvl="1"/>
            <a:r>
              <a:rPr kumimoji="1" lang="en-US" altLang="ko-KR" sz="2000" dirty="0"/>
              <a:t>Content-Type: </a:t>
            </a:r>
            <a:r>
              <a:rPr kumimoji="1" lang="ko-KR" altLang="en-US" sz="2000" dirty="0"/>
              <a:t>응답 바디의 데이터 형식 지정</a:t>
            </a:r>
            <a:endParaRPr kumimoji="1" lang="en-US" altLang="ko-KR" sz="2000" dirty="0"/>
          </a:p>
          <a:p>
            <a:pPr lvl="1"/>
            <a:r>
              <a:rPr kumimoji="1" lang="en-US" altLang="ko-KR" sz="2000" dirty="0"/>
              <a:t>Location:</a:t>
            </a:r>
            <a:r>
              <a:rPr kumimoji="1" lang="ko-KR" altLang="en-US" sz="2000" dirty="0"/>
              <a:t> 새로 등록한 리소스의 </a:t>
            </a:r>
            <a:r>
              <a:rPr kumimoji="1" lang="en-US" altLang="ko-KR" sz="2000" dirty="0"/>
              <a:t>URL</a:t>
            </a:r>
            <a:r>
              <a:rPr kumimoji="1" lang="ko-KR" altLang="en-US" sz="2000" dirty="0"/>
              <a:t> 지정</a:t>
            </a:r>
            <a:endParaRPr kumimoji="1" lang="en-US" altLang="ko-KR" sz="2000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6C1D942-1167-89C6-1C92-B71008F00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9CA1886-1701-DD9A-7034-1E56C05E1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66FB6B43-289F-8EC0-DE07-822C88E5A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REST </a:t>
            </a:r>
            <a:r>
              <a:rPr kumimoji="1" lang="ko-KR" altLang="en-US" dirty="0"/>
              <a:t>규칙 </a:t>
            </a:r>
            <a:r>
              <a:rPr kumimoji="1" lang="en-US" altLang="ko-KR" dirty="0"/>
              <a:t>(5)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189264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57321EC6-E234-AFEE-618E-9347C16A57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ko-KR" altLang="en-US" sz="2400" b="1" dirty="0">
                <a:solidFill>
                  <a:schemeClr val="accent1"/>
                </a:solidFill>
              </a:rPr>
              <a:t>서버 측을 </a:t>
            </a:r>
            <a:r>
              <a:rPr kumimoji="1" lang="ko-KR" altLang="en-US" sz="2400" b="1" dirty="0" err="1">
                <a:solidFill>
                  <a:schemeClr val="accent1"/>
                </a:solidFill>
              </a:rPr>
              <a:t>무상태</a:t>
            </a:r>
            <a:r>
              <a:rPr kumimoji="1" lang="en-US" altLang="ko-KR" sz="2400" b="1" dirty="0">
                <a:solidFill>
                  <a:schemeClr val="accent1"/>
                </a:solidFill>
              </a:rPr>
              <a:t>(stateless)</a:t>
            </a:r>
            <a:r>
              <a:rPr kumimoji="1" lang="ko-KR" altLang="en-US" sz="2400" dirty="0"/>
              <a:t> 로 만들기</a:t>
            </a:r>
            <a:endParaRPr kumimoji="1" lang="en-US" altLang="ko-KR" sz="2400" dirty="0"/>
          </a:p>
          <a:p>
            <a:pPr lvl="1"/>
            <a:r>
              <a:rPr kumimoji="1" lang="ko-KR" altLang="en-US" sz="2000" dirty="0"/>
              <a:t>서버는 클라이언트의 요청을 처리한 후 상태를 보관하지 않음</a:t>
            </a:r>
            <a:endParaRPr kumimoji="1" lang="en-US" altLang="ko-KR" sz="2000" dirty="0"/>
          </a:p>
          <a:p>
            <a:pPr lvl="1"/>
            <a:r>
              <a:rPr kumimoji="1" lang="ko-KR" altLang="en-US" sz="2000" dirty="0"/>
              <a:t>즉</a:t>
            </a:r>
            <a:r>
              <a:rPr kumimoji="1" lang="en-US" altLang="ko-KR" sz="2000" dirty="0"/>
              <a:t>,</a:t>
            </a:r>
            <a:r>
              <a:rPr kumimoji="1" lang="ko-KR" altLang="en-US" sz="2000" dirty="0"/>
              <a:t> 클라이언트가 서버에 요청을 보낼 때 이전 요청의 영향을 받지 않음</a:t>
            </a:r>
            <a:endParaRPr kumimoji="1" lang="en-US" altLang="ko-KR" sz="2000" dirty="0"/>
          </a:p>
          <a:p>
            <a:pPr lvl="1"/>
            <a:r>
              <a:rPr kumimoji="1" lang="ko-KR" altLang="en-US" sz="2000" dirty="0"/>
              <a:t>요청할 때 마다 서로 다른 요청으로 인식되어 이전 작업 내용을 다음 요청 시 사용 불가</a:t>
            </a:r>
            <a:endParaRPr kumimoji="1" lang="en-US" altLang="ko-KR" sz="2000" dirty="0"/>
          </a:p>
          <a:p>
            <a:pPr lvl="1"/>
            <a:endParaRPr kumimoji="1" lang="en-US" altLang="ko-KR" sz="2000" dirty="0"/>
          </a:p>
          <a:p>
            <a:pPr lvl="1"/>
            <a:r>
              <a:rPr kumimoji="1" lang="en-US" altLang="ko-KR" sz="2000" dirty="0"/>
              <a:t>ex. </a:t>
            </a:r>
            <a:r>
              <a:rPr kumimoji="1" lang="ko-KR" altLang="en-US" sz="2000" dirty="0"/>
              <a:t>로그인 요청 후</a:t>
            </a:r>
            <a:r>
              <a:rPr kumimoji="1" lang="en-US" altLang="ko-KR" sz="2000" dirty="0"/>
              <a:t>,</a:t>
            </a:r>
            <a:r>
              <a:rPr kumimoji="1" lang="ko-KR" altLang="en-US" sz="2000" dirty="0"/>
              <a:t> 다음 요청에서 로그인 정보를 서버에게 다시 알려줘야 함</a:t>
            </a:r>
            <a:endParaRPr kumimoji="1" lang="en-US" altLang="ko-KR" sz="1200" dirty="0"/>
          </a:p>
          <a:p>
            <a:pPr lvl="1"/>
            <a:r>
              <a:rPr kumimoji="1" lang="ko-KR" altLang="en-US" sz="2000" dirty="0"/>
              <a:t>왜냐하면 서버는 로그인 상태를 유지하지 못하므로</a:t>
            </a:r>
            <a:r>
              <a:rPr kumimoji="1" lang="en-US" altLang="ko-KR" sz="2000" dirty="0"/>
              <a:t>!!!</a:t>
            </a:r>
          </a:p>
          <a:p>
            <a:pPr lvl="1"/>
            <a:endParaRPr kumimoji="1" lang="en-US" altLang="ko-KR" sz="2000" dirty="0"/>
          </a:p>
          <a:p>
            <a:pPr lvl="1"/>
            <a:r>
              <a:rPr kumimoji="1" lang="ko-KR" altLang="en-US" sz="2000" dirty="0"/>
              <a:t>서버가 상태를 유지해야 한다면 데이터베이스에 리소스를 저장해야 함</a:t>
            </a:r>
            <a:endParaRPr kumimoji="1" lang="en-US" altLang="ko-KR" sz="2000" dirty="0"/>
          </a:p>
          <a:p>
            <a:pPr lvl="1"/>
            <a:r>
              <a:rPr kumimoji="1" lang="ko-KR" altLang="en-US" sz="2000" dirty="0"/>
              <a:t>서버는 </a:t>
            </a:r>
            <a:r>
              <a:rPr kumimoji="1" lang="ko-KR" altLang="en-US" sz="2000" dirty="0">
                <a:solidFill>
                  <a:schemeClr val="accent1"/>
                </a:solidFill>
              </a:rPr>
              <a:t>여러 클라이언트가 요청을 하므로 이전 요청의 상태를 유지할 수 없음</a:t>
            </a:r>
            <a:endParaRPr kumimoji="1" lang="en-US" altLang="ko-KR" sz="2000" dirty="0">
              <a:solidFill>
                <a:schemeClr val="accent1"/>
              </a:solidFill>
            </a:endParaRP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6C1D942-1167-89C6-1C92-B71008F00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9CA1886-1701-DD9A-7034-1E56C05E1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14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66FB6B43-289F-8EC0-DE07-822C88E5A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REST </a:t>
            </a:r>
            <a:r>
              <a:rPr kumimoji="1" lang="ko-KR" altLang="en-US" dirty="0"/>
              <a:t>규칙 </a:t>
            </a:r>
            <a:r>
              <a:rPr kumimoji="1" lang="en-US" altLang="ko-KR" dirty="0"/>
              <a:t>(6)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079634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15</a:t>
            </a:fld>
            <a:endParaRPr lang="ko-KR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DTO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422002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1AA6D0B-7D2F-0B89-E666-C8EB3147D8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5213"/>
            <a:ext cx="10196384" cy="4111688"/>
          </a:xfrm>
        </p:spPr>
        <p:txBody>
          <a:bodyPr>
            <a:normAutofit/>
          </a:bodyPr>
          <a:lstStyle/>
          <a:p>
            <a:r>
              <a:rPr lang="ko-KR" altLang="en-US" sz="2400" dirty="0">
                <a:solidFill>
                  <a:schemeClr val="accent1"/>
                </a:solidFill>
              </a:rPr>
              <a:t>계층 간 데이터 교환</a:t>
            </a:r>
            <a:r>
              <a:rPr lang="ko-KR" altLang="en-US" sz="2400" dirty="0"/>
              <a:t>을 위해 사용하는 객체</a:t>
            </a:r>
            <a:endParaRPr lang="en-US" altLang="ko-KR" sz="2400" dirty="0"/>
          </a:p>
          <a:p>
            <a:pPr lvl="1"/>
            <a:r>
              <a:rPr lang="ko-KR" altLang="en-US" sz="2000" dirty="0"/>
              <a:t>즉</a:t>
            </a:r>
            <a:r>
              <a:rPr lang="en-US" altLang="ko-KR" sz="2000" dirty="0"/>
              <a:t>,</a:t>
            </a:r>
            <a:r>
              <a:rPr lang="ko-KR" altLang="en-US" sz="2000" dirty="0"/>
              <a:t> 데이터를 옮기기 위해 사용하는 </a:t>
            </a:r>
            <a:r>
              <a:rPr lang="ko-KR" altLang="en-US" sz="2000" dirty="0">
                <a:solidFill>
                  <a:schemeClr val="accent1"/>
                </a:solidFill>
              </a:rPr>
              <a:t>전달자 역할</a:t>
            </a:r>
            <a:endParaRPr lang="en-US" altLang="ko-KR" sz="2000" dirty="0">
              <a:solidFill>
                <a:schemeClr val="accent1"/>
              </a:solidFill>
            </a:endParaRPr>
          </a:p>
          <a:p>
            <a:pPr lvl="1"/>
            <a:r>
              <a:rPr lang="ko-KR" altLang="en-US" sz="2000" dirty="0"/>
              <a:t>데이터 전달 목적으로만 사용되므로  다른 로직을 가지지 않는 순수한 데이터 객체</a:t>
            </a:r>
            <a:endParaRPr lang="en-US" altLang="ko-KR" sz="2000" dirty="0"/>
          </a:p>
          <a:p>
            <a:r>
              <a:rPr lang="ko-KR" altLang="en-US" sz="2400" dirty="0"/>
              <a:t>일반적으로 </a:t>
            </a:r>
            <a:r>
              <a:rPr lang="en-US" altLang="ko-KR" sz="2400" dirty="0"/>
              <a:t>getter/setter</a:t>
            </a:r>
            <a:r>
              <a:rPr lang="ko-KR" altLang="en-US" sz="2400" dirty="0"/>
              <a:t> 메서드로만 구성</a:t>
            </a:r>
            <a:endParaRPr lang="en-US" altLang="ko-KR" sz="2400" dirty="0"/>
          </a:p>
          <a:p>
            <a:endParaRPr lang="en-US" altLang="ko-KR" sz="2400" dirty="0"/>
          </a:p>
          <a:p>
            <a:r>
              <a:rPr lang="ko-KR" altLang="en-US" sz="2400" dirty="0"/>
              <a:t>사용 예시</a:t>
            </a:r>
            <a:endParaRPr lang="en-US" altLang="ko-KR" sz="2400" dirty="0"/>
          </a:p>
          <a:p>
            <a:pPr lvl="1"/>
            <a:r>
              <a:rPr lang="ko-KR" altLang="en-US" sz="2000" dirty="0"/>
              <a:t>데이터베이스 조회 결과를 담아 전달하는 용도로 자주 사용</a:t>
            </a:r>
            <a:endParaRPr lang="en-US" altLang="ko-KR" sz="2000" dirty="0"/>
          </a:p>
          <a:p>
            <a:pPr lvl="1"/>
            <a:r>
              <a:rPr lang="ko-KR" altLang="en-US" sz="2000" dirty="0"/>
              <a:t>네트워크 통신 시 데이터 직렬화에 사용 가능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C7FC90B-D293-B8CD-3684-D692ACEC5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2024-07-16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3464782-7ADC-58DA-4BF4-777FD1D6F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16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88C068E-43F6-E730-F99E-14E7F062A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DTO (</a:t>
            </a:r>
            <a:r>
              <a:rPr lang="en-US" altLang="ko-KR" sz="4400" dirty="0"/>
              <a:t>Data Transfer Object)</a:t>
            </a:r>
            <a:endParaRPr lang="ko-KR" altLang="en-US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F551AC7F-D41B-91F1-4CDD-8EB7E55EA4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0738" y="3621057"/>
            <a:ext cx="2887246" cy="2308324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ko-KR" sz="1200" b="0" i="0" u="none" strike="noStrike" cap="none" normalizeH="0" baseline="0" dirty="0">
              <a:ln>
                <a:noFill/>
              </a:ln>
              <a:solidFill>
                <a:srgbClr val="CF8E6D"/>
              </a:solidFill>
              <a:effectLst/>
              <a:latin typeface="JetBrains Mono" panose="02000009000000000000" pitchFamily="49" charset="0"/>
              <a:cs typeface="JetBrains Mono" panose="02000009000000000000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import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lombok.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B3AE60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Getter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import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lombok.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B3AE60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Setter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@Getter</a:t>
            </a:r>
            <a:b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@Setter</a:t>
            </a:r>
            <a:b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public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class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DTOExample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{</a:t>
            </a:r>
            <a:b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private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String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title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private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String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content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private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String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writer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b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endParaRPr kumimoji="0" lang="ko-KR" altLang="ko-K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83729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29C030-D883-A03B-9DBB-169BBAC8F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2024-07-16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7A76816-265B-A35F-18D1-959A12FBC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17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4343E09-36C9-49FF-414B-6FB27074A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DTO </a:t>
            </a:r>
            <a:r>
              <a:rPr lang="ko-KR" altLang="en-US" dirty="0"/>
              <a:t>예제 코드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4BEF97A7-FE72-BF42-310C-B913937495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3647" y="1460487"/>
            <a:ext cx="4369577" cy="2308324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ko-KR" sz="1200" b="0" i="0" u="none" strike="noStrike" cap="none" normalizeH="0" baseline="0" dirty="0">
              <a:ln>
                <a:noFill/>
              </a:ln>
              <a:solidFill>
                <a:srgbClr val="CF8E6D"/>
              </a:solidFill>
              <a:effectLst/>
              <a:latin typeface="JetBrains Mono" panose="02000009000000000000" pitchFamily="49" charset="0"/>
              <a:cs typeface="JetBrains Mono" panose="02000009000000000000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import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lombok.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B3AE60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Getter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import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lombok.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B3AE60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Setter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@Getter</a:t>
            </a:r>
            <a:b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@Setter</a:t>
            </a:r>
            <a:b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public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class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DTOExample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{</a:t>
            </a:r>
            <a:b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private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String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title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private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String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content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private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String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writer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b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endParaRPr kumimoji="0" lang="ko-KR" altLang="ko-K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B2A0C270-3919-BEEA-EAAC-A1CC3019B7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930" y="1460487"/>
            <a:ext cx="4065494" cy="4555093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public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class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DTOExample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{</a:t>
            </a:r>
            <a:b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private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String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title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private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String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content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private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String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writer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public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String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getTitle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() {</a:t>
            </a:r>
            <a:b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return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title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}</a:t>
            </a:r>
            <a:b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public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void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setTitle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String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title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 {</a:t>
            </a:r>
            <a:b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this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title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=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title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}</a:t>
            </a:r>
            <a:b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public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String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getContent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() {</a:t>
            </a:r>
            <a:b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return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content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}</a:t>
            </a:r>
            <a:b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public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void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setContent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String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content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 {</a:t>
            </a:r>
            <a:b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this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content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=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content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}</a:t>
            </a:r>
            <a:b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public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String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getWriter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() {</a:t>
            </a:r>
            <a:b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return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writer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}</a:t>
            </a:r>
            <a:b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public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void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setWriter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String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writer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 {</a:t>
            </a:r>
            <a:b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this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writer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=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writer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}</a:t>
            </a:r>
            <a:b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endParaRPr kumimoji="0" lang="en-US" altLang="ko-KR" sz="1000" b="0" i="0" u="none" strike="noStrike" cap="none" normalizeH="0" baseline="0" dirty="0">
              <a:ln>
                <a:noFill/>
              </a:ln>
              <a:solidFill>
                <a:srgbClr val="BCBEC4"/>
              </a:solidFill>
              <a:effectLst/>
              <a:latin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5BEA480-A2BA-71D8-14AD-963B415B9B50}"/>
              </a:ext>
            </a:extLst>
          </p:cNvPr>
          <p:cNvSpPr/>
          <p:nvPr/>
        </p:nvSpPr>
        <p:spPr>
          <a:xfrm>
            <a:off x="493776" y="2241176"/>
            <a:ext cx="3576201" cy="356795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4C65FD6-85A8-BDDB-4E1C-CA46FB54A0C9}"/>
              </a:ext>
            </a:extLst>
          </p:cNvPr>
          <p:cNvSpPr/>
          <p:nvPr/>
        </p:nvSpPr>
        <p:spPr>
          <a:xfrm>
            <a:off x="5459506" y="2184862"/>
            <a:ext cx="735109" cy="44104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BC038E07-3445-65DD-068E-CD82F3B44889}"/>
              </a:ext>
            </a:extLst>
          </p:cNvPr>
          <p:cNvCxnSpPr>
            <a:cxnSpLocks/>
            <a:stCxn id="11" idx="3"/>
            <a:endCxn id="12" idx="1"/>
          </p:cNvCxnSpPr>
          <p:nvPr/>
        </p:nvCxnSpPr>
        <p:spPr>
          <a:xfrm flipV="1">
            <a:off x="4069977" y="2405382"/>
            <a:ext cx="1389529" cy="161977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A7010089-A814-52A4-B44E-D5D2AE8C3178}"/>
              </a:ext>
            </a:extLst>
          </p:cNvPr>
          <p:cNvSpPr txBox="1"/>
          <p:nvPr/>
        </p:nvSpPr>
        <p:spPr>
          <a:xfrm>
            <a:off x="5303699" y="3875969"/>
            <a:ext cx="476604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/>
              <a:t>클래스 선언 위에 </a:t>
            </a:r>
            <a:r>
              <a:rPr lang="en-US" altLang="ko-KR" sz="1600" dirty="0"/>
              <a:t>@Getter, @Setter </a:t>
            </a:r>
            <a:r>
              <a:rPr lang="ko-KR" altLang="en-US" sz="1600" dirty="0" err="1"/>
              <a:t>어노테이션</a:t>
            </a:r>
            <a:r>
              <a:rPr lang="ko-KR" altLang="en-US" sz="1600" dirty="0"/>
              <a:t> 추가 </a:t>
            </a:r>
            <a:endParaRPr lang="en-US" altLang="ko-KR" sz="1600" dirty="0"/>
          </a:p>
          <a:p>
            <a:endParaRPr lang="en-US" altLang="ko-K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chemeClr val="accent1"/>
                </a:solidFill>
              </a:rPr>
              <a:t>@Getter</a:t>
            </a:r>
            <a:r>
              <a:rPr lang="en-US" altLang="ko-KR" sz="1600" dirty="0"/>
              <a:t>: </a:t>
            </a:r>
            <a:r>
              <a:rPr lang="ko-KR" altLang="en-US" sz="1600" dirty="0"/>
              <a:t>모든 필드에 대한 </a:t>
            </a:r>
            <a:r>
              <a:rPr lang="en-US" altLang="ko-KR" sz="1600" dirty="0"/>
              <a:t>getter </a:t>
            </a:r>
            <a:r>
              <a:rPr lang="ko-KR" altLang="en-US" sz="1600" dirty="0"/>
              <a:t>메소드 자동 생성</a:t>
            </a:r>
            <a:endParaRPr lang="en-US" altLang="ko-K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chemeClr val="accent1"/>
                </a:solidFill>
              </a:rPr>
              <a:t>@Setter</a:t>
            </a:r>
            <a:r>
              <a:rPr lang="en-US" altLang="ko-KR" sz="1600" dirty="0"/>
              <a:t>:</a:t>
            </a:r>
            <a:r>
              <a:rPr lang="ko-KR" altLang="en-US" sz="1600" dirty="0"/>
              <a:t> 모든 필드에 대한 </a:t>
            </a:r>
            <a:r>
              <a:rPr lang="en-US" altLang="ko-KR" sz="1600" dirty="0"/>
              <a:t>setter </a:t>
            </a:r>
            <a:r>
              <a:rPr lang="ko-KR" altLang="en-US" sz="1600" dirty="0"/>
              <a:t>메소드 자동 생성</a:t>
            </a:r>
            <a:endParaRPr lang="en-US" altLang="ko-KR" sz="16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1AA0A2B-302B-B877-FB5A-72F70FF71A8B}"/>
              </a:ext>
            </a:extLst>
          </p:cNvPr>
          <p:cNvSpPr txBox="1"/>
          <p:nvPr/>
        </p:nvSpPr>
        <p:spPr>
          <a:xfrm>
            <a:off x="5303699" y="5397513"/>
            <a:ext cx="6099048" cy="5847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600" dirty="0"/>
              <a:t>Lombok</a:t>
            </a:r>
            <a:r>
              <a:rPr lang="ko-KR" altLang="en-US" sz="1600" dirty="0"/>
              <a:t>을 이용해 </a:t>
            </a:r>
            <a:r>
              <a:rPr lang="ko-KR" altLang="en-US" sz="1600" b="1" dirty="0"/>
              <a:t>간결한 코드 작성</a:t>
            </a:r>
            <a:r>
              <a:rPr lang="ko-KR" altLang="en-US" sz="1600" dirty="0"/>
              <a:t>이 가능하며</a:t>
            </a:r>
            <a:r>
              <a:rPr lang="en-US" altLang="ko-KR" sz="1600" dirty="0"/>
              <a:t>, </a:t>
            </a:r>
          </a:p>
          <a:p>
            <a:pPr algn="ctr"/>
            <a:r>
              <a:rPr lang="ko-KR" altLang="en-US" sz="1600" dirty="0" err="1"/>
              <a:t>보일러플레이트</a:t>
            </a:r>
            <a:r>
              <a:rPr lang="ko-KR" altLang="en-US" sz="1600" dirty="0"/>
              <a:t> 코드를 줄이고</a:t>
            </a:r>
            <a:r>
              <a:rPr lang="en-US" altLang="ko-KR" sz="1600" dirty="0"/>
              <a:t>, </a:t>
            </a:r>
            <a:r>
              <a:rPr lang="ko-KR" altLang="en-US" sz="1600" b="1" dirty="0"/>
              <a:t>클래스의 본질 구조에 집중</a:t>
            </a:r>
            <a:r>
              <a:rPr lang="ko-KR" altLang="en-US" sz="1600" dirty="0"/>
              <a:t> 가능</a:t>
            </a:r>
            <a:r>
              <a:rPr lang="en-US" altLang="ko-KR" sz="1600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15503388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18</a:t>
            </a:fld>
            <a:endParaRPr lang="ko-KR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VO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122009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1AA6D0B-7D2F-0B89-E666-C8EB3147D8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5213"/>
            <a:ext cx="10196384" cy="4111688"/>
          </a:xfrm>
        </p:spPr>
        <p:txBody>
          <a:bodyPr>
            <a:normAutofit/>
          </a:bodyPr>
          <a:lstStyle/>
          <a:p>
            <a:r>
              <a:rPr lang="en-US" altLang="ko-KR" sz="2400" dirty="0"/>
              <a:t>DTO</a:t>
            </a:r>
            <a:r>
              <a:rPr lang="ko-KR" altLang="en-US" sz="2400" dirty="0"/>
              <a:t>와 유사하지만</a:t>
            </a:r>
            <a:r>
              <a:rPr lang="en-US" altLang="ko-KR" sz="2400" dirty="0"/>
              <a:t>, VO</a:t>
            </a:r>
            <a:r>
              <a:rPr lang="ko-KR" altLang="en-US" sz="2400" dirty="0"/>
              <a:t>는</a:t>
            </a:r>
            <a:r>
              <a:rPr lang="ko-KR" altLang="en-US" sz="2400" dirty="0">
                <a:solidFill>
                  <a:schemeClr val="accent5"/>
                </a:solidFill>
              </a:rPr>
              <a:t> </a:t>
            </a:r>
            <a:r>
              <a:rPr lang="en-US" altLang="ko-KR" sz="2400" dirty="0">
                <a:solidFill>
                  <a:schemeClr val="accent5"/>
                </a:solidFill>
              </a:rPr>
              <a:t>read-Only </a:t>
            </a:r>
            <a:r>
              <a:rPr lang="ko-KR" altLang="en-US" sz="2400" dirty="0"/>
              <a:t>속성을 갖고 있는 객체</a:t>
            </a:r>
            <a:endParaRPr lang="en-US" altLang="ko-KR" sz="2400" dirty="0"/>
          </a:p>
          <a:p>
            <a:r>
              <a:rPr lang="ko-KR" altLang="en-US" sz="2400" dirty="0"/>
              <a:t>값 자체를 표현하는 불변</a:t>
            </a:r>
            <a:r>
              <a:rPr lang="en-US" altLang="ko-KR" sz="2400" dirty="0"/>
              <a:t>(immutable)</a:t>
            </a:r>
            <a:r>
              <a:rPr lang="ko-KR" altLang="en-US" sz="2400" dirty="0"/>
              <a:t> 객체</a:t>
            </a:r>
            <a:endParaRPr lang="en-US" altLang="ko-KR" sz="2400" dirty="0"/>
          </a:p>
          <a:p>
            <a:pPr lvl="1"/>
            <a:r>
              <a:rPr lang="ko-KR" altLang="en-US" sz="2000" dirty="0"/>
              <a:t>한 번 생성 되면 내부 값을 변경할 수 없음 </a:t>
            </a:r>
            <a:r>
              <a:rPr lang="en-US" altLang="ko-KR" sz="2000" dirty="0"/>
              <a:t>-&gt; getter </a:t>
            </a:r>
            <a:r>
              <a:rPr lang="ko-KR" altLang="en-US" sz="2000" dirty="0"/>
              <a:t>메서드만 가짐</a:t>
            </a:r>
            <a:endParaRPr lang="en-US" altLang="ko-KR" sz="2000" dirty="0"/>
          </a:p>
          <a:p>
            <a:pPr lvl="1"/>
            <a:r>
              <a:rPr lang="ko-KR" altLang="en-US" sz="2000" dirty="0"/>
              <a:t>따라서</a:t>
            </a:r>
            <a:r>
              <a:rPr lang="en-US" altLang="ko-KR" sz="2000" dirty="0"/>
              <a:t>,</a:t>
            </a:r>
            <a:r>
              <a:rPr lang="ko-KR" altLang="en-US" sz="2000" dirty="0"/>
              <a:t> 객체의 속성 값이 같으면 같은 객체로 간주</a:t>
            </a:r>
            <a:endParaRPr lang="en-US" altLang="ko-KR" sz="2000" dirty="0"/>
          </a:p>
          <a:p>
            <a:pPr lvl="1"/>
            <a:r>
              <a:rPr lang="en-US" altLang="ko-KR" sz="2000" dirty="0"/>
              <a:t>equals() </a:t>
            </a:r>
            <a:r>
              <a:rPr lang="ko-KR" altLang="en-US" sz="2000" dirty="0"/>
              <a:t>와 </a:t>
            </a:r>
            <a:r>
              <a:rPr lang="en-US" altLang="ko-KR" sz="2000" dirty="0" err="1"/>
              <a:t>hashCode</a:t>
            </a:r>
            <a:r>
              <a:rPr lang="en-US" altLang="ko-KR" sz="2000" dirty="0"/>
              <a:t>() </a:t>
            </a:r>
            <a:r>
              <a:rPr lang="ko-KR" altLang="en-US" sz="2000" dirty="0"/>
              <a:t>메서드를 </a:t>
            </a:r>
            <a:r>
              <a:rPr lang="ko-KR" altLang="en-US" sz="2000" dirty="0" err="1"/>
              <a:t>오버라이드하여</a:t>
            </a:r>
            <a:r>
              <a:rPr lang="ko-KR" altLang="en-US" sz="2000" dirty="0"/>
              <a:t> 값 비교 수행</a:t>
            </a:r>
            <a:endParaRPr lang="en-US" altLang="ko-KR" sz="2000" dirty="0"/>
          </a:p>
          <a:p>
            <a:r>
              <a:rPr lang="ko-KR" altLang="en-US" sz="2400" dirty="0"/>
              <a:t>일부 비즈니스 로직 포함 가능</a:t>
            </a:r>
            <a:endParaRPr lang="en-US" altLang="ko-KR" sz="2400" dirty="0"/>
          </a:p>
          <a:p>
            <a:endParaRPr lang="en-US" altLang="ko-KR" sz="2400" dirty="0"/>
          </a:p>
          <a:p>
            <a:r>
              <a:rPr lang="ko-KR" altLang="en-US" sz="2400" dirty="0"/>
              <a:t>사용 예시</a:t>
            </a:r>
            <a:endParaRPr lang="en-US" altLang="ko-KR" sz="2400" dirty="0"/>
          </a:p>
          <a:p>
            <a:pPr lvl="1"/>
            <a:r>
              <a:rPr lang="ko-KR" altLang="en-US" sz="2000" dirty="0"/>
              <a:t>날짜 범위</a:t>
            </a:r>
            <a:r>
              <a:rPr lang="en-US" altLang="ko-KR" sz="2000" dirty="0"/>
              <a:t>:</a:t>
            </a:r>
            <a:r>
              <a:rPr lang="ko-KR" altLang="en-US" sz="2000" dirty="0"/>
              <a:t> 시작 날짜와 종료 날짜를 하나의 객체로 표현</a:t>
            </a:r>
            <a:endParaRPr lang="en-US" altLang="ko-KR" sz="2000" dirty="0"/>
          </a:p>
          <a:p>
            <a:pPr lvl="1"/>
            <a:r>
              <a:rPr lang="ko-KR" altLang="en-US" sz="2000" dirty="0"/>
              <a:t>주소</a:t>
            </a:r>
            <a:r>
              <a:rPr lang="en-US" altLang="ko-KR" sz="2000" dirty="0"/>
              <a:t>:</a:t>
            </a:r>
            <a:r>
              <a:rPr lang="ko-KR" altLang="en-US" sz="2000" dirty="0"/>
              <a:t> 국가</a:t>
            </a:r>
            <a:r>
              <a:rPr lang="en-US" altLang="ko-KR" sz="2000" dirty="0"/>
              <a:t>,</a:t>
            </a:r>
            <a:r>
              <a:rPr lang="ko-KR" altLang="en-US" sz="2000" dirty="0"/>
              <a:t> 도시</a:t>
            </a:r>
            <a:r>
              <a:rPr lang="en-US" altLang="ko-KR" sz="2000" dirty="0"/>
              <a:t>,</a:t>
            </a:r>
            <a:r>
              <a:rPr lang="ko-KR" altLang="en-US" sz="2000" dirty="0"/>
              <a:t> 상세 주소 등을 하나의 객체로 표현</a:t>
            </a:r>
            <a:endParaRPr lang="en-US" altLang="ko-KR" sz="20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C7FC90B-D293-B8CD-3684-D692ACEC5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2024-07-16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3464782-7ADC-58DA-4BF4-777FD1D6F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19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88C068E-43F6-E730-F99E-14E7F062A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VO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en-US" altLang="ko-KR" sz="4400" dirty="0"/>
              <a:t>Value</a:t>
            </a:r>
            <a:r>
              <a:rPr lang="ko-KR" altLang="en-US" sz="4400" dirty="0"/>
              <a:t> </a:t>
            </a:r>
            <a:r>
              <a:rPr lang="en-US" altLang="ko-KR" sz="4400" dirty="0"/>
              <a:t>Object)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723285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7218838-61C1-2A96-11DE-B5A0EECAC2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BC2204F-762E-5FFF-FAFA-B8801F4CF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20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1EFA4373-DD90-7F38-4DDA-09E15B838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VO </a:t>
            </a:r>
            <a:r>
              <a:rPr lang="ko-KR" altLang="en-US" dirty="0"/>
              <a:t>예제 코드</a:t>
            </a: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0AAD6F07-68FB-86C4-9BC9-773787F349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1635" y="1565214"/>
            <a:ext cx="4634753" cy="4247317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import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java.util.Objects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000" b="0" i="1" u="none" strike="noStrike" cap="none" normalizeH="0" baseline="0" dirty="0">
                <a:ln>
                  <a:noFill/>
                </a:ln>
                <a:solidFill>
                  <a:srgbClr val="5F826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/**</a:t>
            </a:r>
            <a:br>
              <a:rPr kumimoji="0" lang="ko-KR" altLang="ko-KR" sz="1000" b="0" i="1" u="none" strike="noStrike" cap="none" normalizeH="0" baseline="0" dirty="0">
                <a:ln>
                  <a:noFill/>
                </a:ln>
                <a:solidFill>
                  <a:srgbClr val="5F826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000" b="0" i="1" u="none" strike="noStrike" cap="none" normalizeH="0" baseline="0" dirty="0">
                <a:ln>
                  <a:noFill/>
                </a:ln>
                <a:solidFill>
                  <a:srgbClr val="5F826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* 2D </a:t>
            </a:r>
            <a:r>
              <a:rPr kumimoji="0" lang="ko-KR" altLang="ko-KR" sz="1000" b="0" i="1" u="none" strike="noStrike" cap="none" normalizeH="0" baseline="0" dirty="0">
                <a:ln>
                  <a:noFill/>
                </a:ln>
                <a:solidFill>
                  <a:srgbClr val="5F826B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JetBrains Mono" panose="02000009000000000000" pitchFamily="49" charset="0"/>
              </a:rPr>
              <a:t>좌표를 표현하는 간단한 </a:t>
            </a:r>
            <a:r>
              <a:rPr kumimoji="0" lang="ko-KR" altLang="ko-KR" sz="1000" b="0" i="1" u="none" strike="noStrike" cap="none" normalizeH="0" baseline="0" dirty="0">
                <a:ln>
                  <a:noFill/>
                </a:ln>
                <a:solidFill>
                  <a:srgbClr val="5F826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VO (</a:t>
            </a:r>
            <a:r>
              <a:rPr kumimoji="0" lang="ko-KR" altLang="ko-KR" sz="1000" b="0" i="1" u="none" strike="noStrike" cap="none" normalizeH="0" baseline="0" dirty="0" err="1">
                <a:ln>
                  <a:noFill/>
                </a:ln>
                <a:solidFill>
                  <a:srgbClr val="5F826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Value</a:t>
            </a:r>
            <a:r>
              <a:rPr kumimoji="0" lang="ko-KR" altLang="ko-KR" sz="1000" b="0" i="1" u="none" strike="noStrike" cap="none" normalizeH="0" baseline="0" dirty="0">
                <a:ln>
                  <a:noFill/>
                </a:ln>
                <a:solidFill>
                  <a:srgbClr val="5F826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000" b="0" i="1" u="none" strike="noStrike" cap="none" normalizeH="0" baseline="0" dirty="0" err="1">
                <a:ln>
                  <a:noFill/>
                </a:ln>
                <a:solidFill>
                  <a:srgbClr val="5F826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Object</a:t>
            </a:r>
            <a:r>
              <a:rPr kumimoji="0" lang="ko-KR" altLang="ko-KR" sz="1000" b="0" i="1" u="none" strike="noStrike" cap="none" normalizeH="0" baseline="0" dirty="0">
                <a:ln>
                  <a:noFill/>
                </a:ln>
                <a:solidFill>
                  <a:srgbClr val="5F826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 </a:t>
            </a:r>
            <a:r>
              <a:rPr kumimoji="0" lang="ko-KR" altLang="ko-KR" sz="1000" b="0" i="1" u="none" strike="noStrike" cap="none" normalizeH="0" baseline="0" dirty="0">
                <a:ln>
                  <a:noFill/>
                </a:ln>
                <a:solidFill>
                  <a:srgbClr val="5F826B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JetBrains Mono" panose="02000009000000000000" pitchFamily="49" charset="0"/>
              </a:rPr>
              <a:t>클래스</a:t>
            </a:r>
            <a:br>
              <a:rPr kumimoji="0" lang="ko-KR" altLang="ko-KR" sz="1000" b="0" i="1" u="none" strike="noStrike" cap="none" normalizeH="0" baseline="0" dirty="0">
                <a:ln>
                  <a:noFill/>
                </a:ln>
                <a:solidFill>
                  <a:srgbClr val="5F826B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JetBrains Mono" panose="02000009000000000000" pitchFamily="49" charset="0"/>
              </a:rPr>
            </a:br>
            <a:r>
              <a:rPr kumimoji="0" lang="ko-KR" altLang="ko-KR" sz="1000" b="0" i="1" u="none" strike="noStrike" cap="none" normalizeH="0" baseline="0" dirty="0">
                <a:ln>
                  <a:noFill/>
                </a:ln>
                <a:solidFill>
                  <a:srgbClr val="5F826B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JetBrains Mono" panose="02000009000000000000" pitchFamily="49" charset="0"/>
              </a:rPr>
              <a:t> </a:t>
            </a:r>
            <a:r>
              <a:rPr kumimoji="0" lang="ko-KR" altLang="ko-KR" sz="1000" b="0" i="1" u="none" strike="noStrike" cap="none" normalizeH="0" baseline="0" dirty="0">
                <a:ln>
                  <a:noFill/>
                </a:ln>
                <a:solidFill>
                  <a:srgbClr val="5F826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*/</a:t>
            </a:r>
            <a:br>
              <a:rPr kumimoji="0" lang="ko-KR" altLang="ko-KR" sz="1000" b="0" i="1" u="none" strike="noStrike" cap="none" normalizeH="0" baseline="0" dirty="0">
                <a:ln>
                  <a:noFill/>
                </a:ln>
                <a:solidFill>
                  <a:srgbClr val="5F826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public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final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class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Point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{</a:t>
            </a:r>
            <a:b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private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final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int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x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private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final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int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y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ko-KR" altLang="ko-KR" sz="1000" b="0" i="1" u="none" strike="noStrike" cap="none" normalizeH="0" baseline="0" dirty="0">
                <a:ln>
                  <a:noFill/>
                </a:ln>
                <a:solidFill>
                  <a:srgbClr val="5F826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/**</a:t>
            </a:r>
            <a:br>
              <a:rPr kumimoji="0" lang="ko-KR" altLang="ko-KR" sz="1000" b="0" i="1" u="none" strike="noStrike" cap="none" normalizeH="0" baseline="0" dirty="0">
                <a:ln>
                  <a:noFill/>
                </a:ln>
                <a:solidFill>
                  <a:srgbClr val="5F826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000" b="0" i="1" u="none" strike="noStrike" cap="none" normalizeH="0" baseline="0" dirty="0">
                <a:ln>
                  <a:noFill/>
                </a:ln>
                <a:solidFill>
                  <a:srgbClr val="5F826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ko-KR" sz="1000" b="0" i="1" u="none" strike="noStrike" cap="none" normalizeH="0" baseline="0" dirty="0">
                <a:ln>
                  <a:noFill/>
                </a:ln>
                <a:solidFill>
                  <a:srgbClr val="5F826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000" b="0" i="1" u="none" strike="noStrike" cap="none" normalizeH="0" baseline="0" dirty="0">
                <a:ln>
                  <a:noFill/>
                </a:ln>
                <a:solidFill>
                  <a:srgbClr val="5F826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* </a:t>
            </a:r>
            <a:r>
              <a:rPr kumimoji="0" lang="ko-KR" altLang="ko-KR" sz="1000" b="0" i="1" u="none" strike="noStrike" cap="none" normalizeH="0" baseline="0" dirty="0" err="1">
                <a:ln>
                  <a:noFill/>
                </a:ln>
                <a:solidFill>
                  <a:srgbClr val="5F826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Point</a:t>
            </a:r>
            <a:r>
              <a:rPr kumimoji="0" lang="ko-KR" altLang="ko-KR" sz="1000" b="0" i="1" u="none" strike="noStrike" cap="none" normalizeH="0" baseline="0" dirty="0">
                <a:ln>
                  <a:noFill/>
                </a:ln>
                <a:solidFill>
                  <a:srgbClr val="5F826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000" b="0" i="1" u="none" strike="noStrike" cap="none" normalizeH="0" baseline="0" dirty="0">
                <a:ln>
                  <a:noFill/>
                </a:ln>
                <a:solidFill>
                  <a:srgbClr val="5F826B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JetBrains Mono" panose="02000009000000000000" pitchFamily="49" charset="0"/>
              </a:rPr>
              <a:t>객체를 생성합니다</a:t>
            </a:r>
            <a:r>
              <a:rPr kumimoji="0" lang="ko-KR" altLang="ko-KR" sz="1000" b="0" i="1" u="none" strike="noStrike" cap="none" normalizeH="0" baseline="0" dirty="0">
                <a:ln>
                  <a:noFill/>
                </a:ln>
                <a:solidFill>
                  <a:srgbClr val="5F826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br>
              <a:rPr kumimoji="0" lang="ko-KR" altLang="ko-KR" sz="1000" b="0" i="1" u="none" strike="noStrike" cap="none" normalizeH="0" baseline="0" dirty="0">
                <a:ln>
                  <a:noFill/>
                </a:ln>
                <a:solidFill>
                  <a:srgbClr val="5F826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US" altLang="ko-KR" sz="1000" i="1" dirty="0">
                <a:solidFill>
                  <a:srgbClr val="5F826B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     </a:t>
            </a:r>
            <a:r>
              <a:rPr kumimoji="0" lang="ko-KR" altLang="ko-KR" sz="1000" b="0" i="1" u="none" strike="noStrike" cap="none" normalizeH="0" baseline="0" dirty="0">
                <a:ln>
                  <a:noFill/>
                </a:ln>
                <a:solidFill>
                  <a:srgbClr val="5F826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* </a:t>
            </a:r>
            <a:r>
              <a:rPr kumimoji="0" lang="ko-KR" altLang="ko-KR" sz="1000" b="0" i="1" u="none" strike="noStrike" cap="none" normalizeH="0" baseline="0" dirty="0">
                <a:ln>
                  <a:noFill/>
                </a:ln>
                <a:solidFill>
                  <a:srgbClr val="67A37C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@param </a:t>
            </a:r>
            <a:r>
              <a:rPr kumimoji="0" lang="ko-KR" altLang="ko-KR" sz="1000" b="0" i="1" u="none" strike="noStrike" cap="none" normalizeH="0" baseline="0" dirty="0" err="1">
                <a:ln>
                  <a:noFill/>
                </a:ln>
                <a:solidFill>
                  <a:srgbClr val="ABADB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x</a:t>
            </a:r>
            <a:r>
              <a:rPr kumimoji="0" lang="ko-KR" altLang="ko-KR" sz="1000" b="0" i="1" u="none" strike="noStrike" cap="none" normalizeH="0" baseline="0" dirty="0">
                <a:ln>
                  <a:noFill/>
                </a:ln>
                <a:solidFill>
                  <a:srgbClr val="ABADB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000" b="0" i="1" u="none" strike="noStrike" cap="none" normalizeH="0" baseline="0" dirty="0" err="1">
                <a:ln>
                  <a:noFill/>
                </a:ln>
                <a:solidFill>
                  <a:srgbClr val="5F826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x</a:t>
            </a:r>
            <a:r>
              <a:rPr kumimoji="0" lang="ko-KR" altLang="ko-KR" sz="1000" b="0" i="1" u="none" strike="noStrike" cap="none" normalizeH="0" baseline="0" dirty="0">
                <a:ln>
                  <a:noFill/>
                </a:ln>
                <a:solidFill>
                  <a:srgbClr val="5F826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000" b="0" i="1" u="none" strike="noStrike" cap="none" normalizeH="0" baseline="0" dirty="0">
                <a:ln>
                  <a:noFill/>
                </a:ln>
                <a:solidFill>
                  <a:srgbClr val="5F826B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JetBrains Mono" panose="02000009000000000000" pitchFamily="49" charset="0"/>
              </a:rPr>
              <a:t>좌표</a:t>
            </a:r>
            <a:br>
              <a:rPr kumimoji="0" lang="ko-KR" altLang="ko-KR" sz="1000" b="0" i="1" u="none" strike="noStrike" cap="none" normalizeH="0" baseline="0" dirty="0">
                <a:ln>
                  <a:noFill/>
                </a:ln>
                <a:solidFill>
                  <a:srgbClr val="5F826B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JetBrains Mono" panose="02000009000000000000" pitchFamily="49" charset="0"/>
              </a:rPr>
            </a:br>
            <a:r>
              <a:rPr kumimoji="0" lang="ko-KR" altLang="ko-KR" sz="1000" b="0" i="1" u="none" strike="noStrike" cap="none" normalizeH="0" baseline="0" dirty="0">
                <a:ln>
                  <a:noFill/>
                </a:ln>
                <a:solidFill>
                  <a:srgbClr val="5F826B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JetBrains Mono" panose="02000009000000000000" pitchFamily="49" charset="0"/>
              </a:rPr>
              <a:t>    </a:t>
            </a:r>
            <a:r>
              <a:rPr kumimoji="0" lang="en-US" altLang="ko-KR" sz="1000" b="0" i="1" u="none" strike="noStrike" cap="none" normalizeH="0" baseline="0" dirty="0">
                <a:ln>
                  <a:noFill/>
                </a:ln>
                <a:solidFill>
                  <a:srgbClr val="5F826B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JetBrains Mono" panose="02000009000000000000" pitchFamily="49" charset="0"/>
              </a:rPr>
              <a:t>  </a:t>
            </a:r>
            <a:r>
              <a:rPr kumimoji="0" lang="ko-KR" altLang="ko-KR" sz="1000" b="0" i="1" u="none" strike="noStrike" cap="none" normalizeH="0" baseline="0" dirty="0">
                <a:ln>
                  <a:noFill/>
                </a:ln>
                <a:solidFill>
                  <a:srgbClr val="5F826B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JetBrains Mono" panose="02000009000000000000" pitchFamily="49" charset="0"/>
              </a:rPr>
              <a:t> </a:t>
            </a:r>
            <a:r>
              <a:rPr kumimoji="0" lang="en-US" altLang="ko-KR" sz="1000" b="0" i="1" u="none" strike="noStrike" cap="none" normalizeH="0" baseline="0" dirty="0">
                <a:ln>
                  <a:noFill/>
                </a:ln>
                <a:solidFill>
                  <a:srgbClr val="5F826B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JetBrains Mono" panose="02000009000000000000" pitchFamily="49" charset="0"/>
              </a:rPr>
              <a:t>  </a:t>
            </a:r>
            <a:r>
              <a:rPr kumimoji="0" lang="ko-KR" altLang="ko-KR" sz="1000" b="0" i="1" u="none" strike="noStrike" cap="none" normalizeH="0" baseline="0" dirty="0">
                <a:ln>
                  <a:noFill/>
                </a:ln>
                <a:solidFill>
                  <a:srgbClr val="5F826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* </a:t>
            </a:r>
            <a:r>
              <a:rPr kumimoji="0" lang="ko-KR" altLang="ko-KR" sz="1000" b="0" i="1" u="none" strike="noStrike" cap="none" normalizeH="0" baseline="0" dirty="0">
                <a:ln>
                  <a:noFill/>
                </a:ln>
                <a:solidFill>
                  <a:srgbClr val="67A37C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@param </a:t>
            </a:r>
            <a:r>
              <a:rPr kumimoji="0" lang="ko-KR" altLang="ko-KR" sz="1000" b="0" i="1" u="none" strike="noStrike" cap="none" normalizeH="0" baseline="0" dirty="0" err="1">
                <a:ln>
                  <a:noFill/>
                </a:ln>
                <a:solidFill>
                  <a:srgbClr val="ABADB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y</a:t>
            </a:r>
            <a:r>
              <a:rPr kumimoji="0" lang="ko-KR" altLang="ko-KR" sz="1000" b="0" i="1" u="none" strike="noStrike" cap="none" normalizeH="0" baseline="0" dirty="0">
                <a:ln>
                  <a:noFill/>
                </a:ln>
                <a:solidFill>
                  <a:srgbClr val="ABADB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000" b="0" i="1" u="none" strike="noStrike" cap="none" normalizeH="0" baseline="0" dirty="0" err="1">
                <a:ln>
                  <a:noFill/>
                </a:ln>
                <a:solidFill>
                  <a:srgbClr val="5F826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y</a:t>
            </a:r>
            <a:r>
              <a:rPr kumimoji="0" lang="ko-KR" altLang="ko-KR" sz="1000" b="0" i="1" u="none" strike="noStrike" cap="none" normalizeH="0" baseline="0" dirty="0">
                <a:ln>
                  <a:noFill/>
                </a:ln>
                <a:solidFill>
                  <a:srgbClr val="5F826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000" b="0" i="1" u="none" strike="noStrike" cap="none" normalizeH="0" baseline="0" dirty="0">
                <a:ln>
                  <a:noFill/>
                </a:ln>
                <a:solidFill>
                  <a:srgbClr val="5F826B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JetBrains Mono" panose="02000009000000000000" pitchFamily="49" charset="0"/>
              </a:rPr>
              <a:t>좌표</a:t>
            </a:r>
            <a:br>
              <a:rPr kumimoji="0" lang="ko-KR" altLang="ko-KR" sz="1000" b="0" i="1" u="none" strike="noStrike" cap="none" normalizeH="0" baseline="0" dirty="0">
                <a:ln>
                  <a:noFill/>
                </a:ln>
                <a:solidFill>
                  <a:srgbClr val="5F826B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JetBrains Mono" panose="02000009000000000000" pitchFamily="49" charset="0"/>
              </a:rPr>
            </a:br>
            <a:r>
              <a:rPr kumimoji="0" lang="ko-KR" altLang="ko-KR" sz="1000" b="0" i="1" u="none" strike="noStrike" cap="none" normalizeH="0" baseline="0" dirty="0">
                <a:ln>
                  <a:noFill/>
                </a:ln>
                <a:solidFill>
                  <a:srgbClr val="5F826B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JetBrains Mono" panose="02000009000000000000" pitchFamily="49" charset="0"/>
              </a:rPr>
              <a:t>     </a:t>
            </a:r>
            <a:r>
              <a:rPr kumimoji="0" lang="en-US" altLang="ko-KR" sz="1000" b="0" i="1" u="none" strike="noStrike" cap="none" normalizeH="0" baseline="0" dirty="0">
                <a:ln>
                  <a:noFill/>
                </a:ln>
                <a:solidFill>
                  <a:srgbClr val="5F826B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JetBrains Mono" panose="02000009000000000000" pitchFamily="49" charset="0"/>
              </a:rPr>
              <a:t>    </a:t>
            </a:r>
            <a:r>
              <a:rPr kumimoji="0" lang="ko-KR" altLang="ko-KR" sz="1000" b="0" i="1" u="none" strike="noStrike" cap="none" normalizeH="0" baseline="0" dirty="0">
                <a:ln>
                  <a:noFill/>
                </a:ln>
                <a:solidFill>
                  <a:srgbClr val="5F826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*/</a:t>
            </a:r>
            <a:br>
              <a:rPr kumimoji="0" lang="ko-KR" altLang="ko-KR" sz="1000" b="0" i="1" u="none" strike="noStrike" cap="none" normalizeH="0" baseline="0" dirty="0">
                <a:ln>
                  <a:noFill/>
                </a:ln>
                <a:solidFill>
                  <a:srgbClr val="5F826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000" b="0" i="1" u="none" strike="noStrike" cap="none" normalizeH="0" baseline="0" dirty="0">
                <a:ln>
                  <a:noFill/>
                </a:ln>
                <a:solidFill>
                  <a:srgbClr val="5F826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public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Point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int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x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int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y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 {</a:t>
            </a:r>
            <a:b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this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x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=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x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this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y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=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y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}</a:t>
            </a:r>
            <a:b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//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7A7E8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Getter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JetBrains Mono" panose="02000009000000000000" pitchFamily="49" charset="0"/>
              </a:rPr>
              <a:t>메서드들</a:t>
            </a:r>
            <a:b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JetBrains Mono" panose="02000009000000000000" pitchFamily="49" charset="0"/>
              </a:rPr>
            </a:br>
            <a:r>
              <a:rPr kumimoji="0" lang="en-US" altLang="ko-KR" sz="10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JetBrains Mono" panose="02000009000000000000" pitchFamily="49" charset="0"/>
              </a:rPr>
              <a:t>   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JetBrains Mono" panose="02000009000000000000" pitchFamily="49" charset="0"/>
              </a:rPr>
              <a:t>   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public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int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getX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() {</a:t>
            </a:r>
            <a:b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return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x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}</a:t>
            </a:r>
            <a:b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public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int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getY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() {</a:t>
            </a:r>
            <a:b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return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y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}</a:t>
            </a:r>
            <a:endParaRPr kumimoji="0" lang="ko-KR" altLang="ko-K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5FD60959-5978-04DE-8CA3-1146F0FFD2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97389" y="1565213"/>
            <a:ext cx="5199529" cy="4247317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</a:t>
            </a:r>
            <a:r>
              <a:rPr kumimoji="0" lang="en-US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900" b="0" i="1" u="none" strike="noStrike" cap="none" normalizeH="0" baseline="0" dirty="0">
                <a:ln>
                  <a:noFill/>
                </a:ln>
                <a:solidFill>
                  <a:srgbClr val="5F826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/**</a:t>
            </a:r>
            <a:br>
              <a:rPr kumimoji="0" lang="ko-KR" altLang="ko-KR" sz="900" b="0" i="1" u="none" strike="noStrike" cap="none" normalizeH="0" baseline="0" dirty="0">
                <a:ln>
                  <a:noFill/>
                </a:ln>
                <a:solidFill>
                  <a:srgbClr val="5F826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900" b="0" i="1" u="none" strike="noStrike" cap="none" normalizeH="0" baseline="0" dirty="0">
                <a:ln>
                  <a:noFill/>
                </a:ln>
                <a:solidFill>
                  <a:srgbClr val="5F826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ko-KR" sz="900" b="0" i="1" u="none" strike="noStrike" cap="none" normalizeH="0" baseline="0" dirty="0">
                <a:ln>
                  <a:noFill/>
                </a:ln>
                <a:solidFill>
                  <a:srgbClr val="5F826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900" b="0" i="1" u="none" strike="noStrike" cap="none" normalizeH="0" baseline="0" dirty="0">
                <a:ln>
                  <a:noFill/>
                </a:ln>
                <a:solidFill>
                  <a:srgbClr val="5F826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* </a:t>
            </a:r>
            <a:r>
              <a:rPr kumimoji="0" lang="ko-KR" altLang="ko-KR" sz="900" b="0" i="1" u="none" strike="noStrike" cap="none" normalizeH="0" baseline="0" dirty="0">
                <a:ln>
                  <a:noFill/>
                </a:ln>
                <a:solidFill>
                  <a:srgbClr val="5F826B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JetBrains Mono" panose="02000009000000000000" pitchFamily="49" charset="0"/>
              </a:rPr>
              <a:t>현재 점에서 다른 점까지의 거리를 계산</a:t>
            </a:r>
            <a:r>
              <a:rPr kumimoji="0" lang="ko-KR" altLang="ko-KR" sz="900" b="0" i="1" u="none" strike="noStrike" cap="none" normalizeH="0" baseline="0" dirty="0">
                <a:ln>
                  <a:noFill/>
                </a:ln>
                <a:solidFill>
                  <a:srgbClr val="5F826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(</a:t>
            </a:r>
            <a:r>
              <a:rPr kumimoji="0" lang="ko-KR" altLang="ko-KR" sz="900" b="0" i="1" u="none" strike="noStrike" cap="none" normalizeH="0" baseline="0" dirty="0">
                <a:ln>
                  <a:noFill/>
                </a:ln>
                <a:solidFill>
                  <a:srgbClr val="5F826B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JetBrains Mono" panose="02000009000000000000" pitchFamily="49" charset="0"/>
              </a:rPr>
              <a:t>비즈니스 로직</a:t>
            </a:r>
            <a:r>
              <a:rPr kumimoji="0" lang="ko-KR" altLang="ko-KR" sz="900" b="0" i="1" u="none" strike="noStrike" cap="none" normalizeH="0" baseline="0" dirty="0">
                <a:ln>
                  <a:noFill/>
                </a:ln>
                <a:solidFill>
                  <a:srgbClr val="5F826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kumimoji="0" lang="ko-KR" altLang="ko-KR" sz="900" b="0" i="1" u="none" strike="noStrike" cap="none" normalizeH="0" baseline="0" dirty="0">
                <a:ln>
                  <a:noFill/>
                </a:ln>
                <a:solidFill>
                  <a:srgbClr val="5F826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900" b="0" i="1" u="none" strike="noStrike" cap="none" normalizeH="0" baseline="0" dirty="0">
                <a:ln>
                  <a:noFill/>
                </a:ln>
                <a:solidFill>
                  <a:srgbClr val="5F826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ko-KR" sz="900" b="0" i="1" u="none" strike="noStrike" cap="none" normalizeH="0" baseline="0" dirty="0">
                <a:ln>
                  <a:noFill/>
                </a:ln>
                <a:solidFill>
                  <a:srgbClr val="5F826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900" b="0" i="1" u="none" strike="noStrike" cap="none" normalizeH="0" baseline="0" dirty="0">
                <a:ln>
                  <a:noFill/>
                </a:ln>
                <a:solidFill>
                  <a:srgbClr val="5F826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* </a:t>
            </a:r>
            <a:r>
              <a:rPr kumimoji="0" lang="ko-KR" altLang="ko-KR" sz="900" b="0" i="1" u="none" strike="noStrike" cap="none" normalizeH="0" baseline="0" dirty="0">
                <a:ln>
                  <a:noFill/>
                </a:ln>
                <a:solidFill>
                  <a:srgbClr val="67A37C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@param </a:t>
            </a:r>
            <a:r>
              <a:rPr kumimoji="0" lang="ko-KR" altLang="ko-KR" sz="900" b="0" i="1" u="none" strike="noStrike" cap="none" normalizeH="0" baseline="0" dirty="0" err="1">
                <a:ln>
                  <a:noFill/>
                </a:ln>
                <a:solidFill>
                  <a:srgbClr val="ABADB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other</a:t>
            </a:r>
            <a:r>
              <a:rPr kumimoji="0" lang="ko-KR" altLang="ko-KR" sz="900" b="0" i="1" u="none" strike="noStrike" cap="none" normalizeH="0" baseline="0" dirty="0">
                <a:ln>
                  <a:noFill/>
                </a:ln>
                <a:solidFill>
                  <a:srgbClr val="ABADB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900" b="0" i="1" u="none" strike="noStrike" cap="none" normalizeH="0" baseline="0" dirty="0">
                <a:ln>
                  <a:noFill/>
                </a:ln>
                <a:solidFill>
                  <a:srgbClr val="5F826B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JetBrains Mono" panose="02000009000000000000" pitchFamily="49" charset="0"/>
              </a:rPr>
              <a:t>다른 </a:t>
            </a:r>
            <a:r>
              <a:rPr kumimoji="0" lang="ko-KR" altLang="ko-KR" sz="900" b="0" i="1" u="none" strike="noStrike" cap="none" normalizeH="0" baseline="0" dirty="0" err="1">
                <a:ln>
                  <a:noFill/>
                </a:ln>
                <a:solidFill>
                  <a:srgbClr val="5F826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Point</a:t>
            </a:r>
            <a:r>
              <a:rPr kumimoji="0" lang="ko-KR" altLang="ko-KR" sz="900" b="0" i="1" u="none" strike="noStrike" cap="none" normalizeH="0" baseline="0" dirty="0">
                <a:ln>
                  <a:noFill/>
                </a:ln>
                <a:solidFill>
                  <a:srgbClr val="5F826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900" b="0" i="1" u="none" strike="noStrike" cap="none" normalizeH="0" baseline="0" dirty="0">
                <a:ln>
                  <a:noFill/>
                </a:ln>
                <a:solidFill>
                  <a:srgbClr val="5F826B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JetBrains Mono" panose="02000009000000000000" pitchFamily="49" charset="0"/>
              </a:rPr>
              <a:t>객체</a:t>
            </a:r>
            <a:br>
              <a:rPr kumimoji="0" lang="ko-KR" altLang="ko-KR" sz="900" b="0" i="1" u="none" strike="noStrike" cap="none" normalizeH="0" baseline="0" dirty="0">
                <a:ln>
                  <a:noFill/>
                </a:ln>
                <a:solidFill>
                  <a:srgbClr val="5F826B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JetBrains Mono" panose="02000009000000000000" pitchFamily="49" charset="0"/>
              </a:rPr>
            </a:br>
            <a:r>
              <a:rPr kumimoji="0" lang="ko-KR" altLang="ko-KR" sz="900" b="0" i="1" u="none" strike="noStrike" cap="none" normalizeH="0" baseline="0" dirty="0">
                <a:ln>
                  <a:noFill/>
                </a:ln>
                <a:solidFill>
                  <a:srgbClr val="5F826B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JetBrains Mono" panose="02000009000000000000" pitchFamily="49" charset="0"/>
              </a:rPr>
              <a:t>     </a:t>
            </a:r>
            <a:r>
              <a:rPr kumimoji="0" lang="en-US" altLang="ko-KR" sz="900" b="0" i="1" u="none" strike="noStrike" cap="none" normalizeH="0" baseline="0" dirty="0">
                <a:ln>
                  <a:noFill/>
                </a:ln>
                <a:solidFill>
                  <a:srgbClr val="5F826B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JetBrains Mono" panose="02000009000000000000" pitchFamily="49" charset="0"/>
              </a:rPr>
              <a:t>   </a:t>
            </a:r>
            <a:r>
              <a:rPr kumimoji="0" lang="ko-KR" altLang="ko-KR" sz="900" b="0" i="1" u="none" strike="noStrike" cap="none" normalizeH="0" baseline="0" dirty="0">
                <a:ln>
                  <a:noFill/>
                </a:ln>
                <a:solidFill>
                  <a:srgbClr val="5F826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* </a:t>
            </a:r>
            <a:r>
              <a:rPr kumimoji="0" lang="ko-KR" altLang="ko-KR" sz="900" b="0" i="1" u="none" strike="noStrike" cap="none" normalizeH="0" baseline="0" dirty="0">
                <a:ln>
                  <a:noFill/>
                </a:ln>
                <a:solidFill>
                  <a:srgbClr val="67A37C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@return </a:t>
            </a:r>
            <a:r>
              <a:rPr kumimoji="0" lang="ko-KR" altLang="ko-KR" sz="900" b="0" i="1" u="none" strike="noStrike" cap="none" normalizeH="0" baseline="0" dirty="0">
                <a:ln>
                  <a:noFill/>
                </a:ln>
                <a:solidFill>
                  <a:srgbClr val="5F826B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JetBrains Mono" panose="02000009000000000000" pitchFamily="49" charset="0"/>
              </a:rPr>
              <a:t>두 점 사이의 거리</a:t>
            </a:r>
            <a:br>
              <a:rPr kumimoji="0" lang="ko-KR" altLang="ko-KR" sz="900" b="0" i="1" u="none" strike="noStrike" cap="none" normalizeH="0" baseline="0" dirty="0">
                <a:ln>
                  <a:noFill/>
                </a:ln>
                <a:solidFill>
                  <a:srgbClr val="5F826B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JetBrains Mono" panose="02000009000000000000" pitchFamily="49" charset="0"/>
              </a:rPr>
            </a:br>
            <a:r>
              <a:rPr kumimoji="0" lang="ko-KR" altLang="ko-KR" sz="900" b="0" i="1" u="none" strike="noStrike" cap="none" normalizeH="0" baseline="0" dirty="0">
                <a:ln>
                  <a:noFill/>
                </a:ln>
                <a:solidFill>
                  <a:srgbClr val="5F826B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JetBrains Mono" panose="02000009000000000000" pitchFamily="49" charset="0"/>
              </a:rPr>
              <a:t>     </a:t>
            </a:r>
            <a:r>
              <a:rPr kumimoji="0" lang="en-US" altLang="ko-KR" sz="900" b="0" i="1" u="none" strike="noStrike" cap="none" normalizeH="0" baseline="0" dirty="0">
                <a:ln>
                  <a:noFill/>
                </a:ln>
                <a:solidFill>
                  <a:srgbClr val="5F826B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JetBrains Mono" panose="02000009000000000000" pitchFamily="49" charset="0"/>
              </a:rPr>
              <a:t>   </a:t>
            </a:r>
            <a:r>
              <a:rPr kumimoji="0" lang="ko-KR" altLang="ko-KR" sz="900" b="0" i="1" u="none" strike="noStrike" cap="none" normalizeH="0" baseline="0" dirty="0">
                <a:ln>
                  <a:noFill/>
                </a:ln>
                <a:solidFill>
                  <a:srgbClr val="5F826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*/</a:t>
            </a:r>
            <a:br>
              <a:rPr kumimoji="0" lang="ko-KR" altLang="ko-KR" sz="900" b="0" i="1" u="none" strike="noStrike" cap="none" normalizeH="0" baseline="0" dirty="0">
                <a:ln>
                  <a:noFill/>
                </a:ln>
                <a:solidFill>
                  <a:srgbClr val="5F826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900" b="0" i="1" u="none" strike="noStrike" cap="none" normalizeH="0" baseline="0" dirty="0">
                <a:ln>
                  <a:noFill/>
                </a:ln>
                <a:solidFill>
                  <a:srgbClr val="5F826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public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double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distanceTo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Point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other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 {</a:t>
            </a: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int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dx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this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x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-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other.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x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int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dy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this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y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-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other.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y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return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Math.</a:t>
            </a:r>
            <a:r>
              <a:rPr kumimoji="0" lang="ko-KR" altLang="ko-KR" sz="900" b="0" i="1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sqrt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dx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*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dx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+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dy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*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dy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}</a:t>
            </a: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@Override</a:t>
            </a: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public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boolean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equals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Object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o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 {</a:t>
            </a: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if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this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==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o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return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true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if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o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==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null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||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getClass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() !=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o.getClass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())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return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false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Point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point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= (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Point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o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return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x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==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point.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x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&amp;&amp;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y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==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point.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y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}</a:t>
            </a: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@Override</a:t>
            </a: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public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int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hashCode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() {</a:t>
            </a: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return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Objects.</a:t>
            </a:r>
            <a:r>
              <a:rPr kumimoji="0" lang="ko-KR" altLang="ko-KR" sz="900" b="0" i="1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hash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x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y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}</a:t>
            </a: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@Override</a:t>
            </a: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public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String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toString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() {</a:t>
            </a: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return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Point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(" 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+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x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+ 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", " 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+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y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+ 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")"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}</a:t>
            </a: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70610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27237C1-D851-235F-7168-2D8B9CB17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969001E-27EC-B0ED-6FC8-3AFE333C2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21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EB5DAD55-6076-978D-E895-99A936523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DTO vs. VO</a:t>
            </a:r>
            <a:endParaRPr kumimoji="1" lang="ko-KR" altLang="en-US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72CB13D1-D3C3-BA5E-932B-A236B9936B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7283519"/>
              </p:ext>
            </p:extLst>
          </p:nvPr>
        </p:nvGraphicFramePr>
        <p:xfrm>
          <a:off x="644292" y="1569255"/>
          <a:ext cx="10903416" cy="43452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3366">
                  <a:extLst>
                    <a:ext uri="{9D8B030D-6E8A-4147-A177-3AD203B41FA5}">
                      <a16:colId xmlns:a16="http://schemas.microsoft.com/office/drawing/2014/main" val="3008592976"/>
                    </a:ext>
                  </a:extLst>
                </a:gridCol>
                <a:gridCol w="4683512">
                  <a:extLst>
                    <a:ext uri="{9D8B030D-6E8A-4147-A177-3AD203B41FA5}">
                      <a16:colId xmlns:a16="http://schemas.microsoft.com/office/drawing/2014/main" val="3157710745"/>
                    </a:ext>
                  </a:extLst>
                </a:gridCol>
                <a:gridCol w="4906538">
                  <a:extLst>
                    <a:ext uri="{9D8B030D-6E8A-4147-A177-3AD203B41FA5}">
                      <a16:colId xmlns:a16="http://schemas.microsoft.com/office/drawing/2014/main" val="2587930590"/>
                    </a:ext>
                  </a:extLst>
                </a:gridCol>
              </a:tblGrid>
              <a:tr h="676182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DTO (Data Transfer Object)</a:t>
                      </a:r>
                      <a:endParaRPr lang="ko-KR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VO (Value Object)</a:t>
                      </a:r>
                      <a:endParaRPr lang="ko-KR" altLang="en-US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0734383"/>
                  </a:ext>
                </a:extLst>
              </a:tr>
              <a:tr h="91726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목적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계층간 데이터 전송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도메인 내 값 표현</a:t>
                      </a:r>
                      <a:endParaRPr lang="en-US" altLang="ko-KR" dirty="0"/>
                    </a:p>
                    <a:p>
                      <a:pPr algn="l" latinLnBrk="1"/>
                      <a:r>
                        <a:rPr lang="ko-KR" altLang="en-US" dirty="0"/>
                        <a:t>불변의 복합 값 표현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10234925"/>
                  </a:ext>
                </a:extLst>
              </a:tr>
              <a:tr h="91726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동등성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일반적으로 참조 동등성</a:t>
                      </a:r>
                      <a:endParaRPr lang="en-US" altLang="ko-KR" dirty="0"/>
                    </a:p>
                    <a:p>
                      <a:pPr algn="l" latinLnBrk="1"/>
                      <a:r>
                        <a:rPr lang="ko-KR" altLang="en-US" dirty="0"/>
                        <a:t>속성값이 같아도 다른 객체로 취급 가능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값 동등성</a:t>
                      </a:r>
                      <a:endParaRPr lang="en-US" altLang="ko-KR" dirty="0"/>
                    </a:p>
                    <a:p>
                      <a:pPr algn="l" latinLnBrk="1"/>
                      <a:r>
                        <a:rPr lang="ko-KR" altLang="en-US" dirty="0"/>
                        <a:t>속성 값이 같으면 같은 객체 취급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86093496"/>
                  </a:ext>
                </a:extLst>
              </a:tr>
              <a:tr h="91726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가변성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일반적으로 가변</a:t>
                      </a:r>
                      <a:r>
                        <a:rPr lang="en-US" altLang="ko-KR" dirty="0"/>
                        <a:t>(mutable)</a:t>
                      </a:r>
                    </a:p>
                    <a:p>
                      <a:pPr algn="l" latinLnBrk="1"/>
                      <a:r>
                        <a:rPr lang="en-US" altLang="ko-KR" dirty="0"/>
                        <a:t>setter </a:t>
                      </a:r>
                      <a:r>
                        <a:rPr lang="ko-KR" altLang="en-US" dirty="0"/>
                        <a:t>메서드를 통한 속성 변경 가능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불변</a:t>
                      </a:r>
                      <a:r>
                        <a:rPr lang="en-US" altLang="ko-KR" dirty="0"/>
                        <a:t>(immutable)</a:t>
                      </a:r>
                    </a:p>
                    <a:p>
                      <a:pPr algn="l" latinLnBrk="1"/>
                      <a:r>
                        <a:rPr lang="ko-KR" altLang="en-US" dirty="0"/>
                        <a:t>생성 후 내부 상태 변경 불가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26939095"/>
                  </a:ext>
                </a:extLst>
              </a:tr>
              <a:tr h="91726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로직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비즈니스 로직을 포함하지 않음</a:t>
                      </a:r>
                      <a:endParaRPr lang="en-US" altLang="ko-KR" dirty="0"/>
                    </a:p>
                    <a:p>
                      <a:pPr algn="l" latinLnBrk="1"/>
                      <a:r>
                        <a:rPr lang="ko-KR" altLang="en-US" dirty="0"/>
                        <a:t>주로 </a:t>
                      </a:r>
                      <a:r>
                        <a:rPr lang="en-US" altLang="ko-KR" dirty="0"/>
                        <a:t>getter/setter</a:t>
                      </a:r>
                      <a:r>
                        <a:rPr lang="ko-KR" altLang="en-US" dirty="0"/>
                        <a:t> 만 포함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간단한 도메인 로직 포함 가능</a:t>
                      </a:r>
                      <a:endParaRPr lang="en-US" altLang="ko-KR" dirty="0"/>
                    </a:p>
                    <a:p>
                      <a:pPr algn="l" latinLnBrk="1"/>
                      <a:r>
                        <a:rPr lang="ko-KR" altLang="en-US" dirty="0"/>
                        <a:t>값과 관련된 연산이나 검증 로직 포함 가능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42662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80449974"/>
      </p:ext>
    </p:extLst>
  </p:cSld>
  <p:clrMapOvr>
    <a:masterClrMapping/>
  </p:clrMapOvr>
</p:sld>
</file>

<file path=ppt/theme/theme1.xml><?xml version="1.0" encoding="utf-8"?>
<a:theme xmlns:a="http://schemas.openxmlformats.org/drawingml/2006/main" name="3_Office 테마">
  <a:themeElements>
    <a:clrScheme name="코딩온_새싹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6EC173"/>
      </a:accent1>
      <a:accent2>
        <a:srgbClr val="B4D56D"/>
      </a:accent2>
      <a:accent3>
        <a:srgbClr val="F99F2C"/>
      </a:accent3>
      <a:accent4>
        <a:srgbClr val="FFDB83"/>
      </a:accent4>
      <a:accent5>
        <a:srgbClr val="2894FF"/>
      </a:accent5>
      <a:accent6>
        <a:srgbClr val="A5A5A5"/>
      </a:accent6>
      <a:hlink>
        <a:srgbClr val="2894FF"/>
      </a:hlink>
      <a:folHlink>
        <a:srgbClr val="954F72"/>
      </a:folHlink>
    </a:clrScheme>
    <a:fontScheme name="Pretendard GOV">
      <a:majorFont>
        <a:latin typeface="Pretendard GOV"/>
        <a:ea typeface="Pretendard GOV"/>
        <a:cs typeface=""/>
      </a:majorFont>
      <a:minorFont>
        <a:latin typeface="Pretendard GOV"/>
        <a:ea typeface="Pretendard GOV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5980</TotalTime>
  <Words>2325</Words>
  <Application>Microsoft Office PowerPoint</Application>
  <PresentationFormat>와이드스크린</PresentationFormat>
  <Paragraphs>312</Paragraphs>
  <Slides>21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6" baseType="lpstr">
      <vt:lpstr>JetBrains Mono</vt:lpstr>
      <vt:lpstr>Pretendard GOV</vt:lpstr>
      <vt:lpstr>맑은 고딕</vt:lpstr>
      <vt:lpstr>Arial</vt:lpstr>
      <vt:lpstr>3_Office 테마</vt:lpstr>
      <vt:lpstr>웹 개발자 부트캠프 과정</vt:lpstr>
      <vt:lpstr>REST API </vt:lpstr>
      <vt:lpstr>복습. API 란?</vt:lpstr>
      <vt:lpstr>복습. REST</vt:lpstr>
      <vt:lpstr>복습. REST API</vt:lpstr>
      <vt:lpstr>REST 규칙 (1)</vt:lpstr>
      <vt:lpstr>REST 규칙 (2)</vt:lpstr>
      <vt:lpstr>REST 규칙 (3)</vt:lpstr>
      <vt:lpstr>REST 규칙 (3)</vt:lpstr>
      <vt:lpstr>REST 규칙 (3)</vt:lpstr>
      <vt:lpstr>REST 규칙 (4)</vt:lpstr>
      <vt:lpstr>보충. 주요 상태 코드 </vt:lpstr>
      <vt:lpstr>REST 규칙 (5)</vt:lpstr>
      <vt:lpstr>REST 규칙 (6)</vt:lpstr>
      <vt:lpstr>DTO</vt:lpstr>
      <vt:lpstr>DTO (Data Transfer Object)</vt:lpstr>
      <vt:lpstr>DTO 예제 코드</vt:lpstr>
      <vt:lpstr>VO</vt:lpstr>
      <vt:lpstr>VO (Value Object)</vt:lpstr>
      <vt:lpstr>VO 예제 코드</vt:lpstr>
      <vt:lpstr>DTO vs. VO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김규리</dc:creator>
  <cp:lastModifiedBy>On Coding</cp:lastModifiedBy>
  <cp:revision>1453</cp:revision>
  <dcterms:created xsi:type="dcterms:W3CDTF">2022-06-26T11:10:22Z</dcterms:created>
  <dcterms:modified xsi:type="dcterms:W3CDTF">2024-07-16T00:50:44Z</dcterms:modified>
</cp:coreProperties>
</file>