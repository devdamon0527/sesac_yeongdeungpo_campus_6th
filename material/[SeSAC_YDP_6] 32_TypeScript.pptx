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sldIdLst>
    <p:sldId id="649" r:id="rId2"/>
    <p:sldId id="650" r:id="rId3"/>
    <p:sldId id="651" r:id="rId4"/>
    <p:sldId id="257" r:id="rId5"/>
    <p:sldId id="652" r:id="rId6"/>
    <p:sldId id="653" r:id="rId7"/>
    <p:sldId id="259" r:id="rId8"/>
    <p:sldId id="261" r:id="rId9"/>
    <p:sldId id="654" r:id="rId10"/>
    <p:sldId id="264" r:id="rId11"/>
    <p:sldId id="655" r:id="rId12"/>
    <p:sldId id="265" r:id="rId13"/>
    <p:sldId id="268" r:id="rId14"/>
    <p:sldId id="266" r:id="rId15"/>
    <p:sldId id="267" r:id="rId16"/>
    <p:sldId id="269" r:id="rId17"/>
    <p:sldId id="270" r:id="rId18"/>
    <p:sldId id="285" r:id="rId19"/>
    <p:sldId id="656" r:id="rId20"/>
    <p:sldId id="280" r:id="rId21"/>
    <p:sldId id="659" r:id="rId22"/>
    <p:sldId id="271" r:id="rId23"/>
    <p:sldId id="660" r:id="rId24"/>
    <p:sldId id="283" r:id="rId25"/>
    <p:sldId id="657" r:id="rId26"/>
    <p:sldId id="273" r:id="rId27"/>
    <p:sldId id="274" r:id="rId28"/>
    <p:sldId id="275" r:id="rId29"/>
    <p:sldId id="276" r:id="rId30"/>
    <p:sldId id="277" r:id="rId31"/>
    <p:sldId id="278" r:id="rId32"/>
    <p:sldId id="281" r:id="rId33"/>
    <p:sldId id="282" r:id="rId34"/>
    <p:sldId id="658" r:id="rId35"/>
    <p:sldId id="284" r:id="rId36"/>
    <p:sldId id="293" r:id="rId37"/>
    <p:sldId id="295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953"/>
    <a:srgbClr val="FFFFFF"/>
    <a:srgbClr val="FF6600"/>
    <a:srgbClr val="14F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69" autoAdjust="0"/>
    <p:restoredTop sz="78749" autoAdjust="0"/>
  </p:normalViewPr>
  <p:slideViewPr>
    <p:cSldViewPr snapToGrid="0">
      <p:cViewPr varScale="1">
        <p:scale>
          <a:sx n="87" d="100"/>
          <a:sy n="87" d="100"/>
        </p:scale>
        <p:origin x="120" y="16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1368" y="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F0F02C-F923-483B-B7AF-E4D1E093BA0E}" type="datetimeFigureOut">
              <a:rPr lang="ko-KR" altLang="en-US" smtClean="0"/>
              <a:t>2023-10-10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288C33-55A0-4375-B4B0-E8B5C9E6A8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7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248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i="0" dirty="0"/>
              <a:t>타입이 있는</a:t>
            </a:r>
            <a:r>
              <a:rPr lang="en-US" altLang="ko-KR" i="0" dirty="0"/>
              <a:t>(typed)</a:t>
            </a:r>
            <a:r>
              <a:rPr lang="ko-KR" altLang="en-US" i="0" dirty="0"/>
              <a:t> 상위 집합</a:t>
            </a:r>
            <a:r>
              <a:rPr lang="en-US" altLang="ko-KR" i="0" dirty="0"/>
              <a:t>(superset)</a:t>
            </a:r>
            <a:endParaRPr lang="ko-KR" altLang="en-US" i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859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913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3348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트랜스파일</a:t>
            </a:r>
            <a:r>
              <a:rPr lang="en-US" altLang="ko-KR" dirty="0"/>
              <a:t>: </a:t>
            </a:r>
            <a:r>
              <a:rPr lang="ko-KR" altLang="en-US" dirty="0"/>
              <a:t>한 종류의 소스코드에서 다른 종류의 소스코드로 변환하는 툴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668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7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으로 설치한다는 것</a:t>
            </a:r>
            <a:r>
              <a:rPr lang="en-US" altLang="ko-KR" dirty="0"/>
              <a:t>? = node</a:t>
            </a:r>
            <a:r>
              <a:rPr lang="ko-KR" altLang="en-US" dirty="0"/>
              <a:t>가 필요함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https://www.daleseo.com/tsc/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전역 설치</a:t>
            </a:r>
            <a:r>
              <a:rPr lang="en-US" altLang="ko-KR" dirty="0"/>
              <a:t>&gt; </a:t>
            </a:r>
            <a:r>
              <a:rPr lang="ko-KR" altLang="en-US" dirty="0"/>
              <a:t>프로젝트 구분 없이 전역적으로 사용</a:t>
            </a:r>
            <a:endParaRPr lang="en-US" altLang="ko-KR" dirty="0"/>
          </a:p>
          <a:p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b="1" dirty="0"/>
              <a:t>–g </a:t>
            </a:r>
            <a:r>
              <a:rPr lang="en-US" altLang="ko-KR" dirty="0"/>
              <a:t>typescript </a:t>
            </a:r>
          </a:p>
          <a:p>
            <a:r>
              <a:rPr lang="en-US" altLang="ko-KR" dirty="0" err="1"/>
              <a:t>tsc</a:t>
            </a:r>
            <a:r>
              <a:rPr lang="en-US" altLang="ko-KR" dirty="0"/>
              <a:t> –v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지역 설치</a:t>
            </a:r>
            <a:r>
              <a:rPr lang="en-US" altLang="ko-KR" dirty="0"/>
              <a:t>&gt;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err="1"/>
              <a:t>npm</a:t>
            </a:r>
            <a:r>
              <a:rPr lang="en-US" altLang="ko-KR" dirty="0"/>
              <a:t> install typescript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 err="1"/>
              <a:t>npx</a:t>
            </a:r>
            <a:r>
              <a:rPr lang="en-US" altLang="ko-KR" b="1" dirty="0"/>
              <a:t> </a:t>
            </a:r>
            <a:r>
              <a:rPr lang="en-US" altLang="ko-KR" dirty="0" err="1"/>
              <a:t>tsc</a:t>
            </a:r>
            <a:r>
              <a:rPr lang="en-US" altLang="ko-KR" dirty="0"/>
              <a:t> –v 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1524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670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2272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const USER = 1, const ADMIN =0, const GUEST =2</a:t>
            </a:r>
          </a:p>
          <a:p>
            <a:r>
              <a:rPr lang="ko-KR" altLang="en-US" dirty="0" err="1"/>
              <a:t>처럼</a:t>
            </a:r>
            <a:r>
              <a:rPr lang="ko-KR" altLang="en-US" dirty="0"/>
              <a:t> 상수 선언을 </a:t>
            </a:r>
            <a:r>
              <a:rPr lang="ko-KR" altLang="en-US" dirty="0" err="1"/>
              <a:t>해놓을</a:t>
            </a:r>
            <a:r>
              <a:rPr lang="ko-KR" altLang="en-US" dirty="0"/>
              <a:t> 수도 있지만 </a:t>
            </a:r>
            <a:endParaRPr lang="en-US" altLang="ko-KR" dirty="0"/>
          </a:p>
          <a:p>
            <a:r>
              <a:rPr lang="ko-KR" altLang="en-US" dirty="0"/>
              <a:t>권한이라는 그룹으로 </a:t>
            </a:r>
            <a:r>
              <a:rPr lang="en-US" altLang="ko-KR" dirty="0"/>
              <a:t>0,1,2 </a:t>
            </a:r>
            <a:r>
              <a:rPr lang="ko-KR" altLang="en-US" dirty="0"/>
              <a:t>라는 숫자를 </a:t>
            </a:r>
            <a:r>
              <a:rPr lang="ko-KR" altLang="en-US" dirty="0" err="1"/>
              <a:t>묶어두고</a:t>
            </a:r>
            <a:r>
              <a:rPr lang="en-US" altLang="ko-KR" dirty="0"/>
              <a:t>, </a:t>
            </a:r>
            <a:r>
              <a:rPr lang="ko-KR" altLang="en-US" dirty="0"/>
              <a:t>각 숫자가 어떤 것을 의미하는지 미리 기록해두고 사용하는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146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https://curryyou.tistory.com/495</a:t>
            </a:r>
          </a:p>
          <a:p>
            <a:endParaRPr lang="en-US" altLang="ko-KR" dirty="0"/>
          </a:p>
          <a:p>
            <a:r>
              <a:rPr lang="ko-KR" altLang="en-US" dirty="0"/>
              <a:t>문자열과 숫자로도 선언이 가능하지만 되도록 같은 타입의 열거형을 사용하길 권고한다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6157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230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509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3998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433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어떤 식으로 선언하는지는 다음장에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610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79199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69018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9297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578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902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텍스트, 로고, 그래픽이(가) 표시된 사진&#10;&#10;자동 생성된 설명">
            <a:extLst>
              <a:ext uri="{FF2B5EF4-FFF2-40B4-BE49-F238E27FC236}">
                <a16:creationId xmlns:a16="http://schemas.microsoft.com/office/drawing/2014/main" id="{01AB1409-DEDF-C824-D8D3-05B260A93B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3" y="103811"/>
            <a:ext cx="4328535" cy="228080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15" name="부제목 2">
            <a:extLst>
              <a:ext uri="{FF2B5EF4-FFF2-40B4-BE49-F238E27FC236}">
                <a16:creationId xmlns:a16="http://schemas.microsoft.com/office/drawing/2014/main" id="{26026682-DE15-5F01-6FA7-8F46F9ABCC2A}"/>
              </a:ext>
            </a:extLst>
          </p:cNvPr>
          <p:cNvSpPr txBox="1">
            <a:spLocks/>
          </p:cNvSpPr>
          <p:nvPr userDrawn="1"/>
        </p:nvSpPr>
        <p:spPr>
          <a:xfrm>
            <a:off x="9110749" y="5933035"/>
            <a:ext cx="29485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ko-KR" sz="2000" u="none" dirty="0"/>
              <a:t>With. </a:t>
            </a:r>
            <a:r>
              <a:rPr lang="ko-KR" altLang="en-US" sz="2000" u="none" dirty="0"/>
              <a:t>팀 </a:t>
            </a:r>
            <a:r>
              <a:rPr lang="ko-KR" altLang="en-US" sz="2000" u="none" dirty="0" err="1"/>
              <a:t>뤼쳐드</a:t>
            </a:r>
            <a:endParaRPr lang="ko-KR" altLang="en-US" sz="2000" u="none" dirty="0"/>
          </a:p>
        </p:txBody>
      </p:sp>
    </p:spTree>
    <p:extLst>
      <p:ext uri="{BB962C8B-B14F-4D97-AF65-F5344CB8AC3E}">
        <p14:creationId xmlns:p14="http://schemas.microsoft.com/office/powerpoint/2010/main" val="4049132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0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007288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271528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210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551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274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082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0451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9508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029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1563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005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FFA81A6-6D9A-9C22-6A01-103FCC7108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4576" y="140110"/>
            <a:ext cx="1026976" cy="2051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8CEA0B-0194-B9A0-705F-CAB04B3523DA}"/>
              </a:ext>
            </a:extLst>
          </p:cNvPr>
          <p:cNvSpPr txBox="1"/>
          <p:nvPr userDrawn="1"/>
        </p:nvSpPr>
        <p:spPr>
          <a:xfrm>
            <a:off x="10814758" y="104713"/>
            <a:ext cx="2270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청년취업사관학교, 새싹(SeSAC) - YouTube">
            <a:extLst>
              <a:ext uri="{FF2B5EF4-FFF2-40B4-BE49-F238E27FC236}">
                <a16:creationId xmlns:a16="http://schemas.microsoft.com/office/drawing/2014/main" id="{AD5D531A-42B5-6D12-7A47-FFEB75D29C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 cstate="hq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2653" y="54125"/>
            <a:ext cx="371243" cy="37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1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pescriptlang.org/docs/handbook/typescript-from-scratch.html#a-typed-superset-of-javascrip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2023년 10월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293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9388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E367CE0-85D8-F70F-C033-BE942249C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i="1" dirty="0"/>
              <a:t>“</a:t>
            </a:r>
            <a:r>
              <a:rPr lang="en-US" altLang="ko-KR" sz="2400" i="1" dirty="0">
                <a:effectLst/>
              </a:rPr>
              <a:t>Typescript is a </a:t>
            </a:r>
            <a:r>
              <a:rPr lang="en-US" altLang="ko-KR" sz="2400" b="1" i="1" dirty="0">
                <a:solidFill>
                  <a:schemeClr val="accent1"/>
                </a:solidFill>
                <a:effectLst/>
              </a:rPr>
              <a:t>typed superset</a:t>
            </a:r>
            <a:r>
              <a:rPr lang="en-US" altLang="ko-KR" sz="2400" i="1" dirty="0">
                <a:effectLst/>
              </a:rPr>
              <a:t> of </a:t>
            </a:r>
            <a:r>
              <a:rPr lang="en-US" altLang="ko-KR" sz="2400" i="1" dirty="0" err="1">
                <a:effectLst/>
              </a:rPr>
              <a:t>Javascript</a:t>
            </a:r>
            <a:endParaRPr lang="en-US" altLang="ko-KR" sz="2400" i="1" dirty="0"/>
          </a:p>
          <a:p>
            <a:pPr marL="0" indent="0" algn="ctr">
              <a:buNone/>
            </a:pPr>
            <a:r>
              <a:rPr lang="en-US" altLang="ko-KR" sz="2400" i="1" dirty="0">
                <a:effectLst/>
              </a:rPr>
              <a:t>		 		that compiles to plain </a:t>
            </a:r>
            <a:r>
              <a:rPr lang="en-US" altLang="ko-KR" sz="2400" i="1" dirty="0" err="1">
                <a:effectLst/>
              </a:rPr>
              <a:t>Javascript</a:t>
            </a:r>
            <a:r>
              <a:rPr lang="en-US" altLang="ko-KR" sz="2400" i="1" dirty="0"/>
              <a:t>”</a:t>
            </a:r>
          </a:p>
          <a:p>
            <a:pPr marL="0" indent="0" algn="ctr">
              <a:buNone/>
            </a:pPr>
            <a:endParaRPr lang="en-US" altLang="ko-KR" sz="2400" i="1" dirty="0"/>
          </a:p>
          <a:p>
            <a:pPr marL="0" indent="0" algn="ctr">
              <a:buNone/>
            </a:pPr>
            <a:endParaRPr lang="en-US" altLang="ko-KR" sz="2400" i="1" dirty="0">
              <a:effectLst/>
            </a:endParaRPr>
          </a:p>
          <a:p>
            <a:r>
              <a:rPr lang="en-US" altLang="ko-KR" sz="2400" dirty="0">
                <a:effectLst/>
              </a:rPr>
              <a:t>2012</a:t>
            </a:r>
            <a:r>
              <a:rPr lang="ko-KR" altLang="en-US" sz="2400" dirty="0">
                <a:effectLst/>
              </a:rPr>
              <a:t>년에 발표된 오픈 소스 프로그래밍 언어로 </a:t>
            </a:r>
            <a:r>
              <a:rPr lang="en-US" altLang="ko-KR" sz="2400" dirty="0">
                <a:effectLst/>
              </a:rPr>
              <a:t>Microsoft</a:t>
            </a:r>
            <a:r>
              <a:rPr lang="ko-KR" altLang="en-US" sz="2400" dirty="0">
                <a:effectLst/>
              </a:rPr>
              <a:t>에 의해 개발됨</a:t>
            </a:r>
            <a:endParaRPr lang="en-US" altLang="ko-KR" sz="2400" dirty="0">
              <a:effectLst/>
            </a:endParaRPr>
          </a:p>
          <a:p>
            <a:endParaRPr lang="en-US" altLang="ko-KR" sz="2400" i="1" dirty="0"/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A35D84-C3D8-4028-A25E-6B3106CF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C6669F-71DA-E8F4-5A11-EBF580E0C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3F272FB-274A-887E-82D8-E2D190A0E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8329F1-C47F-2DA5-2223-B442119F25B7}"/>
              </a:ext>
            </a:extLst>
          </p:cNvPr>
          <p:cNvSpPr txBox="1"/>
          <p:nvPr/>
        </p:nvSpPr>
        <p:spPr>
          <a:xfrm>
            <a:off x="2023730" y="2695361"/>
            <a:ext cx="81445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accent6"/>
                </a:solidFill>
                <a:effectLst/>
              </a:rPr>
              <a:t>타입스크립트는 자바스크립트로 컴파일 되는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, 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자바스크립트의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타입이 있는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상위집합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이다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.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D47240-16AF-E6C2-9743-4BB48BE2CB29}"/>
              </a:ext>
            </a:extLst>
          </p:cNvPr>
          <p:cNvSpPr txBox="1"/>
          <p:nvPr/>
        </p:nvSpPr>
        <p:spPr>
          <a:xfrm>
            <a:off x="572386" y="5089508"/>
            <a:ext cx="110472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hlinkClick r:id="rId3"/>
              </a:rPr>
              <a:t>https://www.typescriptlang.org/docs/handbook/typescript-from-scratch.html#a-typed-superset-of-javascript</a:t>
            </a:r>
            <a:r>
              <a:rPr lang="ko-KR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3864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E1820E-89AE-C0C8-5928-4AA786FFD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타입이 있는 자바스크립트</a:t>
            </a:r>
            <a:endParaRPr lang="en-US" altLang="ko-KR" dirty="0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즉</a:t>
            </a:r>
            <a:r>
              <a:rPr lang="en-US" altLang="ko-KR" dirty="0"/>
              <a:t>, JavaScript </a:t>
            </a:r>
            <a:r>
              <a:rPr lang="ko-KR" altLang="en-US" dirty="0"/>
              <a:t>의 기본 문법에 자료형 체크하는 기능을 추가한 것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/>
              <a:t>자바스크립트가 자의적으로 </a:t>
            </a:r>
            <a:r>
              <a:rPr lang="en-US" altLang="ko-KR" dirty="0"/>
              <a:t>type </a:t>
            </a:r>
            <a:r>
              <a:rPr lang="ko-KR" altLang="en-US" dirty="0"/>
              <a:t>해석을 하고 코드를 실행시켰을 때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의도와 다른 방식으로 쓰이지 않도록 방지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정적 파일 언어</a:t>
            </a:r>
            <a:br>
              <a:rPr lang="en-US" altLang="ko-KR" dirty="0"/>
            </a:br>
            <a:r>
              <a:rPr lang="en-US" altLang="ko-KR" dirty="0"/>
              <a:t>	-&gt; </a:t>
            </a:r>
            <a:r>
              <a:rPr lang="ko-KR" altLang="en-US" dirty="0"/>
              <a:t>실행하지 않고도 코드 상의 에러를 알려줌 </a:t>
            </a:r>
            <a:r>
              <a:rPr lang="en-US" altLang="ko-KR" dirty="0"/>
              <a:t>(</a:t>
            </a:r>
            <a:r>
              <a:rPr lang="ko-KR" altLang="en-US" dirty="0"/>
              <a:t>실시간 디버깅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33B1D3-4AD3-226D-DA01-F3036E04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293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37DDDD-E2FF-E370-603B-68C2EA52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r>
              <a:rPr lang="ko-KR" altLang="en-US" dirty="0"/>
              <a:t>에서 지원하지 않는 기능을 지원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 대표 기능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엄격한 타입 관리 </a:t>
            </a:r>
            <a:r>
              <a:rPr lang="en-US" altLang="ko-KR" dirty="0">
                <a:solidFill>
                  <a:schemeClr val="accent1"/>
                </a:solidFill>
              </a:rPr>
              <a:t>(Strongly Typed)</a:t>
            </a:r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제너릭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(Generics)</a:t>
            </a:r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인터페이스 </a:t>
            </a:r>
            <a:r>
              <a:rPr lang="en-US" altLang="ko-KR" dirty="0">
                <a:solidFill>
                  <a:schemeClr val="accent1"/>
                </a:solidFill>
              </a:rPr>
              <a:t>(Interface)</a:t>
            </a:r>
          </a:p>
          <a:p>
            <a:pPr lvl="1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5BAD158-27F9-D63C-170F-7FAC8F4CF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1A9A97-A679-19F6-486D-3806B45B6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BEE60F1-D4D5-C14B-8985-D581153C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는 </a:t>
            </a:r>
            <a:r>
              <a:rPr lang="en-US" altLang="ko-KR" dirty="0"/>
              <a:t>JavaScript</a:t>
            </a:r>
            <a:r>
              <a:rPr lang="ko-KR" altLang="en-US" dirty="0"/>
              <a:t> </a:t>
            </a:r>
            <a:r>
              <a:rPr lang="en-US" altLang="ko-KR" dirty="0"/>
              <a:t>Superset!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7792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84A3548-4282-CE9A-7399-720686C4B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TS</a:t>
            </a:r>
            <a:r>
              <a:rPr lang="ko-KR" altLang="en-US" sz="2400" dirty="0"/>
              <a:t>는 웹 브라우저에서 바로 해석될 수 없음</a:t>
            </a:r>
            <a:endParaRPr lang="en-US" altLang="ko-KR" sz="2400" dirty="0"/>
          </a:p>
          <a:p>
            <a:r>
              <a:rPr lang="en-US" altLang="ko-KR" sz="2400" dirty="0">
                <a:solidFill>
                  <a:schemeClr val="accent1"/>
                </a:solidFill>
              </a:rPr>
              <a:t>TS</a:t>
            </a:r>
            <a:r>
              <a:rPr lang="ko-KR" altLang="en-US" sz="2400" dirty="0">
                <a:solidFill>
                  <a:schemeClr val="accent1"/>
                </a:solidFill>
              </a:rPr>
              <a:t>가 </a:t>
            </a:r>
            <a:r>
              <a:rPr lang="en-US" altLang="ko-KR" sz="2400" dirty="0">
                <a:solidFill>
                  <a:schemeClr val="accent1"/>
                </a:solidFill>
              </a:rPr>
              <a:t>JS</a:t>
            </a:r>
            <a:r>
              <a:rPr lang="ko-KR" altLang="en-US" sz="2400" dirty="0">
                <a:solidFill>
                  <a:schemeClr val="accent1"/>
                </a:solidFill>
              </a:rPr>
              <a:t>로 변환</a:t>
            </a:r>
            <a:r>
              <a:rPr lang="ko-KR" altLang="en-US" sz="2400" dirty="0"/>
              <a:t>되어야 브라우저가 해석 할 수 있음</a:t>
            </a:r>
            <a:r>
              <a:rPr lang="en-US" altLang="ko-KR" sz="2400" dirty="0"/>
              <a:t>! </a:t>
            </a:r>
          </a:p>
          <a:p>
            <a:r>
              <a:rPr lang="en-US" altLang="ko-KR" sz="2400" dirty="0"/>
              <a:t>TS</a:t>
            </a:r>
            <a:r>
              <a:rPr lang="ko-KR" altLang="en-US" sz="2400" dirty="0"/>
              <a:t>가 </a:t>
            </a:r>
            <a:r>
              <a:rPr lang="en-US" altLang="ko-KR" sz="2400" dirty="0"/>
              <a:t>JS</a:t>
            </a:r>
            <a:r>
              <a:rPr lang="ko-KR" altLang="en-US" sz="2400" dirty="0"/>
              <a:t>로 출력되기에 </a:t>
            </a:r>
            <a:r>
              <a:rPr lang="ko-KR" altLang="en-US" sz="2400" dirty="0" err="1"/>
              <a:t>트랜스파일러</a:t>
            </a:r>
            <a:r>
              <a:rPr lang="en-US" altLang="ko-KR" sz="2400" dirty="0"/>
              <a:t>(</a:t>
            </a:r>
            <a:r>
              <a:rPr lang="en-US" altLang="ko-KR" sz="2400" dirty="0" err="1"/>
              <a:t>Transpiler</a:t>
            </a:r>
            <a:r>
              <a:rPr lang="en-US" altLang="ko-KR" sz="2400" dirty="0"/>
              <a:t>) </a:t>
            </a:r>
            <a:r>
              <a:rPr lang="ko-KR" altLang="en-US" sz="2400" dirty="0"/>
              <a:t>라고 부름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12C5C0-9960-9C44-9ADC-CBBE5445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AB249-4F3B-97C8-0F37-1B17C9D7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DAFA535-9BDF-D859-3EFD-AFC414F11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트랜스파일러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sz="4400" dirty="0" err="1"/>
              <a:t>Transpiler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31E6A66-C703-4CB5-2247-E07CAC6BE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8167" y="1981949"/>
            <a:ext cx="3252233" cy="38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B3778B2-BAC5-80C1-EB62-4B2E141D3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3737" y="3027346"/>
            <a:ext cx="5724525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987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FD548E-F4C9-B383-E5BF-E72D8E94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number</a:t>
            </a:r>
          </a:p>
          <a:p>
            <a:r>
              <a:rPr lang="en-US" altLang="ko-KR" dirty="0"/>
              <a:t>string</a:t>
            </a:r>
          </a:p>
          <a:p>
            <a:r>
              <a:rPr lang="en-US" altLang="ko-KR" dirty="0" err="1"/>
              <a:t>boolean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r>
              <a:rPr lang="en-US" altLang="ko-KR" dirty="0"/>
              <a:t>undefined</a:t>
            </a:r>
          </a:p>
          <a:p>
            <a:r>
              <a:rPr lang="en-US" altLang="ko-KR" dirty="0"/>
              <a:t>object</a:t>
            </a:r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D19334-C98A-6B45-185A-6F24AC31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의 자료형</a:t>
            </a:r>
          </a:p>
        </p:txBody>
      </p:sp>
    </p:spTree>
    <p:extLst>
      <p:ext uri="{BB962C8B-B14F-4D97-AF65-F5344CB8AC3E}">
        <p14:creationId xmlns:p14="http://schemas.microsoft.com/office/powerpoint/2010/main" val="2434344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FC876B-7AF1-9172-C355-129FEBD28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변수나 함수를 만들어줄 때 타입까지 명시해서 선언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let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변수이름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: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타입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; </a:t>
            </a:r>
            <a:r>
              <a:rPr lang="ko-KR" altLang="en-US" dirty="0"/>
              <a:t>으로 선언할 수 있어요</a:t>
            </a:r>
            <a:r>
              <a:rPr lang="en-US" altLang="ko-KR" dirty="0"/>
              <a:t>! </a:t>
            </a:r>
            <a:r>
              <a:rPr lang="en-US" altLang="ko-KR" sz="1600" dirty="0"/>
              <a:t>(</a:t>
            </a:r>
            <a:r>
              <a:rPr lang="ko-KR" altLang="en-US" sz="1600" dirty="0"/>
              <a:t>물론 </a:t>
            </a:r>
            <a:r>
              <a:rPr lang="en-US" altLang="ko-KR" sz="1600" dirty="0"/>
              <a:t>const </a:t>
            </a:r>
            <a:r>
              <a:rPr lang="ko-KR" altLang="en-US" sz="1600" dirty="0"/>
              <a:t>로도 가능하겠죠</a:t>
            </a:r>
            <a:r>
              <a:rPr lang="en-US" altLang="ko-KR" sz="1600" dirty="0"/>
              <a:t>? ^^)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34A692-1E8A-FB56-32FA-4B5EF1F66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타입과 함께 선언하는 </a:t>
            </a:r>
            <a:r>
              <a:rPr lang="en-US" altLang="ko-KR" dirty="0"/>
              <a:t>typescript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AEF5E-46BA-A797-53E5-CBC5AEAB3A3C}"/>
              </a:ext>
            </a:extLst>
          </p:cNvPr>
          <p:cNvSpPr txBox="1"/>
          <p:nvPr/>
        </p:nvSpPr>
        <p:spPr>
          <a:xfrm>
            <a:off x="965533" y="2551837"/>
            <a:ext cx="7987081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altLang="ko-KR" dirty="0" err="1">
                <a:solidFill>
                  <a:srgbClr val="9ECE6A"/>
                </a:solidFill>
                <a:latin typeface="Consolas" panose="020B0609020204030204" pitchFamily="49" charset="0"/>
              </a:rPr>
              <a:t>gildong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friends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object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757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3FF1CE3-5F60-DC29-49EB-02E03510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웹 브라우저는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ko-KR" altLang="en-US" sz="2400" dirty="0"/>
              <a:t>파일을 읽을 수 없기 때문에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en-US" altLang="ko-KR" sz="2400" dirty="0">
                <a:sym typeface="Wingdings" panose="05000000000000000000" pitchFamily="2" charset="2"/>
              </a:rPr>
              <a:t>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의 변환 과정이 필요합니다</a:t>
            </a:r>
            <a:r>
              <a:rPr lang="en-US" altLang="ko-KR" sz="2400" dirty="0">
                <a:sym typeface="Wingdings" panose="05000000000000000000" pitchFamily="2" charset="2"/>
              </a:rPr>
              <a:t>.</a:t>
            </a:r>
          </a:p>
          <a:p>
            <a:pPr marL="514350" indent="-514350">
              <a:buAutoNum type="arabicPeriod"/>
            </a:pPr>
            <a:r>
              <a:rPr lang="en-US" altLang="ko-KR" sz="2400" dirty="0">
                <a:sym typeface="Wingdings" panose="05000000000000000000" pitchFamily="2" charset="2"/>
              </a:rPr>
              <a:t>TypeScript </a:t>
            </a:r>
            <a:r>
              <a:rPr lang="ko-KR" altLang="en-US" sz="2400" dirty="0">
                <a:sym typeface="Wingdings" panose="05000000000000000000" pitchFamily="2" charset="2"/>
              </a:rPr>
              <a:t>설치 </a:t>
            </a:r>
            <a:r>
              <a:rPr lang="en-US" altLang="ko-KR" sz="2400" dirty="0">
                <a:sym typeface="Wingdings" panose="05000000000000000000" pitchFamily="2" charset="2"/>
              </a:rPr>
              <a:t>(</a:t>
            </a:r>
            <a:r>
              <a:rPr lang="ko-KR" altLang="en-US" sz="2400" dirty="0">
                <a:sym typeface="Wingdings" panose="05000000000000000000" pitchFamily="2" charset="2"/>
              </a:rPr>
              <a:t>전역 설치를 희망한다면 </a:t>
            </a:r>
            <a:r>
              <a:rPr lang="en-US" altLang="ko-KR" sz="2400" dirty="0">
                <a:sym typeface="Wingdings" panose="05000000000000000000" pitchFamily="2" charset="2"/>
              </a:rPr>
              <a:t>–g</a:t>
            </a:r>
            <a:r>
              <a:rPr lang="ko-KR" altLang="en-US" sz="2400" dirty="0">
                <a:sym typeface="Wingdings" panose="05000000000000000000" pitchFamily="2" charset="2"/>
              </a:rPr>
              <a:t> 옵션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install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typescript</a:t>
            </a:r>
            <a:r>
              <a:rPr lang="en-US" altLang="ko-KR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(Mac :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sudo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install typescript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2. </a:t>
            </a:r>
            <a:r>
              <a:rPr lang="ko-KR" altLang="en-US" sz="2400" dirty="0">
                <a:sym typeface="Wingdings" panose="05000000000000000000" pitchFamily="2" charset="2"/>
              </a:rPr>
              <a:t>설치가 잘 되었는지 </a:t>
            </a:r>
            <a:r>
              <a:rPr lang="en-US" altLang="ko-KR" sz="2400" dirty="0">
                <a:sym typeface="Wingdings" panose="05000000000000000000" pitchFamily="2" charset="2"/>
              </a:rPr>
              <a:t>version </a:t>
            </a:r>
            <a:r>
              <a:rPr lang="ko-KR" altLang="en-US" sz="2400" dirty="0">
                <a:sym typeface="Wingdings" panose="05000000000000000000" pitchFamily="2" charset="2"/>
              </a:rPr>
              <a:t>확인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-v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3. </a:t>
            </a:r>
            <a:r>
              <a:rPr lang="en-US" altLang="ko-KR" sz="2400" dirty="0" err="1">
                <a:sym typeface="Wingdings" panose="05000000000000000000" pitchFamily="2" charset="2"/>
              </a:rPr>
              <a:t>tsconfig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 생성 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--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init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4. </a:t>
            </a:r>
            <a:r>
              <a:rPr lang="en-US" altLang="ko-KR" sz="2400" dirty="0" err="1">
                <a:sym typeface="Wingdings" panose="05000000000000000000" pitchFamily="2" charset="2"/>
              </a:rPr>
              <a:t>ts</a:t>
            </a:r>
            <a:r>
              <a:rPr lang="ko-KR" altLang="en-US" sz="2400" dirty="0">
                <a:sym typeface="Wingdings" panose="05000000000000000000" pitchFamily="2" charset="2"/>
              </a:rPr>
              <a:t> 파일을 만들고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ko-KR" altLang="en-US" sz="2400" dirty="0">
                <a:sym typeface="Wingdings" panose="05000000000000000000" pitchFamily="2" charset="2"/>
              </a:rPr>
              <a:t>로 변환하고 싶을 때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실제 사용은 변환된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파일을 사용하면 됩니다</a:t>
            </a:r>
            <a:r>
              <a:rPr lang="en-US" altLang="ko-KR" sz="2400" dirty="0">
                <a:sym typeface="Wingdings" panose="05000000000000000000" pitchFamily="2" charset="2"/>
              </a:rPr>
              <a:t>. (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node</a:t>
            </a:r>
            <a:r>
              <a:rPr lang="ko-KR" altLang="en-US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sz="2400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7BCA8AC-557E-6855-43A5-D106099C3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F9DAE7-F251-C883-675E-40C23EF6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B5891A1-1261-798B-BA6C-97D976153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</a:t>
            </a:r>
            <a:r>
              <a:rPr lang="ko-KR" altLang="en-US" dirty="0"/>
              <a:t> 사용</a:t>
            </a:r>
          </a:p>
        </p:txBody>
      </p:sp>
    </p:spTree>
    <p:extLst>
      <p:ext uri="{BB962C8B-B14F-4D97-AF65-F5344CB8AC3E}">
        <p14:creationId xmlns:p14="http://schemas.microsoft.com/office/powerpoint/2010/main" val="404754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3E26B4-0144-5D67-C72C-7EB1933D6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ts</a:t>
            </a:r>
            <a:r>
              <a:rPr lang="ko-KR" altLang="en-US" dirty="0"/>
              <a:t> 파일을 일일이 변환한 후에</a:t>
            </a:r>
            <a:r>
              <a:rPr lang="en-US" altLang="ko-KR" dirty="0"/>
              <a:t>,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파일을 </a:t>
            </a:r>
            <a:r>
              <a:rPr lang="ko-KR" altLang="en-US" dirty="0" err="1"/>
              <a:t>실행하는게</a:t>
            </a:r>
            <a:r>
              <a:rPr lang="ko-KR" altLang="en-US" dirty="0"/>
              <a:t> 귀찮아요</a:t>
            </a:r>
            <a:r>
              <a:rPr lang="en-US" altLang="ko-KR" dirty="0"/>
              <a:t>!</a:t>
            </a:r>
          </a:p>
          <a:p>
            <a:r>
              <a:rPr lang="en-US" altLang="ko-KR" dirty="0" err="1"/>
              <a:t>ts</a:t>
            </a:r>
            <a:r>
              <a:rPr lang="en-US" altLang="ko-KR" dirty="0"/>
              <a:t>-node </a:t>
            </a:r>
            <a:r>
              <a:rPr lang="ko-KR" altLang="en-US" dirty="0"/>
              <a:t>모듈 설치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install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</a:p>
          <a:p>
            <a:pPr lvl="1"/>
            <a:r>
              <a:rPr lang="en-US" altLang="ko-KR" dirty="0" err="1"/>
              <a:t>package.json</a:t>
            </a:r>
            <a:r>
              <a:rPr lang="en-US" altLang="ko-KR" dirty="0"/>
              <a:t> 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en-US" altLang="ko-KR" dirty="0" err="1"/>
              <a:t>ts</a:t>
            </a:r>
            <a:r>
              <a:rPr lang="en-US" altLang="ko-KR" dirty="0"/>
              <a:t>-node</a:t>
            </a:r>
            <a:r>
              <a:rPr lang="ko-KR" altLang="en-US" dirty="0"/>
              <a:t> 모듈이 잘 </a:t>
            </a:r>
            <a:r>
              <a:rPr lang="ko-KR" altLang="en-US" dirty="0" err="1"/>
              <a:t>설치되어있는지</a:t>
            </a:r>
            <a:r>
              <a:rPr lang="ko-KR" altLang="en-US" dirty="0"/>
              <a:t> 확인하기</a:t>
            </a:r>
            <a:endParaRPr lang="en-US" altLang="ko-KR" dirty="0"/>
          </a:p>
          <a:p>
            <a:r>
              <a:rPr lang="ko-KR" altLang="en-US" dirty="0"/>
              <a:t>실행은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4DB84DF-A6F0-309E-22AB-C2BA0401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변환 </a:t>
            </a:r>
            <a:r>
              <a:rPr lang="en-US" altLang="ko-KR" dirty="0"/>
              <a:t>+ </a:t>
            </a:r>
            <a:r>
              <a:rPr lang="ko-KR" altLang="en-US" dirty="0"/>
              <a:t>실행 자동화</a:t>
            </a:r>
          </a:p>
        </p:txBody>
      </p:sp>
    </p:spTree>
    <p:extLst>
      <p:ext uri="{BB962C8B-B14F-4D97-AF65-F5344CB8AC3E}">
        <p14:creationId xmlns:p14="http://schemas.microsoft.com/office/powerpoint/2010/main" val="51110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3D4D577-AE5E-0320-9118-567D882BC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</a:p>
          <a:p>
            <a:r>
              <a:rPr lang="en-US" altLang="ko-KR" dirty="0"/>
              <a:t>Enum</a:t>
            </a:r>
          </a:p>
          <a:p>
            <a:r>
              <a:rPr lang="en-US" altLang="ko-KR" dirty="0"/>
              <a:t>never</a:t>
            </a:r>
          </a:p>
          <a:p>
            <a:r>
              <a:rPr lang="en-US" altLang="ko-KR" dirty="0"/>
              <a:t>void</a:t>
            </a:r>
          </a:p>
          <a:p>
            <a:r>
              <a:rPr lang="en-US" altLang="ko-KR" dirty="0"/>
              <a:t>any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116249-7261-C4B8-87E7-2580C7CB6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427FD9-5978-A5F3-4064-AB732519A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4C84F3B-6419-1CF0-69E6-2F2FC752A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 type </a:t>
            </a:r>
            <a:r>
              <a:rPr lang="ko-KR" altLang="en-US" dirty="0"/>
              <a:t>알아보기</a:t>
            </a:r>
            <a:r>
              <a:rPr lang="en-US" altLang="ko-KR" dirty="0"/>
              <a:t>2 (JS </a:t>
            </a:r>
            <a:r>
              <a:rPr lang="ko-KR" altLang="en-US" dirty="0"/>
              <a:t>에서는 없던 </a:t>
            </a:r>
            <a:r>
              <a:rPr lang="en-US" altLang="ko-KR" dirty="0"/>
              <a:t>type</a:t>
            </a:r>
            <a:r>
              <a:rPr lang="ko-KR" altLang="en-US" dirty="0"/>
              <a:t>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2484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71570C-7FAF-90D1-B57F-AE468E84C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3045"/>
          </a:xfrm>
        </p:spPr>
        <p:txBody>
          <a:bodyPr>
            <a:normAutofit/>
          </a:bodyPr>
          <a:lstStyle/>
          <a:p>
            <a:r>
              <a:rPr lang="en-US" altLang="ko-KR" dirty="0"/>
              <a:t>JS</a:t>
            </a:r>
            <a:r>
              <a:rPr lang="ko-KR" altLang="en-US" dirty="0"/>
              <a:t>에서는 배열과 같습니다</a:t>
            </a:r>
            <a:r>
              <a:rPr lang="en-US" altLang="ko-KR" dirty="0"/>
              <a:t>. </a:t>
            </a:r>
            <a:r>
              <a:rPr lang="en-US" altLang="ko-KR" sz="2400" dirty="0"/>
              <a:t>(</a:t>
            </a:r>
            <a:r>
              <a:rPr lang="ko-KR" altLang="en-US" sz="2400" dirty="0"/>
              <a:t>단</a:t>
            </a:r>
            <a:r>
              <a:rPr lang="en-US" altLang="ko-KR" sz="2400" dirty="0"/>
              <a:t>, </a:t>
            </a:r>
            <a:r>
              <a:rPr lang="ko-KR" altLang="en-US" sz="2400" dirty="0"/>
              <a:t>요소의 길이와 타입이 고정된 특수한 배열</a:t>
            </a:r>
            <a:r>
              <a:rPr lang="en-US" altLang="ko-KR" sz="2400" dirty="0"/>
              <a:t>)</a:t>
            </a:r>
          </a:p>
          <a:p>
            <a:r>
              <a:rPr lang="ko-KR" altLang="en-US" dirty="0"/>
              <a:t>순서와 개수가 정해져 있는 배열 </a:t>
            </a:r>
            <a:r>
              <a:rPr lang="en-US" altLang="ko-KR" dirty="0"/>
              <a:t>(</a:t>
            </a:r>
            <a:r>
              <a:rPr lang="ko-KR" altLang="en-US" dirty="0"/>
              <a:t>요소의 길이와 타입 고정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일반 배열과 다른 점은 배열의 각각의 타입에 모두 </a:t>
            </a:r>
            <a:r>
              <a:rPr lang="en-US" altLang="ko-KR" dirty="0"/>
              <a:t>type</a:t>
            </a:r>
            <a:r>
              <a:rPr lang="ko-KR" altLang="en-US" dirty="0"/>
              <a:t>을 지정해줘야 합니다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순서와 규칙이 있는 배열이 있다면 </a:t>
            </a:r>
            <a:r>
              <a:rPr lang="en-US" altLang="ko-KR" dirty="0"/>
              <a:t>Tuple</a:t>
            </a:r>
            <a:r>
              <a:rPr lang="ko-KR" altLang="en-US" dirty="0"/>
              <a:t>을 이용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A698FFC-4B2A-889A-6546-F5DACE8C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E4B111-B3A1-B494-EF40-282A3CC3B571}"/>
              </a:ext>
            </a:extLst>
          </p:cNvPr>
          <p:cNvSpPr txBox="1"/>
          <p:nvPr/>
        </p:nvSpPr>
        <p:spPr>
          <a:xfrm>
            <a:off x="1059619" y="4464615"/>
            <a:ext cx="6093618" cy="14773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타입 선언</a:t>
            </a:r>
            <a:endParaRPr lang="en-US" altLang="ko-KR" b="0" i="1" dirty="0">
              <a:solidFill>
                <a:srgbClr val="444B6A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초기화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cola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1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95453-43FC-DB88-776E-51F8DE7BC015}"/>
              </a:ext>
            </a:extLst>
          </p:cNvPr>
          <p:cNvSpPr txBox="1"/>
          <p:nvPr/>
        </p:nvSpPr>
        <p:spPr>
          <a:xfrm>
            <a:off x="7255975" y="4793051"/>
            <a:ext cx="5044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drink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라는 배열은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2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개의 요소를 가지며</a:t>
            </a:r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첫번째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string,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두번째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number</a:t>
            </a:r>
          </a:p>
          <a:p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즉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요소들의 타입이 모두 같을 필요는 없음을 나타냄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55975" y="4423719"/>
            <a:ext cx="443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배열의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element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에게 개별적으로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 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선언</a:t>
            </a:r>
          </a:p>
        </p:txBody>
      </p:sp>
    </p:spTree>
    <p:extLst>
      <p:ext uri="{BB962C8B-B14F-4D97-AF65-F5344CB8AC3E}">
        <p14:creationId xmlns:p14="http://schemas.microsoft.com/office/powerpoint/2010/main" val="105195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003059-1A0D-054E-FDB0-D47CF2A64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길이와 데이터 타입이 정해진 배열인 </a:t>
            </a:r>
            <a:r>
              <a:rPr lang="en-US" altLang="ko-KR" dirty="0"/>
              <a:t>tuple</a:t>
            </a:r>
          </a:p>
          <a:p>
            <a:r>
              <a:rPr lang="en-US" altLang="ko-KR" dirty="0" err="1"/>
              <a:t>Readonly</a:t>
            </a:r>
            <a:r>
              <a:rPr lang="en-US" altLang="ko-KR" dirty="0"/>
              <a:t> ? </a:t>
            </a:r>
            <a:r>
              <a:rPr lang="ko-KR" altLang="en-US" dirty="0"/>
              <a:t>읽기만 가능한 </a:t>
            </a:r>
            <a:r>
              <a:rPr lang="en-US" altLang="ko-KR" dirty="0"/>
              <a:t>data type!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 err="1"/>
              <a:t>Readonly</a:t>
            </a:r>
            <a:r>
              <a:rPr lang="ko-KR" altLang="en-US" dirty="0"/>
              <a:t>로 만들어진 </a:t>
            </a:r>
            <a:r>
              <a:rPr lang="en-US" altLang="ko-KR" dirty="0"/>
              <a:t>tuple </a:t>
            </a:r>
            <a:r>
              <a:rPr lang="ko-KR" altLang="en-US" dirty="0"/>
              <a:t>은 데이터를 변경할 수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A85D9E-65AA-D8C7-CDD0-080038F6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 </a:t>
            </a:r>
            <a:r>
              <a:rPr lang="ko-KR" altLang="en-US" dirty="0"/>
              <a:t>과 </a:t>
            </a:r>
            <a:r>
              <a:rPr lang="en-US" altLang="ko-KR" dirty="0" err="1"/>
              <a:t>readonly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7DCC4-174B-BEA5-4897-C4BC598A9343}"/>
              </a:ext>
            </a:extLst>
          </p:cNvPr>
          <p:cNvSpPr txBox="1"/>
          <p:nvPr/>
        </p:nvSpPr>
        <p:spPr>
          <a:xfrm>
            <a:off x="982133" y="3327779"/>
            <a:ext cx="9719734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drink3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[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"cola"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2500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889610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6C5B7-DDD1-A5F2-45CF-D7055E658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u="sng" dirty="0"/>
              <a:t>숫자 열거형</a:t>
            </a:r>
            <a:r>
              <a:rPr lang="ko-KR" altLang="en-US" dirty="0"/>
              <a:t>과 </a:t>
            </a:r>
            <a:r>
              <a:rPr lang="ko-KR" altLang="en-US" u="sng" dirty="0"/>
              <a:t>문자 열거형</a:t>
            </a:r>
            <a:r>
              <a:rPr lang="en-US" altLang="ko-KR" dirty="0"/>
              <a:t> (</a:t>
            </a:r>
            <a:r>
              <a:rPr lang="ko-KR" altLang="en-US" dirty="0"/>
              <a:t>특정 값들의 집합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값들에 미리 이름을 정의하고 사용하는 타입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위는 권한 </a:t>
            </a:r>
            <a:r>
              <a:rPr lang="en-US" altLang="ko-KR" dirty="0"/>
              <a:t>(</a:t>
            </a:r>
            <a:r>
              <a:rPr lang="ko-KR" altLang="en-US" dirty="0"/>
              <a:t>관리자</a:t>
            </a:r>
            <a:r>
              <a:rPr lang="en-US" altLang="ko-KR" dirty="0"/>
              <a:t>/</a:t>
            </a:r>
            <a:r>
              <a:rPr lang="ko-KR" altLang="en-US" dirty="0"/>
              <a:t>사용자</a:t>
            </a:r>
            <a:r>
              <a:rPr lang="en-US" altLang="ko-KR" dirty="0"/>
              <a:t>/</a:t>
            </a:r>
            <a:r>
              <a:rPr lang="ko-KR" altLang="en-US" dirty="0"/>
              <a:t>게스트</a:t>
            </a:r>
            <a:r>
              <a:rPr lang="en-US" altLang="ko-KR" dirty="0"/>
              <a:t>) </a:t>
            </a:r>
            <a:r>
              <a:rPr lang="ko-KR" altLang="en-US" dirty="0"/>
              <a:t>별로 </a:t>
            </a:r>
            <a:r>
              <a:rPr lang="ko-KR" altLang="en-US" dirty="0" err="1"/>
              <a:t>숫자값으로</a:t>
            </a:r>
            <a:r>
              <a:rPr lang="ko-KR" altLang="en-US" dirty="0"/>
              <a:t> 관리를 </a:t>
            </a:r>
            <a:r>
              <a:rPr lang="ko-KR" altLang="en-US" dirty="0" err="1"/>
              <a:t>하는것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C57C0F4-EFC4-74B6-0D5D-C72613CDA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BDB0D7-BBE8-A2CD-17D0-B4703323E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429" y="2976788"/>
            <a:ext cx="5327058" cy="1775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224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C839DB-4C6C-7A87-9552-8964B6A9A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0,1,2</a:t>
            </a:r>
            <a:r>
              <a:rPr lang="ko-KR" altLang="en-US" sz="2400" dirty="0"/>
              <a:t> 로 비교하는 코드를 </a:t>
            </a:r>
            <a:r>
              <a:rPr lang="ko-KR" altLang="en-US" sz="2400" dirty="0" err="1"/>
              <a:t>짜야하지만</a:t>
            </a:r>
            <a:r>
              <a:rPr lang="ko-KR" altLang="en-US" sz="2400" dirty="0"/>
              <a:t> 개발자가 </a:t>
            </a:r>
            <a:r>
              <a:rPr lang="en-US" altLang="ko-KR" sz="2400" dirty="0"/>
              <a:t>0,1,2 </a:t>
            </a:r>
            <a:r>
              <a:rPr lang="ko-KR" altLang="en-US" sz="2400" dirty="0"/>
              <a:t>의 의미를 모두 외우고 있어야 가능함</a:t>
            </a:r>
            <a:endParaRPr lang="en-US" altLang="ko-KR" sz="2400" dirty="0"/>
          </a:p>
          <a:p>
            <a:r>
              <a:rPr lang="ko-KR" altLang="en-US" sz="2400" dirty="0"/>
              <a:t>문자열이나 숫자에 미리 의미를 지정해 두고 그룹화할 수 있는 속성</a:t>
            </a:r>
            <a:endParaRPr lang="en-US" altLang="ko-KR" sz="2400" dirty="0"/>
          </a:p>
          <a:p>
            <a:pPr lvl="1"/>
            <a:r>
              <a:rPr lang="en-US" altLang="ko-KR" dirty="0"/>
              <a:t>Enum</a:t>
            </a:r>
            <a:r>
              <a:rPr lang="ko-KR" altLang="en-US" dirty="0"/>
              <a:t>으로 정의된 타입 </a:t>
            </a:r>
            <a:r>
              <a:rPr lang="en-US" altLang="ko-KR" dirty="0"/>
              <a:t>Auth(</a:t>
            </a:r>
            <a:r>
              <a:rPr lang="ko-KR" altLang="en-US" dirty="0"/>
              <a:t>그룹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Auth</a:t>
            </a:r>
            <a:r>
              <a:rPr lang="ko-KR" altLang="en-US" dirty="0"/>
              <a:t>에 정의된 </a:t>
            </a:r>
            <a:r>
              <a:rPr lang="en-US" altLang="ko-KR" dirty="0"/>
              <a:t>0,1,2 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사용할 때에는 점 접근으로 사용할 수 있음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  </a:t>
            </a:r>
            <a:r>
              <a:rPr lang="en-US" altLang="ko-KR" dirty="0" err="1">
                <a:solidFill>
                  <a:schemeClr val="accent1"/>
                </a:solidFill>
              </a:rPr>
              <a:t>Auth.admin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Auth.user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Auth.guest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EB2D2A-D3E6-7637-4E49-E934B1264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300995-17EC-7E93-AD0F-3CC4B55EB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832" y="2103769"/>
            <a:ext cx="4130842" cy="107336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449F7D-9DEB-3919-3EBA-6730E2467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487" y="1012296"/>
            <a:ext cx="3850976" cy="218294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168DDD23-A485-0AC8-8414-05770B1B36A0}"/>
              </a:ext>
            </a:extLst>
          </p:cNvPr>
          <p:cNvSpPr/>
          <p:nvPr/>
        </p:nvSpPr>
        <p:spPr>
          <a:xfrm>
            <a:off x="5450305" y="2550695"/>
            <a:ext cx="782053" cy="484632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113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6D1820-09F7-CFC5-1543-E71F7B0A1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JS</a:t>
            </a:r>
            <a:r>
              <a:rPr lang="ko-KR" altLang="en-US" sz="2400" dirty="0"/>
              <a:t> 의 오브젝트와 유사하지만 선언 이후로는 내용을 추가하거나 삭제할 수 없음</a:t>
            </a:r>
            <a:endParaRPr lang="en-US" altLang="ko-KR" sz="2400" dirty="0"/>
          </a:p>
          <a:p>
            <a:r>
              <a:rPr lang="en-US" altLang="ko-KR" sz="2400" dirty="0" err="1"/>
              <a:t>enum</a:t>
            </a:r>
            <a:r>
              <a:rPr lang="en-US" altLang="ko-KR" sz="2400" dirty="0"/>
              <a:t> </a:t>
            </a:r>
            <a:r>
              <a:rPr lang="ko-KR" altLang="en-US" sz="2400" dirty="0"/>
              <a:t>의 </a:t>
            </a:r>
            <a:r>
              <a:rPr lang="en-US" altLang="ko-KR" sz="2400" dirty="0"/>
              <a:t>value</a:t>
            </a:r>
            <a:r>
              <a:rPr lang="ko-KR" altLang="en-US" sz="2400" dirty="0"/>
              <a:t>로는 문자열 혹은 숫자만 허용</a:t>
            </a:r>
            <a:endParaRPr lang="en-US" altLang="ko-KR" sz="2400" dirty="0"/>
          </a:p>
          <a:p>
            <a:r>
              <a:rPr lang="ko-KR" altLang="en-US" sz="2400" dirty="0"/>
              <a:t>값을 넣지 않고 선언한다면 숫자형</a:t>
            </a:r>
            <a:r>
              <a:rPr lang="en-US" altLang="ko-KR" sz="2400" dirty="0"/>
              <a:t> Enum. </a:t>
            </a:r>
            <a:r>
              <a:rPr lang="ko-KR" altLang="en-US" sz="2400" dirty="0"/>
              <a:t>가장 위의 요소부터 </a:t>
            </a:r>
            <a:r>
              <a:rPr lang="en-US" altLang="ko-KR" sz="2400" dirty="0"/>
              <a:t>0</a:t>
            </a:r>
            <a:r>
              <a:rPr lang="ko-KR" altLang="en-US" sz="2400" dirty="0"/>
              <a:t>으로 할당돼서 </a:t>
            </a:r>
            <a:r>
              <a:rPr lang="en-US" altLang="ko-KR" sz="2400" dirty="0"/>
              <a:t>1</a:t>
            </a:r>
            <a:r>
              <a:rPr lang="ko-KR" altLang="en-US" sz="2400" dirty="0"/>
              <a:t>씩 늘어남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1C2D0A-62F7-441F-F72D-37538F4F6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 </a:t>
            </a:r>
            <a:r>
              <a:rPr lang="ko-KR" altLang="en-US" dirty="0"/>
              <a:t>문법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8A882-54AE-AC8D-4047-698F9520EC67}"/>
              </a:ext>
            </a:extLst>
          </p:cNvPr>
          <p:cNvSpPr txBox="1"/>
          <p:nvPr/>
        </p:nvSpPr>
        <p:spPr>
          <a:xfrm>
            <a:off x="1124742" y="3724866"/>
            <a:ext cx="2932698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56559C-B413-D56E-D4FA-233DAF462016}"/>
              </a:ext>
            </a:extLst>
          </p:cNvPr>
          <p:cNvSpPr txBox="1"/>
          <p:nvPr/>
        </p:nvSpPr>
        <p:spPr>
          <a:xfrm>
            <a:off x="4750095" y="4001865"/>
            <a:ext cx="4957430" cy="923330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//0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//1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//2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988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BDA537-EE85-D14B-587C-03511FCC8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93"/>
            <a:ext cx="10515600" cy="3847069"/>
          </a:xfrm>
        </p:spPr>
        <p:txBody>
          <a:bodyPr/>
          <a:lstStyle/>
          <a:p>
            <a:r>
              <a:rPr lang="ko-KR" altLang="en-US" dirty="0"/>
              <a:t>어떤 타입이든 상관 없이 오류가 나지 않아요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sz="2400" dirty="0"/>
              <a:t>빈 배열을 먼저 선언하고 싶을 때</a:t>
            </a:r>
            <a:endParaRPr lang="en-US" altLang="ko-KR" sz="2400" dirty="0"/>
          </a:p>
          <a:p>
            <a:r>
              <a:rPr lang="ko-KR" altLang="en-US" sz="2400" dirty="0"/>
              <a:t>받아오는 데이터 타입이 확실하지 않을 때</a:t>
            </a:r>
            <a:endParaRPr lang="en-US" altLang="ko-KR" sz="2400" dirty="0"/>
          </a:p>
          <a:p>
            <a:r>
              <a:rPr lang="ko-KR" altLang="en-US" sz="2400" dirty="0"/>
              <a:t>어떤 타입을 할당해야 할지 알지 못하는 경우 </a:t>
            </a:r>
            <a:r>
              <a:rPr lang="en-US" altLang="ko-KR" sz="2400" dirty="0"/>
              <a:t>(</a:t>
            </a:r>
            <a:r>
              <a:rPr lang="ko-KR" altLang="en-US" sz="2400" dirty="0"/>
              <a:t>외부 라이브러리를 사용하거나 동적 콘텐츠를 사용하는 경우</a:t>
            </a:r>
            <a:r>
              <a:rPr lang="en-US" altLang="ko-KR" sz="24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sz="2400" dirty="0">
                <a:solidFill>
                  <a:schemeClr val="accent5"/>
                </a:solidFill>
              </a:rPr>
              <a:t>하지만 정말 어쩔 수 없는 경우가 아니라면 지양</a:t>
            </a:r>
            <a:r>
              <a:rPr lang="en-US" altLang="ko-KR" sz="2400" dirty="0">
                <a:solidFill>
                  <a:schemeClr val="accent5"/>
                </a:solidFill>
              </a:rPr>
              <a:t>!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43BF12C-AA05-DB97-213C-2661FDDA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any (</a:t>
            </a:r>
            <a:r>
              <a:rPr lang="ko-KR" altLang="en-US" dirty="0"/>
              <a:t>어떤 타입이든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3BA10-A5C9-0637-BB80-03039B254C9D}"/>
              </a:ext>
            </a:extLst>
          </p:cNvPr>
          <p:cNvSpPr txBox="1"/>
          <p:nvPr/>
        </p:nvSpPr>
        <p:spPr>
          <a:xfrm>
            <a:off x="964905" y="1825625"/>
            <a:ext cx="1863356" cy="369332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any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post-thumbnail">
            <a:extLst>
              <a:ext uri="{FF2B5EF4-FFF2-40B4-BE49-F238E27FC236}">
                <a16:creationId xmlns:a16="http://schemas.microsoft.com/office/drawing/2014/main" id="{95E0895D-4935-2078-23E5-AFE883AB4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8980" y="1700149"/>
            <a:ext cx="3358115" cy="2250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02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0603B0-03DC-71ED-5701-8F36B4800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44200" cy="4351338"/>
          </a:xfrm>
        </p:spPr>
        <p:txBody>
          <a:bodyPr/>
          <a:lstStyle/>
          <a:p>
            <a:r>
              <a:rPr lang="ko-KR" altLang="en-US" dirty="0"/>
              <a:t>오브젝트</a:t>
            </a:r>
            <a:r>
              <a:rPr lang="en-US" altLang="ko-KR" dirty="0"/>
              <a:t>, </a:t>
            </a:r>
            <a:r>
              <a:rPr lang="ko-KR" altLang="en-US" dirty="0" err="1"/>
              <a:t>불리언</a:t>
            </a:r>
            <a:r>
              <a:rPr lang="en-US" altLang="ko-KR" dirty="0"/>
              <a:t>(</a:t>
            </a:r>
            <a:r>
              <a:rPr lang="en-US" altLang="ko-KR" dirty="0" err="1"/>
              <a:t>boolean</a:t>
            </a:r>
            <a:r>
              <a:rPr lang="en-US" altLang="ko-KR" dirty="0"/>
              <a:t>) </a:t>
            </a:r>
            <a:r>
              <a:rPr lang="ko-KR" altLang="en-US" dirty="0"/>
              <a:t>데이터 타입 순으로 설정하는 </a:t>
            </a:r>
            <a:r>
              <a:rPr lang="ko-KR" altLang="en-US" dirty="0" err="1"/>
              <a:t>튜플</a:t>
            </a:r>
            <a:r>
              <a:rPr lang="ko-KR" altLang="en-US" dirty="0"/>
              <a:t> 만들어보기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olimpic_newgame</a:t>
            </a:r>
            <a:r>
              <a:rPr lang="en-US" altLang="ko-KR" dirty="0"/>
              <a:t>[1]=false; </a:t>
            </a:r>
            <a:r>
              <a:rPr lang="ko-KR" altLang="en-US" dirty="0"/>
              <a:t>를 했을 때 변경되지 않도록</a:t>
            </a:r>
            <a:r>
              <a:rPr lang="en-US" altLang="ko-KR" dirty="0"/>
              <a:t> </a:t>
            </a:r>
            <a:r>
              <a:rPr lang="ko-KR" altLang="en-US" dirty="0"/>
              <a:t>수정할 수 없는 데이터 만들기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3E36B17-24E7-3A13-2497-87BEEF558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AE3E3-4CE1-AEA8-A7FF-D38849C7C49E}"/>
              </a:ext>
            </a:extLst>
          </p:cNvPr>
          <p:cNvSpPr txBox="1"/>
          <p:nvPr/>
        </p:nvSpPr>
        <p:spPr>
          <a:xfrm>
            <a:off x="3956755" y="2574205"/>
            <a:ext cx="3646311" cy="203132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olimpic_newgame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[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쇼트트랙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혼성 계주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399844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CAED9C-A919-07A8-F740-8DD597917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C682717-BA47-E291-BE0B-6A1C15712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96ADCFC8-6998-3231-F7E5-D7639E52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사용자 정의 </a:t>
            </a:r>
            <a:r>
              <a:rPr lang="en-US" altLang="ko-KR" dirty="0"/>
              <a:t>type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7371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A57B93F9-AA75-1F0D-7440-C85B372F1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045" y="4400957"/>
            <a:ext cx="5235394" cy="1280271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type </a:t>
            </a:r>
            <a:r>
              <a:rPr lang="ko-KR" altLang="en-US" dirty="0"/>
              <a:t>키워드로 복잡한 타입을 </a:t>
            </a:r>
            <a:r>
              <a:rPr lang="en-US" altLang="ko-KR" dirty="0"/>
              <a:t>type alias (</a:t>
            </a:r>
            <a:r>
              <a:rPr lang="ko-KR" altLang="en-US" dirty="0"/>
              <a:t>타입 별칭</a:t>
            </a:r>
            <a:r>
              <a:rPr lang="en-US" altLang="ko-KR" dirty="0"/>
              <a:t>)</a:t>
            </a:r>
            <a:r>
              <a:rPr lang="ko-KR" altLang="en-US" dirty="0"/>
              <a:t>을 정의</a:t>
            </a:r>
            <a:endParaRPr lang="en-US" altLang="ko-KR" dirty="0"/>
          </a:p>
          <a:p>
            <a:pPr lvl="1"/>
            <a:r>
              <a:rPr lang="ko-KR" altLang="en-US" dirty="0"/>
              <a:t>사용자 정의 타입을 </a:t>
            </a:r>
            <a:r>
              <a:rPr lang="ko-KR" altLang="en-US" dirty="0" err="1"/>
              <a:t>만들어줌</a:t>
            </a:r>
            <a:endParaRPr lang="en-US" altLang="ko-KR" dirty="0"/>
          </a:p>
          <a:p>
            <a:r>
              <a:rPr lang="ko-KR" altLang="en-US" dirty="0"/>
              <a:t>오브젝트 뿐만 아니라 문자열이나 숫자로 제한을 둘 수 있음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1174045" y="5178057"/>
            <a:ext cx="4571999" cy="443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910466" y="4607373"/>
            <a:ext cx="4849597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이용해서 </a:t>
            </a:r>
            <a:r>
              <a:rPr lang="ko-KR" altLang="en-US" sz="1700" dirty="0" err="1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만들어둔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Gender 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변수 선언</a:t>
            </a:r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에서 설정한 것 이외의 값이 들어오면 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코드에서 </a:t>
            </a:r>
            <a:r>
              <a:rPr lang="ko-KR" altLang="en-US" sz="17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빨간줄로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틀렸음을 알려줌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915938" y="3350570"/>
            <a:ext cx="1699248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18406-461E-B9EC-0CC2-9CAB90A7C512}"/>
              </a:ext>
            </a:extLst>
          </p:cNvPr>
          <p:cNvSpPr txBox="1"/>
          <p:nvPr/>
        </p:nvSpPr>
        <p:spPr>
          <a:xfrm>
            <a:off x="1174045" y="3312097"/>
            <a:ext cx="5610578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84910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052AF6-B5B3-8545-A945-B36D931E5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8DF6E4-840F-D9E8-D250-FD0C87482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A863C530-0106-D17F-4898-EABA49FBE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7079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254"/>
            <a:ext cx="10515600" cy="4351338"/>
          </a:xfrm>
        </p:spPr>
        <p:txBody>
          <a:bodyPr/>
          <a:lstStyle/>
          <a:p>
            <a:r>
              <a:rPr lang="ko-KR" altLang="en-US" dirty="0"/>
              <a:t>여러 오브젝트의 타입을 정의하는 규칙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66B73-26EB-D99D-D211-7713FB7891BF}"/>
              </a:ext>
            </a:extLst>
          </p:cNvPr>
          <p:cNvSpPr txBox="1"/>
          <p:nvPr/>
        </p:nvSpPr>
        <p:spPr>
          <a:xfrm>
            <a:off x="2038532" y="2259561"/>
            <a:ext cx="3611879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D81AA7-8821-1C06-CBE8-67E2775BBC0C}"/>
              </a:ext>
            </a:extLst>
          </p:cNvPr>
          <p:cNvSpPr txBox="1"/>
          <p:nvPr/>
        </p:nvSpPr>
        <p:spPr>
          <a:xfrm>
            <a:off x="2016499" y="4242062"/>
            <a:ext cx="3611880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student1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:'</a:t>
            </a:r>
            <a:r>
              <a:rPr lang="en-US" altLang="ko-KR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jh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',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3882865" y="4280827"/>
            <a:ext cx="1032528" cy="3346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368527" y="3971360"/>
            <a:ext cx="5207836" cy="21082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오브젝트를 선언할 때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:object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쓰는 것이 아닌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:interface</a:t>
            </a:r>
            <a:r>
              <a:rPr lang="ko-KR" altLang="en-US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만든 </a:t>
            </a:r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써준다면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내부에 있는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key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의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까지 지정할 수 있다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  <a:p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내가 만들어준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Student!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되는 것</a:t>
            </a:r>
            <a:b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</a:b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(student1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이라는 오브젝트를 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 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만들겠다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.)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374887" y="2332139"/>
            <a:ext cx="231441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Interface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2344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20C02F76-6D8A-BCCE-805A-026D748183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65491"/>
              </p:ext>
            </p:extLst>
          </p:nvPr>
        </p:nvGraphicFramePr>
        <p:xfrm>
          <a:off x="838200" y="2539103"/>
          <a:ext cx="10515600" cy="148336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1036748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535957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type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interface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513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 타입 또는 새 타입을 생성하는데 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객체 타입의 구조를 정의하는데 사용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56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타입 또는 인터페이스를 상속하거나 구현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인터페이스를 상속하거나 구현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3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리터럴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유티온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인터섹션</a:t>
                      </a:r>
                      <a:r>
                        <a:rPr lang="ko-KR" altLang="en-US" dirty="0"/>
                        <a:t> 타입 사용 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extends </a:t>
                      </a:r>
                      <a:r>
                        <a:rPr lang="ko-KR" altLang="en-US" dirty="0"/>
                        <a:t>키워드로 인터페이스 확장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1675765"/>
                  </a:ext>
                </a:extLst>
              </a:tr>
            </a:tbl>
          </a:graphicData>
        </a:graphic>
      </p:graphicFrame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37248E4-2ECA-9AD9-C61A-DB31FF83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8E27E-2FCF-627B-C1D4-13E7A9C3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8F74397-3D30-D1CD-72B6-CF98C1994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r>
              <a:rPr lang="ko-KR" altLang="en-US" dirty="0"/>
              <a:t> </a:t>
            </a:r>
            <a:r>
              <a:rPr lang="en-US" altLang="ko-KR" dirty="0"/>
              <a:t>vs.</a:t>
            </a:r>
            <a:r>
              <a:rPr lang="ko-KR" altLang="en-US" dirty="0"/>
              <a:t> </a:t>
            </a:r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A8377-6E2E-6A4C-5BB2-C384A43EE02E}"/>
              </a:ext>
            </a:extLst>
          </p:cNvPr>
          <p:cNvSpPr txBox="1"/>
          <p:nvPr/>
        </p:nvSpPr>
        <p:spPr>
          <a:xfrm>
            <a:off x="838200" y="4192593"/>
            <a:ext cx="27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간단한 타입을 정할 때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EC95CB-E06D-844C-4069-BDC4193B8CA1}"/>
              </a:ext>
            </a:extLst>
          </p:cNvPr>
          <p:cNvSpPr txBox="1"/>
          <p:nvPr/>
        </p:nvSpPr>
        <p:spPr>
          <a:xfrm>
            <a:off x="6073966" y="4203139"/>
            <a:ext cx="385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객체 구조가 잘 정의되어 있는 경우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3609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A390FC-8713-3D01-A9FD-5BA8CDEE6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047"/>
            <a:ext cx="10515600" cy="4528916"/>
          </a:xfrm>
        </p:spPr>
        <p:txBody>
          <a:bodyPr/>
          <a:lstStyle/>
          <a:p>
            <a:r>
              <a:rPr lang="ko-KR" altLang="en-US" dirty="0"/>
              <a:t>화면에 </a:t>
            </a:r>
            <a:r>
              <a:rPr lang="ko-KR" altLang="en-US" dirty="0" err="1"/>
              <a:t>나와잇는</a:t>
            </a:r>
            <a:r>
              <a:rPr lang="ko-KR" altLang="en-US" dirty="0"/>
              <a:t> </a:t>
            </a:r>
            <a:r>
              <a:rPr lang="en-US" altLang="ko-KR" dirty="0" err="1"/>
              <a:t>heroGame_A</a:t>
            </a:r>
            <a:r>
              <a:rPr lang="en-US" altLang="ko-KR" dirty="0"/>
              <a:t> </a:t>
            </a:r>
            <a:r>
              <a:rPr lang="ko-KR" altLang="en-US" dirty="0"/>
              <a:t>와 </a:t>
            </a:r>
            <a:r>
              <a:rPr lang="en-US" altLang="ko-KR" dirty="0" err="1"/>
              <a:t>heroGame_B</a:t>
            </a:r>
            <a:r>
              <a:rPr lang="en-US" altLang="ko-KR" dirty="0"/>
              <a:t> </a:t>
            </a:r>
            <a:r>
              <a:rPr lang="ko-KR" altLang="en-US" dirty="0"/>
              <a:t>를 만족할 수 있는 </a:t>
            </a:r>
            <a:r>
              <a:rPr lang="en-US" altLang="ko-KR" dirty="0">
                <a:solidFill>
                  <a:schemeClr val="accent1"/>
                </a:solidFill>
              </a:rPr>
              <a:t>interface Game </a:t>
            </a:r>
            <a:r>
              <a:rPr lang="ko-KR" altLang="en-US" dirty="0"/>
              <a:t>만들어보기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B4E2414-3F5B-6133-252A-24A002E60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/>
              <a:t> </a:t>
            </a:r>
            <a:r>
              <a:rPr lang="en-US" altLang="ko-KR" dirty="0"/>
              <a:t>interface </a:t>
            </a:r>
            <a:r>
              <a:rPr lang="ko-KR" altLang="en-US" dirty="0"/>
              <a:t>이용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9E2627-47DA-F65F-048D-68A14409DB7E}"/>
              </a:ext>
            </a:extLst>
          </p:cNvPr>
          <p:cNvSpPr txBox="1"/>
          <p:nvPr/>
        </p:nvSpPr>
        <p:spPr>
          <a:xfrm>
            <a:off x="2387861" y="2597256"/>
            <a:ext cx="7021954" cy="36625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heroGame_A:</a:t>
            </a:r>
            <a:r>
              <a:rPr lang="en-US" altLang="ko-KR" sz="1600" dirty="0" err="1">
                <a:solidFill>
                  <a:srgbClr val="14FC6C"/>
                </a:solidFill>
                <a:effectLst/>
                <a:latin typeface="Consolas" panose="020B0609020204030204" pitchFamily="49" charset="0"/>
              </a:rPr>
              <a:t>Game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 {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'DC </a:t>
            </a:r>
            <a:r>
              <a:rPr lang="ko-KR" altLang="en-US" sz="160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언체인드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 </a:t>
            </a:r>
            <a:r>
              <a:rPr lang="en-US" altLang="ko-KR" sz="1600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onsolas" panose="020B0609020204030204" pitchFamily="49" charset="0"/>
              </a:rPr>
              <a:t>50000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desc: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'DC </a:t>
            </a:r>
            <a:r>
              <a:rPr lang="ko-KR" altLang="en-US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히어로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en-US" sz="160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빌런</a:t>
            </a:r>
            <a:r>
              <a:rPr lang="ko-KR" altLang="en-US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각각의 개성은 물론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액션의 재미까지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!'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en-US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액션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platform: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en-US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모바일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endParaRPr lang="ko-KR" altLang="en-US" sz="160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r>
              <a:rPr lang="en-US" altLang="ko-KR" sz="160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heroGame_B:</a:t>
            </a:r>
            <a:r>
              <a:rPr lang="en-US" altLang="ko-KR" sz="1600" dirty="0" err="1">
                <a:solidFill>
                  <a:srgbClr val="14FC6C"/>
                </a:solidFill>
                <a:effectLst/>
                <a:latin typeface="Consolas" panose="020B0609020204030204" pitchFamily="49" charset="0"/>
              </a:rPr>
              <a:t>Game</a:t>
            </a:r>
            <a:r>
              <a:rPr lang="ko-KR" altLang="en-US" sz="1600" dirty="0">
                <a:solidFill>
                  <a:srgbClr val="14FC6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 {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'MARVEL </a:t>
            </a:r>
            <a:r>
              <a:rPr lang="ko-KR" altLang="en-US" sz="160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퓨처파이트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price: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onsolas" panose="020B0609020204030204" pitchFamily="49" charset="0"/>
              </a:rPr>
              <a:t>65000 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category: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en-US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롤플레잉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platform:</a:t>
            </a:r>
            <a:r>
              <a:rPr lang="ko-KR" altLang="en-US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en-US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모바일</a:t>
            </a:r>
            <a:r>
              <a:rPr lang="en-US" altLang="ko-KR" sz="160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endParaRPr lang="ko-KR" altLang="en-US" sz="160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838568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9803720-1D09-7264-F98E-D3595539B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878B66C-BC83-4996-7206-5ADE2A919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2C532711-54AF-63A3-7F29-E8E987004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함수에서의 </a:t>
            </a:r>
            <a:r>
              <a:rPr lang="en-US" altLang="ko-KR" dirty="0"/>
              <a:t>type </a:t>
            </a:r>
            <a:r>
              <a:rPr lang="ko-KR" altLang="en-US" dirty="0"/>
              <a:t>선언</a:t>
            </a:r>
          </a:p>
        </p:txBody>
      </p:sp>
    </p:spTree>
    <p:extLst>
      <p:ext uri="{BB962C8B-B14F-4D97-AF65-F5344CB8AC3E}">
        <p14:creationId xmlns:p14="http://schemas.microsoft.com/office/powerpoint/2010/main" val="41672298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D6A7A5-6193-14D6-9112-5BCD1F0CE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선언시에 타입설정</a:t>
            </a:r>
            <a:r>
              <a:rPr lang="en-US" altLang="ko-KR" dirty="0"/>
              <a:t>, </a:t>
            </a:r>
            <a:r>
              <a:rPr lang="ko-KR" altLang="en-US" dirty="0"/>
              <a:t>호출할 땐 기존처럼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1. </a:t>
            </a:r>
            <a:r>
              <a:rPr lang="ko-KR" altLang="en-US" dirty="0">
                <a:solidFill>
                  <a:schemeClr val="accent1"/>
                </a:solidFill>
              </a:rPr>
              <a:t>매개변수 타입</a:t>
            </a:r>
            <a:r>
              <a:rPr lang="ko-KR" altLang="en-US" dirty="0"/>
              <a:t>설정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2. </a:t>
            </a:r>
            <a:r>
              <a:rPr lang="ko-KR" altLang="en-US" dirty="0">
                <a:solidFill>
                  <a:schemeClr val="accent1"/>
                </a:solidFill>
              </a:rPr>
              <a:t>함수의 </a:t>
            </a:r>
            <a:r>
              <a:rPr lang="en-US" altLang="ko-KR" dirty="0">
                <a:solidFill>
                  <a:schemeClr val="accent1"/>
                </a:solidFill>
              </a:rPr>
              <a:t>return </a:t>
            </a:r>
            <a:r>
              <a:rPr lang="ko-KR" altLang="en-US" dirty="0">
                <a:solidFill>
                  <a:schemeClr val="accent1"/>
                </a:solidFill>
              </a:rPr>
              <a:t>타입</a:t>
            </a:r>
            <a:r>
              <a:rPr lang="ko-KR" altLang="en-US" dirty="0"/>
              <a:t>에 따라 함수 전체 타입 설정 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리턴 타입을 보고 타입을 추론할 수 있으므로 생략 가능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	</a:t>
            </a:r>
            <a:r>
              <a:rPr lang="ko-KR" altLang="en-US" sz="2000" dirty="0"/>
              <a:t>이미 알고 있는 타입 외에도 </a:t>
            </a:r>
            <a:r>
              <a:rPr lang="en-US" altLang="ko-KR" sz="2000" dirty="0"/>
              <a:t>never </a:t>
            </a:r>
            <a:r>
              <a:rPr lang="ko-KR" altLang="en-US" sz="2000" dirty="0"/>
              <a:t>과 </a:t>
            </a:r>
            <a:r>
              <a:rPr lang="en-US" altLang="ko-KR" sz="2000" dirty="0"/>
              <a:t>void </a:t>
            </a:r>
            <a:r>
              <a:rPr lang="ko-KR" altLang="en-US" sz="2000" dirty="0"/>
              <a:t>를 함수의 리턴 타입으로 설정 가능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1E92ECA-05A2-FDCF-B68E-D3E8E9D0C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 선언과 </a:t>
            </a:r>
            <a:r>
              <a:rPr lang="en-US" altLang="ko-KR" dirty="0"/>
              <a:t>typescript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9064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93CEA5-1BB6-8820-9ED1-A02009442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6278" y="1825625"/>
            <a:ext cx="603752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왼쪽의 </a:t>
            </a:r>
            <a:r>
              <a:rPr lang="en-US" altLang="ko-KR" sz="2400" dirty="0"/>
              <a:t>sum</a:t>
            </a:r>
            <a:r>
              <a:rPr lang="ko-KR" altLang="en-US" sz="2400" dirty="0"/>
              <a:t> 함수는 </a:t>
            </a:r>
            <a:r>
              <a:rPr lang="en-US" altLang="ko-KR" sz="2400" dirty="0"/>
              <a:t>number</a:t>
            </a:r>
            <a:r>
              <a:rPr lang="ko-KR" altLang="en-US" sz="2400" dirty="0"/>
              <a:t> 형 </a:t>
            </a:r>
            <a:r>
              <a:rPr lang="en-US" altLang="ko-KR" sz="2400" dirty="0"/>
              <a:t>a, b</a:t>
            </a:r>
            <a:r>
              <a:rPr lang="ko-KR" altLang="en-US" sz="2400" dirty="0"/>
              <a:t>를 매개변수로 받아 합을 </a:t>
            </a:r>
            <a:r>
              <a:rPr lang="en-US" altLang="ko-KR" sz="2400" dirty="0"/>
              <a:t>return </a:t>
            </a:r>
            <a:r>
              <a:rPr lang="ko-KR" altLang="en-US" sz="2400" dirty="0"/>
              <a:t>하는 함수입니다</a:t>
            </a:r>
            <a:r>
              <a:rPr lang="en-US" altLang="ko-KR" sz="2400" dirty="0"/>
              <a:t>.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매개변수 </a:t>
            </a:r>
            <a:r>
              <a:rPr lang="en-US" altLang="ko-KR" sz="2400" dirty="0"/>
              <a:t>a, b</a:t>
            </a:r>
            <a:r>
              <a:rPr lang="ko-KR" altLang="en-US" sz="2400" dirty="0"/>
              <a:t>의 </a:t>
            </a:r>
            <a:r>
              <a:rPr lang="en-US" altLang="ko-KR" sz="2400" dirty="0"/>
              <a:t>type </a:t>
            </a:r>
            <a:r>
              <a:rPr lang="ko-KR" altLang="en-US" sz="2400" dirty="0"/>
              <a:t>설정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함수의 </a:t>
            </a:r>
            <a:r>
              <a:rPr lang="en-US" altLang="ko-KR" sz="2400" dirty="0"/>
              <a:t>return type </a:t>
            </a:r>
            <a:r>
              <a:rPr lang="ko-KR" altLang="en-US" sz="2400" dirty="0"/>
              <a:t>설정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B3B26DF-D846-8C61-15F3-39F3C8E5A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선언하는 방식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6D8A4C7-F1C1-C1C8-5AB4-C8C14E8C4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86" y="1690688"/>
            <a:ext cx="418702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706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A586E9-C50D-AEC9-EB8A-6042AAAF5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JS </a:t>
            </a:r>
            <a:r>
              <a:rPr lang="en-US" altLang="ko-KR" dirty="0" err="1"/>
              <a:t>vs.TS</a:t>
            </a:r>
            <a:endParaRPr lang="en-US" altLang="ko-KR" dirty="0"/>
          </a:p>
          <a:p>
            <a:r>
              <a:rPr lang="en-US" altLang="ko-KR" sz="2400" dirty="0"/>
              <a:t>JS:</a:t>
            </a:r>
            <a:r>
              <a:rPr lang="ko-KR" altLang="en-US" sz="2400" dirty="0"/>
              <a:t> 매개변수 선언하고</a:t>
            </a:r>
            <a:r>
              <a:rPr lang="en-US" altLang="ko-KR" sz="2400" dirty="0"/>
              <a:t>, </a:t>
            </a:r>
            <a:r>
              <a:rPr lang="ko-KR" altLang="en-US" sz="2400" dirty="0"/>
              <a:t>호출 시 </a:t>
            </a:r>
            <a:r>
              <a:rPr lang="en-US" altLang="ko-KR" sz="2400" dirty="0"/>
              <a:t>parameter </a:t>
            </a:r>
            <a:r>
              <a:rPr lang="ko-KR" altLang="en-US" sz="2400" dirty="0"/>
              <a:t>전달하지 않아도 오류 </a:t>
            </a:r>
            <a:r>
              <a:rPr lang="en-US" altLang="ko-KR" sz="2400" dirty="0"/>
              <a:t>x</a:t>
            </a:r>
          </a:p>
          <a:p>
            <a:r>
              <a:rPr lang="en-US" altLang="ko-KR" sz="2400" dirty="0"/>
              <a:t>TS:</a:t>
            </a:r>
            <a:r>
              <a:rPr lang="ko-KR" altLang="en-US" sz="2400" dirty="0"/>
              <a:t> 매개변수를</a:t>
            </a:r>
            <a:r>
              <a:rPr lang="en-US" altLang="ko-KR" sz="2400" dirty="0"/>
              <a:t> 2</a:t>
            </a:r>
            <a:r>
              <a:rPr lang="ko-KR" altLang="en-US" sz="2400" dirty="0"/>
              <a:t>개 선언했다면</a:t>
            </a:r>
            <a:r>
              <a:rPr lang="en-US" altLang="ko-KR" sz="2400" dirty="0"/>
              <a:t>, </a:t>
            </a:r>
            <a:r>
              <a:rPr lang="ko-KR" altLang="en-US" sz="2400" dirty="0"/>
              <a:t>호출했을 때 반드시 모든 값 전달해줘야 함</a:t>
            </a:r>
            <a:endParaRPr lang="en-US" altLang="ko-KR" sz="2400" dirty="0"/>
          </a:p>
          <a:p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endParaRPr lang="ko-KR" altLang="en-US" sz="2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99E94A1-319C-9599-6DED-37677516E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매개변수의 개수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A283C7-8AB1-7BF6-F554-61FDD5E600C1}"/>
              </a:ext>
            </a:extLst>
          </p:cNvPr>
          <p:cNvSpPr txBox="1"/>
          <p:nvPr/>
        </p:nvSpPr>
        <p:spPr>
          <a:xfrm>
            <a:off x="838200" y="3519400"/>
            <a:ext cx="3373179" cy="923330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i="1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04335F-F5E8-08A2-06EF-F843C4368A0E}"/>
              </a:ext>
            </a:extLst>
          </p:cNvPr>
          <p:cNvSpPr txBox="1"/>
          <p:nvPr/>
        </p:nvSpPr>
        <p:spPr>
          <a:xfrm>
            <a:off x="838200" y="4442730"/>
            <a:ext cx="3373179" cy="369332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10F7610-AD78-89E6-4666-AE7095F76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659" y="3519400"/>
            <a:ext cx="6057861" cy="129409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655A8-ECB7-129B-5991-99D62F8DD739}"/>
              </a:ext>
            </a:extLst>
          </p:cNvPr>
          <p:cNvSpPr txBox="1"/>
          <p:nvPr/>
        </p:nvSpPr>
        <p:spPr>
          <a:xfrm>
            <a:off x="5392351" y="4948431"/>
            <a:ext cx="5470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세 개의 매개변수를 가진 함수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sum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만들었지만</a:t>
            </a:r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호출 시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2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개의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parameter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만 전달했기 때문에 오류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!</a:t>
            </a:r>
            <a:endParaRPr lang="ko-KR" altLang="en-US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1CB4D4-2A18-D2DE-945C-A3C167D2F56F}"/>
              </a:ext>
            </a:extLst>
          </p:cNvPr>
          <p:cNvSpPr txBox="1"/>
          <p:nvPr/>
        </p:nvSpPr>
        <p:spPr>
          <a:xfrm>
            <a:off x="5392351" y="5685919"/>
            <a:ext cx="4503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들어오지 않을 변수를 처리하기 위해서는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?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이용</a:t>
            </a:r>
          </a:p>
        </p:txBody>
      </p:sp>
    </p:spTree>
    <p:extLst>
      <p:ext uri="{BB962C8B-B14F-4D97-AF65-F5344CB8AC3E}">
        <p14:creationId xmlns:p14="http://schemas.microsoft.com/office/powerpoint/2010/main" val="27295439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DBF055-E82A-70AE-361E-F50F1AEF2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세번째 매개변수인 </a:t>
            </a:r>
            <a:r>
              <a:rPr lang="en-US" altLang="ko-KR" dirty="0"/>
              <a:t>c</a:t>
            </a:r>
            <a:r>
              <a:rPr lang="ko-KR" altLang="en-US" dirty="0"/>
              <a:t>에게 값을 전달하지 않는 경우가 생긴다면 </a:t>
            </a:r>
            <a:r>
              <a:rPr lang="en-US" altLang="ko-KR" dirty="0"/>
              <a:t>?</a:t>
            </a:r>
            <a:r>
              <a:rPr lang="ko-KR" altLang="en-US" dirty="0"/>
              <a:t>를 이용해서 </a:t>
            </a:r>
            <a:r>
              <a:rPr lang="en-US" altLang="ko-KR" dirty="0"/>
              <a:t>undefined</a:t>
            </a:r>
            <a:r>
              <a:rPr lang="ko-KR" altLang="en-US" dirty="0"/>
              <a:t>가 될 수도 있음을 정의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659DB12-00AC-EB8C-A856-F95F2F898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매개변수의 개수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1F4C05-24EB-6FBE-B235-0A55E47EE7D9}"/>
              </a:ext>
            </a:extLst>
          </p:cNvPr>
          <p:cNvSpPr txBox="1"/>
          <p:nvPr/>
        </p:nvSpPr>
        <p:spPr>
          <a:xfrm>
            <a:off x="2612508" y="3027885"/>
            <a:ext cx="6966984" cy="1754326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?: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6594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746252-E352-9259-7F60-DAFEE4C76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void </a:t>
            </a:r>
            <a:r>
              <a:rPr lang="ko-KR" altLang="en-US" dirty="0"/>
              <a:t>란 </a:t>
            </a:r>
            <a:r>
              <a:rPr lang="ko-KR" altLang="en-US" dirty="0" err="1"/>
              <a:t>비어있다는</a:t>
            </a:r>
            <a:r>
              <a:rPr lang="ko-KR" altLang="en-US" dirty="0"/>
              <a:t> 의미입니다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리턴이 없는 함수는 </a:t>
            </a:r>
            <a:r>
              <a:rPr lang="en-US" altLang="ko-KR" dirty="0"/>
              <a:t>void</a:t>
            </a:r>
            <a:r>
              <a:rPr lang="ko-KR" altLang="en-US" dirty="0"/>
              <a:t>로 설정할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1639E2-6366-2A7F-EF14-EF1B5E233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함수의 리턴 타입이 없을 때 </a:t>
            </a:r>
            <a:r>
              <a:rPr lang="en-US" altLang="ko-KR" dirty="0">
                <a:solidFill>
                  <a:schemeClr val="accent1"/>
                </a:solidFill>
              </a:rPr>
              <a:t>void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039C5-A096-8E26-D844-9FE97968BFB0}"/>
              </a:ext>
            </a:extLst>
          </p:cNvPr>
          <p:cNvSpPr txBox="1"/>
          <p:nvPr/>
        </p:nvSpPr>
        <p:spPr>
          <a:xfrm>
            <a:off x="1990023" y="3228012"/>
            <a:ext cx="7240604" cy="1477328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E0AF68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?: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7634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81CCFD-4470-A069-AC2B-4B6A7EC8F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어떤 조건에서도 함수의 끝에 도달할 수 없을 때 사용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7F403E-E2CB-7386-2366-174EC7250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끝이 없는 함수 </a:t>
            </a:r>
            <a:r>
              <a:rPr lang="en-US" altLang="ko-KR" dirty="0">
                <a:solidFill>
                  <a:schemeClr val="accent1"/>
                </a:solidFill>
              </a:rPr>
              <a:t>never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606765-8510-80C0-0DAB-B68283A1FE4C}"/>
              </a:ext>
            </a:extLst>
          </p:cNvPr>
          <p:cNvSpPr txBox="1"/>
          <p:nvPr/>
        </p:nvSpPr>
        <p:spPr>
          <a:xfrm>
            <a:off x="2028524" y="2690336"/>
            <a:ext cx="4420402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goingOn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never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go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3181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9B2AA-593A-2414-F0BC-32AA17786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두 개의 수를 매개 변수로 받고 합을 </a:t>
            </a:r>
            <a:r>
              <a:rPr lang="en-US" altLang="ko-KR" dirty="0"/>
              <a:t>console.log </a:t>
            </a:r>
            <a:r>
              <a:rPr lang="ko-KR" altLang="en-US" dirty="0"/>
              <a:t>로 출력하는 함수 </a:t>
            </a:r>
            <a:r>
              <a:rPr lang="en-US" altLang="ko-KR" dirty="0"/>
              <a:t>sum1 </a:t>
            </a:r>
            <a:r>
              <a:rPr lang="ko-KR" altLang="en-US" dirty="0"/>
              <a:t>만들기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테스트는 이렇게</a:t>
            </a:r>
            <a:r>
              <a:rPr lang="en-US" altLang="ko-KR" dirty="0"/>
              <a:t>!</a:t>
            </a:r>
          </a:p>
          <a:p>
            <a:pPr marL="0" indent="0">
              <a:buNone/>
            </a:pPr>
            <a:r>
              <a:rPr lang="en-US" altLang="ko-KR" dirty="0"/>
              <a:t>  			// 16</a:t>
            </a:r>
            <a:r>
              <a:rPr lang="ko-KR" altLang="en-US" dirty="0"/>
              <a:t>이 콘솔창에 출력되는지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AAC5E5D-0274-0953-00E5-5F0B2276C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D4B109-D097-2779-B477-506C778EFA8E}"/>
              </a:ext>
            </a:extLst>
          </p:cNvPr>
          <p:cNvSpPr txBox="1"/>
          <p:nvPr/>
        </p:nvSpPr>
        <p:spPr>
          <a:xfrm>
            <a:off x="1061156" y="4274445"/>
            <a:ext cx="2325511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sum1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1020412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96A4FD-3D92-FE29-8268-EFEB96812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(</a:t>
            </a:r>
            <a:r>
              <a:rPr lang="ko-KR" altLang="en-US" dirty="0"/>
              <a:t>전개 연산자 이용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매개 변수로 여러 개의 수를 받고 전달된 값을 모두 더하는 함수 </a:t>
            </a:r>
            <a:r>
              <a:rPr lang="en-US" altLang="ko-KR" dirty="0"/>
              <a:t>sum2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모두 합산한 값을 </a:t>
            </a:r>
            <a:r>
              <a:rPr lang="en-US" altLang="ko-KR" dirty="0">
                <a:solidFill>
                  <a:schemeClr val="accent5"/>
                </a:solidFill>
              </a:rPr>
              <a:t>return</a:t>
            </a:r>
            <a:r>
              <a:rPr lang="en-US" altLang="ko-KR" dirty="0">
                <a:solidFill>
                  <a:srgbClr val="FF6600"/>
                </a:solidFill>
              </a:rPr>
              <a:t> 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테스트는 이렇게</a:t>
            </a:r>
            <a:r>
              <a:rPr lang="en-US" altLang="ko-KR" dirty="0"/>
              <a:t>!</a:t>
            </a:r>
          </a:p>
          <a:p>
            <a:pPr marL="0" indent="0">
              <a:buNone/>
            </a:pPr>
            <a:r>
              <a:rPr lang="en-US" altLang="ko-KR" dirty="0"/>
              <a:t>						       // 20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13D23B-1DBF-4B21-BA28-85F1BAA7C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A002C-B24C-3380-E97B-A39E142A0BED}"/>
              </a:ext>
            </a:extLst>
          </p:cNvPr>
          <p:cNvSpPr txBox="1"/>
          <p:nvPr/>
        </p:nvSpPr>
        <p:spPr>
          <a:xfrm>
            <a:off x="925688" y="4398622"/>
            <a:ext cx="5915379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sum2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11573232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FA3CFE3-D015-1FED-9D67-3DF8931F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982D006-F293-2CB7-EF14-6FF8DAC21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D9AC155-5065-3237-1EAE-781321C3F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</a:t>
            </a:r>
            <a:r>
              <a:rPr lang="en-US" altLang="ko-KR" dirty="0"/>
              <a:t>generic &lt;T&gt;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50720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C23BEA-7C5B-5705-1477-830F1841D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4"/>
            <a:ext cx="10515600" cy="5067080"/>
          </a:xfrm>
        </p:spPr>
        <p:txBody>
          <a:bodyPr>
            <a:noAutofit/>
          </a:bodyPr>
          <a:lstStyle/>
          <a:p>
            <a:r>
              <a:rPr lang="ko-KR" altLang="en-US" sz="2400" dirty="0"/>
              <a:t>클래스</a:t>
            </a:r>
            <a:r>
              <a:rPr lang="en-US" altLang="ko-KR" sz="2400" dirty="0"/>
              <a:t>, </a:t>
            </a:r>
            <a:r>
              <a:rPr lang="ko-KR" altLang="en-US" sz="2400" dirty="0"/>
              <a:t>함수</a:t>
            </a:r>
            <a:r>
              <a:rPr lang="en-US" altLang="ko-KR" sz="2400" dirty="0"/>
              <a:t>, </a:t>
            </a:r>
            <a:r>
              <a:rPr lang="ko-KR" altLang="en-US" sz="2400" dirty="0"/>
              <a:t>인터페이스에서 </a:t>
            </a:r>
            <a:r>
              <a:rPr lang="ko-KR" altLang="en-US" sz="2400" dirty="0">
                <a:solidFill>
                  <a:schemeClr val="accent1"/>
                </a:solidFill>
              </a:rPr>
              <a:t>다양한 타입으로 재사용 </a:t>
            </a:r>
            <a:r>
              <a:rPr lang="ko-KR" altLang="en-US" sz="2400" dirty="0"/>
              <a:t>가능</a:t>
            </a:r>
            <a:endParaRPr lang="en-US" altLang="ko-KR" sz="2400" dirty="0"/>
          </a:p>
          <a:p>
            <a:r>
              <a:rPr lang="ko-KR" altLang="en-US" sz="2400" dirty="0"/>
              <a:t>선언할 때는 타입 파라미터만 명시하고</a:t>
            </a:r>
            <a:r>
              <a:rPr lang="en-US" altLang="ko-KR" sz="2400" dirty="0"/>
              <a:t>, </a:t>
            </a:r>
            <a:r>
              <a:rPr lang="ko-KR" altLang="en-US" sz="2400" dirty="0">
                <a:solidFill>
                  <a:schemeClr val="accent1"/>
                </a:solidFill>
              </a:rPr>
              <a:t>생성 시점에 사용할 타입을 결정</a:t>
            </a:r>
            <a:r>
              <a:rPr lang="en-US" altLang="ko-KR" sz="2400" dirty="0"/>
              <a:t>!</a:t>
            </a:r>
          </a:p>
          <a:p>
            <a:r>
              <a:rPr lang="ko-KR" altLang="en-US" sz="2400" dirty="0" err="1"/>
              <a:t>예를들면</a:t>
            </a:r>
            <a:r>
              <a:rPr lang="en-US" altLang="ko-KR" sz="2400" dirty="0"/>
              <a:t>, </a:t>
            </a:r>
            <a:r>
              <a:rPr lang="ko-KR" altLang="en-US" sz="2400" dirty="0"/>
              <a:t>타입을 특정할 수 없는 함수가 있다면</a:t>
            </a:r>
            <a:r>
              <a:rPr lang="en-US" altLang="ko-KR" sz="2400" dirty="0"/>
              <a:t>?</a:t>
            </a:r>
          </a:p>
          <a:p>
            <a:pPr lvl="1"/>
            <a:r>
              <a:rPr lang="ko-KR" altLang="en-US" sz="2000" dirty="0"/>
              <a:t>배열을 매개변수로 받아 배열의 길이를 </a:t>
            </a:r>
            <a:r>
              <a:rPr lang="ko-KR" altLang="en-US" sz="2000" dirty="0" err="1"/>
              <a:t>리턴하는</a:t>
            </a:r>
            <a:r>
              <a:rPr lang="ko-KR" altLang="en-US" sz="2000" dirty="0"/>
              <a:t> 함수라면</a:t>
            </a:r>
            <a:endParaRPr lang="en-US" altLang="ko-KR" sz="2000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sz="2000" dirty="0"/>
              <a:t>모든 타입의 데이터 타입이 들어올 수 있으므로 위처럼 사용할 수 있음</a:t>
            </a:r>
            <a:endParaRPr lang="en-US" altLang="ko-KR" sz="2000" dirty="0"/>
          </a:p>
          <a:p>
            <a:pPr lvl="1"/>
            <a:r>
              <a:rPr lang="ko-KR" altLang="en-US" sz="2000" dirty="0"/>
              <a:t>하지만 모든 데이터타입을 쓰거나 </a:t>
            </a:r>
            <a:r>
              <a:rPr lang="en-US" altLang="ko-KR" sz="2000" dirty="0"/>
              <a:t>any</a:t>
            </a:r>
            <a:r>
              <a:rPr lang="ko-KR" altLang="en-US" sz="2000" dirty="0"/>
              <a:t>를 쓰는 것은  </a:t>
            </a:r>
            <a:r>
              <a:rPr lang="en-US" altLang="ko-KR" sz="2000" dirty="0"/>
              <a:t>typescript</a:t>
            </a:r>
            <a:r>
              <a:rPr lang="ko-KR" altLang="en-US" sz="2000" dirty="0"/>
              <a:t> 를 사용하는 이유가 사라짐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D3ED3B8-AEA3-0B90-29EE-B17EF7D7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Generic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CE408A-FD38-963B-F240-28AF32791FE8}"/>
              </a:ext>
            </a:extLst>
          </p:cNvPr>
          <p:cNvSpPr txBox="1"/>
          <p:nvPr/>
        </p:nvSpPr>
        <p:spPr>
          <a:xfrm>
            <a:off x="1587966" y="3318117"/>
            <a:ext cx="10266744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(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)[]):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80D27-CDA0-0A76-BEDE-B433207311D3}"/>
              </a:ext>
            </a:extLst>
          </p:cNvPr>
          <p:cNvSpPr txBox="1"/>
          <p:nvPr/>
        </p:nvSpPr>
        <p:spPr>
          <a:xfrm>
            <a:off x="1587966" y="4360430"/>
            <a:ext cx="6094070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any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[]):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50055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0AB02A-68AC-C5CE-2052-D45057B6A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22416"/>
          </a:xfrm>
        </p:spPr>
        <p:txBody>
          <a:bodyPr>
            <a:normAutofit/>
          </a:bodyPr>
          <a:lstStyle/>
          <a:p>
            <a:r>
              <a:rPr lang="ko-KR" altLang="en-US" dirty="0"/>
              <a:t>함수를 호출할 때 데이터 타입을 지정할 수 있는 문법 </a:t>
            </a:r>
            <a:r>
              <a:rPr lang="en-US" altLang="ko-KR" dirty="0"/>
              <a:t>Generic!</a:t>
            </a:r>
          </a:p>
          <a:p>
            <a:endParaRPr lang="en-US" altLang="ko-KR" sz="1100" dirty="0"/>
          </a:p>
          <a:p>
            <a:r>
              <a:rPr lang="ko-KR" altLang="en-US" dirty="0"/>
              <a:t>선언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함수 호출 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b="1" dirty="0">
                <a:solidFill>
                  <a:schemeClr val="accent1"/>
                </a:solidFill>
              </a:rPr>
              <a:t>함수를 호출할 때</a:t>
            </a:r>
            <a:r>
              <a:rPr lang="ko-KR" altLang="en-US" dirty="0"/>
              <a:t> 매개변수로 들어갈 데이터 </a:t>
            </a:r>
            <a:r>
              <a:rPr lang="ko-KR" altLang="en-US" b="1" dirty="0">
                <a:solidFill>
                  <a:schemeClr val="accent1"/>
                </a:solidFill>
              </a:rPr>
              <a:t>타입을 설정</a:t>
            </a:r>
            <a:endParaRPr lang="en-US" altLang="ko-KR" b="1" dirty="0">
              <a:solidFill>
                <a:schemeClr val="accent1"/>
              </a:solidFill>
            </a:endParaRPr>
          </a:p>
          <a:p>
            <a:pPr lvl="1"/>
            <a:r>
              <a:rPr lang="ko-KR" altLang="en-US" dirty="0">
                <a:solidFill>
                  <a:schemeClr val="accent5"/>
                </a:solidFill>
              </a:rPr>
              <a:t>타입</a:t>
            </a:r>
            <a:r>
              <a:rPr lang="ko-KR" altLang="en-US" dirty="0"/>
              <a:t>을 함수의 </a:t>
            </a:r>
            <a:r>
              <a:rPr lang="ko-KR" altLang="en-US" dirty="0">
                <a:solidFill>
                  <a:schemeClr val="accent5"/>
                </a:solidFill>
              </a:rPr>
              <a:t>파라미터</a:t>
            </a:r>
            <a:r>
              <a:rPr lang="ko-KR" altLang="en-US" dirty="0"/>
              <a:t>처럼 사용할 수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E931A3-6678-EF54-C86C-65328B610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Generic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B5EB7-66D4-4727-B26B-B27141EC24E2}"/>
              </a:ext>
            </a:extLst>
          </p:cNvPr>
          <p:cNvSpPr txBox="1"/>
          <p:nvPr/>
        </p:nvSpPr>
        <p:spPr>
          <a:xfrm>
            <a:off x="1218236" y="3150306"/>
            <a:ext cx="6094070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arrLength2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[]):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length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CBF7DF-A340-7A4C-C39B-0E970AC76214}"/>
              </a:ext>
            </a:extLst>
          </p:cNvPr>
          <p:cNvSpPr txBox="1"/>
          <p:nvPr/>
        </p:nvSpPr>
        <p:spPr>
          <a:xfrm>
            <a:off x="1137213" y="4627807"/>
            <a:ext cx="6094070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arrLength2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&gt;([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arrLength2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&gt;([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18354095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C0B120-5475-A506-0FF3-EDF49287F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제네릭 이용해서 함수 </a:t>
            </a:r>
            <a:r>
              <a:rPr lang="en-US" altLang="ko-KR" dirty="0" err="1"/>
              <a:t>arrElement</a:t>
            </a:r>
            <a:r>
              <a:rPr lang="ko-KR" altLang="en-US" dirty="0"/>
              <a:t> 선언하기 </a:t>
            </a:r>
            <a:endParaRPr lang="en-US" altLang="ko-KR" dirty="0"/>
          </a:p>
          <a:p>
            <a:r>
              <a:rPr lang="ko-KR" altLang="en-US" dirty="0"/>
              <a:t>배열과 인덱스 번호를 매개변수로 받고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Arr</a:t>
            </a:r>
            <a:r>
              <a:rPr lang="en-US" altLang="ko-KR" dirty="0"/>
              <a:t>[index]</a:t>
            </a:r>
            <a:r>
              <a:rPr lang="ko-KR" altLang="en-US" dirty="0"/>
              <a:t>에 대한 요소를 </a:t>
            </a:r>
            <a:r>
              <a:rPr lang="ko-KR" altLang="en-US" dirty="0" err="1"/>
              <a:t>리턴하는</a:t>
            </a:r>
            <a:r>
              <a:rPr lang="ko-KR" altLang="en-US" dirty="0"/>
              <a:t> 함수 만들기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함수의 리턴 타입까지 작성하기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 </a:t>
            </a:r>
            <a:r>
              <a:rPr lang="ko-KR" altLang="en-US" dirty="0">
                <a:solidFill>
                  <a:schemeClr val="accent5"/>
                </a:solidFill>
              </a:rPr>
              <a:t>첫번째 인자</a:t>
            </a:r>
            <a:r>
              <a:rPr lang="ko-KR" altLang="en-US" dirty="0"/>
              <a:t>로 들어간 배열의 길이보다 큰 </a:t>
            </a:r>
            <a:r>
              <a:rPr lang="en-US" altLang="ko-KR" dirty="0"/>
              <a:t>index </a:t>
            </a:r>
            <a:r>
              <a:rPr lang="ko-KR" altLang="en-US" dirty="0"/>
              <a:t>수</a:t>
            </a:r>
            <a:r>
              <a:rPr lang="en-US" altLang="ko-KR" dirty="0"/>
              <a:t>(</a:t>
            </a:r>
            <a:r>
              <a:rPr lang="ko-KR" altLang="en-US" dirty="0"/>
              <a:t>두번째 인자</a:t>
            </a:r>
            <a:r>
              <a:rPr lang="en-US" altLang="ko-KR" dirty="0"/>
              <a:t>)</a:t>
            </a:r>
            <a:r>
              <a:rPr lang="ko-KR" altLang="en-US" dirty="0"/>
              <a:t>가 전달된다면 </a:t>
            </a:r>
            <a:r>
              <a:rPr lang="en-US" altLang="ko-KR" dirty="0">
                <a:solidFill>
                  <a:schemeClr val="accent3"/>
                </a:solidFill>
              </a:rPr>
              <a:t>return false </a:t>
            </a:r>
            <a:r>
              <a:rPr lang="ko-KR" altLang="en-US" dirty="0"/>
              <a:t>시키기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					// false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9B3554-4F0C-4E32-DB50-CB7B9F260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0B6DD-7B47-7DFD-B5AB-A8E1E56E478A}"/>
              </a:ext>
            </a:extLst>
          </p:cNvPr>
          <p:cNvSpPr txBox="1"/>
          <p:nvPr/>
        </p:nvSpPr>
        <p:spPr>
          <a:xfrm>
            <a:off x="838200" y="5308990"/>
            <a:ext cx="547188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arrElement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&gt;([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7AE1D-8E5B-2126-D133-BF896BFD1925}"/>
              </a:ext>
            </a:extLst>
          </p:cNvPr>
          <p:cNvSpPr txBox="1"/>
          <p:nvPr/>
        </p:nvSpPr>
        <p:spPr>
          <a:xfrm>
            <a:off x="8205181" y="5388570"/>
            <a:ext cx="3780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function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arrElement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배열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숫자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){</a:t>
            </a:r>
          </a:p>
          <a:p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     return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 배열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[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숫자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}</a:t>
            </a:r>
            <a:endParaRPr lang="ko-KR" altLang="en-US" dirty="0">
              <a:solidFill>
                <a:schemeClr val="bg1"/>
              </a:solidFill>
              <a:highlight>
                <a:srgbClr val="000000"/>
              </a:highlight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02822602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코딩온">
      <a:majorFont>
        <a:latin typeface="메이플스토리"/>
        <a:ea typeface="메이플스토리"/>
        <a:cs typeface=""/>
      </a:majorFont>
      <a:minorFont>
        <a:latin typeface="메이플스토리"/>
        <a:ea typeface="메이플스토리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1513</TotalTime>
  <Words>1990</Words>
  <Application>Microsoft Office PowerPoint</Application>
  <PresentationFormat>와이드스크린</PresentationFormat>
  <Paragraphs>384</Paragraphs>
  <Slides>37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2" baseType="lpstr">
      <vt:lpstr>맑은 고딕</vt:lpstr>
      <vt:lpstr>메이플스토리</vt:lpstr>
      <vt:lpstr>Arial</vt:lpstr>
      <vt:lpstr>Consolas</vt:lpstr>
      <vt:lpstr>2_Office 테마</vt:lpstr>
      <vt:lpstr>웹 개발자 부트캠프 과정</vt:lpstr>
      <vt:lpstr>TypeScript</vt:lpstr>
      <vt:lpstr>TypeScript란?</vt:lpstr>
      <vt:lpstr>TypeScript란?</vt:lpstr>
      <vt:lpstr>TypeScript는 JavaScript Superset!</vt:lpstr>
      <vt:lpstr>트랜스파일러 (Transpiler)</vt:lpstr>
      <vt:lpstr>JavaScript 의 자료형</vt:lpstr>
      <vt:lpstr>타입과 함께 선언하는 typescript</vt:lpstr>
      <vt:lpstr>TS 사용</vt:lpstr>
      <vt:lpstr>변환 + 실행 자동화</vt:lpstr>
      <vt:lpstr>Ts type 알아보기2 (JS 에서는 없던 type들)</vt:lpstr>
      <vt:lpstr>Tuple</vt:lpstr>
      <vt:lpstr>Tuple 과 readonly</vt:lpstr>
      <vt:lpstr>Enum (열거형)</vt:lpstr>
      <vt:lpstr>Enum (열거형)</vt:lpstr>
      <vt:lpstr>Enum (열거형) 문법</vt:lpstr>
      <vt:lpstr>any (어떤 타입이든)</vt:lpstr>
      <vt:lpstr>실습</vt:lpstr>
      <vt:lpstr>사용자 정의 type</vt:lpstr>
      <vt:lpstr>type</vt:lpstr>
      <vt:lpstr>interface</vt:lpstr>
      <vt:lpstr>interface</vt:lpstr>
      <vt:lpstr>type vs. interface</vt:lpstr>
      <vt:lpstr>실습. interface 이용</vt:lpstr>
      <vt:lpstr>함수에서의 type 선언</vt:lpstr>
      <vt:lpstr>함수 선언과 typescript</vt:lpstr>
      <vt:lpstr>선언하는 방식</vt:lpstr>
      <vt:lpstr>함수와 매개변수의 개수</vt:lpstr>
      <vt:lpstr>함수와 매개변수의 개수</vt:lpstr>
      <vt:lpstr>함수의 리턴 타입이 없을 때 void</vt:lpstr>
      <vt:lpstr>끝이 없는 함수 never</vt:lpstr>
      <vt:lpstr>실습</vt:lpstr>
      <vt:lpstr>실습</vt:lpstr>
      <vt:lpstr>함수와 generic &lt;T&gt;</vt:lpstr>
      <vt:lpstr>Generic</vt:lpstr>
      <vt:lpstr>Generic</vt:lpstr>
      <vt:lpstr>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진형 유</dc:creator>
  <cp:lastModifiedBy>On Coding</cp:lastModifiedBy>
  <cp:revision>63</cp:revision>
  <dcterms:created xsi:type="dcterms:W3CDTF">2023-09-17T07:13:14Z</dcterms:created>
  <dcterms:modified xsi:type="dcterms:W3CDTF">2023-10-10T08:52:05Z</dcterms:modified>
</cp:coreProperties>
</file>