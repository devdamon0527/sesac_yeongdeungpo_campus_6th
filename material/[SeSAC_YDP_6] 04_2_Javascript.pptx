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36"/>
  </p:notesMasterIdLst>
  <p:sldIdLst>
    <p:sldId id="675" r:id="rId2"/>
    <p:sldId id="375" r:id="rId3"/>
    <p:sldId id="320" r:id="rId4"/>
    <p:sldId id="365" r:id="rId5"/>
    <p:sldId id="361" r:id="rId6"/>
    <p:sldId id="321" r:id="rId7"/>
    <p:sldId id="359" r:id="rId8"/>
    <p:sldId id="394" r:id="rId9"/>
    <p:sldId id="395" r:id="rId10"/>
    <p:sldId id="396" r:id="rId11"/>
    <p:sldId id="397" r:id="rId12"/>
    <p:sldId id="398" r:id="rId13"/>
    <p:sldId id="399" r:id="rId14"/>
    <p:sldId id="701" r:id="rId15"/>
    <p:sldId id="400" r:id="rId16"/>
    <p:sldId id="702" r:id="rId17"/>
    <p:sldId id="401" r:id="rId18"/>
    <p:sldId id="402" r:id="rId19"/>
    <p:sldId id="403" r:id="rId20"/>
    <p:sldId id="404" r:id="rId21"/>
    <p:sldId id="362" r:id="rId22"/>
    <p:sldId id="405" r:id="rId23"/>
    <p:sldId id="704" r:id="rId24"/>
    <p:sldId id="406" r:id="rId25"/>
    <p:sldId id="407" r:id="rId26"/>
    <p:sldId id="408" r:id="rId27"/>
    <p:sldId id="363" r:id="rId28"/>
    <p:sldId id="364" r:id="rId29"/>
    <p:sldId id="409" r:id="rId30"/>
    <p:sldId id="360" r:id="rId31"/>
    <p:sldId id="358" r:id="rId32"/>
    <p:sldId id="410" r:id="rId33"/>
    <p:sldId id="411" r:id="rId34"/>
    <p:sldId id="412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6F3"/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36" autoAdjust="0"/>
    <p:restoredTop sz="72213" autoAdjust="0"/>
  </p:normalViewPr>
  <p:slideViewPr>
    <p:cSldViewPr snapToGrid="0">
      <p:cViewPr varScale="1">
        <p:scale>
          <a:sx n="115" d="100"/>
          <a:sy n="115" d="100"/>
        </p:scale>
        <p:origin x="1674" y="96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강한 타입 언어와 약한 타입 언어는 프로그래밍 언어에서 변수의 타입 체크가 얼마나 엄격하게 이루어지는지를 나타내는 개념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강한 타입 언어는 타입 변환을 엄격하게 제한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/>
            </a:pPr>
            <a:endParaRPr lang="en-US" altLang="ko-KR" dirty="0"/>
          </a:p>
          <a:p>
            <a:pPr marL="228600" indent="-228600">
              <a:buAutoNum type="arabicPeriod"/>
            </a:pPr>
            <a:r>
              <a:rPr lang="ko-KR" altLang="en-US" dirty="0"/>
              <a:t>약한 타입 언어는 타입 변환을 자유롭게 허용</a:t>
            </a:r>
            <a:r>
              <a:rPr lang="en-US" altLang="ko-KR" dirty="0"/>
              <a:t>. – </a:t>
            </a:r>
            <a:r>
              <a:rPr lang="ko-KR" altLang="en-US" dirty="0"/>
              <a:t>그러면 이게 </a:t>
            </a:r>
            <a:r>
              <a:rPr lang="ko-KR" altLang="en-US" dirty="0" err="1"/>
              <a:t>좋은거</a:t>
            </a:r>
            <a:r>
              <a:rPr lang="ko-KR" altLang="en-US" dirty="0"/>
              <a:t> 아님</a:t>
            </a:r>
            <a:r>
              <a:rPr lang="en-US" altLang="ko-KR" dirty="0"/>
              <a:t>? </a:t>
            </a:r>
          </a:p>
          <a:p>
            <a:pPr marL="0" indent="0">
              <a:buNone/>
            </a:pPr>
            <a:r>
              <a:rPr lang="en-US" altLang="ko-KR" dirty="0"/>
              <a:t>     -&gt; </a:t>
            </a:r>
            <a:r>
              <a:rPr lang="ko-KR" altLang="en-US" dirty="0"/>
              <a:t>편리하지만 오류를 발생시키거나 예기치 않은 동작을 유발 할 수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비유</a:t>
            </a:r>
            <a:r>
              <a:rPr lang="en-US" altLang="ko-KR" dirty="0"/>
              <a:t>) </a:t>
            </a:r>
            <a:r>
              <a:rPr lang="ko-KR" altLang="en-US" dirty="0"/>
              <a:t>미성년자 금지</a:t>
            </a:r>
            <a:r>
              <a:rPr lang="en-US" altLang="ko-KR" dirty="0"/>
              <a:t>. (</a:t>
            </a:r>
            <a:r>
              <a:rPr lang="ko-KR" altLang="en-US" dirty="0"/>
              <a:t>신분증 검사 </a:t>
            </a:r>
            <a:r>
              <a:rPr lang="ko-KR" altLang="en-US" dirty="0" err="1"/>
              <a:t>안하니까</a:t>
            </a:r>
            <a:r>
              <a:rPr lang="ko-KR" altLang="en-US" dirty="0"/>
              <a:t> 편리함 </a:t>
            </a:r>
            <a:r>
              <a:rPr lang="en-US" altLang="ko-KR" dirty="0"/>
              <a:t>-&gt; </a:t>
            </a:r>
            <a:r>
              <a:rPr lang="ko-KR" altLang="en-US" dirty="0"/>
              <a:t>나중에 걸리면 큰일남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39999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강한 타입 언어 종류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Java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C#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Swift – iOS &amp; macOS</a:t>
            </a:r>
          </a:p>
          <a:p>
            <a:pPr marL="228600" lvl="0" indent="-228600">
              <a:buAutoNum type="arabicPeriod"/>
            </a:pPr>
            <a:r>
              <a:rPr lang="ko-KR" altLang="en-US" dirty="0"/>
              <a:t>약한 타입 언어 종류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JS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Python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PHP</a:t>
            </a:r>
          </a:p>
          <a:p>
            <a:pPr marL="228600" lvl="0" indent="-228600">
              <a:buAutoNum type="arabicPeriod"/>
            </a:pP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20654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 err="1"/>
              <a:t>Js</a:t>
            </a:r>
            <a:r>
              <a:rPr lang="ko-KR" altLang="en-US" b="1" dirty="0"/>
              <a:t>는 변수의 데이터 타입이 명시적으로 선언되지 않고</a:t>
            </a:r>
            <a:r>
              <a:rPr lang="en-US" altLang="ko-KR" b="1" dirty="0"/>
              <a:t>, </a:t>
            </a:r>
            <a:r>
              <a:rPr lang="ko-KR" altLang="en-US" b="1" dirty="0"/>
              <a:t>변수에 할당되는 값에 따라 동적으로 결정된다는 것을 의미</a:t>
            </a:r>
            <a:r>
              <a:rPr lang="en-US" altLang="ko-KR" b="1" dirty="0"/>
              <a:t>.</a:t>
            </a:r>
          </a:p>
          <a:p>
            <a:r>
              <a:rPr lang="ko-KR" altLang="en-US" b="1" dirty="0"/>
              <a:t>유연성을 제공하지만</a:t>
            </a:r>
            <a:r>
              <a:rPr lang="en-US" altLang="ko-KR" b="1" dirty="0"/>
              <a:t>, </a:t>
            </a:r>
            <a:r>
              <a:rPr lang="ko-KR" altLang="en-US" b="1" dirty="0"/>
              <a:t>종종 디버깅이 어렵거나 예기치 않은 결과를 초래함</a:t>
            </a:r>
            <a:r>
              <a:rPr lang="en-US" altLang="ko-KR" b="1" dirty="0"/>
              <a:t>.</a:t>
            </a:r>
          </a:p>
          <a:p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b="1" dirty="0"/>
              <a:t>강한 타입</a:t>
            </a:r>
          </a:p>
          <a:p>
            <a:r>
              <a:rPr lang="ko-KR" altLang="en-US" b="1" dirty="0"/>
              <a:t>타입 검사를 통과하지 못한 프로그램이라면</a:t>
            </a:r>
            <a:r>
              <a:rPr lang="en-US" altLang="ko-KR" b="1" dirty="0"/>
              <a:t>, </a:t>
            </a:r>
            <a:r>
              <a:rPr lang="ko-KR" altLang="en-US" b="1" dirty="0"/>
              <a:t>프로그램의 실행 자체를 막는다</a:t>
            </a:r>
            <a:r>
              <a:rPr lang="en-US" altLang="ko-KR" b="1" dirty="0"/>
              <a:t>.</a:t>
            </a:r>
          </a:p>
          <a:p>
            <a:r>
              <a:rPr lang="en-US" altLang="ko-KR" dirty="0"/>
              <a:t>String, int, double </a:t>
            </a:r>
            <a:r>
              <a:rPr lang="ko-KR" altLang="en-US" dirty="0"/>
              <a:t>같이 명확하게 타입을 </a:t>
            </a:r>
            <a:r>
              <a:rPr lang="en-US" altLang="ko-KR" dirty="0"/>
              <a:t>1</a:t>
            </a:r>
            <a:r>
              <a:rPr lang="ko-KR" altLang="en-US" dirty="0"/>
              <a:t>종류만 저장한다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Java, C, C++ </a:t>
            </a:r>
            <a:r>
              <a:rPr lang="ko-KR" altLang="en-US" dirty="0"/>
              <a:t>등등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  <a:p>
            <a:r>
              <a:rPr lang="ko-KR" altLang="en-US" b="1" dirty="0"/>
              <a:t>약한 타입</a:t>
            </a:r>
          </a:p>
          <a:p>
            <a:r>
              <a:rPr lang="ko-KR" altLang="en-US" dirty="0"/>
              <a:t>런타임에 타입 </a:t>
            </a:r>
            <a:r>
              <a:rPr lang="ko-KR" altLang="en-US" b="1" dirty="0"/>
              <a:t>오류를 만나는 한이 있어도 실행을 막지 않는다</a:t>
            </a:r>
            <a:r>
              <a:rPr lang="en-US" altLang="ko-KR" b="1" dirty="0"/>
              <a:t>.</a:t>
            </a:r>
          </a:p>
          <a:p>
            <a:r>
              <a:rPr lang="en-US" altLang="ko-KR" b="1" dirty="0"/>
              <a:t>*</a:t>
            </a:r>
            <a:r>
              <a:rPr lang="ko-KR" altLang="en-US" b="1" dirty="0"/>
              <a:t>런타임</a:t>
            </a:r>
            <a:r>
              <a:rPr lang="en-US" altLang="ko-KR" b="1" dirty="0"/>
              <a:t>: </a:t>
            </a:r>
            <a:r>
              <a:rPr lang="ko-KR" altLang="en-US" b="1" dirty="0"/>
              <a:t>프로그래밍 실행되고 있는 동작</a:t>
            </a:r>
            <a:endParaRPr lang="en-US" altLang="ko-KR" b="1" dirty="0"/>
          </a:p>
          <a:p>
            <a:r>
              <a:rPr lang="ko-KR" altLang="en-US" dirty="0"/>
              <a:t>타입이 여러 종류인 값들을 상관없이 저장한다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Ex) Python, </a:t>
            </a:r>
            <a:r>
              <a:rPr lang="en-US" altLang="ko-KR" dirty="0" err="1"/>
              <a:t>Javascript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7812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Javascript</a:t>
            </a:r>
            <a:r>
              <a:rPr lang="ko-KR" altLang="en-US" dirty="0"/>
              <a:t>의 자료형은 </a:t>
            </a:r>
            <a:endParaRPr lang="en-US" altLang="ko-KR" dirty="0"/>
          </a:p>
          <a:p>
            <a:r>
              <a:rPr lang="en-US" altLang="ko-KR" dirty="0"/>
              <a:t>Primitive(</a:t>
            </a:r>
            <a:r>
              <a:rPr lang="ko-KR" altLang="en-US" dirty="0"/>
              <a:t>기본형</a:t>
            </a:r>
            <a:r>
              <a:rPr lang="en-US" altLang="ko-KR" dirty="0"/>
              <a:t>)</a:t>
            </a:r>
            <a:r>
              <a:rPr lang="ko-KR" altLang="en-US" dirty="0"/>
              <a:t>과 </a:t>
            </a:r>
            <a:r>
              <a:rPr lang="en-US" altLang="ko-KR" dirty="0"/>
              <a:t>Object(</a:t>
            </a:r>
            <a:r>
              <a:rPr lang="ko-KR" altLang="en-US" dirty="0"/>
              <a:t>객체형</a:t>
            </a:r>
            <a:r>
              <a:rPr lang="en-US" altLang="ko-KR" dirty="0"/>
              <a:t>) </a:t>
            </a:r>
            <a:r>
              <a:rPr lang="ko-KR" altLang="en-US" dirty="0"/>
              <a:t>타입이 존재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객체형을 다른 말로 </a:t>
            </a:r>
            <a:r>
              <a:rPr lang="ko-KR" altLang="en-US" dirty="0" err="1"/>
              <a:t>참조형이라고도</a:t>
            </a:r>
            <a:r>
              <a:rPr lang="ko-KR" altLang="en-US" dirty="0"/>
              <a:t>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0607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기본형은 데이터를 직접 저장하는 데이터 형태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객체형은 데이터의 참조</a:t>
            </a:r>
            <a:r>
              <a:rPr lang="en-US" altLang="ko-KR" dirty="0"/>
              <a:t>(</a:t>
            </a:r>
            <a:r>
              <a:rPr lang="ko-KR" altLang="en-US" dirty="0"/>
              <a:t>메모리 주소</a:t>
            </a:r>
            <a:r>
              <a:rPr lang="en-US" altLang="ko-KR" dirty="0"/>
              <a:t>)</a:t>
            </a:r>
            <a:r>
              <a:rPr lang="ko-KR" altLang="en-US" dirty="0"/>
              <a:t>를 저장하는 데이터 형태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00038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코드로 먼저 학습 후 돌아와서 복습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5006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2590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핑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4863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6889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여러 개의 값을 순서대로 저장하는 데이터 구조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하나의 변수에 여러 개의 값을 저장할 수 있도록 해주며</a:t>
            </a:r>
            <a:r>
              <a:rPr lang="en-US" altLang="ko-KR" dirty="0"/>
              <a:t>, </a:t>
            </a:r>
            <a:r>
              <a:rPr lang="ko-KR" altLang="en-US" dirty="0"/>
              <a:t>각 값을 인덱스를 사용하여 접근할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여기까지 하고 코드 치고 다시 </a:t>
            </a:r>
            <a:r>
              <a:rPr lang="ko-KR" altLang="en-US" dirty="0" err="1"/>
              <a:t>ｐｐｔ로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1430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1810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프로그래밍에서 실제 존재하는 개체나 개념을 표현하는 데이터 구조。</a:t>
            </a:r>
            <a:endParaRPr lang="en-US" altLang="ko-KR" dirty="0"/>
          </a:p>
          <a:p>
            <a:r>
              <a:rPr lang="ko-KR" altLang="en-US" dirty="0"/>
              <a:t>객체는 속성과 메서드로 구성되어 있음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배열은 순서가 있지만 객체는 키와 값으로 이루어져 있음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여기까지 하고 코드치기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708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76652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80748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치기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3527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바로 코드로 직접 쳐보기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1049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Prompt</a:t>
            </a:r>
            <a:r>
              <a:rPr lang="ko-KR" altLang="en-US" dirty="0"/>
              <a:t>는 </a:t>
            </a:r>
            <a:r>
              <a:rPr lang="en-US" altLang="ko-KR" dirty="0" err="1"/>
              <a:t>js</a:t>
            </a:r>
            <a:r>
              <a:rPr lang="ko-KR" altLang="en-US" dirty="0"/>
              <a:t>에서 사용자에게 메시지를 표시하고 사용자로부터 입력을 받는 함수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두가지 매개변수를 받는다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첫번째 매개변수 </a:t>
            </a:r>
            <a:r>
              <a:rPr lang="en-US" altLang="ko-KR" dirty="0"/>
              <a:t>= </a:t>
            </a:r>
            <a:r>
              <a:rPr lang="ko-KR" altLang="en-US" dirty="0"/>
              <a:t>사용자에게 보여줄 메시지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두번째 매개변수 </a:t>
            </a:r>
            <a:r>
              <a:rPr lang="en-US" altLang="ko-KR" dirty="0"/>
              <a:t>= </a:t>
            </a:r>
            <a:r>
              <a:rPr lang="ko-KR" altLang="en-US" dirty="0"/>
              <a:t>선택적으로 입력 필드에 기본값을 설정하는 문자열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// </a:t>
            </a:r>
            <a:r>
              <a:rPr lang="ko-KR" altLang="en-US" dirty="0"/>
              <a:t>실습 풀게 해본다</a:t>
            </a:r>
            <a:r>
              <a:rPr lang="en-US" altLang="ko-KR" dirty="0"/>
              <a:t> &gt; </a:t>
            </a:r>
            <a:r>
              <a:rPr lang="ko-KR" altLang="en-US" dirty="0"/>
              <a:t>핑 </a:t>
            </a:r>
            <a:r>
              <a:rPr lang="en-US" altLang="ko-KR" dirty="0"/>
              <a:t>&gt;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39144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콘솔로 </a:t>
            </a:r>
            <a:r>
              <a:rPr lang="en-US" altLang="ko-KR" dirty="0" err="1"/>
              <a:t>typeof</a:t>
            </a:r>
            <a:r>
              <a:rPr lang="en-US" altLang="ko-KR" dirty="0"/>
              <a:t> </a:t>
            </a:r>
            <a:r>
              <a:rPr lang="ko-KR" altLang="en-US" dirty="0"/>
              <a:t>찍어보기</a:t>
            </a:r>
            <a:r>
              <a:rPr lang="en-US" altLang="ko-KR" dirty="0"/>
              <a:t>. / </a:t>
            </a:r>
            <a:r>
              <a:rPr lang="ko-KR" altLang="en-US" dirty="0"/>
              <a:t>문자로 취급 </a:t>
            </a:r>
            <a:r>
              <a:rPr lang="en-US" altLang="ko-KR" dirty="0"/>
              <a:t>(string)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88339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Why? 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JS</a:t>
            </a:r>
            <a:r>
              <a:rPr lang="ko-KR" altLang="en-US" dirty="0"/>
              <a:t>가 느슨한 언어이기 때문이다</a:t>
            </a:r>
            <a:r>
              <a:rPr lang="en-US" altLang="ko-KR" dirty="0"/>
              <a:t>~!, </a:t>
            </a:r>
            <a:r>
              <a:rPr lang="ko-KR" altLang="en-US" dirty="0"/>
              <a:t>변수가 </a:t>
            </a:r>
            <a:r>
              <a:rPr lang="ko-KR" altLang="en-US" dirty="0" err="1"/>
              <a:t>실행중에</a:t>
            </a:r>
            <a:r>
              <a:rPr lang="ko-KR" altLang="en-US" dirty="0"/>
              <a:t> 자동으로 형식을 결정하는 것</a:t>
            </a:r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 err="1"/>
              <a:t>Js</a:t>
            </a:r>
            <a:r>
              <a:rPr lang="ko-KR" altLang="en-US" dirty="0"/>
              <a:t>만의 독특한 특징</a:t>
            </a:r>
            <a:r>
              <a:rPr lang="en-US" altLang="ko-KR" dirty="0"/>
              <a:t>, </a:t>
            </a:r>
            <a:r>
              <a:rPr lang="ko-KR" altLang="en-US" dirty="0"/>
              <a:t>허나 예상치 못한 동작을 초래 할 수 있다</a:t>
            </a:r>
            <a:r>
              <a:rPr lang="en-US" altLang="ko-KR" dirty="0"/>
              <a:t>.</a:t>
            </a:r>
          </a:p>
          <a:p>
            <a:pPr marL="171450" indent="-171450">
              <a:buFont typeface="Wingdings" panose="05000000000000000000" pitchFamily="2" charset="2"/>
              <a:buChar char="è"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ko-KR" altLang="en-US" dirty="0"/>
              <a:t>예시</a:t>
            </a:r>
            <a:r>
              <a:rPr lang="en-US" altLang="ko-KR" dirty="0"/>
              <a:t>) </a:t>
            </a:r>
            <a:r>
              <a:rPr lang="ko-KR" altLang="en-US" dirty="0"/>
              <a:t>실수로 자료형을 다르게 적고 넘어갔는데 그때는 문제없이 잘 진행되다가 </a:t>
            </a:r>
            <a:r>
              <a:rPr lang="ko-KR" altLang="en-US" dirty="0" err="1"/>
              <a:t>다른데서</a:t>
            </a:r>
            <a:r>
              <a:rPr lang="ko-KR" altLang="en-US" dirty="0"/>
              <a:t> 이게 꼬이기 시작하면 힘들다</a:t>
            </a:r>
            <a:r>
              <a:rPr lang="en-US" altLang="ko-KR" dirty="0"/>
              <a:t>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altLang="ko-KR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ko-KR" altLang="en-US" dirty="0"/>
              <a:t>그러면 어떻게 </a:t>
            </a:r>
            <a:r>
              <a:rPr lang="ko-KR" altLang="en-US" dirty="0" err="1"/>
              <a:t>해야하나</a:t>
            </a:r>
            <a:r>
              <a:rPr lang="en-US" altLang="ko-KR" dirty="0"/>
              <a:t>? -&gt; </a:t>
            </a:r>
            <a:r>
              <a:rPr lang="ko-KR" altLang="en-US" dirty="0"/>
              <a:t>다음페이지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3175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개발자가 직접 형 변환을 시켜주는 것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43138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47917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18120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형변환</a:t>
            </a:r>
            <a:r>
              <a:rPr lang="ko-KR" altLang="en-US" dirty="0"/>
              <a:t> 실습 해볼까요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/>
              <a:t>//</a:t>
            </a:r>
            <a:r>
              <a:rPr lang="ko-KR" altLang="en-US" dirty="0"/>
              <a:t> 실습 </a:t>
            </a:r>
            <a:r>
              <a:rPr lang="en-US" altLang="ko-KR" dirty="0"/>
              <a:t>&gt; </a:t>
            </a:r>
            <a:r>
              <a:rPr lang="ko-KR" altLang="en-US" dirty="0"/>
              <a:t>이해 핑 </a:t>
            </a:r>
            <a:r>
              <a:rPr lang="en-US" altLang="ko-KR" dirty="0"/>
              <a:t>&gt; </a:t>
            </a:r>
            <a:r>
              <a:rPr lang="ko-KR" altLang="en-US" dirty="0"/>
              <a:t>다음페이지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97859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kdt3rd-workspace/04_javascript/</a:t>
            </a:r>
            <a:r>
              <a:rPr lang="en-US" altLang="ko-KR" b="1" dirty="0"/>
              <a:t>index2.html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kdt3rd-workspace/04_javascript/</a:t>
            </a:r>
            <a:r>
              <a:rPr lang="en-US" altLang="ko-KR" b="1" dirty="0"/>
              <a:t>index2.js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6737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바로 </a:t>
            </a:r>
            <a:r>
              <a:rPr lang="ko-KR" altLang="en-US" dirty="0" err="1"/>
              <a:t>코드치러</a:t>
            </a:r>
            <a:r>
              <a:rPr lang="ko-KR" altLang="en-US" dirty="0"/>
              <a:t> </a:t>
            </a:r>
            <a:r>
              <a:rPr lang="ko-KR" altLang="en-US" dirty="0" err="1"/>
              <a:t>ㄲ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88456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7309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8112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56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444484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04475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69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259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783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200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649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660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674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44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412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50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 err="1"/>
              <a:t>자료형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2052589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2B7D85-874F-952F-CA6D-BB5C81F1E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b="1" dirty="0">
                <a:solidFill>
                  <a:srgbClr val="FF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강한</a:t>
            </a:r>
            <a:r>
              <a:rPr lang="ko-KR" alt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타입 언어</a:t>
            </a:r>
            <a:endParaRPr lang="en-US" altLang="ko-KR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타입 검사를 통과하지 못한다면 실행 자체가 안 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	String, int, double </a:t>
            </a:r>
            <a:r>
              <a:rPr lang="ko-KR" altLang="en-US" dirty="0"/>
              <a:t>등처럼 타입을 </a:t>
            </a:r>
            <a:r>
              <a:rPr lang="en-US" altLang="ko-KR" dirty="0"/>
              <a:t>1</a:t>
            </a:r>
            <a:r>
              <a:rPr lang="ko-KR" altLang="en-US" dirty="0"/>
              <a:t>종류로 명확히 지정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b="1" dirty="0">
                <a:solidFill>
                  <a:srgbClr val="00B05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약한</a:t>
            </a:r>
            <a:r>
              <a:rPr lang="ko-KR" altLang="en-US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타입 언어</a:t>
            </a:r>
            <a:endParaRPr lang="en-US" altLang="ko-KR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런타임에서 타입 오류를 만나더라도 실행을 막지 않는다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ko-KR" altLang="en-US" dirty="0"/>
              <a:t>타입이 여러 종류인 값들이 상관없이 지정된다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46936F-9EAE-6400-2CC3-66B967FCD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267A6B-E266-25BD-4D0B-14B40A8B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DDF478E-D774-DE90-8BAF-58EA5975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언어 타입</a:t>
            </a:r>
          </a:p>
        </p:txBody>
      </p:sp>
    </p:spTree>
    <p:extLst>
      <p:ext uri="{BB962C8B-B14F-4D97-AF65-F5344CB8AC3E}">
        <p14:creationId xmlns:p14="http://schemas.microsoft.com/office/powerpoint/2010/main" val="1714757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46936F-9EAE-6400-2CC3-66B967FCD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0267A6B-E266-25BD-4D0B-14B40A8B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DDF478E-D774-DE90-8BAF-58EA5975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언어 타입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D51FA29-9734-394E-6146-CD56CCE6D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188" y="2384508"/>
            <a:ext cx="9428658" cy="2088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63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는 느슨한 언어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202131" y="1555238"/>
            <a:ext cx="1157919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3200" dirty="0" err="1"/>
              <a:t>Javascript</a:t>
            </a:r>
            <a:r>
              <a:rPr lang="ko-KR" altLang="en-US" sz="3200" dirty="0"/>
              <a:t>는 데이터 종류와 관계 없이 </a:t>
            </a:r>
            <a:r>
              <a:rPr lang="en-US" altLang="ko-KR" sz="3200" dirty="0"/>
              <a:t>var, let, const </a:t>
            </a:r>
            <a:r>
              <a:rPr lang="ko-KR" altLang="en-US" sz="3200" dirty="0"/>
              <a:t>키워드로 변수를 선언하고 사용함</a:t>
            </a:r>
            <a:r>
              <a:rPr lang="en-US" altLang="ko-KR" sz="3200" dirty="0"/>
              <a:t>! =&gt; </a:t>
            </a:r>
            <a:r>
              <a:rPr lang="ko-KR" altLang="en-US" sz="3200" dirty="0"/>
              <a:t>약한 타입 언어</a:t>
            </a:r>
            <a:endParaRPr lang="en-US" altLang="ko-KR" sz="32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3200" dirty="0"/>
          </a:p>
          <a:p>
            <a:pPr>
              <a:lnSpc>
                <a:spcPct val="150000"/>
              </a:lnSpc>
            </a:pPr>
            <a:r>
              <a:rPr lang="ko-KR" altLang="en-US" sz="3200" dirty="0"/>
              <a:t>강한 타입 언어들은 변수를 선언할 때 명확하게 타입을 </a:t>
            </a:r>
            <a:r>
              <a:rPr lang="en-US" altLang="ko-KR" sz="3200" dirty="0"/>
              <a:t>1</a:t>
            </a:r>
            <a:r>
              <a:rPr lang="ko-KR" altLang="en-US" sz="3200" dirty="0"/>
              <a:t>종류만 </a:t>
            </a:r>
            <a:endParaRPr lang="en-US" altLang="ko-KR" sz="32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3200" dirty="0"/>
              <a:t>  </a:t>
            </a:r>
            <a:r>
              <a:rPr lang="ko-KR" altLang="en-US" sz="3200" dirty="0"/>
              <a:t>지정함</a:t>
            </a:r>
            <a:r>
              <a:rPr lang="en-US" altLang="ko-KR" sz="3200" dirty="0"/>
              <a:t>!</a:t>
            </a:r>
          </a:p>
          <a:p>
            <a:pPr lvl="1">
              <a:lnSpc>
                <a:spcPct val="150000"/>
              </a:lnSpc>
            </a:pPr>
            <a:r>
              <a:rPr lang="en-US" altLang="ko-KR" sz="2800" dirty="0"/>
              <a:t>ex. JAVA, C, C++ </a:t>
            </a:r>
          </a:p>
        </p:txBody>
      </p:sp>
    </p:spTree>
    <p:extLst>
      <p:ext uri="{BB962C8B-B14F-4D97-AF65-F5344CB8AC3E}">
        <p14:creationId xmlns:p14="http://schemas.microsoft.com/office/powerpoint/2010/main" val="29704086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자료형</a:t>
            </a:r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C8ADAF6B-E2E4-3104-0C92-65F1ADDA3C45}"/>
              </a:ext>
            </a:extLst>
          </p:cNvPr>
          <p:cNvSpPr/>
          <p:nvPr/>
        </p:nvSpPr>
        <p:spPr>
          <a:xfrm>
            <a:off x="1371600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Primitive </a:t>
            </a:r>
            <a:r>
              <a:rPr lang="ko-KR" altLang="en-US" sz="3600" dirty="0"/>
              <a:t>자료형</a:t>
            </a:r>
          </a:p>
        </p:txBody>
      </p:sp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E8F4A16-A580-8598-445C-BE56538BEF63}"/>
              </a:ext>
            </a:extLst>
          </p:cNvPr>
          <p:cNvSpPr/>
          <p:nvPr/>
        </p:nvSpPr>
        <p:spPr>
          <a:xfrm>
            <a:off x="6874042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Object </a:t>
            </a:r>
            <a:r>
              <a:rPr lang="ko-KR" altLang="en-US" sz="3600" dirty="0"/>
              <a:t>자료형</a:t>
            </a:r>
          </a:p>
        </p:txBody>
      </p:sp>
    </p:spTree>
    <p:extLst>
      <p:ext uri="{BB962C8B-B14F-4D97-AF65-F5344CB8AC3E}">
        <p14:creationId xmlns:p14="http://schemas.microsoft.com/office/powerpoint/2010/main" val="861625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자료형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838200" y="1555238"/>
            <a:ext cx="461870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3600" dirty="0"/>
              <a:t>기본형 </a:t>
            </a:r>
            <a:r>
              <a:rPr lang="en-US" altLang="ko-KR" sz="3600" dirty="0"/>
              <a:t>(Primitive)</a:t>
            </a:r>
          </a:p>
          <a:p>
            <a:pPr marL="0" indent="0">
              <a:buNone/>
            </a:pPr>
            <a:endParaRPr lang="en-US" altLang="ko-KR" sz="1100" dirty="0"/>
          </a:p>
          <a:p>
            <a:pPr lvl="1"/>
            <a:r>
              <a:rPr lang="en-US" altLang="ko-KR" sz="3200" dirty="0"/>
              <a:t>string</a:t>
            </a:r>
          </a:p>
          <a:p>
            <a:pPr lvl="1"/>
            <a:r>
              <a:rPr lang="en-US" altLang="ko-KR" sz="3200" dirty="0"/>
              <a:t>number</a:t>
            </a:r>
          </a:p>
          <a:p>
            <a:pPr lvl="1"/>
            <a:r>
              <a:rPr lang="en-US" altLang="ko-KR" sz="3200" dirty="0" err="1"/>
              <a:t>boolean</a:t>
            </a:r>
            <a:endParaRPr lang="en-US" altLang="ko-KR" sz="3200" dirty="0"/>
          </a:p>
          <a:p>
            <a:pPr lvl="1"/>
            <a:r>
              <a:rPr lang="en-US" altLang="ko-KR" sz="3200" dirty="0"/>
              <a:t>null</a:t>
            </a:r>
          </a:p>
          <a:p>
            <a:pPr lvl="1"/>
            <a:r>
              <a:rPr lang="en-US" altLang="ko-KR" sz="3200" dirty="0"/>
              <a:t>undefined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33BD6E-430F-7B18-E5DC-0B72932C76D9}"/>
              </a:ext>
            </a:extLst>
          </p:cNvPr>
          <p:cNvSpPr txBox="1">
            <a:spLocks/>
          </p:cNvSpPr>
          <p:nvPr/>
        </p:nvSpPr>
        <p:spPr>
          <a:xfrm>
            <a:off x="6096000" y="1555238"/>
            <a:ext cx="566338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3600" dirty="0"/>
              <a:t>객체 </a:t>
            </a:r>
            <a:r>
              <a:rPr lang="en-US" altLang="ko-KR" sz="3600" dirty="0"/>
              <a:t>(Object)</a:t>
            </a:r>
          </a:p>
          <a:p>
            <a:pPr marL="0" indent="0">
              <a:buNone/>
            </a:pPr>
            <a:endParaRPr lang="en-US" altLang="ko-KR" sz="1100" dirty="0"/>
          </a:p>
          <a:p>
            <a:pPr lvl="1"/>
            <a:r>
              <a:rPr lang="ko-KR" altLang="en-US" sz="3200" dirty="0"/>
              <a:t>기본형이 아닌 것은 모두 객체</a:t>
            </a:r>
            <a:endParaRPr lang="en-US" altLang="ko-KR" sz="3200" dirty="0"/>
          </a:p>
        </p:txBody>
      </p:sp>
    </p:spTree>
    <p:extLst>
      <p:ext uri="{BB962C8B-B14F-4D97-AF65-F5344CB8AC3E}">
        <p14:creationId xmlns:p14="http://schemas.microsoft.com/office/powerpoint/2010/main" val="1273939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문자열 </a:t>
            </a:r>
            <a:r>
              <a:rPr lang="en-US" altLang="ko-KR" dirty="0"/>
              <a:t>String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355" y="2178979"/>
            <a:ext cx="9005935" cy="30085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56864" y="2789110"/>
            <a:ext cx="22115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altLang="ko-KR" dirty="0">
              <a:solidFill>
                <a:srgbClr val="6A9955"/>
              </a:solidFill>
              <a:latin typeface="+mn-ea"/>
            </a:endParaRPr>
          </a:p>
          <a:p>
            <a:r>
              <a:rPr lang="en-US" altLang="ko-KR" dirty="0">
                <a:solidFill>
                  <a:srgbClr val="6A9955"/>
                </a:solidFill>
                <a:latin typeface="+mn-ea"/>
              </a:rPr>
              <a:t>String </a:t>
            </a:r>
            <a:r>
              <a:rPr lang="ko-KR" altLang="en-US" dirty="0">
                <a:solidFill>
                  <a:srgbClr val="6A9955"/>
                </a:solidFill>
                <a:latin typeface="+mn-ea"/>
              </a:rPr>
              <a:t>문자형 데이터</a:t>
            </a:r>
            <a:endParaRPr lang="ko-KR" altLang="en-US" dirty="0">
              <a:solidFill>
                <a:srgbClr val="D4D4D4"/>
              </a:solidFill>
              <a:latin typeface="+mn-ea"/>
            </a:endParaRPr>
          </a:p>
          <a:p>
            <a:r>
              <a:rPr lang="ko-KR" altLang="en-US" b="1" dirty="0">
                <a:solidFill>
                  <a:srgbClr val="6A9955"/>
                </a:solidFill>
                <a:latin typeface="+mn-ea"/>
              </a:rPr>
              <a:t>따옴표</a:t>
            </a:r>
            <a:r>
              <a:rPr lang="ko-KR" altLang="en-US" dirty="0">
                <a:solidFill>
                  <a:srgbClr val="6A9955"/>
                </a:solidFill>
                <a:latin typeface="+mn-ea"/>
              </a:rPr>
              <a:t>를 사용</a:t>
            </a:r>
            <a:endParaRPr lang="ko-KR" altLang="en-US" dirty="0">
              <a:solidFill>
                <a:srgbClr val="D4D4D4"/>
              </a:solidFill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2322" y="4863197"/>
            <a:ext cx="5905500" cy="11049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54990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메소드의</a:t>
            </a:r>
            <a:r>
              <a:rPr lang="ko-KR" altLang="en-US" dirty="0"/>
              <a:t> 매개 변수로 넣어서 사용</a:t>
            </a:r>
          </a:p>
          <a:p>
            <a:pPr lvl="1"/>
            <a:r>
              <a:rPr lang="en-US" altLang="ko-KR" dirty="0"/>
              <a:t>console.log(“</a:t>
            </a:r>
            <a:r>
              <a:rPr lang="ko-KR" altLang="en-US" dirty="0"/>
              <a:t>문자”</a:t>
            </a:r>
            <a:r>
              <a:rPr lang="en-US" altLang="ko-KR" dirty="0"/>
              <a:t>, </a:t>
            </a:r>
            <a:r>
              <a:rPr lang="ko-KR" altLang="en-US" dirty="0"/>
              <a:t>변수</a:t>
            </a:r>
            <a:r>
              <a:rPr lang="en-US" altLang="ko-KR" dirty="0"/>
              <a:t>, “</a:t>
            </a:r>
            <a:r>
              <a:rPr lang="ko-KR" altLang="en-US" dirty="0"/>
              <a:t>문자”</a:t>
            </a:r>
            <a:r>
              <a:rPr lang="en-US" altLang="ko-KR" dirty="0"/>
              <a:t>);</a:t>
            </a:r>
          </a:p>
          <a:p>
            <a:endParaRPr lang="en-US" altLang="ko-KR" dirty="0"/>
          </a:p>
          <a:p>
            <a:r>
              <a:rPr lang="en-US" altLang="ko-KR" dirty="0"/>
              <a:t>+ </a:t>
            </a:r>
            <a:r>
              <a:rPr lang="ko-KR" altLang="en-US" dirty="0"/>
              <a:t>연산자를 사용해서 변수를 문자로 변환 후 더하여 사용</a:t>
            </a:r>
          </a:p>
          <a:p>
            <a:pPr lvl="1"/>
            <a:r>
              <a:rPr lang="en-US" altLang="ko-KR" dirty="0"/>
              <a:t>console.log(“</a:t>
            </a:r>
            <a:r>
              <a:rPr lang="ko-KR" altLang="en-US" dirty="0"/>
              <a:t>문자” </a:t>
            </a:r>
            <a:r>
              <a:rPr lang="en-US" altLang="ko-KR" dirty="0"/>
              <a:t>+ </a:t>
            </a:r>
            <a:r>
              <a:rPr lang="ko-KR" altLang="en-US" dirty="0"/>
              <a:t>변수 </a:t>
            </a:r>
            <a:r>
              <a:rPr lang="en-US" altLang="ko-KR" dirty="0"/>
              <a:t>+ “</a:t>
            </a:r>
            <a:r>
              <a:rPr lang="ko-KR" altLang="en-US" dirty="0"/>
              <a:t>문자”</a:t>
            </a:r>
            <a:r>
              <a:rPr lang="en-US" altLang="ko-KR" dirty="0"/>
              <a:t>);</a:t>
            </a:r>
          </a:p>
          <a:p>
            <a:endParaRPr lang="en-US" altLang="ko-KR" dirty="0"/>
          </a:p>
          <a:p>
            <a:r>
              <a:rPr lang="ko-KR" altLang="en-US" dirty="0" err="1"/>
              <a:t>백틱</a:t>
            </a:r>
            <a:r>
              <a:rPr lang="ko-KR" altLang="en-US" dirty="0"/>
              <a:t> 문자 사용</a:t>
            </a:r>
          </a:p>
          <a:p>
            <a:pPr lvl="1"/>
            <a:r>
              <a:rPr lang="en-US" altLang="ko-KR" dirty="0"/>
              <a:t>`</a:t>
            </a:r>
            <a:r>
              <a:rPr lang="ko-KR" altLang="en-US" dirty="0"/>
              <a:t>문자를 쓰다가 변수를 쓰고 싶으면 </a:t>
            </a:r>
            <a:r>
              <a:rPr lang="en-US" altLang="ko-KR" dirty="0"/>
              <a:t>${variable} </a:t>
            </a:r>
            <a:r>
              <a:rPr lang="ko-KR" altLang="en-US" dirty="0"/>
              <a:t>처럼 쓰면 됩니다</a:t>
            </a:r>
            <a:r>
              <a:rPr lang="en-US" altLang="ko-KR" dirty="0"/>
              <a:t>`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문자</a:t>
            </a:r>
            <a:r>
              <a:rPr lang="en-US" altLang="ko-KR" dirty="0"/>
              <a:t> + </a:t>
            </a:r>
            <a:r>
              <a:rPr lang="ko-KR" altLang="en-US" dirty="0"/>
              <a:t>변수를 동시에 쓰고 싶을 때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90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숫자 </a:t>
            </a:r>
            <a:r>
              <a:rPr lang="en-US" altLang="ko-KR" dirty="0"/>
              <a:t>Number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CF57D2-A039-AD3B-96D2-8559F7FBFBC4}"/>
              </a:ext>
            </a:extLst>
          </p:cNvPr>
          <p:cNvSpPr txBox="1"/>
          <p:nvPr/>
        </p:nvSpPr>
        <p:spPr>
          <a:xfrm>
            <a:off x="1277738" y="1988988"/>
            <a:ext cx="6094428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Number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숫자형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정수 및 소수점 숫자를 나타냄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opacity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0.7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opacity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159" y="4907588"/>
            <a:ext cx="5829300" cy="39052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58300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</a:t>
            </a:r>
            <a:r>
              <a:rPr lang="en-US" altLang="ko-KR" dirty="0"/>
              <a:t> </a:t>
            </a:r>
            <a:r>
              <a:rPr lang="ko-KR" altLang="en-US" dirty="0"/>
              <a:t>거짓 데이터 </a:t>
            </a:r>
            <a:r>
              <a:rPr lang="en-US" altLang="ko-KR" dirty="0"/>
              <a:t>Boolean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B6516A-6A13-986C-B07A-5571049E64FF}"/>
              </a:ext>
            </a:extLst>
          </p:cNvPr>
          <p:cNvSpPr txBox="1"/>
          <p:nvPr/>
        </p:nvSpPr>
        <p:spPr>
          <a:xfrm>
            <a:off x="661078" y="2041943"/>
            <a:ext cx="6094428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Boolean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참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거짓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true, false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두 가지 값만 가지는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checked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isShow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false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checked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isShow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07" y="4537983"/>
            <a:ext cx="10851530" cy="680401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547453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미할당</a:t>
            </a:r>
            <a:r>
              <a:rPr lang="ko-KR" altLang="en-US" dirty="0"/>
              <a:t> 데이터 </a:t>
            </a:r>
            <a:r>
              <a:rPr lang="en-US" altLang="ko-KR" dirty="0"/>
              <a:t>undefined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983155-F799-0937-A9A9-96F9AB2F11E1}"/>
              </a:ext>
            </a:extLst>
          </p:cNvPr>
          <p:cNvSpPr txBox="1"/>
          <p:nvPr/>
        </p:nvSpPr>
        <p:spPr>
          <a:xfrm>
            <a:off x="731076" y="1480044"/>
            <a:ext cx="6094428" cy="3416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en-US" altLang="ko-KR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Undifined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값이 할당되지 않은 상태를 표기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: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};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obj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efg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032" y="4741414"/>
            <a:ext cx="9636943" cy="94662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97830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빈</a:t>
            </a:r>
            <a:r>
              <a:rPr lang="en-US" altLang="ko-KR" dirty="0"/>
              <a:t> </a:t>
            </a:r>
            <a:r>
              <a:rPr lang="ko-KR" altLang="en-US" dirty="0"/>
              <a:t>데이터 </a:t>
            </a:r>
            <a:r>
              <a:rPr lang="en-US" altLang="ko-KR" dirty="0"/>
              <a:t>null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143D18-33A6-F5EE-203F-27284B118FF4}"/>
              </a:ext>
            </a:extLst>
          </p:cNvPr>
          <p:cNvSpPr txBox="1"/>
          <p:nvPr/>
        </p:nvSpPr>
        <p:spPr>
          <a:xfrm>
            <a:off x="838200" y="2739999"/>
            <a:ext cx="6492711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Null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어떤 값이 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의도적</a:t>
            </a: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으로 비어 있음을 의미할 때 사용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empty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=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empty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265" y="3981001"/>
            <a:ext cx="7186564" cy="51861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0013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br>
              <a:rPr lang="en-US" altLang="ko-KR" dirty="0"/>
            </a:br>
            <a:r>
              <a:rPr lang="ko-KR" altLang="en-US" dirty="0"/>
              <a:t>（</a:t>
            </a:r>
            <a:r>
              <a:rPr lang="en-US" altLang="ko-KR"/>
              <a:t>Array</a:t>
            </a:r>
            <a:r>
              <a:rPr lang="ko-KR" altLang="en-US"/>
              <a:t>）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62570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 Array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CA7A16-8B23-1325-C53C-13327683712D}"/>
              </a:ext>
            </a:extLst>
          </p:cNvPr>
          <p:cNvSpPr txBox="1"/>
          <p:nvPr/>
        </p:nvSpPr>
        <p:spPr>
          <a:xfrm>
            <a:off x="580303" y="1501322"/>
            <a:ext cx="7746476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6A9955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Array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배열 데이터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여러 데이터를 순차적으로 저장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[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"Orange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"Pineapple"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"Apple"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"Banana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34D7F7-3FE2-7B61-6CE0-3D4E70271DF9}"/>
              </a:ext>
            </a:extLst>
          </p:cNvPr>
          <p:cNvSpPr txBox="1"/>
          <p:nvPr/>
        </p:nvSpPr>
        <p:spPr>
          <a:xfrm>
            <a:off x="580303" y="4096676"/>
            <a:ext cx="7872629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it-IT" altLang="ko-KR" b="0" dirty="0">
              <a:solidFill>
                <a:srgbClr val="569CD6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"Apple"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false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it-IT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undefined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];</a:t>
            </a:r>
          </a:p>
          <a:p>
            <a:b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it-IT" altLang="ko-KR" b="1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it-IT" altLang="ko-KR" b="1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it-IT" altLang="ko-KR" b="1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1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0</a:t>
            </a:r>
            <a:r>
              <a:rPr lang="it-IT" altLang="ko-KR" b="1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2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], </a:t>
            </a:r>
            <a:r>
              <a:rPr lang="it-IT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data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[</a:t>
            </a:r>
            <a:r>
              <a:rPr lang="it-IT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4</a:t>
            </a:r>
            <a:r>
              <a:rPr lang="it-IT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]);</a:t>
            </a:r>
          </a:p>
          <a:p>
            <a:endParaRPr lang="it-IT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96" y="3305190"/>
            <a:ext cx="6000750" cy="80010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5032" y="5405188"/>
            <a:ext cx="5924550" cy="79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9117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  <a:br>
              <a:rPr lang="en-US" altLang="ko-KR" dirty="0"/>
            </a:br>
            <a:r>
              <a:rPr lang="ko-KR" altLang="en-US" dirty="0"/>
              <a:t>（</a:t>
            </a:r>
            <a:r>
              <a:rPr lang="en-US" altLang="ko-KR" dirty="0"/>
              <a:t>object</a:t>
            </a:r>
            <a:r>
              <a:rPr lang="ko-KR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121168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</a:t>
            </a:r>
            <a:r>
              <a:rPr lang="en-US" altLang="ko-KR" dirty="0"/>
              <a:t> </a:t>
            </a:r>
            <a:r>
              <a:rPr lang="ko-KR" altLang="en-US" dirty="0"/>
              <a:t>꾸러미 </a:t>
            </a:r>
            <a:r>
              <a:rPr lang="en-US" altLang="ko-KR" dirty="0"/>
              <a:t>Object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756062" y="1807118"/>
            <a:ext cx="6096000" cy="2308324"/>
          </a:xfrm>
          <a:prstGeom prst="rect">
            <a:avLst/>
          </a:prstGeom>
          <a:solidFill>
            <a:schemeClr val="tx1"/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= {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ko-KR" altLang="en-US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나비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age: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B5CEA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1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isCute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: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true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mew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: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569CD6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function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() {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  </a:t>
            </a:r>
            <a:r>
              <a:rPr lang="en-US" altLang="ko-KR" dirty="0">
                <a:solidFill>
                  <a:srgbClr val="C586C0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return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ko-KR" altLang="en-US" dirty="0" err="1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냐옹</a:t>
            </a:r>
            <a:r>
              <a:rPr lang="en-US" altLang="ko-KR" dirty="0">
                <a:solidFill>
                  <a:srgbClr val="CE9178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'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  },</a:t>
            </a:r>
          </a:p>
          <a:p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};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56062" y="4924543"/>
            <a:ext cx="6096000" cy="1200329"/>
          </a:xfrm>
          <a:prstGeom prst="rect">
            <a:avLst/>
          </a:prstGeom>
          <a:solidFill>
            <a:schemeClr val="tx1"/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name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 err="1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age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dirty="0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dirty="0" err="1">
                <a:solidFill>
                  <a:srgbClr val="9CDCFE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cat</a:t>
            </a:r>
            <a:r>
              <a:rPr lang="en-US" altLang="ko-KR" dirty="0" err="1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DCDCAA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mew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34" charset="-127"/>
              </a:rPr>
              <a:t>());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464" y="3099954"/>
            <a:ext cx="4257675" cy="281940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775344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각자를 소개할 수 있는 </a:t>
            </a:r>
            <a:r>
              <a:rPr lang="en-US" altLang="ko-KR" dirty="0"/>
              <a:t>Object </a:t>
            </a:r>
            <a:r>
              <a:rPr lang="ko-KR" altLang="en-US" dirty="0"/>
              <a:t>형태의 변수 선언</a:t>
            </a:r>
          </a:p>
          <a:p>
            <a:r>
              <a:rPr lang="ko-KR" altLang="en-US" dirty="0"/>
              <a:t>지금 까지 배운 데이터를 사용하여 자신을 소개하는 </a:t>
            </a:r>
            <a:r>
              <a:rPr lang="en-US" altLang="ko-KR" dirty="0"/>
              <a:t>console.log </a:t>
            </a:r>
            <a:r>
              <a:rPr lang="ko-KR" altLang="en-US" dirty="0"/>
              <a:t>출력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JavaScript </a:t>
            </a:r>
            <a:r>
              <a:rPr lang="ko-KR" altLang="en-US" dirty="0" err="1"/>
              <a:t>자료형</a:t>
            </a:r>
            <a:r>
              <a:rPr lang="ko-KR" altLang="en-US" dirty="0"/>
              <a:t> 연습하기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3504DB4-6713-6491-CB76-C27CEA8401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7150" y="3818095"/>
            <a:ext cx="6133763" cy="1575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765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typeof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6519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해당</a:t>
            </a:r>
            <a:r>
              <a:rPr lang="en-US" altLang="ko-KR" dirty="0"/>
              <a:t> </a:t>
            </a:r>
            <a:r>
              <a:rPr lang="ko-KR" altLang="en-US" dirty="0" err="1"/>
              <a:t>자료형이</a:t>
            </a:r>
            <a:r>
              <a:rPr lang="ko-KR" altLang="en-US" dirty="0"/>
              <a:t> 어떤 것인지 알려주는 착한 친구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자료형을</a:t>
            </a:r>
            <a:r>
              <a:rPr lang="en-US" altLang="ko-KR" dirty="0"/>
              <a:t> </a:t>
            </a:r>
            <a:r>
              <a:rPr lang="ko-KR" altLang="en-US" dirty="0"/>
              <a:t>알려주는 </a:t>
            </a:r>
            <a:r>
              <a:rPr lang="en-US" altLang="ko-KR" dirty="0" err="1"/>
              <a:t>typeof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97DF24-93AC-799A-6BA1-FDD933AFA492}"/>
              </a:ext>
            </a:extLst>
          </p:cNvPr>
          <p:cNvSpPr txBox="1"/>
          <p:nvPr/>
        </p:nvSpPr>
        <p:spPr>
          <a:xfrm>
            <a:off x="1172082" y="2492411"/>
            <a:ext cx="6002366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9CDCFE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＂</a:t>
            </a:r>
            <a:r>
              <a:rPr lang="ko-KR" altLang="en-US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안뇽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37B203E-5ED9-28BA-25AD-0D3BD09A7A0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3535"/>
          <a:stretch/>
        </p:blipFill>
        <p:spPr>
          <a:xfrm>
            <a:off x="7508329" y="2492411"/>
            <a:ext cx="2338111" cy="176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121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typeof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자료형 확인하기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CE99EED-10B8-81E5-D756-FAE72CF01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9620" y="1825625"/>
            <a:ext cx="5719795" cy="4041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5202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형변환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7131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8CEDA3B-C6E1-FE3F-8FD0-3D4A6BEB0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Prompt </a:t>
            </a:r>
            <a:r>
              <a:rPr lang="ko-KR" altLang="en-US" dirty="0">
                <a:latin typeface="+mn-ea"/>
              </a:rPr>
              <a:t>사용</a:t>
            </a:r>
            <a:r>
              <a:rPr lang="en-US" altLang="ko-KR" dirty="0">
                <a:latin typeface="+mn-ea"/>
              </a:rPr>
              <a:t>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ko-KR" altLang="en-US" dirty="0">
                <a:latin typeface="+mn-ea"/>
              </a:rPr>
              <a:t> 사용자에게 메시지를 표시하고 입력을 받는 함수</a:t>
            </a:r>
            <a:r>
              <a:rPr lang="en-US" altLang="ko-KR" dirty="0">
                <a:latin typeface="+mn-ea"/>
              </a:rPr>
              <a:t>.</a:t>
            </a:r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6BEF76E-4904-4822-7B02-5DCC27855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8DBCB-AECB-18A1-C2C8-04E21A64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ECC2762-38CA-8339-DE21-3159CF52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성적 평균 구하는 프로그램 만들기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AB01D03-0905-DF6B-E417-DCE8A7B730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48403"/>
          <a:stretch/>
        </p:blipFill>
        <p:spPr>
          <a:xfrm>
            <a:off x="724911" y="3429000"/>
            <a:ext cx="10976172" cy="107826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4EDD59C-058F-9F7D-AAB0-0C6CDF940C0C}"/>
              </a:ext>
            </a:extLst>
          </p:cNvPr>
          <p:cNvSpPr txBox="1"/>
          <p:nvPr/>
        </p:nvSpPr>
        <p:spPr>
          <a:xfrm>
            <a:off x="724911" y="5080503"/>
            <a:ext cx="69301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/>
              <a:t>깜짝 실습</a:t>
            </a:r>
            <a:r>
              <a:rPr lang="en-US" altLang="ko-KR" sz="2800" dirty="0"/>
              <a:t>) </a:t>
            </a:r>
            <a:r>
              <a:rPr lang="ko-KR" altLang="en-US" sz="2800" dirty="0"/>
              <a:t>두 성적의 평균을 구해보세요</a:t>
            </a:r>
            <a:r>
              <a:rPr lang="en-US" altLang="ko-KR" sz="2800" dirty="0"/>
              <a:t>!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1083505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8CEDA3B-C6E1-FE3F-8FD0-3D4A6BEB0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그런데 결과값이 좀 이상하다</a:t>
            </a:r>
            <a:r>
              <a:rPr lang="en-US" altLang="ko-KR" b="0" dirty="0">
                <a:effectLst/>
                <a:latin typeface="+mn-ea"/>
              </a:rPr>
              <a:t>?</a:t>
            </a:r>
          </a:p>
          <a:p>
            <a:r>
              <a:rPr lang="en-US" altLang="ko-KR" b="0" dirty="0">
                <a:effectLst/>
                <a:latin typeface="+mn-ea"/>
              </a:rPr>
              <a:t> </a:t>
            </a:r>
            <a:r>
              <a:rPr lang="en-US" altLang="ko-KR" b="0" dirty="0">
                <a:solidFill>
                  <a:srgbClr val="6EC173"/>
                </a:solidFill>
                <a:effectLst/>
                <a:latin typeface="+mn-ea"/>
              </a:rPr>
              <a:t>Prompt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>
                <a:effectLst/>
                <a:latin typeface="+mn-ea"/>
              </a:rPr>
              <a:t>로 입력 받은 값은 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“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문자</a:t>
            </a:r>
            <a:r>
              <a:rPr lang="en-US" altLang="ko-KR" dirty="0">
                <a:solidFill>
                  <a:schemeClr val="accent1"/>
                </a:solidFill>
                <a:latin typeface="+mn-ea"/>
              </a:rPr>
              <a:t>”</a:t>
            </a:r>
            <a:r>
              <a:rPr lang="ko-KR" altLang="en-US" dirty="0">
                <a:solidFill>
                  <a:schemeClr val="accent1"/>
                </a:solidFill>
                <a:latin typeface="+mn-ea"/>
              </a:rPr>
              <a:t>로 저장</a:t>
            </a:r>
            <a:r>
              <a:rPr lang="ko-KR" altLang="en-US" dirty="0">
                <a:latin typeface="+mn-ea"/>
              </a:rPr>
              <a:t>이 됩니다</a:t>
            </a:r>
            <a:r>
              <a:rPr lang="en-US" altLang="ko-KR" dirty="0">
                <a:latin typeface="+mn-ea"/>
              </a:rPr>
              <a:t>!</a:t>
            </a:r>
          </a:p>
          <a:p>
            <a:pPr lvl="1"/>
            <a:r>
              <a:rPr lang="en-US" altLang="ko-KR" dirty="0">
                <a:latin typeface="+mn-ea"/>
              </a:rPr>
              <a:t>“80” + “50” = “8050” </a:t>
            </a:r>
          </a:p>
          <a:p>
            <a:pPr lvl="1"/>
            <a:r>
              <a:rPr lang="en-US" altLang="ko-KR" dirty="0">
                <a:latin typeface="+mn-ea"/>
                <a:sym typeface="Wingdings" panose="05000000000000000000" pitchFamily="2" charset="2"/>
              </a:rPr>
              <a:t>“8050” / 2  4025</a:t>
            </a:r>
            <a:endParaRPr lang="en-US" altLang="ko-KR" b="0" dirty="0"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6BEF76E-4904-4822-7B02-5DCC27855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8DBCB-AECB-18A1-C2C8-04E21A64A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ECC2762-38CA-8339-DE21-3159CF52C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성적 평균 구하는 프로그램 만들기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3E79587-1EA8-1187-D42D-D3AE08018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883292"/>
            <a:ext cx="10467624" cy="197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5591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5AAB2A2E-24B8-486B-1AA3-AA1495BEE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처음에는 편할 수도 있지만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>
                <a:effectLst/>
                <a:latin typeface="+mn-ea"/>
              </a:rPr>
              <a:t>큰 문제를 일으키게 됩니다</a:t>
            </a:r>
            <a:r>
              <a:rPr lang="en-US" altLang="ko-KR" b="0" dirty="0">
                <a:effectLst/>
                <a:latin typeface="+mn-ea"/>
              </a:rPr>
              <a:t>.</a:t>
            </a:r>
            <a:endParaRPr lang="en-US" altLang="ko-KR" dirty="0">
              <a:latin typeface="+mn-ea"/>
            </a:endParaRPr>
          </a:p>
          <a:p>
            <a:r>
              <a:rPr lang="ko-KR" altLang="en-US" b="0" dirty="0">
                <a:effectLst/>
                <a:latin typeface="+mn-ea"/>
              </a:rPr>
              <a:t>지금은 작은 프로그램이라 문제가 없었지만</a:t>
            </a:r>
            <a:r>
              <a:rPr lang="en-US" altLang="ko-KR" b="0" dirty="0">
                <a:effectLst/>
                <a:latin typeface="+mn-ea"/>
              </a:rPr>
              <a:t>, </a:t>
            </a:r>
            <a:r>
              <a:rPr lang="ko-KR" altLang="en-US" b="0" dirty="0">
                <a:effectLst/>
                <a:latin typeface="+mn-ea"/>
              </a:rPr>
              <a:t>프로그램이 더 커진다면 의도하지 않은 중대한 문제를 일으킬 수도 있습니다</a:t>
            </a:r>
            <a:r>
              <a:rPr lang="en-US" altLang="ko-KR" b="0" dirty="0">
                <a:effectLst/>
                <a:latin typeface="+mn-ea"/>
              </a:rPr>
              <a:t>.</a:t>
            </a:r>
          </a:p>
          <a:p>
            <a:pPr lvl="1"/>
            <a:r>
              <a:rPr lang="ko-KR" altLang="en-US" dirty="0">
                <a:latin typeface="+mn-ea"/>
              </a:rPr>
              <a:t>만약</a:t>
            </a:r>
            <a:r>
              <a:rPr lang="en-US" altLang="ko-KR" dirty="0">
                <a:latin typeface="+mn-ea"/>
              </a:rPr>
              <a:t>,</a:t>
            </a:r>
            <a:r>
              <a:rPr lang="en-US" altLang="ko-KR" b="0" dirty="0">
                <a:effectLst/>
                <a:latin typeface="+mn-ea"/>
              </a:rPr>
              <a:t> </a:t>
            </a:r>
            <a:r>
              <a:rPr lang="ko-KR" altLang="en-US" b="0" dirty="0" err="1">
                <a:effectLst/>
                <a:latin typeface="+mn-ea"/>
              </a:rPr>
              <a:t>비트코인</a:t>
            </a:r>
            <a:r>
              <a:rPr lang="ko-KR" altLang="en-US" b="0" dirty="0">
                <a:effectLst/>
                <a:latin typeface="+mn-ea"/>
              </a:rPr>
              <a:t> 거래 사이트라면</a:t>
            </a:r>
            <a:r>
              <a:rPr lang="en-US" altLang="ko-KR" b="0" dirty="0">
                <a:effectLst/>
                <a:latin typeface="+mn-ea"/>
              </a:rPr>
              <a:t>?</a:t>
            </a: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2BDDC3-E475-786E-8D1B-D87E38428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68B029-5553-A2BA-1548-DE4C827E8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B953ABE-5E7F-D621-91A2-9BAF6B82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의 자동 </a:t>
            </a:r>
            <a:r>
              <a:rPr lang="ko-KR" altLang="en-US" dirty="0" err="1"/>
              <a:t>형변환</a:t>
            </a:r>
            <a:r>
              <a:rPr lang="en-US" altLang="ko-KR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05953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23A6786-443F-3370-2126-AED2C8A33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/>
          <a:lstStyle/>
          <a:p>
            <a:r>
              <a:rPr lang="ko-KR" altLang="en-US" b="0" dirty="0">
                <a:effectLst/>
                <a:latin typeface="+mn-ea"/>
              </a:rPr>
              <a:t>자동 형변환에 의존 하지 않고 개발자가 직접 형 변환을 시키는 것</a:t>
            </a:r>
            <a:r>
              <a:rPr lang="en-US" altLang="ko-KR" b="0" dirty="0">
                <a:effectLst/>
                <a:latin typeface="+mn-ea"/>
              </a:rPr>
              <a:t>!</a:t>
            </a:r>
          </a:p>
          <a:p>
            <a:r>
              <a:rPr lang="ko-KR" altLang="en-US" dirty="0">
                <a:latin typeface="+mn-ea"/>
              </a:rPr>
              <a:t>문자로 변환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dirty="0">
                <a:solidFill>
                  <a:srgbClr val="00B050"/>
                </a:solidFill>
                <a:latin typeface="+mn-ea"/>
                <a:sym typeface="Wingdings" panose="05000000000000000000" pitchFamily="2" charset="2"/>
              </a:rPr>
              <a:t>String()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;</a:t>
            </a:r>
          </a:p>
          <a:p>
            <a:r>
              <a:rPr lang="ko-KR" altLang="en-US" dirty="0">
                <a:latin typeface="+mn-ea"/>
                <a:sym typeface="Wingdings" panose="05000000000000000000" pitchFamily="2" charset="2"/>
              </a:rPr>
              <a:t>숫자로 변환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dirty="0">
                <a:solidFill>
                  <a:srgbClr val="00B050"/>
                </a:solidFill>
                <a:latin typeface="+mn-ea"/>
                <a:sym typeface="Wingdings" panose="05000000000000000000" pitchFamily="2" charset="2"/>
              </a:rPr>
              <a:t>Number();</a:t>
            </a:r>
            <a:endParaRPr lang="en-US" altLang="ko-KR" b="0" dirty="0">
              <a:solidFill>
                <a:srgbClr val="00B050"/>
              </a:solidFill>
              <a:effectLst/>
              <a:latin typeface="+mn-ea"/>
            </a:endParaRPr>
          </a:p>
          <a:p>
            <a:endParaRPr lang="en-US" altLang="ko-KR" b="0" dirty="0"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7BACB0B-0278-9C4A-0F64-D2CE4EBE4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BCA814-76A7-4F0F-197C-2D14255C4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C829F0D-A1DF-E03F-A846-BC4E29258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명시적 </a:t>
            </a:r>
            <a:r>
              <a:rPr lang="ko-KR" altLang="en-US" dirty="0" err="1"/>
              <a:t>형변환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CEE2FB-7484-9B52-398E-3577216D8837}"/>
              </a:ext>
            </a:extLst>
          </p:cNvPr>
          <p:cNvSpPr txBox="1"/>
          <p:nvPr/>
        </p:nvSpPr>
        <p:spPr>
          <a:xfrm>
            <a:off x="1147759" y="3185688"/>
            <a:ext cx="6096000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문자 데이터로 변환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123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String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en-US" altLang="ko-KR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숫자 데이터로 변환</a:t>
            </a:r>
            <a:endParaRPr lang="ko-KR" altLang="en-US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typeof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  <a:ea typeface="Kim jung chul Gothic Regular" panose="020B0503000000000000" pitchFamily="34" charset="-127"/>
            </a:endParaRP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abcdefg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0BD6C23-4BFD-2D07-308F-262F8204D9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318" y="3185688"/>
            <a:ext cx="2640225" cy="154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5331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735722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String()</a:t>
            </a:r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 err="1"/>
              <a:t>toString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문자열로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6D3A65B-5821-BC0A-19A5-92328A14B60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9031" b="26011"/>
          <a:stretch/>
        </p:blipFill>
        <p:spPr>
          <a:xfrm>
            <a:off x="3979214" y="1707232"/>
            <a:ext cx="3828356" cy="66878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46E7A1-329E-9F72-BA8E-65C25C1B7A5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8665"/>
          <a:stretch/>
        </p:blipFill>
        <p:spPr>
          <a:xfrm>
            <a:off x="3979213" y="3016119"/>
            <a:ext cx="5258572" cy="1193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6080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2563442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altLang="ko-KR" dirty="0"/>
              <a:t>Number()</a:t>
            </a:r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en-US" altLang="ko-KR" dirty="0" err="1"/>
              <a:t>parseInt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형 변환 </a:t>
            </a:r>
            <a:r>
              <a:rPr lang="en-US" altLang="ko-KR" dirty="0"/>
              <a:t>- </a:t>
            </a:r>
            <a:r>
              <a:rPr lang="ko-KR" altLang="en-US" dirty="0"/>
              <a:t>정수로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81B82B7-F65F-1104-A412-179FA83F7A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7290" y="1825626"/>
            <a:ext cx="5706500" cy="134463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9974B15-3E76-6160-ABD9-3C52AC69C8B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582" t="21453" r="4341" b="15270"/>
          <a:stretch/>
        </p:blipFill>
        <p:spPr>
          <a:xfrm>
            <a:off x="4257290" y="3429000"/>
            <a:ext cx="6271847" cy="98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281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CD33C44-EA48-9F21-9021-11097E932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 </a:t>
            </a:r>
            <a:r>
              <a:rPr lang="en-US" altLang="ko-KR" dirty="0" err="1"/>
              <a:t>mathScore</a:t>
            </a:r>
            <a:r>
              <a:rPr lang="en-US" altLang="ko-KR" dirty="0"/>
              <a:t>, </a:t>
            </a:r>
            <a:r>
              <a:rPr lang="en-US" altLang="ko-KR" dirty="0" err="1"/>
              <a:t>engScore</a:t>
            </a:r>
            <a:r>
              <a:rPr lang="en-US" altLang="ko-KR" dirty="0"/>
              <a:t> </a:t>
            </a:r>
            <a:r>
              <a:rPr lang="ko-KR" altLang="en-US" dirty="0"/>
              <a:t>를 만들어 주세요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mathScore</a:t>
            </a:r>
            <a:r>
              <a:rPr lang="en-US" altLang="ko-KR" dirty="0"/>
              <a:t> = “77”; </a:t>
            </a:r>
            <a:r>
              <a:rPr lang="en-US" altLang="ko-KR" dirty="0" err="1"/>
              <a:t>engScore</a:t>
            </a:r>
            <a:r>
              <a:rPr lang="en-US" altLang="ko-KR" dirty="0"/>
              <a:t> = “88”;</a:t>
            </a:r>
          </a:p>
          <a:p>
            <a:r>
              <a:rPr lang="ko-KR" altLang="en-US" dirty="0"/>
              <a:t>시험 점수 평균을 계산하여 </a:t>
            </a:r>
            <a:r>
              <a:rPr lang="en-US" altLang="ko-KR" dirty="0" err="1"/>
              <a:t>avgScore</a:t>
            </a:r>
            <a:r>
              <a:rPr lang="en-US" altLang="ko-KR" dirty="0"/>
              <a:t> </a:t>
            </a:r>
            <a:r>
              <a:rPr lang="ko-KR" altLang="en-US" dirty="0"/>
              <a:t>에 저장하고</a:t>
            </a:r>
            <a:r>
              <a:rPr lang="en-US" altLang="ko-KR" dirty="0"/>
              <a:t>, </a:t>
            </a:r>
            <a:r>
              <a:rPr lang="ko-KR" altLang="en-US" dirty="0"/>
              <a:t>이를 출력하는 프로그램을 작성하세요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명시적 형 변환을 사용하여 평균 점수가 정확하게 나와야 합니다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74C33E8-D62C-A3CB-C826-589AB5C1A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8AD599-3B8D-51C9-21E6-FFD4DB5A0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F38D62C-2415-8993-42AC-A840BCC13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 err="1"/>
              <a:t>형변환</a:t>
            </a:r>
            <a:r>
              <a:rPr lang="ko-KR" altLang="en-US" dirty="0"/>
              <a:t> 실습</a:t>
            </a:r>
          </a:p>
        </p:txBody>
      </p:sp>
    </p:spTree>
    <p:extLst>
      <p:ext uri="{BB962C8B-B14F-4D97-AF65-F5344CB8AC3E}">
        <p14:creationId xmlns:p14="http://schemas.microsoft.com/office/powerpoint/2010/main" val="39066207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22301B-7253-A2F3-287F-2ABE141CB6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ACF3BEC-2C91-C85F-C800-2246155D5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B470ADA-2DCB-4E89-4CD9-585FD5B93562}"/>
              </a:ext>
            </a:extLst>
          </p:cNvPr>
          <p:cNvSpPr txBox="1">
            <a:spLocks/>
          </p:cNvSpPr>
          <p:nvPr/>
        </p:nvSpPr>
        <p:spPr>
          <a:xfrm>
            <a:off x="2218597" y="2919885"/>
            <a:ext cx="7754805" cy="101822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7200" dirty="0" err="1">
                <a:highlight>
                  <a:srgbClr val="FFFF00"/>
                </a:highlight>
              </a:rPr>
              <a:t>Javascript</a:t>
            </a:r>
            <a:r>
              <a:rPr lang="en-US" altLang="ko-KR" sz="7200" dirty="0">
                <a:highlight>
                  <a:srgbClr val="FFFF00"/>
                </a:highlight>
              </a:rPr>
              <a:t> </a:t>
            </a:r>
            <a:r>
              <a:rPr lang="ko-KR" altLang="en-US" sz="7200" dirty="0">
                <a:highlight>
                  <a:srgbClr val="FFFF00"/>
                </a:highlight>
              </a:rPr>
              <a:t>연산자</a:t>
            </a:r>
          </a:p>
        </p:txBody>
      </p:sp>
    </p:spTree>
    <p:extLst>
      <p:ext uri="{BB962C8B-B14F-4D97-AF65-F5344CB8AC3E}">
        <p14:creationId xmlns:p14="http://schemas.microsoft.com/office/powerpoint/2010/main" val="6895430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D52C80-CF42-D955-B270-CA13638351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0B65A2-CFCD-47FB-B251-07B23B5E1093}" type="datetime6">
              <a:rPr lang="ko-KR" altLang="en-US" smtClean="0"/>
              <a:pPr/>
              <a:t>2024년 5월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ED0816A-E489-1AA4-6B55-4C042776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9072D0-8052-BF84-BF3B-6BAE1CAA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연산자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57D13FF5-2C20-D727-1EE9-FE0992DC4A82}"/>
              </a:ext>
            </a:extLst>
          </p:cNvPr>
          <p:cNvSpPr txBox="1">
            <a:spLocks/>
          </p:cNvSpPr>
          <p:nvPr/>
        </p:nvSpPr>
        <p:spPr>
          <a:xfrm>
            <a:off x="838200" y="155523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3600" dirty="0"/>
              <a:t>대입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=</a:t>
            </a:r>
            <a:r>
              <a:rPr lang="en-US" altLang="ko-KR" sz="3600" dirty="0"/>
              <a:t> </a:t>
            </a:r>
          </a:p>
          <a:p>
            <a:pPr>
              <a:lnSpc>
                <a:spcPct val="150000"/>
              </a:lnSpc>
            </a:pPr>
            <a:r>
              <a:rPr lang="ko-KR" altLang="en-US" sz="3600" dirty="0"/>
              <a:t>산술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+</a:t>
            </a:r>
            <a:r>
              <a:rPr lang="en-US" altLang="ko-KR" sz="3600" dirty="0"/>
              <a:t>, </a:t>
            </a:r>
            <a:r>
              <a:rPr lang="en-US" altLang="ko-KR" sz="3600" b="1" dirty="0"/>
              <a:t>-</a:t>
            </a:r>
            <a:r>
              <a:rPr lang="en-US" altLang="ko-KR" sz="3600" dirty="0"/>
              <a:t>, </a:t>
            </a:r>
            <a:r>
              <a:rPr lang="en-US" altLang="ko-KR" sz="3600" b="1" dirty="0"/>
              <a:t>*</a:t>
            </a:r>
            <a:r>
              <a:rPr lang="en-US" altLang="ko-KR" sz="3600" dirty="0"/>
              <a:t>, </a:t>
            </a:r>
            <a:r>
              <a:rPr lang="en-US" altLang="ko-KR" sz="3600" b="1" dirty="0"/>
              <a:t>/, %</a:t>
            </a:r>
            <a:r>
              <a:rPr lang="en-US" altLang="ko-KR" sz="3600" dirty="0"/>
              <a:t>(</a:t>
            </a:r>
            <a:r>
              <a:rPr lang="ko-KR" altLang="en-US" sz="3600" dirty="0"/>
              <a:t>나머지</a:t>
            </a:r>
            <a:r>
              <a:rPr lang="en-US" altLang="ko-KR" sz="3600" dirty="0"/>
              <a:t>)</a:t>
            </a:r>
            <a:r>
              <a:rPr lang="en-US" altLang="ko-KR" sz="3600" b="1" dirty="0"/>
              <a:t>, **</a:t>
            </a:r>
            <a:r>
              <a:rPr lang="en-US" altLang="ko-KR" sz="3600" dirty="0"/>
              <a:t>(</a:t>
            </a:r>
            <a:r>
              <a:rPr lang="ko-KR" altLang="en-US" sz="3600" dirty="0"/>
              <a:t>거듭제곱</a:t>
            </a:r>
            <a:r>
              <a:rPr lang="en-US" altLang="ko-KR" sz="36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3600" dirty="0"/>
              <a:t>비교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==</a:t>
            </a:r>
            <a:r>
              <a:rPr lang="en-US" altLang="ko-KR" sz="3600" dirty="0"/>
              <a:t>, </a:t>
            </a:r>
            <a:r>
              <a:rPr lang="en-US" altLang="ko-KR" sz="3600" b="1" dirty="0"/>
              <a:t>!=</a:t>
            </a:r>
            <a:r>
              <a:rPr lang="en-US" altLang="ko-KR" sz="3600" dirty="0"/>
              <a:t>, </a:t>
            </a:r>
            <a:r>
              <a:rPr lang="en-US" altLang="ko-KR" sz="3600" b="1" dirty="0"/>
              <a:t>===</a:t>
            </a:r>
            <a:r>
              <a:rPr lang="en-US" altLang="ko-KR" sz="3600" dirty="0"/>
              <a:t>, </a:t>
            </a:r>
            <a:r>
              <a:rPr lang="en-US" altLang="ko-KR" sz="3600" b="1" dirty="0"/>
              <a:t>!===,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&gt;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&gt;=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&lt;</a:t>
            </a:r>
            <a:r>
              <a:rPr lang="en-US" altLang="ko-KR" sz="3600" dirty="0"/>
              <a:t>,</a:t>
            </a:r>
            <a:r>
              <a:rPr lang="ko-KR" altLang="en-US" sz="3600" b="1" dirty="0"/>
              <a:t> </a:t>
            </a:r>
            <a:r>
              <a:rPr lang="en-US" altLang="ko-KR" sz="3600" b="1" dirty="0"/>
              <a:t>&lt;=</a:t>
            </a:r>
            <a:endParaRPr lang="en-US" altLang="ko-KR" sz="3600" dirty="0"/>
          </a:p>
          <a:p>
            <a:pPr>
              <a:lnSpc>
                <a:spcPct val="150000"/>
              </a:lnSpc>
            </a:pPr>
            <a:r>
              <a:rPr lang="ko-KR" altLang="en-US" sz="3600" dirty="0"/>
              <a:t>논리 연산자</a:t>
            </a:r>
            <a:r>
              <a:rPr lang="en-US" altLang="ko-KR" sz="3600" dirty="0"/>
              <a:t>: </a:t>
            </a:r>
            <a:r>
              <a:rPr lang="en-US" altLang="ko-KR" sz="3600" b="1" dirty="0"/>
              <a:t>!</a:t>
            </a:r>
            <a:r>
              <a:rPr lang="en-US" altLang="ko-KR" sz="3600" dirty="0"/>
              <a:t>(not), </a:t>
            </a:r>
            <a:r>
              <a:rPr lang="en-US" altLang="ko-KR" sz="3600" b="1" dirty="0"/>
              <a:t>&amp;&amp;</a:t>
            </a:r>
            <a:r>
              <a:rPr lang="en-US" altLang="ko-KR" sz="3600" dirty="0"/>
              <a:t>(and), </a:t>
            </a:r>
            <a:r>
              <a:rPr lang="en-US" altLang="ko-KR" sz="3600" b="1" dirty="0"/>
              <a:t>||</a:t>
            </a:r>
            <a:r>
              <a:rPr lang="en-US" altLang="ko-KR" sz="3600" dirty="0"/>
              <a:t>(or)</a:t>
            </a:r>
          </a:p>
        </p:txBody>
      </p:sp>
    </p:spTree>
    <p:extLst>
      <p:ext uri="{BB962C8B-B14F-4D97-AF65-F5344CB8AC3E}">
        <p14:creationId xmlns:p14="http://schemas.microsoft.com/office/powerpoint/2010/main" val="32681091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18F7C25-283A-4755-8C2E-69D30C7163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altLang="ko-KR" dirty="0"/>
              <a:t>num = num + 5 </a:t>
            </a:r>
            <a:r>
              <a:rPr lang="ko-KR" altLang="en-US" dirty="0"/>
              <a:t>➡ </a:t>
            </a:r>
            <a:r>
              <a:rPr lang="pt-BR" altLang="ko-KR" dirty="0"/>
              <a:t>num += 5</a:t>
            </a:r>
          </a:p>
          <a:p>
            <a:r>
              <a:rPr lang="pt-BR" altLang="ko-KR" dirty="0"/>
              <a:t>num = num - 5 </a:t>
            </a:r>
            <a:r>
              <a:rPr lang="ko-KR" altLang="en-US" dirty="0"/>
              <a:t>➡</a:t>
            </a:r>
            <a:r>
              <a:rPr lang="pt-BR" altLang="ko-KR" dirty="0"/>
              <a:t> num -= 5</a:t>
            </a:r>
          </a:p>
          <a:p>
            <a:r>
              <a:rPr lang="pt-BR" altLang="ko-KR" dirty="0"/>
              <a:t>num = num * 5 </a:t>
            </a:r>
            <a:r>
              <a:rPr lang="ko-KR" altLang="en-US" dirty="0"/>
              <a:t>➡</a:t>
            </a:r>
            <a:r>
              <a:rPr lang="pt-BR" altLang="ko-KR" dirty="0"/>
              <a:t> num *= 5</a:t>
            </a:r>
          </a:p>
          <a:p>
            <a:r>
              <a:rPr lang="pt-BR" altLang="ko-KR" dirty="0"/>
              <a:t>num = num / 5 </a:t>
            </a:r>
            <a:r>
              <a:rPr lang="ko-KR" altLang="en-US" dirty="0"/>
              <a:t>➡</a:t>
            </a:r>
            <a:r>
              <a:rPr lang="pt-BR" altLang="ko-KR" dirty="0"/>
              <a:t> num /= 5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377ED5C-C1E7-1A75-11F2-6545DD4BF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647807-8C6D-6B84-6E07-53CF71410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67922242-11EC-906B-E639-286BEF5E4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연산자 </a:t>
            </a:r>
            <a:r>
              <a:rPr lang="ko-KR" altLang="en-US" dirty="0" err="1"/>
              <a:t>줄여쓰기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26826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D31B477-9FCB-8621-B6FC-A30417987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++</a:t>
            </a:r>
          </a:p>
          <a:p>
            <a:r>
              <a:rPr lang="en-US" altLang="ko-KR" b="1" dirty="0"/>
              <a:t>--</a:t>
            </a:r>
            <a:endParaRPr lang="ko-KR" altLang="en-US" b="1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B623D-ACF2-963D-110B-1D8666367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92477A-8EA6-A620-43E0-80A6C9E4B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8FC6A91-2088-0756-A50C-7B0FD8011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증가</a:t>
            </a:r>
            <a:r>
              <a:rPr lang="en-US" altLang="ko-KR" dirty="0"/>
              <a:t>, </a:t>
            </a:r>
            <a:r>
              <a:rPr lang="ko-KR" altLang="en-US" dirty="0"/>
              <a:t>감소 연산자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5D057B-DA90-5AEC-0A6A-167BC5C9D7F7}"/>
              </a:ext>
            </a:extLst>
          </p:cNvPr>
          <p:cNvSpPr txBox="1"/>
          <p:nvPr/>
        </p:nvSpPr>
        <p:spPr>
          <a:xfrm>
            <a:off x="1178169" y="3120280"/>
            <a:ext cx="6096000" cy="230832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pt-BR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result1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pt-BR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let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,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10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b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++;</a:t>
            </a:r>
          </a:p>
          <a:p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pt-BR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  <a:p>
            <a:b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</a:b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 = ++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num2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;</a:t>
            </a:r>
          </a:p>
          <a:p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console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.</a:t>
            </a:r>
            <a:r>
              <a:rPr lang="pt-BR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log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(</a:t>
            </a:r>
            <a:r>
              <a:rPr lang="pt-BR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result2</a:t>
            </a:r>
            <a:r>
              <a:rPr lang="pt-BR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34" charset="-127"/>
              </a:rPr>
              <a:t>);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29B69DE-693A-7FFC-E51E-22E9D3A08F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298"/>
          <a:stretch/>
        </p:blipFill>
        <p:spPr>
          <a:xfrm>
            <a:off x="7614138" y="4058946"/>
            <a:ext cx="2008050" cy="136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00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49841AB-3F5E-5A80-DF8D-66AC415503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|| </a:t>
            </a:r>
            <a:r>
              <a:rPr lang="en-US" altLang="ko-KR" dirty="0"/>
              <a:t>(or) : </a:t>
            </a:r>
            <a:r>
              <a:rPr lang="ko-KR" altLang="en-US" dirty="0"/>
              <a:t>여러 개 중 하나라도 </a:t>
            </a:r>
            <a:r>
              <a:rPr lang="en-US" altLang="ko-KR" dirty="0"/>
              <a:t>true </a:t>
            </a:r>
            <a:r>
              <a:rPr lang="ko-KR" altLang="en-US" dirty="0"/>
              <a:t>➡ </a:t>
            </a:r>
            <a:r>
              <a:rPr lang="en-US" altLang="ko-KR" dirty="0"/>
              <a:t>true</a:t>
            </a:r>
          </a:p>
          <a:p>
            <a:r>
              <a:rPr lang="en-US" altLang="ko-KR" b="1" dirty="0"/>
              <a:t>&amp;&amp;</a:t>
            </a:r>
            <a:r>
              <a:rPr lang="en-US" altLang="ko-KR" dirty="0"/>
              <a:t> (and) : </a:t>
            </a:r>
            <a:r>
              <a:rPr lang="ko-KR" altLang="en-US" dirty="0"/>
              <a:t>모든 값이 </a:t>
            </a:r>
            <a:r>
              <a:rPr lang="en-US" altLang="ko-KR" dirty="0"/>
              <a:t>true </a:t>
            </a:r>
            <a:r>
              <a:rPr lang="ko-KR" altLang="en-US" dirty="0"/>
              <a:t>➡ </a:t>
            </a:r>
            <a:r>
              <a:rPr lang="en-US" altLang="ko-KR" dirty="0"/>
              <a:t>true</a:t>
            </a:r>
          </a:p>
          <a:p>
            <a:r>
              <a:rPr lang="en-US" altLang="ko-KR" b="1" dirty="0"/>
              <a:t>!</a:t>
            </a:r>
            <a:r>
              <a:rPr lang="en-US" altLang="ko-KR" dirty="0"/>
              <a:t> (not) : true</a:t>
            </a:r>
            <a:r>
              <a:rPr lang="ko-KR" altLang="en-US" dirty="0"/>
              <a:t> ➡ </a:t>
            </a:r>
            <a:r>
              <a:rPr lang="en-US" altLang="ko-KR" dirty="0"/>
              <a:t>false,</a:t>
            </a:r>
            <a:r>
              <a:rPr lang="ko-KR" altLang="en-US" dirty="0"/>
              <a:t> </a:t>
            </a:r>
            <a:r>
              <a:rPr lang="en-US" altLang="ko-KR" dirty="0"/>
              <a:t>false</a:t>
            </a:r>
            <a:r>
              <a:rPr lang="ko-KR" altLang="en-US" dirty="0"/>
              <a:t> ➡ </a:t>
            </a:r>
            <a:r>
              <a:rPr lang="en-US" altLang="ko-KR" dirty="0"/>
              <a:t>true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F56F99-5A1C-3595-0F41-CB7932B72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120F0-522C-955B-B3FF-53923F03B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2DC5AE3-6430-3C88-A3A2-DC7A3BA25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논리 연산자</a:t>
            </a:r>
          </a:p>
        </p:txBody>
      </p:sp>
    </p:spTree>
    <p:extLst>
      <p:ext uri="{BB962C8B-B14F-4D97-AF65-F5344CB8AC3E}">
        <p14:creationId xmlns:p14="http://schemas.microsoft.com/office/powerpoint/2010/main" val="2129493605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4382</TotalTime>
  <Words>1506</Words>
  <Application>Microsoft Office PowerPoint</Application>
  <PresentationFormat>와이드스크린</PresentationFormat>
  <Paragraphs>349</Paragraphs>
  <Slides>34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0" baseType="lpstr">
      <vt:lpstr>PretendardGOV</vt:lpstr>
      <vt:lpstr>맑은 고딕</vt:lpstr>
      <vt:lpstr>Arial</vt:lpstr>
      <vt:lpstr>Consolas</vt:lpstr>
      <vt:lpstr>Wingdings</vt:lpstr>
      <vt:lpstr>2_Office 테마</vt:lpstr>
      <vt:lpstr>웹 개발자 부트캠프 과정</vt:lpstr>
      <vt:lpstr>JavaScript 자료형</vt:lpstr>
      <vt:lpstr>언어 타입</vt:lpstr>
      <vt:lpstr>언어 타입</vt:lpstr>
      <vt:lpstr>JavaScript 는 느슨한 언어!</vt:lpstr>
      <vt:lpstr>JavaScript 자료형</vt:lpstr>
      <vt:lpstr>자료형</vt:lpstr>
      <vt:lpstr>문자열 String</vt:lpstr>
      <vt:lpstr>문자 + 변수를 동시에 쓰고 싶을 때!</vt:lpstr>
      <vt:lpstr>숫자 Number</vt:lpstr>
      <vt:lpstr>참 거짓 데이터 Boolean</vt:lpstr>
      <vt:lpstr>미할당 데이터 undefined</vt:lpstr>
      <vt:lpstr>빈 데이터 null</vt:lpstr>
      <vt:lpstr>배열 （Array）</vt:lpstr>
      <vt:lpstr>배열 Array</vt:lpstr>
      <vt:lpstr>객체 （object）</vt:lpstr>
      <vt:lpstr>데이터 꾸러미 Object</vt:lpstr>
      <vt:lpstr>실습. JavaScript 자료형 연습하기</vt:lpstr>
      <vt:lpstr>typeof</vt:lpstr>
      <vt:lpstr>자료형을 알려주는 typeof</vt:lpstr>
      <vt:lpstr>자료형 확인하기</vt:lpstr>
      <vt:lpstr>형변환</vt:lpstr>
      <vt:lpstr>성적 평균 구하는 프로그램 만들기</vt:lpstr>
      <vt:lpstr>성적 평균 구하는 프로그램 만들기</vt:lpstr>
      <vt:lpstr>JS의 자동 형변환!</vt:lpstr>
      <vt:lpstr>명시적 형변환</vt:lpstr>
      <vt:lpstr>형 변환 - 문자열로</vt:lpstr>
      <vt:lpstr>형 변환 - 정수로</vt:lpstr>
      <vt:lpstr>실습. 형변환 실습</vt:lpstr>
      <vt:lpstr>PowerPoint 프레젠테이션</vt:lpstr>
      <vt:lpstr>연산자</vt:lpstr>
      <vt:lpstr>연산자 줄여쓰기</vt:lpstr>
      <vt:lpstr>증가, 감소 연산자</vt:lpstr>
      <vt:lpstr>논리 연산자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118</cp:revision>
  <dcterms:created xsi:type="dcterms:W3CDTF">2022-06-26T11:10:22Z</dcterms:created>
  <dcterms:modified xsi:type="dcterms:W3CDTF">2024-05-27T01:59:30Z</dcterms:modified>
</cp:coreProperties>
</file>