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36"/>
  </p:notesMasterIdLst>
  <p:sldIdLst>
    <p:sldId id="675" r:id="rId2"/>
    <p:sldId id="375" r:id="rId3"/>
    <p:sldId id="320" r:id="rId4"/>
    <p:sldId id="365" r:id="rId5"/>
    <p:sldId id="361" r:id="rId6"/>
    <p:sldId id="321" r:id="rId7"/>
    <p:sldId id="359" r:id="rId8"/>
    <p:sldId id="394" r:id="rId9"/>
    <p:sldId id="395" r:id="rId10"/>
    <p:sldId id="396" r:id="rId11"/>
    <p:sldId id="397" r:id="rId12"/>
    <p:sldId id="398" r:id="rId13"/>
    <p:sldId id="399" r:id="rId14"/>
    <p:sldId id="701" r:id="rId15"/>
    <p:sldId id="400" r:id="rId16"/>
    <p:sldId id="702" r:id="rId17"/>
    <p:sldId id="401" r:id="rId18"/>
    <p:sldId id="706" r:id="rId19"/>
    <p:sldId id="403" r:id="rId20"/>
    <p:sldId id="404" r:id="rId21"/>
    <p:sldId id="362" r:id="rId22"/>
    <p:sldId id="405" r:id="rId23"/>
    <p:sldId id="704" r:id="rId24"/>
    <p:sldId id="406" r:id="rId25"/>
    <p:sldId id="407" r:id="rId26"/>
    <p:sldId id="408" r:id="rId27"/>
    <p:sldId id="363" r:id="rId28"/>
    <p:sldId id="364" r:id="rId29"/>
    <p:sldId id="705" r:id="rId30"/>
    <p:sldId id="360" r:id="rId31"/>
    <p:sldId id="358" r:id="rId32"/>
    <p:sldId id="410" r:id="rId33"/>
    <p:sldId id="411" r:id="rId34"/>
    <p:sldId id="412" r:id="rId3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C173"/>
    <a:srgbClr val="F7F6F3"/>
    <a:srgbClr val="F99F2C"/>
    <a:srgbClr val="F9A1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6" autoAdjust="0"/>
    <p:restoredTop sz="72213" autoAdjust="0"/>
  </p:normalViewPr>
  <p:slideViewPr>
    <p:cSldViewPr snapToGrid="0">
      <p:cViewPr varScale="1">
        <p:scale>
          <a:sx n="79" d="100"/>
          <a:sy n="79" d="100"/>
        </p:scale>
        <p:origin x="1020" y="6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217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3F159-7250-4DD4-91C2-13B35D56E1AF}" type="datetimeFigureOut">
              <a:rPr lang="ko-KR" altLang="en-US" smtClean="0"/>
              <a:t>2024-05-27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9E5BFC-1559-42F1-8940-AB342D56B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45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55983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강한 타입 언어와 약한 타입 언어는 프로그래밍 언어에서 변수의 타입 체크가 얼마나 엄격하게 이루어지는지를 나타내는 개념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강한 타입 언어는 타입 변환을 엄격하게 제한</a:t>
            </a:r>
            <a:r>
              <a:rPr lang="en-US" altLang="ko-KR" dirty="0"/>
              <a:t>.</a:t>
            </a:r>
          </a:p>
          <a:p>
            <a:pPr marL="228600" indent="-228600">
              <a:buAutoNum type="arabicPeriod"/>
            </a:pP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약한 타입 언어는 타입 변환을 자유롭게 허용</a:t>
            </a:r>
            <a:r>
              <a:rPr lang="en-US" altLang="ko-KR" dirty="0"/>
              <a:t>. – </a:t>
            </a:r>
            <a:r>
              <a:rPr lang="ko-KR" altLang="en-US" dirty="0"/>
              <a:t>그러면 이게 </a:t>
            </a:r>
            <a:r>
              <a:rPr lang="ko-KR" altLang="en-US" dirty="0" err="1"/>
              <a:t>좋은거</a:t>
            </a:r>
            <a:r>
              <a:rPr lang="ko-KR" altLang="en-US" dirty="0"/>
              <a:t> 아님</a:t>
            </a:r>
            <a:r>
              <a:rPr lang="en-US" altLang="ko-KR" dirty="0"/>
              <a:t>? </a:t>
            </a:r>
          </a:p>
          <a:p>
            <a:pPr marL="0" indent="0">
              <a:buNone/>
            </a:pPr>
            <a:r>
              <a:rPr lang="en-US" altLang="ko-KR" dirty="0"/>
              <a:t>     -&gt; </a:t>
            </a:r>
            <a:r>
              <a:rPr lang="ko-KR" altLang="en-US" dirty="0"/>
              <a:t>편리하지만 오류를 발생시키거나 예기치 않은 동작을 유발 할 수 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비유</a:t>
            </a:r>
            <a:r>
              <a:rPr lang="en-US" altLang="ko-KR" dirty="0"/>
              <a:t>) </a:t>
            </a:r>
            <a:r>
              <a:rPr lang="ko-KR" altLang="en-US" dirty="0"/>
              <a:t>미성년자 금지</a:t>
            </a:r>
            <a:r>
              <a:rPr lang="en-US" altLang="ko-KR" dirty="0"/>
              <a:t>. (</a:t>
            </a:r>
            <a:r>
              <a:rPr lang="ko-KR" altLang="en-US" dirty="0"/>
              <a:t>신분증 검사 </a:t>
            </a:r>
            <a:r>
              <a:rPr lang="ko-KR" altLang="en-US" dirty="0" err="1"/>
              <a:t>안하니까</a:t>
            </a:r>
            <a:r>
              <a:rPr lang="ko-KR" altLang="en-US" dirty="0"/>
              <a:t> 편리함 </a:t>
            </a:r>
            <a:r>
              <a:rPr lang="en-US" altLang="ko-KR" dirty="0"/>
              <a:t>-&gt; </a:t>
            </a:r>
            <a:r>
              <a:rPr lang="ko-KR" altLang="en-US" dirty="0"/>
              <a:t>나중에 걸리면 큰일남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39999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강한 타입 언어 종류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en-US" altLang="ko-KR" dirty="0"/>
              <a:t>Java</a:t>
            </a:r>
          </a:p>
          <a:p>
            <a:pPr marL="685800" lvl="1" indent="-228600">
              <a:buAutoNum type="arabicPeriod"/>
            </a:pPr>
            <a:r>
              <a:rPr lang="en-US" altLang="ko-KR" dirty="0"/>
              <a:t>C#</a:t>
            </a:r>
          </a:p>
          <a:p>
            <a:pPr marL="685800" lvl="1" indent="-228600">
              <a:buAutoNum type="arabicPeriod"/>
            </a:pPr>
            <a:r>
              <a:rPr lang="en-US" altLang="ko-KR" dirty="0"/>
              <a:t>Swift – iOS &amp; macOS</a:t>
            </a:r>
          </a:p>
          <a:p>
            <a:pPr marL="228600" lvl="0" indent="-228600">
              <a:buAutoNum type="arabicPeriod"/>
            </a:pPr>
            <a:r>
              <a:rPr lang="ko-KR" altLang="en-US" dirty="0"/>
              <a:t>약한 타입 언어 종류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en-US" altLang="ko-KR" dirty="0"/>
              <a:t>JS</a:t>
            </a:r>
          </a:p>
          <a:p>
            <a:pPr marL="685800" lvl="1" indent="-228600">
              <a:buAutoNum type="arabicPeriod"/>
            </a:pPr>
            <a:r>
              <a:rPr lang="en-US" altLang="ko-KR" dirty="0"/>
              <a:t>Python</a:t>
            </a:r>
          </a:p>
          <a:p>
            <a:pPr marL="685800" lvl="1" indent="-228600">
              <a:buAutoNum type="arabicPeriod"/>
            </a:pPr>
            <a:r>
              <a:rPr lang="en-US" altLang="ko-KR" dirty="0"/>
              <a:t>PHP</a:t>
            </a:r>
          </a:p>
          <a:p>
            <a:pPr marL="228600" lvl="0" indent="-228600">
              <a:buAutoNum type="arabicPeriod"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20654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 err="1"/>
              <a:t>Js</a:t>
            </a:r>
            <a:r>
              <a:rPr lang="ko-KR" altLang="en-US" b="1" dirty="0"/>
              <a:t>는 변수의 데이터 타입이 명시적으로 선언되지 않고</a:t>
            </a:r>
            <a:r>
              <a:rPr lang="en-US" altLang="ko-KR" b="1" dirty="0"/>
              <a:t>, </a:t>
            </a:r>
            <a:r>
              <a:rPr lang="ko-KR" altLang="en-US" b="1" dirty="0"/>
              <a:t>변수에 할당되는 값에 따라 동적으로 결정된다는 것을 의미</a:t>
            </a:r>
            <a:r>
              <a:rPr lang="en-US" altLang="ko-KR" b="1" dirty="0"/>
              <a:t>.</a:t>
            </a:r>
          </a:p>
          <a:p>
            <a:r>
              <a:rPr lang="ko-KR" altLang="en-US" b="1" dirty="0"/>
              <a:t>유연성을 제공하지만</a:t>
            </a:r>
            <a:r>
              <a:rPr lang="en-US" altLang="ko-KR" b="1" dirty="0"/>
              <a:t>, </a:t>
            </a:r>
            <a:r>
              <a:rPr lang="ko-KR" altLang="en-US" b="1" dirty="0"/>
              <a:t>종종 디버깅이 어렵거나 예기치 않은 결과를 초래함</a:t>
            </a:r>
            <a:r>
              <a:rPr lang="en-US" altLang="ko-KR" b="1" dirty="0"/>
              <a:t>.</a:t>
            </a:r>
          </a:p>
          <a:p>
            <a:endParaRPr lang="en-US" altLang="ko-KR" b="1" dirty="0"/>
          </a:p>
          <a:p>
            <a:endParaRPr lang="en-US" altLang="ko-KR" b="1" dirty="0"/>
          </a:p>
          <a:p>
            <a:r>
              <a:rPr lang="ko-KR" altLang="en-US" b="1" dirty="0"/>
              <a:t>강한 타입</a:t>
            </a:r>
          </a:p>
          <a:p>
            <a:r>
              <a:rPr lang="ko-KR" altLang="en-US" b="1" dirty="0"/>
              <a:t>타입 검사를 통과하지 못한 프로그램이라면</a:t>
            </a:r>
            <a:r>
              <a:rPr lang="en-US" altLang="ko-KR" b="1" dirty="0"/>
              <a:t>, </a:t>
            </a:r>
            <a:r>
              <a:rPr lang="ko-KR" altLang="en-US" b="1" dirty="0"/>
              <a:t>프로그램의 실행 자체를 막는다</a:t>
            </a:r>
            <a:r>
              <a:rPr lang="en-US" altLang="ko-KR" b="1" dirty="0"/>
              <a:t>.</a:t>
            </a:r>
          </a:p>
          <a:p>
            <a:r>
              <a:rPr lang="en-US" altLang="ko-KR" dirty="0"/>
              <a:t>String, int, double </a:t>
            </a:r>
            <a:r>
              <a:rPr lang="ko-KR" altLang="en-US" dirty="0"/>
              <a:t>같이 명확하게 타입을 </a:t>
            </a:r>
            <a:r>
              <a:rPr lang="en-US" altLang="ko-KR" dirty="0"/>
              <a:t>1</a:t>
            </a:r>
            <a:r>
              <a:rPr lang="ko-KR" altLang="en-US" dirty="0"/>
              <a:t>종류만 저장한다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Ex) Java, C, C++ </a:t>
            </a:r>
            <a:r>
              <a:rPr lang="ko-KR" altLang="en-US" dirty="0"/>
              <a:t>등등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  <a:p>
            <a:r>
              <a:rPr lang="ko-KR" altLang="en-US" b="1" dirty="0"/>
              <a:t>약한 타입</a:t>
            </a:r>
          </a:p>
          <a:p>
            <a:r>
              <a:rPr lang="ko-KR" altLang="en-US" dirty="0"/>
              <a:t>런타임에 타입 </a:t>
            </a:r>
            <a:r>
              <a:rPr lang="ko-KR" altLang="en-US" b="1" dirty="0"/>
              <a:t>오류를 만나는 한이 있어도 실행을 막지 않는다</a:t>
            </a:r>
            <a:r>
              <a:rPr lang="en-US" altLang="ko-KR" b="1" dirty="0"/>
              <a:t>.</a:t>
            </a:r>
          </a:p>
          <a:p>
            <a:r>
              <a:rPr lang="en-US" altLang="ko-KR" b="1" dirty="0"/>
              <a:t>*</a:t>
            </a:r>
            <a:r>
              <a:rPr lang="ko-KR" altLang="en-US" b="1" dirty="0"/>
              <a:t>런타임</a:t>
            </a:r>
            <a:r>
              <a:rPr lang="en-US" altLang="ko-KR" b="1" dirty="0"/>
              <a:t>: </a:t>
            </a:r>
            <a:r>
              <a:rPr lang="ko-KR" altLang="en-US" b="1" dirty="0"/>
              <a:t>프로그래밍 실행되고 있는 동작</a:t>
            </a:r>
            <a:endParaRPr lang="en-US" altLang="ko-KR" b="1" dirty="0"/>
          </a:p>
          <a:p>
            <a:r>
              <a:rPr lang="ko-KR" altLang="en-US" dirty="0"/>
              <a:t>타입이 여러 종류인 값들을 상관없이 저장한다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Ex) Python, </a:t>
            </a:r>
            <a:r>
              <a:rPr lang="en-US" altLang="ko-KR" dirty="0" err="1"/>
              <a:t>Javascript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37812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Javascript</a:t>
            </a:r>
            <a:r>
              <a:rPr lang="ko-KR" altLang="en-US" dirty="0"/>
              <a:t>의 자료형은 </a:t>
            </a:r>
            <a:endParaRPr lang="en-US" altLang="ko-KR" dirty="0"/>
          </a:p>
          <a:p>
            <a:r>
              <a:rPr lang="en-US" altLang="ko-KR" dirty="0"/>
              <a:t>Primitive(</a:t>
            </a:r>
            <a:r>
              <a:rPr lang="ko-KR" altLang="en-US" dirty="0"/>
              <a:t>기본형</a:t>
            </a:r>
            <a:r>
              <a:rPr lang="en-US" altLang="ko-KR" dirty="0"/>
              <a:t>)</a:t>
            </a:r>
            <a:r>
              <a:rPr lang="ko-KR" altLang="en-US" dirty="0"/>
              <a:t>과 </a:t>
            </a:r>
            <a:r>
              <a:rPr lang="en-US" altLang="ko-KR" dirty="0"/>
              <a:t>Object(</a:t>
            </a:r>
            <a:r>
              <a:rPr lang="ko-KR" altLang="en-US" dirty="0"/>
              <a:t>객체형</a:t>
            </a:r>
            <a:r>
              <a:rPr lang="en-US" altLang="ko-KR" dirty="0"/>
              <a:t>) </a:t>
            </a:r>
            <a:r>
              <a:rPr lang="ko-KR" altLang="en-US" dirty="0"/>
              <a:t>타입이 존재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객체형을 다른 말로 </a:t>
            </a:r>
            <a:r>
              <a:rPr lang="ko-KR" altLang="en-US" dirty="0" err="1"/>
              <a:t>참조형이라고도</a:t>
            </a:r>
            <a:r>
              <a:rPr lang="ko-KR" altLang="en-US" dirty="0"/>
              <a:t> 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70607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기본형은 데이터를 직접 저장하는 데이터 형태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객체형은 데이터의 참조</a:t>
            </a:r>
            <a:r>
              <a:rPr lang="en-US" altLang="ko-KR" dirty="0"/>
              <a:t>(</a:t>
            </a:r>
            <a:r>
              <a:rPr lang="ko-KR" altLang="en-US" dirty="0"/>
              <a:t>메모리 주소</a:t>
            </a:r>
            <a:r>
              <a:rPr lang="en-US" altLang="ko-KR" dirty="0"/>
              <a:t>)</a:t>
            </a:r>
            <a:r>
              <a:rPr lang="ko-KR" altLang="en-US" dirty="0"/>
              <a:t>를 저장하는 데이터 형태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00038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코드로 먼저 학습 후 돌아와서 복습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55006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12590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여기까지 하고 핑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4863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26889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여러 개의 값을 순서대로 저장하는 데이터 구조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하나의 변수에 여러 개의 값을 저장할 수 있도록 해주며</a:t>
            </a:r>
            <a:r>
              <a:rPr lang="en-US" altLang="ko-KR" dirty="0"/>
              <a:t>, </a:t>
            </a:r>
            <a:r>
              <a:rPr lang="ko-KR" altLang="en-US" dirty="0"/>
              <a:t>각 값을 인덱스를 사용하여 접근할 수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여기까지 하고 코드 치고 다시 </a:t>
            </a:r>
            <a:r>
              <a:rPr lang="ko-KR" altLang="en-US" dirty="0" err="1"/>
              <a:t>ｐｐｔ로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51430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1810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프로그래밍에서 실제 존재하는 개체나 개념을 표현하는 데이터 구조。</a:t>
            </a:r>
            <a:endParaRPr lang="en-US" altLang="ko-KR" dirty="0"/>
          </a:p>
          <a:p>
            <a:r>
              <a:rPr lang="ko-KR" altLang="en-US" dirty="0"/>
              <a:t>객체는 속성과 메서드로 구성되어 있음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배열은 순서가 있지만 객체는 키와 값으로 이루어져 있음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여기까지 하고 코드치기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87708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93594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80748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코드 치기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3527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바로 코드로 직접 쳐보기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91049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Prompt</a:t>
            </a:r>
            <a:r>
              <a:rPr lang="ko-KR" altLang="en-US" dirty="0"/>
              <a:t>는 </a:t>
            </a:r>
            <a:r>
              <a:rPr lang="en-US" altLang="ko-KR" dirty="0" err="1"/>
              <a:t>js</a:t>
            </a:r>
            <a:r>
              <a:rPr lang="ko-KR" altLang="en-US" dirty="0"/>
              <a:t>에서 사용자에게 메시지를 표시하고 사용자로부터 입력을 받는 함수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두가지 매개변수를 받는다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첫번째 매개변수 </a:t>
            </a:r>
            <a:r>
              <a:rPr lang="en-US" altLang="ko-KR" dirty="0"/>
              <a:t>= </a:t>
            </a:r>
            <a:r>
              <a:rPr lang="ko-KR" altLang="en-US" dirty="0"/>
              <a:t>사용자에게 보여줄 메시지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두번째 매개변수 </a:t>
            </a:r>
            <a:r>
              <a:rPr lang="en-US" altLang="ko-KR" dirty="0"/>
              <a:t>= </a:t>
            </a:r>
            <a:r>
              <a:rPr lang="ko-KR" altLang="en-US" dirty="0"/>
              <a:t>선택적으로 입력 필드에 기본값을 설정하는 문자열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// </a:t>
            </a:r>
            <a:r>
              <a:rPr lang="ko-KR" altLang="en-US" dirty="0"/>
              <a:t>실습 풀게 해본다</a:t>
            </a:r>
            <a:r>
              <a:rPr lang="en-US" altLang="ko-KR" dirty="0"/>
              <a:t> &gt; </a:t>
            </a:r>
            <a:r>
              <a:rPr lang="ko-KR" altLang="en-US" dirty="0"/>
              <a:t>핑 </a:t>
            </a:r>
            <a:r>
              <a:rPr lang="en-US" altLang="ko-KR" dirty="0"/>
              <a:t>&gt;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39144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콘솔로 </a:t>
            </a:r>
            <a:r>
              <a:rPr lang="en-US" altLang="ko-KR" dirty="0" err="1"/>
              <a:t>typeof</a:t>
            </a:r>
            <a:r>
              <a:rPr lang="en-US" altLang="ko-KR" dirty="0"/>
              <a:t> </a:t>
            </a:r>
            <a:r>
              <a:rPr lang="ko-KR" altLang="en-US" dirty="0"/>
              <a:t>찍어보기</a:t>
            </a:r>
            <a:r>
              <a:rPr lang="en-US" altLang="ko-KR" dirty="0"/>
              <a:t>. / </a:t>
            </a:r>
            <a:r>
              <a:rPr lang="ko-KR" altLang="en-US" dirty="0"/>
              <a:t>문자로 취급 </a:t>
            </a:r>
            <a:r>
              <a:rPr lang="en-US" altLang="ko-KR" dirty="0"/>
              <a:t>(string)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88339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Why? 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US" altLang="ko-KR" dirty="0"/>
              <a:t>JS</a:t>
            </a:r>
            <a:r>
              <a:rPr lang="ko-KR" altLang="en-US" dirty="0"/>
              <a:t>가 느슨한 언어이기 때문이다</a:t>
            </a:r>
            <a:r>
              <a:rPr lang="en-US" altLang="ko-KR" dirty="0"/>
              <a:t>~!, </a:t>
            </a:r>
            <a:r>
              <a:rPr lang="ko-KR" altLang="en-US" dirty="0"/>
              <a:t>변수가 </a:t>
            </a:r>
            <a:r>
              <a:rPr lang="ko-KR" altLang="en-US" dirty="0" err="1"/>
              <a:t>실행중에</a:t>
            </a:r>
            <a:r>
              <a:rPr lang="ko-KR" altLang="en-US" dirty="0"/>
              <a:t> 자동으로 형식을 결정하는 것</a:t>
            </a:r>
            <a:endParaRPr lang="en-US" altLang="ko-KR" dirty="0"/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US" altLang="ko-KR" dirty="0" err="1"/>
              <a:t>Js</a:t>
            </a:r>
            <a:r>
              <a:rPr lang="ko-KR" altLang="en-US" dirty="0"/>
              <a:t>만의 독특한 특징</a:t>
            </a:r>
            <a:r>
              <a:rPr lang="en-US" altLang="ko-KR" dirty="0"/>
              <a:t>, </a:t>
            </a:r>
            <a:r>
              <a:rPr lang="ko-KR" altLang="en-US" dirty="0"/>
              <a:t>허나 예상치 못한 동작을 초래 할 수 있다</a:t>
            </a:r>
            <a:r>
              <a:rPr lang="en-US" altLang="ko-KR" dirty="0"/>
              <a:t>.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endParaRPr lang="en-US" altLang="ko-KR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ko-KR" altLang="en-US" dirty="0"/>
              <a:t>예시</a:t>
            </a:r>
            <a:r>
              <a:rPr lang="en-US" altLang="ko-KR" dirty="0"/>
              <a:t>) </a:t>
            </a:r>
            <a:r>
              <a:rPr lang="ko-KR" altLang="en-US" dirty="0"/>
              <a:t>실수로 자료형을 다르게 적고 넘어갔는데 그때는 문제없이 잘 진행되다가 </a:t>
            </a:r>
            <a:r>
              <a:rPr lang="ko-KR" altLang="en-US" dirty="0" err="1"/>
              <a:t>다른데서</a:t>
            </a:r>
            <a:r>
              <a:rPr lang="ko-KR" altLang="en-US" dirty="0"/>
              <a:t> 이게 꼬이기 시작하면 힘들다</a:t>
            </a:r>
            <a:r>
              <a:rPr lang="en-US" altLang="ko-KR" dirty="0"/>
              <a:t>.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ko-KR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ko-KR" altLang="en-US" dirty="0"/>
              <a:t>그러면 어떻게 </a:t>
            </a:r>
            <a:r>
              <a:rPr lang="ko-KR" altLang="en-US" dirty="0" err="1"/>
              <a:t>해야하나</a:t>
            </a:r>
            <a:r>
              <a:rPr lang="en-US" altLang="ko-KR" dirty="0"/>
              <a:t>? -&gt; </a:t>
            </a:r>
            <a:r>
              <a:rPr lang="ko-KR" altLang="en-US" dirty="0"/>
              <a:t>다음페이지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13175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개발자가 직접 형 변환을 시켜주는 것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43138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47917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18120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1475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kdt3rd-workspace/04_javascript/</a:t>
            </a:r>
            <a:r>
              <a:rPr lang="en-US" altLang="ko-KR" b="1" dirty="0"/>
              <a:t>index2.html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kdt3rd-workspace/04_javascript/</a:t>
            </a:r>
            <a:r>
              <a:rPr lang="en-US" altLang="ko-KR" b="1" dirty="0"/>
              <a:t>index2.js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167371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바로 </a:t>
            </a:r>
            <a:r>
              <a:rPr lang="ko-KR" altLang="en-US" dirty="0" err="1"/>
              <a:t>코드치러</a:t>
            </a:r>
            <a:r>
              <a:rPr lang="ko-KR" altLang="en-US" dirty="0"/>
              <a:t> </a:t>
            </a:r>
            <a:r>
              <a:rPr lang="ko-KR" altLang="en-US" dirty="0" err="1"/>
              <a:t>ㄲ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884560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17309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8112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080511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rgbClr val="6EC173"/>
                </a:solidFill>
              </a:defRPr>
            </a:lvl1pPr>
          </a:lstStyle>
          <a:p>
            <a:r>
              <a:rPr lang="ko-KR" altLang="en-US" sz="6000" dirty="0" err="1"/>
              <a:t>과정명</a:t>
            </a:r>
            <a:endParaRPr lang="ko-KR" altLang="en-US" sz="6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41092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pic>
        <p:nvPicPr>
          <p:cNvPr id="5" name="그림 4" descr="그래픽, 그래픽 디자인, 클립아트, 다채로움이(가) 표시된 사진&#10;&#10;자동 생성된 설명">
            <a:extLst>
              <a:ext uri="{FF2B5EF4-FFF2-40B4-BE49-F238E27FC236}">
                <a16:creationId xmlns:a16="http://schemas.microsoft.com/office/drawing/2014/main" id="{BE5A577B-81A7-2FA6-9E57-9DCEC5BF71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461146"/>
            <a:ext cx="3600000" cy="365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156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3444484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84D0C3-D33B-7107-AB80-D9F33099C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964962A2-A4D4-9231-66A1-E1F593E6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04475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601C5-2723-67A2-7D21-9F39D14C7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B1E75F-8FF2-A69A-E094-650EAEFD0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31FDEF-673D-E199-7B54-FFD44BA2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7087-D460-46DD-B430-F8D9B9677D08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E7B47C-D16B-1F66-3165-B941B9C61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F13A5C-BE81-C46F-5191-E33C5F0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9669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9A2ED-4026-CEC5-0F77-74287163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5CA756-D15D-464E-966E-2DF9AA979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DC8A21-839F-87B3-9ABB-E0DA07E8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268EA5-E313-8CB5-4A12-914620F47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BA25-D675-4234-A003-8449BDEEF18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797BB-0DAF-A25A-8AC2-46D61F5D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8752A1-1625-10E7-A4F0-2E13719E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0259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7AE7F-26ED-35B6-1BBA-A08CB8E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8D8DD-7148-8B19-6172-B0A169CF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CD1D6-87C8-BD82-7711-368227F17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208518-1B3C-A417-C6AC-99F9C66D1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43F92-B722-06A6-9A56-0A03BE26C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532A15-9ECF-C043-5CC2-911757B5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5C29-A87F-46F0-A24C-6C9F0A4BF6AA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998F67-77F3-1632-EC3C-114B75C5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B6C1BB-6866-2A3B-A1F3-28B5D93C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783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99283-9B12-5339-3042-B6B67884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7E34E6-ECFD-E5F2-081F-39427DA9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DD62-8757-43DB-BAE0-460422B548EA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E04029-E47F-F52E-AF1E-D31E2D40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665754-DE22-245A-A4D5-FE78A35B0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8200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E82391-47AE-B4C0-C4C4-22E5D963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871B-4800-495F-AC75-93D44C7DEBA5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9BF5EA-4922-4594-BC0D-A1D7F17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BF1BF-296A-E655-349A-1877369A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7649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94360-95AE-5B28-BF6B-21268060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D97E12-A7FB-C81A-18C2-34781A068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39CAA1-90A7-601C-BD90-A0DC6A391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885FF0-6BE8-F11D-CDAC-7E7B63F3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5888-30A6-49BB-95E2-DEAE4E5B09E9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A67A35-AF67-BDC9-86E1-D6EE283B8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C23707-35CC-08DC-8C13-06293DE5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3660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BD7A00-094E-C3F9-1A07-8FD90B7C9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E9F136-9A64-0D06-F721-734E1E224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C3BE40-4202-4B4A-C8A7-24945AC6E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D21BA2-CA17-A4B0-BBDD-B3995CC8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39A32-5728-48B8-9F9C-437D214CCAF1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5E2437-D7E8-6CA8-856B-7C81E4CF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00DA3E-B239-6A01-347D-5321CBE9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8674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8DC3B4-86CF-2498-CC6E-A256E4AA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E0FE57-EEBD-DC2E-5AAA-A425A6D59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0A4B4C-46E0-9C94-5EAC-7237CB6A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C8BA-EBCB-4BF9-8E87-970CE0138376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6647A-6FF5-9F90-2812-CADD4840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AE80C-7F7A-130E-8BD8-5BA97658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6441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58AC244-4A84-09D3-50FB-F934F9F47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3D64C9-D76D-C43E-C82B-A315CE73F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0D0D7C-1A4D-433C-79F6-2C0633D1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FA6E-4699-4AC6-B2CB-4E60A58ED7A8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3F9A77-28DF-C409-13B2-D20C80BB4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466F88-F4F1-E00D-DC2A-8DBEA270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4412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7DE65-2350-3072-3D26-AE091FE723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7971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1C14A-5735-4A8B-B68B-DEC1DC2A3813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60F7DA-0F14-8211-C3E8-B6E466EE4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DDAAB-9487-BAAF-7209-B8E704131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797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6EC173"/>
          </a:solidFill>
          <a:ln>
            <a:solidFill>
              <a:srgbClr val="6EC1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 descr="그래픽, 그래픽 디자인, 폰트, 원이(가) 표시된 사진&#10;&#10;자동 생성된 설명">
            <a:extLst>
              <a:ext uri="{FF2B5EF4-FFF2-40B4-BE49-F238E27FC236}">
                <a16:creationId xmlns:a16="http://schemas.microsoft.com/office/drawing/2014/main" id="{0EB71D7B-83F1-1414-954A-8C79751B7793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5681" y="96056"/>
            <a:ext cx="1260000" cy="27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506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웹 개발자 부트캠프 과정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err="1"/>
              <a:t>CodingOn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3790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8000" dirty="0"/>
              <a:t>JavaScript </a:t>
            </a:r>
            <a:r>
              <a:rPr lang="ko-KR" altLang="en-US" sz="8000" dirty="0" err="1"/>
              <a:t>자료형</a:t>
            </a:r>
            <a:endParaRPr lang="ko-KR" altLang="en-US" sz="8000" dirty="0"/>
          </a:p>
        </p:txBody>
      </p:sp>
    </p:spTree>
    <p:extLst>
      <p:ext uri="{BB962C8B-B14F-4D97-AF65-F5344CB8AC3E}">
        <p14:creationId xmlns:p14="http://schemas.microsoft.com/office/powerpoint/2010/main" val="2052589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2B7D85-874F-952F-CA6D-BB5C81F1E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b="1" dirty="0"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강한</a:t>
            </a:r>
            <a:r>
              <a:rPr lang="ko-KR" altLang="en-US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타입 언어</a:t>
            </a:r>
            <a:endParaRPr lang="en-US" altLang="ko-KR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ko-KR" altLang="en-US" dirty="0"/>
              <a:t>타입 검사를 통과하지 못한다면 실행 자체가 안 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	String, int, double </a:t>
            </a:r>
            <a:r>
              <a:rPr lang="ko-KR" altLang="en-US" dirty="0"/>
              <a:t>등처럼 타입을 </a:t>
            </a:r>
            <a:r>
              <a:rPr lang="en-US" altLang="ko-KR" dirty="0"/>
              <a:t>1</a:t>
            </a:r>
            <a:r>
              <a:rPr lang="ko-KR" altLang="en-US" dirty="0"/>
              <a:t>종류로 명확히 지정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b="1" dirty="0">
                <a:solidFill>
                  <a:srgbClr val="00B05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약한</a:t>
            </a:r>
            <a:r>
              <a:rPr lang="ko-KR" altLang="en-US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타입 언어</a:t>
            </a:r>
            <a:endParaRPr lang="en-US" altLang="ko-KR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ko-KR" altLang="en-US" dirty="0"/>
              <a:t>런타임에서 타입 오류를 만나더라도 실행을 막지 않는다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ko-KR" altLang="en-US" dirty="0"/>
              <a:t>타입이 여러 종류인 값들이 상관없이 지정된다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46936F-9EAE-6400-2CC3-66B967FCD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2024-05-27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0267A6B-E266-25BD-4D0B-14B40A8B4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DDF478E-D774-DE90-8BAF-58EA59759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언어 타입</a:t>
            </a:r>
          </a:p>
        </p:txBody>
      </p:sp>
    </p:spTree>
    <p:extLst>
      <p:ext uri="{BB962C8B-B14F-4D97-AF65-F5344CB8AC3E}">
        <p14:creationId xmlns:p14="http://schemas.microsoft.com/office/powerpoint/2010/main" val="1714757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46936F-9EAE-6400-2CC3-66B967FCD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2024-05-27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0267A6B-E266-25BD-4D0B-14B40A8B4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DDF478E-D774-DE90-8BAF-58EA59759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언어 타입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D51FA29-9734-394E-6146-CD56CCE6D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188" y="2384508"/>
            <a:ext cx="9428658" cy="2088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863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2024년 5월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 </a:t>
            </a:r>
            <a:r>
              <a:rPr lang="ko-KR" altLang="en-US" dirty="0"/>
              <a:t>는 느슨한 언어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57D13FF5-2C20-D727-1EE9-FE0992DC4A82}"/>
              </a:ext>
            </a:extLst>
          </p:cNvPr>
          <p:cNvSpPr txBox="1">
            <a:spLocks/>
          </p:cNvSpPr>
          <p:nvPr/>
        </p:nvSpPr>
        <p:spPr>
          <a:xfrm>
            <a:off x="202131" y="1555238"/>
            <a:ext cx="11579191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3200" dirty="0" err="1"/>
              <a:t>Javascript</a:t>
            </a:r>
            <a:r>
              <a:rPr lang="ko-KR" altLang="en-US" sz="3200" dirty="0"/>
              <a:t>는 데이터 종류와 관계 없이 </a:t>
            </a:r>
            <a:r>
              <a:rPr lang="en-US" altLang="ko-KR" sz="3200" dirty="0"/>
              <a:t>var, let, const </a:t>
            </a:r>
            <a:r>
              <a:rPr lang="ko-KR" altLang="en-US" sz="3200" dirty="0"/>
              <a:t>키워드로 변수를 선언하고 사용함</a:t>
            </a:r>
            <a:r>
              <a:rPr lang="en-US" altLang="ko-KR" sz="3200" dirty="0"/>
              <a:t>! =&gt; </a:t>
            </a:r>
            <a:r>
              <a:rPr lang="ko-KR" altLang="en-US" sz="3200" dirty="0"/>
              <a:t>약한 타입 언어</a:t>
            </a:r>
            <a:endParaRPr lang="en-US" altLang="ko-KR" sz="32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3200" dirty="0"/>
          </a:p>
          <a:p>
            <a:pPr>
              <a:lnSpc>
                <a:spcPct val="150000"/>
              </a:lnSpc>
            </a:pPr>
            <a:r>
              <a:rPr lang="ko-KR" altLang="en-US" sz="3200" dirty="0"/>
              <a:t>강한 타입 언어들은 변수를 선언할 때 명확하게 타입을 </a:t>
            </a:r>
            <a:r>
              <a:rPr lang="en-US" altLang="ko-KR" sz="3200" dirty="0"/>
              <a:t>1</a:t>
            </a:r>
            <a:r>
              <a:rPr lang="ko-KR" altLang="en-US" sz="3200" dirty="0"/>
              <a:t>종류만 </a:t>
            </a:r>
            <a:endParaRPr lang="en-US" altLang="ko-KR" sz="32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3200" dirty="0"/>
              <a:t>  </a:t>
            </a:r>
            <a:r>
              <a:rPr lang="ko-KR" altLang="en-US" sz="3200" dirty="0"/>
              <a:t>지정함</a:t>
            </a:r>
            <a:r>
              <a:rPr lang="en-US" altLang="ko-KR" sz="3200" dirty="0"/>
              <a:t>!</a:t>
            </a:r>
          </a:p>
          <a:p>
            <a:pPr lvl="1">
              <a:lnSpc>
                <a:spcPct val="150000"/>
              </a:lnSpc>
            </a:pPr>
            <a:r>
              <a:rPr lang="en-US" altLang="ko-KR" sz="2800" dirty="0"/>
              <a:t>ex. JAVA, C, C++ </a:t>
            </a:r>
          </a:p>
        </p:txBody>
      </p:sp>
    </p:spTree>
    <p:extLst>
      <p:ext uri="{BB962C8B-B14F-4D97-AF65-F5344CB8AC3E}">
        <p14:creationId xmlns:p14="http://schemas.microsoft.com/office/powerpoint/2010/main" val="2970408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744276-5C6F-AD8B-9F61-9B2A520D86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12E7352-FB36-4681-B691-48A912BAC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AB12D32-4144-5D6A-1E9C-7EB121AB3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 </a:t>
            </a:r>
            <a:r>
              <a:rPr lang="ko-KR" altLang="en-US" dirty="0"/>
              <a:t>자료형</a:t>
            </a:r>
          </a:p>
        </p:txBody>
      </p:sp>
      <p:sp>
        <p:nvSpPr>
          <p:cNvPr id="6" name="순서도: 대체 처리 5">
            <a:extLst>
              <a:ext uri="{FF2B5EF4-FFF2-40B4-BE49-F238E27FC236}">
                <a16:creationId xmlns:a16="http://schemas.microsoft.com/office/drawing/2014/main" id="{C8ADAF6B-E2E4-3104-0C92-65F1ADDA3C45}"/>
              </a:ext>
            </a:extLst>
          </p:cNvPr>
          <p:cNvSpPr/>
          <p:nvPr/>
        </p:nvSpPr>
        <p:spPr>
          <a:xfrm>
            <a:off x="1371600" y="2538663"/>
            <a:ext cx="3769894" cy="1780674"/>
          </a:xfrm>
          <a:prstGeom prst="flowChartAlternateProcess">
            <a:avLst/>
          </a:prstGeom>
          <a:ln w="762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600" dirty="0"/>
              <a:t>Primitive </a:t>
            </a:r>
            <a:r>
              <a:rPr lang="ko-KR" altLang="en-US" sz="3600" dirty="0"/>
              <a:t>자료형</a:t>
            </a:r>
          </a:p>
        </p:txBody>
      </p:sp>
      <p:sp>
        <p:nvSpPr>
          <p:cNvPr id="7" name="순서도: 대체 처리 6">
            <a:extLst>
              <a:ext uri="{FF2B5EF4-FFF2-40B4-BE49-F238E27FC236}">
                <a16:creationId xmlns:a16="http://schemas.microsoft.com/office/drawing/2014/main" id="{9E8F4A16-A580-8598-445C-BE56538BEF63}"/>
              </a:ext>
            </a:extLst>
          </p:cNvPr>
          <p:cNvSpPr/>
          <p:nvPr/>
        </p:nvSpPr>
        <p:spPr>
          <a:xfrm>
            <a:off x="6874042" y="2538663"/>
            <a:ext cx="3769894" cy="1780674"/>
          </a:xfrm>
          <a:prstGeom prst="flowChartAlternateProcess">
            <a:avLst/>
          </a:prstGeom>
          <a:ln w="762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600" dirty="0"/>
              <a:t>Object </a:t>
            </a:r>
            <a:r>
              <a:rPr lang="ko-KR" altLang="en-US" sz="3600" dirty="0"/>
              <a:t>자료형</a:t>
            </a:r>
          </a:p>
        </p:txBody>
      </p:sp>
    </p:spTree>
    <p:extLst>
      <p:ext uri="{BB962C8B-B14F-4D97-AF65-F5344CB8AC3E}">
        <p14:creationId xmlns:p14="http://schemas.microsoft.com/office/powerpoint/2010/main" val="861625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2024년 5월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자료형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57D13FF5-2C20-D727-1EE9-FE0992DC4A82}"/>
              </a:ext>
            </a:extLst>
          </p:cNvPr>
          <p:cNvSpPr txBox="1">
            <a:spLocks/>
          </p:cNvSpPr>
          <p:nvPr/>
        </p:nvSpPr>
        <p:spPr>
          <a:xfrm>
            <a:off x="838200" y="1555238"/>
            <a:ext cx="461870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3600" dirty="0"/>
              <a:t>기본형 </a:t>
            </a:r>
            <a:r>
              <a:rPr lang="en-US" altLang="ko-KR" sz="3600" dirty="0"/>
              <a:t>(Primitive)</a:t>
            </a:r>
          </a:p>
          <a:p>
            <a:pPr marL="0" indent="0">
              <a:buNone/>
            </a:pPr>
            <a:endParaRPr lang="en-US" altLang="ko-KR" sz="1100" dirty="0"/>
          </a:p>
          <a:p>
            <a:pPr lvl="1"/>
            <a:r>
              <a:rPr lang="en-US" altLang="ko-KR" sz="3200" dirty="0"/>
              <a:t>string</a:t>
            </a:r>
          </a:p>
          <a:p>
            <a:pPr lvl="1"/>
            <a:r>
              <a:rPr lang="en-US" altLang="ko-KR" sz="3200" dirty="0"/>
              <a:t>number</a:t>
            </a:r>
          </a:p>
          <a:p>
            <a:pPr lvl="1"/>
            <a:r>
              <a:rPr lang="en-US" altLang="ko-KR" sz="3200" dirty="0" err="1"/>
              <a:t>boolean</a:t>
            </a:r>
            <a:endParaRPr lang="en-US" altLang="ko-KR" sz="3200" dirty="0"/>
          </a:p>
          <a:p>
            <a:pPr lvl="1"/>
            <a:r>
              <a:rPr lang="en-US" altLang="ko-KR" sz="3200" dirty="0"/>
              <a:t>null</a:t>
            </a:r>
          </a:p>
          <a:p>
            <a:pPr lvl="1"/>
            <a:r>
              <a:rPr lang="en-US" altLang="ko-KR" sz="3200" dirty="0"/>
              <a:t>undefined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33BD6E-430F-7B18-E5DC-0B72932C76D9}"/>
              </a:ext>
            </a:extLst>
          </p:cNvPr>
          <p:cNvSpPr txBox="1">
            <a:spLocks/>
          </p:cNvSpPr>
          <p:nvPr/>
        </p:nvSpPr>
        <p:spPr>
          <a:xfrm>
            <a:off x="6096000" y="1555238"/>
            <a:ext cx="566338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3600" dirty="0"/>
              <a:t>객체 </a:t>
            </a:r>
            <a:r>
              <a:rPr lang="en-US" altLang="ko-KR" sz="3600" dirty="0"/>
              <a:t>(Object)</a:t>
            </a:r>
          </a:p>
          <a:p>
            <a:pPr marL="0" indent="0">
              <a:buNone/>
            </a:pPr>
            <a:endParaRPr lang="en-US" altLang="ko-KR" sz="1100" dirty="0"/>
          </a:p>
          <a:p>
            <a:pPr lvl="1"/>
            <a:r>
              <a:rPr lang="ko-KR" altLang="en-US" sz="3200" dirty="0"/>
              <a:t>기본형이 아닌 것은 모두 객체</a:t>
            </a:r>
            <a:endParaRPr lang="en-US" altLang="ko-KR" sz="3200" dirty="0"/>
          </a:p>
        </p:txBody>
      </p:sp>
    </p:spTree>
    <p:extLst>
      <p:ext uri="{BB962C8B-B14F-4D97-AF65-F5344CB8AC3E}">
        <p14:creationId xmlns:p14="http://schemas.microsoft.com/office/powerpoint/2010/main" val="1273939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문자열 </a:t>
            </a:r>
            <a:r>
              <a:rPr lang="en-US" altLang="ko-KR" dirty="0"/>
              <a:t>String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355" y="2178979"/>
            <a:ext cx="9005935" cy="30085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56864" y="2789110"/>
            <a:ext cx="22115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dirty="0">
              <a:solidFill>
                <a:srgbClr val="6A9955"/>
              </a:solidFill>
              <a:latin typeface="+mn-ea"/>
            </a:endParaRPr>
          </a:p>
          <a:p>
            <a:r>
              <a:rPr lang="en-US" altLang="ko-KR" dirty="0">
                <a:solidFill>
                  <a:srgbClr val="6A9955"/>
                </a:solidFill>
                <a:latin typeface="+mn-ea"/>
              </a:rPr>
              <a:t>String </a:t>
            </a:r>
            <a:r>
              <a:rPr lang="ko-KR" altLang="en-US" dirty="0">
                <a:solidFill>
                  <a:srgbClr val="6A9955"/>
                </a:solidFill>
                <a:latin typeface="+mn-ea"/>
              </a:rPr>
              <a:t>문자형 데이터</a:t>
            </a:r>
            <a:endParaRPr lang="ko-KR" altLang="en-US" dirty="0">
              <a:solidFill>
                <a:srgbClr val="D4D4D4"/>
              </a:solidFill>
              <a:latin typeface="+mn-ea"/>
            </a:endParaRPr>
          </a:p>
          <a:p>
            <a:r>
              <a:rPr lang="ko-KR" altLang="en-US" b="1" dirty="0">
                <a:solidFill>
                  <a:srgbClr val="6A9955"/>
                </a:solidFill>
                <a:latin typeface="+mn-ea"/>
              </a:rPr>
              <a:t>따옴표</a:t>
            </a:r>
            <a:r>
              <a:rPr lang="ko-KR" altLang="en-US" dirty="0">
                <a:solidFill>
                  <a:srgbClr val="6A9955"/>
                </a:solidFill>
                <a:latin typeface="+mn-ea"/>
              </a:rPr>
              <a:t>를 사용</a:t>
            </a:r>
            <a:endParaRPr lang="ko-KR" altLang="en-US" dirty="0">
              <a:solidFill>
                <a:srgbClr val="D4D4D4"/>
              </a:solidFill>
              <a:latin typeface="+mn-ea"/>
            </a:endParaRPr>
          </a:p>
          <a:p>
            <a:endParaRPr lang="ko-KR" altLang="en-US" dirty="0">
              <a:latin typeface="+mn-ea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2322" y="4863197"/>
            <a:ext cx="5905500" cy="11049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54990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메소드의</a:t>
            </a:r>
            <a:r>
              <a:rPr lang="ko-KR" altLang="en-US" dirty="0"/>
              <a:t> 매개 변수로 넣어서 사용</a:t>
            </a:r>
          </a:p>
          <a:p>
            <a:pPr lvl="1"/>
            <a:r>
              <a:rPr lang="en-US" altLang="ko-KR" dirty="0"/>
              <a:t>console.log(“</a:t>
            </a:r>
            <a:r>
              <a:rPr lang="ko-KR" altLang="en-US" dirty="0"/>
              <a:t>문자”</a:t>
            </a:r>
            <a:r>
              <a:rPr lang="en-US" altLang="ko-KR" dirty="0"/>
              <a:t>, </a:t>
            </a:r>
            <a:r>
              <a:rPr lang="ko-KR" altLang="en-US" dirty="0"/>
              <a:t>변수</a:t>
            </a:r>
            <a:r>
              <a:rPr lang="en-US" altLang="ko-KR" dirty="0"/>
              <a:t>, “</a:t>
            </a:r>
            <a:r>
              <a:rPr lang="ko-KR" altLang="en-US" dirty="0"/>
              <a:t>문자”</a:t>
            </a:r>
            <a:r>
              <a:rPr lang="en-US" altLang="ko-KR" dirty="0"/>
              <a:t>);</a:t>
            </a:r>
          </a:p>
          <a:p>
            <a:endParaRPr lang="en-US" altLang="ko-KR" dirty="0"/>
          </a:p>
          <a:p>
            <a:r>
              <a:rPr lang="en-US" altLang="ko-KR" dirty="0"/>
              <a:t>+ </a:t>
            </a:r>
            <a:r>
              <a:rPr lang="ko-KR" altLang="en-US" dirty="0"/>
              <a:t>연산자를 사용해서 변수를 문자로 변환 후 더하여 사용</a:t>
            </a:r>
          </a:p>
          <a:p>
            <a:pPr lvl="1"/>
            <a:r>
              <a:rPr lang="en-US" altLang="ko-KR" dirty="0"/>
              <a:t>console.log(“</a:t>
            </a:r>
            <a:r>
              <a:rPr lang="ko-KR" altLang="en-US" dirty="0"/>
              <a:t>문자” </a:t>
            </a:r>
            <a:r>
              <a:rPr lang="en-US" altLang="ko-KR" dirty="0"/>
              <a:t>+ </a:t>
            </a:r>
            <a:r>
              <a:rPr lang="ko-KR" altLang="en-US" dirty="0"/>
              <a:t>변수 </a:t>
            </a:r>
            <a:r>
              <a:rPr lang="en-US" altLang="ko-KR" dirty="0"/>
              <a:t>+ “</a:t>
            </a:r>
            <a:r>
              <a:rPr lang="ko-KR" altLang="en-US" dirty="0"/>
              <a:t>문자”</a:t>
            </a:r>
            <a:r>
              <a:rPr lang="en-US" altLang="ko-KR" dirty="0"/>
              <a:t>);</a:t>
            </a:r>
          </a:p>
          <a:p>
            <a:endParaRPr lang="en-US" altLang="ko-KR" dirty="0"/>
          </a:p>
          <a:p>
            <a:r>
              <a:rPr lang="ko-KR" altLang="en-US" dirty="0" err="1"/>
              <a:t>백틱</a:t>
            </a:r>
            <a:r>
              <a:rPr lang="ko-KR" altLang="en-US" dirty="0"/>
              <a:t> 문자 사용</a:t>
            </a:r>
          </a:p>
          <a:p>
            <a:pPr lvl="1"/>
            <a:r>
              <a:rPr lang="en-US" altLang="ko-KR" dirty="0"/>
              <a:t>`</a:t>
            </a:r>
            <a:r>
              <a:rPr lang="ko-KR" altLang="en-US" dirty="0"/>
              <a:t>문자를 쓰다가 변수를 쓰고 싶으면 </a:t>
            </a:r>
            <a:r>
              <a:rPr lang="en-US" altLang="ko-KR" dirty="0"/>
              <a:t>${variable} </a:t>
            </a:r>
            <a:r>
              <a:rPr lang="ko-KR" altLang="en-US" dirty="0"/>
              <a:t>처럼 쓰면 됩니다</a:t>
            </a:r>
            <a:r>
              <a:rPr lang="en-US" altLang="ko-KR" dirty="0"/>
              <a:t>`</a:t>
            </a: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문자</a:t>
            </a:r>
            <a:r>
              <a:rPr lang="en-US" altLang="ko-KR" dirty="0"/>
              <a:t> + </a:t>
            </a:r>
            <a:r>
              <a:rPr lang="ko-KR" altLang="en-US" dirty="0"/>
              <a:t>변수를 동시에 쓰고 싶을 때</a:t>
            </a:r>
            <a:r>
              <a:rPr lang="en-US" altLang="ko-KR" dirty="0"/>
              <a:t>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590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숫자 </a:t>
            </a:r>
            <a:r>
              <a:rPr lang="en-US" altLang="ko-KR" dirty="0"/>
              <a:t>Number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CF57D2-A039-AD3B-96D2-8559F7FBFBC4}"/>
              </a:ext>
            </a:extLst>
          </p:cNvPr>
          <p:cNvSpPr txBox="1"/>
          <p:nvPr/>
        </p:nvSpPr>
        <p:spPr>
          <a:xfrm>
            <a:off x="1277738" y="1988988"/>
            <a:ext cx="6094428" cy="258532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endParaRPr lang="en-US" altLang="ko-KR" b="0" dirty="0">
              <a:solidFill>
                <a:srgbClr val="6A9955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Number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숫자형 데이터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정수 및 소수점 숫자를 나타냄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number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123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opacity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0.7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number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opacity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159" y="4907588"/>
            <a:ext cx="5829300" cy="39052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58300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</a:t>
            </a:r>
            <a:r>
              <a:rPr lang="en-US" altLang="ko-KR" dirty="0"/>
              <a:t> </a:t>
            </a:r>
            <a:r>
              <a:rPr lang="ko-KR" altLang="en-US" dirty="0"/>
              <a:t>거짓 데이터 </a:t>
            </a:r>
            <a:r>
              <a:rPr lang="en-US" altLang="ko-KR" dirty="0"/>
              <a:t>Boolean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B6516A-6A13-986C-B07A-5571049E64FF}"/>
              </a:ext>
            </a:extLst>
          </p:cNvPr>
          <p:cNvSpPr txBox="1"/>
          <p:nvPr/>
        </p:nvSpPr>
        <p:spPr>
          <a:xfrm>
            <a:off x="661078" y="2041943"/>
            <a:ext cx="6094428" cy="258532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endParaRPr lang="en-US" altLang="ko-KR" b="0" dirty="0">
              <a:solidFill>
                <a:srgbClr val="6A9955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Boolean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참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거짓 데이터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true, false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두 가지 값만 가지는 데이터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checked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true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isShow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false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checked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isShow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707" y="4537983"/>
            <a:ext cx="10851530" cy="68040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547453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미할당</a:t>
            </a:r>
            <a:r>
              <a:rPr lang="ko-KR" altLang="en-US" dirty="0"/>
              <a:t> 데이터 </a:t>
            </a:r>
            <a:r>
              <a:rPr lang="en-US" altLang="ko-KR" dirty="0"/>
              <a:t>undefined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983155-F799-0937-A9A9-96F9AB2F11E1}"/>
              </a:ext>
            </a:extLst>
          </p:cNvPr>
          <p:cNvSpPr txBox="1"/>
          <p:nvPr/>
        </p:nvSpPr>
        <p:spPr>
          <a:xfrm>
            <a:off x="731076" y="1480044"/>
            <a:ext cx="6094428" cy="341632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endParaRPr lang="en-US" altLang="ko-KR" b="0" dirty="0">
              <a:solidFill>
                <a:srgbClr val="6A9955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</a:t>
            </a:r>
            <a:r>
              <a:rPr lang="en-US" altLang="ko-K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Undifined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값이 할당되지 않은 상태를 표기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undef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obj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abc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123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undef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obj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abc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obj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efg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032" y="4741414"/>
            <a:ext cx="9636943" cy="94662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97830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빈</a:t>
            </a:r>
            <a:r>
              <a:rPr lang="en-US" altLang="ko-KR" dirty="0"/>
              <a:t> </a:t>
            </a:r>
            <a:r>
              <a:rPr lang="ko-KR" altLang="en-US" dirty="0"/>
              <a:t>데이터 </a:t>
            </a:r>
            <a:r>
              <a:rPr lang="en-US" altLang="ko-KR" dirty="0"/>
              <a:t>null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143D18-33A6-F5EE-203F-27284B118FF4}"/>
              </a:ext>
            </a:extLst>
          </p:cNvPr>
          <p:cNvSpPr txBox="1"/>
          <p:nvPr/>
        </p:nvSpPr>
        <p:spPr>
          <a:xfrm>
            <a:off x="838200" y="2739999"/>
            <a:ext cx="6492711" cy="203132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endParaRPr lang="en-US" altLang="ko-KR" b="0" dirty="0">
              <a:solidFill>
                <a:srgbClr val="6A9955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Null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어떤 값이 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의도적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으로 비어 있음을 의미할 때 사용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ko-KR" alt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empty</a:t>
            </a:r>
            <a:r>
              <a:rPr lang="ko-KR" alt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=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null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empty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6265" y="3981001"/>
            <a:ext cx="7186564" cy="51861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00133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BDFA10-ECF7-38FE-C364-618B7085F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EAC1192-3240-5090-C940-3FE8EE2E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5DC42BC-3382-7592-84ED-A0A40D69B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</a:t>
            </a:r>
            <a:br>
              <a:rPr lang="en-US" altLang="ko-KR" dirty="0"/>
            </a:br>
            <a:r>
              <a:rPr lang="ko-KR" altLang="en-US" dirty="0"/>
              <a:t>（</a:t>
            </a:r>
            <a:r>
              <a:rPr lang="en-US" altLang="ko-KR"/>
              <a:t>Array</a:t>
            </a:r>
            <a:r>
              <a:rPr lang="ko-KR" altLang="en-US"/>
              <a:t>）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562570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</a:t>
            </a:r>
            <a:r>
              <a:rPr lang="en-US" altLang="ko-KR" dirty="0"/>
              <a:t> Array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CA7A16-8B23-1325-C53C-13327683712D}"/>
              </a:ext>
            </a:extLst>
          </p:cNvPr>
          <p:cNvSpPr txBox="1"/>
          <p:nvPr/>
        </p:nvSpPr>
        <p:spPr>
          <a:xfrm>
            <a:off x="580303" y="1501322"/>
            <a:ext cx="7746476" cy="203132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endParaRPr lang="en-US" altLang="ko-KR" b="0" dirty="0">
              <a:solidFill>
                <a:srgbClr val="6A9955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Array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배열 데이터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여러 데이터를 순차적으로 저장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fruits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[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"Orange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"Pineapple"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"Apple"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"Banana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];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fruits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[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],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fruits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[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],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fruits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[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],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fruits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[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3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]);</a:t>
            </a:r>
          </a:p>
          <a:p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34D7F7-3FE2-7B61-6CE0-3D4E70271DF9}"/>
              </a:ext>
            </a:extLst>
          </p:cNvPr>
          <p:cNvSpPr txBox="1"/>
          <p:nvPr/>
        </p:nvSpPr>
        <p:spPr>
          <a:xfrm>
            <a:off x="580303" y="4096676"/>
            <a:ext cx="7872629" cy="147732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endParaRPr lang="it-IT" altLang="ko-KR" b="0" dirty="0">
              <a:solidFill>
                <a:srgbClr val="569CD6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it-IT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it-IT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data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[</a:t>
            </a:r>
            <a:r>
              <a:rPr lang="it-IT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it-IT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"Apple"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it-IT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false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it-IT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null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it-IT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undefined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];</a:t>
            </a:r>
          </a:p>
          <a:p>
            <a:br>
              <a:rPr lang="it-IT" altLang="ko-KR" b="1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it-IT" altLang="ko-KR" b="1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it-IT" altLang="ko-KR" b="1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it-IT" altLang="ko-KR" b="1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it-IT" altLang="ko-KR" b="1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it-IT" altLang="ko-KR" b="1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data</a:t>
            </a:r>
            <a:r>
              <a:rPr lang="it-IT" altLang="ko-KR" b="1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[</a:t>
            </a:r>
            <a:r>
              <a:rPr lang="it-IT" altLang="ko-KR" b="1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0</a:t>
            </a:r>
            <a:r>
              <a:rPr lang="it-IT" altLang="ko-KR" b="1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],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it-IT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data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[</a:t>
            </a:r>
            <a:r>
              <a:rPr lang="it-IT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], </a:t>
            </a:r>
            <a:r>
              <a:rPr lang="it-IT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data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[</a:t>
            </a:r>
            <a:r>
              <a:rPr lang="it-IT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2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], </a:t>
            </a:r>
            <a:r>
              <a:rPr lang="it-IT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data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[</a:t>
            </a:r>
            <a:r>
              <a:rPr lang="it-IT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3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], </a:t>
            </a:r>
            <a:r>
              <a:rPr lang="it-IT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data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[</a:t>
            </a:r>
            <a:r>
              <a:rPr lang="it-IT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4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]);</a:t>
            </a:r>
          </a:p>
          <a:p>
            <a:endParaRPr lang="it-IT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2396" y="3305190"/>
            <a:ext cx="6000750" cy="80010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5032" y="5405188"/>
            <a:ext cx="5924550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9117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BDFA10-ECF7-38FE-C364-618B7085F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EAC1192-3240-5090-C940-3FE8EE2E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5DC42BC-3382-7592-84ED-A0A40D69B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객체</a:t>
            </a:r>
            <a:br>
              <a:rPr lang="en-US" altLang="ko-KR" dirty="0"/>
            </a:br>
            <a:r>
              <a:rPr lang="ko-KR" altLang="en-US" dirty="0"/>
              <a:t>（</a:t>
            </a:r>
            <a:r>
              <a:rPr lang="en-US" altLang="ko-KR" dirty="0"/>
              <a:t>object</a:t>
            </a:r>
            <a:r>
              <a:rPr lang="ko-KR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1211689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</a:t>
            </a:r>
            <a:r>
              <a:rPr lang="en-US" altLang="ko-KR" dirty="0"/>
              <a:t> </a:t>
            </a:r>
            <a:r>
              <a:rPr lang="ko-KR" altLang="en-US" dirty="0"/>
              <a:t>꾸러미 </a:t>
            </a:r>
            <a:r>
              <a:rPr lang="en-US" altLang="ko-KR" dirty="0"/>
              <a:t>Object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756062" y="1807118"/>
            <a:ext cx="6096000" cy="2308324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r>
              <a:rPr lang="en-US" altLang="ko-KR" dirty="0">
                <a:solidFill>
                  <a:srgbClr val="569CD6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cat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 = {</a:t>
            </a:r>
          </a:p>
          <a:p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  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name: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'</a:t>
            </a:r>
            <a:r>
              <a:rPr lang="ko-KR" altLang="en-US" dirty="0">
                <a:solidFill>
                  <a:srgbClr val="CE9178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나비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'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,</a:t>
            </a:r>
          </a:p>
          <a:p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  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age: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dirty="0">
                <a:solidFill>
                  <a:srgbClr val="B5CEA8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1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,</a:t>
            </a:r>
          </a:p>
          <a:p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  </a:t>
            </a:r>
            <a:r>
              <a:rPr lang="en-US" altLang="ko-KR" dirty="0" err="1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isCute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 : </a:t>
            </a:r>
            <a:r>
              <a:rPr lang="en-US" altLang="ko-KR" dirty="0">
                <a:solidFill>
                  <a:srgbClr val="569CD6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true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,</a:t>
            </a:r>
          </a:p>
          <a:p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  </a:t>
            </a:r>
            <a:r>
              <a:rPr lang="en-US" altLang="ko-KR" dirty="0">
                <a:solidFill>
                  <a:srgbClr val="DCDCAA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mew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: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dirty="0">
                <a:solidFill>
                  <a:srgbClr val="569CD6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function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 () {</a:t>
            </a:r>
          </a:p>
          <a:p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</a:t>
            </a:r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return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'</a:t>
            </a:r>
            <a:r>
              <a:rPr lang="ko-KR" altLang="en-US" dirty="0" err="1">
                <a:solidFill>
                  <a:srgbClr val="CE9178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냐옹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'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  },</a:t>
            </a:r>
          </a:p>
          <a:p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};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756062" y="4924543"/>
            <a:ext cx="6096000" cy="1200329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dirty="0">
                <a:solidFill>
                  <a:srgbClr val="DCDCAA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cat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dirty="0">
                <a:solidFill>
                  <a:srgbClr val="DCDCAA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cat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name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dirty="0">
                <a:solidFill>
                  <a:srgbClr val="DCDCAA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dirty="0" err="1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cat</a:t>
            </a:r>
            <a:r>
              <a:rPr lang="en-US" altLang="ko-KR" dirty="0" err="1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age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dirty="0">
                <a:solidFill>
                  <a:srgbClr val="DCDCAA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dirty="0" err="1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cat</a:t>
            </a:r>
            <a:r>
              <a:rPr lang="en-US" altLang="ko-KR" dirty="0" err="1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mew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());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464" y="3099954"/>
            <a:ext cx="4257675" cy="28194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775344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2024-05-27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6EC173"/>
                </a:solidFill>
              </a:rPr>
              <a:t>실습</a:t>
            </a:r>
            <a:r>
              <a:rPr lang="en-US" altLang="ko-KR" dirty="0">
                <a:solidFill>
                  <a:srgbClr val="6EC173"/>
                </a:solidFill>
              </a:rPr>
              <a:t>. </a:t>
            </a:r>
            <a:r>
              <a:rPr lang="ko-KR" altLang="en-US" dirty="0" err="1"/>
              <a:t>형변환</a:t>
            </a:r>
            <a:r>
              <a:rPr lang="en-US" altLang="ko-KR" dirty="0"/>
              <a:t> </a:t>
            </a:r>
            <a:r>
              <a:rPr lang="ko-KR" altLang="en-US" dirty="0"/>
              <a:t>실습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HTML, CSS, 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[JS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자료형 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[Object </a:t>
            </a:r>
            <a:r>
              <a:rPr lang="ko-KR" altLang="en-US" sz="2800" b="1">
                <a:solidFill>
                  <a:schemeClr val="accent1"/>
                </a:solidFill>
                <a:latin typeface="+mn-ea"/>
              </a:rPr>
              <a:t>변수 선언 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실습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16441762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typeof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66519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해당</a:t>
            </a:r>
            <a:r>
              <a:rPr lang="en-US" altLang="ko-KR" dirty="0"/>
              <a:t> </a:t>
            </a:r>
            <a:r>
              <a:rPr lang="ko-KR" altLang="en-US" dirty="0" err="1"/>
              <a:t>자료형이</a:t>
            </a:r>
            <a:r>
              <a:rPr lang="ko-KR" altLang="en-US" dirty="0"/>
              <a:t> 어떤 것인지 알려주는 착한 친구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자료형을</a:t>
            </a:r>
            <a:r>
              <a:rPr lang="en-US" altLang="ko-KR" dirty="0"/>
              <a:t> </a:t>
            </a:r>
            <a:r>
              <a:rPr lang="ko-KR" altLang="en-US" dirty="0"/>
              <a:t>알려주는 </a:t>
            </a:r>
            <a:r>
              <a:rPr lang="en-US" altLang="ko-KR" dirty="0" err="1"/>
              <a:t>typeof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97DF24-93AC-799A-6BA1-FDD933AFA492}"/>
              </a:ext>
            </a:extLst>
          </p:cNvPr>
          <p:cNvSpPr txBox="1"/>
          <p:nvPr/>
        </p:nvSpPr>
        <p:spPr>
          <a:xfrm>
            <a:off x="1172082" y="2492411"/>
            <a:ext cx="6002366" cy="147732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endParaRPr lang="en-US" altLang="ko-KR" b="0" dirty="0">
              <a:solidFill>
                <a:srgbClr val="9CDCFE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typeof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＂</a:t>
            </a:r>
            <a:r>
              <a:rPr lang="ko-KR" alt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안뇽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typeof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3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typeof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null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37B203E-5ED9-28BA-25AD-0D3BD09A7A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3535"/>
          <a:stretch/>
        </p:blipFill>
        <p:spPr>
          <a:xfrm>
            <a:off x="7508329" y="2492411"/>
            <a:ext cx="2338111" cy="176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1212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DC06FE-4677-EEA7-EB62-8E635AA1E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typeof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784B25-542E-D97A-BAD6-5A9BE92D32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3CD7E12-C06F-53DD-9E8A-7D711767E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D402708-C280-F3CD-523F-655CA5E68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자료형 확인하기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CE99EED-10B8-81E5-D756-FAE72CF01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9620" y="1825625"/>
            <a:ext cx="5719795" cy="404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5202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형변환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71318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8CEDA3B-C6E1-FE3F-8FD0-3D4A6BEB0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Prompt </a:t>
            </a:r>
            <a:r>
              <a:rPr lang="ko-KR" altLang="en-US" dirty="0">
                <a:latin typeface="+mn-ea"/>
              </a:rPr>
              <a:t>사용</a:t>
            </a:r>
            <a:r>
              <a:rPr lang="en-US" altLang="ko-KR" dirty="0">
                <a:latin typeface="+mn-ea"/>
              </a:rPr>
              <a:t>!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 사용자에게 메시지를 표시하고 입력을 받는 함수</a:t>
            </a:r>
            <a:r>
              <a:rPr lang="en-US" altLang="ko-KR" dirty="0">
                <a:latin typeface="+mn-ea"/>
              </a:rPr>
              <a:t>.</a:t>
            </a:r>
            <a:endParaRPr lang="ko-KR" altLang="en-US" dirty="0">
              <a:latin typeface="+mn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6BEF76E-4904-4822-7B02-5DCC27855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68DBCB-AECB-18A1-C2C8-04E21A64A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0ECC2762-38CA-8339-DE21-3159CF52C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400" dirty="0">
                <a:solidFill>
                  <a:srgbClr val="6EC173"/>
                </a:solidFill>
              </a:rPr>
              <a:t>실습</a:t>
            </a:r>
            <a:r>
              <a:rPr lang="en-US" altLang="ko-KR" sz="4400" dirty="0">
                <a:solidFill>
                  <a:srgbClr val="6EC173"/>
                </a:solidFill>
              </a:rPr>
              <a:t>)</a:t>
            </a:r>
            <a:r>
              <a:rPr lang="en-US" altLang="ko-KR" sz="4400" dirty="0"/>
              <a:t> </a:t>
            </a:r>
            <a:r>
              <a:rPr lang="ko-KR" altLang="en-US" dirty="0"/>
              <a:t>성적 평균 구하는 프로그램 만들기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AB01D03-0905-DF6B-E417-DCE8A7B730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8403"/>
          <a:stretch/>
        </p:blipFill>
        <p:spPr>
          <a:xfrm>
            <a:off x="724911" y="3429000"/>
            <a:ext cx="10976172" cy="107826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4EDD59C-058F-9F7D-AAB0-0C6CDF940C0C}"/>
              </a:ext>
            </a:extLst>
          </p:cNvPr>
          <p:cNvSpPr txBox="1"/>
          <p:nvPr/>
        </p:nvSpPr>
        <p:spPr>
          <a:xfrm>
            <a:off x="724911" y="5080503"/>
            <a:ext cx="69301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두 성적의 평균을 구해보세요</a:t>
            </a:r>
            <a:r>
              <a:rPr lang="en-US" altLang="ko-KR" sz="2800" dirty="0"/>
              <a:t>!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1083505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8CEDA3B-C6E1-FE3F-8FD0-3D4A6BEB0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0" dirty="0">
                <a:effectLst/>
                <a:latin typeface="+mn-ea"/>
              </a:rPr>
              <a:t>그런데 결과값이 좀 이상하다</a:t>
            </a:r>
            <a:r>
              <a:rPr lang="en-US" altLang="ko-KR" b="0" dirty="0">
                <a:effectLst/>
                <a:latin typeface="+mn-ea"/>
              </a:rPr>
              <a:t>?</a:t>
            </a:r>
          </a:p>
          <a:p>
            <a:r>
              <a:rPr lang="en-US" altLang="ko-KR" b="0" dirty="0">
                <a:effectLst/>
                <a:latin typeface="+mn-ea"/>
              </a:rPr>
              <a:t> </a:t>
            </a:r>
            <a:r>
              <a:rPr lang="en-US" altLang="ko-KR" b="0" dirty="0">
                <a:solidFill>
                  <a:srgbClr val="6EC173"/>
                </a:solidFill>
                <a:effectLst/>
                <a:latin typeface="+mn-ea"/>
              </a:rPr>
              <a:t>Prompt</a:t>
            </a:r>
            <a:r>
              <a:rPr lang="en-US" altLang="ko-KR" b="0" dirty="0">
                <a:effectLst/>
                <a:latin typeface="+mn-ea"/>
              </a:rPr>
              <a:t> </a:t>
            </a:r>
            <a:r>
              <a:rPr lang="ko-KR" altLang="en-US" b="0" dirty="0">
                <a:effectLst/>
                <a:latin typeface="+mn-ea"/>
              </a:rPr>
              <a:t>로 입력 받은 값은 </a:t>
            </a:r>
            <a:r>
              <a:rPr lang="en-US" altLang="ko-KR" dirty="0">
                <a:solidFill>
                  <a:schemeClr val="accent1"/>
                </a:solidFill>
                <a:latin typeface="+mn-ea"/>
              </a:rPr>
              <a:t>“</a:t>
            </a:r>
            <a:r>
              <a:rPr lang="ko-KR" altLang="en-US" dirty="0">
                <a:solidFill>
                  <a:schemeClr val="accent1"/>
                </a:solidFill>
                <a:latin typeface="+mn-ea"/>
              </a:rPr>
              <a:t>문자</a:t>
            </a:r>
            <a:r>
              <a:rPr lang="en-US" altLang="ko-KR" dirty="0">
                <a:solidFill>
                  <a:schemeClr val="accent1"/>
                </a:solidFill>
                <a:latin typeface="+mn-ea"/>
              </a:rPr>
              <a:t>”</a:t>
            </a:r>
            <a:r>
              <a:rPr lang="ko-KR" altLang="en-US" dirty="0">
                <a:solidFill>
                  <a:schemeClr val="accent1"/>
                </a:solidFill>
                <a:latin typeface="+mn-ea"/>
              </a:rPr>
              <a:t>로 저장</a:t>
            </a:r>
            <a:r>
              <a:rPr lang="ko-KR" altLang="en-US" dirty="0">
                <a:latin typeface="+mn-ea"/>
              </a:rPr>
              <a:t>이 됩니다</a:t>
            </a:r>
            <a:r>
              <a:rPr lang="en-US" altLang="ko-KR" dirty="0">
                <a:latin typeface="+mn-ea"/>
              </a:rPr>
              <a:t>!</a:t>
            </a:r>
          </a:p>
          <a:p>
            <a:pPr lvl="1"/>
            <a:r>
              <a:rPr lang="en-US" altLang="ko-KR" dirty="0">
                <a:latin typeface="+mn-ea"/>
              </a:rPr>
              <a:t>“80” + “50” = “8050” </a:t>
            </a:r>
          </a:p>
          <a:p>
            <a:pPr lvl="1"/>
            <a:r>
              <a:rPr lang="en-US" altLang="ko-KR" dirty="0">
                <a:latin typeface="+mn-ea"/>
                <a:sym typeface="Wingdings" panose="05000000000000000000" pitchFamily="2" charset="2"/>
              </a:rPr>
              <a:t>“8050” / 2  4025</a:t>
            </a:r>
            <a:endParaRPr lang="en-US" altLang="ko-KR" b="0" dirty="0">
              <a:effectLst/>
              <a:latin typeface="+mn-ea"/>
            </a:endParaRPr>
          </a:p>
          <a:p>
            <a:endParaRPr lang="ko-KR" altLang="en-US" dirty="0">
              <a:latin typeface="+mn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6BEF76E-4904-4822-7B02-5DCC27855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68DBCB-AECB-18A1-C2C8-04E21A64A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0ECC2762-38CA-8339-DE21-3159CF52C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성적 평균 구하는 프로그램 만들기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3E79587-1EA8-1187-D42D-D3AE08018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883292"/>
            <a:ext cx="10467624" cy="1975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5591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AAB2A2E-24B8-486B-1AA3-AA1495BEE4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0" dirty="0">
                <a:effectLst/>
                <a:latin typeface="+mn-ea"/>
              </a:rPr>
              <a:t>처음에는 편할 수도 있지만</a:t>
            </a:r>
            <a:r>
              <a:rPr lang="en-US" altLang="ko-KR" b="0" dirty="0">
                <a:effectLst/>
                <a:latin typeface="+mn-ea"/>
              </a:rPr>
              <a:t> </a:t>
            </a:r>
            <a:r>
              <a:rPr lang="ko-KR" altLang="en-US" b="0" dirty="0">
                <a:effectLst/>
                <a:latin typeface="+mn-ea"/>
              </a:rPr>
              <a:t>큰 문제를 일으키게 됩니다</a:t>
            </a:r>
            <a:r>
              <a:rPr lang="en-US" altLang="ko-KR" b="0" dirty="0">
                <a:effectLst/>
                <a:latin typeface="+mn-ea"/>
              </a:rPr>
              <a:t>.</a:t>
            </a:r>
            <a:endParaRPr lang="en-US" altLang="ko-KR" dirty="0">
              <a:latin typeface="+mn-ea"/>
            </a:endParaRPr>
          </a:p>
          <a:p>
            <a:r>
              <a:rPr lang="ko-KR" altLang="en-US" b="0" dirty="0">
                <a:effectLst/>
                <a:latin typeface="+mn-ea"/>
              </a:rPr>
              <a:t>지금은 작은 프로그램이라 문제가 없었지만</a:t>
            </a:r>
            <a:r>
              <a:rPr lang="en-US" altLang="ko-KR" b="0" dirty="0">
                <a:effectLst/>
                <a:latin typeface="+mn-ea"/>
              </a:rPr>
              <a:t>, </a:t>
            </a:r>
            <a:r>
              <a:rPr lang="ko-KR" altLang="en-US" b="0" dirty="0">
                <a:effectLst/>
                <a:latin typeface="+mn-ea"/>
              </a:rPr>
              <a:t>프로그램이 더 커진다면 의도하지 않은 중대한 문제를 일으킬 수도 있습니다</a:t>
            </a:r>
            <a:r>
              <a:rPr lang="en-US" altLang="ko-KR" b="0" dirty="0">
                <a:effectLst/>
                <a:latin typeface="+mn-ea"/>
              </a:rPr>
              <a:t>.</a:t>
            </a:r>
          </a:p>
          <a:p>
            <a:pPr lvl="1"/>
            <a:r>
              <a:rPr lang="ko-KR" altLang="en-US" dirty="0">
                <a:latin typeface="+mn-ea"/>
              </a:rPr>
              <a:t>만약</a:t>
            </a:r>
            <a:r>
              <a:rPr lang="en-US" altLang="ko-KR" dirty="0">
                <a:latin typeface="+mn-ea"/>
              </a:rPr>
              <a:t>,</a:t>
            </a:r>
            <a:r>
              <a:rPr lang="en-US" altLang="ko-KR" b="0" dirty="0">
                <a:effectLst/>
                <a:latin typeface="+mn-ea"/>
              </a:rPr>
              <a:t> </a:t>
            </a:r>
            <a:r>
              <a:rPr lang="ko-KR" altLang="en-US" b="0" dirty="0" err="1">
                <a:effectLst/>
                <a:latin typeface="+mn-ea"/>
              </a:rPr>
              <a:t>비트코인</a:t>
            </a:r>
            <a:r>
              <a:rPr lang="ko-KR" altLang="en-US" b="0" dirty="0">
                <a:effectLst/>
                <a:latin typeface="+mn-ea"/>
              </a:rPr>
              <a:t> 거래 사이트라면</a:t>
            </a:r>
            <a:r>
              <a:rPr lang="en-US" altLang="ko-KR" b="0" dirty="0">
                <a:effectLst/>
                <a:latin typeface="+mn-ea"/>
              </a:rPr>
              <a:t>?</a:t>
            </a:r>
          </a:p>
          <a:p>
            <a:endParaRPr lang="ko-KR" altLang="en-US" dirty="0">
              <a:latin typeface="+mn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2BDDC3-E475-786E-8D1B-D87E38428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68B029-5553-A2BA-1548-DE4C827E8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6B953ABE-5E7F-D621-91A2-9BAF6B827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</a:t>
            </a:r>
            <a:r>
              <a:rPr lang="ko-KR" altLang="en-US" dirty="0"/>
              <a:t>의 자동 </a:t>
            </a:r>
            <a:r>
              <a:rPr lang="ko-KR" altLang="en-US" dirty="0" err="1"/>
              <a:t>형변환</a:t>
            </a:r>
            <a:r>
              <a:rPr lang="en-US" altLang="ko-KR" dirty="0"/>
              <a:t>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05953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23A6786-443F-3370-2126-AED2C8A33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3"/>
            <a:ext cx="10515600" cy="4611750"/>
          </a:xfrm>
        </p:spPr>
        <p:txBody>
          <a:bodyPr/>
          <a:lstStyle/>
          <a:p>
            <a:r>
              <a:rPr lang="ko-KR" altLang="en-US" b="0" dirty="0">
                <a:effectLst/>
                <a:latin typeface="+mn-ea"/>
              </a:rPr>
              <a:t>자동 형변환에 의존 하지 않고 개발자가 직접 형 변환을 시키는 것</a:t>
            </a:r>
            <a:r>
              <a:rPr lang="en-US" altLang="ko-KR" b="0" dirty="0">
                <a:effectLst/>
                <a:latin typeface="+mn-ea"/>
              </a:rPr>
              <a:t>!</a:t>
            </a:r>
          </a:p>
          <a:p>
            <a:r>
              <a:rPr lang="ko-KR" altLang="en-US" dirty="0">
                <a:latin typeface="+mn-ea"/>
              </a:rPr>
              <a:t>문자로 변환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 </a:t>
            </a:r>
            <a:r>
              <a:rPr lang="en-US" altLang="ko-KR" dirty="0">
                <a:solidFill>
                  <a:srgbClr val="00B050"/>
                </a:solidFill>
                <a:latin typeface="+mn-ea"/>
                <a:sym typeface="Wingdings" panose="05000000000000000000" pitchFamily="2" charset="2"/>
              </a:rPr>
              <a:t>String()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;</a:t>
            </a:r>
          </a:p>
          <a:p>
            <a:r>
              <a:rPr lang="ko-KR" altLang="en-US" dirty="0">
                <a:latin typeface="+mn-ea"/>
                <a:sym typeface="Wingdings" panose="05000000000000000000" pitchFamily="2" charset="2"/>
              </a:rPr>
              <a:t>숫자로 변환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 </a:t>
            </a:r>
            <a:r>
              <a:rPr lang="en-US" altLang="ko-KR" dirty="0">
                <a:solidFill>
                  <a:srgbClr val="00B050"/>
                </a:solidFill>
                <a:latin typeface="+mn-ea"/>
                <a:sym typeface="Wingdings" panose="05000000000000000000" pitchFamily="2" charset="2"/>
              </a:rPr>
              <a:t>Number();</a:t>
            </a:r>
            <a:endParaRPr lang="en-US" altLang="ko-KR" b="0" dirty="0">
              <a:solidFill>
                <a:srgbClr val="00B050"/>
              </a:solidFill>
              <a:effectLst/>
              <a:latin typeface="+mn-ea"/>
            </a:endParaRPr>
          </a:p>
          <a:p>
            <a:endParaRPr lang="en-US" altLang="ko-KR" b="0" dirty="0">
              <a:effectLst/>
              <a:latin typeface="+mn-ea"/>
            </a:endParaRPr>
          </a:p>
          <a:p>
            <a:endParaRPr lang="ko-KR" altLang="en-US" dirty="0">
              <a:latin typeface="+mn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7BACB0B-0278-9C4A-0F64-D2CE4EBE4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BCA814-76A7-4F0F-197C-2D14255C4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FC829F0D-A1DF-E03F-A846-BC4E29258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명시적 </a:t>
            </a:r>
            <a:r>
              <a:rPr lang="ko-KR" altLang="en-US" dirty="0" err="1"/>
              <a:t>형변환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CEE2FB-7484-9B52-398E-3577216D8837}"/>
              </a:ext>
            </a:extLst>
          </p:cNvPr>
          <p:cNvSpPr txBox="1"/>
          <p:nvPr/>
        </p:nvSpPr>
        <p:spPr>
          <a:xfrm>
            <a:off x="1147759" y="3185688"/>
            <a:ext cx="6096000" cy="286232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문자 데이터로 변환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num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123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num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String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num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typeof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num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숫자 데이터로 변환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num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Number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num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typeof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num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Number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abcdefg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));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0BD6C23-4BFD-2D07-308F-262F8204D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3318" y="3185688"/>
            <a:ext cx="2640225" cy="1546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5331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DC06FE-4677-EEA7-EB62-8E635AA1E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1735722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altLang="ko-KR" dirty="0"/>
              <a:t>String()</a:t>
            </a:r>
          </a:p>
          <a:p>
            <a:pPr marL="514350" indent="-514350">
              <a:buAutoNum type="arabicPeriod"/>
            </a:pPr>
            <a:endParaRPr lang="en-US" altLang="ko-KR" dirty="0"/>
          </a:p>
          <a:p>
            <a:pPr marL="514350" indent="-514350">
              <a:buAutoNum type="arabicPeriod"/>
            </a:pPr>
            <a:r>
              <a:rPr lang="en-US" altLang="ko-KR" dirty="0" err="1"/>
              <a:t>toString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784B25-542E-D97A-BAD6-5A9BE92D32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3CD7E12-C06F-53DD-9E8A-7D711767E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D402708-C280-F3CD-523F-655CA5E68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형 변환 </a:t>
            </a:r>
            <a:r>
              <a:rPr lang="en-US" altLang="ko-KR" dirty="0"/>
              <a:t>- </a:t>
            </a:r>
            <a:r>
              <a:rPr lang="ko-KR" altLang="en-US" dirty="0"/>
              <a:t>문자열로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6D3A65B-5821-BC0A-19A5-92328A14B60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9031" b="26011"/>
          <a:stretch/>
        </p:blipFill>
        <p:spPr>
          <a:xfrm>
            <a:off x="3979214" y="1707232"/>
            <a:ext cx="3828356" cy="66878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146E7A1-329E-9F72-BA8E-65C25C1B7A5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8665"/>
          <a:stretch/>
        </p:blipFill>
        <p:spPr>
          <a:xfrm>
            <a:off x="3979213" y="3016119"/>
            <a:ext cx="5258572" cy="1193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6080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DC06FE-4677-EEA7-EB62-8E635AA1E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2563442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altLang="ko-KR" dirty="0"/>
              <a:t>Number()</a:t>
            </a:r>
          </a:p>
          <a:p>
            <a:pPr marL="514350" indent="-514350">
              <a:buAutoNum type="arabicPeriod"/>
            </a:pPr>
            <a:endParaRPr lang="en-US" altLang="ko-KR" dirty="0"/>
          </a:p>
          <a:p>
            <a:pPr marL="514350" indent="-514350">
              <a:buAutoNum type="arabicPeriod"/>
            </a:pPr>
            <a:endParaRPr lang="en-US" altLang="ko-KR" dirty="0"/>
          </a:p>
          <a:p>
            <a:pPr marL="514350" indent="-514350">
              <a:buAutoNum type="arabicPeriod"/>
            </a:pPr>
            <a:r>
              <a:rPr lang="en-US" altLang="ko-KR" dirty="0" err="1"/>
              <a:t>parseInt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784B25-542E-D97A-BAD6-5A9BE92D32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3CD7E12-C06F-53DD-9E8A-7D711767E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D402708-C280-F3CD-523F-655CA5E68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형 변환 </a:t>
            </a:r>
            <a:r>
              <a:rPr lang="en-US" altLang="ko-KR" dirty="0"/>
              <a:t>- </a:t>
            </a:r>
            <a:r>
              <a:rPr lang="ko-KR" altLang="en-US" dirty="0"/>
              <a:t>정수로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81B82B7-F65F-1104-A412-179FA83F7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7290" y="1825626"/>
            <a:ext cx="5706500" cy="134463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9974B15-3E76-6160-ABD9-3C52AC69C8B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582" t="21453" r="4341" b="15270"/>
          <a:stretch/>
        </p:blipFill>
        <p:spPr>
          <a:xfrm>
            <a:off x="4257290" y="3429000"/>
            <a:ext cx="6271847" cy="98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281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2024-05-27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6EC173"/>
                </a:solidFill>
              </a:rPr>
              <a:t>실습</a:t>
            </a:r>
            <a:r>
              <a:rPr lang="en-US" altLang="ko-KR" dirty="0">
                <a:solidFill>
                  <a:srgbClr val="6EC173"/>
                </a:solidFill>
              </a:rPr>
              <a:t>. </a:t>
            </a:r>
            <a:r>
              <a:rPr lang="ko-KR" altLang="en-US" dirty="0" err="1"/>
              <a:t>형변환</a:t>
            </a:r>
            <a:r>
              <a:rPr lang="en-US" altLang="ko-KR" dirty="0"/>
              <a:t> </a:t>
            </a:r>
            <a:r>
              <a:rPr lang="ko-KR" altLang="en-US" dirty="0"/>
              <a:t>실습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HTML, CSS, 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[JS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자료형 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 err="1">
                <a:solidFill>
                  <a:schemeClr val="accent1"/>
                </a:solidFill>
                <a:latin typeface="+mn-ea"/>
              </a:rPr>
              <a:t>형변환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 실습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30233977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22301B-7253-A2F3-287F-2ABE141CB6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ACF3BEC-2C91-C85F-C800-2246155D5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B470ADA-2DCB-4E89-4CD9-585FD5B93562}"/>
              </a:ext>
            </a:extLst>
          </p:cNvPr>
          <p:cNvSpPr txBox="1">
            <a:spLocks/>
          </p:cNvSpPr>
          <p:nvPr/>
        </p:nvSpPr>
        <p:spPr>
          <a:xfrm>
            <a:off x="2218597" y="2919885"/>
            <a:ext cx="7754805" cy="10182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7200" dirty="0" err="1">
                <a:highlight>
                  <a:srgbClr val="FFFF00"/>
                </a:highlight>
              </a:rPr>
              <a:t>Javascript</a:t>
            </a:r>
            <a:r>
              <a:rPr lang="en-US" altLang="ko-KR" sz="7200" dirty="0">
                <a:highlight>
                  <a:srgbClr val="FFFF00"/>
                </a:highlight>
              </a:rPr>
              <a:t> </a:t>
            </a:r>
            <a:r>
              <a:rPr lang="ko-KR" altLang="en-US" sz="7200" dirty="0">
                <a:highlight>
                  <a:srgbClr val="FFFF00"/>
                </a:highlight>
              </a:rPr>
              <a:t>연산자</a:t>
            </a:r>
          </a:p>
        </p:txBody>
      </p:sp>
    </p:spTree>
    <p:extLst>
      <p:ext uri="{BB962C8B-B14F-4D97-AF65-F5344CB8AC3E}">
        <p14:creationId xmlns:p14="http://schemas.microsoft.com/office/powerpoint/2010/main" val="6895430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2024년 5월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연산자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57D13FF5-2C20-D727-1EE9-FE0992DC4A82}"/>
              </a:ext>
            </a:extLst>
          </p:cNvPr>
          <p:cNvSpPr txBox="1">
            <a:spLocks/>
          </p:cNvSpPr>
          <p:nvPr/>
        </p:nvSpPr>
        <p:spPr>
          <a:xfrm>
            <a:off x="838200" y="155523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3600" dirty="0"/>
              <a:t>대입 연산자</a:t>
            </a:r>
            <a:r>
              <a:rPr lang="en-US" altLang="ko-KR" sz="3600" dirty="0"/>
              <a:t>: </a:t>
            </a:r>
            <a:r>
              <a:rPr lang="en-US" altLang="ko-KR" sz="3600" b="1" dirty="0"/>
              <a:t>=</a:t>
            </a:r>
            <a:r>
              <a:rPr lang="en-US" altLang="ko-KR" sz="3600" dirty="0"/>
              <a:t> </a:t>
            </a:r>
          </a:p>
          <a:p>
            <a:pPr>
              <a:lnSpc>
                <a:spcPct val="150000"/>
              </a:lnSpc>
            </a:pPr>
            <a:r>
              <a:rPr lang="ko-KR" altLang="en-US" sz="3600" dirty="0"/>
              <a:t>산술 연산자</a:t>
            </a:r>
            <a:r>
              <a:rPr lang="en-US" altLang="ko-KR" sz="3600" dirty="0"/>
              <a:t>: </a:t>
            </a:r>
            <a:r>
              <a:rPr lang="en-US" altLang="ko-KR" sz="3600" b="1" dirty="0"/>
              <a:t>+</a:t>
            </a:r>
            <a:r>
              <a:rPr lang="en-US" altLang="ko-KR" sz="3600" dirty="0"/>
              <a:t>, </a:t>
            </a:r>
            <a:r>
              <a:rPr lang="en-US" altLang="ko-KR" sz="3600" b="1" dirty="0"/>
              <a:t>-</a:t>
            </a:r>
            <a:r>
              <a:rPr lang="en-US" altLang="ko-KR" sz="3600" dirty="0"/>
              <a:t>, </a:t>
            </a:r>
            <a:r>
              <a:rPr lang="en-US" altLang="ko-KR" sz="3600" b="1" dirty="0"/>
              <a:t>*</a:t>
            </a:r>
            <a:r>
              <a:rPr lang="en-US" altLang="ko-KR" sz="3600" dirty="0"/>
              <a:t>, </a:t>
            </a:r>
            <a:r>
              <a:rPr lang="en-US" altLang="ko-KR" sz="3600" b="1" dirty="0"/>
              <a:t>/, %</a:t>
            </a:r>
            <a:r>
              <a:rPr lang="en-US" altLang="ko-KR" sz="3600" dirty="0"/>
              <a:t>(</a:t>
            </a:r>
            <a:r>
              <a:rPr lang="ko-KR" altLang="en-US" sz="3600" dirty="0"/>
              <a:t>나머지</a:t>
            </a:r>
            <a:r>
              <a:rPr lang="en-US" altLang="ko-KR" sz="3600" dirty="0"/>
              <a:t>)</a:t>
            </a:r>
            <a:r>
              <a:rPr lang="en-US" altLang="ko-KR" sz="3600" b="1" dirty="0"/>
              <a:t>, **</a:t>
            </a:r>
            <a:r>
              <a:rPr lang="en-US" altLang="ko-KR" sz="3600" dirty="0"/>
              <a:t>(</a:t>
            </a:r>
            <a:r>
              <a:rPr lang="ko-KR" altLang="en-US" sz="3600" dirty="0"/>
              <a:t>거듭제곱</a:t>
            </a:r>
            <a:r>
              <a:rPr lang="en-US" altLang="ko-KR" sz="3600" dirty="0"/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3600" dirty="0"/>
              <a:t>비교 연산자</a:t>
            </a:r>
            <a:r>
              <a:rPr lang="en-US" altLang="ko-KR" sz="3600" dirty="0"/>
              <a:t>: </a:t>
            </a:r>
            <a:r>
              <a:rPr lang="en-US" altLang="ko-KR" sz="3600" b="1" dirty="0"/>
              <a:t>==</a:t>
            </a:r>
            <a:r>
              <a:rPr lang="en-US" altLang="ko-KR" sz="3600" dirty="0"/>
              <a:t>, </a:t>
            </a:r>
            <a:r>
              <a:rPr lang="en-US" altLang="ko-KR" sz="3600" b="1" dirty="0"/>
              <a:t>!=</a:t>
            </a:r>
            <a:r>
              <a:rPr lang="en-US" altLang="ko-KR" sz="3600" dirty="0"/>
              <a:t>, </a:t>
            </a:r>
            <a:r>
              <a:rPr lang="en-US" altLang="ko-KR" sz="3600" b="1" dirty="0"/>
              <a:t>===</a:t>
            </a:r>
            <a:r>
              <a:rPr lang="en-US" altLang="ko-KR" sz="3600" dirty="0"/>
              <a:t>, </a:t>
            </a:r>
            <a:r>
              <a:rPr lang="en-US" altLang="ko-KR" sz="3600" b="1" dirty="0"/>
              <a:t>!===,</a:t>
            </a:r>
            <a:r>
              <a:rPr lang="ko-KR" altLang="en-US" sz="3600" b="1" dirty="0"/>
              <a:t> </a:t>
            </a:r>
            <a:r>
              <a:rPr lang="en-US" altLang="ko-KR" sz="3600" b="1" dirty="0"/>
              <a:t>&gt;</a:t>
            </a:r>
            <a:r>
              <a:rPr lang="en-US" altLang="ko-KR" sz="3600" dirty="0"/>
              <a:t>,</a:t>
            </a:r>
            <a:r>
              <a:rPr lang="ko-KR" altLang="en-US" sz="3600" b="1" dirty="0"/>
              <a:t> </a:t>
            </a:r>
            <a:r>
              <a:rPr lang="en-US" altLang="ko-KR" sz="3600" b="1" dirty="0"/>
              <a:t>&gt;=</a:t>
            </a:r>
            <a:r>
              <a:rPr lang="en-US" altLang="ko-KR" sz="3600" dirty="0"/>
              <a:t>,</a:t>
            </a:r>
            <a:r>
              <a:rPr lang="ko-KR" altLang="en-US" sz="3600" b="1" dirty="0"/>
              <a:t> </a:t>
            </a:r>
            <a:r>
              <a:rPr lang="en-US" altLang="ko-KR" sz="3600" b="1" dirty="0"/>
              <a:t>&lt;</a:t>
            </a:r>
            <a:r>
              <a:rPr lang="en-US" altLang="ko-KR" sz="3600" dirty="0"/>
              <a:t>,</a:t>
            </a:r>
            <a:r>
              <a:rPr lang="ko-KR" altLang="en-US" sz="3600" b="1" dirty="0"/>
              <a:t> </a:t>
            </a:r>
            <a:r>
              <a:rPr lang="en-US" altLang="ko-KR" sz="3600" b="1" dirty="0"/>
              <a:t>&lt;=</a:t>
            </a:r>
            <a:endParaRPr lang="en-US" altLang="ko-KR" sz="3600" dirty="0"/>
          </a:p>
          <a:p>
            <a:pPr>
              <a:lnSpc>
                <a:spcPct val="150000"/>
              </a:lnSpc>
            </a:pPr>
            <a:r>
              <a:rPr lang="ko-KR" altLang="en-US" sz="3600" dirty="0"/>
              <a:t>논리 연산자</a:t>
            </a:r>
            <a:r>
              <a:rPr lang="en-US" altLang="ko-KR" sz="3600" dirty="0"/>
              <a:t>: </a:t>
            </a:r>
            <a:r>
              <a:rPr lang="en-US" altLang="ko-KR" sz="3600" b="1" dirty="0"/>
              <a:t>!</a:t>
            </a:r>
            <a:r>
              <a:rPr lang="en-US" altLang="ko-KR" sz="3600" dirty="0"/>
              <a:t>(not), </a:t>
            </a:r>
            <a:r>
              <a:rPr lang="en-US" altLang="ko-KR" sz="3600" b="1" dirty="0"/>
              <a:t>&amp;&amp;</a:t>
            </a:r>
            <a:r>
              <a:rPr lang="en-US" altLang="ko-KR" sz="3600" dirty="0"/>
              <a:t>(and), </a:t>
            </a:r>
            <a:r>
              <a:rPr lang="en-US" altLang="ko-KR" sz="3600" b="1" dirty="0"/>
              <a:t>||</a:t>
            </a:r>
            <a:r>
              <a:rPr lang="en-US" altLang="ko-KR" sz="3600" dirty="0"/>
              <a:t>(or)</a:t>
            </a:r>
          </a:p>
        </p:txBody>
      </p:sp>
    </p:spTree>
    <p:extLst>
      <p:ext uri="{BB962C8B-B14F-4D97-AF65-F5344CB8AC3E}">
        <p14:creationId xmlns:p14="http://schemas.microsoft.com/office/powerpoint/2010/main" val="32681091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18F7C25-283A-4755-8C2E-69D30C716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altLang="ko-KR" dirty="0"/>
              <a:t>num = num + 5 </a:t>
            </a:r>
            <a:r>
              <a:rPr lang="ko-KR" altLang="en-US" dirty="0"/>
              <a:t>➡ </a:t>
            </a:r>
            <a:r>
              <a:rPr lang="pt-BR" altLang="ko-KR" dirty="0"/>
              <a:t>num += 5</a:t>
            </a:r>
          </a:p>
          <a:p>
            <a:r>
              <a:rPr lang="pt-BR" altLang="ko-KR" dirty="0"/>
              <a:t>num = num - 5 </a:t>
            </a:r>
            <a:r>
              <a:rPr lang="ko-KR" altLang="en-US" dirty="0"/>
              <a:t>➡</a:t>
            </a:r>
            <a:r>
              <a:rPr lang="pt-BR" altLang="ko-KR" dirty="0"/>
              <a:t> num -= 5</a:t>
            </a:r>
          </a:p>
          <a:p>
            <a:r>
              <a:rPr lang="pt-BR" altLang="ko-KR" dirty="0"/>
              <a:t>num = num * 5 </a:t>
            </a:r>
            <a:r>
              <a:rPr lang="ko-KR" altLang="en-US" dirty="0"/>
              <a:t>➡</a:t>
            </a:r>
            <a:r>
              <a:rPr lang="pt-BR" altLang="ko-KR" dirty="0"/>
              <a:t> num *= 5</a:t>
            </a:r>
          </a:p>
          <a:p>
            <a:r>
              <a:rPr lang="pt-BR" altLang="ko-KR" dirty="0"/>
              <a:t>num = num / 5 </a:t>
            </a:r>
            <a:r>
              <a:rPr lang="ko-KR" altLang="en-US" dirty="0"/>
              <a:t>➡</a:t>
            </a:r>
            <a:r>
              <a:rPr lang="pt-BR" altLang="ko-KR" dirty="0"/>
              <a:t> num /= 5</a:t>
            </a:r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377ED5C-C1E7-1A75-11F2-6545DD4BF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647807-8C6D-6B84-6E07-53CF71410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67922242-11EC-906B-E639-286BEF5E4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연산자 </a:t>
            </a:r>
            <a:r>
              <a:rPr lang="ko-KR" altLang="en-US" dirty="0" err="1"/>
              <a:t>줄여쓰기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26826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D31B477-9FCB-8621-B6FC-A30417987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++</a:t>
            </a:r>
          </a:p>
          <a:p>
            <a:r>
              <a:rPr lang="en-US" altLang="ko-KR" b="1" dirty="0"/>
              <a:t>--</a:t>
            </a:r>
            <a:endParaRPr lang="ko-KR" altLang="en-US" b="1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3B623D-ACF2-963D-110B-1D8666367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92477A-8EA6-A620-43E0-80A6C9E4B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B8FC6A91-2088-0756-A50C-7B0FD8011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증가</a:t>
            </a:r>
            <a:r>
              <a:rPr lang="en-US" altLang="ko-KR" dirty="0"/>
              <a:t>, </a:t>
            </a:r>
            <a:r>
              <a:rPr lang="ko-KR" altLang="en-US" dirty="0"/>
              <a:t>감소 연산자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5D057B-DA90-5AEC-0A6A-167BC5C9D7F7}"/>
              </a:ext>
            </a:extLst>
          </p:cNvPr>
          <p:cNvSpPr txBox="1"/>
          <p:nvPr/>
        </p:nvSpPr>
        <p:spPr>
          <a:xfrm>
            <a:off x="1178169" y="3120280"/>
            <a:ext cx="6096000" cy="230832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pt-BR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pt-BR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pt-BR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result1</a:t>
            </a:r>
            <a:r>
              <a:rPr lang="pt-BR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pt-BR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result2</a:t>
            </a:r>
            <a:r>
              <a:rPr lang="pt-BR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r>
              <a:rPr lang="pt-BR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pt-BR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pt-BR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num</a:t>
            </a:r>
            <a:r>
              <a:rPr lang="pt-BR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pt-BR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10</a:t>
            </a:r>
            <a:r>
              <a:rPr lang="pt-BR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pt-BR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num2</a:t>
            </a:r>
            <a:r>
              <a:rPr lang="pt-BR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pt-BR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10</a:t>
            </a:r>
            <a:r>
              <a:rPr lang="pt-BR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br>
              <a:rPr lang="pt-BR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pt-BR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result</a:t>
            </a:r>
            <a:r>
              <a:rPr lang="pt-BR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pt-BR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num</a:t>
            </a:r>
            <a:r>
              <a:rPr lang="pt-BR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++;</a:t>
            </a:r>
          </a:p>
          <a:p>
            <a:r>
              <a:rPr lang="pt-BR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pt-BR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pt-BR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pt-BR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pt-BR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result</a:t>
            </a:r>
            <a:r>
              <a:rPr lang="pt-BR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br>
              <a:rPr lang="pt-BR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pt-BR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result2</a:t>
            </a:r>
            <a:r>
              <a:rPr lang="pt-BR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++</a:t>
            </a:r>
            <a:r>
              <a:rPr lang="pt-BR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num2</a:t>
            </a:r>
            <a:r>
              <a:rPr lang="pt-BR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r>
              <a:rPr lang="pt-BR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pt-BR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pt-BR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pt-BR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pt-BR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result2</a:t>
            </a:r>
            <a:r>
              <a:rPr lang="pt-BR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29B69DE-693A-7FFC-E51E-22E9D3A08F6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1298"/>
          <a:stretch/>
        </p:blipFill>
        <p:spPr>
          <a:xfrm>
            <a:off x="7614138" y="4058946"/>
            <a:ext cx="2008050" cy="1369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00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49841AB-3F5E-5A80-DF8D-66AC41550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|| </a:t>
            </a:r>
            <a:r>
              <a:rPr lang="en-US" altLang="ko-KR" dirty="0"/>
              <a:t>(or) : </a:t>
            </a:r>
            <a:r>
              <a:rPr lang="ko-KR" altLang="en-US" dirty="0"/>
              <a:t>여러 개 중 하나라도 </a:t>
            </a:r>
            <a:r>
              <a:rPr lang="en-US" altLang="ko-KR" dirty="0"/>
              <a:t>true </a:t>
            </a:r>
            <a:r>
              <a:rPr lang="ko-KR" altLang="en-US" dirty="0"/>
              <a:t>➡ </a:t>
            </a:r>
            <a:r>
              <a:rPr lang="en-US" altLang="ko-KR" dirty="0"/>
              <a:t>true</a:t>
            </a:r>
          </a:p>
          <a:p>
            <a:r>
              <a:rPr lang="en-US" altLang="ko-KR" b="1" dirty="0"/>
              <a:t>&amp;&amp;</a:t>
            </a:r>
            <a:r>
              <a:rPr lang="en-US" altLang="ko-KR" dirty="0"/>
              <a:t> (and) : </a:t>
            </a:r>
            <a:r>
              <a:rPr lang="ko-KR" altLang="en-US" dirty="0"/>
              <a:t>모든 값이 </a:t>
            </a:r>
            <a:r>
              <a:rPr lang="en-US" altLang="ko-KR" dirty="0"/>
              <a:t>true </a:t>
            </a:r>
            <a:r>
              <a:rPr lang="ko-KR" altLang="en-US" dirty="0"/>
              <a:t>➡ </a:t>
            </a:r>
            <a:r>
              <a:rPr lang="en-US" altLang="ko-KR" dirty="0"/>
              <a:t>true</a:t>
            </a:r>
          </a:p>
          <a:p>
            <a:r>
              <a:rPr lang="en-US" altLang="ko-KR" b="1" dirty="0"/>
              <a:t>!</a:t>
            </a:r>
            <a:r>
              <a:rPr lang="en-US" altLang="ko-KR" dirty="0"/>
              <a:t> (not) : true</a:t>
            </a:r>
            <a:r>
              <a:rPr lang="ko-KR" altLang="en-US" dirty="0"/>
              <a:t> ➡ </a:t>
            </a:r>
            <a:r>
              <a:rPr lang="en-US" altLang="ko-KR" dirty="0"/>
              <a:t>false,</a:t>
            </a:r>
            <a:r>
              <a:rPr lang="ko-KR" altLang="en-US" dirty="0"/>
              <a:t> </a:t>
            </a:r>
            <a:r>
              <a:rPr lang="en-US" altLang="ko-KR" dirty="0"/>
              <a:t>false</a:t>
            </a:r>
            <a:r>
              <a:rPr lang="ko-KR" altLang="en-US" dirty="0"/>
              <a:t> ➡ </a:t>
            </a:r>
            <a:r>
              <a:rPr lang="en-US" altLang="ko-KR" dirty="0"/>
              <a:t>true</a:t>
            </a:r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0F56F99-5A1C-3595-0F41-CB7932B72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8120F0-522C-955B-B3FF-53923F03B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02DC5AE3-6430-3C88-A3A2-DC7A3BA25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논리 연산자</a:t>
            </a:r>
          </a:p>
        </p:txBody>
      </p:sp>
    </p:spTree>
    <p:extLst>
      <p:ext uri="{BB962C8B-B14F-4D97-AF65-F5344CB8AC3E}">
        <p14:creationId xmlns:p14="http://schemas.microsoft.com/office/powerpoint/2010/main" val="2129493605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코딩온_새싹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EC173"/>
      </a:accent1>
      <a:accent2>
        <a:srgbClr val="B4D56D"/>
      </a:accent2>
      <a:accent3>
        <a:srgbClr val="F99F2C"/>
      </a:accent3>
      <a:accent4>
        <a:srgbClr val="FFDB83"/>
      </a:accent4>
      <a:accent5>
        <a:srgbClr val="2894FF"/>
      </a:accent5>
      <a:accent6>
        <a:srgbClr val="A5A5A5"/>
      </a:accent6>
      <a:hlink>
        <a:srgbClr val="2894FF"/>
      </a:hlink>
      <a:folHlink>
        <a:srgbClr val="954F72"/>
      </a:folHlink>
    </a:clrScheme>
    <a:fontScheme name="PretendardGOV">
      <a:majorFont>
        <a:latin typeface="PretendardGOV"/>
        <a:ea typeface="PretendardGOV"/>
        <a:cs typeface=""/>
      </a:majorFont>
      <a:minorFont>
        <a:latin typeface="PretendardGOV"/>
        <a:ea typeface="PretendardGOV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4385</TotalTime>
  <Words>1484</Words>
  <Application>Microsoft Office PowerPoint</Application>
  <PresentationFormat>와이드스크린</PresentationFormat>
  <Paragraphs>351</Paragraphs>
  <Slides>34</Slides>
  <Notes>28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0" baseType="lpstr">
      <vt:lpstr>PretendardGOV</vt:lpstr>
      <vt:lpstr>맑은 고딕</vt:lpstr>
      <vt:lpstr>Arial</vt:lpstr>
      <vt:lpstr>Consolas</vt:lpstr>
      <vt:lpstr>Wingdings</vt:lpstr>
      <vt:lpstr>2_Office 테마</vt:lpstr>
      <vt:lpstr>웹 개발자 부트캠프 과정</vt:lpstr>
      <vt:lpstr>JavaScript 자료형</vt:lpstr>
      <vt:lpstr>언어 타입</vt:lpstr>
      <vt:lpstr>언어 타입</vt:lpstr>
      <vt:lpstr>JavaScript 는 느슨한 언어!</vt:lpstr>
      <vt:lpstr>JavaScript 자료형</vt:lpstr>
      <vt:lpstr>자료형</vt:lpstr>
      <vt:lpstr>문자열 String</vt:lpstr>
      <vt:lpstr>문자 + 변수를 동시에 쓰고 싶을 때!</vt:lpstr>
      <vt:lpstr>숫자 Number</vt:lpstr>
      <vt:lpstr>참 거짓 데이터 Boolean</vt:lpstr>
      <vt:lpstr>미할당 데이터 undefined</vt:lpstr>
      <vt:lpstr>빈 데이터 null</vt:lpstr>
      <vt:lpstr>배열 （Array）</vt:lpstr>
      <vt:lpstr>배열 Array</vt:lpstr>
      <vt:lpstr>객체 （object）</vt:lpstr>
      <vt:lpstr>데이터 꾸러미 Object</vt:lpstr>
      <vt:lpstr>실습. 형변환 실습</vt:lpstr>
      <vt:lpstr>typeof</vt:lpstr>
      <vt:lpstr>자료형을 알려주는 typeof</vt:lpstr>
      <vt:lpstr>자료형 확인하기</vt:lpstr>
      <vt:lpstr>형변환</vt:lpstr>
      <vt:lpstr>실습) 성적 평균 구하는 프로그램 만들기</vt:lpstr>
      <vt:lpstr>성적 평균 구하는 프로그램 만들기</vt:lpstr>
      <vt:lpstr>JS의 자동 형변환!</vt:lpstr>
      <vt:lpstr>명시적 형변환</vt:lpstr>
      <vt:lpstr>형 변환 - 문자열로</vt:lpstr>
      <vt:lpstr>형 변환 - 정수로</vt:lpstr>
      <vt:lpstr>실습. 형변환 실습</vt:lpstr>
      <vt:lpstr>PowerPoint 프레젠테이션</vt:lpstr>
      <vt:lpstr>연산자</vt:lpstr>
      <vt:lpstr>연산자 줄여쓰기</vt:lpstr>
      <vt:lpstr>증가, 감소 연산자</vt:lpstr>
      <vt:lpstr>논리 연산자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김규리</dc:creator>
  <cp:lastModifiedBy>On Coding</cp:lastModifiedBy>
  <cp:revision>120</cp:revision>
  <dcterms:created xsi:type="dcterms:W3CDTF">2022-06-26T11:10:22Z</dcterms:created>
  <dcterms:modified xsi:type="dcterms:W3CDTF">2024-05-27T02:08:04Z</dcterms:modified>
</cp:coreProperties>
</file>