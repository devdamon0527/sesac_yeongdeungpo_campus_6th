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9"/>
  </p:notesMasterIdLst>
  <p:sldIdLst>
    <p:sldId id="675" r:id="rId2"/>
    <p:sldId id="471" r:id="rId3"/>
    <p:sldId id="472" r:id="rId4"/>
    <p:sldId id="705" r:id="rId5"/>
    <p:sldId id="268" r:id="rId6"/>
    <p:sldId id="473" r:id="rId7"/>
    <p:sldId id="470" r:id="rId8"/>
    <p:sldId id="475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300" r:id="rId17"/>
    <p:sldId id="30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6F3"/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6" autoAdjust="0"/>
    <p:restoredTop sz="72213" autoAdjust="0"/>
  </p:normalViewPr>
  <p:slideViewPr>
    <p:cSldViewPr snapToGrid="0">
      <p:cViewPr varScale="1">
        <p:scale>
          <a:sx n="79" d="100"/>
          <a:sy n="79" d="100"/>
        </p:scale>
        <p:origin x="1020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내장 메소드 </a:t>
            </a:r>
            <a:endParaRPr lang="en-US" altLang="ko-KR" dirty="0"/>
          </a:p>
          <a:p>
            <a:r>
              <a:rPr lang="ko-KR" altLang="en-US" dirty="0"/>
              <a:t>프로그래밍 언어나 프레임워크에서 기본적으로 제공되는 메서드를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따로 설치하거나 추가 설정할 필요가 없다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문자열을 다루는데 유용한 기능들을 제공합니다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29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slice</a:t>
            </a:r>
            <a:r>
              <a:rPr lang="ko-KR" altLang="en-US" dirty="0"/>
              <a:t>의 매개변수로 </a:t>
            </a:r>
            <a:r>
              <a:rPr lang="ko-KR" altLang="en-US" dirty="0" err="1"/>
              <a:t>음수값이</a:t>
            </a:r>
            <a:r>
              <a:rPr lang="ko-KR" altLang="en-US" dirty="0"/>
              <a:t> 들어간다면 뒤에서부터 뺀다</a:t>
            </a:r>
            <a:r>
              <a:rPr lang="en-US" altLang="ko-KR" dirty="0"/>
              <a:t>. -1 </a:t>
            </a:r>
            <a:r>
              <a:rPr lang="ko-KR" altLang="en-US" dirty="0"/>
              <a:t>부터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맨뒤의</a:t>
            </a:r>
            <a:r>
              <a:rPr lang="ko-KR" altLang="en-US" baseline="0" dirty="0"/>
              <a:t> 문자를 가리키는 것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 err="1"/>
              <a:t>indexOf</a:t>
            </a:r>
            <a:r>
              <a:rPr lang="en-US" altLang="ko-KR" baseline="0" dirty="0"/>
              <a:t> – </a:t>
            </a:r>
            <a:r>
              <a:rPr lang="ko-KR" altLang="en-US" baseline="0" dirty="0"/>
              <a:t>공백은 무시</a:t>
            </a:r>
            <a:r>
              <a:rPr lang="en-US" altLang="ko-KR" baseline="0" dirty="0"/>
              <a:t>, </a:t>
            </a:r>
            <a:r>
              <a:rPr lang="ko-KR" altLang="en-US" baseline="0" dirty="0"/>
              <a:t>같은 문자열이 있으면 처음에 나오는 위치</a:t>
            </a:r>
            <a:r>
              <a:rPr lang="en-US" altLang="ko-KR" sz="1200" baseline="0" dirty="0"/>
              <a:t>, </a:t>
            </a:r>
            <a:r>
              <a:rPr lang="ko-KR" altLang="en-US" sz="1200" dirty="0"/>
              <a:t>매개변수로 아무 값이 들어가지 않는다면 </a:t>
            </a:r>
            <a:r>
              <a:rPr lang="en-US" altLang="ko-KR" sz="1200" dirty="0"/>
              <a:t>-1 </a:t>
            </a:r>
            <a:r>
              <a:rPr lang="ko-KR" altLang="en-US" sz="1200" dirty="0"/>
              <a:t>반환</a:t>
            </a:r>
            <a:endParaRPr lang="en-US" altLang="ko-KR" sz="120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// MDN(https://developer.mozilla.org/ko/docs/Web/JavaScript/Reference/Global_Objects/String)</a:t>
            </a:r>
            <a:endParaRPr lang="ko-KR" altLang="en-US" sz="1200" b="0" kern="1200" dirty="0">
              <a:solidFill>
                <a:schemeClr val="tx1"/>
              </a:solidFill>
              <a:effectLst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//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cs typeface="+mn-cs"/>
              </a:rPr>
              <a:t>mdn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사이트에 의하면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, string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타입의 속성은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length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하나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cs typeface="+mn-cs"/>
              </a:rPr>
              <a:t>메소드는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 다양함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81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slice</a:t>
            </a:r>
            <a:r>
              <a:rPr lang="ko-KR" altLang="en-US" dirty="0"/>
              <a:t>의 매개변수로 </a:t>
            </a:r>
            <a:r>
              <a:rPr lang="ko-KR" altLang="en-US" dirty="0" err="1"/>
              <a:t>음수값이</a:t>
            </a:r>
            <a:r>
              <a:rPr lang="ko-KR" altLang="en-US" dirty="0"/>
              <a:t> 들어간다면 뒤에서부터 뺀다</a:t>
            </a:r>
            <a:r>
              <a:rPr lang="en-US" altLang="ko-KR" dirty="0"/>
              <a:t>. -1 </a:t>
            </a:r>
            <a:r>
              <a:rPr lang="ko-KR" altLang="en-US" dirty="0"/>
              <a:t>부터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맨뒤의</a:t>
            </a:r>
            <a:r>
              <a:rPr lang="ko-KR" altLang="en-US" baseline="0" dirty="0"/>
              <a:t> 문자를 가리키는 것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dirty="0"/>
              <a:t>Replace – </a:t>
            </a:r>
            <a:r>
              <a:rPr lang="ko-KR" altLang="en-US" dirty="0"/>
              <a:t>같은 문자열은 첫 글자만 바뀜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445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split</a:t>
            </a:r>
            <a:r>
              <a:rPr lang="en-US" altLang="ko-KR" baseline="0" dirty="0"/>
              <a:t> </a:t>
            </a:r>
            <a:r>
              <a:rPr lang="ko-KR" altLang="en-US" baseline="0" dirty="0"/>
              <a:t>안의 문자열은 지금 </a:t>
            </a:r>
            <a:endParaRPr lang="en-US" altLang="ko-KR" baseline="0" dirty="0"/>
          </a:p>
          <a:p>
            <a:r>
              <a:rPr lang="en-US" altLang="ko-KR" baseline="0" dirty="0"/>
              <a:t>1) </a:t>
            </a:r>
            <a:r>
              <a:rPr lang="ko-KR" altLang="en-US" baseline="0" dirty="0"/>
              <a:t>빈 문자열이기 때문에 문자열의 모든 문자가 </a:t>
            </a:r>
            <a:r>
              <a:rPr lang="ko-KR" altLang="en-US" baseline="0" dirty="0" err="1"/>
              <a:t>배열로저장</a:t>
            </a:r>
            <a:endParaRPr lang="en-US" altLang="ko-KR" baseline="0" dirty="0"/>
          </a:p>
          <a:p>
            <a:r>
              <a:rPr lang="en-US" altLang="ko-KR" baseline="0" dirty="0"/>
              <a:t>2) </a:t>
            </a:r>
            <a:r>
              <a:rPr lang="ko-KR" altLang="en-US" baseline="0" dirty="0"/>
              <a:t>공백문자 기준으로 자른 것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뒤에 공백 더 있다면 아무 문자열도 없기 때문에 빈 문자열도 배열로 저장됨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ko-KR" altLang="en-US" baseline="0" dirty="0"/>
              <a:t>코드 치러 </a:t>
            </a:r>
            <a:r>
              <a:rPr lang="ko-KR" altLang="en-US" baseline="0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82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273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바로 코딩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146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i</a:t>
            </a:r>
            <a:r>
              <a:rPr lang="en-US" altLang="ko-KR" dirty="0"/>
              <a:t>=0~ </a:t>
            </a:r>
            <a:r>
              <a:rPr lang="ko-KR" altLang="en-US" dirty="0"/>
              <a:t>배열의 요소 크기 길이 만큼 돌아야겠죠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모든 배열을 출력하기 위해서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 </a:t>
            </a:r>
            <a:r>
              <a:rPr lang="en-US" altLang="ko-KR" dirty="0"/>
              <a:t>0~5</a:t>
            </a:r>
            <a:r>
              <a:rPr lang="ko-KR" altLang="en-US" dirty="0"/>
              <a:t>까지 </a:t>
            </a:r>
            <a:r>
              <a:rPr lang="ko-KR" altLang="en-US" dirty="0" err="1"/>
              <a:t>가야하니까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454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한번 보시고 나중에 해봐라</a:t>
            </a:r>
            <a:r>
              <a:rPr lang="en-US" altLang="ko-KR" dirty="0"/>
              <a:t>. </a:t>
            </a:r>
            <a:r>
              <a:rPr lang="ko-KR" altLang="en-US" dirty="0"/>
              <a:t>실습용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702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모두 </a:t>
            </a:r>
            <a:r>
              <a:rPr lang="ko-KR" altLang="en-US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콜백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함수를 매개변수로 사용</a:t>
            </a:r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. --&gt; </a:t>
            </a:r>
            <a:r>
              <a:rPr lang="ko-KR" altLang="en-US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콜백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함수가 모든 요소에 대해 동작 수행</a:t>
            </a:r>
            <a:endParaRPr lang="ko-KR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익명함수로 정의</a:t>
            </a:r>
            <a:endParaRPr lang="ko-KR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// Q) 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익명함수 란</a:t>
            </a:r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?</a:t>
            </a:r>
            <a:endParaRPr lang="ko-KR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// A) 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이름이 없는 함수</a:t>
            </a:r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// - 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보통 함수를 정의할 때 일반적으로 함수명을 지정하여 사용하는데 함수 이름을 생략하고 직접 함수를 작성한 것</a:t>
            </a:r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// - </a:t>
            </a:r>
            <a:r>
              <a:rPr lang="ko-KR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함수를 변수에 할당하여 사용</a:t>
            </a:r>
            <a:r>
              <a:rPr lang="en-US" altLang="ko-KR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743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진형 참고 </a:t>
            </a:r>
            <a:r>
              <a:rPr lang="en-US" altLang="ko-KR" dirty="0"/>
              <a:t>for in</a:t>
            </a:r>
            <a:r>
              <a:rPr lang="ko-KR" altLang="en-US" dirty="0"/>
              <a:t>은 원래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ko-KR" altLang="en-US" dirty="0"/>
              <a:t>형에 돌릴 수 있는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717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5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44448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447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66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5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78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0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4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6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7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41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문자열 관련</a:t>
            </a:r>
            <a:br>
              <a:rPr lang="en-US" altLang="ko-KR" sz="8000" dirty="0"/>
            </a:br>
            <a:r>
              <a:rPr lang="ko-KR" altLang="en-US" sz="8000" dirty="0"/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124079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618896" y="1056911"/>
            <a:ext cx="11058007" cy="520632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length</a:t>
            </a:r>
            <a:r>
              <a:rPr lang="en-US" altLang="ko-KR" sz="2400" dirty="0">
                <a:latin typeface="+mn-ea"/>
                <a:ea typeface="+mn-ea"/>
              </a:rPr>
              <a:t> : </a:t>
            </a:r>
            <a:r>
              <a:rPr lang="ko-KR" altLang="en-US" sz="2400" dirty="0">
                <a:latin typeface="+mn-ea"/>
                <a:ea typeface="+mn-ea"/>
              </a:rPr>
              <a:t>문자열의 길이를 반환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 err="1">
                <a:latin typeface="+mn-ea"/>
                <a:ea typeface="+mn-ea"/>
              </a:rPr>
              <a:t>공백포함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2400" dirty="0">
                <a:latin typeface="+mn-ea"/>
                <a:ea typeface="+mn-ea"/>
              </a:rPr>
              <a:t>      			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toUpperCase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 &amp; </a:t>
            </a: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toLowerCase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 전체를 대문자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혹은 소문자로 변경</a:t>
            </a:r>
            <a:endParaRPr lang="en-US" altLang="ko-KR" sz="2400" dirty="0">
              <a:latin typeface="+mn-ea"/>
              <a:ea typeface="+mn-ea"/>
            </a:endParaRPr>
          </a:p>
          <a:p>
            <a:pPr lvl="1">
              <a:lnSpc>
                <a:spcPct val="200000"/>
              </a:lnSpc>
            </a:pPr>
            <a:r>
              <a:rPr lang="en-US" altLang="ko-KR" sz="2400" dirty="0">
                <a:latin typeface="+mn-ea"/>
              </a:rPr>
              <a:t>  				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indexOf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(‘’)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문자열을 받아서 </a:t>
            </a:r>
            <a:r>
              <a:rPr lang="ko-KR" altLang="en-US" sz="2400" dirty="0" err="1">
                <a:latin typeface="+mn-ea"/>
                <a:ea typeface="+mn-ea"/>
              </a:rPr>
              <a:t>몇번째</a:t>
            </a:r>
            <a:r>
              <a:rPr lang="ko-KR" altLang="en-US" sz="2400" dirty="0">
                <a:latin typeface="+mn-ea"/>
                <a:ea typeface="+mn-ea"/>
              </a:rPr>
              <a:t> 인덱스인지 숫자 반환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5D3F26-8C6C-3EE6-4849-F28DFDC5D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207" y="1939771"/>
            <a:ext cx="6533198" cy="5973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B2C9EBB-D53E-578C-0562-16FF803C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843" y="3272807"/>
            <a:ext cx="6526563" cy="77453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1839380-7C1E-4029-D731-2D62A0A4C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842" y="4978006"/>
            <a:ext cx="6526563" cy="63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2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618896" y="1056911"/>
            <a:ext cx="11058007" cy="520632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slice(start, end) </a:t>
            </a:r>
            <a:r>
              <a:rPr lang="en-US" altLang="ko-KR" sz="2400" dirty="0">
                <a:latin typeface="+mn-ea"/>
                <a:ea typeface="+mn-ea"/>
              </a:rPr>
              <a:t>: start </a:t>
            </a:r>
            <a:r>
              <a:rPr lang="ko-KR" altLang="en-US" sz="2400" dirty="0">
                <a:latin typeface="+mn-ea"/>
                <a:ea typeface="+mn-ea"/>
              </a:rPr>
              <a:t>부터 </a:t>
            </a:r>
            <a:r>
              <a:rPr lang="en-US" altLang="ko-KR" sz="2400" dirty="0">
                <a:latin typeface="+mn-ea"/>
                <a:ea typeface="+mn-ea"/>
              </a:rPr>
              <a:t>end-1 </a:t>
            </a:r>
            <a:r>
              <a:rPr lang="ko-KR" altLang="en-US" sz="2400" dirty="0">
                <a:latin typeface="+mn-ea"/>
                <a:ea typeface="+mn-ea"/>
              </a:rPr>
              <a:t>까지 </a:t>
            </a:r>
            <a:r>
              <a:rPr lang="ko-KR" altLang="en-US" sz="2400" dirty="0" err="1">
                <a:latin typeface="+mn-ea"/>
                <a:ea typeface="+mn-ea"/>
              </a:rPr>
              <a:t>슬라이싱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해당 부분 문자열 추출</a:t>
            </a:r>
            <a:r>
              <a:rPr lang="en-US" altLang="ko-KR" sz="24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+mn-ea"/>
                <a:ea typeface="+mn-ea"/>
              </a:rPr>
              <a:t>		          </a:t>
            </a:r>
            <a:r>
              <a:rPr lang="ko-KR" altLang="en-US" sz="2400" dirty="0">
                <a:latin typeface="+mn-ea"/>
                <a:ea typeface="+mn-ea"/>
              </a:rPr>
              <a:t>매개변수로 </a:t>
            </a:r>
            <a:r>
              <a:rPr lang="ko-KR" altLang="en-US" sz="2400" dirty="0" err="1">
                <a:latin typeface="+mn-ea"/>
                <a:ea typeface="+mn-ea"/>
              </a:rPr>
              <a:t>음수값도</a:t>
            </a:r>
            <a:r>
              <a:rPr lang="ko-KR" altLang="en-US" sz="2400" dirty="0">
                <a:latin typeface="+mn-ea"/>
                <a:ea typeface="+mn-ea"/>
              </a:rPr>
              <a:t> 가능</a:t>
            </a:r>
            <a:endParaRPr lang="en-US" altLang="ko-KR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replace(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 </a:t>
            </a:r>
            <a:r>
              <a:rPr lang="en-US" altLang="ko-KR" sz="2400" dirty="0">
                <a:latin typeface="+mn-ea"/>
                <a:ea typeface="+mn-ea"/>
              </a:rPr>
              <a:t>: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문자열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변경</a:t>
            </a: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replaceAll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</a:t>
            </a:r>
            <a:r>
              <a:rPr lang="ko-KR" altLang="en-US" sz="2400" dirty="0" err="1">
                <a:latin typeface="+mn-ea"/>
                <a:ea typeface="+mn-ea"/>
              </a:rPr>
              <a:t>전부찾아서</a:t>
            </a:r>
            <a:r>
              <a:rPr lang="ko-KR" altLang="en-US" sz="2400" dirty="0">
                <a:latin typeface="+mn-ea"/>
                <a:ea typeface="+mn-ea"/>
              </a:rPr>
              <a:t> 문자열 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</a:t>
            </a:r>
            <a:r>
              <a:rPr lang="ko-KR" altLang="en-US" sz="2400" dirty="0" err="1">
                <a:latin typeface="+mn-ea"/>
                <a:ea typeface="+mn-ea"/>
              </a:rPr>
              <a:t>바꿔줌</a:t>
            </a:r>
            <a:endParaRPr lang="en-US" altLang="ko-KR" sz="24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       </a:t>
            </a:r>
            <a:r>
              <a:rPr lang="en-US" altLang="ko-KR" sz="2000" dirty="0">
                <a:latin typeface="+mn-ea"/>
                <a:ea typeface="+mn-ea"/>
              </a:rPr>
              <a:t>					</a:t>
            </a:r>
          </a:p>
          <a:p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repeat(n)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문자열에 대해 </a:t>
            </a:r>
            <a:r>
              <a:rPr lang="en-US" altLang="ko-KR" sz="2400" dirty="0">
                <a:latin typeface="+mn-ea"/>
                <a:ea typeface="+mn-ea"/>
              </a:rPr>
              <a:t>n</a:t>
            </a:r>
            <a:r>
              <a:rPr lang="ko-KR" altLang="en-US" sz="2400" dirty="0">
                <a:latin typeface="+mn-ea"/>
                <a:ea typeface="+mn-ea"/>
              </a:rPr>
              <a:t>번 반복</a:t>
            </a:r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488234-1590-9464-662F-68DE49F0C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82" y="2372041"/>
            <a:ext cx="7301067" cy="6355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D80E6B-B3A9-67EF-8131-45CAF195F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82" y="3850442"/>
            <a:ext cx="7301067" cy="52052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9E84F7-DCAB-EF67-7685-86926B2C4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682" y="5070490"/>
            <a:ext cx="7301066" cy="4164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E873633-A463-00AB-5E1F-9923472E9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267" y="5623927"/>
            <a:ext cx="5671837" cy="44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8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790697" y="1260909"/>
            <a:ext cx="10515600" cy="463397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latin typeface="+mn-ea"/>
                <a:ea typeface="+mn-ea"/>
              </a:rPr>
              <a:t>    </a:t>
            </a:r>
          </a:p>
          <a:p>
            <a:pPr marL="571500" lvl="1" indent="-5715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</a:rPr>
              <a:t>trim() 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문자열의 양끝 공백 없애기</a:t>
            </a:r>
            <a:endParaRPr lang="en-US" altLang="ko-KR" sz="2000" dirty="0">
              <a:latin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split()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들어온 문자열을 기준으로 </a:t>
            </a:r>
            <a:r>
              <a:rPr lang="en-US" altLang="ko-KR" sz="2400" dirty="0" err="1">
                <a:latin typeface="+mn-ea"/>
                <a:ea typeface="+mn-ea"/>
              </a:rPr>
              <a:t>str</a:t>
            </a:r>
            <a:r>
              <a:rPr lang="ko-KR" altLang="en-US" sz="2400" dirty="0">
                <a:latin typeface="+mn-ea"/>
                <a:ea typeface="+mn-ea"/>
              </a:rPr>
              <a:t>을 쪼개서 배열로 저장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CDBE78-E3C4-DE37-921D-603876BF1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032" y="2977259"/>
            <a:ext cx="4587394" cy="6473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0590DAF-1240-3253-9F96-8ADC69DAC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032" y="4436071"/>
            <a:ext cx="4689336" cy="6473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180CBA7-6040-D05F-DA50-CBC58ACC9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243" y="3795836"/>
            <a:ext cx="8734582" cy="471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EC05636-8D56-9180-BBEE-F8283C51E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6243" y="5356336"/>
            <a:ext cx="4578470" cy="6473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C368C708-155D-E547-EC86-29CE53711C55}"/>
              </a:ext>
            </a:extLst>
          </p:cNvPr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4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배열 관련</a:t>
            </a:r>
            <a:br>
              <a:rPr lang="en-US" altLang="ko-KR" sz="8000" dirty="0"/>
            </a:br>
            <a:r>
              <a:rPr lang="ko-KR" altLang="en-US" sz="8000" dirty="0"/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79021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F47503-C3D9-ADDA-0E56-00D378F89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push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  <a:r>
              <a:rPr lang="en-US" altLang="ko-KR" dirty="0"/>
              <a:t>: </a:t>
            </a:r>
            <a:r>
              <a:rPr lang="ko-KR" altLang="en-US" dirty="0"/>
              <a:t>배열 끝에 추가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pop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(): </a:t>
            </a:r>
            <a:r>
              <a:rPr lang="ko-KR" altLang="en-US" dirty="0"/>
              <a:t>배열</a:t>
            </a:r>
            <a:r>
              <a:rPr lang="en-US" altLang="ko-KR" dirty="0"/>
              <a:t> </a:t>
            </a:r>
            <a:r>
              <a:rPr lang="ko-KR" altLang="en-US" dirty="0"/>
              <a:t>끝 요소 제거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shift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r>
              <a:rPr lang="en-US" altLang="ko-KR" dirty="0"/>
              <a:t>, </a:t>
            </a:r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unshift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r>
              <a:rPr lang="en-US" altLang="ko-KR" dirty="0"/>
              <a:t>: </a:t>
            </a:r>
            <a:r>
              <a:rPr lang="ko-KR" altLang="en-US" dirty="0"/>
              <a:t>배열</a:t>
            </a:r>
            <a:r>
              <a:rPr lang="en-US" altLang="ko-KR" dirty="0"/>
              <a:t> </a:t>
            </a:r>
            <a:r>
              <a:rPr lang="ko-KR" altLang="en-US" dirty="0"/>
              <a:t>앞에 제거</a:t>
            </a:r>
            <a:r>
              <a:rPr lang="en-US" altLang="ko-KR" dirty="0"/>
              <a:t>/</a:t>
            </a:r>
            <a:r>
              <a:rPr lang="ko-KR" altLang="en-US" dirty="0"/>
              <a:t>추가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include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요소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altLang="ko-KR" dirty="0"/>
              <a:t>: </a:t>
            </a:r>
            <a:r>
              <a:rPr lang="ko-KR" altLang="en-US" dirty="0"/>
              <a:t>배열에 해당 요소가 있는지 확인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A5B06-7851-4E64-BDFA-E6632CEF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846C2-718A-38FE-51B4-65052E1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195AB24-A38C-BF43-90A1-CE5371A3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6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F47503-C3D9-ADDA-0E56-00D378F8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351338"/>
          </a:xfrm>
        </p:spPr>
        <p:txBody>
          <a:bodyPr/>
          <a:lstStyle/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length</a:t>
            </a:r>
            <a:r>
              <a:rPr lang="en-US" altLang="ko-KR" dirty="0"/>
              <a:t> : </a:t>
            </a:r>
            <a:r>
              <a:rPr lang="ko-KR" altLang="en-US" dirty="0"/>
              <a:t>배열의 길이 반환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indexOf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r>
              <a:rPr lang="en-US" altLang="ko-KR" dirty="0"/>
              <a:t> : </a:t>
            </a:r>
            <a:r>
              <a:rPr lang="ko-KR" altLang="en-US" dirty="0"/>
              <a:t>문자열에서의 </a:t>
            </a:r>
            <a:r>
              <a:rPr lang="en-US" altLang="ko-KR" dirty="0" err="1"/>
              <a:t>indexOf</a:t>
            </a:r>
            <a:r>
              <a:rPr lang="ko-KR" altLang="en-US" dirty="0"/>
              <a:t>와 마찬가지로 매개변수에 해당하는 배열의 인덱스를 </a:t>
            </a:r>
            <a:r>
              <a:rPr lang="ko-KR" altLang="en-US" dirty="0" err="1"/>
              <a:t>받아옴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매개변수로 문자열만 넣을 수 있는 것은 아님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reverse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배열 순서 뒤집어서 반환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join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r>
              <a:rPr lang="en-US" altLang="ko-KR" dirty="0"/>
              <a:t>: join </a:t>
            </a:r>
            <a:r>
              <a:rPr lang="ko-KR" altLang="en-US" dirty="0"/>
              <a:t>안의 문자열 기준으로 문자열로 병합</a:t>
            </a:r>
          </a:p>
          <a:p>
            <a:endParaRPr lang="ko-KR" altLang="en-US" dirty="0" err="1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A5B06-7851-4E64-BDFA-E6632CEF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846C2-718A-38FE-51B4-65052E1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195AB24-A38C-BF43-90A1-CE5371A3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3975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메소드 </a:t>
            </a:r>
            <a:r>
              <a:rPr lang="ko-KR" altLang="en-US" sz="8000" dirty="0" err="1"/>
              <a:t>체이닝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13775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0E87A94-BF63-527D-7173-011C4656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23" y="1565213"/>
            <a:ext cx="11189677" cy="4885192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여러 메소드를 연결해서 사용하는 개념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사용한 </a:t>
            </a:r>
            <a:r>
              <a:rPr lang="ko-KR" altLang="en-US" dirty="0">
                <a:solidFill>
                  <a:schemeClr val="accent1"/>
                </a:solidFill>
              </a:rPr>
              <a:t>메소드가 반환</a:t>
            </a:r>
            <a:r>
              <a:rPr lang="en-US" altLang="ko-KR" dirty="0">
                <a:solidFill>
                  <a:schemeClr val="accent1"/>
                </a:solidFill>
              </a:rPr>
              <a:t>(return) </a:t>
            </a:r>
            <a:r>
              <a:rPr lang="ko-KR" altLang="en-US" dirty="0">
                <a:solidFill>
                  <a:schemeClr val="accent1"/>
                </a:solidFill>
              </a:rPr>
              <a:t>값</a:t>
            </a:r>
            <a:r>
              <a:rPr lang="ko-KR" altLang="en-US" dirty="0"/>
              <a:t>을 가지고 있는 경우에만 사용이 가능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chemeClr val="accent3"/>
                </a:solidFill>
              </a:rPr>
              <a:t>‘</a:t>
            </a:r>
            <a:r>
              <a:rPr lang="en-US" altLang="ko-KR" dirty="0" err="1">
                <a:solidFill>
                  <a:schemeClr val="accent3"/>
                </a:solidFill>
              </a:rPr>
              <a:t>hello’</a:t>
            </a:r>
            <a:r>
              <a:rPr lang="en-US" altLang="ko-KR" dirty="0" err="1">
                <a:solidFill>
                  <a:schemeClr val="accent1"/>
                </a:solidFill>
              </a:rPr>
              <a:t>.split</a:t>
            </a:r>
            <a:r>
              <a:rPr lang="en-US" altLang="ko-KR" dirty="0">
                <a:solidFill>
                  <a:schemeClr val="accent1"/>
                </a:solidFill>
              </a:rPr>
              <a:t>(“”)</a:t>
            </a:r>
            <a:r>
              <a:rPr lang="en-US" altLang="ko-KR" dirty="0"/>
              <a:t> </a:t>
            </a:r>
            <a:r>
              <a:rPr lang="ko-KR" altLang="en-US" dirty="0"/>
              <a:t>➡</a:t>
            </a:r>
            <a:r>
              <a:rPr lang="en-US" altLang="ko-KR" dirty="0"/>
              <a:t> [‘H’, ‘e’, ‘l’, ‘l’, ‘o’] </a:t>
            </a:r>
            <a:r>
              <a:rPr lang="ko-KR" altLang="en-US" dirty="0"/>
              <a:t>라는 배열이 반환 됨</a:t>
            </a:r>
          </a:p>
          <a:p>
            <a:endParaRPr lang="en-US" altLang="ko-KR" dirty="0"/>
          </a:p>
          <a:p>
            <a:r>
              <a:rPr lang="ko-KR" altLang="en-US" dirty="0"/>
              <a:t>배열에는 </a:t>
            </a:r>
            <a:r>
              <a:rPr lang="en-US" altLang="ko-KR" dirty="0"/>
              <a:t>reverse() </a:t>
            </a:r>
            <a:r>
              <a:rPr lang="ko-KR" altLang="en-US" dirty="0"/>
              <a:t>라는 메소드가 존재</a:t>
            </a:r>
          </a:p>
          <a:p>
            <a:r>
              <a:rPr lang="ko-KR" altLang="en-US" dirty="0">
                <a:solidFill>
                  <a:schemeClr val="accent3"/>
                </a:solidFill>
              </a:rPr>
              <a:t>‘</a:t>
            </a:r>
            <a:r>
              <a:rPr lang="en-US" altLang="ko-KR" dirty="0" err="1">
                <a:solidFill>
                  <a:schemeClr val="accent3"/>
                </a:solidFill>
              </a:rPr>
              <a:t>hello’</a:t>
            </a:r>
            <a:r>
              <a:rPr lang="en-US" altLang="ko-KR" dirty="0" err="1">
                <a:solidFill>
                  <a:schemeClr val="accent1"/>
                </a:solidFill>
              </a:rPr>
              <a:t>.split</a:t>
            </a:r>
            <a:r>
              <a:rPr lang="en-US" altLang="ko-KR" dirty="0">
                <a:solidFill>
                  <a:schemeClr val="accent1"/>
                </a:solidFill>
              </a:rPr>
              <a:t>(“”)</a:t>
            </a:r>
            <a:r>
              <a:rPr lang="en-US" altLang="ko-KR" dirty="0">
                <a:solidFill>
                  <a:schemeClr val="accent5"/>
                </a:solidFill>
              </a:rPr>
              <a:t>.reverse()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/>
              <a:t>[‘H’, ‘e’, ‘l’, ‘l’, ‘o’]</a:t>
            </a:r>
            <a:r>
              <a:rPr lang="en-US" altLang="ko-KR" dirty="0">
                <a:solidFill>
                  <a:schemeClr val="accent5"/>
                </a:solidFill>
              </a:rPr>
              <a:t>.reverse()</a:t>
            </a:r>
            <a:r>
              <a:rPr lang="en-US" altLang="ko-KR" dirty="0"/>
              <a:t> </a:t>
            </a:r>
            <a:r>
              <a:rPr lang="ko-KR" altLang="en-US" dirty="0"/>
              <a:t>와 동일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[‘H’, ‘e’, ‘l’, ‘l’, ‘o’].reverse() </a:t>
            </a:r>
            <a:r>
              <a:rPr lang="ko-KR" altLang="en-US" dirty="0"/>
              <a:t>➡</a:t>
            </a:r>
            <a:r>
              <a:rPr lang="en-US" altLang="ko-KR" dirty="0"/>
              <a:t> [‘</a:t>
            </a:r>
            <a:r>
              <a:rPr lang="en-US" altLang="ko-KR" dirty="0" err="1"/>
              <a:t>o’,’l’,’l’,’e’,’H</a:t>
            </a:r>
            <a:r>
              <a:rPr lang="en-US" altLang="ko-KR" dirty="0"/>
              <a:t>’] </a:t>
            </a:r>
            <a:r>
              <a:rPr lang="ko-KR" altLang="en-US" dirty="0"/>
              <a:t>와 동일</a:t>
            </a:r>
          </a:p>
          <a:p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‘</a:t>
            </a:r>
            <a:r>
              <a:rPr lang="en-US" altLang="ko-KR" dirty="0" err="1">
                <a:solidFill>
                  <a:schemeClr val="accent3"/>
                </a:solidFill>
              </a:rPr>
              <a:t>hello’</a:t>
            </a:r>
            <a:r>
              <a:rPr lang="en-US" altLang="ko-KR" dirty="0" err="1">
                <a:solidFill>
                  <a:schemeClr val="accent1"/>
                </a:solidFill>
              </a:rPr>
              <a:t>.split</a:t>
            </a:r>
            <a:r>
              <a:rPr lang="en-US" altLang="ko-KR" dirty="0">
                <a:solidFill>
                  <a:schemeClr val="accent1"/>
                </a:solidFill>
              </a:rPr>
              <a:t>(“”)</a:t>
            </a:r>
            <a:r>
              <a:rPr lang="en-US" altLang="ko-KR" dirty="0">
                <a:solidFill>
                  <a:schemeClr val="accent5"/>
                </a:solidFill>
              </a:rPr>
              <a:t>.reverse()</a:t>
            </a:r>
            <a:r>
              <a:rPr lang="en-US" altLang="ko-KR" dirty="0">
                <a:solidFill>
                  <a:srgbClr val="FF0000"/>
                </a:solidFill>
              </a:rPr>
              <a:t>.join(“”)</a:t>
            </a:r>
            <a:r>
              <a:rPr lang="en-US" altLang="ko-KR" dirty="0"/>
              <a:t> </a:t>
            </a:r>
            <a:r>
              <a:rPr lang="ko-KR" altLang="en-US" dirty="0"/>
              <a:t>➡</a:t>
            </a:r>
            <a:r>
              <a:rPr lang="en-US" altLang="ko-KR" dirty="0"/>
              <a:t> [‘</a:t>
            </a:r>
            <a:r>
              <a:rPr lang="en-US" altLang="ko-KR" dirty="0" err="1"/>
              <a:t>o’,’l’,’l’,’e’,’H</a:t>
            </a:r>
            <a:r>
              <a:rPr lang="en-US" altLang="ko-KR" dirty="0"/>
              <a:t>’]</a:t>
            </a:r>
            <a:r>
              <a:rPr lang="en-US" altLang="ko-KR" dirty="0">
                <a:solidFill>
                  <a:srgbClr val="FF0000"/>
                </a:solidFill>
              </a:rPr>
              <a:t>.join(“”)</a:t>
            </a:r>
            <a:r>
              <a:rPr lang="en-US" altLang="ko-KR" dirty="0"/>
              <a:t> </a:t>
            </a:r>
            <a:r>
              <a:rPr lang="ko-KR" altLang="en-US" dirty="0"/>
              <a:t>과 동일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6FFCAC-4F08-9FC1-7B1C-4340DFA6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D12F52-828F-E039-1B4C-A4017E13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9539C47-3398-88D4-3FF0-C6E6877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메소드 </a:t>
            </a:r>
            <a:r>
              <a:rPr lang="ko-KR" altLang="en-US" dirty="0" err="1"/>
              <a:t>체이닝</a:t>
            </a:r>
            <a:r>
              <a:rPr lang="ko-KR" altLang="en-US" dirty="0"/>
              <a:t> </a:t>
            </a:r>
            <a:r>
              <a:rPr lang="en-US" altLang="ko-KR" dirty="0"/>
              <a:t>(method</a:t>
            </a:r>
            <a:r>
              <a:rPr lang="ko-KR" altLang="en-US" dirty="0"/>
              <a:t> </a:t>
            </a:r>
            <a:r>
              <a:rPr lang="en-US" altLang="ko-KR" dirty="0"/>
              <a:t>chaining)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861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8217F2-D36A-5CEC-00A6-945EAF01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F6F8C45-9E59-535A-4D1F-7D6ABE3B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0CAE24-4239-0E74-8357-F289B236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배열에서 반복</a:t>
            </a:r>
          </a:p>
        </p:txBody>
      </p:sp>
    </p:spTree>
    <p:extLst>
      <p:ext uri="{BB962C8B-B14F-4D97-AF65-F5344CB8AC3E}">
        <p14:creationId xmlns:p14="http://schemas.microsoft.com/office/powerpoint/2010/main" val="180271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6092C00-3C4D-3324-AFF8-631D706AE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3F1AD5-28FD-4DBA-DFE2-D460A2BD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EC18F-EA1B-6551-EEDA-8D9F6247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299CAAC-9452-CEFE-5CA0-7D210A3E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1"/>
                </a:solidFill>
              </a:rPr>
              <a:t>기본 </a:t>
            </a:r>
            <a:r>
              <a:rPr lang="en-US" altLang="ko-KR" dirty="0">
                <a:solidFill>
                  <a:schemeClr val="accent1"/>
                </a:solidFill>
              </a:rPr>
              <a:t>for</a:t>
            </a:r>
            <a:r>
              <a:rPr lang="ko-KR" altLang="en-US" dirty="0">
                <a:solidFill>
                  <a:schemeClr val="accent1"/>
                </a:solidFill>
              </a:rPr>
              <a:t>문 </a:t>
            </a:r>
            <a:r>
              <a:rPr lang="ko-KR" altLang="en-US" dirty="0"/>
              <a:t>사용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7D0C0-1FA2-E08F-C57D-6ABD01CAEFAB}"/>
              </a:ext>
            </a:extLst>
          </p:cNvPr>
          <p:cNvSpPr txBox="1"/>
          <p:nvPr/>
        </p:nvSpPr>
        <p:spPr>
          <a:xfrm>
            <a:off x="731939" y="1600582"/>
            <a:ext cx="8621786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9080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3099348-D45F-2737-7184-9984E4236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for of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A928B-A4DF-AE90-01C8-04CC6E9B865E}"/>
              </a:ext>
            </a:extLst>
          </p:cNvPr>
          <p:cNvSpPr txBox="1"/>
          <p:nvPr/>
        </p:nvSpPr>
        <p:spPr>
          <a:xfrm>
            <a:off x="731939" y="1600582"/>
            <a:ext cx="8621786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0398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[].</a:t>
            </a:r>
            <a:r>
              <a:rPr lang="en-US" altLang="ko-KR" dirty="0" err="1">
                <a:solidFill>
                  <a:schemeClr val="accent1"/>
                </a:solidFill>
              </a:rPr>
              <a:t>forEach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7AE21-DD4A-5975-D523-7BC9D3C28787}"/>
              </a:ext>
            </a:extLst>
          </p:cNvPr>
          <p:cNvSpPr txBox="1"/>
          <p:nvPr/>
        </p:nvSpPr>
        <p:spPr>
          <a:xfrm>
            <a:off x="1815626" y="1285976"/>
            <a:ext cx="8560748" cy="50423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016253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</a:t>
            </a:r>
            <a:r>
              <a:rPr lang="ko-KR" altLang="en-US" dirty="0">
                <a:solidFill>
                  <a:schemeClr val="accent1"/>
                </a:solidFill>
              </a:rPr>
              <a:t>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4224C-FD2E-6A16-0874-4558D2291B77}"/>
              </a:ext>
            </a:extLst>
          </p:cNvPr>
          <p:cNvSpPr txBox="1"/>
          <p:nvPr/>
        </p:nvSpPr>
        <p:spPr>
          <a:xfrm>
            <a:off x="3048699" y="751344"/>
            <a:ext cx="6094602" cy="53553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</a:t>
            </a:r>
            <a:r>
              <a:rPr lang="en-US" altLang="ko-KR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73506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7D7C6-9EFB-2E7A-25B1-FB720328B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565" y="1373237"/>
            <a:ext cx="10904621" cy="5032375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arr.</a:t>
            </a:r>
            <a:r>
              <a:rPr lang="en-US" altLang="ko-KR" dirty="0" err="1">
                <a:highlight>
                  <a:srgbClr val="FFFF00"/>
                </a:highlight>
              </a:rPr>
              <a:t>filter</a:t>
            </a:r>
            <a:r>
              <a:rPr lang="en-US" altLang="ko-KR" dirty="0">
                <a:highlight>
                  <a:srgbClr val="FFFF00"/>
                </a:highlight>
              </a:rPr>
              <a:t>()</a:t>
            </a:r>
          </a:p>
          <a:p>
            <a:pPr lvl="1"/>
            <a:r>
              <a:rPr lang="ko-KR" altLang="en-US" dirty="0"/>
              <a:t>배열 내부에서 조건에 부합하는 요소만 찾아서 </a:t>
            </a:r>
            <a:r>
              <a:rPr lang="en-US" altLang="ko-KR" dirty="0"/>
              <a:t>“</a:t>
            </a:r>
            <a:r>
              <a:rPr lang="ko-KR" altLang="en-US" dirty="0"/>
              <a:t>배열로</a:t>
            </a:r>
            <a:r>
              <a:rPr lang="en-US" altLang="ko-KR" dirty="0"/>
              <a:t>” </a:t>
            </a:r>
            <a:r>
              <a:rPr lang="ko-KR" altLang="en-US" dirty="0"/>
              <a:t>반환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highlight>
                  <a:srgbClr val="FFFF00"/>
                </a:highlight>
              </a:rPr>
              <a:t>find</a:t>
            </a:r>
            <a:r>
              <a:rPr lang="en-US" altLang="ko-KR" dirty="0">
                <a:highlight>
                  <a:srgbClr val="FFFF00"/>
                </a:highlight>
              </a:rPr>
              <a:t>()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배열 내부에서 조건에 부합하는 첫번째 요소를 찾아서 </a:t>
            </a:r>
            <a:r>
              <a:rPr lang="en-US" altLang="ko-KR" dirty="0"/>
              <a:t>“</a:t>
            </a:r>
            <a:r>
              <a:rPr lang="ko-KR" altLang="en-US" dirty="0"/>
              <a:t>값</a:t>
            </a:r>
            <a:r>
              <a:rPr lang="en-US" altLang="ko-KR" dirty="0"/>
              <a:t>”</a:t>
            </a:r>
            <a:r>
              <a:rPr lang="ko-KR" altLang="en-US" dirty="0"/>
              <a:t>으로 반환</a:t>
            </a:r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highlight>
                  <a:srgbClr val="FFFF00"/>
                </a:highlight>
              </a:rPr>
              <a:t>map</a:t>
            </a:r>
            <a:r>
              <a:rPr lang="en-US" altLang="ko-KR" dirty="0">
                <a:highlight>
                  <a:srgbClr val="FFFF00"/>
                </a:highlight>
              </a:rPr>
              <a:t>()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익명함수에 쓰여진 연산결과를 새로운 배열로 반환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위의 메소드들은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</a:rPr>
              <a:t>매개변수로 익명함수</a:t>
            </a:r>
            <a:r>
              <a:rPr lang="ko-KR" altLang="en-US" dirty="0"/>
              <a:t>가 들어간다는 공통점이 있음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8BACF0-7E65-E056-AAF1-BA92C8B6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배열에서의 기타 메소드</a:t>
            </a:r>
          </a:p>
        </p:txBody>
      </p:sp>
    </p:spTree>
    <p:extLst>
      <p:ext uri="{BB962C8B-B14F-4D97-AF65-F5344CB8AC3E}">
        <p14:creationId xmlns:p14="http://schemas.microsoft.com/office/powerpoint/2010/main" val="192132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16B118-123D-F8E9-8516-BDA2C147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Object </a:t>
            </a:r>
            <a:r>
              <a:rPr lang="ko-KR" altLang="en-US" dirty="0"/>
              <a:t>에 사용가능한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r>
              <a:rPr lang="en-US" altLang="ko-KR" dirty="0"/>
              <a:t>Key</a:t>
            </a:r>
            <a:r>
              <a:rPr lang="ko-KR" altLang="en-US" dirty="0"/>
              <a:t>로 접근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88FBBF-0F1E-354D-365A-7949C3FC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</a:t>
            </a:r>
            <a:r>
              <a:rPr lang="en-US" altLang="ko-KR" dirty="0"/>
              <a:t>+ for ~ in…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A6E3B-F544-C74F-7929-614AA30AD785}"/>
              </a:ext>
            </a:extLst>
          </p:cNvPr>
          <p:cNvSpPr txBox="1"/>
          <p:nvPr/>
        </p:nvSpPr>
        <p:spPr>
          <a:xfrm>
            <a:off x="1210587" y="3077964"/>
            <a:ext cx="6094674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(let</a:t>
            </a:r>
            <a:r>
              <a:rPr lang="ko-KR" altLang="en-US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93134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4380</TotalTime>
  <Words>1210</Words>
  <Application>Microsoft Office PowerPoint</Application>
  <PresentationFormat>와이드스크린</PresentationFormat>
  <Paragraphs>193</Paragraphs>
  <Slides>17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PretendardGOV</vt:lpstr>
      <vt:lpstr>맑은 고딕</vt:lpstr>
      <vt:lpstr>Arial</vt:lpstr>
      <vt:lpstr>Consolas</vt:lpstr>
      <vt:lpstr>2_Office 테마</vt:lpstr>
      <vt:lpstr>웹 개발자 부트캠프 과정</vt:lpstr>
      <vt:lpstr>문자열 관련 내장 메소드</vt:lpstr>
      <vt:lpstr>PowerPoint 프레젠테이션</vt:lpstr>
      <vt:lpstr>PowerPoint 프레젠테이션</vt:lpstr>
      <vt:lpstr>PowerPoint 프레젠테이션</vt:lpstr>
      <vt:lpstr>배열 관련 내장 메소드</vt:lpstr>
      <vt:lpstr>배열 관련 method</vt:lpstr>
      <vt:lpstr>배열 관련 method</vt:lpstr>
      <vt:lpstr>메소드 체이닝</vt:lpstr>
      <vt:lpstr>메소드 체이닝 (method chaining)</vt:lpstr>
      <vt:lpstr>배열에서 반복</vt:lpstr>
      <vt:lpstr>배열, 기본 for문 사용</vt:lpstr>
      <vt:lpstr>배열, for of 반복문</vt:lpstr>
      <vt:lpstr>배열, [].forEach</vt:lpstr>
      <vt:lpstr>배열의 합</vt:lpstr>
      <vt:lpstr>배열에서의 기타 메소드</vt:lpstr>
      <vt:lpstr>참고 + for ~ in…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119</cp:revision>
  <dcterms:created xsi:type="dcterms:W3CDTF">2022-06-26T11:10:22Z</dcterms:created>
  <dcterms:modified xsi:type="dcterms:W3CDTF">2024-05-27T02:00:36Z</dcterms:modified>
</cp:coreProperties>
</file>