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10"/>
  </p:notesMasterIdLst>
  <p:sldIdLst>
    <p:sldId id="373" r:id="rId2"/>
    <p:sldId id="291" r:id="rId3"/>
    <p:sldId id="354" r:id="rId4"/>
    <p:sldId id="288" r:id="rId5"/>
    <p:sldId id="322" r:id="rId6"/>
    <p:sldId id="379" r:id="rId7"/>
    <p:sldId id="380" r:id="rId8"/>
    <p:sldId id="381" r:id="rId9"/>
    <p:sldId id="382" r:id="rId10"/>
    <p:sldId id="383" r:id="rId11"/>
    <p:sldId id="387" r:id="rId12"/>
    <p:sldId id="385" r:id="rId13"/>
    <p:sldId id="386" r:id="rId14"/>
    <p:sldId id="388" r:id="rId15"/>
    <p:sldId id="389" r:id="rId16"/>
    <p:sldId id="390" r:id="rId17"/>
    <p:sldId id="391" r:id="rId18"/>
    <p:sldId id="392" r:id="rId19"/>
    <p:sldId id="393" r:id="rId20"/>
    <p:sldId id="374" r:id="rId21"/>
    <p:sldId id="292" r:id="rId22"/>
    <p:sldId id="332" r:id="rId23"/>
    <p:sldId id="333" r:id="rId24"/>
    <p:sldId id="334" r:id="rId25"/>
    <p:sldId id="355" r:id="rId26"/>
    <p:sldId id="375" r:id="rId27"/>
    <p:sldId id="320" r:id="rId28"/>
    <p:sldId id="365" r:id="rId29"/>
    <p:sldId id="361" r:id="rId30"/>
    <p:sldId id="321" r:id="rId31"/>
    <p:sldId id="359" r:id="rId32"/>
    <p:sldId id="394" r:id="rId33"/>
    <p:sldId id="395" r:id="rId34"/>
    <p:sldId id="396" r:id="rId35"/>
    <p:sldId id="397" r:id="rId36"/>
    <p:sldId id="398" r:id="rId37"/>
    <p:sldId id="399" r:id="rId38"/>
    <p:sldId id="400" r:id="rId39"/>
    <p:sldId id="401" r:id="rId40"/>
    <p:sldId id="402" r:id="rId41"/>
    <p:sldId id="403" r:id="rId42"/>
    <p:sldId id="404" r:id="rId43"/>
    <p:sldId id="362" r:id="rId44"/>
    <p:sldId id="405" r:id="rId45"/>
    <p:sldId id="406" r:id="rId46"/>
    <p:sldId id="407" r:id="rId47"/>
    <p:sldId id="408" r:id="rId48"/>
    <p:sldId id="363" r:id="rId49"/>
    <p:sldId id="364" r:id="rId50"/>
    <p:sldId id="409" r:id="rId51"/>
    <p:sldId id="360" r:id="rId52"/>
    <p:sldId id="358" r:id="rId53"/>
    <p:sldId id="410" r:id="rId54"/>
    <p:sldId id="411" r:id="rId55"/>
    <p:sldId id="412" r:id="rId56"/>
    <p:sldId id="376" r:id="rId57"/>
    <p:sldId id="368" r:id="rId58"/>
    <p:sldId id="369" r:id="rId59"/>
    <p:sldId id="289" r:id="rId60"/>
    <p:sldId id="371" r:id="rId61"/>
    <p:sldId id="370" r:id="rId62"/>
    <p:sldId id="329" r:id="rId63"/>
    <p:sldId id="330" r:id="rId64"/>
    <p:sldId id="449" r:id="rId65"/>
    <p:sldId id="450" r:id="rId66"/>
    <p:sldId id="377" r:id="rId67"/>
    <p:sldId id="451" r:id="rId68"/>
    <p:sldId id="452" r:id="rId69"/>
    <p:sldId id="453" r:id="rId70"/>
    <p:sldId id="454" r:id="rId71"/>
    <p:sldId id="455" r:id="rId72"/>
    <p:sldId id="262" r:id="rId73"/>
    <p:sldId id="263" r:id="rId74"/>
    <p:sldId id="456" r:id="rId75"/>
    <p:sldId id="457" r:id="rId76"/>
    <p:sldId id="458" r:id="rId77"/>
    <p:sldId id="459" r:id="rId78"/>
    <p:sldId id="460" r:id="rId79"/>
    <p:sldId id="378" r:id="rId80"/>
    <p:sldId id="461" r:id="rId81"/>
    <p:sldId id="280" r:id="rId82"/>
    <p:sldId id="272" r:id="rId83"/>
    <p:sldId id="462" r:id="rId84"/>
    <p:sldId id="465" r:id="rId85"/>
    <p:sldId id="466" r:id="rId86"/>
    <p:sldId id="274" r:id="rId87"/>
    <p:sldId id="285" r:id="rId88"/>
    <p:sldId id="467" r:id="rId89"/>
    <p:sldId id="468" r:id="rId90"/>
    <p:sldId id="469" r:id="rId91"/>
    <p:sldId id="352" r:id="rId92"/>
    <p:sldId id="463" r:id="rId93"/>
    <p:sldId id="464" r:id="rId94"/>
    <p:sldId id="471" r:id="rId95"/>
    <p:sldId id="472" r:id="rId96"/>
    <p:sldId id="268" r:id="rId97"/>
    <p:sldId id="473" r:id="rId98"/>
    <p:sldId id="470" r:id="rId99"/>
    <p:sldId id="475" r:id="rId100"/>
    <p:sldId id="476" r:id="rId101"/>
    <p:sldId id="477" r:id="rId102"/>
    <p:sldId id="478" r:id="rId103"/>
    <p:sldId id="479" r:id="rId104"/>
    <p:sldId id="480" r:id="rId105"/>
    <p:sldId id="481" r:id="rId106"/>
    <p:sldId id="482" r:id="rId107"/>
    <p:sldId id="300" r:id="rId108"/>
    <p:sldId id="301" r:id="rId10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6" autoAdjust="0"/>
    <p:restoredTop sz="72154" autoAdjust="0"/>
  </p:normalViewPr>
  <p:slideViewPr>
    <p:cSldViewPr snapToGrid="0">
      <p:cViewPr varScale="1">
        <p:scale>
          <a:sx n="79" d="100"/>
          <a:sy n="79" d="100"/>
        </p:scale>
        <p:origin x="10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17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961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내가 좋아하는 </a:t>
            </a:r>
            <a:r>
              <a:rPr lang="ko-KR" altLang="en-US" dirty="0" err="1"/>
              <a:t>미니언</a:t>
            </a:r>
            <a:r>
              <a:rPr lang="ko-KR" altLang="en-US" dirty="0"/>
              <a:t> 등장 </a:t>
            </a:r>
            <a:r>
              <a:rPr lang="en-US" altLang="ko-KR" dirty="0"/>
              <a:t>&gt;_&lt;</a:t>
            </a:r>
          </a:p>
          <a:p>
            <a:endParaRPr lang="en-US" altLang="ko-KR" dirty="0"/>
          </a:p>
          <a:p>
            <a:r>
              <a:rPr lang="ko-KR" altLang="en-US" dirty="0"/>
              <a:t>문장에</a:t>
            </a:r>
            <a:r>
              <a:rPr lang="en-US" altLang="ko-KR" dirty="0"/>
              <a:t> </a:t>
            </a:r>
            <a:r>
              <a:rPr lang="ko-KR" altLang="en-US" dirty="0"/>
              <a:t>비유하기</a:t>
            </a:r>
            <a:endParaRPr lang="en-US" altLang="ko-KR" dirty="0"/>
          </a:p>
          <a:p>
            <a:r>
              <a:rPr lang="en-US" altLang="ko-KR" dirty="0"/>
              <a:t>- HTML:</a:t>
            </a:r>
            <a:r>
              <a:rPr lang="ko-KR" altLang="en-US" dirty="0"/>
              <a:t> 명사</a:t>
            </a:r>
            <a:endParaRPr lang="en-US" altLang="ko-KR" dirty="0"/>
          </a:p>
          <a:p>
            <a:r>
              <a:rPr lang="en-US" altLang="ko-KR" b="0" dirty="0"/>
              <a:t>- CSS: </a:t>
            </a:r>
            <a:r>
              <a:rPr lang="ko-KR" altLang="en-US" b="0" dirty="0"/>
              <a:t>형용사</a:t>
            </a:r>
            <a:endParaRPr lang="en-US" altLang="ko-KR" b="0" dirty="0"/>
          </a:p>
          <a:p>
            <a:r>
              <a:rPr lang="en-US" altLang="ko-KR" b="1" dirty="0"/>
              <a:t>- JS: </a:t>
            </a:r>
            <a:r>
              <a:rPr lang="ko-KR" altLang="en-US" b="1" dirty="0"/>
              <a:t>동사</a:t>
            </a:r>
            <a:br>
              <a:rPr lang="en-US" altLang="ko-KR" b="1" dirty="0"/>
            </a:br>
            <a:endParaRPr lang="en-US" altLang="ko-KR" b="1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24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482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855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Js</a:t>
            </a:r>
            <a:r>
              <a:rPr lang="ko-KR" altLang="en-US" dirty="0"/>
              <a:t>는 이렇게 두가지 방식</a:t>
            </a:r>
            <a:endParaRPr lang="en-US" altLang="ko-KR" dirty="0"/>
          </a:p>
          <a:p>
            <a:r>
              <a:rPr lang="ko-KR" altLang="en-US" dirty="0" err="1"/>
              <a:t>어떤게</a:t>
            </a:r>
            <a:r>
              <a:rPr lang="ko-KR" altLang="en-US" dirty="0"/>
              <a:t> 좋을까요</a:t>
            </a:r>
            <a:r>
              <a:rPr lang="en-US" altLang="ko-KR" dirty="0"/>
              <a:t>?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775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607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링크방식도</a:t>
            </a:r>
            <a:r>
              <a:rPr lang="ko-KR" altLang="en-US" dirty="0"/>
              <a:t> 마찬가지로 어디에서나 사용가능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15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360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Console.log</a:t>
            </a:r>
            <a:r>
              <a:rPr lang="ko-KR" altLang="en-US" dirty="0"/>
              <a:t>는 테스트용</a:t>
            </a:r>
            <a:r>
              <a:rPr lang="en-US" altLang="ko-KR" dirty="0"/>
              <a:t>, </a:t>
            </a:r>
            <a:r>
              <a:rPr lang="ko-KR" altLang="en-US" dirty="0"/>
              <a:t>만약 배포한다면 </a:t>
            </a:r>
            <a:r>
              <a:rPr lang="en-US" altLang="ko-KR" dirty="0"/>
              <a:t>console.log</a:t>
            </a:r>
            <a:r>
              <a:rPr lang="ko-KR" altLang="en-US" dirty="0"/>
              <a:t>는 모두 지워야 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코드 </a:t>
            </a:r>
            <a:r>
              <a:rPr lang="ko-KR" altLang="en-US" dirty="0" err="1"/>
              <a:t>쳐보기</a:t>
            </a:r>
            <a:r>
              <a:rPr lang="ko-KR" altLang="en-US" dirty="0"/>
              <a:t> </a:t>
            </a:r>
            <a:r>
              <a:rPr lang="en-US" altLang="ko-KR" dirty="0"/>
              <a:t>head</a:t>
            </a:r>
            <a:r>
              <a:rPr lang="ko-KR" altLang="en-US" dirty="0"/>
              <a:t>에 </a:t>
            </a:r>
            <a:r>
              <a:rPr lang="ko-KR" altLang="en-US" dirty="0" err="1"/>
              <a:t>링크걸고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Body</a:t>
            </a:r>
            <a:r>
              <a:rPr lang="ko-KR" altLang="en-US" dirty="0"/>
              <a:t>에 </a:t>
            </a:r>
            <a:r>
              <a:rPr lang="en-US" altLang="ko-KR" dirty="0"/>
              <a:t>script</a:t>
            </a:r>
            <a:r>
              <a:rPr lang="ko-KR" altLang="en-US" dirty="0"/>
              <a:t>걸어서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61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이게 </a:t>
            </a:r>
            <a:r>
              <a:rPr lang="en-US" altLang="ko-KR" dirty="0"/>
              <a:t>index.html ..?</a:t>
            </a:r>
          </a:p>
          <a:p>
            <a:endParaRPr lang="en-US" altLang="ko-KR" dirty="0"/>
          </a:p>
          <a:p>
            <a:r>
              <a:rPr lang="ko-KR" altLang="en-US" dirty="0"/>
              <a:t>확인하고 순서 보고 넘어가는 식으로 하면 될 듯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6F2B5-E9AF-9D40-A629-A66BB45D84D2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38016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상황에 맞게 잘 사용하면 되고</a:t>
            </a:r>
            <a:r>
              <a:rPr lang="ko-KR" altLang="en-US" baseline="0" dirty="0"/>
              <a:t> 일단 </a:t>
            </a:r>
            <a:r>
              <a:rPr lang="en-US" altLang="ko-KR" baseline="0" dirty="0"/>
              <a:t>head </a:t>
            </a:r>
            <a:r>
              <a:rPr lang="ko-KR" altLang="en-US" baseline="0" dirty="0"/>
              <a:t>에 걸자</a:t>
            </a:r>
            <a:endParaRPr lang="en-US" altLang="ko-KR" baseline="0" dirty="0"/>
          </a:p>
          <a:p>
            <a:endParaRPr lang="en-US" altLang="ko-KR" baseline="0" dirty="0"/>
          </a:p>
          <a:p>
            <a:r>
              <a:rPr lang="en-US" altLang="ko-KR" baseline="0" dirty="0"/>
              <a:t>head </a:t>
            </a:r>
            <a:r>
              <a:rPr lang="ko-KR" altLang="en-US" baseline="0" dirty="0" err="1"/>
              <a:t>태그안에는</a:t>
            </a:r>
            <a:r>
              <a:rPr lang="ko-KR" altLang="en-US" baseline="0" dirty="0"/>
              <a:t> 사람들에게 직관적으로 보이지 않는 내용에 대해서 </a:t>
            </a:r>
            <a:endParaRPr lang="en-US" altLang="ko-KR" baseline="0" dirty="0"/>
          </a:p>
          <a:p>
            <a:r>
              <a:rPr lang="en-US" altLang="ko-KR" baseline="0" dirty="0"/>
              <a:t>body</a:t>
            </a:r>
            <a:r>
              <a:rPr lang="ko-KR" altLang="en-US" baseline="0" dirty="0"/>
              <a:t>태그에는 직관적으로 보이는 태그에 대해서 하는데</a:t>
            </a: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en-US" altLang="ko-KR" baseline="0" dirty="0"/>
              <a:t>head tag</a:t>
            </a:r>
            <a:r>
              <a:rPr lang="ko-KR" altLang="en-US" baseline="0" dirty="0"/>
              <a:t>안에 걸었을 때</a:t>
            </a:r>
            <a:endParaRPr lang="en-US" altLang="ko-KR" baseline="0" dirty="0"/>
          </a:p>
          <a:p>
            <a:pPr marL="628650" lvl="1" indent="-171450">
              <a:buFontTx/>
              <a:buChar char="-"/>
            </a:pPr>
            <a:r>
              <a:rPr lang="en-US" altLang="ko-KR" baseline="0" dirty="0"/>
              <a:t>script</a:t>
            </a:r>
            <a:r>
              <a:rPr lang="ko-KR" altLang="en-US" baseline="0" dirty="0"/>
              <a:t>내용을 불러온 이후에 </a:t>
            </a:r>
            <a:r>
              <a:rPr lang="en-US" altLang="ko-KR" baseline="0" dirty="0"/>
              <a:t>body</a:t>
            </a:r>
            <a:r>
              <a:rPr lang="ko-KR" altLang="en-US" baseline="0" dirty="0"/>
              <a:t>를 읽기 때문에 </a:t>
            </a:r>
            <a:r>
              <a:rPr lang="en-US" altLang="ko-KR" baseline="0" dirty="0"/>
              <a:t>scrip</a:t>
            </a:r>
            <a:r>
              <a:rPr lang="ko-KR" altLang="en-US" baseline="0" dirty="0"/>
              <a:t>의 내용이 너무 길면 흰 화면이 오래 보여서 오류처럼 보일 수 있음</a:t>
            </a:r>
            <a:endParaRPr lang="en-US" altLang="ko-KR" baseline="0" dirty="0"/>
          </a:p>
          <a:p>
            <a:pPr marL="628650" lvl="1" indent="-171450">
              <a:buFontTx/>
              <a:buChar char="-"/>
            </a:pPr>
            <a:endParaRPr lang="en-US" altLang="ko-KR" baseline="0" dirty="0"/>
          </a:p>
          <a:p>
            <a:pPr marL="171450" indent="-171450">
              <a:buFontTx/>
              <a:buChar char="-"/>
            </a:pPr>
            <a:r>
              <a:rPr lang="en-US" altLang="ko-KR" baseline="0" dirty="0"/>
              <a:t>body</a:t>
            </a:r>
            <a:r>
              <a:rPr lang="ko-KR" altLang="en-US" baseline="0" dirty="0"/>
              <a:t>태그 안에 걸었을 때</a:t>
            </a:r>
            <a:r>
              <a:rPr lang="en-US" altLang="ko-KR" baseline="0" dirty="0"/>
              <a:t>, </a:t>
            </a:r>
          </a:p>
          <a:p>
            <a:pPr marL="628650" lvl="1" indent="-171450">
              <a:buFontTx/>
              <a:buChar char="-"/>
            </a:pPr>
            <a:r>
              <a:rPr lang="ko-KR" altLang="en-US" dirty="0"/>
              <a:t>요소가 먼저 보이고 스크립트가 읽히기 전에 요소에 이벤트를 걸었을 때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버튼을 눌렀을 때 버튼의 기능이 제대로 동작하지 않을 수 있다</a:t>
            </a:r>
            <a:r>
              <a:rPr lang="en-US" altLang="ko-KR" dirty="0"/>
              <a:t>.)</a:t>
            </a:r>
          </a:p>
          <a:p>
            <a:pPr marL="171450" lvl="0" indent="-171450">
              <a:buFontTx/>
              <a:buChar char="-"/>
            </a:pPr>
            <a:r>
              <a:rPr lang="ko-KR" altLang="en-US" dirty="0"/>
              <a:t>특정 위치가 더 좋다</a:t>
            </a:r>
            <a:r>
              <a:rPr lang="en-US" altLang="ko-KR" dirty="0"/>
              <a:t>! </a:t>
            </a:r>
            <a:r>
              <a:rPr lang="ko-KR" altLang="en-US" dirty="0"/>
              <a:t>고 말할 수 없음 잘 생각하고 판단해서 사용하세요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859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776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사람은 </a:t>
            </a:r>
            <a:r>
              <a:rPr lang="en-US" altLang="ko-KR" dirty="0"/>
              <a:t>1</a:t>
            </a:r>
            <a:r>
              <a:rPr lang="ko-KR" altLang="en-US" dirty="0"/>
              <a:t>부터</a:t>
            </a:r>
            <a:r>
              <a:rPr lang="en-US" altLang="ko-KR" dirty="0"/>
              <a:t>~</a:t>
            </a:r>
          </a:p>
          <a:p>
            <a:r>
              <a:rPr lang="ko-KR" altLang="en-US" dirty="0"/>
              <a:t>컴퓨터는 </a:t>
            </a:r>
            <a:r>
              <a:rPr lang="en-US" altLang="ko-KR" dirty="0"/>
              <a:t>0</a:t>
            </a:r>
            <a:r>
              <a:rPr lang="ko-KR" altLang="en-US" dirty="0"/>
              <a:t>부터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5038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Fruits</a:t>
            </a:r>
            <a:r>
              <a:rPr lang="ko-KR" altLang="en-US" dirty="0" err="1"/>
              <a:t>라는건</a:t>
            </a:r>
            <a:r>
              <a:rPr lang="ko-KR" altLang="en-US" dirty="0"/>
              <a:t> 배열이라는 데이터 종류</a:t>
            </a:r>
            <a:r>
              <a:rPr lang="ko-KR" altLang="en-US" baseline="0" dirty="0"/>
              <a:t> 중 하나</a:t>
            </a:r>
            <a:r>
              <a:rPr lang="en-US" altLang="ko-KR" baseline="0" dirty="0"/>
              <a:t>. </a:t>
            </a:r>
          </a:p>
          <a:p>
            <a:r>
              <a:rPr lang="ko-KR" altLang="en-US" baseline="0" dirty="0"/>
              <a:t>배우게 될 것</a:t>
            </a:r>
            <a:r>
              <a:rPr lang="en-US" altLang="ko-KR" baseline="0" dirty="0"/>
              <a:t>..</a:t>
            </a:r>
          </a:p>
          <a:p>
            <a:endParaRPr lang="en-US" altLang="ko-KR" dirty="0"/>
          </a:p>
          <a:p>
            <a:r>
              <a:rPr lang="ko-KR" altLang="en-US" dirty="0"/>
              <a:t>대괄호 안에는 </a:t>
            </a:r>
            <a:r>
              <a:rPr lang="en-US" altLang="ko-KR" dirty="0"/>
              <a:t>~ </a:t>
            </a:r>
            <a:r>
              <a:rPr lang="ko-KR" altLang="en-US" dirty="0"/>
              <a:t>번째에 대핸 수가 나오게 되는데</a:t>
            </a:r>
            <a:endParaRPr lang="en-US" altLang="ko-KR" dirty="0"/>
          </a:p>
          <a:p>
            <a:r>
              <a:rPr lang="en-US" altLang="ko-KR" dirty="0"/>
              <a:t>zero base numbering</a:t>
            </a:r>
            <a:r>
              <a:rPr lang="ko-KR" altLang="en-US" dirty="0"/>
              <a:t>이기 때문에 </a:t>
            </a:r>
            <a:endParaRPr lang="en-US" altLang="ko-KR" dirty="0"/>
          </a:p>
          <a:p>
            <a:r>
              <a:rPr lang="ko-KR" altLang="en-US" dirty="0"/>
              <a:t>우리가 생각하는 첫번째인 </a:t>
            </a:r>
            <a:r>
              <a:rPr lang="en-US" altLang="ko-KR" dirty="0"/>
              <a:t>Apple</a:t>
            </a:r>
            <a:r>
              <a:rPr lang="ko-KR" altLang="en-US" dirty="0"/>
              <a:t>을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consol</a:t>
            </a:r>
            <a:r>
              <a:rPr lang="ko-KR" altLang="en-US" baseline="0" dirty="0"/>
              <a:t>창에 띄우고 싶다면 </a:t>
            </a:r>
            <a:r>
              <a:rPr lang="en-US" altLang="ko-KR" baseline="0" dirty="0"/>
              <a:t>[0]</a:t>
            </a:r>
            <a:r>
              <a:rPr lang="ko-KR" altLang="en-US" baseline="0" dirty="0"/>
              <a:t>번째를 부르면 됨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1752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840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var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선언 단계와 초기화 할당 단계가 동시에 진행이 되며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초기화에는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undefined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값이 들어간다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중복 선언이 가능하며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예기치 못한 값을 반환할 수 있고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함수 </a:t>
            </a:r>
            <a:r>
              <a:rPr lang="ko-KR" altLang="en-US" b="0" i="1" dirty="0" err="1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스코프로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인해 외부에서 선언한 변수는 모두 전역 변수가 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선언 이전에 참조하면 언제나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undefined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반환한다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const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재선언이 불가능하고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재할당이 불가능하다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초반에 선언을 할 때 반드시 **초기화**를 동시에 진행해야 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let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let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키워드로는 변수 중복 선언이 불가능하지만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재할당이 가능하다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3330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var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선언 단계와 초기화 할당 단계가 동시에 진행이 되며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초기화에는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undefined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값이 들어간다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중복 선언이 가능하며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예기치 못한 값을 반환할 수 있고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함수 </a:t>
            </a:r>
            <a:r>
              <a:rPr lang="ko-KR" altLang="en-US" b="0" i="1" dirty="0" err="1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스코프로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인해 외부에서 선언한 변수는 모두 전역 변수가 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선언 이전에 참조하면 언제나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undefined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반환한다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const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재선언이 불가능하고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재할당이 불가능하다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초반에 선언을 할 때 반드시 **초기화**를 동시에 진행해야 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let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let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키워드로는 변수 중복 선언이 불가능하지만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재할당이 가능하다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402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var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선언 단계와 초기화 할당 단계가 동시에 진행이 되며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초기화에는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undefined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값이 들어간다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중복 선언이 가능하며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예기치 못한 값을 반환할 수 있고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함수 </a:t>
            </a:r>
            <a:r>
              <a:rPr lang="ko-KR" altLang="en-US" b="0" i="1" dirty="0" err="1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스코프로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인해 외부에서 선언한 변수는 모두 전역 변수가 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선언 이전에 참조하면 언제나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undefined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반환한다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const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재선언이 불가능하고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재할당이 불가능하다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초반에 선언을 할 때 반드시 **초기화**를 동시에 진행해야 한다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### let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br>
              <a:rPr lang="ko-KR" altLang="en-US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let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키워드로는 변수 중복 선언이 불가능하지만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재할당이 가능하다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33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9999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0654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강한 타입</a:t>
            </a:r>
          </a:p>
          <a:p>
            <a:r>
              <a:rPr lang="ko-KR" altLang="en-US" b="1" dirty="0"/>
              <a:t>타입 검사를 통과하지 못한 프로그램이라면</a:t>
            </a:r>
            <a:r>
              <a:rPr lang="en-US" altLang="ko-KR" b="1" dirty="0"/>
              <a:t>, </a:t>
            </a:r>
            <a:r>
              <a:rPr lang="ko-KR" altLang="en-US" b="1" dirty="0"/>
              <a:t>프로그램의 실행 자체를 막는다</a:t>
            </a:r>
            <a:r>
              <a:rPr lang="en-US" altLang="ko-KR" b="1" dirty="0"/>
              <a:t>.</a:t>
            </a:r>
          </a:p>
          <a:p>
            <a:r>
              <a:rPr lang="en-US" altLang="ko-KR" dirty="0"/>
              <a:t>String, int, double </a:t>
            </a:r>
            <a:r>
              <a:rPr lang="ko-KR" altLang="en-US" dirty="0"/>
              <a:t>같이 명확하게 타입을 </a:t>
            </a:r>
            <a:r>
              <a:rPr lang="en-US" altLang="ko-KR" dirty="0"/>
              <a:t>1</a:t>
            </a:r>
            <a:r>
              <a:rPr lang="ko-KR" altLang="en-US" dirty="0"/>
              <a:t>종류만 저장한다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Java, C, C++ </a:t>
            </a:r>
            <a:r>
              <a:rPr lang="ko-KR" altLang="en-US" dirty="0"/>
              <a:t>등등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r>
              <a:rPr lang="ko-KR" altLang="en-US" b="1" dirty="0"/>
              <a:t>약한 타입</a:t>
            </a:r>
          </a:p>
          <a:p>
            <a:r>
              <a:rPr lang="ko-KR" altLang="en-US" dirty="0"/>
              <a:t>런타임에 타입 </a:t>
            </a:r>
            <a:r>
              <a:rPr lang="ko-KR" altLang="en-US" b="1" dirty="0"/>
              <a:t>오류를 만나는 한이 있어도 실행을 막지 않는다</a:t>
            </a:r>
            <a:r>
              <a:rPr lang="en-US" altLang="ko-KR" b="1" dirty="0"/>
              <a:t>.</a:t>
            </a:r>
          </a:p>
          <a:p>
            <a:r>
              <a:rPr lang="en-US" altLang="ko-KR" b="1" dirty="0"/>
              <a:t>*</a:t>
            </a:r>
            <a:r>
              <a:rPr lang="ko-KR" altLang="en-US" b="1" dirty="0"/>
              <a:t>런타임</a:t>
            </a:r>
            <a:r>
              <a:rPr lang="en-US" altLang="ko-KR" b="1" dirty="0"/>
              <a:t>: </a:t>
            </a:r>
            <a:r>
              <a:rPr lang="ko-KR" altLang="en-US" b="1" dirty="0"/>
              <a:t>프로그래밍 실행되고 있는 동작</a:t>
            </a:r>
            <a:endParaRPr lang="en-US" altLang="ko-KR" b="1" dirty="0"/>
          </a:p>
          <a:p>
            <a:r>
              <a:rPr lang="ko-KR" altLang="en-US" dirty="0"/>
              <a:t>타입이 여러 종류인 값들을 상관없이 저장한다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Python, </a:t>
            </a:r>
            <a:r>
              <a:rPr lang="en-US" altLang="ko-KR" dirty="0" err="1"/>
              <a:t>Javascript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7812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Primitive(</a:t>
            </a:r>
            <a:r>
              <a:rPr lang="ko-KR" altLang="en-US" dirty="0"/>
              <a:t>기본형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dirty="0"/>
              <a:t>Object(</a:t>
            </a:r>
            <a:r>
              <a:rPr lang="ko-KR" altLang="en-US" dirty="0"/>
              <a:t>객체</a:t>
            </a:r>
            <a:r>
              <a:rPr lang="en-US" altLang="ko-KR" dirty="0"/>
              <a:t>) </a:t>
            </a:r>
            <a:r>
              <a:rPr lang="ko-KR" altLang="en-US" dirty="0"/>
              <a:t>타입이 존재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0607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0038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배열은 순서가 있지만</a:t>
            </a:r>
            <a:endParaRPr lang="en-US" altLang="ko-KR" dirty="0"/>
          </a:p>
          <a:p>
            <a:r>
              <a:rPr lang="ko-KR" altLang="en-US" dirty="0"/>
              <a:t>오브젝트는 키와 값으로 이루어져 있음</a:t>
            </a:r>
            <a:endParaRPr lang="en-US" altLang="ko-KR" dirty="0"/>
          </a:p>
          <a:p>
            <a:r>
              <a:rPr lang="en-US" altLang="ko-KR" dirty="0"/>
              <a:t>property = key</a:t>
            </a:r>
            <a:r>
              <a:rPr lang="en-US" altLang="ko-KR" baseline="0" dirty="0"/>
              <a:t> + value</a:t>
            </a:r>
            <a:endParaRPr lang="en-US" altLang="ko-KR" dirty="0"/>
          </a:p>
          <a:p>
            <a:r>
              <a:rPr lang="ko-KR" altLang="en-US" dirty="0"/>
              <a:t>여기까지 하고 </a:t>
            </a:r>
            <a:r>
              <a:rPr lang="ko-KR" altLang="en-US" dirty="0" err="1"/>
              <a:t>코드치기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708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527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7917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120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kdt3rd-workspace/04_javascript/</a:t>
            </a:r>
            <a:r>
              <a:rPr lang="en-US" altLang="ko-KR" b="1" dirty="0"/>
              <a:t>index2.html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kdt3rd-workspace/04_javascript/</a:t>
            </a:r>
            <a:r>
              <a:rPr lang="en-US" altLang="ko-KR" b="1" dirty="0"/>
              <a:t>index2.js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6737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8456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7309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1120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ko-KR" altLang="en-US" dirty="0"/>
              <a:t>수학시간에 배웠던 기본 함수 구조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en-US" altLang="ko-KR" dirty="0" err="1"/>
              <a:t>outpu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ko-KR" altLang="en-US" dirty="0" err="1"/>
              <a:t>함수식</a:t>
            </a: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-&gt;</a:t>
            </a:r>
          </a:p>
          <a:p>
            <a:pPr>
              <a:buFont typeface="Arial" panose="020B0604020202020204" pitchFamily="34" charset="0"/>
              <a:buNone/>
            </a:pPr>
            <a:endParaRPr lang="en-US" altLang="ko-KR" dirty="0"/>
          </a:p>
          <a:p>
            <a:pPr>
              <a:buFont typeface="Arial" panose="020B0604020202020204" pitchFamily="34" charset="0"/>
              <a:buNone/>
            </a:pPr>
            <a:r>
              <a:rPr lang="en-US" altLang="ko-KR" dirty="0"/>
              <a:t>input,</a:t>
            </a:r>
            <a:r>
              <a:rPr lang="ko-KR" altLang="en-US" dirty="0"/>
              <a:t> </a:t>
            </a:r>
            <a:r>
              <a:rPr lang="en-US" altLang="ko-KR" dirty="0" err="1"/>
              <a:t>ouput</a:t>
            </a:r>
            <a:r>
              <a:rPr lang="en-US" altLang="ko-KR" dirty="0"/>
              <a:t>,</a:t>
            </a:r>
            <a:r>
              <a:rPr lang="ko-KR" altLang="en-US" dirty="0"/>
              <a:t> 함수 내부 코드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7813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특정 작업을 수행</a:t>
            </a:r>
            <a:r>
              <a:rPr lang="ko-KR" altLang="en-US" dirty="0"/>
              <a:t>하기 위해 독립적으로 설계된 </a:t>
            </a:r>
            <a:r>
              <a:rPr lang="ko-KR" altLang="en-US" b="1" dirty="0"/>
              <a:t>코드의 집합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.e.g. </a:t>
            </a:r>
            <a:r>
              <a:rPr lang="ko-KR" altLang="en-US" dirty="0"/>
              <a:t>메소드</a:t>
            </a:r>
            <a:r>
              <a:rPr lang="en-US" altLang="ko-KR" dirty="0"/>
              <a:t>, </a:t>
            </a:r>
            <a:r>
              <a:rPr lang="ko-KR" altLang="en-US" dirty="0"/>
              <a:t>연산</a:t>
            </a:r>
            <a:r>
              <a:rPr lang="en-US" altLang="ko-KR" dirty="0"/>
              <a:t>, </a:t>
            </a:r>
            <a:r>
              <a:rPr lang="ko-KR" altLang="en-US" dirty="0"/>
              <a:t>오퍼레이션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우선 지시사항들의 묶음</a:t>
            </a:r>
            <a:r>
              <a:rPr lang="en-US" altLang="ko-KR" dirty="0"/>
              <a:t>(</a:t>
            </a:r>
            <a:r>
              <a:rPr lang="ko-KR" altLang="en-US" dirty="0"/>
              <a:t>과정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일반적으로 </a:t>
            </a:r>
            <a:r>
              <a:rPr lang="ko-KR" altLang="en-US" b="1" dirty="0"/>
              <a:t>입력 → 함수 → </a:t>
            </a:r>
            <a:r>
              <a:rPr lang="en-US" altLang="ko-KR" b="1" dirty="0"/>
              <a:t>return → </a:t>
            </a:r>
            <a:r>
              <a:rPr lang="ko-KR" altLang="en-US" b="1" dirty="0"/>
              <a:t>출력</a:t>
            </a:r>
            <a:r>
              <a:rPr lang="ko-KR" altLang="en-US" dirty="0"/>
              <a:t> 형태를 갖는다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b="1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동일한 작업을 반복</a:t>
            </a:r>
            <a:r>
              <a:rPr lang="en-US" altLang="ko-KR" b="1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; </a:t>
            </a:r>
            <a:r>
              <a:rPr lang="ko-KR" altLang="en-US" b="0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함수 사용시 함수 호출만으로 동일한 작업을 여러 번 반복</a:t>
            </a:r>
            <a:endParaRPr lang="en-US" altLang="ko-KR" b="0" i="0" dirty="0">
              <a:solidFill>
                <a:srgbClr val="495057"/>
              </a:solidFill>
              <a:effectLst/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28600" indent="-228600">
              <a:buAutoNum type="arabicPeriod"/>
            </a:pPr>
            <a:r>
              <a:rPr lang="ko-KR" altLang="en-US" b="0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반복작업 줄임</a:t>
            </a:r>
            <a:endParaRPr lang="en-US" altLang="ko-KR" b="0" i="0" dirty="0">
              <a:solidFill>
                <a:srgbClr val="495057"/>
              </a:solidFill>
              <a:effectLst/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28600" indent="-228600">
              <a:buAutoNum type="arabicPeriod"/>
            </a:pPr>
            <a:r>
              <a:rPr lang="ko-KR" altLang="en-US" b="0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코드 재사용성 늘림</a:t>
            </a:r>
            <a:endParaRPr lang="en-US" altLang="ko-KR" b="0" i="0" dirty="0">
              <a:solidFill>
                <a:srgbClr val="495057"/>
              </a:solidFill>
              <a:effectLst/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28600" indent="-228600">
              <a:buAutoNum type="arabicPeriod"/>
            </a:pPr>
            <a:r>
              <a:rPr lang="ko-KR" altLang="en-US" b="0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유지보수 편리</a:t>
            </a:r>
            <a:r>
              <a:rPr lang="en-US" altLang="ko-KR" b="0" i="0" dirty="0">
                <a:solidFill>
                  <a:srgbClr val="495057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4715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0238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7876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2995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함수 선언문으로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만들어주시오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pPr/>
              <a:t>64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96486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14B90-41C0-444C-B2BC-50B3345F5FF4}" type="slidenum">
              <a:rPr lang="ko-KR" altLang="en-US" smtClean="0"/>
              <a:pPr/>
              <a:t>65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06923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0356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616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9762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1096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문의 구조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번 </a:t>
            </a:r>
            <a:r>
              <a:rPr lang="en-US" altLang="ko-KR" dirty="0"/>
              <a:t>, </a:t>
            </a:r>
            <a:r>
              <a:rPr lang="ko-KR" altLang="en-US" dirty="0"/>
              <a:t>어디서부터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번</a:t>
            </a:r>
            <a:r>
              <a:rPr lang="en-US" altLang="ko-KR" dirty="0"/>
              <a:t>, </a:t>
            </a:r>
            <a:r>
              <a:rPr lang="ko-KR" altLang="en-US" dirty="0"/>
              <a:t>어디까지 </a:t>
            </a:r>
            <a:r>
              <a:rPr lang="en-US" altLang="ko-KR" dirty="0"/>
              <a:t>=&gt;</a:t>
            </a:r>
            <a:r>
              <a:rPr lang="ko-KR" altLang="en-US" dirty="0"/>
              <a:t>보통 부등호가 들어가는 조건식이 들어감 </a:t>
            </a:r>
            <a:r>
              <a:rPr lang="en-US" altLang="ko-KR" dirty="0"/>
              <a:t>(</a:t>
            </a:r>
            <a:r>
              <a:rPr lang="ko-KR" altLang="en-US" dirty="0"/>
              <a:t>조건이 참일 때 반복</a:t>
            </a:r>
            <a:r>
              <a:rPr lang="en-US" altLang="ko-KR" dirty="0"/>
              <a:t>.)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번 </a:t>
            </a:r>
            <a:r>
              <a:rPr lang="ko-KR" altLang="en-US" dirty="0" err="1"/>
              <a:t>늘어날거야</a:t>
            </a:r>
            <a:r>
              <a:rPr lang="en-US" altLang="ko-KR" dirty="0"/>
              <a:t>, </a:t>
            </a:r>
            <a:r>
              <a:rPr lang="ko-KR" altLang="en-US" dirty="0" err="1"/>
              <a:t>줄어들거야</a:t>
            </a:r>
            <a:r>
              <a:rPr lang="en-US" altLang="ko-KR" dirty="0"/>
              <a:t>(</a:t>
            </a:r>
            <a:r>
              <a:rPr lang="ko-KR" altLang="en-US" dirty="0" err="1"/>
              <a:t>몇개씩</a:t>
            </a:r>
            <a:r>
              <a:rPr lang="en-US" altLang="ko-KR" dirty="0"/>
              <a:t>?)</a:t>
            </a:r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10</a:t>
            </a:r>
            <a:r>
              <a:rPr lang="ko-KR" altLang="en-US" dirty="0"/>
              <a:t>까지 </a:t>
            </a:r>
            <a:r>
              <a:rPr lang="en-US" altLang="ko-KR" dirty="0"/>
              <a:t>1</a:t>
            </a:r>
            <a:r>
              <a:rPr lang="ko-KR" altLang="en-US" dirty="0"/>
              <a:t>개씩 </a:t>
            </a:r>
            <a:r>
              <a:rPr lang="ko-KR" altLang="en-US" dirty="0" err="1"/>
              <a:t>늘어날거야</a:t>
            </a:r>
            <a:endParaRPr lang="en-US" altLang="ko-KR" dirty="0"/>
          </a:p>
          <a:p>
            <a:r>
              <a:rPr lang="en-US" altLang="ko-KR" dirty="0"/>
              <a:t>20</a:t>
            </a:r>
            <a:r>
              <a:rPr lang="ko-KR" altLang="en-US" dirty="0"/>
              <a:t>부터 </a:t>
            </a:r>
            <a:r>
              <a:rPr lang="en-US" altLang="ko-KR" dirty="0"/>
              <a:t>2</a:t>
            </a:r>
            <a:r>
              <a:rPr lang="ko-KR" altLang="en-US" dirty="0"/>
              <a:t>보다 작기 전까지 </a:t>
            </a:r>
            <a:r>
              <a:rPr lang="en-US" altLang="ko-KR" dirty="0"/>
              <a:t>2</a:t>
            </a:r>
            <a:r>
              <a:rPr lang="ko-KR" altLang="en-US" dirty="0"/>
              <a:t>개씩 </a:t>
            </a:r>
            <a:r>
              <a:rPr lang="ko-KR" altLang="en-US" dirty="0" err="1"/>
              <a:t>줄어들거야</a:t>
            </a:r>
            <a:endParaRPr lang="en-US" altLang="ko-KR" dirty="0"/>
          </a:p>
          <a:p>
            <a:r>
              <a:rPr lang="ko-KR" altLang="en-US" dirty="0" err="1"/>
              <a:t>이런것을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문의 괄호 안에 써줄 수 </a:t>
            </a:r>
            <a:r>
              <a:rPr lang="ko-KR" altLang="en-US" dirty="0" err="1"/>
              <a:t>잇음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ED997-26A9-4318-B4FF-88E10AA5F387}" type="slidenum">
              <a:rPr lang="ko-KR" altLang="en-US" smtClean="0"/>
              <a:pPr/>
              <a:t>81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28116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이런 알고리즘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ED997-26A9-4318-B4FF-88E10AA5F387}" type="slidenum">
              <a:rPr lang="ko-KR" altLang="en-US" smtClean="0"/>
              <a:pPr/>
              <a:t>82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20240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7329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921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반복 가능</a:t>
            </a:r>
            <a:r>
              <a:rPr lang="en-US" altLang="ko-KR" dirty="0"/>
              <a:t>..</a:t>
            </a:r>
          </a:p>
          <a:p>
            <a:r>
              <a:rPr lang="ko-KR" altLang="en-US" dirty="0"/>
              <a:t>구구단 </a:t>
            </a:r>
            <a:r>
              <a:rPr lang="en-US" altLang="ko-KR" dirty="0"/>
              <a:t>while</a:t>
            </a:r>
            <a:r>
              <a:rPr lang="ko-KR" altLang="en-US" dirty="0"/>
              <a:t>버전은 있군</a:t>
            </a:r>
            <a:r>
              <a:rPr lang="en-US" altLang="ko-KR" dirty="0"/>
              <a:t>,..,.,.,,.,</a:t>
            </a:r>
          </a:p>
          <a:p>
            <a:endParaRPr lang="en-US" altLang="ko-KR" dirty="0"/>
          </a:p>
          <a:p>
            <a:r>
              <a:rPr lang="ko-KR" altLang="en-US" dirty="0"/>
              <a:t>안에 있는</a:t>
            </a:r>
            <a:r>
              <a:rPr lang="ko-KR" altLang="en-US" baseline="0" dirty="0"/>
              <a:t> </a:t>
            </a:r>
            <a:r>
              <a:rPr lang="en-US" altLang="ko-KR" baseline="0" dirty="0"/>
              <a:t>while</a:t>
            </a:r>
            <a:r>
              <a:rPr lang="ko-KR" altLang="en-US" baseline="0" dirty="0"/>
              <a:t>문을 벗어나게 되면 하나의 단</a:t>
            </a:r>
            <a:r>
              <a:rPr lang="en-US" altLang="ko-KR" baseline="0" dirty="0"/>
              <a:t>? </a:t>
            </a:r>
            <a:r>
              <a:rPr lang="ko-KR" altLang="en-US" baseline="0" dirty="0" err="1"/>
              <a:t>이끝난거라서</a:t>
            </a:r>
            <a:endParaRPr lang="en-US" altLang="ko-KR" baseline="0" dirty="0"/>
          </a:p>
          <a:p>
            <a:r>
              <a:rPr lang="en-US" altLang="ko-KR" baseline="0" dirty="0"/>
              <a:t>j=1</a:t>
            </a:r>
            <a:r>
              <a:rPr lang="ko-KR" altLang="en-US" baseline="0" dirty="0"/>
              <a:t>로 다시 초기화시켜주는 것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FED997-26A9-4318-B4FF-88E10AA5F387}" type="slidenum">
              <a:rPr lang="ko-KR" altLang="en-US" smtClean="0"/>
              <a:pPr/>
              <a:t>87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85698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63733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84661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5846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slice</a:t>
            </a:r>
            <a:r>
              <a:rPr lang="ko-KR" altLang="en-US" dirty="0"/>
              <a:t>의 매개변수로 </a:t>
            </a:r>
            <a:r>
              <a:rPr lang="ko-KR" altLang="en-US" dirty="0" err="1"/>
              <a:t>음수값이</a:t>
            </a:r>
            <a:r>
              <a:rPr lang="ko-KR" altLang="en-US" dirty="0"/>
              <a:t> 들어간다면 뒤에서부터 뺀다</a:t>
            </a:r>
            <a:r>
              <a:rPr lang="en-US" altLang="ko-KR" dirty="0"/>
              <a:t>. -1 </a:t>
            </a:r>
            <a:r>
              <a:rPr lang="ko-KR" altLang="en-US" dirty="0"/>
              <a:t>부터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맨뒤의</a:t>
            </a:r>
            <a:r>
              <a:rPr lang="ko-KR" altLang="en-US" baseline="0" dirty="0"/>
              <a:t> 문자를 가리키는 것</a:t>
            </a:r>
            <a:endParaRPr lang="en-US" altLang="ko-KR" baseline="0" dirty="0"/>
          </a:p>
          <a:p>
            <a:endParaRPr lang="en-US" altLang="ko-KR" baseline="0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err="1"/>
              <a:t>indexOf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여러개있는</a:t>
            </a:r>
            <a:r>
              <a:rPr lang="ko-KR" altLang="en-US" sz="1200" dirty="0"/>
              <a:t> 문자열이라면 맨 처음으로 나오는 위치 반환</a:t>
            </a:r>
            <a:r>
              <a:rPr lang="en-US" altLang="ko-KR" sz="1200" dirty="0"/>
              <a:t>, , </a:t>
            </a:r>
            <a:r>
              <a:rPr lang="ko-KR" altLang="en-US" sz="1200" dirty="0"/>
              <a:t>매개변수로 아무 값이 들어가지 않는다면 </a:t>
            </a:r>
            <a:r>
              <a:rPr lang="en-US" altLang="ko-KR" sz="1200" dirty="0"/>
              <a:t>-1 </a:t>
            </a:r>
            <a:r>
              <a:rPr lang="ko-KR" altLang="en-US" sz="1200" dirty="0"/>
              <a:t>반환</a:t>
            </a:r>
            <a:endParaRPr lang="en-US" altLang="ko-KR" sz="1200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cs typeface="+mn-cs"/>
              </a:rPr>
              <a:t>// MDN(https://developer.mozilla.org/ko/docs/Web/JavaScript/Reference/Global_Objects/String)</a:t>
            </a:r>
            <a:endParaRPr lang="ko-KR" altLang="en-US" sz="1200" b="0" kern="1200" dirty="0">
              <a:solidFill>
                <a:schemeClr val="tx1"/>
              </a:solidFill>
              <a:effectLst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cs typeface="+mn-cs"/>
              </a:rPr>
              <a:t>// :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cs typeface="+mn-cs"/>
              </a:rPr>
              <a:t>mdn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cs typeface="+mn-cs"/>
              </a:rPr>
              <a:t>사이트에 의하면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cs typeface="+mn-cs"/>
              </a:rPr>
              <a:t>, string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cs typeface="+mn-cs"/>
              </a:rPr>
              <a:t>타입의 속성은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cs typeface="+mn-cs"/>
              </a:rPr>
              <a:t>length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cs typeface="+mn-cs"/>
              </a:rPr>
              <a:t>하나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cs typeface="+mn-cs"/>
              </a:rPr>
              <a:t>메소드는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cs typeface="+mn-cs"/>
              </a:rPr>
              <a:t> 다양함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t>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8120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split</a:t>
            </a:r>
            <a:r>
              <a:rPr lang="en-US" altLang="ko-KR" baseline="0" dirty="0"/>
              <a:t> </a:t>
            </a:r>
            <a:r>
              <a:rPr lang="ko-KR" altLang="en-US" baseline="0" dirty="0"/>
              <a:t>안의 문자열은 지금 </a:t>
            </a:r>
            <a:r>
              <a:rPr lang="en-US" altLang="ko-KR" baseline="0" dirty="0"/>
              <a:t>1)</a:t>
            </a:r>
            <a:r>
              <a:rPr lang="ko-KR" altLang="en-US" baseline="0" dirty="0"/>
              <a:t>빈 문자열이기 때문에 문자열의 모든 문자가 </a:t>
            </a:r>
            <a:r>
              <a:rPr lang="ko-KR" altLang="en-US" baseline="0" dirty="0" err="1"/>
              <a:t>배열로저장</a:t>
            </a:r>
            <a:endParaRPr lang="en-US" altLang="ko-KR" baseline="0" dirty="0"/>
          </a:p>
          <a:p>
            <a:r>
              <a:rPr lang="en-US" altLang="ko-KR" baseline="0" dirty="0"/>
              <a:t>2) </a:t>
            </a:r>
            <a:r>
              <a:rPr lang="ko-KR" altLang="en-US" baseline="0" dirty="0" err="1"/>
              <a:t>공백문자</a:t>
            </a:r>
            <a:r>
              <a:rPr lang="ko-KR" altLang="en-US" baseline="0" dirty="0"/>
              <a:t> 기준으로 자른 것</a:t>
            </a:r>
            <a:r>
              <a:rPr lang="en-US" altLang="ko-KR" baseline="0" dirty="0"/>
              <a:t>-&gt; </a:t>
            </a:r>
            <a:r>
              <a:rPr lang="ko-KR" altLang="en-US" baseline="0" dirty="0"/>
              <a:t>뒤에 공백 두개 사이에는 </a:t>
            </a:r>
            <a:r>
              <a:rPr lang="ko-KR" altLang="en-US" baseline="0" dirty="0" err="1"/>
              <a:t>아무문자열도</a:t>
            </a:r>
            <a:r>
              <a:rPr lang="ko-KR" altLang="en-US" baseline="0" dirty="0"/>
              <a:t> 없기 때문에 빈 문자열도 </a:t>
            </a:r>
            <a:r>
              <a:rPr lang="ko-KR" altLang="en-US" baseline="0" dirty="0" err="1"/>
              <a:t>베열로</a:t>
            </a:r>
            <a:r>
              <a:rPr lang="ko-KR" altLang="en-US" baseline="0" dirty="0"/>
              <a:t> 저장됨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t>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88216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pPr/>
              <a:t>107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7434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진형 참고 </a:t>
            </a:r>
            <a:r>
              <a:rPr lang="en-US" altLang="ko-KR" dirty="0"/>
              <a:t>for in</a:t>
            </a:r>
            <a:r>
              <a:rPr lang="ko-KR" altLang="en-US" dirty="0"/>
              <a:t>은 원래 </a:t>
            </a:r>
            <a:r>
              <a:rPr lang="en-US" altLang="ko-KR" dirty="0" err="1"/>
              <a:t>enum</a:t>
            </a:r>
            <a:r>
              <a:rPr lang="en-US" altLang="ko-KR" dirty="0"/>
              <a:t> </a:t>
            </a:r>
            <a:r>
              <a:rPr lang="ko-KR" altLang="en-US" dirty="0"/>
              <a:t>형에 돌릴 수 있는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6D88D-8595-4B71-B5D1-074584526D26}" type="slidenum">
              <a:rPr lang="ko-KR" altLang="en-US" smtClean="0"/>
              <a:pPr/>
              <a:t>108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7173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5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44448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447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66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259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783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0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64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66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67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44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412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0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SeSAC</a:t>
            </a:r>
            <a:r>
              <a:rPr lang="en-US" altLang="ko-KR" dirty="0"/>
              <a:t> x </a:t>
            </a:r>
            <a:r>
              <a:rPr lang="en-US" altLang="ko-KR" dirty="0" err="1"/>
              <a:t>CODINGOn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2024-04-29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2529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2024-04-29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7EE994-4906-15FA-0A97-CBA23B4A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026" name="Picture 2" descr="자바스크립트(JavaScript) 공부하자">
            <a:extLst>
              <a:ext uri="{FF2B5EF4-FFF2-40B4-BE49-F238E27FC236}">
                <a16:creationId xmlns:a16="http://schemas.microsoft.com/office/drawing/2014/main" id="{97E9C49D-06DD-7059-EB87-3E2882A18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127" y="823411"/>
            <a:ext cx="4665746" cy="466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480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노란색이(가) 표시된 사진&#10;&#10;자동 생성된 설명">
            <a:extLst>
              <a:ext uri="{FF2B5EF4-FFF2-40B4-BE49-F238E27FC236}">
                <a16:creationId xmlns:a16="http://schemas.microsoft.com/office/drawing/2014/main" id="{BFA66821-F4F3-9FEF-1B8C-13C88961F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7" y="1400176"/>
            <a:ext cx="3470273" cy="3470273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C26C2-F30B-D886-0F39-161B6A3B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FBFBFA-EBC3-4288-86D0-55A69B340430}" type="datetime6">
              <a:rPr lang="ko-KR" altLang="en-US" smtClean="0"/>
              <a:pPr/>
              <a:t>2024년 4월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3E3B06F-1C1A-D12E-6FD4-F6328DA1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6AEBB6C-CE05-3C2C-EC00-AB5F72908457}"/>
              </a:ext>
            </a:extLst>
          </p:cNvPr>
          <p:cNvSpPr txBox="1">
            <a:spLocks/>
          </p:cNvSpPr>
          <p:nvPr/>
        </p:nvSpPr>
        <p:spPr>
          <a:xfrm>
            <a:off x="4724400" y="1400176"/>
            <a:ext cx="7200900" cy="38544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dirty="0"/>
              <a:t>귀여운 </a:t>
            </a:r>
            <a:r>
              <a:rPr lang="en-US" altLang="ko-KR" dirty="0"/>
              <a:t>– </a:t>
            </a:r>
            <a:r>
              <a:rPr lang="ko-KR" altLang="en-US" sz="4800" dirty="0"/>
              <a:t>형용사 </a:t>
            </a:r>
            <a:br>
              <a:rPr lang="en-US" altLang="ko-KR" sz="4800" dirty="0"/>
            </a:br>
            <a:r>
              <a:rPr lang="ko-KR" altLang="en-US" dirty="0" err="1"/>
              <a:t>미니언이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sz="4800" dirty="0"/>
              <a:t>명사</a:t>
            </a:r>
            <a:endParaRPr lang="en-US" altLang="ko-KR" sz="4800" dirty="0"/>
          </a:p>
          <a:p>
            <a:pPr algn="l">
              <a:lnSpc>
                <a:spcPct val="150000"/>
              </a:lnSpc>
            </a:pPr>
            <a:r>
              <a:rPr lang="ko-KR" altLang="en-US" dirty="0"/>
              <a:t>춤춘다</a:t>
            </a:r>
            <a:r>
              <a:rPr lang="en-US" altLang="ko-KR" dirty="0"/>
              <a:t> – </a:t>
            </a:r>
            <a:r>
              <a:rPr lang="ko-KR" altLang="en-US" sz="4800" dirty="0"/>
              <a:t>동사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8AD632-EA7B-824A-FE5C-70FA1C5B0A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6" t="8334" r="70543" b="16381"/>
          <a:stretch/>
        </p:blipFill>
        <p:spPr>
          <a:xfrm>
            <a:off x="10214802" y="2900719"/>
            <a:ext cx="781749" cy="11317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AB6420-C25C-C332-739A-ECD92BF63F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61" t="12357" r="37847" b="12357"/>
          <a:stretch/>
        </p:blipFill>
        <p:spPr>
          <a:xfrm>
            <a:off x="10161619" y="1603377"/>
            <a:ext cx="834932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23D4AFD-E2A5-EF52-68E6-FE121A5D83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755" t="6938" r="5976" b="13517"/>
          <a:stretch/>
        </p:blipFill>
        <p:spPr>
          <a:xfrm>
            <a:off x="10191612" y="4198061"/>
            <a:ext cx="828128" cy="11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45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1D7A679-B8D0-186F-C971-BA7EA2851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46" y="2327907"/>
            <a:ext cx="6705600" cy="622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600" b="1" dirty="0">
                <a:solidFill>
                  <a:schemeClr val="accent1"/>
                </a:solidFill>
              </a:rPr>
              <a:t>JavaScript</a:t>
            </a:r>
            <a:endParaRPr lang="ko-KR" altLang="en-US" sz="3600" b="1" dirty="0">
              <a:solidFill>
                <a:schemeClr val="accent1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0E118-13FA-729A-60AF-684E084F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2024-04-29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786A31-D818-35BC-E175-84E0289F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1DA36C-65CF-DE57-B375-6D86D2A7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D05DCB7-AD04-98BC-4552-F188A7F03DB7}"/>
              </a:ext>
            </a:extLst>
          </p:cNvPr>
          <p:cNvSpPr txBox="1">
            <a:spLocks/>
          </p:cNvSpPr>
          <p:nvPr/>
        </p:nvSpPr>
        <p:spPr>
          <a:xfrm>
            <a:off x="3975646" y="3286896"/>
            <a:ext cx="7350080" cy="13265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웹 페이지에서 복잡한 기능을 구현할 수 있도록 하는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스크립팅</a:t>
            </a:r>
            <a:r>
              <a:rPr lang="ko-KR" altLang="en-US" dirty="0"/>
              <a:t> 언어 또는 프로그래밍 언어 </a:t>
            </a:r>
          </a:p>
        </p:txBody>
      </p:sp>
      <p:pic>
        <p:nvPicPr>
          <p:cNvPr id="2050" name="Picture 2" descr="자바스크립트(JavaScript) 공부하자">
            <a:extLst>
              <a:ext uri="{FF2B5EF4-FFF2-40B4-BE49-F238E27FC236}">
                <a16:creationId xmlns:a16="http://schemas.microsoft.com/office/drawing/2014/main" id="{9A5E47C7-C122-1A09-93B5-2D1CF381B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42" y="1858847"/>
            <a:ext cx="2838835" cy="283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809160" y="4033764"/>
            <a:ext cx="1516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6EC173"/>
                </a:solidFill>
              </a:rPr>
              <a:t>생동감</a:t>
            </a:r>
            <a:r>
              <a:rPr lang="en-US" altLang="ko-KR" sz="2400" b="1" dirty="0">
                <a:solidFill>
                  <a:srgbClr val="6EC173"/>
                </a:solidFill>
              </a:rPr>
              <a:t>!!</a:t>
            </a:r>
            <a:endParaRPr lang="ko-KR" altLang="en-US" sz="2400" b="1" dirty="0">
              <a:solidFill>
                <a:srgbClr val="6EC1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049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2569F-CADB-A1F0-F395-2257C8FA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2024-04-29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E3EC20-9262-D020-53CC-6A2031CD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734D82C-A753-7784-CBEF-D0221FDC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사용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5B3D1F8-C0C4-0C9B-76D5-AFAA100B7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28" y="1325563"/>
            <a:ext cx="7120168" cy="457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ACDD7E5-99CA-62A3-8D9D-EDB87686C78F}"/>
              </a:ext>
            </a:extLst>
          </p:cNvPr>
          <p:cNvSpPr txBox="1">
            <a:spLocks/>
          </p:cNvSpPr>
          <p:nvPr/>
        </p:nvSpPr>
        <p:spPr>
          <a:xfrm>
            <a:off x="8024189" y="1325562"/>
            <a:ext cx="2743199" cy="4577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동적기능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동적처리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이벤트 처리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슬라이드 메뉴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…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6663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2D86FD1-8A88-9437-B0F4-114B06355694}"/>
              </a:ext>
            </a:extLst>
          </p:cNvPr>
          <p:cNvSpPr/>
          <p:nvPr/>
        </p:nvSpPr>
        <p:spPr>
          <a:xfrm>
            <a:off x="3055371" y="2562514"/>
            <a:ext cx="1956318" cy="1455594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accent2"/>
                </a:solidFill>
                <a:latin typeface="+mn-ea"/>
              </a:rPr>
              <a:t>내장</a:t>
            </a:r>
            <a:endParaRPr lang="en-US" altLang="ko-KR" sz="2400" dirty="0">
              <a:solidFill>
                <a:schemeClr val="accent2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accent2"/>
                </a:solidFill>
                <a:latin typeface="+mn-ea"/>
              </a:rPr>
              <a:t>방식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8249A84-FC24-7685-4223-FE2C76BDC731}"/>
              </a:ext>
            </a:extLst>
          </p:cNvPr>
          <p:cNvSpPr/>
          <p:nvPr/>
        </p:nvSpPr>
        <p:spPr>
          <a:xfrm>
            <a:off x="6612988" y="2562514"/>
            <a:ext cx="1956318" cy="1455594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00B050"/>
                </a:solidFill>
                <a:latin typeface="+mn-ea"/>
              </a:rPr>
              <a:t>링크</a:t>
            </a:r>
            <a:endParaRPr lang="en-US" altLang="ko-KR" sz="2400" dirty="0">
              <a:solidFill>
                <a:srgbClr val="00B050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00B050"/>
                </a:solidFill>
                <a:latin typeface="+mn-ea"/>
              </a:rPr>
              <a:t>방식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5AA04D2-0716-0EEA-AD9A-F716A4E0F75D}"/>
              </a:ext>
            </a:extLst>
          </p:cNvPr>
          <p:cNvSpPr txBox="1">
            <a:spLocks/>
          </p:cNvSpPr>
          <p:nvPr/>
        </p:nvSpPr>
        <p:spPr>
          <a:xfrm>
            <a:off x="5439823" y="2562514"/>
            <a:ext cx="6708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j-cs"/>
              </a:defRPr>
            </a:lvl1pPr>
          </a:lstStyle>
          <a:p>
            <a:pPr algn="ctr"/>
            <a:r>
              <a:rPr lang="en-US" altLang="ko-KR" sz="6600" dirty="0">
                <a:latin typeface="+mn-ea"/>
                <a:ea typeface="+mn-ea"/>
              </a:rPr>
              <a:t>?</a:t>
            </a:r>
            <a:endParaRPr lang="ko-KR" altLang="en-US" sz="6600" dirty="0">
              <a:latin typeface="+mn-ea"/>
              <a:ea typeface="+mn-ea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734D82C-A753-7784-CBEF-D0221FDC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참조 방식</a:t>
            </a:r>
          </a:p>
        </p:txBody>
      </p:sp>
    </p:spTree>
    <p:extLst>
      <p:ext uri="{BB962C8B-B14F-4D97-AF65-F5344CB8AC3E}">
        <p14:creationId xmlns:p14="http://schemas.microsoft.com/office/powerpoint/2010/main" val="257971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내장 방식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614778" y="3092428"/>
            <a:ext cx="10830017" cy="3258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ea"/>
                <a:ea typeface="+mn-ea"/>
              </a:rPr>
              <a:t>위치는 어디서나 사용이 가능합니다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Head </a:t>
            </a:r>
            <a:r>
              <a:rPr lang="ko-KR" altLang="en-US" dirty="0">
                <a:latin typeface="+mn-ea"/>
                <a:ea typeface="+mn-ea"/>
              </a:rPr>
              <a:t>태그 내부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Body </a:t>
            </a:r>
            <a:r>
              <a:rPr lang="ko-KR" altLang="en-US" dirty="0">
                <a:latin typeface="+mn-ea"/>
                <a:ea typeface="+mn-ea"/>
              </a:rPr>
              <a:t>태그 내부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Head </a:t>
            </a:r>
            <a:r>
              <a:rPr lang="ko-KR" altLang="en-US" dirty="0">
                <a:latin typeface="+mn-ea"/>
                <a:ea typeface="+mn-ea"/>
              </a:rPr>
              <a:t>와 </a:t>
            </a:r>
            <a:r>
              <a:rPr lang="en-US" altLang="ko-KR" dirty="0">
                <a:latin typeface="+mn-ea"/>
                <a:ea typeface="+mn-ea"/>
              </a:rPr>
              <a:t>body </a:t>
            </a:r>
            <a:r>
              <a:rPr lang="ko-KR" altLang="en-US" dirty="0">
                <a:latin typeface="+mn-ea"/>
                <a:ea typeface="+mn-ea"/>
              </a:rPr>
              <a:t>사이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Body </a:t>
            </a:r>
            <a:r>
              <a:rPr lang="ko-KR" altLang="en-US" dirty="0">
                <a:latin typeface="+mn-ea"/>
                <a:ea typeface="+mn-ea"/>
              </a:rPr>
              <a:t>아래 등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22AAE3-17C1-F878-3741-66BF94C58A57}"/>
              </a:ext>
            </a:extLst>
          </p:cNvPr>
          <p:cNvSpPr txBox="1"/>
          <p:nvPr/>
        </p:nvSpPr>
        <p:spPr>
          <a:xfrm>
            <a:off x="614778" y="1516426"/>
            <a:ext cx="81563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&lt;script&gt;</a:t>
            </a:r>
            <a:endParaRPr lang="ko-KR" altLang="en-US" sz="28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ko-KR" alt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sz="28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alert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sz="2800" b="0" dirty="0">
                <a:solidFill>
                  <a:srgbClr val="A31515"/>
                </a:solidFill>
                <a:effectLst/>
                <a:latin typeface="+mn-ea"/>
              </a:rPr>
              <a:t>"</a:t>
            </a:r>
            <a:r>
              <a:rPr lang="ko-KR" altLang="en-US" sz="2800" b="0" dirty="0">
                <a:solidFill>
                  <a:srgbClr val="A31515"/>
                </a:solidFill>
                <a:effectLst/>
                <a:latin typeface="+mn-ea"/>
              </a:rPr>
              <a:t>헤드 그런데 </a:t>
            </a:r>
            <a:r>
              <a:rPr lang="en-US" altLang="ko-KR" sz="2800" b="0" dirty="0" err="1">
                <a:solidFill>
                  <a:srgbClr val="A31515"/>
                </a:solidFill>
                <a:effectLst/>
                <a:latin typeface="+mn-ea"/>
              </a:rPr>
              <a:t>js</a:t>
            </a:r>
            <a:r>
              <a:rPr lang="en-US" altLang="ko-KR" sz="2800" b="0" dirty="0">
                <a:solidFill>
                  <a:srgbClr val="A31515"/>
                </a:solidFill>
                <a:effectLst/>
                <a:latin typeface="+mn-ea"/>
              </a:rPr>
              <a:t> </a:t>
            </a:r>
            <a:r>
              <a:rPr lang="ko-KR" altLang="en-US" sz="2800" b="0" dirty="0">
                <a:solidFill>
                  <a:srgbClr val="A31515"/>
                </a:solidFill>
                <a:effectLst/>
                <a:latin typeface="+mn-ea"/>
              </a:rPr>
              <a:t>파일 링크 위</a:t>
            </a:r>
            <a:r>
              <a:rPr lang="en-US" altLang="ko-KR" sz="2800" b="0" dirty="0">
                <a:solidFill>
                  <a:srgbClr val="A31515"/>
                </a:solidFill>
                <a:effectLst/>
                <a:latin typeface="+mn-ea"/>
              </a:rPr>
              <a:t>"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&lt;/script&gt;</a:t>
            </a:r>
            <a:endParaRPr lang="ko-KR" altLang="en-US" sz="28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9378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링크 방식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523783" y="1328391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+mn-ea"/>
                <a:ea typeface="+mn-ea"/>
              </a:rPr>
              <a:t>Java Script </a:t>
            </a:r>
            <a:r>
              <a:rPr lang="ko-KR" altLang="en-US" dirty="0">
                <a:latin typeface="+mn-ea"/>
                <a:ea typeface="+mn-ea"/>
              </a:rPr>
              <a:t>파일을 따로 만들어서 링크하는 방식 </a:t>
            </a:r>
            <a:r>
              <a:rPr lang="en-US" altLang="ko-KR" dirty="0">
                <a:latin typeface="+mn-ea"/>
                <a:ea typeface="+mn-ea"/>
              </a:rPr>
              <a:t>like CSS</a:t>
            </a:r>
          </a:p>
          <a:p>
            <a:endParaRPr lang="en-US" altLang="ko-KR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위치는 어디서나 사용이 가능합니다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Head </a:t>
            </a:r>
            <a:r>
              <a:rPr lang="ko-KR" altLang="en-US" dirty="0">
                <a:latin typeface="+mn-ea"/>
                <a:ea typeface="+mn-ea"/>
              </a:rPr>
              <a:t>태그 내부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Body </a:t>
            </a:r>
            <a:r>
              <a:rPr lang="ko-KR" altLang="en-US" dirty="0">
                <a:latin typeface="+mn-ea"/>
                <a:ea typeface="+mn-ea"/>
              </a:rPr>
              <a:t>태그 내부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Head </a:t>
            </a:r>
            <a:r>
              <a:rPr lang="ko-KR" altLang="en-US" dirty="0">
                <a:latin typeface="+mn-ea"/>
                <a:ea typeface="+mn-ea"/>
              </a:rPr>
              <a:t>와 </a:t>
            </a:r>
            <a:r>
              <a:rPr lang="en-US" altLang="ko-KR" dirty="0">
                <a:latin typeface="+mn-ea"/>
                <a:ea typeface="+mn-ea"/>
              </a:rPr>
              <a:t>body </a:t>
            </a:r>
            <a:r>
              <a:rPr lang="ko-KR" altLang="en-US" dirty="0">
                <a:latin typeface="+mn-ea"/>
                <a:ea typeface="+mn-ea"/>
              </a:rPr>
              <a:t>사이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Body </a:t>
            </a:r>
            <a:r>
              <a:rPr lang="ko-KR" altLang="en-US" dirty="0">
                <a:latin typeface="+mn-ea"/>
                <a:ea typeface="+mn-ea"/>
              </a:rPr>
              <a:t>아래 등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1993D7-F513-7DF4-E6E7-A7EA5DEE8FCB}"/>
              </a:ext>
            </a:extLst>
          </p:cNvPr>
          <p:cNvSpPr txBox="1"/>
          <p:nvPr/>
        </p:nvSpPr>
        <p:spPr>
          <a:xfrm>
            <a:off x="892025" y="2130734"/>
            <a:ext cx="8396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&lt;script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sz="28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src</a:t>
            </a:r>
            <a:r>
              <a:rPr lang="en-US" altLang="ko-KR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</a:t>
            </a:r>
            <a:r>
              <a:rPr lang="en-US" altLang="ko-KR" sz="2800" b="0" dirty="0">
                <a:solidFill>
                  <a:srgbClr val="0000FF"/>
                </a:solidFill>
                <a:effectLst/>
                <a:latin typeface="+mn-ea"/>
              </a:rPr>
              <a:t>"./index.js"</a:t>
            </a:r>
            <a:r>
              <a:rPr lang="en-US" altLang="ko-KR" sz="2800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&gt;&lt;/script&gt;</a:t>
            </a:r>
            <a:endParaRPr lang="en-US" altLang="ko-KR" sz="2800" b="0" dirty="0">
              <a:solidFill>
                <a:srgbClr val="000000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2075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각각의 </a:t>
            </a:r>
            <a:r>
              <a:rPr lang="ko-KR" altLang="en-US" dirty="0">
                <a:solidFill>
                  <a:schemeClr val="accent1"/>
                </a:solidFill>
              </a:rPr>
              <a:t>장단점</a:t>
            </a:r>
            <a:r>
              <a:rPr lang="ko-KR" altLang="en-US" dirty="0"/>
              <a:t>이 존재 하겠죠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523783" y="1328391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ea"/>
                <a:ea typeface="+mn-ea"/>
              </a:rPr>
              <a:t>내장 방식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+mn-ea"/>
                <a:ea typeface="+mn-ea"/>
              </a:rPr>
              <a:t>간단하게 만들 수 있음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+mn-ea"/>
                <a:ea typeface="+mn-ea"/>
              </a:rPr>
              <a:t>특정 페이지에서만 작동하는 기능일 경우 내장 방식으로만 따로 구현 가능</a:t>
            </a:r>
            <a:endParaRPr lang="en-US" altLang="ko-KR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링크 방식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JS </a:t>
            </a:r>
            <a:r>
              <a:rPr lang="ko-KR" altLang="en-US" dirty="0">
                <a:latin typeface="+mn-ea"/>
                <a:ea typeface="+mn-ea"/>
              </a:rPr>
              <a:t>코드의 양이 많아지면 파일로 관리하는 편이 편함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+mn-ea"/>
                <a:ea typeface="+mn-ea"/>
              </a:rPr>
              <a:t>같은 기능을 다른 페이지에서 사용하고 싶을 때 </a:t>
            </a:r>
            <a:r>
              <a:rPr lang="en-US" altLang="ko-KR" dirty="0">
                <a:latin typeface="+mn-ea"/>
                <a:ea typeface="+mn-ea"/>
              </a:rPr>
              <a:t>JS </a:t>
            </a:r>
            <a:r>
              <a:rPr lang="ko-KR" altLang="en-US" dirty="0">
                <a:latin typeface="+mn-ea"/>
                <a:ea typeface="+mn-ea"/>
              </a:rPr>
              <a:t>파일 링크만 걸어서 사용 가능</a:t>
            </a:r>
            <a:endParaRPr lang="en-US" altLang="ko-KR" dirty="0">
              <a:latin typeface="+mn-ea"/>
              <a:ea typeface="+mn-ea"/>
            </a:endParaRPr>
          </a:p>
          <a:p>
            <a:pPr lvl="1"/>
            <a:r>
              <a:rPr lang="ko-KR" altLang="en-US" dirty="0">
                <a:latin typeface="+mn-ea"/>
                <a:ea typeface="+mn-ea"/>
              </a:rPr>
              <a:t>유지 보수 용이성이 편리</a:t>
            </a:r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80462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일단 해봅시다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51B1507-D26C-0164-32D8-F69EFF7A5668}"/>
              </a:ext>
            </a:extLst>
          </p:cNvPr>
          <p:cNvSpPr txBox="1">
            <a:spLocks/>
          </p:cNvSpPr>
          <p:nvPr/>
        </p:nvSpPr>
        <p:spPr>
          <a:xfrm>
            <a:off x="523783" y="1328391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+mn-ea"/>
                <a:ea typeface="+mn-ea"/>
              </a:rPr>
              <a:t>console.log(“TEXT”);</a:t>
            </a:r>
          </a:p>
          <a:p>
            <a:pPr lvl="1"/>
            <a:r>
              <a:rPr lang="ko-KR" altLang="en-US" dirty="0">
                <a:latin typeface="+mn-ea"/>
                <a:ea typeface="+mn-ea"/>
              </a:rPr>
              <a:t>우리의 디버깅 친구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pPr lvl="1"/>
            <a:r>
              <a:rPr lang="ko-KR" altLang="en-US" dirty="0">
                <a:latin typeface="+mn-ea"/>
                <a:ea typeface="+mn-ea"/>
              </a:rPr>
              <a:t>물론 이걸 </a:t>
            </a:r>
            <a:r>
              <a:rPr lang="ko-KR" altLang="en-US" dirty="0" err="1">
                <a:latin typeface="+mn-ea"/>
                <a:ea typeface="+mn-ea"/>
              </a:rPr>
              <a:t>쓰는건</a:t>
            </a:r>
            <a:r>
              <a:rPr lang="ko-KR" altLang="en-US" dirty="0">
                <a:latin typeface="+mn-ea"/>
                <a:ea typeface="+mn-ea"/>
              </a:rPr>
              <a:t> 안 좋은 방식입니다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r>
              <a:rPr lang="en-US" altLang="ko-KR" dirty="0">
                <a:latin typeface="+mn-ea"/>
                <a:ea typeface="+mn-ea"/>
              </a:rPr>
              <a:t>alert(“TEXT”);</a:t>
            </a:r>
          </a:p>
          <a:p>
            <a:pPr lvl="1"/>
            <a:r>
              <a:rPr lang="ko-KR" altLang="en-US" dirty="0">
                <a:latin typeface="+mn-ea"/>
                <a:ea typeface="+mn-ea"/>
              </a:rPr>
              <a:t>화면에 뭐든 떠야 재미 있으니까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pPr lvl="1"/>
            <a:r>
              <a:rPr lang="ko-KR" altLang="en-US" dirty="0" err="1">
                <a:latin typeface="+mn-ea"/>
                <a:ea typeface="+mn-ea"/>
              </a:rPr>
              <a:t>자매품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en-US" altLang="ko-KR" dirty="0">
                <a:latin typeface="+mn-ea"/>
                <a:ea typeface="+mn-ea"/>
              </a:rPr>
              <a:t>confirm(“TEXT”);</a:t>
            </a:r>
          </a:p>
          <a:p>
            <a:pPr lvl="2"/>
            <a:r>
              <a:rPr lang="ko-KR" altLang="en-US" dirty="0">
                <a:latin typeface="+mn-ea"/>
                <a:ea typeface="+mn-ea"/>
              </a:rPr>
              <a:t>애는 취소 버튼이 있어요</a:t>
            </a:r>
            <a:r>
              <a:rPr lang="en-US" altLang="ko-KR" dirty="0">
                <a:latin typeface="+mn-ea"/>
                <a:ea typeface="+mn-ea"/>
              </a:rPr>
              <a:t>! </a:t>
            </a:r>
            <a:r>
              <a:rPr lang="en-US" altLang="ko-KR" dirty="0"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ea"/>
                <a:ea typeface="+mn-ea"/>
                <a:sym typeface="Wingdings" panose="05000000000000000000" pitchFamily="2" charset="2"/>
              </a:rPr>
              <a:t>값을 </a:t>
            </a:r>
            <a:r>
              <a:rPr lang="ko-KR" altLang="en-US" dirty="0" err="1">
                <a:solidFill>
                  <a:srgbClr val="FF0000"/>
                </a:solidFill>
                <a:latin typeface="+mn-ea"/>
                <a:ea typeface="+mn-ea"/>
                <a:sym typeface="Wingdings" panose="05000000000000000000" pitchFamily="2" charset="2"/>
              </a:rPr>
              <a:t>리턴</a:t>
            </a:r>
            <a:r>
              <a:rPr lang="ko-KR" altLang="en-US" dirty="0" err="1">
                <a:latin typeface="+mn-ea"/>
                <a:ea typeface="+mn-ea"/>
                <a:sym typeface="Wingdings" panose="05000000000000000000" pitchFamily="2" charset="2"/>
              </a:rPr>
              <a:t>한다</a:t>
            </a:r>
            <a:r>
              <a:rPr lang="en-US" altLang="ko-KR" dirty="0">
                <a:latin typeface="+mn-ea"/>
                <a:ea typeface="+mn-ea"/>
                <a:sym typeface="Wingdings" panose="05000000000000000000" pitchFamily="2" charset="2"/>
              </a:rPr>
              <a:t> &amp;</a:t>
            </a:r>
            <a:r>
              <a:rPr lang="en-US" altLang="ko-KR" dirty="0">
                <a:latin typeface="+mn-ea"/>
                <a:ea typeface="+mn-ea"/>
              </a:rPr>
              <a:t> IF</a:t>
            </a:r>
            <a:r>
              <a:rPr lang="ko-KR" altLang="en-US" dirty="0">
                <a:latin typeface="+mn-ea"/>
                <a:ea typeface="+mn-ea"/>
              </a:rPr>
              <a:t>문에 사용 가능</a:t>
            </a:r>
            <a:r>
              <a:rPr lang="en-US" altLang="ko-KR" dirty="0">
                <a:latin typeface="+mn-ea"/>
                <a:ea typeface="+mn-ea"/>
              </a:rPr>
              <a:t>!</a:t>
            </a:r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pPr lvl="1"/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6159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CSS</a:t>
            </a:r>
            <a:r>
              <a:rPr lang="ko-KR" altLang="en-US" dirty="0">
                <a:latin typeface="+mn-ea"/>
              </a:rPr>
              <a:t>의 방식 또는 선언 위치에 따라서 읽기 순서가 달라졌지요</a:t>
            </a:r>
            <a:r>
              <a:rPr lang="en-US" altLang="ko-KR" dirty="0">
                <a:latin typeface="+mn-ea"/>
              </a:rPr>
              <a:t>?</a:t>
            </a:r>
          </a:p>
          <a:p>
            <a:r>
              <a:rPr lang="en-US" altLang="ko-KR" dirty="0">
                <a:latin typeface="+mn-ea"/>
              </a:rPr>
              <a:t>JS</a:t>
            </a:r>
            <a:r>
              <a:rPr lang="ko-KR" altLang="en-US" dirty="0">
                <a:latin typeface="+mn-ea"/>
              </a:rPr>
              <a:t>는 어떤지 확인해 봅시다</a:t>
            </a:r>
            <a:r>
              <a:rPr lang="en-US" altLang="ko-KR" dirty="0">
                <a:latin typeface="+mn-ea"/>
              </a:rPr>
              <a:t>!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읽기</a:t>
            </a:r>
            <a:r>
              <a:rPr lang="en-US" altLang="ko-KR" dirty="0"/>
              <a:t> </a:t>
            </a:r>
            <a:r>
              <a:rPr lang="ko-KR" altLang="en-US" dirty="0"/>
              <a:t>순서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7864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90080E2-F2C9-6166-5A17-5E5782668B3F}"/>
              </a:ext>
            </a:extLst>
          </p:cNvPr>
          <p:cNvSpPr txBox="1"/>
          <p:nvPr/>
        </p:nvSpPr>
        <p:spPr>
          <a:xfrm>
            <a:off x="703810" y="785950"/>
            <a:ext cx="6476172" cy="52629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&lt;!DOCTYPE html&gt;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&lt;html 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lang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="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ko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&lt;head&gt;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&lt;meta charset="UTF-8"&gt;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&lt;meta http-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equiv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="X-UA-Compatible" content="IE=edge"&gt;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&lt;meta name="viewport" content="width=device-width, initial-scale=1.0"&gt;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&lt;title&gt;Document&lt;/title&gt;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alert("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헤드 그런데 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링크 위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")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&lt;/script&gt;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&lt;script 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src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="./index.js"&gt;&lt;/script&gt;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alert("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헤드 그런데 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링크 아래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")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&lt;/script&gt;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&lt;/head&gt;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alert("</a:t>
            </a:r>
            <a:r>
              <a:rPr lang="ko-KR" altLang="en-US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헤드랑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바디 사이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");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&lt;/script&gt;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&lt;body&gt;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&lt;h1&gt;hello, </a:t>
            </a:r>
            <a:r>
              <a:rPr lang="en-US" altLang="ko-KR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World!&lt;/h1&gt;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alert("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바디 안쪽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");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&lt;/script&gt;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&lt;/body&gt;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alert("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바디 아래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");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&lt;/script&gt;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&lt;/html&gt;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97390-0195-EEBD-13E4-36CF255CAD5B}"/>
              </a:ext>
            </a:extLst>
          </p:cNvPr>
          <p:cNvSpPr txBox="1"/>
          <p:nvPr/>
        </p:nvSpPr>
        <p:spPr>
          <a:xfrm>
            <a:off x="5088958" y="5435300"/>
            <a:ext cx="1965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index.html</a:t>
            </a:r>
            <a:endParaRPr lang="ko-KR" altLang="en-US" sz="2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4FC61E-8AF7-AB97-A4F8-9FD4B71D61E0}"/>
              </a:ext>
            </a:extLst>
          </p:cNvPr>
          <p:cNvSpPr txBox="1"/>
          <p:nvPr/>
        </p:nvSpPr>
        <p:spPr>
          <a:xfrm>
            <a:off x="7761792" y="785950"/>
            <a:ext cx="3483429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D4D4D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alert(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0" dirty="0" err="1">
                <a:solidFill>
                  <a:srgbClr val="CE917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링크방식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E09498-2AC3-DEE1-2526-BD3DCFED4984}"/>
              </a:ext>
            </a:extLst>
          </p:cNvPr>
          <p:cNvSpPr txBox="1"/>
          <p:nvPr/>
        </p:nvSpPr>
        <p:spPr>
          <a:xfrm>
            <a:off x="7761792" y="1155282"/>
            <a:ext cx="1466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+mn-ea"/>
              </a:rPr>
              <a:t>index.js</a:t>
            </a:r>
            <a:endParaRPr lang="ko-KR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16588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5E8C8-9869-1C54-97A9-6E8F629C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읽기 순서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9AF631B-E6EC-9BEE-B8DD-BC64EFF4CA7B}"/>
              </a:ext>
            </a:extLst>
          </p:cNvPr>
          <p:cNvSpPr txBox="1">
            <a:spLocks/>
          </p:cNvSpPr>
          <p:nvPr/>
        </p:nvSpPr>
        <p:spPr>
          <a:xfrm>
            <a:off x="523783" y="1328391"/>
            <a:ext cx="10830017" cy="523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강한공군체 Medium" panose="020B0600000101010101" pitchFamily="50" charset="-127"/>
                <a:ea typeface="강한공군체 Medium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ea"/>
                <a:ea typeface="+mn-ea"/>
              </a:rPr>
              <a:t>말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그대로 읽히는 순서에 따라서 작동 합니다</a:t>
            </a:r>
            <a:r>
              <a:rPr lang="en-US" altLang="ko-KR" dirty="0">
                <a:latin typeface="+mn-ea"/>
                <a:ea typeface="+mn-ea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037025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잠깐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9704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dirty="0"/>
              <a:t>dash-case (kebab-case)</a:t>
            </a:r>
          </a:p>
          <a:p>
            <a:pPr>
              <a:lnSpc>
                <a:spcPct val="150000"/>
              </a:lnSpc>
            </a:pPr>
            <a:r>
              <a:rPr lang="en-US" altLang="ko-KR" sz="3600" dirty="0" err="1"/>
              <a:t>snake_case</a:t>
            </a:r>
            <a:endParaRPr lang="en-US" altLang="ko-KR" sz="3600" dirty="0"/>
          </a:p>
          <a:p>
            <a:pPr>
              <a:lnSpc>
                <a:spcPct val="150000"/>
              </a:lnSpc>
            </a:pPr>
            <a:r>
              <a:rPr lang="en-US" altLang="ko-KR" sz="3600" dirty="0" err="1"/>
              <a:t>camelCase</a:t>
            </a:r>
            <a:endParaRPr lang="en-US" altLang="ko-KR" sz="3600" dirty="0"/>
          </a:p>
          <a:p>
            <a:pPr>
              <a:lnSpc>
                <a:spcPct val="150000"/>
              </a:lnSpc>
            </a:pPr>
            <a:r>
              <a:rPr lang="en-US" altLang="ko-KR" sz="3600" dirty="0" err="1"/>
              <a:t>PascalCase</a:t>
            </a:r>
            <a:endParaRPr lang="ko-KR" altLang="en-US" sz="360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표기법</a:t>
            </a:r>
          </a:p>
        </p:txBody>
      </p:sp>
    </p:spTree>
    <p:extLst>
      <p:ext uri="{BB962C8B-B14F-4D97-AF65-F5344CB8AC3E}">
        <p14:creationId xmlns:p14="http://schemas.microsoft.com/office/powerpoint/2010/main" val="763325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프로그래밍에서는 </a:t>
            </a:r>
            <a:r>
              <a:rPr lang="en-US" altLang="ko-KR" dirty="0"/>
              <a:t>0 </a:t>
            </a:r>
            <a:r>
              <a:rPr lang="ko-KR" altLang="en-US" dirty="0"/>
              <a:t>기반으로 번호를 매긴다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특수한 경우를 제외하고는 </a:t>
            </a:r>
            <a:r>
              <a:rPr lang="en-US" altLang="ko-KR" b="1" dirty="0">
                <a:solidFill>
                  <a:schemeClr val="accent1"/>
                </a:solidFill>
              </a:rPr>
              <a:t>0</a:t>
            </a:r>
            <a:r>
              <a:rPr lang="ko-KR" altLang="en-US" b="1" dirty="0">
                <a:solidFill>
                  <a:schemeClr val="accent1"/>
                </a:solidFill>
              </a:rPr>
              <a:t>부터 숫자를 시작</a:t>
            </a:r>
            <a:r>
              <a:rPr lang="ko-KR" altLang="en-US" dirty="0"/>
              <a:t>함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Zero-based Numbering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0377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전자 인간'으로 인정받은 로봇, 세금도 내야 할까? : 네이버 포스트">
            <a:extLst>
              <a:ext uri="{FF2B5EF4-FFF2-40B4-BE49-F238E27FC236}">
                <a16:creationId xmlns:a16="http://schemas.microsoft.com/office/drawing/2014/main" id="{84B4980F-7834-BF60-09E3-32D9407C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08" y="3714161"/>
            <a:ext cx="2500927" cy="250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화이팅 - 뽐뿌:짤방갤러리">
            <a:extLst>
              <a:ext uri="{FF2B5EF4-FFF2-40B4-BE49-F238E27FC236}">
                <a16:creationId xmlns:a16="http://schemas.microsoft.com/office/drawing/2014/main" id="{E6D3F84E-1B3A-FFEF-6B72-9E0EDD4CFC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480"/>
          <a:stretch/>
        </p:blipFill>
        <p:spPr bwMode="auto">
          <a:xfrm>
            <a:off x="489408" y="494122"/>
            <a:ext cx="2500927" cy="219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16C226-6DF5-E7DA-7B6E-694B7A28DFF2}"/>
              </a:ext>
            </a:extLst>
          </p:cNvPr>
          <p:cNvSpPr txBox="1"/>
          <p:nvPr/>
        </p:nvSpPr>
        <p:spPr>
          <a:xfrm>
            <a:off x="4110087" y="1392716"/>
            <a:ext cx="5093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+mn-ea"/>
              </a:rPr>
              <a:t>1 2 3 4 5 6 7 8 9 10 ~</a:t>
            </a:r>
            <a:endParaRPr lang="ko-KR" altLang="en-US" sz="40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51CF2C-272B-673E-3472-3C46DC6F4D48}"/>
              </a:ext>
            </a:extLst>
          </p:cNvPr>
          <p:cNvSpPr txBox="1"/>
          <p:nvPr/>
        </p:nvSpPr>
        <p:spPr>
          <a:xfrm>
            <a:off x="4110087" y="4788771"/>
            <a:ext cx="48718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+mn-ea"/>
              </a:rPr>
              <a:t>0 1 2 3 4 5 6 7 8 9 ~</a:t>
            </a:r>
            <a:endParaRPr lang="ko-KR" altLang="en-US" sz="4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7517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612" y="2243137"/>
            <a:ext cx="84867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67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주석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30DBB1-02FD-B1DC-9BD9-C2F5B8DE5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533" y="1433383"/>
            <a:ext cx="4295398" cy="470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76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JavaScript </a:t>
            </a:r>
            <a:r>
              <a:rPr lang="ko-KR" altLang="en-US" sz="8000" dirty="0"/>
              <a:t>변수</a:t>
            </a:r>
          </a:p>
        </p:txBody>
      </p:sp>
    </p:spTree>
    <p:extLst>
      <p:ext uri="{BB962C8B-B14F-4D97-AF65-F5344CB8AC3E}">
        <p14:creationId xmlns:p14="http://schemas.microsoft.com/office/powerpoint/2010/main" val="1185911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2024-04-29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변수</a:t>
            </a:r>
          </a:p>
        </p:txBody>
      </p:sp>
      <p:pic>
        <p:nvPicPr>
          <p:cNvPr id="5122" name="Picture 2" descr="memory allocation">
            <a:extLst>
              <a:ext uri="{FF2B5EF4-FFF2-40B4-BE49-F238E27FC236}">
                <a16:creationId xmlns:a16="http://schemas.microsoft.com/office/drawing/2014/main" id="{A410ECD0-EE04-9BEF-CB45-F8D3C2BB4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161" y="1955131"/>
            <a:ext cx="9211678" cy="294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965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2024-04-29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변수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1ACAE0-6926-0ED2-47FC-8020FFD77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225621"/>
            <a:ext cx="6982643" cy="505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62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084FD5D-CEA4-041C-54DE-8564666C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484" y="3054115"/>
            <a:ext cx="8742886" cy="265687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선언 단계와 초기화가 동시에 이루어지며 아무것도 할당하지 않으면 자동으로 </a:t>
            </a:r>
            <a:r>
              <a:rPr lang="en-US" altLang="ko-KR" sz="2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undefined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가 할당</a:t>
            </a:r>
            <a:endParaRPr lang="en-US" altLang="ko-KR" sz="2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중복 선언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가능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 </a:t>
            </a:r>
            <a:r>
              <a:rPr lang="ko-KR" altLang="en-US" sz="2400" dirty="0" err="1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재선언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가능</a:t>
            </a:r>
            <a:endParaRPr lang="en-US" altLang="ko-KR" sz="2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1"/>
                </a:solidFill>
              </a:rPr>
              <a:t>var</a:t>
            </a:r>
            <a:r>
              <a:rPr lang="en-US" altLang="ko-KR" dirty="0"/>
              <a:t> &amp; let &amp; const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A85657-EF9A-6723-328E-52249A340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51" y="1843836"/>
            <a:ext cx="4050931" cy="82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6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084FD5D-CEA4-041C-54DE-8564666C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484" y="3384240"/>
            <a:ext cx="8296904" cy="265687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변수 </a:t>
            </a:r>
            <a:r>
              <a:rPr lang="ko-KR" altLang="en-US" sz="24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중복 선언이 불가능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하지만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24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재할당 가능</a:t>
            </a:r>
            <a:endParaRPr lang="en-US" altLang="ko-KR" sz="2400" b="1" dirty="0">
              <a:highlight>
                <a:srgbClr val="FFFF00"/>
              </a:highlight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var 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과 마찬가지로 선언을 하지 않으면 자동으로 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undefined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가 들어간다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 &amp; </a:t>
            </a:r>
            <a:r>
              <a:rPr lang="en-US" altLang="ko-KR" dirty="0">
                <a:solidFill>
                  <a:schemeClr val="accent1"/>
                </a:solidFill>
              </a:rPr>
              <a:t>let</a:t>
            </a:r>
            <a:r>
              <a:rPr lang="en-US" altLang="ko-KR" dirty="0"/>
              <a:t> &amp; const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94857E-BD2B-9E54-8DD3-8E494B669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141" y="1764160"/>
            <a:ext cx="4914444" cy="110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46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084FD5D-CEA4-041C-54DE-8564666C6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484" y="3429000"/>
            <a:ext cx="8296904" cy="265687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초반에 선언할 때 반드시 </a:t>
            </a:r>
            <a:r>
              <a:rPr lang="ko-KR" altLang="en-US" sz="24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초기화를 동시에 진행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해야 한다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ko-KR" altLang="en-US" sz="2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재선언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불가능</a:t>
            </a:r>
            <a:r>
              <a:rPr lang="en-US" altLang="ko-KR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2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재할당 불가능</a:t>
            </a:r>
            <a:endParaRPr lang="en-US" altLang="ko-KR" sz="2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 &amp; let &amp; </a:t>
            </a:r>
            <a:r>
              <a:rPr lang="en-US" altLang="ko-KR" dirty="0">
                <a:solidFill>
                  <a:schemeClr val="accent1"/>
                </a:solidFill>
              </a:rPr>
              <a:t>const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812EEB-DFA2-3F5A-2891-EB16D28BD2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545"/>
          <a:stretch/>
        </p:blipFill>
        <p:spPr>
          <a:xfrm>
            <a:off x="871537" y="2033011"/>
            <a:ext cx="6505219" cy="93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13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JavaScript </a:t>
            </a:r>
            <a:r>
              <a:rPr lang="ko-KR" altLang="en-US" sz="8000" dirty="0" err="1"/>
              <a:t>자료형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052589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B7D85-874F-952F-CA6D-BB5C81F1E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강한 타입 언어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타입 검사를 통과하지 못한다면 실행 자체가 안 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	String, int, double </a:t>
            </a:r>
            <a:r>
              <a:rPr lang="ko-KR" altLang="en-US" dirty="0"/>
              <a:t>등처럼 타입을 </a:t>
            </a:r>
            <a:r>
              <a:rPr lang="en-US" altLang="ko-KR" dirty="0"/>
              <a:t>1</a:t>
            </a:r>
            <a:r>
              <a:rPr lang="ko-KR" altLang="en-US" dirty="0"/>
              <a:t>종류로 명확히 지정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약한 타입 언어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런타임에서 타입 오류를 만나더라도 실행을 막지 않는다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/>
              <a:t>타입이 여러 종류인 값들이 상관없이 지정된다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46936F-9EAE-6400-2CC3-66B967FC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2024-04-29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267A6B-E266-25BD-4D0B-14B40A8B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DF478E-D774-DE90-8BAF-58EA5975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언어 타입</a:t>
            </a:r>
          </a:p>
        </p:txBody>
      </p:sp>
    </p:spTree>
    <p:extLst>
      <p:ext uri="{BB962C8B-B14F-4D97-AF65-F5344CB8AC3E}">
        <p14:creationId xmlns:p14="http://schemas.microsoft.com/office/powerpoint/2010/main" val="1714757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46936F-9EAE-6400-2CC3-66B967FC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2024-04-29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267A6B-E266-25BD-4D0B-14B40A8B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DF478E-D774-DE90-8BAF-58EA5975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언어 타입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D51FA29-9734-394E-6146-CD56CCE6D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88" y="2384508"/>
            <a:ext cx="9428658" cy="208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63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는 느슨한 언어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7D13FF5-2C20-D727-1EE9-FE0992DC4A82}"/>
              </a:ext>
            </a:extLst>
          </p:cNvPr>
          <p:cNvSpPr txBox="1">
            <a:spLocks/>
          </p:cNvSpPr>
          <p:nvPr/>
        </p:nvSpPr>
        <p:spPr>
          <a:xfrm>
            <a:off x="838200" y="15552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Javascript</a:t>
            </a:r>
            <a:r>
              <a:rPr lang="ko-KR" altLang="en-US" dirty="0"/>
              <a:t>는 데이터 종류와 관계 없이 </a:t>
            </a:r>
            <a:r>
              <a:rPr lang="en-US" altLang="ko-KR" dirty="0"/>
              <a:t>var, let, const </a:t>
            </a:r>
            <a:r>
              <a:rPr lang="ko-KR" altLang="en-US" dirty="0"/>
              <a:t>키워드로 변수를 선언하고 사용함</a:t>
            </a:r>
            <a:r>
              <a:rPr lang="en-US" altLang="ko-KR" dirty="0"/>
              <a:t>! =&gt; </a:t>
            </a:r>
            <a:r>
              <a:rPr lang="ko-KR" altLang="en-US" dirty="0"/>
              <a:t>약한 타입 언어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강한 타입 언어들은 변수를 선언할 때 명확하게 타입을 </a:t>
            </a:r>
            <a:r>
              <a:rPr lang="en-US" altLang="ko-KR" dirty="0"/>
              <a:t>1</a:t>
            </a:r>
            <a:r>
              <a:rPr lang="ko-KR" altLang="en-US" dirty="0"/>
              <a:t>종류만 지정함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ex. JAVA, C, C++ </a:t>
            </a:r>
          </a:p>
        </p:txBody>
      </p:sp>
    </p:spTree>
    <p:extLst>
      <p:ext uri="{BB962C8B-B14F-4D97-AF65-F5344CB8AC3E}">
        <p14:creationId xmlns:p14="http://schemas.microsoft.com/office/powerpoint/2010/main" val="2970408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44276-5C6F-AD8B-9F61-9B2A520D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E7352-FB36-4681-B691-48A912BA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2D32-4144-5D6A-1E9C-7EB121AB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자료형</a:t>
            </a: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C8ADAF6B-E2E4-3104-0C92-65F1ADDA3C45}"/>
              </a:ext>
            </a:extLst>
          </p:cNvPr>
          <p:cNvSpPr/>
          <p:nvPr/>
        </p:nvSpPr>
        <p:spPr>
          <a:xfrm>
            <a:off x="1371600" y="2538663"/>
            <a:ext cx="3769894" cy="1780674"/>
          </a:xfrm>
          <a:prstGeom prst="flowChartAlternateProcess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Primitive </a:t>
            </a:r>
            <a:r>
              <a:rPr lang="ko-KR" altLang="en-US" sz="3600" dirty="0"/>
              <a:t>자료형</a:t>
            </a: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9E8F4A16-A580-8598-445C-BE56538BEF63}"/>
              </a:ext>
            </a:extLst>
          </p:cNvPr>
          <p:cNvSpPr/>
          <p:nvPr/>
        </p:nvSpPr>
        <p:spPr>
          <a:xfrm>
            <a:off x="6874042" y="2538663"/>
            <a:ext cx="3769894" cy="1780674"/>
          </a:xfrm>
          <a:prstGeom prst="flowChartAlternateProcess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Object </a:t>
            </a:r>
            <a:r>
              <a:rPr lang="ko-KR" altLang="en-US" sz="3600" dirty="0"/>
              <a:t>자료형</a:t>
            </a:r>
          </a:p>
        </p:txBody>
      </p:sp>
    </p:spTree>
    <p:extLst>
      <p:ext uri="{BB962C8B-B14F-4D97-AF65-F5344CB8AC3E}">
        <p14:creationId xmlns:p14="http://schemas.microsoft.com/office/powerpoint/2010/main" val="861625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7D13FF5-2C20-D727-1EE9-FE0992DC4A82}"/>
              </a:ext>
            </a:extLst>
          </p:cNvPr>
          <p:cNvSpPr txBox="1">
            <a:spLocks/>
          </p:cNvSpPr>
          <p:nvPr/>
        </p:nvSpPr>
        <p:spPr>
          <a:xfrm>
            <a:off x="838200" y="1555238"/>
            <a:ext cx="46187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600" dirty="0"/>
              <a:t>기본형 </a:t>
            </a:r>
            <a:r>
              <a:rPr lang="en-US" altLang="ko-KR" sz="3600" dirty="0"/>
              <a:t>(Primitive)</a:t>
            </a:r>
          </a:p>
          <a:p>
            <a:pPr marL="0" indent="0">
              <a:buNone/>
            </a:pPr>
            <a:endParaRPr lang="en-US" altLang="ko-KR" sz="1100" dirty="0"/>
          </a:p>
          <a:p>
            <a:pPr lvl="1"/>
            <a:r>
              <a:rPr lang="en-US" altLang="ko-KR" sz="3200" dirty="0"/>
              <a:t>string</a:t>
            </a:r>
          </a:p>
          <a:p>
            <a:pPr lvl="1"/>
            <a:r>
              <a:rPr lang="en-US" altLang="ko-KR" sz="3200" dirty="0"/>
              <a:t>number</a:t>
            </a:r>
          </a:p>
          <a:p>
            <a:pPr lvl="1"/>
            <a:r>
              <a:rPr lang="en-US" altLang="ko-KR" sz="3200" dirty="0" err="1"/>
              <a:t>boolean</a:t>
            </a:r>
            <a:endParaRPr lang="en-US" altLang="ko-KR" sz="3200" dirty="0"/>
          </a:p>
          <a:p>
            <a:pPr lvl="1"/>
            <a:r>
              <a:rPr lang="en-US" altLang="ko-KR" sz="3200" dirty="0"/>
              <a:t>null</a:t>
            </a:r>
          </a:p>
          <a:p>
            <a:pPr lvl="1"/>
            <a:r>
              <a:rPr lang="en-US" altLang="ko-KR" sz="3200" dirty="0"/>
              <a:t>undefined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33BD6E-430F-7B18-E5DC-0B72932C76D9}"/>
              </a:ext>
            </a:extLst>
          </p:cNvPr>
          <p:cNvSpPr txBox="1">
            <a:spLocks/>
          </p:cNvSpPr>
          <p:nvPr/>
        </p:nvSpPr>
        <p:spPr>
          <a:xfrm>
            <a:off x="6096000" y="1555238"/>
            <a:ext cx="56633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600" dirty="0"/>
              <a:t>객체 </a:t>
            </a:r>
            <a:r>
              <a:rPr lang="en-US" altLang="ko-KR" sz="3600" dirty="0"/>
              <a:t>(Object)</a:t>
            </a:r>
          </a:p>
          <a:p>
            <a:pPr marL="0" indent="0">
              <a:buNone/>
            </a:pPr>
            <a:endParaRPr lang="en-US" altLang="ko-KR" sz="1100" dirty="0"/>
          </a:p>
          <a:p>
            <a:pPr lvl="1"/>
            <a:r>
              <a:rPr lang="ko-KR" altLang="en-US" sz="3200" dirty="0"/>
              <a:t>기본형이 아닌 것은 모두 객체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273939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</a:t>
            </a:r>
            <a:r>
              <a:rPr lang="en-US" altLang="ko-KR" dirty="0"/>
              <a:t>String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355" y="2178979"/>
            <a:ext cx="9005935" cy="3008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56864" y="2789110"/>
            <a:ext cx="22115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>
              <a:solidFill>
                <a:srgbClr val="6A9955"/>
              </a:solidFill>
              <a:latin typeface="+mn-ea"/>
            </a:endParaRPr>
          </a:p>
          <a:p>
            <a:r>
              <a:rPr lang="en-US" altLang="ko-KR" dirty="0">
                <a:solidFill>
                  <a:srgbClr val="6A9955"/>
                </a:solidFill>
                <a:latin typeface="+mn-ea"/>
              </a:rPr>
              <a:t>String </a:t>
            </a:r>
            <a:r>
              <a:rPr lang="ko-KR" altLang="en-US" dirty="0">
                <a:solidFill>
                  <a:srgbClr val="6A9955"/>
                </a:solidFill>
                <a:latin typeface="+mn-ea"/>
              </a:rPr>
              <a:t>문자형 데이터</a:t>
            </a:r>
            <a:endParaRPr lang="ko-KR" altLang="en-US" dirty="0">
              <a:solidFill>
                <a:srgbClr val="D4D4D4"/>
              </a:solidFill>
              <a:latin typeface="+mn-ea"/>
            </a:endParaRPr>
          </a:p>
          <a:p>
            <a:r>
              <a:rPr lang="ko-KR" altLang="en-US" b="1" dirty="0">
                <a:solidFill>
                  <a:srgbClr val="6A9955"/>
                </a:solidFill>
                <a:latin typeface="+mn-ea"/>
              </a:rPr>
              <a:t>따옴표</a:t>
            </a:r>
            <a:r>
              <a:rPr lang="ko-KR" altLang="en-US" dirty="0">
                <a:solidFill>
                  <a:srgbClr val="6A9955"/>
                </a:solidFill>
                <a:latin typeface="+mn-ea"/>
              </a:rPr>
              <a:t>를 사용</a:t>
            </a:r>
            <a:endParaRPr lang="ko-KR" altLang="en-US" dirty="0">
              <a:solidFill>
                <a:srgbClr val="D4D4D4"/>
              </a:solidFill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322" y="4863197"/>
            <a:ext cx="5905500" cy="11049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4990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메소드의</a:t>
            </a:r>
            <a:r>
              <a:rPr lang="ko-KR" altLang="en-US" dirty="0"/>
              <a:t> 매개 변수로 넣어서 사용</a:t>
            </a:r>
          </a:p>
          <a:p>
            <a:pPr lvl="1"/>
            <a:r>
              <a:rPr lang="en-US" altLang="ko-KR" dirty="0"/>
              <a:t>console.log(“</a:t>
            </a:r>
            <a:r>
              <a:rPr lang="ko-KR" altLang="en-US" dirty="0"/>
              <a:t>문자”</a:t>
            </a:r>
            <a:r>
              <a:rPr lang="en-US" altLang="ko-KR" dirty="0"/>
              <a:t>, </a:t>
            </a:r>
            <a:r>
              <a:rPr lang="ko-KR" altLang="en-US" dirty="0"/>
              <a:t>변수</a:t>
            </a:r>
            <a:r>
              <a:rPr lang="en-US" altLang="ko-KR" dirty="0"/>
              <a:t>, “</a:t>
            </a:r>
            <a:r>
              <a:rPr lang="ko-KR" altLang="en-US" dirty="0"/>
              <a:t>문자”</a:t>
            </a:r>
            <a:r>
              <a:rPr lang="en-US" altLang="ko-KR" dirty="0"/>
              <a:t>);</a:t>
            </a:r>
          </a:p>
          <a:p>
            <a:endParaRPr lang="en-US" altLang="ko-KR" dirty="0"/>
          </a:p>
          <a:p>
            <a:r>
              <a:rPr lang="en-US" altLang="ko-KR" dirty="0"/>
              <a:t>+ </a:t>
            </a:r>
            <a:r>
              <a:rPr lang="ko-KR" altLang="en-US" dirty="0"/>
              <a:t>연산자를 사용해서 변수를 문자로 변환 후 더하여 사용</a:t>
            </a:r>
          </a:p>
          <a:p>
            <a:pPr lvl="1"/>
            <a:r>
              <a:rPr lang="en-US" altLang="ko-KR" dirty="0"/>
              <a:t>console.log(“</a:t>
            </a:r>
            <a:r>
              <a:rPr lang="ko-KR" altLang="en-US" dirty="0"/>
              <a:t>문자” </a:t>
            </a:r>
            <a:r>
              <a:rPr lang="en-US" altLang="ko-KR" dirty="0"/>
              <a:t>+ </a:t>
            </a:r>
            <a:r>
              <a:rPr lang="ko-KR" altLang="en-US" dirty="0"/>
              <a:t>변수 </a:t>
            </a:r>
            <a:r>
              <a:rPr lang="en-US" altLang="ko-KR" dirty="0"/>
              <a:t>+ “</a:t>
            </a:r>
            <a:r>
              <a:rPr lang="ko-KR" altLang="en-US" dirty="0"/>
              <a:t>문자”</a:t>
            </a:r>
            <a:r>
              <a:rPr lang="en-US" altLang="ko-KR" dirty="0"/>
              <a:t>);</a:t>
            </a:r>
          </a:p>
          <a:p>
            <a:endParaRPr lang="en-US" altLang="ko-KR" dirty="0"/>
          </a:p>
          <a:p>
            <a:r>
              <a:rPr lang="ko-KR" altLang="en-US" dirty="0" err="1"/>
              <a:t>백틱</a:t>
            </a:r>
            <a:r>
              <a:rPr lang="ko-KR" altLang="en-US" dirty="0"/>
              <a:t> 문자 사용</a:t>
            </a:r>
          </a:p>
          <a:p>
            <a:pPr lvl="1"/>
            <a:r>
              <a:rPr lang="en-US" altLang="ko-KR" dirty="0"/>
              <a:t>`</a:t>
            </a:r>
            <a:r>
              <a:rPr lang="ko-KR" altLang="en-US" dirty="0"/>
              <a:t>문자를 쓰다가 변수를 쓰고 싶으면 </a:t>
            </a:r>
            <a:r>
              <a:rPr lang="en-US" altLang="ko-KR" dirty="0"/>
              <a:t>${variable} </a:t>
            </a:r>
            <a:r>
              <a:rPr lang="ko-KR" altLang="en-US" dirty="0"/>
              <a:t>처럼 쓰면 됩니다</a:t>
            </a:r>
            <a:r>
              <a:rPr lang="en-US" altLang="ko-KR" dirty="0"/>
              <a:t>`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</a:t>
            </a:r>
            <a:r>
              <a:rPr lang="en-US" altLang="ko-KR" dirty="0"/>
              <a:t> + </a:t>
            </a:r>
            <a:r>
              <a:rPr lang="ko-KR" altLang="en-US" dirty="0"/>
              <a:t>변수를 동시에 쓰고 싶을 때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90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숫자 </a:t>
            </a:r>
            <a:r>
              <a:rPr lang="en-US" altLang="ko-KR" dirty="0"/>
              <a:t>Number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F57D2-A039-AD3B-96D2-8559F7FBFBC4}"/>
              </a:ext>
            </a:extLst>
          </p:cNvPr>
          <p:cNvSpPr txBox="1"/>
          <p:nvPr/>
        </p:nvSpPr>
        <p:spPr>
          <a:xfrm>
            <a:off x="1277738" y="1988988"/>
            <a:ext cx="6094428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Number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숫자형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정수 및 소수점 숫자를 나타냄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123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opacity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0.7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opacity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59" y="4907588"/>
            <a:ext cx="5829300" cy="3905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83007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</a:t>
            </a:r>
            <a:r>
              <a:rPr lang="en-US" altLang="ko-KR" dirty="0"/>
              <a:t> </a:t>
            </a:r>
            <a:r>
              <a:rPr lang="ko-KR" altLang="en-US" dirty="0"/>
              <a:t>거짓 데이터 </a:t>
            </a:r>
            <a:r>
              <a:rPr lang="en-US" altLang="ko-KR" dirty="0"/>
              <a:t>Boolean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6516A-6A13-986C-B07A-5571049E64FF}"/>
              </a:ext>
            </a:extLst>
          </p:cNvPr>
          <p:cNvSpPr txBox="1"/>
          <p:nvPr/>
        </p:nvSpPr>
        <p:spPr>
          <a:xfrm>
            <a:off x="661078" y="2041943"/>
            <a:ext cx="6094428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Boolean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참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거짓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true, false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두 가지 값만 가지는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checked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true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isShow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false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checked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isShow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707" y="4537983"/>
            <a:ext cx="10851530" cy="68040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54745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미할당</a:t>
            </a:r>
            <a:r>
              <a:rPr lang="ko-KR" altLang="en-US" dirty="0"/>
              <a:t> 데이터 </a:t>
            </a:r>
            <a:r>
              <a:rPr lang="en-US" altLang="ko-KR" dirty="0"/>
              <a:t>undefined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83155-F799-0937-A9A9-96F9AB2F11E1}"/>
              </a:ext>
            </a:extLst>
          </p:cNvPr>
          <p:cNvSpPr txBox="1"/>
          <p:nvPr/>
        </p:nvSpPr>
        <p:spPr>
          <a:xfrm>
            <a:off x="731076" y="1480044"/>
            <a:ext cx="6094428" cy="3416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en-US" altLang="ko-K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Undifined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값이 할당되지 않은 상태를 표기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undef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obj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abc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123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undef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obj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abc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obj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efg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032" y="4741414"/>
            <a:ext cx="9636943" cy="94662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97830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빈</a:t>
            </a:r>
            <a:r>
              <a:rPr lang="en-US" altLang="ko-KR" dirty="0"/>
              <a:t> </a:t>
            </a:r>
            <a:r>
              <a:rPr lang="ko-KR" altLang="en-US" dirty="0"/>
              <a:t>데이터 </a:t>
            </a:r>
            <a:r>
              <a:rPr lang="en-US" altLang="ko-KR" dirty="0"/>
              <a:t>null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43D18-33A6-F5EE-203F-27284B118FF4}"/>
              </a:ext>
            </a:extLst>
          </p:cNvPr>
          <p:cNvSpPr txBox="1"/>
          <p:nvPr/>
        </p:nvSpPr>
        <p:spPr>
          <a:xfrm>
            <a:off x="838200" y="2739999"/>
            <a:ext cx="6492711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Null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어떤 값이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의도적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으로 비어 있음을 의미할 때 사용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empty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null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empty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265" y="3981001"/>
            <a:ext cx="7186564" cy="51861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013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 Array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A7A16-8B23-1325-C53C-13327683712D}"/>
              </a:ext>
            </a:extLst>
          </p:cNvPr>
          <p:cNvSpPr txBox="1"/>
          <p:nvPr/>
        </p:nvSpPr>
        <p:spPr>
          <a:xfrm>
            <a:off x="580303" y="1501322"/>
            <a:ext cx="7746476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Array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배열 데이터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여러 데이터를 순차적으로 저장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[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"Orange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"Pineapple"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"Apple"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"Banana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4D7F7-3FE2-7B61-6CE0-3D4E70271DF9}"/>
              </a:ext>
            </a:extLst>
          </p:cNvPr>
          <p:cNvSpPr txBox="1"/>
          <p:nvPr/>
        </p:nvSpPr>
        <p:spPr>
          <a:xfrm>
            <a:off x="580303" y="4096676"/>
            <a:ext cx="7872629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it-IT" altLang="ko-KR" b="0" dirty="0">
              <a:solidFill>
                <a:srgbClr val="569CD6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"Apple"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false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null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it-IT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undefined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];</a:t>
            </a:r>
          </a:p>
          <a:p>
            <a:b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it-IT" altLang="ko-KR" b="1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it-IT" altLang="ko-KR" b="1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it-IT" altLang="ko-KR" b="1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1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it-IT" altLang="ko-KR" b="1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3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], </a:t>
            </a:r>
            <a:r>
              <a:rPr lang="it-IT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data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[</a:t>
            </a:r>
            <a:r>
              <a:rPr lang="it-IT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4</a:t>
            </a:r>
            <a:r>
              <a:rPr lang="it-IT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]);</a:t>
            </a:r>
          </a:p>
          <a:p>
            <a:endParaRPr lang="it-IT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396" y="3305190"/>
            <a:ext cx="6000750" cy="8001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032" y="5405188"/>
            <a:ext cx="59245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117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꾸러미 </a:t>
            </a:r>
            <a:r>
              <a:rPr lang="en-US" altLang="ko-KR" dirty="0"/>
              <a:t>Object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6062" y="1807118"/>
            <a:ext cx="6096000" cy="2308324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=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name: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나비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age: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isCute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: 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true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mew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: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function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()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return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ko-KR" altLang="en-US" dirty="0" err="1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냐옹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  },</a:t>
            </a:r>
          </a:p>
          <a:p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};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56062" y="4924543"/>
            <a:ext cx="6096000" cy="1200329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age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cat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mew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());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464" y="3099954"/>
            <a:ext cx="4257675" cy="28194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775344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각자를 소개할 수 있는 </a:t>
            </a:r>
            <a:r>
              <a:rPr lang="en-US" altLang="ko-KR" dirty="0"/>
              <a:t>Object </a:t>
            </a:r>
            <a:r>
              <a:rPr lang="ko-KR" altLang="en-US" dirty="0"/>
              <a:t>형태의 변수 선언</a:t>
            </a:r>
          </a:p>
          <a:p>
            <a:r>
              <a:rPr lang="ko-KR" altLang="en-US" dirty="0"/>
              <a:t>지금 까지 배운 데이터를 사용하여 자신을 소개하는 </a:t>
            </a:r>
            <a:r>
              <a:rPr lang="en-US" altLang="ko-KR" dirty="0"/>
              <a:t>console.log </a:t>
            </a:r>
            <a:r>
              <a:rPr lang="ko-KR" altLang="en-US" dirty="0"/>
              <a:t>출력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en-US" altLang="ko-KR" dirty="0"/>
              <a:t>JavaScript </a:t>
            </a:r>
            <a:r>
              <a:rPr lang="ko-KR" altLang="en-US" dirty="0" err="1"/>
              <a:t>자료형</a:t>
            </a:r>
            <a:r>
              <a:rPr lang="ko-KR" altLang="en-US" dirty="0"/>
              <a:t> 연습하기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287" y="3817937"/>
            <a:ext cx="782002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765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typeof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6519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해당</a:t>
            </a:r>
            <a:r>
              <a:rPr lang="en-US" altLang="ko-KR" dirty="0"/>
              <a:t> </a:t>
            </a:r>
            <a:r>
              <a:rPr lang="ko-KR" altLang="en-US" dirty="0" err="1"/>
              <a:t>자료형이</a:t>
            </a:r>
            <a:r>
              <a:rPr lang="ko-KR" altLang="en-US" dirty="0"/>
              <a:t> 어떤 것인지 알려주는 착한 친구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자료형을</a:t>
            </a:r>
            <a:r>
              <a:rPr lang="en-US" altLang="ko-KR" dirty="0"/>
              <a:t> </a:t>
            </a:r>
            <a:r>
              <a:rPr lang="ko-KR" altLang="en-US" dirty="0"/>
              <a:t>알려주는 </a:t>
            </a:r>
            <a:r>
              <a:rPr lang="en-US" altLang="ko-KR" dirty="0" err="1"/>
              <a:t>typeof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7DF24-93AC-799A-6BA1-FDD933AFA492}"/>
              </a:ext>
            </a:extLst>
          </p:cNvPr>
          <p:cNvSpPr txBox="1"/>
          <p:nvPr/>
        </p:nvSpPr>
        <p:spPr>
          <a:xfrm>
            <a:off x="1172082" y="2492411"/>
            <a:ext cx="6002366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9CDCFE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typeof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안뇽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typeof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typeof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null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7B203E-5ED9-28BA-25AD-0D3BD09A7A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535"/>
          <a:stretch/>
        </p:blipFill>
        <p:spPr>
          <a:xfrm>
            <a:off x="7508329" y="2492411"/>
            <a:ext cx="2338111" cy="176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1212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C06FE-4677-EEA7-EB62-8E635AA1E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typeof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84B25-542E-D97A-BAD6-5A9BE92D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CD7E12-C06F-53DD-9E8A-7D71176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402708-C280-F3CD-523F-655CA5E6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 확인하기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E99EED-10B8-81E5-D756-FAE72CF01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620" y="1825625"/>
            <a:ext cx="5719795" cy="404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202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형변환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71318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8CEDA3B-C6E1-FE3F-8FD0-3D4A6BEB0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>
                <a:effectLst/>
                <a:latin typeface="+mn-ea"/>
              </a:rPr>
              <a:t>그런데 결과값이 좀 이상하죠</a:t>
            </a:r>
            <a:r>
              <a:rPr lang="en-US" altLang="ko-KR" b="0" dirty="0">
                <a:effectLst/>
                <a:latin typeface="+mn-ea"/>
              </a:rPr>
              <a:t>?</a:t>
            </a:r>
          </a:p>
          <a:p>
            <a:r>
              <a:rPr lang="en-US" altLang="ko-KR" b="0" dirty="0">
                <a:solidFill>
                  <a:schemeClr val="accent1"/>
                </a:solidFill>
                <a:effectLst/>
                <a:latin typeface="+mn-ea"/>
              </a:rPr>
              <a:t>Prompt</a:t>
            </a:r>
            <a:r>
              <a:rPr lang="en-US" altLang="ko-KR" b="0" dirty="0">
                <a:effectLst/>
                <a:latin typeface="+mn-ea"/>
              </a:rPr>
              <a:t> </a:t>
            </a:r>
            <a:r>
              <a:rPr lang="ko-KR" altLang="en-US" b="0" dirty="0">
                <a:effectLst/>
                <a:latin typeface="+mn-ea"/>
              </a:rPr>
              <a:t>로 입력 받은 값은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“</a:t>
            </a:r>
            <a:r>
              <a:rPr lang="ko-KR" altLang="en-US" dirty="0">
                <a:solidFill>
                  <a:schemeClr val="accent1"/>
                </a:solidFill>
                <a:latin typeface="+mn-ea"/>
              </a:rPr>
              <a:t>문자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”</a:t>
            </a:r>
            <a:r>
              <a:rPr lang="ko-KR" altLang="en-US" dirty="0">
                <a:solidFill>
                  <a:schemeClr val="accent1"/>
                </a:solidFill>
                <a:latin typeface="+mn-ea"/>
              </a:rPr>
              <a:t>로 저장</a:t>
            </a:r>
            <a:r>
              <a:rPr lang="ko-KR" altLang="en-US" dirty="0">
                <a:latin typeface="+mn-ea"/>
              </a:rPr>
              <a:t>이 됩니다</a:t>
            </a:r>
            <a:r>
              <a:rPr lang="en-US" altLang="ko-KR" dirty="0">
                <a:latin typeface="+mn-ea"/>
              </a:rPr>
              <a:t>!</a:t>
            </a:r>
          </a:p>
          <a:p>
            <a:pPr lvl="1"/>
            <a:r>
              <a:rPr lang="en-US" altLang="ko-KR" dirty="0">
                <a:latin typeface="+mn-ea"/>
              </a:rPr>
              <a:t>“80” + “50” = “8050” </a:t>
            </a:r>
          </a:p>
          <a:p>
            <a:pPr lvl="1"/>
            <a:r>
              <a:rPr lang="en-US" altLang="ko-KR" dirty="0">
                <a:latin typeface="+mn-ea"/>
                <a:sym typeface="Wingdings" panose="05000000000000000000" pitchFamily="2" charset="2"/>
              </a:rPr>
              <a:t>“8050” / 2  4025</a:t>
            </a:r>
            <a:endParaRPr lang="en-US" altLang="ko-KR" b="0" dirty="0">
              <a:effectLst/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BEF76E-4904-4822-7B02-5DCC2785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68DBCB-AECB-18A1-C2C8-04E21A64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ECC2762-38CA-8339-DE21-3159CF52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성적 구하는 프로그램 만들기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1CD77-281E-39AD-5A84-0516E706959C}"/>
              </a:ext>
            </a:extLst>
          </p:cNvPr>
          <p:cNvSpPr txBox="1"/>
          <p:nvPr/>
        </p:nvSpPr>
        <p:spPr>
          <a:xfrm>
            <a:off x="4659923" y="3868639"/>
            <a:ext cx="7404847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569CD6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mathScore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prompt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수학 점수를 입력 하세요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engScore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prompt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영어 점수를 입력 하세요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avg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mathScore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+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engScore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/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avg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35591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AAB2A2E-24B8-486B-1AA3-AA1495BEE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>
                <a:effectLst/>
                <a:latin typeface="+mn-ea"/>
              </a:rPr>
              <a:t>처음에는 편할 수도 있지만</a:t>
            </a:r>
            <a:r>
              <a:rPr lang="en-US" altLang="ko-KR" b="0" dirty="0">
                <a:effectLst/>
                <a:latin typeface="+mn-ea"/>
              </a:rPr>
              <a:t> </a:t>
            </a:r>
            <a:r>
              <a:rPr lang="ko-KR" altLang="en-US" b="0" dirty="0">
                <a:effectLst/>
                <a:latin typeface="+mn-ea"/>
              </a:rPr>
              <a:t>큰 문제를 일으키게 됩니다</a:t>
            </a:r>
            <a:r>
              <a:rPr lang="en-US" altLang="ko-KR" b="0" dirty="0">
                <a:effectLst/>
                <a:latin typeface="+mn-ea"/>
              </a:rPr>
              <a:t>.</a:t>
            </a:r>
            <a:endParaRPr lang="en-US" altLang="ko-KR" dirty="0">
              <a:latin typeface="+mn-ea"/>
            </a:endParaRPr>
          </a:p>
          <a:p>
            <a:r>
              <a:rPr lang="ko-KR" altLang="en-US" b="0" dirty="0">
                <a:effectLst/>
                <a:latin typeface="+mn-ea"/>
              </a:rPr>
              <a:t>지금은 작은 프로그램이라 문제가 없었지만</a:t>
            </a:r>
            <a:r>
              <a:rPr lang="en-US" altLang="ko-KR" b="0" dirty="0">
                <a:effectLst/>
                <a:latin typeface="+mn-ea"/>
              </a:rPr>
              <a:t>, </a:t>
            </a:r>
            <a:r>
              <a:rPr lang="ko-KR" altLang="en-US" b="0" dirty="0">
                <a:effectLst/>
                <a:latin typeface="+mn-ea"/>
              </a:rPr>
              <a:t>프로그램이 더 커진다면 의도하지 않은 중대한 문제를 일으킬 수도 있습니다</a:t>
            </a:r>
            <a:r>
              <a:rPr lang="en-US" altLang="ko-KR" b="0" dirty="0">
                <a:effectLst/>
                <a:latin typeface="+mn-ea"/>
              </a:rPr>
              <a:t>.</a:t>
            </a:r>
          </a:p>
          <a:p>
            <a:pPr lvl="1"/>
            <a:r>
              <a:rPr lang="ko-KR" altLang="en-US" dirty="0">
                <a:latin typeface="+mn-ea"/>
              </a:rPr>
              <a:t>만약</a:t>
            </a:r>
            <a:r>
              <a:rPr lang="en-US" altLang="ko-KR" dirty="0">
                <a:latin typeface="+mn-ea"/>
              </a:rPr>
              <a:t>,</a:t>
            </a:r>
            <a:r>
              <a:rPr lang="en-US" altLang="ko-KR" b="0" dirty="0">
                <a:effectLst/>
                <a:latin typeface="+mn-ea"/>
              </a:rPr>
              <a:t> </a:t>
            </a:r>
            <a:r>
              <a:rPr lang="ko-KR" altLang="en-US" b="0" dirty="0" err="1">
                <a:effectLst/>
                <a:latin typeface="+mn-ea"/>
              </a:rPr>
              <a:t>비트코인</a:t>
            </a:r>
            <a:r>
              <a:rPr lang="ko-KR" altLang="en-US" b="0" dirty="0">
                <a:effectLst/>
                <a:latin typeface="+mn-ea"/>
              </a:rPr>
              <a:t> 거래 사이트라면</a:t>
            </a:r>
            <a:r>
              <a:rPr lang="en-US" altLang="ko-KR" b="0" dirty="0">
                <a:effectLst/>
                <a:latin typeface="+mn-ea"/>
              </a:rPr>
              <a:t>?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2BDDC3-E475-786E-8D1B-D87E3842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68B029-5553-A2BA-1548-DE4C827E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B953ABE-5E7F-D621-91A2-9BAF6B82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</a:t>
            </a:r>
            <a:r>
              <a:rPr lang="ko-KR" altLang="en-US" dirty="0"/>
              <a:t>의 자동 </a:t>
            </a:r>
            <a:r>
              <a:rPr lang="ko-KR" altLang="en-US" dirty="0" err="1"/>
              <a:t>형변환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05953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23A6786-443F-3370-2126-AED2C8A33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/>
          <a:lstStyle/>
          <a:p>
            <a:r>
              <a:rPr lang="ko-KR" altLang="en-US" b="0" dirty="0">
                <a:effectLst/>
                <a:latin typeface="+mn-ea"/>
              </a:rPr>
              <a:t>자동 형변환에 의존 하지 않고 개발자가 직접 형 변환을 시키는 것</a:t>
            </a:r>
            <a:r>
              <a:rPr lang="en-US" altLang="ko-KR" b="0" dirty="0">
                <a:effectLst/>
                <a:latin typeface="+mn-ea"/>
              </a:rPr>
              <a:t>!</a:t>
            </a:r>
          </a:p>
          <a:p>
            <a:r>
              <a:rPr lang="ko-KR" altLang="en-US" dirty="0">
                <a:latin typeface="+mn-ea"/>
              </a:rPr>
              <a:t>문자로 변환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rgbClr val="00B050"/>
                </a:solidFill>
                <a:latin typeface="+mn-ea"/>
                <a:sym typeface="Wingdings" panose="05000000000000000000" pitchFamily="2" charset="2"/>
              </a:rPr>
              <a:t>String()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;</a:t>
            </a:r>
          </a:p>
          <a:p>
            <a:r>
              <a:rPr lang="ko-KR" altLang="en-US" dirty="0">
                <a:latin typeface="+mn-ea"/>
                <a:sym typeface="Wingdings" panose="05000000000000000000" pitchFamily="2" charset="2"/>
              </a:rPr>
              <a:t>숫자로 변환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>
                <a:solidFill>
                  <a:srgbClr val="00B050"/>
                </a:solidFill>
                <a:latin typeface="+mn-ea"/>
                <a:sym typeface="Wingdings" panose="05000000000000000000" pitchFamily="2" charset="2"/>
              </a:rPr>
              <a:t>Number();</a:t>
            </a:r>
            <a:endParaRPr lang="en-US" altLang="ko-KR" b="0" dirty="0">
              <a:solidFill>
                <a:srgbClr val="00B050"/>
              </a:solidFill>
              <a:effectLst/>
              <a:latin typeface="+mn-ea"/>
            </a:endParaRPr>
          </a:p>
          <a:p>
            <a:endParaRPr lang="en-US" altLang="ko-KR" b="0" dirty="0">
              <a:effectLst/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BACB0B-0278-9C4A-0F64-D2CE4EBE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BCA814-76A7-4F0F-197C-2D14255C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C829F0D-A1DF-E03F-A846-BC4E2925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명시적 </a:t>
            </a:r>
            <a:r>
              <a:rPr lang="ko-KR" altLang="en-US" dirty="0" err="1"/>
              <a:t>형변환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CEE2FB-7484-9B52-398E-3577216D8837}"/>
              </a:ext>
            </a:extLst>
          </p:cNvPr>
          <p:cNvSpPr txBox="1"/>
          <p:nvPr/>
        </p:nvSpPr>
        <p:spPr>
          <a:xfrm>
            <a:off x="1147759" y="3185688"/>
            <a:ext cx="6096000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문자 데이터로 변환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123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String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typeof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숫자 데이터로 변환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typeof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abcdefg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));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0BD6C23-4BFD-2D07-308F-262F8204D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18" y="3185688"/>
            <a:ext cx="2640225" cy="154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5331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C06FE-4677-EEA7-EB62-8E635AA1E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735722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/>
              <a:t>String()</a:t>
            </a:r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 err="1"/>
              <a:t>toString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84B25-542E-D97A-BAD6-5A9BE92D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CD7E12-C06F-53DD-9E8A-7D71176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402708-C280-F3CD-523F-655CA5E6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 변환 </a:t>
            </a:r>
            <a:r>
              <a:rPr lang="en-US" altLang="ko-KR" dirty="0"/>
              <a:t>- </a:t>
            </a:r>
            <a:r>
              <a:rPr lang="ko-KR" altLang="en-US" dirty="0"/>
              <a:t>문자열로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D3A65B-5821-BC0A-19A5-92328A14B6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031" b="26011"/>
          <a:stretch/>
        </p:blipFill>
        <p:spPr>
          <a:xfrm>
            <a:off x="3979214" y="1707232"/>
            <a:ext cx="3828356" cy="6687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46E7A1-329E-9F72-BA8E-65C25C1B7A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8665"/>
          <a:stretch/>
        </p:blipFill>
        <p:spPr>
          <a:xfrm>
            <a:off x="3979213" y="3016119"/>
            <a:ext cx="5258572" cy="119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080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C06FE-4677-EEA7-EB62-8E635AA1E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56344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ko-KR" dirty="0"/>
              <a:t>Number()</a:t>
            </a:r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 err="1"/>
              <a:t>parseInt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784B25-542E-D97A-BAD6-5A9BE92D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CD7E12-C06F-53DD-9E8A-7D711767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402708-C280-F3CD-523F-655CA5E6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형 변환 </a:t>
            </a:r>
            <a:r>
              <a:rPr lang="en-US" altLang="ko-KR" dirty="0"/>
              <a:t>- </a:t>
            </a:r>
            <a:r>
              <a:rPr lang="ko-KR" altLang="en-US" dirty="0"/>
              <a:t>정수로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1B82B7-F65F-1104-A412-179FA83F7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290" y="1825626"/>
            <a:ext cx="5706500" cy="134463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9974B15-3E76-6160-ABD9-3C52AC69C8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82" t="21453" r="4341" b="15270"/>
          <a:stretch/>
        </p:blipFill>
        <p:spPr>
          <a:xfrm>
            <a:off x="4257290" y="3429000"/>
            <a:ext cx="6271847" cy="98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81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D33C44-EA48-9F21-9021-11097E932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변수 </a:t>
            </a:r>
            <a:r>
              <a:rPr lang="en-US" altLang="ko-KR" dirty="0" err="1"/>
              <a:t>mathScore</a:t>
            </a:r>
            <a:r>
              <a:rPr lang="en-US" altLang="ko-KR" dirty="0"/>
              <a:t>, </a:t>
            </a:r>
            <a:r>
              <a:rPr lang="en-US" altLang="ko-KR" dirty="0" err="1"/>
              <a:t>engScore</a:t>
            </a:r>
            <a:r>
              <a:rPr lang="en-US" altLang="ko-KR" dirty="0"/>
              <a:t> </a:t>
            </a:r>
            <a:r>
              <a:rPr lang="ko-KR" altLang="en-US" dirty="0"/>
              <a:t>를 만들어 주세요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mathScore</a:t>
            </a:r>
            <a:r>
              <a:rPr lang="en-US" altLang="ko-KR" dirty="0"/>
              <a:t> = “77”; </a:t>
            </a:r>
            <a:r>
              <a:rPr lang="en-US" altLang="ko-KR" dirty="0" err="1"/>
              <a:t>engScore</a:t>
            </a:r>
            <a:r>
              <a:rPr lang="en-US" altLang="ko-KR" dirty="0"/>
              <a:t> = “88”;</a:t>
            </a:r>
          </a:p>
          <a:p>
            <a:r>
              <a:rPr lang="ko-KR" altLang="en-US" dirty="0"/>
              <a:t>시험 점수 평균을 계산하여 </a:t>
            </a:r>
            <a:r>
              <a:rPr lang="en-US" altLang="ko-KR" dirty="0" err="1"/>
              <a:t>avgScore</a:t>
            </a:r>
            <a:r>
              <a:rPr lang="en-US" altLang="ko-KR" dirty="0"/>
              <a:t> </a:t>
            </a:r>
            <a:r>
              <a:rPr lang="ko-KR" altLang="en-US" dirty="0"/>
              <a:t>에 저장하고</a:t>
            </a:r>
            <a:r>
              <a:rPr lang="en-US" altLang="ko-KR" dirty="0"/>
              <a:t>, </a:t>
            </a:r>
            <a:r>
              <a:rPr lang="ko-KR" altLang="en-US" dirty="0"/>
              <a:t>이를 출력하는 프로그램을 작성하세요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명시적 형 변환을 사용하여 평균 점수가 정확하게 나와야 합니다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4C33E8-D62C-A3CB-C826-589AB5C1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8AD599-3B8D-51C9-21E6-FFD4DB5A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F38D62C-2415-8993-42AC-A840BCC1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 err="1"/>
              <a:t>형변환</a:t>
            </a:r>
            <a:r>
              <a:rPr lang="ko-KR" altLang="en-US" dirty="0"/>
              <a:t> 실습</a:t>
            </a:r>
          </a:p>
        </p:txBody>
      </p:sp>
    </p:spTree>
    <p:extLst>
      <p:ext uri="{BB962C8B-B14F-4D97-AF65-F5344CB8AC3E}">
        <p14:creationId xmlns:p14="http://schemas.microsoft.com/office/powerpoint/2010/main" val="39066207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2301B-7253-A2F3-287F-2ABE141CB6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CF3BEC-2C91-C85F-C800-2246155D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B470ADA-2DCB-4E89-4CD9-585FD5B93562}"/>
              </a:ext>
            </a:extLst>
          </p:cNvPr>
          <p:cNvSpPr txBox="1">
            <a:spLocks/>
          </p:cNvSpPr>
          <p:nvPr/>
        </p:nvSpPr>
        <p:spPr>
          <a:xfrm>
            <a:off x="2218597" y="2919885"/>
            <a:ext cx="7754805" cy="1018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7200" dirty="0" err="1">
                <a:highlight>
                  <a:srgbClr val="FFFF00"/>
                </a:highlight>
              </a:rPr>
              <a:t>Javascript</a:t>
            </a:r>
            <a:r>
              <a:rPr lang="en-US" altLang="ko-KR" sz="7200" dirty="0">
                <a:highlight>
                  <a:srgbClr val="FFFF00"/>
                </a:highlight>
              </a:rPr>
              <a:t> </a:t>
            </a:r>
            <a:r>
              <a:rPr lang="ko-KR" altLang="en-US" sz="7200" dirty="0">
                <a:highlight>
                  <a:srgbClr val="FFFF00"/>
                </a:highlight>
              </a:rPr>
              <a:t>연산자</a:t>
            </a:r>
          </a:p>
        </p:txBody>
      </p:sp>
    </p:spTree>
    <p:extLst>
      <p:ext uri="{BB962C8B-B14F-4D97-AF65-F5344CB8AC3E}">
        <p14:creationId xmlns:p14="http://schemas.microsoft.com/office/powerpoint/2010/main" val="6895430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7D13FF5-2C20-D727-1EE9-FE0992DC4A82}"/>
              </a:ext>
            </a:extLst>
          </p:cNvPr>
          <p:cNvSpPr txBox="1">
            <a:spLocks/>
          </p:cNvSpPr>
          <p:nvPr/>
        </p:nvSpPr>
        <p:spPr>
          <a:xfrm>
            <a:off x="838200" y="15552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3600" dirty="0"/>
              <a:t>대입 연산자</a:t>
            </a:r>
            <a:r>
              <a:rPr lang="en-US" altLang="ko-KR" sz="3600" dirty="0"/>
              <a:t>: </a:t>
            </a:r>
            <a:r>
              <a:rPr lang="en-US" altLang="ko-KR" sz="3600" b="1" dirty="0"/>
              <a:t>=</a:t>
            </a:r>
            <a:r>
              <a:rPr lang="en-US" altLang="ko-KR" sz="3600" dirty="0"/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3600" dirty="0"/>
              <a:t>비교 연산자</a:t>
            </a:r>
            <a:r>
              <a:rPr lang="en-US" altLang="ko-KR" sz="3600" dirty="0"/>
              <a:t>: </a:t>
            </a:r>
            <a:r>
              <a:rPr lang="en-US" altLang="ko-KR" sz="3600" b="1" dirty="0"/>
              <a:t>==</a:t>
            </a:r>
            <a:r>
              <a:rPr lang="en-US" altLang="ko-KR" sz="3600" dirty="0"/>
              <a:t>, </a:t>
            </a:r>
            <a:r>
              <a:rPr lang="en-US" altLang="ko-KR" sz="3600" b="1" dirty="0"/>
              <a:t>!=</a:t>
            </a:r>
            <a:r>
              <a:rPr lang="en-US" altLang="ko-KR" sz="3600" dirty="0"/>
              <a:t>, </a:t>
            </a:r>
            <a:r>
              <a:rPr lang="en-US" altLang="ko-KR" sz="3600" b="1" dirty="0"/>
              <a:t>===</a:t>
            </a:r>
            <a:r>
              <a:rPr lang="en-US" altLang="ko-KR" sz="3600" dirty="0"/>
              <a:t>, </a:t>
            </a:r>
            <a:r>
              <a:rPr lang="en-US" altLang="ko-KR" sz="3600" b="1" dirty="0"/>
              <a:t>!===,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&gt;</a:t>
            </a:r>
            <a:r>
              <a:rPr lang="en-US" altLang="ko-KR" sz="3600" dirty="0"/>
              <a:t>,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&gt;=</a:t>
            </a:r>
            <a:r>
              <a:rPr lang="en-US" altLang="ko-KR" sz="3600" dirty="0"/>
              <a:t>,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&lt;</a:t>
            </a:r>
            <a:r>
              <a:rPr lang="en-US" altLang="ko-KR" sz="3600" dirty="0"/>
              <a:t>,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&lt;=</a:t>
            </a:r>
          </a:p>
          <a:p>
            <a:pPr>
              <a:lnSpc>
                <a:spcPct val="150000"/>
              </a:lnSpc>
            </a:pPr>
            <a:r>
              <a:rPr lang="ko-KR" altLang="en-US" sz="3600" dirty="0"/>
              <a:t>산술 연산자</a:t>
            </a:r>
            <a:r>
              <a:rPr lang="en-US" altLang="ko-KR" sz="3600" dirty="0"/>
              <a:t>: </a:t>
            </a:r>
            <a:r>
              <a:rPr lang="en-US" altLang="ko-KR" sz="3600" b="1" dirty="0"/>
              <a:t>+</a:t>
            </a:r>
            <a:r>
              <a:rPr lang="en-US" altLang="ko-KR" sz="3600" dirty="0"/>
              <a:t>, </a:t>
            </a:r>
            <a:r>
              <a:rPr lang="en-US" altLang="ko-KR" sz="3600" b="1" dirty="0"/>
              <a:t>-</a:t>
            </a:r>
            <a:r>
              <a:rPr lang="en-US" altLang="ko-KR" sz="3600" dirty="0"/>
              <a:t>, </a:t>
            </a:r>
            <a:r>
              <a:rPr lang="en-US" altLang="ko-KR" sz="3600" b="1" dirty="0"/>
              <a:t>*</a:t>
            </a:r>
            <a:r>
              <a:rPr lang="en-US" altLang="ko-KR" sz="3600" dirty="0"/>
              <a:t>, </a:t>
            </a:r>
            <a:r>
              <a:rPr lang="en-US" altLang="ko-KR" sz="3600" b="1" dirty="0"/>
              <a:t>/, %</a:t>
            </a:r>
            <a:r>
              <a:rPr lang="en-US" altLang="ko-KR" sz="3600" dirty="0"/>
              <a:t>(</a:t>
            </a:r>
            <a:r>
              <a:rPr lang="ko-KR" altLang="en-US" sz="3600" dirty="0"/>
              <a:t>나머지</a:t>
            </a:r>
            <a:r>
              <a:rPr lang="en-US" altLang="ko-KR" sz="3600" dirty="0"/>
              <a:t>)</a:t>
            </a:r>
            <a:r>
              <a:rPr lang="en-US" altLang="ko-KR" sz="3600" b="1" dirty="0"/>
              <a:t>, **</a:t>
            </a:r>
            <a:r>
              <a:rPr lang="en-US" altLang="ko-KR" sz="3600" dirty="0"/>
              <a:t>(</a:t>
            </a:r>
            <a:r>
              <a:rPr lang="ko-KR" altLang="en-US" sz="3600" dirty="0"/>
              <a:t>거듭제곱</a:t>
            </a:r>
            <a:r>
              <a:rPr lang="en-US" altLang="ko-KR" sz="36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3600" dirty="0"/>
              <a:t>논리 연산자</a:t>
            </a:r>
            <a:r>
              <a:rPr lang="en-US" altLang="ko-KR" sz="3600" dirty="0"/>
              <a:t>: </a:t>
            </a:r>
            <a:r>
              <a:rPr lang="en-US" altLang="ko-KR" sz="3600" b="1" dirty="0"/>
              <a:t>!</a:t>
            </a:r>
            <a:r>
              <a:rPr lang="en-US" altLang="ko-KR" sz="3600" dirty="0"/>
              <a:t>(not), </a:t>
            </a:r>
            <a:r>
              <a:rPr lang="en-US" altLang="ko-KR" sz="3600" b="1" dirty="0"/>
              <a:t>&amp;&amp;</a:t>
            </a:r>
            <a:r>
              <a:rPr lang="en-US" altLang="ko-KR" sz="3600" dirty="0"/>
              <a:t>(and), </a:t>
            </a:r>
            <a:r>
              <a:rPr lang="en-US" altLang="ko-KR" sz="3600" b="1" dirty="0"/>
              <a:t>||</a:t>
            </a:r>
            <a:r>
              <a:rPr lang="en-US" altLang="ko-KR" sz="3600" dirty="0"/>
              <a:t>(or)</a:t>
            </a:r>
          </a:p>
        </p:txBody>
      </p:sp>
    </p:spTree>
    <p:extLst>
      <p:ext uri="{BB962C8B-B14F-4D97-AF65-F5344CB8AC3E}">
        <p14:creationId xmlns:p14="http://schemas.microsoft.com/office/powerpoint/2010/main" val="32681091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18F7C25-283A-4755-8C2E-69D30C716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ko-KR" dirty="0"/>
              <a:t>num = num + 5 </a:t>
            </a:r>
            <a:r>
              <a:rPr lang="ko-KR" altLang="en-US" dirty="0"/>
              <a:t>➡ </a:t>
            </a:r>
            <a:r>
              <a:rPr lang="pt-BR" altLang="ko-KR" dirty="0"/>
              <a:t>num += 5</a:t>
            </a:r>
          </a:p>
          <a:p>
            <a:r>
              <a:rPr lang="pt-BR" altLang="ko-KR" dirty="0"/>
              <a:t>num = num - 5 </a:t>
            </a:r>
            <a:r>
              <a:rPr lang="ko-KR" altLang="en-US" dirty="0"/>
              <a:t>➡</a:t>
            </a:r>
            <a:r>
              <a:rPr lang="pt-BR" altLang="ko-KR" dirty="0"/>
              <a:t> num -= 5</a:t>
            </a:r>
          </a:p>
          <a:p>
            <a:r>
              <a:rPr lang="pt-BR" altLang="ko-KR" dirty="0"/>
              <a:t>num = num * 5 </a:t>
            </a:r>
            <a:r>
              <a:rPr lang="ko-KR" altLang="en-US" dirty="0"/>
              <a:t>➡</a:t>
            </a:r>
            <a:r>
              <a:rPr lang="pt-BR" altLang="ko-KR" dirty="0"/>
              <a:t> num *= 5</a:t>
            </a:r>
          </a:p>
          <a:p>
            <a:r>
              <a:rPr lang="pt-BR" altLang="ko-KR" dirty="0"/>
              <a:t>num = num / 5 </a:t>
            </a:r>
            <a:r>
              <a:rPr lang="ko-KR" altLang="en-US" dirty="0"/>
              <a:t>➡</a:t>
            </a:r>
            <a:r>
              <a:rPr lang="pt-BR" altLang="ko-KR" dirty="0"/>
              <a:t> num /= 5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377ED5C-C1E7-1A75-11F2-6545DD4BF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647807-8C6D-6B84-6E07-53CF7141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7922242-11EC-906B-E639-286BEF5E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 </a:t>
            </a:r>
            <a:r>
              <a:rPr lang="ko-KR" altLang="en-US" dirty="0" err="1"/>
              <a:t>줄여쓰기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26826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D31B477-9FCB-8621-B6FC-A30417987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++</a:t>
            </a:r>
          </a:p>
          <a:p>
            <a:r>
              <a:rPr lang="en-US" altLang="ko-KR" b="1" dirty="0"/>
              <a:t>--</a:t>
            </a:r>
            <a:endParaRPr lang="ko-KR" altLang="en-US" b="1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B623D-ACF2-963D-110B-1D866636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92477A-8EA6-A620-43E0-80A6C9E4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8FC6A91-2088-0756-A50C-7B0FD801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증가</a:t>
            </a:r>
            <a:r>
              <a:rPr lang="en-US" altLang="ko-KR" dirty="0"/>
              <a:t>, </a:t>
            </a:r>
            <a:r>
              <a:rPr lang="ko-KR" altLang="en-US" dirty="0"/>
              <a:t>감소 연산자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D057B-DA90-5AEC-0A6A-167BC5C9D7F7}"/>
              </a:ext>
            </a:extLst>
          </p:cNvPr>
          <p:cNvSpPr txBox="1"/>
          <p:nvPr/>
        </p:nvSpPr>
        <p:spPr>
          <a:xfrm>
            <a:off x="1178169" y="3120280"/>
            <a:ext cx="6096000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pt-BR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result1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result2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pt-BR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pt-BR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num2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pt-BR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result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pt-BR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result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b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result2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++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num2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pt-BR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pt-BR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result2</a:t>
            </a:r>
            <a:r>
              <a:rPr lang="pt-BR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9B69DE-693A-7FFC-E51E-22E9D3A08F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298"/>
          <a:stretch/>
        </p:blipFill>
        <p:spPr>
          <a:xfrm>
            <a:off x="7614138" y="4058946"/>
            <a:ext cx="2008050" cy="136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0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49841AB-3F5E-5A80-DF8D-66AC41550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|| </a:t>
            </a:r>
            <a:r>
              <a:rPr lang="en-US" altLang="ko-KR" dirty="0"/>
              <a:t>(or) : </a:t>
            </a:r>
            <a:r>
              <a:rPr lang="ko-KR" altLang="en-US" dirty="0"/>
              <a:t>여러 개 중 하나라도 </a:t>
            </a:r>
            <a:r>
              <a:rPr lang="en-US" altLang="ko-KR" dirty="0"/>
              <a:t>true </a:t>
            </a:r>
            <a:r>
              <a:rPr lang="ko-KR" altLang="en-US" dirty="0"/>
              <a:t>➡ </a:t>
            </a:r>
            <a:r>
              <a:rPr lang="en-US" altLang="ko-KR" dirty="0"/>
              <a:t>true</a:t>
            </a:r>
          </a:p>
          <a:p>
            <a:r>
              <a:rPr lang="en-US" altLang="ko-KR" b="1" dirty="0"/>
              <a:t>&amp;&amp;</a:t>
            </a:r>
            <a:r>
              <a:rPr lang="en-US" altLang="ko-KR" dirty="0"/>
              <a:t> (and) : </a:t>
            </a:r>
            <a:r>
              <a:rPr lang="ko-KR" altLang="en-US" dirty="0"/>
              <a:t>모든 값이 </a:t>
            </a:r>
            <a:r>
              <a:rPr lang="en-US" altLang="ko-KR" dirty="0"/>
              <a:t>true </a:t>
            </a:r>
            <a:r>
              <a:rPr lang="ko-KR" altLang="en-US" dirty="0"/>
              <a:t>➡ </a:t>
            </a:r>
            <a:r>
              <a:rPr lang="en-US" altLang="ko-KR" dirty="0"/>
              <a:t>true</a:t>
            </a:r>
          </a:p>
          <a:p>
            <a:r>
              <a:rPr lang="en-US" altLang="ko-KR" b="1" dirty="0"/>
              <a:t>!</a:t>
            </a:r>
            <a:r>
              <a:rPr lang="en-US" altLang="ko-KR" dirty="0"/>
              <a:t> (not) : true</a:t>
            </a:r>
            <a:r>
              <a:rPr lang="ko-KR" altLang="en-US" dirty="0"/>
              <a:t> ➡ </a:t>
            </a:r>
            <a:r>
              <a:rPr lang="en-US" altLang="ko-KR" dirty="0"/>
              <a:t>false,</a:t>
            </a:r>
            <a:r>
              <a:rPr lang="ko-KR" altLang="en-US" dirty="0"/>
              <a:t> </a:t>
            </a:r>
            <a:r>
              <a:rPr lang="en-US" altLang="ko-KR" dirty="0"/>
              <a:t>false</a:t>
            </a:r>
            <a:r>
              <a:rPr lang="ko-KR" altLang="en-US" dirty="0"/>
              <a:t> ➡ </a:t>
            </a:r>
            <a:r>
              <a:rPr lang="en-US" altLang="ko-KR" dirty="0"/>
              <a:t>true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F56F99-5A1C-3595-0F41-CB7932B7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120F0-522C-955B-B3FF-53923F03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2DC5AE3-6430-3C88-A3A2-DC7A3BA2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연산자</a:t>
            </a:r>
          </a:p>
        </p:txBody>
      </p:sp>
    </p:spTree>
    <p:extLst>
      <p:ext uri="{BB962C8B-B14F-4D97-AF65-F5344CB8AC3E}">
        <p14:creationId xmlns:p14="http://schemas.microsoft.com/office/powerpoint/2010/main" val="21294936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JavaScript </a:t>
            </a:r>
            <a:r>
              <a:rPr lang="ko-KR" altLang="en-US" sz="8000" dirty="0"/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11525954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B437F89-A3A1-A26E-2544-6BFC49FF4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345" y="1796844"/>
            <a:ext cx="3664892" cy="326431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14EB663-47BC-8050-C4B7-51DFDDD16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753" y="1796844"/>
            <a:ext cx="3392156" cy="326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724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FA4040C-F5C0-4186-1402-E2BFEA5B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283" y="4286817"/>
            <a:ext cx="10281433" cy="146405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3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특정 작업을 수행하기 위해 독립적으로 설계된 </a:t>
            </a:r>
            <a:r>
              <a:rPr lang="ko-KR" altLang="en-US" sz="3600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코드 집합</a:t>
            </a:r>
            <a:r>
              <a:rPr lang="en-US" altLang="ko-KR" sz="3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492112" y="1565213"/>
            <a:ext cx="9207774" cy="261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2252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220" y="3444604"/>
            <a:ext cx="3338918" cy="6350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3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➡</a:t>
            </a:r>
            <a:r>
              <a:rPr lang="en-US" altLang="ko-KR" sz="3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3600" dirty="0"/>
              <a:t>Keyword</a:t>
            </a:r>
            <a:endParaRPr lang="ko-KR" altLang="en-US" sz="3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2024-04-29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908" r="58374" b="10746"/>
          <a:stretch/>
        </p:blipFill>
        <p:spPr>
          <a:xfrm>
            <a:off x="1327990" y="1699629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2376082" y="2513924"/>
            <a:ext cx="2839453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1594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64" y="3323492"/>
            <a:ext cx="7135036" cy="16721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➡ </a:t>
            </a:r>
            <a:r>
              <a:rPr lang="en-US" altLang="ko-KR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 (</a:t>
            </a:r>
            <a:r>
              <a:rPr lang="ko-KR" altLang="en-US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함수 이름</a:t>
            </a:r>
            <a:r>
              <a:rPr lang="en-US" altLang="ko-KR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일반적으로 </a:t>
            </a: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camelCase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이용</a:t>
            </a:r>
            <a:endParaRPr lang="en-US" altLang="ko-KR" sz="3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908" r="58374" b="10746"/>
          <a:stretch/>
        </p:blipFill>
        <p:spPr>
          <a:xfrm>
            <a:off x="1199036" y="1782763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5056964" y="2601420"/>
            <a:ext cx="1868906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8647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968" y="3740861"/>
            <a:ext cx="7103617" cy="12197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➡ </a:t>
            </a:r>
            <a:r>
              <a:rPr lang="en-US" altLang="ko-KR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Parameter</a:t>
            </a:r>
            <a:endParaRPr lang="en-US" altLang="ko-KR" sz="3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0" indent="0">
              <a:buNone/>
            </a:pP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함수를 선언할 때 </a:t>
            </a:r>
            <a:r>
              <a:rPr lang="ko-KR" altLang="en-US" sz="30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매개변수</a:t>
            </a:r>
            <a:r>
              <a:rPr lang="en-US" altLang="ko-KR" sz="30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ko-KR" altLang="en-US" sz="30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인자</a:t>
            </a:r>
            <a:r>
              <a:rPr lang="en-US" altLang="ko-KR" sz="3000" b="1" dirty="0">
                <a:highlight>
                  <a:srgbClr val="FFFF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받을 것</a:t>
            </a:r>
            <a:endParaRPr lang="en-US" altLang="ko-KR" sz="3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152144" y="1811445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6774704" y="2646144"/>
            <a:ext cx="601580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9925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052652-EF54-B4E8-E1E2-C4278613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4003" y="3257798"/>
            <a:ext cx="6123197" cy="152933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➡ </a:t>
            </a:r>
            <a:r>
              <a:rPr lang="en-US" altLang="ko-KR" sz="3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Body (Block)</a:t>
            </a:r>
          </a:p>
          <a:p>
            <a:pPr marL="0" indent="0">
              <a:buNone/>
            </a:pP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함수가 실행되는 </a:t>
            </a: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Scope </a:t>
            </a: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라고도 한다</a:t>
            </a:r>
            <a:r>
              <a:rPr lang="en-US" altLang="ko-KR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0B65A2-CFCD-47FB-B251-07B23B5E1093}" type="datetime6">
              <a:rPr lang="ko-KR" altLang="en-US" smtClean="0"/>
              <a:pPr/>
              <a:t>2024년 4월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951D18-8DA8-7A44-5EB4-9E6F5B99F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08" r="58374" b="10746"/>
          <a:stretch/>
        </p:blipFill>
        <p:spPr>
          <a:xfrm>
            <a:off x="1492113" y="1325563"/>
            <a:ext cx="9207774" cy="26148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4D1F8D0-29A2-8FFF-436D-D0E5B83C0234}"/>
              </a:ext>
            </a:extLst>
          </p:cNvPr>
          <p:cNvSpPr/>
          <p:nvPr/>
        </p:nvSpPr>
        <p:spPr>
          <a:xfrm>
            <a:off x="7964905" y="2160262"/>
            <a:ext cx="1018674" cy="8698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1791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5F37647C-10FA-A40F-7646-54C4E59B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81" y="2229429"/>
            <a:ext cx="3897230" cy="56107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명시적 함수 선언</a:t>
            </a:r>
            <a:endParaRPr lang="ko-KR" altLang="en-US" sz="3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52C80-CF42-D955-B270-CA136383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2024-04-29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D0816A-E489-1AA4-6B55-4C042776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9072D0-8052-BF84-BF3B-6BAE1CAA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선언 방식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2E085A0E-15BB-DFCD-E7A1-8200B49E24CB}"/>
              </a:ext>
            </a:extLst>
          </p:cNvPr>
          <p:cNvSpPr txBox="1">
            <a:spLocks/>
          </p:cNvSpPr>
          <p:nvPr/>
        </p:nvSpPr>
        <p:spPr>
          <a:xfrm>
            <a:off x="7066499" y="2229429"/>
            <a:ext cx="2639365" cy="561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3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함수 표현식</a:t>
            </a:r>
            <a:endParaRPr lang="ko-KR" altLang="en-US" sz="3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3ABE13-F8C0-0411-5D33-AF1C353DCD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897" b="11962"/>
          <a:stretch/>
        </p:blipFill>
        <p:spPr>
          <a:xfrm>
            <a:off x="737709" y="3079802"/>
            <a:ext cx="4364574" cy="7498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87C908-B7F9-E0AF-86AC-EAF71F19A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537" y="3079802"/>
            <a:ext cx="5811291" cy="74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911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multifly</a:t>
            </a:r>
            <a:r>
              <a:rPr lang="en-US" altLang="ko-KR" dirty="0"/>
              <a:t>() </a:t>
            </a:r>
            <a:r>
              <a:rPr lang="ko-KR" altLang="en-US" dirty="0"/>
              <a:t>함수를 만들어주세요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조건</a:t>
            </a:r>
            <a:endParaRPr lang="en-US" altLang="ko-KR" dirty="0"/>
          </a:p>
          <a:p>
            <a:pPr lvl="1"/>
            <a:r>
              <a:rPr lang="ko-KR" altLang="en-US" dirty="0"/>
              <a:t>매개변수로 두 개의 숫자를 </a:t>
            </a:r>
            <a:r>
              <a:rPr lang="ko-KR" altLang="en-US" dirty="0" err="1"/>
              <a:t>입력받기</a:t>
            </a:r>
            <a:endParaRPr lang="en-US" altLang="ko-KR" dirty="0"/>
          </a:p>
          <a:p>
            <a:pPr lvl="1"/>
            <a:r>
              <a:rPr lang="ko-KR" altLang="en-US" dirty="0"/>
              <a:t>두 인자의 곱을 </a:t>
            </a:r>
            <a:r>
              <a:rPr lang="en-US" altLang="ko-KR" dirty="0"/>
              <a:t>‘</a:t>
            </a:r>
            <a:r>
              <a:rPr lang="ko-KR" altLang="en-US" dirty="0"/>
              <a:t>반환</a:t>
            </a:r>
            <a:r>
              <a:rPr lang="en-US" altLang="ko-KR" dirty="0"/>
              <a:t>’ </a:t>
            </a:r>
            <a:r>
              <a:rPr lang="ko-KR" altLang="en-US" dirty="0"/>
              <a:t>하는 함수를 정의</a:t>
            </a:r>
            <a:endParaRPr lang="en-US" altLang="ko-KR" dirty="0"/>
          </a:p>
          <a:p>
            <a:pPr lvl="1"/>
            <a:r>
              <a:rPr lang="en-US" altLang="ko-KR" dirty="0"/>
              <a:t>!! </a:t>
            </a:r>
            <a:r>
              <a:rPr lang="ko-KR" altLang="en-US" dirty="0"/>
              <a:t>출력이 아닌 반환하는 함수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콘솔창에</a:t>
            </a:r>
            <a:r>
              <a:rPr lang="ko-KR" altLang="en-US" dirty="0"/>
              <a:t> 출력하고 싶다면 아래처럼 테스트 해보기</a:t>
            </a:r>
            <a:endParaRPr lang="en-US" altLang="ko-KR" dirty="0"/>
          </a:p>
          <a:p>
            <a:pPr lvl="2"/>
            <a:r>
              <a:rPr lang="en-US" altLang="ko-KR" dirty="0"/>
              <a:t> console.log(</a:t>
            </a:r>
            <a:r>
              <a:rPr lang="en-US" altLang="ko-KR" dirty="0" err="1"/>
              <a:t>multifly</a:t>
            </a:r>
            <a:r>
              <a:rPr lang="en-US" altLang="ko-KR" dirty="0"/>
              <a:t>(3,7)); </a:t>
            </a:r>
            <a:r>
              <a:rPr lang="en-US" altLang="ko-KR" dirty="0">
                <a:solidFill>
                  <a:schemeClr val="accent6"/>
                </a:solidFill>
              </a:rPr>
              <a:t>// 21</a:t>
            </a:r>
          </a:p>
          <a:p>
            <a:pPr lvl="2"/>
            <a:r>
              <a:rPr lang="en-US" altLang="ko-KR" dirty="0"/>
              <a:t> console.log(</a:t>
            </a:r>
            <a:r>
              <a:rPr lang="en-US" altLang="ko-KR" dirty="0" err="1"/>
              <a:t>multifly</a:t>
            </a:r>
            <a:r>
              <a:rPr lang="en-US" altLang="ko-KR" dirty="0"/>
              <a:t>(2,2)); </a:t>
            </a:r>
            <a:r>
              <a:rPr lang="en-US" altLang="ko-KR" dirty="0">
                <a:solidFill>
                  <a:schemeClr val="accent6"/>
                </a:solidFill>
              </a:rPr>
              <a:t>// 4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A4C95C57-DEA6-F1CD-B4FE-80CED586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en-US" altLang="ko-KR" dirty="0"/>
              <a:t>JavaScript </a:t>
            </a:r>
            <a:r>
              <a:rPr lang="ko-KR" altLang="en-US" dirty="0"/>
              <a:t>함수 실습 </a:t>
            </a:r>
            <a:r>
              <a:rPr lang="en-US" altLang="ko-KR" dirty="0"/>
              <a:t>(1)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84153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square() </a:t>
            </a:r>
            <a:r>
              <a:rPr lang="ko-KR" altLang="en-US" dirty="0"/>
              <a:t>함수를 만들어주세요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조건</a:t>
            </a:r>
            <a:endParaRPr lang="en-US" altLang="ko-KR" dirty="0"/>
          </a:p>
          <a:p>
            <a:pPr lvl="1"/>
            <a:r>
              <a:rPr lang="ko-KR" altLang="en-US" dirty="0"/>
              <a:t>매개변수로 하나의 숫자를 </a:t>
            </a:r>
            <a:r>
              <a:rPr lang="ko-KR" altLang="en-US" dirty="0" err="1"/>
              <a:t>입력받기</a:t>
            </a:r>
            <a:endParaRPr lang="en-US" altLang="ko-KR" dirty="0"/>
          </a:p>
          <a:p>
            <a:pPr lvl="1"/>
            <a:r>
              <a:rPr lang="ko-KR" altLang="en-US" dirty="0" err="1"/>
              <a:t>입력받은</a:t>
            </a:r>
            <a:r>
              <a:rPr lang="ko-KR" altLang="en-US" dirty="0"/>
              <a:t> 수의 제곱을 </a:t>
            </a:r>
            <a:r>
              <a:rPr lang="ko-KR" altLang="en-US" dirty="0" err="1"/>
              <a:t>콘솔창에</a:t>
            </a:r>
            <a:r>
              <a:rPr lang="ko-KR" altLang="en-US" dirty="0"/>
              <a:t> 출력하는 함수 정의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콘솔창에</a:t>
            </a:r>
            <a:r>
              <a:rPr lang="ko-KR" altLang="en-US" dirty="0"/>
              <a:t> 출력하고 싶다면 아래처럼 테스트 해보기</a:t>
            </a:r>
            <a:endParaRPr lang="en-US" altLang="ko-KR" dirty="0"/>
          </a:p>
          <a:p>
            <a:pPr lvl="2"/>
            <a:r>
              <a:rPr lang="en-US" altLang="ko-KR" dirty="0"/>
              <a:t> square(4)</a:t>
            </a:r>
            <a:r>
              <a:rPr lang="en-US" altLang="ko-KR" dirty="0">
                <a:solidFill>
                  <a:schemeClr val="accent6"/>
                </a:solidFill>
              </a:rPr>
              <a:t>// 16</a:t>
            </a:r>
          </a:p>
          <a:p>
            <a:pPr lvl="2"/>
            <a:r>
              <a:rPr lang="en-US" altLang="ko-KR" dirty="0"/>
              <a:t> square(11); </a:t>
            </a:r>
            <a:r>
              <a:rPr lang="en-US" altLang="ko-KR" dirty="0">
                <a:solidFill>
                  <a:schemeClr val="accent6"/>
                </a:solidFill>
              </a:rPr>
              <a:t>// 121</a:t>
            </a:r>
          </a:p>
          <a:p>
            <a:pPr lvl="2"/>
            <a:r>
              <a:rPr lang="en-US" altLang="ko-KR" dirty="0"/>
              <a:t> square(5); </a:t>
            </a:r>
            <a:r>
              <a:rPr lang="en-US" altLang="ko-KR" dirty="0">
                <a:solidFill>
                  <a:schemeClr val="accent6"/>
                </a:solidFill>
              </a:rPr>
              <a:t>// 25</a:t>
            </a:r>
            <a:endParaRPr lang="ko-KR" altLang="en-US" dirty="0">
              <a:solidFill>
                <a:schemeClr val="accent6"/>
              </a:solidFill>
            </a:endParaRPr>
          </a:p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D1E9275-11A8-3E89-9FC3-9A0A8783F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en-US" altLang="ko-KR" dirty="0"/>
              <a:t>JavaScript </a:t>
            </a:r>
            <a:r>
              <a:rPr lang="ko-KR" altLang="en-US" dirty="0"/>
              <a:t>함수 실습 </a:t>
            </a:r>
            <a:r>
              <a:rPr lang="en-US" altLang="ko-KR" dirty="0"/>
              <a:t>(2)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09190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66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0" dirty="0"/>
              <a:t>조건문</a:t>
            </a:r>
          </a:p>
        </p:txBody>
      </p:sp>
    </p:spTree>
    <p:extLst>
      <p:ext uri="{BB962C8B-B14F-4D97-AF65-F5344CB8AC3E}">
        <p14:creationId xmlns:p14="http://schemas.microsoft.com/office/powerpoint/2010/main" val="25794356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BA86382-93BA-1119-7DEF-8FBB48FC3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특정 조건일 때</a:t>
            </a:r>
            <a:r>
              <a:rPr lang="ko-KR" altLang="en-US" dirty="0"/>
              <a:t>만 실행하고 싶은 구문이 있을 때 사용합니다</a:t>
            </a:r>
            <a:r>
              <a:rPr lang="en-US" altLang="ko-KR" dirty="0"/>
              <a:t>.</a:t>
            </a:r>
          </a:p>
          <a:p>
            <a:pPr lvl="1">
              <a:buFontTx/>
              <a:buChar char="-"/>
            </a:pPr>
            <a:r>
              <a:rPr lang="en-US" altLang="ko-KR" dirty="0"/>
              <a:t>prompt</a:t>
            </a:r>
            <a:r>
              <a:rPr lang="ko-KR" altLang="en-US" dirty="0"/>
              <a:t>에 입력한 수가 짝수인지 홀수인지 판별하는 프로그램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en-US" altLang="ko-KR" dirty="0"/>
              <a:t> ~ </a:t>
            </a:r>
            <a:r>
              <a:rPr lang="ko-KR" altLang="en-US" dirty="0"/>
              <a:t>일 때</a:t>
            </a:r>
            <a:r>
              <a:rPr lang="en-US" altLang="ko-KR" dirty="0"/>
              <a:t>, ~ </a:t>
            </a:r>
            <a:r>
              <a:rPr lang="ko-KR" altLang="en-US" dirty="0"/>
              <a:t>하는 프로그램을 만들 때</a:t>
            </a:r>
            <a:r>
              <a:rPr lang="en-US" altLang="ko-KR" dirty="0"/>
              <a:t>!</a:t>
            </a:r>
          </a:p>
          <a:p>
            <a:pPr lvl="1">
              <a:buFontTx/>
              <a:buChar char="-"/>
            </a:pPr>
            <a:endParaRPr lang="en-US" altLang="ko-KR" dirty="0"/>
          </a:p>
          <a:p>
            <a:r>
              <a:rPr lang="ko-KR" altLang="en-US" dirty="0"/>
              <a:t>조건문 종류</a:t>
            </a:r>
            <a:endParaRPr lang="en-US" altLang="ko-KR" dirty="0"/>
          </a:p>
          <a:p>
            <a:pPr lvl="1"/>
            <a:r>
              <a:rPr lang="en-US" altLang="ko-KR" dirty="0"/>
              <a:t>if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 err="1"/>
              <a:t>삼항</a:t>
            </a:r>
            <a:r>
              <a:rPr lang="ko-KR" altLang="en-US" dirty="0"/>
              <a:t> 연산자</a:t>
            </a:r>
            <a:endParaRPr lang="en-US" altLang="ko-KR" dirty="0"/>
          </a:p>
          <a:p>
            <a:pPr lvl="1"/>
            <a:r>
              <a:rPr lang="en-US" altLang="ko-KR" dirty="0"/>
              <a:t>switch </a:t>
            </a:r>
            <a:r>
              <a:rPr lang="ko-KR" altLang="en-US" dirty="0"/>
              <a:t>문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E74F7B-534E-6BE5-5ECE-6AC884E5B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A0CC2-53B4-FFA4-F071-A445DF70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FF1AD85-F818-5A44-FEB2-D046BE94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조건문</a:t>
            </a:r>
          </a:p>
        </p:txBody>
      </p:sp>
    </p:spTree>
    <p:extLst>
      <p:ext uri="{BB962C8B-B14F-4D97-AF65-F5344CB8AC3E}">
        <p14:creationId xmlns:p14="http://schemas.microsoft.com/office/powerpoint/2010/main" val="3156447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04D5F2E-A859-5D95-3F46-2862D9369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가장 기본적인 조건문</a:t>
            </a:r>
            <a:endParaRPr lang="en-US" altLang="ko-KR" dirty="0"/>
          </a:p>
          <a:p>
            <a:r>
              <a:rPr lang="en-US" altLang="ko-KR" dirty="0"/>
              <a:t>if</a:t>
            </a:r>
            <a:r>
              <a:rPr lang="ko-KR" altLang="en-US" dirty="0"/>
              <a:t>문 기본 구조부터 먼저 알아볼까요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조건은</a:t>
            </a:r>
            <a:r>
              <a:rPr lang="ko-KR" altLang="en-US" dirty="0">
                <a:solidFill>
                  <a:srgbClr val="00B050"/>
                </a:solidFill>
              </a:rPr>
              <a:t> </a:t>
            </a:r>
            <a:r>
              <a:rPr lang="en-US" altLang="ko-KR" dirty="0">
                <a:solidFill>
                  <a:srgbClr val="00B050"/>
                </a:solidFill>
              </a:rPr>
              <a:t>true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00B050"/>
                </a:solidFill>
              </a:rPr>
              <a:t>false</a:t>
            </a:r>
            <a:r>
              <a:rPr lang="ko-KR" altLang="en-US" dirty="0"/>
              <a:t>로 결과가 나와요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i="1" dirty="0"/>
              <a:t>a &gt; 10 (</a:t>
            </a:r>
            <a:r>
              <a:rPr lang="ko-KR" altLang="en-US" i="1" dirty="0"/>
              <a:t>변수 </a:t>
            </a:r>
            <a:r>
              <a:rPr lang="en-US" altLang="ko-KR" i="1" dirty="0"/>
              <a:t>a</a:t>
            </a:r>
            <a:r>
              <a:rPr lang="ko-KR" altLang="en-US" i="1" dirty="0"/>
              <a:t>가 </a:t>
            </a:r>
            <a:r>
              <a:rPr lang="en-US" altLang="ko-KR" i="1" dirty="0"/>
              <a:t>10</a:t>
            </a:r>
            <a:r>
              <a:rPr lang="ko-KR" altLang="en-US" i="1" dirty="0"/>
              <a:t>보다 크다면</a:t>
            </a:r>
            <a:r>
              <a:rPr lang="en-US" altLang="ko-KR" i="1" dirty="0"/>
              <a:t>)</a:t>
            </a:r>
          </a:p>
          <a:p>
            <a:pPr lvl="2"/>
            <a:r>
              <a:rPr lang="en-US" altLang="ko-KR" i="1" dirty="0"/>
              <a:t>str ===“</a:t>
            </a:r>
            <a:r>
              <a:rPr lang="en-US" altLang="ko-KR" i="1" dirty="0" err="1"/>
              <a:t>abcd</a:t>
            </a:r>
            <a:r>
              <a:rPr lang="en-US" altLang="ko-KR" i="1" dirty="0"/>
              <a:t>” (</a:t>
            </a:r>
            <a:r>
              <a:rPr lang="ko-KR" altLang="en-US" i="1" dirty="0"/>
              <a:t>변수 </a:t>
            </a:r>
            <a:r>
              <a:rPr lang="en-US" altLang="ko-KR" i="1" dirty="0"/>
              <a:t>str</a:t>
            </a:r>
            <a:r>
              <a:rPr lang="ko-KR" altLang="en-US" i="1" dirty="0"/>
              <a:t>이 </a:t>
            </a:r>
            <a:r>
              <a:rPr lang="en-US" altLang="ko-KR" i="1" dirty="0" err="1"/>
              <a:t>abcd</a:t>
            </a:r>
            <a:r>
              <a:rPr lang="ko-KR" altLang="en-US" i="1" dirty="0"/>
              <a:t>라는 문자열이라면</a:t>
            </a:r>
            <a:r>
              <a:rPr lang="en-US" altLang="ko-KR" i="1" dirty="0"/>
              <a:t>)</a:t>
            </a:r>
          </a:p>
          <a:p>
            <a:pPr lvl="1"/>
            <a:r>
              <a:rPr lang="ko-KR" altLang="en-US" dirty="0"/>
              <a:t>조건에 변수 자체를 써도 되는 경우가 있는데</a:t>
            </a:r>
            <a:r>
              <a:rPr lang="en-US" altLang="ko-KR" dirty="0"/>
              <a:t>, </a:t>
            </a:r>
            <a:r>
              <a:rPr lang="ko-KR" altLang="en-US" dirty="0"/>
              <a:t>이 경우는 변수자체가 </a:t>
            </a:r>
            <a:r>
              <a:rPr lang="en-US" altLang="ko-KR" dirty="0"/>
              <a:t>true</a:t>
            </a:r>
            <a:r>
              <a:rPr lang="ko-KR" altLang="en-US" dirty="0"/>
              <a:t>나 </a:t>
            </a:r>
            <a:r>
              <a:rPr lang="en-US" altLang="ko-KR" dirty="0"/>
              <a:t>false</a:t>
            </a:r>
            <a:r>
              <a:rPr lang="ko-KR" altLang="en-US" dirty="0"/>
              <a:t>로 판별 가능할 경우입니다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AC0ED1-7720-E4C4-3616-96545CB6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138B52-D65F-72CC-37B0-D1065B9F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8289559-99AB-6FBA-EEE8-8E10A2A42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 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AC22E7-2472-B0A4-747A-317D6EBC44CA}"/>
              </a:ext>
            </a:extLst>
          </p:cNvPr>
          <p:cNvSpPr/>
          <p:nvPr/>
        </p:nvSpPr>
        <p:spPr>
          <a:xfrm>
            <a:off x="1371600" y="2856124"/>
            <a:ext cx="6096000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괄호 안의 조건이 만족할 때 실행할 문장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49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62F867-7DB4-29A0-E556-E9951DCEE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기본 </a:t>
            </a:r>
            <a:r>
              <a:rPr lang="en-US" altLang="ko-KR" dirty="0"/>
              <a:t>if</a:t>
            </a:r>
            <a:r>
              <a:rPr lang="ko-KR" altLang="en-US" dirty="0"/>
              <a:t>문에서 진화한 형태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소괄호 속의 조건이 참이면 </a:t>
            </a:r>
            <a:r>
              <a:rPr lang="en-US" altLang="ko-KR" dirty="0"/>
              <a:t>if </a:t>
            </a:r>
            <a:r>
              <a:rPr lang="ko-KR" altLang="en-US" dirty="0"/>
              <a:t>이하의 문장</a:t>
            </a:r>
            <a:r>
              <a:rPr lang="en-US" altLang="ko-KR" dirty="0"/>
              <a:t>, </a:t>
            </a:r>
            <a:r>
              <a:rPr lang="ko-KR" altLang="en-US" dirty="0"/>
              <a:t>조건이 거짓이면 </a:t>
            </a:r>
            <a:r>
              <a:rPr lang="en-US" altLang="ko-KR" dirty="0"/>
              <a:t>else </a:t>
            </a:r>
            <a:r>
              <a:rPr lang="ko-KR" altLang="en-US" dirty="0"/>
              <a:t>이하의 문장 실행</a:t>
            </a:r>
            <a:endParaRPr lang="en-US" altLang="ko-KR" dirty="0"/>
          </a:p>
          <a:p>
            <a:r>
              <a:rPr lang="ko-KR" altLang="en-US" dirty="0"/>
              <a:t>두개의 문장이 전부 다 실행될 수는 없겠죠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sz="2400" dirty="0"/>
              <a:t>!! else</a:t>
            </a:r>
            <a:r>
              <a:rPr lang="ko-KR" altLang="en-US" sz="2400" dirty="0"/>
              <a:t>는 조건을 필요로 하지 않아요</a:t>
            </a:r>
            <a:r>
              <a:rPr lang="en-US" altLang="ko-KR" sz="2400" dirty="0"/>
              <a:t>!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5367E8-684E-D08E-9F81-22A1CBA0E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3305C8-7F13-8B09-ECE6-5CFFB707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8EA0C64-25F4-C2AB-8DB6-829AFE98A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와 </a:t>
            </a:r>
            <a:r>
              <a:rPr lang="en-US" altLang="ko-KR" dirty="0"/>
              <a:t>else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BFC7A8-D0D4-D377-721B-4C93FD9167E8}"/>
              </a:ext>
            </a:extLst>
          </p:cNvPr>
          <p:cNvSpPr/>
          <p:nvPr/>
        </p:nvSpPr>
        <p:spPr>
          <a:xfrm>
            <a:off x="1182446" y="2302812"/>
            <a:ext cx="6096000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1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괄호 안의 조건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이 참일 때 실행할 문장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괄호 안의 조건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이 거짓일 때 실행할 문장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99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6549B72-56E1-4B4E-CE49-30569B85E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마지막 </a:t>
            </a:r>
            <a:r>
              <a:rPr lang="en-US" altLang="ko-KR" dirty="0"/>
              <a:t>if</a:t>
            </a:r>
            <a:r>
              <a:rPr lang="ko-KR" altLang="en-US" dirty="0"/>
              <a:t>문의 모양입니다</a:t>
            </a:r>
            <a:r>
              <a:rPr lang="en-US" altLang="ko-KR" dirty="0"/>
              <a:t>! else if</a:t>
            </a:r>
            <a:r>
              <a:rPr lang="ko-KR" altLang="en-US" dirty="0"/>
              <a:t>가 포함된 문장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else if</a:t>
            </a:r>
            <a:r>
              <a:rPr lang="ko-KR" altLang="en-US" dirty="0"/>
              <a:t>도 </a:t>
            </a:r>
            <a:r>
              <a:rPr lang="en-US" altLang="ko-KR" dirty="0"/>
              <a:t>if</a:t>
            </a:r>
            <a:r>
              <a:rPr lang="ko-KR" altLang="en-US" dirty="0"/>
              <a:t>처럼 조건이 필요해요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else</a:t>
            </a:r>
            <a:r>
              <a:rPr lang="ko-KR" altLang="en-US" dirty="0"/>
              <a:t>는 있어도 되고 없어도 됩니다</a:t>
            </a:r>
            <a:r>
              <a:rPr lang="en-US" altLang="ko-KR" dirty="0"/>
              <a:t>. (else</a:t>
            </a:r>
            <a:r>
              <a:rPr lang="ko-KR" altLang="en-US" dirty="0"/>
              <a:t>는 조건 </a:t>
            </a:r>
            <a:r>
              <a:rPr lang="en-US" altLang="ko-KR" dirty="0"/>
              <a:t>x)</a:t>
            </a:r>
          </a:p>
          <a:p>
            <a:pPr lvl="1"/>
            <a:r>
              <a:rPr lang="ko-KR" altLang="en-US" dirty="0"/>
              <a:t>하지만 반드시 </a:t>
            </a:r>
            <a:r>
              <a:rPr lang="en-US" altLang="ko-KR" dirty="0"/>
              <a:t>if</a:t>
            </a:r>
            <a:r>
              <a:rPr lang="ko-KR" altLang="en-US" dirty="0"/>
              <a:t>문이 가장 먼저 나온 이후에 다른 구문이 나와야 합니다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FDB653-3241-BA4D-8C69-BE2A6201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B7F1D-0DBD-45CB-1965-AD72DCA7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8ED9C5E-A513-C330-6988-879D5D7F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와 </a:t>
            </a:r>
            <a:r>
              <a:rPr lang="en-US" altLang="ko-KR" dirty="0"/>
              <a:t>else if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C4EE7E-72A4-430F-74FD-DB1E5971CFC2}"/>
              </a:ext>
            </a:extLst>
          </p:cNvPr>
          <p:cNvSpPr/>
          <p:nvPr/>
        </p:nvSpPr>
        <p:spPr>
          <a:xfrm>
            <a:off x="1177694" y="2373538"/>
            <a:ext cx="6096000" cy="233910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참일 때 실행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ko-KR" alt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거짓이고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가 참일 때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ko-KR" altLang="en-US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3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2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가 거짓이고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3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참일 때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1 2 3</a:t>
            </a:r>
            <a:r>
              <a:rPr lang="ko-KR" alt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이 모두 거짓일 때 실행</a:t>
            </a:r>
            <a:endParaRPr lang="ko-KR" altLang="en-US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2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46B4EAE-E0E1-8BB8-B428-C939A1398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중첩</a:t>
            </a:r>
            <a:r>
              <a:rPr lang="en-US" altLang="ko-KR" dirty="0"/>
              <a:t>, if</a:t>
            </a:r>
            <a:r>
              <a:rPr lang="ko-KR" altLang="en-US" dirty="0"/>
              <a:t>문 안에 또 다른 </a:t>
            </a:r>
            <a:r>
              <a:rPr lang="en-US" altLang="ko-KR" dirty="0"/>
              <a:t>if</a:t>
            </a:r>
            <a:r>
              <a:rPr lang="ko-KR" altLang="en-US" dirty="0"/>
              <a:t>문도 들어갈 수 있어요</a:t>
            </a:r>
            <a:r>
              <a:rPr lang="en-US" altLang="ko-KR" dirty="0"/>
              <a:t>!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A10236F-58E4-0B79-13FC-BA2977BBF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6BD6FE-05CF-275A-FDDD-2DF90F36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0FFA7B6-6C0E-4A0A-02B8-9181BA23D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 중첩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3345AB-902C-1158-5277-09CEE5479664}"/>
              </a:ext>
            </a:extLst>
          </p:cNvPr>
          <p:cNvSpPr/>
          <p:nvPr/>
        </p:nvSpPr>
        <p:spPr>
          <a:xfrm>
            <a:off x="1236944" y="2569540"/>
            <a:ext cx="6096000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 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 </a:t>
            </a:r>
            <a:r>
              <a:rPr lang="ko-KR" altLang="en-US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2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실행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실행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2</a:t>
            </a:r>
            <a:endParaRPr lang="ko-KR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876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CFFFF41-6B5F-0F34-6EE9-FF6A61FE6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020" y="601885"/>
            <a:ext cx="7211959" cy="565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0462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1A9C2B-91F4-8ECA-9458-CD989BAC6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283" y="974087"/>
            <a:ext cx="6779434" cy="490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876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5471541-2328-41C4-7318-5CCD252DD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비교 연산자</a:t>
            </a:r>
            <a:endParaRPr lang="en-US" altLang="ko-KR" dirty="0"/>
          </a:p>
          <a:p>
            <a:pPr lvl="1"/>
            <a:r>
              <a:rPr lang="en-US" altLang="ko-KR" dirty="0"/>
              <a:t>a == b : 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가 동일하면 참</a:t>
            </a:r>
          </a:p>
          <a:p>
            <a:pPr lvl="1"/>
            <a:r>
              <a:rPr lang="en-US" altLang="ko-KR" dirty="0"/>
              <a:t>a != b : 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가 동일하지 않으면 참</a:t>
            </a:r>
          </a:p>
          <a:p>
            <a:pPr lvl="1"/>
            <a:r>
              <a:rPr lang="en-US" altLang="ko-KR" dirty="0"/>
              <a:t>a &lt; b : a</a:t>
            </a:r>
            <a:r>
              <a:rPr lang="ko-KR" altLang="en-US" dirty="0"/>
              <a:t>가 </a:t>
            </a:r>
            <a:r>
              <a:rPr lang="en-US" altLang="ko-KR" dirty="0"/>
              <a:t>b</a:t>
            </a:r>
            <a:r>
              <a:rPr lang="ko-KR" altLang="en-US" dirty="0"/>
              <a:t>보다 작으면 </a:t>
            </a:r>
            <a:r>
              <a:rPr lang="en-US" altLang="ko-KR" dirty="0"/>
              <a:t>( b</a:t>
            </a:r>
            <a:r>
              <a:rPr lang="ko-KR" altLang="en-US" dirty="0"/>
              <a:t>가 </a:t>
            </a:r>
            <a:r>
              <a:rPr lang="en-US" altLang="ko-KR" dirty="0"/>
              <a:t>a</a:t>
            </a:r>
            <a:r>
              <a:rPr lang="ko-KR" altLang="en-US" dirty="0"/>
              <a:t>보다 크면 </a:t>
            </a:r>
            <a:r>
              <a:rPr lang="en-US" altLang="ko-KR" dirty="0"/>
              <a:t>) </a:t>
            </a:r>
            <a:r>
              <a:rPr lang="ko-KR" altLang="en-US" dirty="0"/>
              <a:t>참</a:t>
            </a:r>
          </a:p>
          <a:p>
            <a:pPr lvl="1"/>
            <a:r>
              <a:rPr lang="en-US" altLang="ko-KR" dirty="0"/>
              <a:t>a &lt;= b : a</a:t>
            </a:r>
            <a:r>
              <a:rPr lang="ko-KR" altLang="en-US" dirty="0"/>
              <a:t>가 </a:t>
            </a:r>
            <a:r>
              <a:rPr lang="en-US" altLang="ko-KR" dirty="0"/>
              <a:t>b</a:t>
            </a:r>
            <a:r>
              <a:rPr lang="ko-KR" altLang="en-US" dirty="0"/>
              <a:t>보다 작거나 같으면 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논리 연산자</a:t>
            </a:r>
            <a:endParaRPr lang="en-US" altLang="ko-KR" dirty="0"/>
          </a:p>
          <a:p>
            <a:pPr lvl="1"/>
            <a:r>
              <a:rPr lang="en-US" altLang="ko-KR" dirty="0"/>
              <a:t>a &amp;&amp; b : a AND b. a </a:t>
            </a:r>
            <a:r>
              <a:rPr lang="ko-KR" altLang="en-US" dirty="0"/>
              <a:t>그리고 </a:t>
            </a:r>
            <a:r>
              <a:rPr lang="en-US" altLang="ko-KR" dirty="0"/>
              <a:t>b</a:t>
            </a:r>
          </a:p>
          <a:p>
            <a:pPr lvl="1"/>
            <a:r>
              <a:rPr lang="en-US" altLang="ko-KR" dirty="0"/>
              <a:t>a || b : a OR b. a </a:t>
            </a:r>
            <a:r>
              <a:rPr lang="ko-KR" altLang="en-US" dirty="0"/>
              <a:t>또는 </a:t>
            </a:r>
            <a:r>
              <a:rPr lang="en-US" altLang="ko-KR" dirty="0"/>
              <a:t>b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E69E2D-FD21-A92A-0019-1289765E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A424DA-C5DC-42CA-22B2-94D3A7E4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80DA2B6-1568-15B2-F8B5-C624B0B5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 문에서 연산자</a:t>
            </a:r>
          </a:p>
        </p:txBody>
      </p:sp>
    </p:spTree>
    <p:extLst>
      <p:ext uri="{BB962C8B-B14F-4D97-AF65-F5344CB8AC3E}">
        <p14:creationId xmlns:p14="http://schemas.microsoft.com/office/powerpoint/2010/main" val="33923164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B6689DB-22E7-73DE-E013-B8DFF912E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>
                <a:latin typeface="+mn-ea"/>
              </a:rPr>
              <a:t>if</a:t>
            </a:r>
            <a:r>
              <a:rPr lang="ko-KR" altLang="en-US" sz="2800" dirty="0">
                <a:latin typeface="+mn-ea"/>
              </a:rPr>
              <a:t>문을 이용해서 </a:t>
            </a:r>
            <a:r>
              <a:rPr lang="en-US" altLang="ko-KR" sz="2800" dirty="0">
                <a:latin typeface="+mn-ea"/>
              </a:rPr>
              <a:t>console</a:t>
            </a:r>
            <a:r>
              <a:rPr lang="ko-KR" altLang="en-US" sz="2800" dirty="0">
                <a:latin typeface="+mn-ea"/>
              </a:rPr>
              <a:t>창에 연령대별 단어 출력해보기</a:t>
            </a:r>
            <a:r>
              <a:rPr lang="en-US" altLang="ko-KR" sz="2800" dirty="0">
                <a:latin typeface="+mn-ea"/>
              </a:rPr>
              <a:t>!</a:t>
            </a:r>
          </a:p>
          <a:p>
            <a:endParaRPr lang="ko-KR" altLang="en-US" sz="28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ea"/>
              </a:rPr>
              <a:t>age </a:t>
            </a:r>
            <a:r>
              <a:rPr lang="ko-KR" altLang="en-US" sz="2800" dirty="0">
                <a:latin typeface="+mn-ea"/>
              </a:rPr>
              <a:t>변수 선언</a:t>
            </a:r>
            <a:endParaRPr lang="en-US" altLang="ko-KR" sz="28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ea"/>
              </a:rPr>
              <a:t>age</a:t>
            </a:r>
            <a:r>
              <a:rPr lang="ko-KR" altLang="en-US" sz="2800" dirty="0">
                <a:latin typeface="+mn-ea"/>
              </a:rPr>
              <a:t>가 </a:t>
            </a:r>
            <a:r>
              <a:rPr lang="en-US" altLang="ko-KR" sz="2800" dirty="0">
                <a:latin typeface="+mn-ea"/>
              </a:rPr>
              <a:t>20 </a:t>
            </a:r>
            <a:r>
              <a:rPr lang="ko-KR" altLang="en-US" sz="2800" dirty="0">
                <a:latin typeface="+mn-ea"/>
              </a:rPr>
              <a:t>이상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>
                <a:latin typeface="+mn-ea"/>
              </a:rPr>
              <a:t>성인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ea"/>
              </a:rPr>
              <a:t>age</a:t>
            </a:r>
            <a:r>
              <a:rPr lang="ko-KR" altLang="en-US" sz="2800" dirty="0">
                <a:latin typeface="+mn-ea"/>
              </a:rPr>
              <a:t>가 </a:t>
            </a:r>
            <a:r>
              <a:rPr lang="en-US" altLang="ko-KR" sz="2800" dirty="0">
                <a:latin typeface="+mn-ea"/>
              </a:rPr>
              <a:t>17 </a:t>
            </a:r>
            <a:r>
              <a:rPr lang="ko-KR" altLang="en-US" sz="2800" dirty="0">
                <a:latin typeface="+mn-ea"/>
              </a:rPr>
              <a:t>이상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>
                <a:latin typeface="+mn-ea"/>
              </a:rPr>
              <a:t>고등학생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ea"/>
              </a:rPr>
              <a:t>age</a:t>
            </a:r>
            <a:r>
              <a:rPr lang="ko-KR" altLang="en-US" sz="2800" dirty="0">
                <a:latin typeface="+mn-ea"/>
              </a:rPr>
              <a:t>가 </a:t>
            </a:r>
            <a:r>
              <a:rPr lang="en-US" altLang="ko-KR" sz="2800" dirty="0">
                <a:latin typeface="+mn-ea"/>
              </a:rPr>
              <a:t>14 </a:t>
            </a:r>
            <a:r>
              <a:rPr lang="ko-KR" altLang="en-US" sz="2800" dirty="0">
                <a:latin typeface="+mn-ea"/>
              </a:rPr>
              <a:t>이상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>
                <a:latin typeface="+mn-ea"/>
              </a:rPr>
              <a:t>중학생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ea"/>
              </a:rPr>
              <a:t>age</a:t>
            </a:r>
            <a:r>
              <a:rPr lang="ko-KR" altLang="en-US" sz="2800" dirty="0">
                <a:latin typeface="+mn-ea"/>
              </a:rPr>
              <a:t>가 </a:t>
            </a:r>
            <a:r>
              <a:rPr lang="en-US" altLang="ko-KR" sz="2800" dirty="0">
                <a:latin typeface="+mn-ea"/>
              </a:rPr>
              <a:t>8 </a:t>
            </a:r>
            <a:r>
              <a:rPr lang="ko-KR" altLang="en-US" sz="2800" dirty="0">
                <a:latin typeface="+mn-ea"/>
              </a:rPr>
              <a:t>이상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>
                <a:latin typeface="+mn-ea"/>
              </a:rPr>
              <a:t>초등학생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+mn-ea"/>
              </a:rPr>
              <a:t>age</a:t>
            </a:r>
            <a:r>
              <a:rPr lang="ko-KR" altLang="en-US" sz="2800" dirty="0">
                <a:latin typeface="+mn-ea"/>
              </a:rPr>
              <a:t>가 </a:t>
            </a:r>
            <a:r>
              <a:rPr lang="en-US" altLang="ko-KR" sz="2800" dirty="0">
                <a:latin typeface="+mn-ea"/>
              </a:rPr>
              <a:t>0 </a:t>
            </a:r>
            <a:r>
              <a:rPr lang="ko-KR" altLang="en-US" sz="2800" dirty="0">
                <a:latin typeface="+mn-ea"/>
              </a:rPr>
              <a:t>이상</a:t>
            </a:r>
            <a:r>
              <a:rPr lang="en-US" altLang="ko-KR" sz="2800" dirty="0">
                <a:latin typeface="+mn-ea"/>
              </a:rPr>
              <a:t>: </a:t>
            </a:r>
            <a:r>
              <a:rPr lang="ko-KR" altLang="en-US" sz="2800" dirty="0">
                <a:latin typeface="+mn-ea"/>
              </a:rPr>
              <a:t>유아</a:t>
            </a:r>
            <a:endParaRPr lang="ko-KR" altLang="en-US" sz="2800" b="0" dirty="0">
              <a:effectLst/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A84848-616A-28DE-3CFD-54978D33E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E24E26-06F4-2B64-6712-2E4EA8CB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D513863-AF9E-607F-9E99-474A764F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en-US" altLang="ko-KR" dirty="0"/>
              <a:t>if </a:t>
            </a:r>
            <a:r>
              <a:rPr lang="ko-KR" altLang="en-US" dirty="0"/>
              <a:t>문 실습</a:t>
            </a:r>
          </a:p>
        </p:txBody>
      </p:sp>
    </p:spTree>
    <p:extLst>
      <p:ext uri="{BB962C8B-B14F-4D97-AF65-F5344CB8AC3E}">
        <p14:creationId xmlns:p14="http://schemas.microsoft.com/office/powerpoint/2010/main" val="29963965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AFCC2CB-5D69-B9D2-FB5C-3DF1627B5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</a:t>
            </a:r>
            <a:r>
              <a:rPr lang="ko-KR" altLang="en-US" dirty="0"/>
              <a:t>와 마찬가지로 </a:t>
            </a:r>
            <a:r>
              <a:rPr lang="ko-KR" altLang="en-US" dirty="0">
                <a:solidFill>
                  <a:schemeClr val="accent1"/>
                </a:solidFill>
              </a:rPr>
              <a:t>조건문</a:t>
            </a:r>
            <a:r>
              <a:rPr lang="ko-KR" altLang="en-US" dirty="0"/>
              <a:t>이지만 </a:t>
            </a:r>
            <a:r>
              <a:rPr lang="en-US" altLang="ko-KR" dirty="0"/>
              <a:t>switch</a:t>
            </a:r>
            <a:r>
              <a:rPr lang="ko-KR" altLang="en-US" dirty="0"/>
              <a:t>의 소괄호 안에는 </a:t>
            </a:r>
            <a:r>
              <a:rPr lang="en-US" altLang="ko-KR" dirty="0"/>
              <a:t>true, false</a:t>
            </a:r>
            <a:r>
              <a:rPr lang="ko-KR" altLang="en-US" dirty="0"/>
              <a:t>로 값이 나오는 조건이 아닌 변수 사용</a:t>
            </a:r>
            <a:endParaRPr lang="en-US" altLang="ko-KR" dirty="0"/>
          </a:p>
          <a:p>
            <a:r>
              <a:rPr lang="ko-KR" altLang="en-US" dirty="0"/>
              <a:t>변수와 </a:t>
            </a:r>
            <a:r>
              <a:rPr lang="en-US" altLang="ko-KR" dirty="0"/>
              <a:t>case</a:t>
            </a:r>
            <a:r>
              <a:rPr lang="ko-KR" altLang="en-US" dirty="0"/>
              <a:t>의 값이 일치한다면 실행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일 때</a:t>
            </a:r>
            <a:r>
              <a:rPr lang="en-US" altLang="ko-KR" dirty="0"/>
              <a:t>, a</a:t>
            </a:r>
            <a:r>
              <a:rPr lang="ko-KR" altLang="en-US" dirty="0"/>
              <a:t>가 </a:t>
            </a:r>
            <a:r>
              <a:rPr lang="en-US" altLang="ko-KR" dirty="0"/>
              <a:t>2</a:t>
            </a:r>
            <a:r>
              <a:rPr lang="ko-KR" altLang="en-US" dirty="0"/>
              <a:t>일 때 각각 실행되는</a:t>
            </a:r>
            <a:br>
              <a:rPr lang="en-US" altLang="ko-KR" dirty="0"/>
            </a:br>
            <a:r>
              <a:rPr lang="ko-KR" altLang="en-US" dirty="0"/>
              <a:t>문장</a:t>
            </a:r>
            <a:endParaRPr lang="en-US" altLang="ko-KR" dirty="0"/>
          </a:p>
          <a:p>
            <a:r>
              <a:rPr lang="en-US" altLang="ko-KR" dirty="0">
                <a:solidFill>
                  <a:schemeClr val="accent3"/>
                </a:solidFill>
              </a:rPr>
              <a:t>break</a:t>
            </a:r>
            <a:r>
              <a:rPr lang="ko-KR" altLang="en-US" dirty="0"/>
              <a:t>와 </a:t>
            </a:r>
            <a:r>
              <a:rPr lang="en-US" altLang="ko-KR" dirty="0">
                <a:solidFill>
                  <a:schemeClr val="accent3"/>
                </a:solidFill>
              </a:rPr>
              <a:t>default</a:t>
            </a:r>
            <a:r>
              <a:rPr lang="en-US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4503426-3F7E-8E44-760A-88C394FF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17513-442A-EB3F-7A11-526DF34A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96ADA82-6A6E-7BFA-DF4C-A1FBB26C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switch </a:t>
            </a:r>
            <a:r>
              <a:rPr lang="ko-KR" altLang="en-US" dirty="0"/>
              <a:t>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FDD425-D394-2438-B7FA-05E395C0F228}"/>
              </a:ext>
            </a:extLst>
          </p:cNvPr>
          <p:cNvSpPr/>
          <p:nvPr/>
        </p:nvSpPr>
        <p:spPr>
          <a:xfrm>
            <a:off x="6696848" y="2483644"/>
            <a:ext cx="4805749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switch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case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'a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입니다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.'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case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'a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는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2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입니다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.'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default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'a</a:t>
            </a:r>
            <a:r>
              <a:rPr lang="ko-KR" altLang="en-US" dirty="0">
                <a:solidFill>
                  <a:srgbClr val="CE9178"/>
                </a:solidFill>
                <a:latin typeface="Consolas" panose="020B0609020204030204" pitchFamily="49" charset="0"/>
              </a:rPr>
              <a:t>값을 모르겠어요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.'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88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1725740-85CC-6134-E5EC-A79AE168D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조건식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?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조건이 참인 경우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: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조건이 거짓인 경우</a:t>
            </a:r>
            <a:r>
              <a:rPr lang="en-US" altLang="ko-KR" dirty="0">
                <a:latin typeface="+mn-ea"/>
              </a:rPr>
              <a:t>;</a:t>
            </a:r>
          </a:p>
          <a:p>
            <a:r>
              <a:rPr lang="ko-KR" altLang="en-US" dirty="0">
                <a:latin typeface="+mn-ea"/>
              </a:rPr>
              <a:t>한 줄로 간단히 표현 가능</a:t>
            </a:r>
            <a:r>
              <a:rPr lang="en-US" altLang="ko-KR" dirty="0">
                <a:latin typeface="+mn-ea"/>
              </a:rPr>
              <a:t>!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1AF694-DB76-4B04-8035-83CE3B0EB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3EF6A-BA7C-702B-39DE-3CB6A5FF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4A68F2A-641E-E952-1743-2CD8EFD4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if </a:t>
            </a:r>
            <a:r>
              <a:rPr lang="ko-KR" altLang="en-US" dirty="0"/>
              <a:t>문을 간단하게 만드는 </a:t>
            </a:r>
            <a:r>
              <a:rPr lang="ko-KR" altLang="en-US" dirty="0" err="1"/>
              <a:t>삼항</a:t>
            </a:r>
            <a:r>
              <a:rPr lang="ko-KR" altLang="en-US" dirty="0"/>
              <a:t> 연산자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E12CB-60EE-20D6-7A0E-7A85FBF21554}"/>
              </a:ext>
            </a:extLst>
          </p:cNvPr>
          <p:cNvSpPr txBox="1"/>
          <p:nvPr/>
        </p:nvSpPr>
        <p:spPr>
          <a:xfrm>
            <a:off x="1176989" y="2775695"/>
            <a:ext cx="10509437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진형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if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</a:t>
            </a:r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진형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맞았어요😀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틀렸어요 😥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3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항 연산자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!=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“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진형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?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＂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맞았어요😀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: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틀렸어요😥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580564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19C46C-E019-6553-AAFB-9F856172E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0713"/>
            <a:ext cx="10515600" cy="4006250"/>
          </a:xfrm>
        </p:spPr>
        <p:txBody>
          <a:bodyPr>
            <a:normAutofit/>
          </a:bodyPr>
          <a:lstStyle/>
          <a:p>
            <a:r>
              <a:rPr lang="ko-KR" altLang="en-US" sz="1800" b="0" dirty="0">
                <a:solidFill>
                  <a:schemeClr val="tx2"/>
                </a:solidFill>
                <a:effectLst/>
                <a:latin typeface="+mn-ea"/>
              </a:rPr>
              <a:t>위의 코드는 현재 </a:t>
            </a:r>
            <a:r>
              <a:rPr lang="en-US" altLang="ko-KR" sz="1800" b="0" dirty="0">
                <a:solidFill>
                  <a:schemeClr val="tx2"/>
                </a:solidFill>
                <a:effectLst/>
                <a:latin typeface="+mn-ea"/>
              </a:rPr>
              <a:t>‘</a:t>
            </a:r>
            <a:r>
              <a:rPr lang="ko-KR" altLang="en-US" sz="1800" b="0" dirty="0">
                <a:solidFill>
                  <a:schemeClr val="tx2"/>
                </a:solidFill>
                <a:effectLst/>
                <a:latin typeface="+mn-ea"/>
              </a:rPr>
              <a:t>시간</a:t>
            </a:r>
            <a:r>
              <a:rPr lang="en-US" altLang="ko-KR" sz="1800" b="0" dirty="0">
                <a:solidFill>
                  <a:schemeClr val="tx2"/>
                </a:solidFill>
                <a:effectLst/>
                <a:latin typeface="+mn-ea"/>
              </a:rPr>
              <a:t>’</a:t>
            </a:r>
            <a:r>
              <a:rPr lang="ko-KR" altLang="en-US" sz="1800" b="0" dirty="0">
                <a:solidFill>
                  <a:schemeClr val="tx2"/>
                </a:solidFill>
                <a:effectLst/>
                <a:latin typeface="+mn-ea"/>
              </a:rPr>
              <a:t>만을 받아오는 코드입니다</a:t>
            </a:r>
            <a:r>
              <a:rPr lang="en-US" altLang="ko-KR" sz="1800" b="0" dirty="0">
                <a:solidFill>
                  <a:schemeClr val="tx2"/>
                </a:solidFill>
                <a:effectLst/>
                <a:latin typeface="+mn-ea"/>
              </a:rPr>
              <a:t>.</a:t>
            </a:r>
          </a:p>
          <a:p>
            <a:r>
              <a:rPr lang="en-US" altLang="ko-KR" sz="1800" dirty="0">
                <a:solidFill>
                  <a:schemeClr val="tx2"/>
                </a:solidFill>
                <a:latin typeface="+mn-ea"/>
              </a:rPr>
              <a:t>0~ 23</a:t>
            </a:r>
            <a:r>
              <a:rPr lang="ko-KR" altLang="en-US" sz="1800" dirty="0">
                <a:solidFill>
                  <a:schemeClr val="tx2"/>
                </a:solidFill>
                <a:latin typeface="+mn-ea"/>
              </a:rPr>
              <a:t>까지의 숫자를 반환하고 </a:t>
            </a:r>
            <a:r>
              <a:rPr lang="en-US" altLang="ko-KR" sz="1800" dirty="0">
                <a:solidFill>
                  <a:schemeClr val="tx2"/>
                </a:solidFill>
                <a:latin typeface="+mn-ea"/>
              </a:rPr>
              <a:t>0</a:t>
            </a:r>
            <a:r>
              <a:rPr lang="ko-KR" altLang="en-US" sz="1800" dirty="0">
                <a:solidFill>
                  <a:schemeClr val="tx2"/>
                </a:solidFill>
                <a:latin typeface="+mn-ea"/>
              </a:rPr>
              <a:t>이 자정</a:t>
            </a:r>
            <a:r>
              <a:rPr lang="en-US" altLang="ko-KR" sz="1800" dirty="0">
                <a:solidFill>
                  <a:schemeClr val="tx2"/>
                </a:solidFill>
                <a:latin typeface="+mn-ea"/>
              </a:rPr>
              <a:t>, 12</a:t>
            </a:r>
            <a:r>
              <a:rPr lang="ko-KR" altLang="en-US" sz="1800" dirty="0">
                <a:solidFill>
                  <a:schemeClr val="tx2"/>
                </a:solidFill>
                <a:latin typeface="+mn-ea"/>
              </a:rPr>
              <a:t>가 정오를 뜻합니다</a:t>
            </a:r>
            <a:r>
              <a:rPr lang="en-US" altLang="ko-KR" sz="18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800" dirty="0">
                <a:solidFill>
                  <a:schemeClr val="tx2"/>
                </a:solidFill>
                <a:latin typeface="+mn-ea"/>
              </a:rPr>
              <a:t>now</a:t>
            </a:r>
            <a:r>
              <a:rPr lang="ko-KR" altLang="en-US" sz="1800" dirty="0">
                <a:solidFill>
                  <a:schemeClr val="tx2"/>
                </a:solidFill>
                <a:latin typeface="+mn-ea"/>
              </a:rPr>
              <a:t>라는 변수에는 현재 시간에 대한 숫자가 저장이 되어있겠죠</a:t>
            </a:r>
            <a:r>
              <a:rPr lang="en-US" altLang="ko-KR" sz="1800" dirty="0">
                <a:solidFill>
                  <a:schemeClr val="tx2"/>
                </a:solidFill>
                <a:latin typeface="+mn-ea"/>
              </a:rPr>
              <a:t>?</a:t>
            </a:r>
          </a:p>
          <a:p>
            <a:endParaRPr lang="en-US" altLang="ko-KR" sz="26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600" dirty="0" err="1">
                <a:latin typeface="+mn-ea"/>
              </a:rPr>
              <a:t>삼항연산자로</a:t>
            </a:r>
            <a:r>
              <a:rPr lang="ko-KR" altLang="en-US" sz="2600" dirty="0">
                <a:latin typeface="+mn-ea"/>
              </a:rPr>
              <a:t> 지금 시각이 오전인지 오후인지 콘솔창에 출력해보세요</a:t>
            </a:r>
            <a:r>
              <a:rPr lang="en-US" altLang="ko-KR" sz="2600" dirty="0">
                <a:latin typeface="+mn-ea"/>
              </a:rPr>
              <a:t>!</a:t>
            </a:r>
            <a:endParaRPr lang="ko-KR" altLang="en-US" sz="2600" b="0" dirty="0">
              <a:effectLst/>
              <a:latin typeface="+mn-ea"/>
            </a:endParaRPr>
          </a:p>
          <a:p>
            <a:endParaRPr lang="ko-KR" altLang="en-US" sz="2600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507751-F511-25F4-420E-38B4175F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A68424-8F46-A196-19E1-CAC0F661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DBEBE29-1164-B928-707A-E2C0DD058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/>
              <a:t>지금은 오전</a:t>
            </a:r>
            <a:r>
              <a:rPr lang="en-US" altLang="ko-KR" dirty="0"/>
              <a:t>? </a:t>
            </a:r>
            <a:r>
              <a:rPr lang="ko-KR" altLang="en-US" dirty="0"/>
              <a:t>오후</a:t>
            </a:r>
            <a:r>
              <a:rPr lang="en-US" altLang="ko-KR" dirty="0"/>
              <a:t>!?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11DB3E-6E28-CC5E-BCB0-85C878642AC5}"/>
              </a:ext>
            </a:extLst>
          </p:cNvPr>
          <p:cNvSpPr/>
          <p:nvPr/>
        </p:nvSpPr>
        <p:spPr>
          <a:xfrm>
            <a:off x="838200" y="1683297"/>
            <a:ext cx="4237057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</a:rPr>
              <a:t>now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new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4EC9B0"/>
                </a:solidFill>
                <a:latin typeface="Consolas" panose="020B0609020204030204" pitchFamily="49" charset="0"/>
              </a:rPr>
              <a:t>Date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().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</a:rPr>
              <a:t>getHours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12598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79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0" dirty="0" err="1"/>
              <a:t>반복문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301964472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2EB20D-A898-691B-CCC2-65F22D88B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특정 코드를 반복</a:t>
            </a:r>
            <a:r>
              <a:rPr lang="ko-KR" altLang="en-US" dirty="0"/>
              <a:t>하고 싶을 때 사용합니다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100</a:t>
            </a:r>
            <a:r>
              <a:rPr lang="ko-KR" altLang="en-US" dirty="0"/>
              <a:t>번을 같은 동작을 반복하는데</a:t>
            </a:r>
            <a:r>
              <a:rPr lang="en-US" altLang="ko-KR" dirty="0"/>
              <a:t>, 100</a:t>
            </a:r>
            <a:r>
              <a:rPr lang="ko-KR" altLang="en-US" dirty="0"/>
              <a:t>줄을 쓰면 너무나 비효율적이니까요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for</a:t>
            </a:r>
            <a:r>
              <a:rPr lang="ko-KR" altLang="en-US" dirty="0"/>
              <a:t>문</a:t>
            </a:r>
            <a:endParaRPr lang="en-US" altLang="ko-KR" dirty="0"/>
          </a:p>
          <a:p>
            <a:r>
              <a:rPr lang="en-US" altLang="ko-KR" dirty="0"/>
              <a:t>while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en-US" altLang="ko-KR" dirty="0"/>
              <a:t>do ~ while …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4EE84-DC1F-73F1-CC52-EF8268C7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D150C8-50D7-E97F-C991-D043498B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359CE67-EDB1-39A0-3060-B358E2FE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반복문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893291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or문 흐름">
            <a:extLst>
              <a:ext uri="{FF2B5EF4-FFF2-40B4-BE49-F238E27FC236}">
                <a16:creationId xmlns:a16="http://schemas.microsoft.com/office/drawing/2014/main" id="{74848961-E8D6-0725-9D7F-A6DE41A89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860" y="1136978"/>
            <a:ext cx="6628279" cy="458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53864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F9660209-323F-7181-899C-4178F9D85857}"/>
              </a:ext>
            </a:extLst>
          </p:cNvPr>
          <p:cNvGrpSpPr/>
          <p:nvPr/>
        </p:nvGrpSpPr>
        <p:grpSpPr>
          <a:xfrm>
            <a:off x="4376927" y="757626"/>
            <a:ext cx="3672605" cy="5018162"/>
            <a:chOff x="4649337" y="792795"/>
            <a:chExt cx="3672605" cy="5018162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D0302F6-6D71-B532-43DB-AAACFC6B348E}"/>
                </a:ext>
              </a:extLst>
            </p:cNvPr>
            <p:cNvSpPr/>
            <p:nvPr/>
          </p:nvSpPr>
          <p:spPr>
            <a:xfrm>
              <a:off x="4649337" y="792795"/>
              <a:ext cx="2893325" cy="6005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/>
                <a:t>초기값</a:t>
              </a:r>
            </a:p>
          </p:txBody>
        </p:sp>
        <p:sp>
          <p:nvSpPr>
            <p:cNvPr id="17" name="순서도: 판단 16">
              <a:extLst>
                <a:ext uri="{FF2B5EF4-FFF2-40B4-BE49-F238E27FC236}">
                  <a16:creationId xmlns:a16="http://schemas.microsoft.com/office/drawing/2014/main" id="{B947C037-210C-3F2D-E8BF-A4AC3E7BF963}"/>
                </a:ext>
              </a:extLst>
            </p:cNvPr>
            <p:cNvSpPr/>
            <p:nvPr/>
          </p:nvSpPr>
          <p:spPr>
            <a:xfrm>
              <a:off x="4649337" y="1778506"/>
              <a:ext cx="2893325" cy="1009934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 err="1"/>
                <a:t>조건문</a:t>
              </a:r>
              <a:endParaRPr lang="ko-KR" altLang="en-US" sz="2800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72E11ED-E89D-70CE-C23D-DF103FBCCFD0}"/>
                </a:ext>
              </a:extLst>
            </p:cNvPr>
            <p:cNvSpPr/>
            <p:nvPr/>
          </p:nvSpPr>
          <p:spPr>
            <a:xfrm>
              <a:off x="4649337" y="3173649"/>
              <a:ext cx="2893325" cy="6005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/>
                <a:t>명령문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9E918E2-6FC4-1FF1-3B30-39C3DCC7491E}"/>
                </a:ext>
              </a:extLst>
            </p:cNvPr>
            <p:cNvSpPr/>
            <p:nvPr/>
          </p:nvSpPr>
          <p:spPr>
            <a:xfrm>
              <a:off x="4649337" y="4247508"/>
              <a:ext cx="2893325" cy="6005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 err="1"/>
                <a:t>증감문</a:t>
              </a:r>
              <a:endParaRPr lang="ko-KR" altLang="en-US" sz="2800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1B46E0B-BDDA-8E73-143E-1724AD5311AF}"/>
                </a:ext>
              </a:extLst>
            </p:cNvPr>
            <p:cNvSpPr/>
            <p:nvPr/>
          </p:nvSpPr>
          <p:spPr>
            <a:xfrm>
              <a:off x="4649337" y="5210455"/>
              <a:ext cx="2893325" cy="6005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/>
                <a:t>종료</a:t>
              </a: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437E8D75-745B-7AEB-7374-D5BE64800909}"/>
                </a:ext>
              </a:extLst>
            </p:cNvPr>
            <p:cNvCxnSpPr>
              <a:stCxn id="17" idx="2"/>
              <a:endCxn id="18" idx="0"/>
            </p:cNvCxnSpPr>
            <p:nvPr/>
          </p:nvCxnSpPr>
          <p:spPr>
            <a:xfrm>
              <a:off x="6096000" y="2788440"/>
              <a:ext cx="0" cy="38520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E096B3F7-46DD-AD51-94A4-85C3E77719D3}"/>
                </a:ext>
              </a:extLst>
            </p:cNvPr>
            <p:cNvCxnSpPr>
              <a:cxnSpLocks/>
              <a:stCxn id="18" idx="2"/>
              <a:endCxn id="19" idx="0"/>
            </p:cNvCxnSpPr>
            <p:nvPr/>
          </p:nvCxnSpPr>
          <p:spPr>
            <a:xfrm>
              <a:off x="6096000" y="3774151"/>
              <a:ext cx="0" cy="47335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8581B570-DCE4-6031-529F-AA006F97C0A4}"/>
                </a:ext>
              </a:extLst>
            </p:cNvPr>
            <p:cNvCxnSpPr>
              <a:cxnSpLocks/>
              <a:stCxn id="19" idx="2"/>
              <a:endCxn id="20" idx="0"/>
            </p:cNvCxnSpPr>
            <p:nvPr/>
          </p:nvCxnSpPr>
          <p:spPr>
            <a:xfrm>
              <a:off x="6096000" y="4848010"/>
              <a:ext cx="0" cy="36244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34B9C051-C4BA-0D25-5A49-1472A60A65AE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>
              <a:off x="6096000" y="1393297"/>
              <a:ext cx="0" cy="38520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화살표 연결선 21">
              <a:extLst>
                <a:ext uri="{FF2B5EF4-FFF2-40B4-BE49-F238E27FC236}">
                  <a16:creationId xmlns:a16="http://schemas.microsoft.com/office/drawing/2014/main" id="{A28C63EE-B0D9-C529-BE9E-7330469DC2E1}"/>
                </a:ext>
              </a:extLst>
            </p:cNvPr>
            <p:cNvCxnSpPr>
              <a:cxnSpLocks/>
              <a:stCxn id="19" idx="1"/>
              <a:endCxn id="17" idx="1"/>
            </p:cNvCxnSpPr>
            <p:nvPr/>
          </p:nvCxnSpPr>
          <p:spPr>
            <a:xfrm rot="10800000">
              <a:off x="4649337" y="2283473"/>
              <a:ext cx="12700" cy="2264286"/>
            </a:xfrm>
            <a:prstGeom prst="bentConnector3">
              <a:avLst>
                <a:gd name="adj1" fmla="val 5991047"/>
              </a:avLst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화살표 연결선 21">
              <a:extLst>
                <a:ext uri="{FF2B5EF4-FFF2-40B4-BE49-F238E27FC236}">
                  <a16:creationId xmlns:a16="http://schemas.microsoft.com/office/drawing/2014/main" id="{F6D6675D-DD75-E40E-70CD-08BEB6FBFC3E}"/>
                </a:ext>
              </a:extLst>
            </p:cNvPr>
            <p:cNvCxnSpPr>
              <a:cxnSpLocks/>
              <a:stCxn id="17" idx="3"/>
              <a:endCxn id="20" idx="3"/>
            </p:cNvCxnSpPr>
            <p:nvPr/>
          </p:nvCxnSpPr>
          <p:spPr>
            <a:xfrm>
              <a:off x="7542662" y="2283473"/>
              <a:ext cx="12700" cy="3227233"/>
            </a:xfrm>
            <a:prstGeom prst="bentConnector3">
              <a:avLst>
                <a:gd name="adj1" fmla="val 7280598"/>
              </a:avLst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EB77B53-02D4-8AA9-D283-23CB8F6ED60C}"/>
                </a:ext>
              </a:extLst>
            </p:cNvPr>
            <p:cNvSpPr txBox="1"/>
            <p:nvPr/>
          </p:nvSpPr>
          <p:spPr>
            <a:xfrm>
              <a:off x="6203296" y="2750775"/>
              <a:ext cx="4106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00"/>
                  </a:solidFill>
                </a:rPr>
                <a:t>참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D893E2B-276A-0D9A-5005-42E3C3BDBD50}"/>
                </a:ext>
              </a:extLst>
            </p:cNvPr>
            <p:cNvSpPr txBox="1"/>
            <p:nvPr/>
          </p:nvSpPr>
          <p:spPr>
            <a:xfrm>
              <a:off x="7690038" y="1822861"/>
              <a:ext cx="6319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rgbClr val="FF0000"/>
                  </a:solidFill>
                </a:rPr>
                <a:t>거짓</a:t>
              </a:r>
              <a:endParaRPr lang="ko-KR" altLang="en-US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676962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9EC2D96-8771-DAB7-6DC1-7C37046A1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D82798-5374-50D8-0166-8D059E7C9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7CAF76-C20F-DC20-2DEC-F64D737E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1A9DE3C-C243-E510-4B39-997AA6E52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607EC3-DC89-FDF2-4CAB-F9F0FF57D02C}"/>
              </a:ext>
            </a:extLst>
          </p:cNvPr>
          <p:cNvSpPr txBox="1"/>
          <p:nvPr/>
        </p:nvSpPr>
        <p:spPr>
          <a:xfrm>
            <a:off x="838200" y="3274513"/>
            <a:ext cx="6623237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for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인사를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dirty="0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34" charset="-127"/>
              </a:rPr>
              <a:t>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번째 드립니다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😆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AE017E8-BF34-F8D5-0B4B-7BAEEEC6B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910" y="3266764"/>
            <a:ext cx="2786204" cy="2799286"/>
          </a:xfrm>
          <a:prstGeom prst="rect">
            <a:avLst/>
          </a:prstGeom>
        </p:spPr>
      </p:pic>
      <p:pic>
        <p:nvPicPr>
          <p:cNvPr id="9" name="Picture 2" descr="for문 흐름">
            <a:extLst>
              <a:ext uri="{FF2B5EF4-FFF2-40B4-BE49-F238E27FC236}">
                <a16:creationId xmlns:a16="http://schemas.microsoft.com/office/drawing/2014/main" id="{AB376F7E-41B8-B903-0B54-C0A700B36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884" y="398349"/>
            <a:ext cx="3857641" cy="266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18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2E146D9-C95B-B1E5-752A-848BA2451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348"/>
            <a:ext cx="10515600" cy="4351338"/>
          </a:xfrm>
        </p:spPr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if </a:t>
            </a:r>
            <a:r>
              <a:rPr lang="ko-KR" altLang="en-US" dirty="0"/>
              <a:t>문이 가능하듯 </a:t>
            </a:r>
            <a:r>
              <a:rPr lang="en-US" altLang="ko-KR" dirty="0"/>
              <a:t>for</a:t>
            </a:r>
            <a:r>
              <a:rPr lang="ko-KR" altLang="en-US" dirty="0"/>
              <a:t>문도 중첩이 가능하다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6B7242-71AF-15C0-83CC-25E3DAD94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CAE97-B21E-53F9-4106-24D2D23BA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64A0EF3-D247-E6B8-BF5A-FA3AC3E80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415BAA0-792F-CE82-286A-DDD886D0F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120" y="2871879"/>
            <a:ext cx="4773759" cy="228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427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95C3F1B-A936-8299-F4DC-DF35845FB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65937"/>
            <a:ext cx="10515600" cy="3211025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for </a:t>
            </a:r>
            <a:r>
              <a:rPr lang="ko-KR" altLang="en-US" dirty="0">
                <a:latin typeface="+mn-ea"/>
              </a:rPr>
              <a:t>문과는 달리 값을 제어하는 구문이 기본적으로 포함이 되어 있지 않기 때문에 무한 루프 가능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조건이 항상 참이라면</a:t>
            </a:r>
            <a:r>
              <a:rPr lang="en-US" altLang="ko-KR" dirty="0">
                <a:latin typeface="+mn-ea"/>
              </a:rPr>
              <a:t>? while</a:t>
            </a:r>
            <a:r>
              <a:rPr lang="ko-KR" altLang="en-US" dirty="0">
                <a:latin typeface="+mn-ea"/>
              </a:rPr>
              <a:t>문을 빠져나가지 못하고 끝없이 반복하겠지요</a:t>
            </a:r>
            <a:r>
              <a:rPr lang="en-US" altLang="ko-KR" dirty="0">
                <a:latin typeface="+mn-ea"/>
              </a:rPr>
              <a:t>?</a:t>
            </a:r>
          </a:p>
          <a:p>
            <a:r>
              <a:rPr lang="ko-KR" altLang="en-US" dirty="0">
                <a:latin typeface="+mn-ea"/>
              </a:rPr>
              <a:t>따라서 주의하여 사용 필요합니다</a:t>
            </a:r>
            <a:r>
              <a:rPr lang="en-US" altLang="ko-KR" dirty="0">
                <a:latin typeface="+mn-ea"/>
              </a:rPr>
              <a:t>!</a:t>
            </a:r>
            <a:br>
              <a:rPr lang="en-US" altLang="ko-KR" dirty="0">
                <a:latin typeface="+mn-ea"/>
              </a:rPr>
            </a:br>
            <a:endParaRPr lang="en-US" altLang="ko-KR" dirty="0"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58CB3C-43DD-1458-C094-56ABBC4D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7905F9-7A94-17BA-7F27-0B8F6153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7211F31-F22A-206A-645D-727DA0FF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 </a:t>
            </a:r>
            <a:r>
              <a:rPr lang="ko-KR" altLang="en-US" dirty="0"/>
              <a:t>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EF6DBA-0BA5-E981-64BD-0A3925308157}"/>
              </a:ext>
            </a:extLst>
          </p:cNvPr>
          <p:cNvSpPr/>
          <p:nvPr/>
        </p:nvSpPr>
        <p:spPr>
          <a:xfrm>
            <a:off x="838200" y="1614232"/>
            <a:ext cx="6096000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sz="2400" dirty="0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2400" dirty="0">
                <a:solidFill>
                  <a:srgbClr val="9CDCFE"/>
                </a:solidFill>
                <a:latin typeface="Consolas" panose="020B0609020204030204" pitchFamily="49" charset="0"/>
              </a:rPr>
              <a:t>조건</a:t>
            </a:r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24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2400" dirty="0">
                <a:solidFill>
                  <a:srgbClr val="6A9955"/>
                </a:solidFill>
                <a:latin typeface="Consolas" panose="020B0609020204030204" pitchFamily="49" charset="0"/>
              </a:rPr>
              <a:t>조건이 참일 때 실행할 코드</a:t>
            </a:r>
            <a:endParaRPr lang="ko-KR" altLang="en-US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2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US" altLang="ko-K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005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DDE6412-FF2F-E1DD-CA66-B6D0F6C5F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187" y="387767"/>
            <a:ext cx="2771937" cy="4748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EDA4F6-0A28-9D38-29A7-17C14D53B100}"/>
              </a:ext>
            </a:extLst>
          </p:cNvPr>
          <p:cNvSpPr txBox="1"/>
          <p:nvPr/>
        </p:nvSpPr>
        <p:spPr>
          <a:xfrm>
            <a:off x="561974" y="387767"/>
            <a:ext cx="7191375" cy="56323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while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br>
              <a:rPr lang="ko-KR" alt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1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 타입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조건문을 사용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인사를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+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번째 드립니다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😆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2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 타입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조건문을 사용하지 않고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문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 break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사용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true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절을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+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번째 드립니다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😆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index2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break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548855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E2AF67-D7E2-E448-913D-2A13A83752B8}"/>
              </a:ext>
            </a:extLst>
          </p:cNvPr>
          <p:cNvSpPr txBox="1"/>
          <p:nvPr/>
        </p:nvSpPr>
        <p:spPr>
          <a:xfrm>
            <a:off x="2710734" y="1693856"/>
            <a:ext cx="6096000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endParaRPr lang="en-US" altLang="ko-KR" b="0" dirty="0">
              <a:solidFill>
                <a:srgbClr val="6A9955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구구단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버전</a:t>
            </a:r>
            <a:endParaRPr lang="ko-KR" altLang="en-US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while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&lt;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"x"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"="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*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j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1112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772AE6-8505-00CF-A012-4B53C0E4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F5B2B-20EE-0229-69BE-E1460B9B9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7317199-4298-2814-22BB-832AD03AB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break</a:t>
            </a:r>
            <a:r>
              <a:rPr lang="ko-KR" altLang="en-US" sz="8000" dirty="0"/>
              <a:t> </a:t>
            </a:r>
            <a:r>
              <a:rPr lang="en-US" altLang="ko-KR" sz="8000" dirty="0"/>
              <a:t>&amp;</a:t>
            </a:r>
            <a:r>
              <a:rPr lang="ko-KR" altLang="en-US" sz="8000" dirty="0"/>
              <a:t> </a:t>
            </a:r>
            <a:r>
              <a:rPr lang="en-US" altLang="ko-KR" sz="8000" dirty="0"/>
              <a:t>continue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400516237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3BC4852-5274-5C13-DB4E-9F18E95E8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반복문을 멈추고 빠져나감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3D4BA5-10D1-51C6-BB4E-2943FC98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99279A-9681-08F8-FC61-918F0FE5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2B9ED4A9-E865-7A54-5B51-664110DA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break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287F3-6EF3-158F-BB22-DD28618A3D12}"/>
              </a:ext>
            </a:extLst>
          </p:cNvPr>
          <p:cNvSpPr txBox="1"/>
          <p:nvPr/>
        </p:nvSpPr>
        <p:spPr>
          <a:xfrm>
            <a:off x="1162653" y="2614436"/>
            <a:ext cx="6096000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break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==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멈춰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!"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break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}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DC0984-9B65-A7A1-5028-17AADA989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583" y="1905140"/>
            <a:ext cx="1107465" cy="400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8136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EF26CA-5F83-A6D7-AA86-FEE70D397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반복문을 이번 반복 </a:t>
            </a:r>
            <a:r>
              <a:rPr lang="ko-KR" altLang="en-US" dirty="0" err="1"/>
              <a:t>회차를</a:t>
            </a:r>
            <a:r>
              <a:rPr lang="ko-KR" altLang="en-US" dirty="0"/>
              <a:t> </a:t>
            </a:r>
            <a:r>
              <a:rPr lang="ko-KR" altLang="en-US" dirty="0" err="1"/>
              <a:t>스킵하고</a:t>
            </a:r>
            <a:r>
              <a:rPr lang="ko-KR" altLang="en-US" dirty="0"/>
              <a:t> 다음 반복 </a:t>
            </a:r>
            <a:r>
              <a:rPr lang="ko-KR" altLang="en-US" dirty="0" err="1"/>
              <a:t>회차로</a:t>
            </a:r>
            <a:r>
              <a:rPr lang="ko-KR" altLang="en-US" dirty="0"/>
              <a:t> 진행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CB3291-7F70-190E-870D-60B4819C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6A841-CD08-A7EB-DAB7-BCA24C4E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F7752CA-1238-CBBC-AD68-3812D1A9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674A23-F739-BFE2-6C20-EDA8347B3924}"/>
              </a:ext>
            </a:extLst>
          </p:cNvPr>
          <p:cNvSpPr txBox="1"/>
          <p:nvPr/>
        </p:nvSpPr>
        <p:spPr>
          <a:xfrm>
            <a:off x="1186099" y="2452802"/>
            <a:ext cx="6096000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nn-NO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// continue</a:t>
            </a:r>
            <a:endParaRPr lang="nn-NO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34" charset="-127"/>
            </a:endParaRPr>
          </a:p>
          <a:p>
            <a:r>
              <a:rPr lang="nn-NO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sum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nn-NO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b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nn-NO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for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nn-NO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let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 </a:t>
            </a:r>
            <a:r>
              <a:rPr lang="nn-NO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&lt; </a:t>
            </a:r>
            <a:r>
              <a:rPr lang="nn-NO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100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 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++) {</a:t>
            </a:r>
          </a:p>
          <a:p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nn-NO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if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%</a:t>
            </a:r>
            <a:r>
              <a:rPr lang="nn-NO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2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== </a:t>
            </a:r>
            <a:r>
              <a:rPr lang="nn-NO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0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 {</a:t>
            </a:r>
          </a:p>
          <a:p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    </a:t>
            </a:r>
            <a:r>
              <a:rPr lang="nn-NO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continue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}</a:t>
            </a:r>
          </a:p>
          <a:p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    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sum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 += 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i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;</a:t>
            </a:r>
          </a:p>
          <a:p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}</a:t>
            </a:r>
          </a:p>
          <a:p>
            <a:b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</a:b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console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.</a:t>
            </a:r>
            <a:r>
              <a:rPr lang="nn-NO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log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(</a:t>
            </a:r>
            <a:r>
              <a:rPr lang="nn-NO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sum</a:t>
            </a:r>
            <a:r>
              <a:rPr lang="nn-NO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34" charset="-127"/>
              </a:rPr>
              <a:t>);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95F052-8360-B821-20BB-F7EA41D2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522" y="2452802"/>
            <a:ext cx="1389996" cy="74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0741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F26C72-9B21-C720-7E83-683D63281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0 ~ 100</a:t>
            </a:r>
            <a:r>
              <a:rPr lang="ko-KR" altLang="en-US" dirty="0">
                <a:latin typeface="+mn-ea"/>
              </a:rPr>
              <a:t>의 숫자 중에서 </a:t>
            </a:r>
            <a:r>
              <a:rPr lang="en-US" altLang="ko-KR" dirty="0">
                <a:latin typeface="+mn-ea"/>
              </a:rPr>
              <a:t>2 </a:t>
            </a:r>
            <a:r>
              <a:rPr lang="ko-KR" altLang="en-US" dirty="0">
                <a:latin typeface="+mn-ea"/>
              </a:rPr>
              <a:t>또는 </a:t>
            </a:r>
            <a:r>
              <a:rPr lang="en-US" altLang="ko-KR" dirty="0">
                <a:latin typeface="+mn-ea"/>
              </a:rPr>
              <a:t>5</a:t>
            </a:r>
            <a:r>
              <a:rPr lang="ko-KR" altLang="en-US" dirty="0">
                <a:latin typeface="+mn-ea"/>
              </a:rPr>
              <a:t>의 배수 총합 구하기</a:t>
            </a:r>
            <a:r>
              <a:rPr lang="en-US" altLang="ko-KR" dirty="0">
                <a:latin typeface="+mn-ea"/>
              </a:rPr>
              <a:t>!</a:t>
            </a:r>
          </a:p>
          <a:p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힌트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나머지 연산자 </a:t>
            </a:r>
            <a:r>
              <a:rPr lang="en-US" altLang="ko-KR" dirty="0">
                <a:latin typeface="+mn-ea"/>
              </a:rPr>
              <a:t>% </a:t>
            </a:r>
            <a:r>
              <a:rPr lang="ko-KR" altLang="en-US" dirty="0">
                <a:latin typeface="+mn-ea"/>
              </a:rPr>
              <a:t>를 사용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5 % 3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2 (5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를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3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으로 나눈 나머지인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2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의 값을 반환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)</a:t>
            </a:r>
            <a:endParaRPr lang="en-US" altLang="ko-KR" dirty="0"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2024-04-29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/>
              <a:t>합계 구하기</a:t>
            </a:r>
          </a:p>
        </p:txBody>
      </p:sp>
    </p:spTree>
    <p:extLst>
      <p:ext uri="{BB962C8B-B14F-4D97-AF65-F5344CB8AC3E}">
        <p14:creationId xmlns:p14="http://schemas.microsoft.com/office/powerpoint/2010/main" val="97422382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1C54FCA-AA73-40F5-4B3E-206B3C5BC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10000 </a:t>
            </a:r>
            <a:r>
              <a:rPr lang="ko-KR" altLang="en-US" dirty="0">
                <a:latin typeface="+mn-ea"/>
              </a:rPr>
              <a:t>까지의 숫자 중에서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13</a:t>
            </a:r>
            <a:r>
              <a:rPr lang="ko-KR" altLang="en-US" dirty="0">
                <a:solidFill>
                  <a:schemeClr val="accent1"/>
                </a:solidFill>
                <a:latin typeface="+mn-ea"/>
              </a:rPr>
              <a:t>의 배수면서 홀수인 숫자</a:t>
            </a:r>
            <a:r>
              <a:rPr lang="ko-KR" altLang="en-US" dirty="0">
                <a:latin typeface="+mn-ea"/>
              </a:rPr>
              <a:t>를 찾아 봅시다</a:t>
            </a:r>
            <a:r>
              <a:rPr lang="en-US" altLang="ko-KR" dirty="0">
                <a:latin typeface="+mn-ea"/>
              </a:rPr>
              <a:t>!</a:t>
            </a: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심화</a:t>
            </a:r>
            <a:r>
              <a:rPr lang="en-US" altLang="ko-KR" dirty="0">
                <a:latin typeface="+mn-ea"/>
              </a:rPr>
              <a:t>) prompt() </a:t>
            </a:r>
            <a:r>
              <a:rPr lang="ko-KR" altLang="en-US" dirty="0">
                <a:latin typeface="+mn-ea"/>
              </a:rPr>
              <a:t>를 이용해서 </a:t>
            </a:r>
            <a:r>
              <a:rPr lang="ko-KR" altLang="en-US" dirty="0" err="1">
                <a:latin typeface="+mn-ea"/>
              </a:rPr>
              <a:t>입력받은</a:t>
            </a:r>
            <a:r>
              <a:rPr lang="ko-KR" altLang="en-US" dirty="0">
                <a:latin typeface="+mn-ea"/>
              </a:rPr>
              <a:t> 수까지 </a:t>
            </a:r>
            <a:r>
              <a:rPr lang="en-US" altLang="ko-KR" dirty="0">
                <a:latin typeface="+mn-ea"/>
              </a:rPr>
              <a:t>13</a:t>
            </a:r>
            <a:r>
              <a:rPr lang="ko-KR" altLang="en-US" dirty="0">
                <a:latin typeface="+mn-ea"/>
              </a:rPr>
              <a:t>의 배수면서 홀수인 숫자를 찾는 프로그램을 만들어 봅시다</a:t>
            </a:r>
            <a:r>
              <a:rPr lang="en-US" altLang="ko-KR" dirty="0">
                <a:latin typeface="+mn-ea"/>
              </a:rPr>
              <a:t>!</a:t>
            </a:r>
          </a:p>
          <a:p>
            <a:endParaRPr lang="en-US" altLang="ko-KR" dirty="0"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D55E0F-487B-4463-126B-E1D7CCB98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991CB5-972D-2F79-AAA6-B2F6CB98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5E37073-786C-FCFE-B489-461AA3092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en-US" altLang="ko-KR" dirty="0"/>
              <a:t>13</a:t>
            </a:r>
            <a:r>
              <a:rPr lang="ko-KR" altLang="en-US" dirty="0"/>
              <a:t>의 배수이자 홀수를 찾아보자</a:t>
            </a:r>
          </a:p>
        </p:txBody>
      </p:sp>
    </p:spTree>
    <p:extLst>
      <p:ext uri="{BB962C8B-B14F-4D97-AF65-F5344CB8AC3E}">
        <p14:creationId xmlns:p14="http://schemas.microsoft.com/office/powerpoint/2010/main" val="157862421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DA6579E-77D9-FEBC-ECC8-826C17452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r>
              <a:rPr lang="ko-KR" altLang="en-US" dirty="0"/>
              <a:t>콘솔 창에 다음과 같이 출력할 수 있도록 만들어보기 </a:t>
            </a:r>
            <a:r>
              <a:rPr lang="en-US" altLang="ko-KR" dirty="0"/>
              <a:t>(2</a:t>
            </a:r>
            <a:r>
              <a:rPr lang="ko-KR" altLang="en-US" dirty="0"/>
              <a:t>단 </a:t>
            </a:r>
            <a:r>
              <a:rPr lang="en-US" altLang="ko-KR" dirty="0"/>
              <a:t>~ 9</a:t>
            </a:r>
            <a:r>
              <a:rPr lang="ko-KR" altLang="en-US" dirty="0"/>
              <a:t>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C156C7-B7D5-0400-4B32-B1245EA9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52CC2-EF92-DE03-579E-531952D7F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98ED348-3DCC-6572-AE99-BE64F8B4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/>
              <a:t>구구단 만들기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D8D93C-FD34-D6DD-1D59-55905F749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63" y="1950677"/>
            <a:ext cx="2568374" cy="39858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4298167-89AF-E96F-795D-DEE13B4C5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100" y="1950677"/>
            <a:ext cx="2608811" cy="40175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C9DD19D-AD96-A358-9026-90558E3CA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75" y="1950678"/>
            <a:ext cx="2727952" cy="283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815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1FD68F-2C9B-F2A4-F176-0ED9BE9E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D798E8-BFC3-144C-B577-FCD5C47D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DAB0F99-6C9E-A4FA-C138-949FFA6C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0" dirty="0"/>
              <a:t>문자열 관련</a:t>
            </a:r>
            <a:br>
              <a:rPr lang="en-US" altLang="ko-KR" sz="8000" dirty="0"/>
            </a:br>
            <a:r>
              <a:rPr lang="ko-KR" altLang="en-US" sz="8000" dirty="0"/>
              <a:t>내장 메소드</a:t>
            </a:r>
          </a:p>
        </p:txBody>
      </p:sp>
    </p:spTree>
    <p:extLst>
      <p:ext uri="{BB962C8B-B14F-4D97-AF65-F5344CB8AC3E}">
        <p14:creationId xmlns:p14="http://schemas.microsoft.com/office/powerpoint/2010/main" val="124079500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755071" y="1770339"/>
            <a:ext cx="10515600" cy="4298866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length</a:t>
            </a:r>
            <a:r>
              <a:rPr lang="en-US" altLang="ko-KR" sz="2400" dirty="0">
                <a:latin typeface="+mn-ea"/>
                <a:ea typeface="+mn-ea"/>
              </a:rPr>
              <a:t> : </a:t>
            </a:r>
            <a:r>
              <a:rPr lang="ko-KR" altLang="en-US" sz="2400" dirty="0">
                <a:latin typeface="+mn-ea"/>
                <a:ea typeface="+mn-ea"/>
              </a:rPr>
              <a:t>문자열의 길이를 반환</a:t>
            </a:r>
            <a:r>
              <a:rPr lang="en-US" altLang="ko-KR" sz="2400" dirty="0">
                <a:latin typeface="+mn-ea"/>
                <a:ea typeface="+mn-ea"/>
              </a:rPr>
              <a:t>(</a:t>
            </a:r>
            <a:r>
              <a:rPr lang="ko-KR" altLang="en-US" sz="2400" dirty="0" err="1">
                <a:latin typeface="+mn-ea"/>
                <a:ea typeface="+mn-ea"/>
              </a:rPr>
              <a:t>공백포함</a:t>
            </a:r>
            <a:r>
              <a:rPr lang="en-US" altLang="ko-KR" sz="2400" dirty="0">
                <a:latin typeface="+mn-ea"/>
                <a:ea typeface="+mn-ea"/>
              </a:rPr>
              <a:t>)</a:t>
            </a:r>
          </a:p>
          <a:p>
            <a:r>
              <a:rPr lang="en-US" altLang="ko-KR" sz="2800" dirty="0">
                <a:latin typeface="+mn-ea"/>
                <a:ea typeface="+mn-ea"/>
              </a:rPr>
              <a:t>      </a:t>
            </a:r>
            <a:r>
              <a:rPr lang="en-US" altLang="ko-KR" sz="2000" dirty="0">
                <a:latin typeface="+mn-ea"/>
                <a:ea typeface="+mn-ea"/>
              </a:rPr>
              <a:t>			13</a:t>
            </a:r>
          </a:p>
          <a:p>
            <a:endParaRPr lang="en-US" altLang="ko-KR" sz="2400" dirty="0">
              <a:latin typeface="+mn-ea"/>
              <a:ea typeface="+mn-ea"/>
            </a:endParaRPr>
          </a:p>
          <a:p>
            <a:endParaRPr lang="en-US" altLang="ko-KR" sz="1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toUpperCase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()&amp;</a:t>
            </a: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toLowerCase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문자열 전체를 대문자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혹은 소문자로 변경</a:t>
            </a:r>
            <a:endParaRPr lang="en-US" altLang="ko-KR" sz="2000" dirty="0">
              <a:latin typeface="+mn-ea"/>
              <a:ea typeface="+mn-ea"/>
            </a:endParaRPr>
          </a:p>
          <a:p>
            <a:pPr lvl="1"/>
            <a:r>
              <a:rPr lang="en-US" altLang="ko-KR" sz="2000" dirty="0">
                <a:latin typeface="+mn-ea"/>
              </a:rPr>
              <a:t>  				HAPPY DAY~! </a:t>
            </a:r>
          </a:p>
          <a:p>
            <a:pPr lvl="1"/>
            <a:r>
              <a:rPr lang="en-US" altLang="ko-KR" sz="2000" dirty="0">
                <a:latin typeface="+mn-ea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indexOf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(‘’)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매개변수로 문자열을 받아서 </a:t>
            </a:r>
            <a:r>
              <a:rPr lang="ko-KR" altLang="en-US" sz="2400" dirty="0" err="1">
                <a:latin typeface="+mn-ea"/>
                <a:ea typeface="+mn-ea"/>
              </a:rPr>
              <a:t>몇번째</a:t>
            </a:r>
            <a:r>
              <a:rPr lang="ko-KR" altLang="en-US" sz="2400" dirty="0">
                <a:latin typeface="+mn-ea"/>
                <a:ea typeface="+mn-ea"/>
              </a:rPr>
              <a:t> 인덱스인지 숫자 반환</a:t>
            </a:r>
            <a:r>
              <a:rPr lang="en-US" altLang="ko-KR" sz="2400" dirty="0">
                <a:latin typeface="+mn-ea"/>
                <a:ea typeface="+mn-ea"/>
              </a:rPr>
              <a:t>			     	     </a:t>
            </a:r>
            <a:r>
              <a:rPr lang="en-US" altLang="ko-KR" sz="1800" dirty="0">
                <a:latin typeface="+mn-ea"/>
                <a:ea typeface="+mn-ea"/>
              </a:rPr>
              <a:t>2</a:t>
            </a:r>
            <a:endParaRPr lang="en-US" altLang="ko-KR" sz="2400" dirty="0">
              <a:latin typeface="+mn-ea"/>
              <a:ea typeface="+mn-ea"/>
            </a:endParaRPr>
          </a:p>
          <a:p>
            <a:endParaRPr lang="en-US" altLang="ko-KR" sz="24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slice(</a:t>
            </a: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startIdx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[,</a:t>
            </a: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endIdx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]) </a:t>
            </a:r>
            <a:r>
              <a:rPr lang="en-US" altLang="ko-KR" sz="2400" dirty="0">
                <a:latin typeface="+mn-ea"/>
                <a:ea typeface="+mn-ea"/>
              </a:rPr>
              <a:t>: start </a:t>
            </a:r>
            <a:r>
              <a:rPr lang="ko-KR" altLang="en-US" sz="2400" dirty="0">
                <a:latin typeface="+mn-ea"/>
                <a:ea typeface="+mn-ea"/>
              </a:rPr>
              <a:t>부터 </a:t>
            </a:r>
            <a:r>
              <a:rPr lang="en-US" altLang="ko-KR" sz="2400" dirty="0">
                <a:latin typeface="+mn-ea"/>
                <a:ea typeface="+mn-ea"/>
              </a:rPr>
              <a:t>end-1 </a:t>
            </a:r>
            <a:r>
              <a:rPr lang="ko-KR" altLang="en-US" sz="2400" dirty="0">
                <a:latin typeface="+mn-ea"/>
                <a:ea typeface="+mn-ea"/>
              </a:rPr>
              <a:t>까지 </a:t>
            </a:r>
            <a:r>
              <a:rPr lang="ko-KR" altLang="en-US" sz="2400" dirty="0" err="1">
                <a:latin typeface="+mn-ea"/>
                <a:ea typeface="+mn-ea"/>
              </a:rPr>
              <a:t>슬라이싱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 err="1">
                <a:latin typeface="+mn-ea"/>
                <a:ea typeface="+mn-ea"/>
              </a:rPr>
              <a:t>빼옴</a:t>
            </a:r>
            <a:r>
              <a:rPr lang="en-US" altLang="ko-KR" sz="2400" dirty="0">
                <a:latin typeface="+mn-ea"/>
                <a:ea typeface="+mn-ea"/>
              </a:rPr>
              <a:t>(?) </a:t>
            </a:r>
            <a:r>
              <a:rPr lang="ko-KR" altLang="en-US" sz="2400" dirty="0">
                <a:latin typeface="+mn-ea"/>
                <a:ea typeface="+mn-ea"/>
              </a:rPr>
              <a:t>매개변수로 </a:t>
            </a:r>
            <a:r>
              <a:rPr lang="ko-KR" altLang="en-US" sz="2400" dirty="0" err="1">
                <a:latin typeface="+mn-ea"/>
                <a:ea typeface="+mn-ea"/>
              </a:rPr>
              <a:t>음수값도</a:t>
            </a:r>
            <a:r>
              <a:rPr lang="ko-KR" altLang="en-US" sz="2400" dirty="0">
                <a:latin typeface="+mn-ea"/>
                <a:ea typeface="+mn-ea"/>
              </a:rPr>
              <a:t> 가능</a:t>
            </a:r>
            <a:endParaRPr lang="en-US" altLang="ko-KR" sz="2400" dirty="0">
              <a:latin typeface="+mn-ea"/>
              <a:ea typeface="+mn-ea"/>
            </a:endParaRPr>
          </a:p>
          <a:p>
            <a:r>
              <a:rPr lang="en-US" altLang="ko-KR" sz="2400" dirty="0">
                <a:latin typeface="+mn-ea"/>
                <a:ea typeface="+mn-ea"/>
              </a:rPr>
              <a:t>   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1254981" y="681093"/>
            <a:ext cx="10433465" cy="524492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>
                <a:latin typeface="+mn-ea"/>
                <a:ea typeface="+mn-ea"/>
              </a:rPr>
              <a:t>let </a:t>
            </a:r>
            <a:r>
              <a:rPr lang="en-US" altLang="ko-KR" sz="2800" dirty="0" err="1">
                <a:latin typeface="+mn-ea"/>
                <a:ea typeface="+mn-ea"/>
              </a:rPr>
              <a:t>str</a:t>
            </a:r>
            <a:r>
              <a:rPr lang="en-US" altLang="ko-KR" sz="2800" dirty="0">
                <a:latin typeface="+mn-ea"/>
                <a:ea typeface="+mn-ea"/>
              </a:rPr>
              <a:t> = ‘</a:t>
            </a:r>
            <a:r>
              <a:rPr lang="en-US" altLang="ko-KR" sz="2800" u="sng" dirty="0">
                <a:latin typeface="+mn-ea"/>
                <a:ea typeface="+mn-ea"/>
              </a:rPr>
              <a:t>Happy day~!  </a:t>
            </a:r>
            <a:r>
              <a:rPr lang="en-US" altLang="ko-KR" sz="2800" dirty="0">
                <a:latin typeface="+mn-ea"/>
                <a:ea typeface="+mn-ea"/>
              </a:rPr>
              <a:t>’; </a:t>
            </a:r>
            <a:endParaRPr lang="en-US" altLang="ko-KR" sz="2000" dirty="0">
              <a:latin typeface="+mn-ea"/>
              <a:ea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033515" y="2164594"/>
            <a:ext cx="1451038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str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dirty="0" err="1">
                <a:solidFill>
                  <a:srgbClr val="4FC1FF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033515" y="3211991"/>
            <a:ext cx="2337499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str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toUpperCase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()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791674" y="3211991"/>
            <a:ext cx="2337499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str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toLowerCase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()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772454" y="4157850"/>
            <a:ext cx="2210862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str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indexOf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'p'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)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277484" y="5735813"/>
            <a:ext cx="1704313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str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slice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)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277484" y="5258660"/>
            <a:ext cx="2084225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str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slice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9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)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1714" y="5258660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u="sng" dirty="0">
                <a:latin typeface="+mn-ea"/>
              </a:rPr>
              <a:t> day</a:t>
            </a:r>
            <a:endParaRPr lang="ko-KR" altLang="en-US" u="sng" dirty="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80581" y="5759564"/>
            <a:ext cx="1399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u="sng" dirty="0" err="1">
                <a:latin typeface="+mn-ea"/>
              </a:rPr>
              <a:t>ppy</a:t>
            </a:r>
            <a:r>
              <a:rPr lang="en-US" altLang="ko-KR" u="sng" dirty="0">
                <a:latin typeface="+mn-ea"/>
              </a:rPr>
              <a:t> day~!  </a:t>
            </a:r>
            <a:endParaRPr lang="ko-KR" altLang="en-US" u="sng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622847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790697" y="265985"/>
            <a:ext cx="10515600" cy="562889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latin typeface="+mn-ea"/>
                <a:ea typeface="+mn-ea"/>
              </a:rPr>
              <a:t>   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replace(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1, 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2) </a:t>
            </a:r>
            <a:r>
              <a:rPr lang="en-US" altLang="ko-KR" sz="2400" dirty="0">
                <a:latin typeface="+mn-ea"/>
                <a:ea typeface="+mn-ea"/>
              </a:rPr>
              <a:t>:</a:t>
            </a:r>
            <a:r>
              <a:rPr lang="ko-KR" altLang="en-US" sz="2400" dirty="0">
                <a:latin typeface="+mn-ea"/>
                <a:ea typeface="+mn-ea"/>
              </a:rPr>
              <a:t>문자열</a:t>
            </a:r>
            <a:r>
              <a:rPr lang="en-US" altLang="ko-KR" sz="2400" dirty="0">
                <a:latin typeface="+mn-ea"/>
                <a:ea typeface="+mn-ea"/>
              </a:rPr>
              <a:t>1</a:t>
            </a:r>
            <a:r>
              <a:rPr lang="ko-KR" altLang="en-US" sz="2400" dirty="0">
                <a:latin typeface="+mn-ea"/>
                <a:ea typeface="+mn-ea"/>
              </a:rPr>
              <a:t>을 문자열</a:t>
            </a:r>
            <a:r>
              <a:rPr lang="en-US" altLang="ko-KR" sz="2400" dirty="0">
                <a:latin typeface="+mn-ea"/>
                <a:ea typeface="+mn-ea"/>
              </a:rPr>
              <a:t>2</a:t>
            </a:r>
            <a:r>
              <a:rPr lang="ko-KR" altLang="en-US" sz="2400" dirty="0">
                <a:latin typeface="+mn-ea"/>
                <a:ea typeface="+mn-ea"/>
              </a:rPr>
              <a:t>로 변경</a:t>
            </a:r>
            <a:endParaRPr lang="en-US" altLang="ko-KR" sz="2400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        					‘</a:t>
            </a:r>
            <a:r>
              <a:rPr lang="en-US" altLang="ko-KR" sz="2000" b="1" u="sng" dirty="0" err="1">
                <a:latin typeface="+mn-ea"/>
                <a:ea typeface="+mn-ea"/>
              </a:rPr>
              <a:t>Haapy</a:t>
            </a:r>
            <a:r>
              <a:rPr lang="en-US" altLang="ko-KR" sz="2000" b="1" u="sng" dirty="0">
                <a:latin typeface="+mn-ea"/>
                <a:ea typeface="+mn-ea"/>
              </a:rPr>
              <a:t> day~!  ’</a:t>
            </a:r>
            <a:endParaRPr lang="en-US" altLang="ko-KR" sz="2000" u="sng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accent1"/>
                </a:solidFill>
                <a:latin typeface="+mn-ea"/>
                <a:ea typeface="+mn-ea"/>
              </a:rPr>
              <a:t>replaceAll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(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1, </a:t>
            </a:r>
            <a:r>
              <a:rPr lang="ko-KR" altLang="en-US" sz="2400" b="1" dirty="0">
                <a:solidFill>
                  <a:schemeClr val="accent1"/>
                </a:solidFill>
                <a:latin typeface="+mn-ea"/>
                <a:ea typeface="+mn-ea"/>
              </a:rPr>
              <a:t>문자열</a:t>
            </a: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2)</a:t>
            </a:r>
            <a:r>
              <a:rPr lang="en-US" altLang="ko-KR" sz="2400" dirty="0">
                <a:solidFill>
                  <a:schemeClr val="accent5"/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문자열</a:t>
            </a:r>
            <a:r>
              <a:rPr lang="en-US" altLang="ko-KR" sz="2400" dirty="0">
                <a:latin typeface="+mn-ea"/>
                <a:ea typeface="+mn-ea"/>
              </a:rPr>
              <a:t>1</a:t>
            </a:r>
            <a:r>
              <a:rPr lang="ko-KR" altLang="en-US" sz="2400" dirty="0">
                <a:latin typeface="+mn-ea"/>
                <a:ea typeface="+mn-ea"/>
              </a:rPr>
              <a:t>을 </a:t>
            </a:r>
            <a:r>
              <a:rPr lang="ko-KR" altLang="en-US" sz="2400" dirty="0" err="1">
                <a:latin typeface="+mn-ea"/>
                <a:ea typeface="+mn-ea"/>
              </a:rPr>
              <a:t>전부찾아서</a:t>
            </a:r>
            <a:r>
              <a:rPr lang="ko-KR" altLang="en-US" sz="2400" dirty="0">
                <a:latin typeface="+mn-ea"/>
                <a:ea typeface="+mn-ea"/>
              </a:rPr>
              <a:t> 문자열 </a:t>
            </a:r>
            <a:r>
              <a:rPr lang="en-US" altLang="ko-KR" sz="2400" dirty="0">
                <a:latin typeface="+mn-ea"/>
                <a:ea typeface="+mn-ea"/>
              </a:rPr>
              <a:t>2</a:t>
            </a:r>
            <a:r>
              <a:rPr lang="ko-KR" altLang="en-US" sz="2400" dirty="0">
                <a:latin typeface="+mn-ea"/>
                <a:ea typeface="+mn-ea"/>
              </a:rPr>
              <a:t>로 </a:t>
            </a:r>
            <a:r>
              <a:rPr lang="ko-KR" altLang="en-US" sz="2400" dirty="0" err="1">
                <a:latin typeface="+mn-ea"/>
                <a:ea typeface="+mn-ea"/>
              </a:rPr>
              <a:t>바꿔줌</a:t>
            </a:r>
            <a:endParaRPr lang="en-US" altLang="ko-KR" sz="2400" dirty="0">
              <a:latin typeface="+mn-ea"/>
              <a:ea typeface="+mn-ea"/>
            </a:endParaRPr>
          </a:p>
          <a:p>
            <a:r>
              <a:rPr lang="en-US" altLang="ko-KR" sz="2400" dirty="0">
                <a:latin typeface="+mn-ea"/>
                <a:ea typeface="+mn-ea"/>
              </a:rPr>
              <a:t>       </a:t>
            </a:r>
            <a:r>
              <a:rPr lang="en-US" altLang="ko-KR" sz="2000" dirty="0">
                <a:latin typeface="+mn-ea"/>
                <a:ea typeface="+mn-ea"/>
              </a:rPr>
              <a:t>					</a:t>
            </a:r>
          </a:p>
          <a:p>
            <a:endParaRPr lang="en-US" altLang="ko-KR" sz="2400" dirty="0">
              <a:latin typeface="+mn-ea"/>
              <a:ea typeface="+mn-ea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repeat(n)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문자열에 대해 </a:t>
            </a:r>
            <a:r>
              <a:rPr lang="en-US" altLang="ko-KR" sz="2400" dirty="0">
                <a:latin typeface="+mn-ea"/>
                <a:ea typeface="+mn-ea"/>
              </a:rPr>
              <a:t>n</a:t>
            </a:r>
            <a:r>
              <a:rPr lang="ko-KR" altLang="en-US" sz="2400" dirty="0">
                <a:latin typeface="+mn-ea"/>
                <a:ea typeface="+mn-ea"/>
              </a:rPr>
              <a:t>번 반복</a:t>
            </a:r>
            <a:endParaRPr lang="en-US" altLang="ko-KR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n-ea"/>
                <a:ea typeface="+mn-ea"/>
              </a:rPr>
              <a:t>       </a:t>
            </a:r>
            <a:r>
              <a:rPr lang="en-US" altLang="ko-KR" sz="1800" dirty="0">
                <a:latin typeface="+mn-ea"/>
                <a:ea typeface="+mn-ea"/>
              </a:rPr>
              <a:t>			</a:t>
            </a:r>
            <a:r>
              <a:rPr lang="en-US" altLang="ko-KR" sz="2000" b="1" u="sng" dirty="0">
                <a:latin typeface="+mn-ea"/>
                <a:ea typeface="+mn-ea"/>
              </a:rPr>
              <a:t>Happy day~!  Happy day~!  Happy day~!  </a:t>
            </a:r>
            <a:endParaRPr lang="en-US" altLang="ko-KR" sz="2000" u="sng" dirty="0">
              <a:latin typeface="+mn-ea"/>
              <a:ea typeface="+mn-ea"/>
            </a:endParaRPr>
          </a:p>
          <a:p>
            <a:endParaRPr lang="en-US" altLang="ko-KR" sz="2400" dirty="0">
              <a:latin typeface="+mn-ea"/>
              <a:ea typeface="+mn-ea"/>
            </a:endParaRPr>
          </a:p>
          <a:p>
            <a:pPr marL="571500" lvl="1" indent="-5715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</a:rPr>
              <a:t>trim() 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문자열의 양끝 공백 없애기</a:t>
            </a:r>
            <a:endParaRPr lang="en-US" altLang="ko-KR" sz="2400" dirty="0">
              <a:latin typeface="+mn-ea"/>
            </a:endParaRPr>
          </a:p>
          <a:p>
            <a:pPr marL="457200" lvl="2">
              <a:lnSpc>
                <a:spcPct val="90000"/>
              </a:lnSpc>
              <a:spcBef>
                <a:spcPct val="0"/>
              </a:spcBef>
            </a:pPr>
            <a:r>
              <a:rPr lang="en-US" altLang="ko-KR" sz="2000" dirty="0">
                <a:latin typeface="+mn-ea"/>
              </a:rPr>
              <a:t>  </a:t>
            </a:r>
            <a:r>
              <a:rPr lang="en-US" altLang="ko-KR" sz="2000" dirty="0" err="1">
                <a:latin typeface="+mn-ea"/>
              </a:rPr>
              <a:t>str.trim</a:t>
            </a:r>
            <a:r>
              <a:rPr lang="en-US" altLang="ko-KR" sz="2000" dirty="0">
                <a:latin typeface="+mn-ea"/>
              </a:rPr>
              <a:t>(); 	//‘Happy day~!’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accent1"/>
                </a:solidFill>
                <a:latin typeface="+mn-ea"/>
                <a:ea typeface="+mn-ea"/>
              </a:rPr>
              <a:t>split() 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latin typeface="+mn-ea"/>
                <a:ea typeface="+mn-ea"/>
              </a:rPr>
              <a:t>매개변수로 들어온 문자열을 기준으로 </a:t>
            </a:r>
            <a:r>
              <a:rPr lang="en-US" altLang="ko-KR" sz="2400" dirty="0" err="1">
                <a:latin typeface="+mn-ea"/>
                <a:ea typeface="+mn-ea"/>
              </a:rPr>
              <a:t>str</a:t>
            </a:r>
            <a:r>
              <a:rPr lang="ko-KR" altLang="en-US" sz="2400" dirty="0">
                <a:latin typeface="+mn-ea"/>
                <a:ea typeface="+mn-ea"/>
              </a:rPr>
              <a:t>을 쪼개서 배열로 저장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512667" y="980874"/>
            <a:ext cx="2844048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str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replace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'p'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'a'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)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12667" y="2016397"/>
            <a:ext cx="3223959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str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replaceAll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'p'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'a'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)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01760" y="2016397"/>
            <a:ext cx="1839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latin typeface="+mn-ea"/>
              </a:rPr>
              <a:t>‘</a:t>
            </a:r>
            <a:r>
              <a:rPr lang="en-US" altLang="ko-KR" b="1" u="sng" dirty="0" err="1">
                <a:latin typeface="+mn-ea"/>
              </a:rPr>
              <a:t>Haaay</a:t>
            </a:r>
            <a:r>
              <a:rPr lang="en-US" altLang="ko-KR" b="1" u="sng" dirty="0">
                <a:latin typeface="+mn-ea"/>
              </a:rPr>
              <a:t> day~!  ’</a:t>
            </a:r>
            <a:endParaRPr lang="ko-KR" altLang="en-US" u="sng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97192" y="3119601"/>
            <a:ext cx="1830950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str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repeat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dirty="0">
                <a:solidFill>
                  <a:srgbClr val="B5CEA8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)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475375" y="4168768"/>
            <a:ext cx="1451038" cy="369333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str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trim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()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475375" y="5252989"/>
            <a:ext cx="1830950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str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split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''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)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795" y="5287988"/>
            <a:ext cx="6029325" cy="4857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1" name="직사각형 10"/>
          <p:cNvSpPr/>
          <p:nvPr/>
        </p:nvSpPr>
        <p:spPr>
          <a:xfrm>
            <a:off x="1469401" y="5846498"/>
            <a:ext cx="1957587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9CDCFE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str</a:t>
            </a:r>
            <a:r>
              <a:rPr lang="en-US" altLang="ko-KR" dirty="0" err="1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split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' '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)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  <a:ea typeface="Kim jung chul Gothic Regular" panose="020B0503000000000000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795" y="5835901"/>
            <a:ext cx="2933700" cy="3905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410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1FD68F-2C9B-F2A4-F176-0ED9BE9E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D798E8-BFC3-144C-B577-FCD5C47D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DAB0F99-6C9E-A4FA-C138-949FFA6C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0" dirty="0"/>
              <a:t>배열 관련</a:t>
            </a:r>
            <a:br>
              <a:rPr lang="en-US" altLang="ko-KR" sz="8000" dirty="0"/>
            </a:br>
            <a:r>
              <a:rPr lang="ko-KR" altLang="en-US" sz="8000" dirty="0"/>
              <a:t>내장 메소드</a:t>
            </a:r>
          </a:p>
        </p:txBody>
      </p:sp>
    </p:spTree>
    <p:extLst>
      <p:ext uri="{BB962C8B-B14F-4D97-AF65-F5344CB8AC3E}">
        <p14:creationId xmlns:p14="http://schemas.microsoft.com/office/powerpoint/2010/main" val="79021260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F47503-C3D9-ADDA-0E56-00D378F89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/>
                </a:solidFill>
              </a:rPr>
              <a:t>push</a:t>
            </a:r>
            <a:r>
              <a:rPr lang="en-US" altLang="ko-KR" dirty="0">
                <a:solidFill>
                  <a:schemeClr val="accent1"/>
                </a:solidFill>
              </a:rPr>
              <a:t>()</a:t>
            </a:r>
            <a:r>
              <a:rPr lang="en-US" altLang="ko-KR" dirty="0"/>
              <a:t>: </a:t>
            </a:r>
            <a:r>
              <a:rPr lang="ko-KR" altLang="en-US" dirty="0"/>
              <a:t>배열 끝에 추가</a:t>
            </a:r>
            <a:endParaRPr lang="en-US" altLang="ko-KR" dirty="0"/>
          </a:p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/>
                </a:solidFill>
              </a:rPr>
              <a:t>pop</a:t>
            </a:r>
            <a:r>
              <a:rPr lang="en-US" altLang="ko-KR" dirty="0">
                <a:solidFill>
                  <a:schemeClr val="accent1"/>
                </a:solidFill>
              </a:rPr>
              <a:t>()</a:t>
            </a:r>
            <a:r>
              <a:rPr lang="en-US" altLang="ko-KR" dirty="0"/>
              <a:t>: </a:t>
            </a:r>
            <a:r>
              <a:rPr lang="ko-KR" altLang="en-US" dirty="0"/>
              <a:t>배열</a:t>
            </a:r>
            <a:r>
              <a:rPr lang="en-US" altLang="ko-KR" dirty="0"/>
              <a:t> </a:t>
            </a:r>
            <a:r>
              <a:rPr lang="ko-KR" altLang="en-US" dirty="0"/>
              <a:t>끝 요소 제거 </a:t>
            </a:r>
            <a:endParaRPr lang="en-US" altLang="ko-KR" dirty="0"/>
          </a:p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/>
                </a:solidFill>
              </a:rPr>
              <a:t>shift</a:t>
            </a:r>
            <a:r>
              <a:rPr lang="en-US" altLang="ko-KR" dirty="0">
                <a:solidFill>
                  <a:schemeClr val="accent1"/>
                </a:solidFill>
              </a:rPr>
              <a:t>()</a:t>
            </a:r>
            <a:r>
              <a:rPr lang="en-US" altLang="ko-KR" dirty="0"/>
              <a:t>, </a:t>
            </a:r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/>
                </a:solidFill>
              </a:rPr>
              <a:t>unshift</a:t>
            </a:r>
            <a:r>
              <a:rPr lang="en-US" altLang="ko-KR" dirty="0">
                <a:solidFill>
                  <a:schemeClr val="accent1"/>
                </a:solidFill>
              </a:rPr>
              <a:t>()</a:t>
            </a:r>
            <a:r>
              <a:rPr lang="en-US" altLang="ko-KR" dirty="0"/>
              <a:t>: </a:t>
            </a:r>
            <a:r>
              <a:rPr lang="ko-KR" altLang="en-US" dirty="0"/>
              <a:t>배열</a:t>
            </a:r>
            <a:r>
              <a:rPr lang="en-US" altLang="ko-KR" dirty="0"/>
              <a:t> </a:t>
            </a:r>
            <a:r>
              <a:rPr lang="ko-KR" altLang="en-US" dirty="0"/>
              <a:t>앞에 제거</a:t>
            </a:r>
            <a:r>
              <a:rPr lang="en-US" altLang="ko-KR" dirty="0"/>
              <a:t>/</a:t>
            </a:r>
            <a:r>
              <a:rPr lang="ko-KR" altLang="en-US" dirty="0"/>
              <a:t>추가</a:t>
            </a:r>
            <a:endParaRPr lang="en-US" altLang="ko-KR" dirty="0"/>
          </a:p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/>
                </a:solidFill>
              </a:rPr>
              <a:t>include</a:t>
            </a:r>
            <a:r>
              <a:rPr lang="en-US" altLang="ko-KR" dirty="0">
                <a:solidFill>
                  <a:schemeClr val="accent1"/>
                </a:solidFill>
              </a:rPr>
              <a:t>(</a:t>
            </a:r>
            <a:r>
              <a:rPr lang="ko-KR" altLang="en-US" dirty="0">
                <a:solidFill>
                  <a:schemeClr val="accent1"/>
                </a:solidFill>
              </a:rPr>
              <a:t>요소</a:t>
            </a:r>
            <a:r>
              <a:rPr lang="en-US" altLang="ko-KR" dirty="0">
                <a:solidFill>
                  <a:schemeClr val="accent1"/>
                </a:solidFill>
              </a:rPr>
              <a:t>)</a:t>
            </a:r>
            <a:r>
              <a:rPr lang="en-US" altLang="ko-KR" dirty="0"/>
              <a:t>: </a:t>
            </a:r>
            <a:r>
              <a:rPr lang="ko-KR" altLang="en-US" dirty="0"/>
              <a:t>배열에 해당 요소가 있는지 확인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AA5B06-7851-4E64-BDFA-E6632CEF4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7846C2-718A-38FE-51B4-65052E15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195AB24-A38C-BF43-90A1-CE5371A3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관련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206615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F47503-C3D9-ADDA-0E56-00D378F89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/>
                </a:solidFill>
              </a:rPr>
              <a:t>length</a:t>
            </a:r>
            <a:r>
              <a:rPr lang="en-US" altLang="ko-KR" dirty="0"/>
              <a:t> : </a:t>
            </a:r>
            <a:r>
              <a:rPr lang="ko-KR" altLang="en-US" dirty="0"/>
              <a:t>배열의 길이 반환</a:t>
            </a:r>
          </a:p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/>
                </a:solidFill>
              </a:rPr>
              <a:t>indexOf</a:t>
            </a:r>
            <a:r>
              <a:rPr lang="en-US" altLang="ko-KR" dirty="0">
                <a:solidFill>
                  <a:schemeClr val="accent1"/>
                </a:solidFill>
              </a:rPr>
              <a:t>()</a:t>
            </a:r>
            <a:r>
              <a:rPr lang="en-US" altLang="ko-KR" dirty="0"/>
              <a:t> : </a:t>
            </a:r>
            <a:r>
              <a:rPr lang="ko-KR" altLang="en-US" dirty="0"/>
              <a:t>문자열에서의 </a:t>
            </a:r>
            <a:r>
              <a:rPr lang="en-US" altLang="ko-KR" dirty="0" err="1"/>
              <a:t>indexOf</a:t>
            </a:r>
            <a:r>
              <a:rPr lang="ko-KR" altLang="en-US" dirty="0"/>
              <a:t>와 마찬가지로 매개변수에 해당하는 배열의 인덱스를 </a:t>
            </a:r>
            <a:r>
              <a:rPr lang="ko-KR" altLang="en-US" dirty="0" err="1"/>
              <a:t>받아옴</a:t>
            </a:r>
            <a:r>
              <a:rPr lang="en-US" altLang="ko-KR" dirty="0"/>
              <a:t>.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매개변수로 문자열만 넣을 수 있는 것은 아님</a:t>
            </a:r>
            <a:r>
              <a:rPr lang="en-US" altLang="ko-KR" dirty="0"/>
              <a:t>!</a:t>
            </a:r>
          </a:p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/>
                </a:solidFill>
              </a:rPr>
              <a:t>reverse</a:t>
            </a:r>
            <a:r>
              <a:rPr lang="en-US" altLang="ko-KR" dirty="0">
                <a:solidFill>
                  <a:schemeClr val="accent1"/>
                </a:solidFill>
              </a:rPr>
              <a:t>() </a:t>
            </a:r>
            <a:r>
              <a:rPr lang="en-US" altLang="ko-KR" dirty="0"/>
              <a:t>: </a:t>
            </a:r>
            <a:r>
              <a:rPr lang="ko-KR" altLang="en-US" dirty="0"/>
              <a:t>배열 순서 뒤집어서 반환</a:t>
            </a:r>
          </a:p>
          <a:p>
            <a:r>
              <a:rPr lang="en-US" altLang="ko-KR" dirty="0" err="1"/>
              <a:t>arr.</a:t>
            </a:r>
            <a:r>
              <a:rPr lang="en-US" altLang="ko-KR" dirty="0" err="1">
                <a:solidFill>
                  <a:schemeClr val="accent1"/>
                </a:solidFill>
              </a:rPr>
              <a:t>join</a:t>
            </a:r>
            <a:r>
              <a:rPr lang="en-US" altLang="ko-KR" dirty="0">
                <a:solidFill>
                  <a:schemeClr val="accent1"/>
                </a:solidFill>
              </a:rPr>
              <a:t>()</a:t>
            </a:r>
            <a:r>
              <a:rPr lang="en-US" altLang="ko-KR" dirty="0"/>
              <a:t>: join </a:t>
            </a:r>
            <a:r>
              <a:rPr lang="ko-KR" altLang="en-US" dirty="0"/>
              <a:t>안의 문자열 기준으로 문자열로 병합</a:t>
            </a:r>
          </a:p>
          <a:p>
            <a:endParaRPr lang="ko-KR" altLang="en-US" dirty="0" err="1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AA5B06-7851-4E64-BDFA-E6632CEF4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7846C2-718A-38FE-51B4-65052E15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195AB24-A38C-BF43-90A1-CE5371A3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관련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39750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1FD68F-2C9B-F2A4-F176-0ED9BE9E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D798E8-BFC3-144C-B577-FCD5C47D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DAB0F99-6C9E-A4FA-C138-949FFA6C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0" dirty="0"/>
              <a:t>메소드 </a:t>
            </a:r>
            <a:r>
              <a:rPr lang="ko-KR" altLang="en-US" sz="8000" dirty="0" err="1"/>
              <a:t>체이닝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113775638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0E87A94-BF63-527D-7173-011C4656C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23" y="1565213"/>
            <a:ext cx="11189677" cy="4885192"/>
          </a:xfrm>
        </p:spPr>
        <p:txBody>
          <a:bodyPr>
            <a:normAutofit fontScale="92500"/>
          </a:bodyPr>
          <a:lstStyle/>
          <a:p>
            <a:r>
              <a:rPr lang="ko-KR" altLang="en-US" dirty="0"/>
              <a:t>여러 메소드를 연결해서 사용하는 개념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사용한 </a:t>
            </a:r>
            <a:r>
              <a:rPr lang="ko-KR" altLang="en-US" dirty="0">
                <a:solidFill>
                  <a:schemeClr val="accent1"/>
                </a:solidFill>
              </a:rPr>
              <a:t>메소드가 반환</a:t>
            </a:r>
            <a:r>
              <a:rPr lang="en-US" altLang="ko-KR" dirty="0">
                <a:solidFill>
                  <a:schemeClr val="accent1"/>
                </a:solidFill>
              </a:rPr>
              <a:t>(return) </a:t>
            </a:r>
            <a:r>
              <a:rPr lang="ko-KR" altLang="en-US" dirty="0">
                <a:solidFill>
                  <a:schemeClr val="accent1"/>
                </a:solidFill>
              </a:rPr>
              <a:t>값</a:t>
            </a:r>
            <a:r>
              <a:rPr lang="ko-KR" altLang="en-US" dirty="0"/>
              <a:t>을 가지고 있는 경우에만 사용이 가능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chemeClr val="accent3"/>
                </a:solidFill>
              </a:rPr>
              <a:t>‘</a:t>
            </a:r>
            <a:r>
              <a:rPr lang="en-US" altLang="ko-KR" dirty="0" err="1">
                <a:solidFill>
                  <a:schemeClr val="accent3"/>
                </a:solidFill>
              </a:rPr>
              <a:t>hello’</a:t>
            </a:r>
            <a:r>
              <a:rPr lang="en-US" altLang="ko-KR" dirty="0" err="1">
                <a:solidFill>
                  <a:schemeClr val="accent1"/>
                </a:solidFill>
              </a:rPr>
              <a:t>.split</a:t>
            </a:r>
            <a:r>
              <a:rPr lang="en-US" altLang="ko-KR" dirty="0">
                <a:solidFill>
                  <a:schemeClr val="accent1"/>
                </a:solidFill>
              </a:rPr>
              <a:t>(“”)</a:t>
            </a:r>
            <a:r>
              <a:rPr lang="en-US" altLang="ko-KR" dirty="0"/>
              <a:t> </a:t>
            </a:r>
            <a:r>
              <a:rPr lang="ko-KR" altLang="en-US" dirty="0"/>
              <a:t>➡</a:t>
            </a:r>
            <a:r>
              <a:rPr lang="en-US" altLang="ko-KR" dirty="0"/>
              <a:t> [‘H’, ‘e’, ‘l’, ‘l’, ‘o’] </a:t>
            </a:r>
            <a:r>
              <a:rPr lang="ko-KR" altLang="en-US" dirty="0"/>
              <a:t>라는 배열이 반환 됨</a:t>
            </a:r>
          </a:p>
          <a:p>
            <a:endParaRPr lang="en-US" altLang="ko-KR" dirty="0"/>
          </a:p>
          <a:p>
            <a:r>
              <a:rPr lang="ko-KR" altLang="en-US" dirty="0"/>
              <a:t>배열에는 </a:t>
            </a:r>
            <a:r>
              <a:rPr lang="en-US" altLang="ko-KR" dirty="0"/>
              <a:t>reverse() </a:t>
            </a:r>
            <a:r>
              <a:rPr lang="ko-KR" altLang="en-US" dirty="0"/>
              <a:t>라는 메소드가 존재</a:t>
            </a:r>
          </a:p>
          <a:p>
            <a:r>
              <a:rPr lang="ko-KR" altLang="en-US" dirty="0">
                <a:solidFill>
                  <a:schemeClr val="accent3"/>
                </a:solidFill>
              </a:rPr>
              <a:t>‘</a:t>
            </a:r>
            <a:r>
              <a:rPr lang="en-US" altLang="ko-KR" dirty="0" err="1">
                <a:solidFill>
                  <a:schemeClr val="accent3"/>
                </a:solidFill>
              </a:rPr>
              <a:t>hello’</a:t>
            </a:r>
            <a:r>
              <a:rPr lang="en-US" altLang="ko-KR" dirty="0" err="1">
                <a:solidFill>
                  <a:schemeClr val="accent1"/>
                </a:solidFill>
              </a:rPr>
              <a:t>.split</a:t>
            </a:r>
            <a:r>
              <a:rPr lang="en-US" altLang="ko-KR" dirty="0">
                <a:solidFill>
                  <a:schemeClr val="accent1"/>
                </a:solidFill>
              </a:rPr>
              <a:t>(“”)</a:t>
            </a:r>
            <a:r>
              <a:rPr lang="en-US" altLang="ko-KR" dirty="0">
                <a:solidFill>
                  <a:schemeClr val="accent5"/>
                </a:solidFill>
              </a:rPr>
              <a:t>.reverse()</a:t>
            </a:r>
            <a:r>
              <a:rPr lang="en-US" altLang="ko-KR" dirty="0"/>
              <a:t> </a:t>
            </a:r>
            <a:r>
              <a:rPr lang="ko-KR" altLang="en-US" dirty="0"/>
              <a:t>는 </a:t>
            </a:r>
            <a:r>
              <a:rPr lang="en-US" altLang="ko-KR" dirty="0"/>
              <a:t>[‘H’, ‘e’, ‘l’, ‘l’, ‘o’]</a:t>
            </a:r>
            <a:r>
              <a:rPr lang="en-US" altLang="ko-KR" dirty="0">
                <a:solidFill>
                  <a:schemeClr val="accent5"/>
                </a:solidFill>
              </a:rPr>
              <a:t>.reverse()</a:t>
            </a:r>
            <a:r>
              <a:rPr lang="en-US" altLang="ko-KR" dirty="0"/>
              <a:t> </a:t>
            </a:r>
            <a:r>
              <a:rPr lang="ko-KR" altLang="en-US" dirty="0"/>
              <a:t>와 동일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[‘H’, ‘e’, ‘l’, ‘l’, ‘o’].reverse() </a:t>
            </a:r>
            <a:r>
              <a:rPr lang="ko-KR" altLang="en-US" dirty="0"/>
              <a:t>➡</a:t>
            </a:r>
            <a:r>
              <a:rPr lang="en-US" altLang="ko-KR" dirty="0"/>
              <a:t> [‘</a:t>
            </a:r>
            <a:r>
              <a:rPr lang="en-US" altLang="ko-KR" dirty="0" err="1"/>
              <a:t>o’,’l’,’l’,’e’,’H</a:t>
            </a:r>
            <a:r>
              <a:rPr lang="en-US" altLang="ko-KR" dirty="0"/>
              <a:t>’] </a:t>
            </a:r>
            <a:r>
              <a:rPr lang="ko-KR" altLang="en-US" dirty="0"/>
              <a:t>와 동일</a:t>
            </a:r>
          </a:p>
          <a:p>
            <a:endParaRPr lang="en-US" altLang="ko-KR" dirty="0">
              <a:solidFill>
                <a:schemeClr val="accent3"/>
              </a:solidFill>
            </a:endParaRPr>
          </a:p>
          <a:p>
            <a:r>
              <a:rPr lang="ko-KR" altLang="en-US" dirty="0">
                <a:solidFill>
                  <a:schemeClr val="accent3"/>
                </a:solidFill>
              </a:rPr>
              <a:t>‘</a:t>
            </a:r>
            <a:r>
              <a:rPr lang="en-US" altLang="ko-KR" dirty="0" err="1">
                <a:solidFill>
                  <a:schemeClr val="accent3"/>
                </a:solidFill>
              </a:rPr>
              <a:t>hello’</a:t>
            </a:r>
            <a:r>
              <a:rPr lang="en-US" altLang="ko-KR" dirty="0" err="1">
                <a:solidFill>
                  <a:schemeClr val="accent1"/>
                </a:solidFill>
              </a:rPr>
              <a:t>.split</a:t>
            </a:r>
            <a:r>
              <a:rPr lang="en-US" altLang="ko-KR" dirty="0">
                <a:solidFill>
                  <a:schemeClr val="accent1"/>
                </a:solidFill>
              </a:rPr>
              <a:t>(“”)</a:t>
            </a:r>
            <a:r>
              <a:rPr lang="en-US" altLang="ko-KR" dirty="0">
                <a:solidFill>
                  <a:schemeClr val="accent5"/>
                </a:solidFill>
              </a:rPr>
              <a:t>.reverse()</a:t>
            </a:r>
            <a:r>
              <a:rPr lang="en-US" altLang="ko-KR" dirty="0">
                <a:solidFill>
                  <a:srgbClr val="FF0000"/>
                </a:solidFill>
              </a:rPr>
              <a:t>.join(“”)</a:t>
            </a:r>
            <a:r>
              <a:rPr lang="en-US" altLang="ko-KR" dirty="0"/>
              <a:t> </a:t>
            </a:r>
            <a:r>
              <a:rPr lang="ko-KR" altLang="en-US" dirty="0"/>
              <a:t>➡</a:t>
            </a:r>
            <a:r>
              <a:rPr lang="en-US" altLang="ko-KR" dirty="0"/>
              <a:t> [‘</a:t>
            </a:r>
            <a:r>
              <a:rPr lang="en-US" altLang="ko-KR" dirty="0" err="1"/>
              <a:t>o’,’l’,’l’,’e’,’H</a:t>
            </a:r>
            <a:r>
              <a:rPr lang="en-US" altLang="ko-KR" dirty="0"/>
              <a:t>’]</a:t>
            </a:r>
            <a:r>
              <a:rPr lang="en-US" altLang="ko-KR" dirty="0">
                <a:solidFill>
                  <a:srgbClr val="FF0000"/>
                </a:solidFill>
              </a:rPr>
              <a:t>.join(“”)</a:t>
            </a:r>
            <a:r>
              <a:rPr lang="en-US" altLang="ko-KR" dirty="0"/>
              <a:t> </a:t>
            </a:r>
            <a:r>
              <a:rPr lang="ko-KR" altLang="en-US" dirty="0"/>
              <a:t>과 동일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C6FFCAC-4F08-9FC1-7B1C-4340DFA6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D12F52-828F-E039-1B4C-A4017E13C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9539C47-3398-88D4-3FF0-C6E68775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메소드 </a:t>
            </a:r>
            <a:r>
              <a:rPr lang="ko-KR" altLang="en-US" dirty="0" err="1"/>
              <a:t>체이닝</a:t>
            </a:r>
            <a:r>
              <a:rPr lang="ko-KR" altLang="en-US" dirty="0"/>
              <a:t> </a:t>
            </a:r>
            <a:r>
              <a:rPr lang="en-US" altLang="ko-KR" dirty="0"/>
              <a:t>(method</a:t>
            </a:r>
            <a:r>
              <a:rPr lang="ko-KR" altLang="en-US" dirty="0"/>
              <a:t> </a:t>
            </a:r>
            <a:r>
              <a:rPr lang="en-US" altLang="ko-KR" dirty="0"/>
              <a:t>chaining)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486105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8217F2-D36A-5CEC-00A6-945EAF01C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F6F8C45-9E59-535A-4D1F-7D6ABE3B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0CAE24-4239-0E74-8357-F289B236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8000" dirty="0"/>
              <a:t>배열에서 반복</a:t>
            </a:r>
          </a:p>
        </p:txBody>
      </p:sp>
    </p:spTree>
    <p:extLst>
      <p:ext uri="{BB962C8B-B14F-4D97-AF65-F5344CB8AC3E}">
        <p14:creationId xmlns:p14="http://schemas.microsoft.com/office/powerpoint/2010/main" val="180271736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6092C00-3C4D-3324-AFF8-631D706AE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3F1AD5-28FD-4DBA-DFE2-D460A2BD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4EC18F-EA1B-6551-EEDA-8D9F6247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299CAAC-9452-CEFE-5CA0-7D210A3E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chemeClr val="accent1"/>
                </a:solidFill>
              </a:rPr>
              <a:t>기본 </a:t>
            </a:r>
            <a:r>
              <a:rPr lang="en-US" altLang="ko-KR" dirty="0">
                <a:solidFill>
                  <a:schemeClr val="accent1"/>
                </a:solidFill>
              </a:rPr>
              <a:t>for</a:t>
            </a:r>
            <a:r>
              <a:rPr lang="ko-KR" altLang="en-US" dirty="0">
                <a:solidFill>
                  <a:schemeClr val="accent1"/>
                </a:solidFill>
              </a:rPr>
              <a:t>문 </a:t>
            </a:r>
            <a:r>
              <a:rPr lang="ko-KR" altLang="en-US" dirty="0"/>
              <a:t>사용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7D0C0-1FA2-E08F-C57D-6ABD01CAEFAB}"/>
              </a:ext>
            </a:extLst>
          </p:cNvPr>
          <p:cNvSpPr txBox="1"/>
          <p:nvPr/>
        </p:nvSpPr>
        <p:spPr>
          <a:xfrm>
            <a:off x="731939" y="1600582"/>
            <a:ext cx="8621786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사과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바나나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수박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포도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파인애플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&lt;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&lt;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90803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3099348-D45F-2737-7184-9984E4236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437F04-3354-6C2D-ECC5-28C6CB60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A92AE-6A12-5146-541A-C35744E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EA88343-A70C-ADF0-72B7-06BB2F8C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1"/>
                </a:solidFill>
              </a:rPr>
              <a:t>for of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 err="1"/>
              <a:t>반복문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A928B-A4DF-AE90-01C8-04CC6E9B865E}"/>
              </a:ext>
            </a:extLst>
          </p:cNvPr>
          <p:cNvSpPr txBox="1"/>
          <p:nvPr/>
        </p:nvSpPr>
        <p:spPr>
          <a:xfrm>
            <a:off x="731939" y="1600582"/>
            <a:ext cx="8621786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사과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바나나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수박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포도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파인애플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039879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3099348-D45F-2737-7184-9984E4236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437F04-3354-6C2D-ECC5-28C6CB60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A92AE-6A12-5146-541A-C35744E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EA88343-A70C-ADF0-72B7-06BB2F8C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1"/>
                </a:solidFill>
              </a:rPr>
              <a:t>[].</a:t>
            </a:r>
            <a:r>
              <a:rPr lang="en-US" altLang="ko-KR" dirty="0" err="1">
                <a:solidFill>
                  <a:schemeClr val="accent1"/>
                </a:solidFill>
              </a:rPr>
              <a:t>forEach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7AE21-DD4A-5975-D523-7BC9D3C28787}"/>
              </a:ext>
            </a:extLst>
          </p:cNvPr>
          <p:cNvSpPr txBox="1"/>
          <p:nvPr/>
        </p:nvSpPr>
        <p:spPr>
          <a:xfrm>
            <a:off x="1815626" y="1285976"/>
            <a:ext cx="8560748" cy="50423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사과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바나나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수박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포도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파인애플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array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array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array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array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fruit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01625370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3099348-D45F-2737-7184-9984E4236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437F04-3354-6C2D-ECC5-28C6CB60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4월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A92AE-6A12-5146-541A-C35744E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EA88343-A70C-ADF0-72B7-06BB2F8C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</a:t>
            </a:r>
            <a:r>
              <a:rPr lang="ko-KR" altLang="en-US" dirty="0">
                <a:solidFill>
                  <a:schemeClr val="accent1"/>
                </a:solidFill>
              </a:rPr>
              <a:t>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4224C-FD2E-6A16-0874-4558D2291B77}"/>
              </a:ext>
            </a:extLst>
          </p:cNvPr>
          <p:cNvSpPr txBox="1"/>
          <p:nvPr/>
        </p:nvSpPr>
        <p:spPr>
          <a:xfrm>
            <a:off x="3048699" y="751344"/>
            <a:ext cx="6094602" cy="53553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5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6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var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var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var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0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&lt;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++)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]);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=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 +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[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];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of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</a:t>
            </a:r>
            <a:r>
              <a:rPr lang="en-US" altLang="ko-KR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sum2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=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sum2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+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numbers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forEach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= </a:t>
            </a: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  <a:ea typeface="Kim jung chul Gothic Regular" panose="020B0503000000000000" pitchFamily="50" charset="-127"/>
              </a:rPr>
              <a:t> +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num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});</a:t>
            </a:r>
          </a:p>
          <a:p>
            <a:b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</a:b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sum3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Kim jung chul Gothic Regular" panose="020B0503000000000000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7350621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17D7C6-9EFB-2E7A-25B1-FB720328B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arr.</a:t>
            </a:r>
            <a:r>
              <a:rPr lang="en-US" altLang="ko-KR" dirty="0" err="1">
                <a:highlight>
                  <a:srgbClr val="FFFF00"/>
                </a:highlight>
              </a:rPr>
              <a:t>filter</a:t>
            </a:r>
            <a:r>
              <a:rPr lang="en-US" altLang="ko-KR" dirty="0">
                <a:highlight>
                  <a:srgbClr val="FFFF00"/>
                </a:highlight>
              </a:rPr>
              <a:t>()</a:t>
            </a:r>
          </a:p>
          <a:p>
            <a:pPr lvl="1"/>
            <a:r>
              <a:rPr lang="ko-KR" altLang="en-US" dirty="0"/>
              <a:t>배열 내부에서 조건에 부합하는 요소만 찾아서 </a:t>
            </a:r>
            <a:r>
              <a:rPr lang="en-US" altLang="ko-KR" dirty="0"/>
              <a:t>“</a:t>
            </a:r>
            <a:r>
              <a:rPr lang="ko-KR" altLang="en-US" dirty="0"/>
              <a:t>배열로</a:t>
            </a:r>
            <a:r>
              <a:rPr lang="en-US" altLang="ko-KR" dirty="0"/>
              <a:t>” </a:t>
            </a:r>
            <a:r>
              <a:rPr lang="ko-KR" altLang="en-US" dirty="0"/>
              <a:t>반환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arr.</a:t>
            </a:r>
            <a:r>
              <a:rPr lang="en-US" altLang="ko-KR" dirty="0" err="1">
                <a:highlight>
                  <a:srgbClr val="FFFF00"/>
                </a:highlight>
              </a:rPr>
              <a:t>find</a:t>
            </a:r>
            <a:r>
              <a:rPr lang="en-US" altLang="ko-KR" dirty="0">
                <a:highlight>
                  <a:srgbClr val="FFFF00"/>
                </a:highlight>
              </a:rPr>
              <a:t>() 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배열 내부에서 조건에 부합하는 첫번째 요소를 찾아서 </a:t>
            </a:r>
            <a:r>
              <a:rPr lang="en-US" altLang="ko-KR" dirty="0"/>
              <a:t>“</a:t>
            </a:r>
            <a:r>
              <a:rPr lang="ko-KR" altLang="en-US" dirty="0"/>
              <a:t>값</a:t>
            </a:r>
            <a:r>
              <a:rPr lang="en-US" altLang="ko-KR" dirty="0"/>
              <a:t>”</a:t>
            </a:r>
            <a:r>
              <a:rPr lang="ko-KR" altLang="en-US" dirty="0"/>
              <a:t>으로 반환</a:t>
            </a:r>
            <a:endParaRPr lang="en-US" altLang="ko-KR" dirty="0"/>
          </a:p>
          <a:p>
            <a:r>
              <a:rPr lang="en-US" altLang="ko-KR" dirty="0" err="1"/>
              <a:t>arr.</a:t>
            </a:r>
            <a:r>
              <a:rPr lang="en-US" altLang="ko-KR" dirty="0" err="1">
                <a:highlight>
                  <a:srgbClr val="FFFF00"/>
                </a:highlight>
              </a:rPr>
              <a:t>map</a:t>
            </a:r>
            <a:r>
              <a:rPr lang="en-US" altLang="ko-KR" dirty="0">
                <a:highlight>
                  <a:srgbClr val="FFFF00"/>
                </a:highlight>
              </a:rPr>
              <a:t>()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익명함수에 쓰여진 연산결과를 새로운 배열로 반환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highlight>
                  <a:srgbClr val="C0C0C0"/>
                </a:highlight>
              </a:rPr>
              <a:t>위의 메소드들은 매개변수로 익명함수가 들어간다는 공통점이 있음</a:t>
            </a:r>
            <a:endParaRPr lang="en-US" altLang="ko-KR" dirty="0">
              <a:highlight>
                <a:srgbClr val="C0C0C0"/>
              </a:highlight>
            </a:endParaRPr>
          </a:p>
          <a:p>
            <a:pPr lvl="1"/>
            <a:r>
              <a:rPr lang="ko-KR" altLang="en-US" dirty="0">
                <a:highlight>
                  <a:srgbClr val="C0C0C0"/>
                </a:highlight>
              </a:rPr>
              <a:t>앞서 나온 </a:t>
            </a:r>
            <a:r>
              <a:rPr lang="en-US" altLang="ko-KR" dirty="0" err="1">
                <a:highlight>
                  <a:srgbClr val="C0C0C0"/>
                </a:highlight>
              </a:rPr>
              <a:t>forEach</a:t>
            </a:r>
            <a:r>
              <a:rPr lang="en-US" altLang="ko-KR" dirty="0">
                <a:highlight>
                  <a:srgbClr val="C0C0C0"/>
                </a:highlight>
              </a:rPr>
              <a:t>((</a:t>
            </a:r>
            <a:r>
              <a:rPr lang="en-US" altLang="ko-KR" dirty="0" err="1">
                <a:highlight>
                  <a:srgbClr val="C0C0C0"/>
                </a:highlight>
              </a:rPr>
              <a:t>val</a:t>
            </a:r>
            <a:r>
              <a:rPr lang="en-US" altLang="ko-KR" dirty="0">
                <a:highlight>
                  <a:srgbClr val="C0C0C0"/>
                </a:highlight>
              </a:rPr>
              <a:t>)=&gt;{})</a:t>
            </a:r>
            <a:r>
              <a:rPr lang="ko-KR" altLang="en-US" dirty="0">
                <a:highlight>
                  <a:srgbClr val="C0C0C0"/>
                </a:highlight>
              </a:rPr>
              <a:t>메소드도 마찬가지</a:t>
            </a:r>
            <a:r>
              <a:rPr lang="en-US" altLang="ko-KR" dirty="0">
                <a:highlight>
                  <a:srgbClr val="C0C0C0"/>
                </a:highlight>
              </a:rPr>
              <a:t>!</a:t>
            </a:r>
            <a:endParaRPr lang="ko-KR" altLang="en-US" dirty="0">
              <a:highlight>
                <a:srgbClr val="C0C0C0"/>
              </a:highlight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8BACF0-7E65-E056-AAF1-BA92C8B60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배열에서의 기타 메소드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ED019-2C68-7F37-3FF6-159CA409DE8C}"/>
              </a:ext>
            </a:extLst>
          </p:cNvPr>
          <p:cNvSpPr txBox="1"/>
          <p:nvPr/>
        </p:nvSpPr>
        <p:spPr>
          <a:xfrm>
            <a:off x="6096000" y="650422"/>
            <a:ext cx="4120731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504678-767D-0837-FFC2-778F1BB77D81}"/>
              </a:ext>
            </a:extLst>
          </p:cNvPr>
          <p:cNvSpPr txBox="1"/>
          <p:nvPr/>
        </p:nvSpPr>
        <p:spPr>
          <a:xfrm>
            <a:off x="2939334" y="1274290"/>
            <a:ext cx="562422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arr_filter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C96241-0B9A-3703-2423-328A3FD41388}"/>
              </a:ext>
            </a:extLst>
          </p:cNvPr>
          <p:cNvSpPr txBox="1"/>
          <p:nvPr/>
        </p:nvSpPr>
        <p:spPr>
          <a:xfrm>
            <a:off x="2931383" y="2636176"/>
            <a:ext cx="562422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BB9AF7"/>
                </a:solidFill>
                <a:latin typeface="Consolas" panose="020B0609020204030204" pitchFamily="49" charset="0"/>
              </a:rPr>
              <a:t>val</a:t>
            </a:r>
            <a:r>
              <a:rPr lang="en-US" altLang="ko-KR" b="0" dirty="0" err="1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_find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07D656-5640-439F-8E56-D5CB00555ACD}"/>
              </a:ext>
            </a:extLst>
          </p:cNvPr>
          <p:cNvSpPr txBox="1"/>
          <p:nvPr/>
        </p:nvSpPr>
        <p:spPr>
          <a:xfrm>
            <a:off x="2931383" y="4125229"/>
            <a:ext cx="562422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arr_map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FCBD46-2129-390D-599B-19CDD62F110D}"/>
              </a:ext>
            </a:extLst>
          </p:cNvPr>
          <p:cNvSpPr txBox="1"/>
          <p:nvPr/>
        </p:nvSpPr>
        <p:spPr>
          <a:xfrm>
            <a:off x="8183880" y="1744108"/>
            <a:ext cx="3250095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arr_filter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0270F4-D4F3-908E-1C50-8DA851B5FAAE}"/>
              </a:ext>
            </a:extLst>
          </p:cNvPr>
          <p:cNvSpPr txBox="1"/>
          <p:nvPr/>
        </p:nvSpPr>
        <p:spPr>
          <a:xfrm>
            <a:off x="8178579" y="3076025"/>
            <a:ext cx="2200523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val_find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EAFCEA-60D3-5306-635C-F3B87144969B}"/>
              </a:ext>
            </a:extLst>
          </p:cNvPr>
          <p:cNvSpPr txBox="1"/>
          <p:nvPr/>
        </p:nvSpPr>
        <p:spPr>
          <a:xfrm>
            <a:off x="8178579" y="4560839"/>
            <a:ext cx="3250095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sv-SE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arr_map</a:t>
            </a:r>
            <a:r>
              <a:rPr lang="sv-SE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v-SE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v-SE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sv-SE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sv-SE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v-SE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sv-SE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sv-SE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sv-SE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sv-SE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sv-SE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sv-SE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endParaRPr lang="sv-SE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32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16B118-123D-F8E9-8516-BDA2C1475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Object </a:t>
            </a:r>
            <a:r>
              <a:rPr lang="ko-KR" altLang="en-US" dirty="0"/>
              <a:t>에 사용가능한 </a:t>
            </a:r>
            <a:r>
              <a:rPr lang="ko-KR" altLang="en-US" dirty="0" err="1"/>
              <a:t>반복문</a:t>
            </a:r>
            <a:endParaRPr lang="en-US" altLang="ko-KR" dirty="0"/>
          </a:p>
          <a:p>
            <a:r>
              <a:rPr lang="en-US" altLang="ko-KR" dirty="0"/>
              <a:t>Key</a:t>
            </a:r>
            <a:r>
              <a:rPr lang="ko-KR" altLang="en-US" dirty="0"/>
              <a:t>로 접근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88FBBF-0F1E-354D-365A-7949C3FC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 </a:t>
            </a:r>
            <a:r>
              <a:rPr lang="en-US" altLang="ko-KR" dirty="0"/>
              <a:t>+ for ~ in…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A6E3B-F544-C74F-7929-614AA30AD785}"/>
              </a:ext>
            </a:extLst>
          </p:cNvPr>
          <p:cNvSpPr txBox="1"/>
          <p:nvPr/>
        </p:nvSpPr>
        <p:spPr>
          <a:xfrm>
            <a:off x="1210587" y="3077964"/>
            <a:ext cx="6094674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(let</a:t>
            </a:r>
            <a:r>
              <a:rPr lang="ko-KR" altLang="en-US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93134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1105</TotalTime>
  <Words>5155</Words>
  <Application>Microsoft Office PowerPoint</Application>
  <PresentationFormat>와이드스크린</PresentationFormat>
  <Paragraphs>1041</Paragraphs>
  <Slides>108</Slides>
  <Notes>54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16" baseType="lpstr">
      <vt:lpstr>D2Coding</vt:lpstr>
      <vt:lpstr>Noto Sans KR</vt:lpstr>
      <vt:lpstr>PretendardGOV</vt:lpstr>
      <vt:lpstr>맑은 고딕</vt:lpstr>
      <vt:lpstr>메이플스토리</vt:lpstr>
      <vt:lpstr>Arial</vt:lpstr>
      <vt:lpstr>Consolas</vt:lpstr>
      <vt:lpstr>2_Office 테마</vt:lpstr>
      <vt:lpstr>웹 개발자 부트캠프 과정</vt:lpstr>
      <vt:lpstr>PowerPoint 프레젠테이션</vt:lpstr>
      <vt:lpstr>PowerPoint 프레젠테이션</vt:lpstr>
      <vt:lpstr>JavaScript</vt:lpstr>
      <vt:lpstr>JavaScript 사용</vt:lpstr>
      <vt:lpstr>JavaScript 참조 방식</vt:lpstr>
      <vt:lpstr>내장 방식!</vt:lpstr>
      <vt:lpstr>링크 방식!</vt:lpstr>
      <vt:lpstr>각각의 장단점이 존재 하겠죠?</vt:lpstr>
      <vt:lpstr>일단 해봅시다!</vt:lpstr>
      <vt:lpstr>읽기 순서?</vt:lpstr>
      <vt:lpstr>PowerPoint 프레젠테이션</vt:lpstr>
      <vt:lpstr>읽기 순서!</vt:lpstr>
      <vt:lpstr>잠깐!</vt:lpstr>
      <vt:lpstr>표기법</vt:lpstr>
      <vt:lpstr>Zero-based Numbering</vt:lpstr>
      <vt:lpstr>PowerPoint 프레젠테이션</vt:lpstr>
      <vt:lpstr>PowerPoint 프레젠테이션</vt:lpstr>
      <vt:lpstr>JavaScript 주석 </vt:lpstr>
      <vt:lpstr>JavaScript 변수</vt:lpstr>
      <vt:lpstr>JavaScript 변수</vt:lpstr>
      <vt:lpstr>JavaScript 변수</vt:lpstr>
      <vt:lpstr>var &amp; let &amp; const</vt:lpstr>
      <vt:lpstr>var &amp; let &amp; const </vt:lpstr>
      <vt:lpstr>var &amp; let &amp; const</vt:lpstr>
      <vt:lpstr>JavaScript 자료형</vt:lpstr>
      <vt:lpstr>언어 타입</vt:lpstr>
      <vt:lpstr>언어 타입</vt:lpstr>
      <vt:lpstr>JavaScript 는 느슨한 언어!</vt:lpstr>
      <vt:lpstr>JavaScript 자료형</vt:lpstr>
      <vt:lpstr>자료형</vt:lpstr>
      <vt:lpstr>문자열 String</vt:lpstr>
      <vt:lpstr>문자 + 변수를 동시에 쓰고 싶을 때!</vt:lpstr>
      <vt:lpstr>숫자 Number</vt:lpstr>
      <vt:lpstr>참 거짓 데이터 Boolean</vt:lpstr>
      <vt:lpstr>미할당 데이터 undefined</vt:lpstr>
      <vt:lpstr>빈 데이터 null</vt:lpstr>
      <vt:lpstr>배열 Array</vt:lpstr>
      <vt:lpstr>데이터 꾸러미 Object</vt:lpstr>
      <vt:lpstr>실습. JavaScript 자료형 연습하기</vt:lpstr>
      <vt:lpstr>typeof</vt:lpstr>
      <vt:lpstr>자료형을 알려주는 typeof</vt:lpstr>
      <vt:lpstr>자료형 확인하기</vt:lpstr>
      <vt:lpstr>형변환</vt:lpstr>
      <vt:lpstr>성적 구하는 프로그램 만들기</vt:lpstr>
      <vt:lpstr>JS의 자동 형변환!</vt:lpstr>
      <vt:lpstr>명시적 형변환</vt:lpstr>
      <vt:lpstr>형 변환 - 문자열로</vt:lpstr>
      <vt:lpstr>형 변환 - 정수로</vt:lpstr>
      <vt:lpstr>실습. 형변환 실습</vt:lpstr>
      <vt:lpstr>PowerPoint 프레젠테이션</vt:lpstr>
      <vt:lpstr>연산자</vt:lpstr>
      <vt:lpstr>연산자 줄여쓰기</vt:lpstr>
      <vt:lpstr>증가, 감소 연산자</vt:lpstr>
      <vt:lpstr>논리 연산자</vt:lpstr>
      <vt:lpstr>JavaScript 함수</vt:lpstr>
      <vt:lpstr>함수</vt:lpstr>
      <vt:lpstr>JavaScript 함수</vt:lpstr>
      <vt:lpstr>JavaScript 함수</vt:lpstr>
      <vt:lpstr>JavaScript 함수</vt:lpstr>
      <vt:lpstr>JavaScript 함수</vt:lpstr>
      <vt:lpstr>JavaScript 함수</vt:lpstr>
      <vt:lpstr>함수 선언 방식</vt:lpstr>
      <vt:lpstr>실습. JavaScript 함수 실습 (1)</vt:lpstr>
      <vt:lpstr>실습. JavaScript 함수 실습 (2)</vt:lpstr>
      <vt:lpstr>조건문</vt:lpstr>
      <vt:lpstr>조건문</vt:lpstr>
      <vt:lpstr>if 문</vt:lpstr>
      <vt:lpstr>if와 else</vt:lpstr>
      <vt:lpstr>if와 else if</vt:lpstr>
      <vt:lpstr>if 중첩</vt:lpstr>
      <vt:lpstr>PowerPoint 프레젠테이션</vt:lpstr>
      <vt:lpstr>PowerPoint 프레젠테이션</vt:lpstr>
      <vt:lpstr>if 문에서 연산자</vt:lpstr>
      <vt:lpstr>실습. if 문 실습</vt:lpstr>
      <vt:lpstr>switch 문</vt:lpstr>
      <vt:lpstr>if 문을 간단하게 만드는 삼항 연산자</vt:lpstr>
      <vt:lpstr>실습. 지금은 오전? 오후!?</vt:lpstr>
      <vt:lpstr>반복문</vt:lpstr>
      <vt:lpstr>반복문</vt:lpstr>
      <vt:lpstr>PowerPoint 프레젠테이션</vt:lpstr>
      <vt:lpstr>PowerPoint 프레젠테이션</vt:lpstr>
      <vt:lpstr>for 문</vt:lpstr>
      <vt:lpstr>중첩 for 문</vt:lpstr>
      <vt:lpstr>while 문</vt:lpstr>
      <vt:lpstr>PowerPoint 프레젠테이션</vt:lpstr>
      <vt:lpstr>PowerPoint 프레젠테이션</vt:lpstr>
      <vt:lpstr>break &amp; continue</vt:lpstr>
      <vt:lpstr>break</vt:lpstr>
      <vt:lpstr>continue</vt:lpstr>
      <vt:lpstr>실습. 합계 구하기</vt:lpstr>
      <vt:lpstr>실습. 13의 배수이자 홀수를 찾아보자</vt:lpstr>
      <vt:lpstr>실습. 구구단 만들기</vt:lpstr>
      <vt:lpstr>문자열 관련 내장 메소드</vt:lpstr>
      <vt:lpstr>PowerPoint 프레젠테이션</vt:lpstr>
      <vt:lpstr>PowerPoint 프레젠테이션</vt:lpstr>
      <vt:lpstr>배열 관련 내장 메소드</vt:lpstr>
      <vt:lpstr>배열 관련 method</vt:lpstr>
      <vt:lpstr>배열 관련 method</vt:lpstr>
      <vt:lpstr>메소드 체이닝</vt:lpstr>
      <vt:lpstr>메소드 체이닝 (method chaining)</vt:lpstr>
      <vt:lpstr>배열에서 반복</vt:lpstr>
      <vt:lpstr>배열, 기본 for문 사용</vt:lpstr>
      <vt:lpstr>배열, for of 반복문</vt:lpstr>
      <vt:lpstr>배열, [].forEach</vt:lpstr>
      <vt:lpstr>배열의 합</vt:lpstr>
      <vt:lpstr>배열에서의 기타 메소드</vt:lpstr>
      <vt:lpstr>참고 + for ~ in…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103</cp:revision>
  <dcterms:created xsi:type="dcterms:W3CDTF">2022-06-26T11:10:22Z</dcterms:created>
  <dcterms:modified xsi:type="dcterms:W3CDTF">2024-04-29T09:02:23Z</dcterms:modified>
</cp:coreProperties>
</file>