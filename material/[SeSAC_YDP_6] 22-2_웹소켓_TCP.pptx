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609" r:id="rId2"/>
    <p:sldId id="641" r:id="rId3"/>
    <p:sldId id="630" r:id="rId4"/>
    <p:sldId id="633" r:id="rId5"/>
    <p:sldId id="631" r:id="rId6"/>
    <p:sldId id="624" r:id="rId7"/>
    <p:sldId id="626" r:id="rId8"/>
    <p:sldId id="627" r:id="rId9"/>
    <p:sldId id="628" r:id="rId10"/>
    <p:sldId id="629" r:id="rId11"/>
    <p:sldId id="634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B82914-557B-4415-A012-B6296B7E0299}" type="datetimeFigureOut">
              <a:rPr lang="ko-KR" altLang="en-US" smtClean="0"/>
              <a:t>2024-06-24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ABDF68-DB00-475E-92CC-5EA5E8110C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499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네트워크 관련 지식 잠깐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1417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dirty="0"/>
              <a:t>프로토콜 스택 </a:t>
            </a:r>
            <a:r>
              <a:rPr kumimoji="1" lang="en-US" altLang="ko-KR" dirty="0"/>
              <a:t>– </a:t>
            </a:r>
            <a:r>
              <a:rPr kumimoji="1" lang="ko-KR" altLang="en-US" dirty="0"/>
              <a:t>컴퓨터 네트워크에서 데이터 통신을 관리하는데 사용되는 소프트웨어 아키텍처</a:t>
            </a:r>
            <a:r>
              <a:rPr kumimoji="1" lang="en-US" altLang="ko-KR" dirty="0"/>
              <a:t> / </a:t>
            </a:r>
            <a:r>
              <a:rPr kumimoji="1" lang="ko-KR" altLang="en-US" dirty="0"/>
              <a:t>여러 계층으로 구성 </a:t>
            </a:r>
            <a:r>
              <a:rPr kumimoji="1" lang="en-US" altLang="ko-KR" dirty="0"/>
              <a:t>/ </a:t>
            </a:r>
            <a:r>
              <a:rPr kumimoji="1" lang="ko-KR" altLang="en-US" dirty="0"/>
              <a:t>각 계층은 특정 기능을 수행하는 프로토콜들의 집합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endParaRPr kumimoji="1"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dirty="0" err="1"/>
              <a:t>아키텍쳐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 </a:t>
            </a:r>
            <a:r>
              <a:rPr kumimoji="1" lang="ko-KR" altLang="en-US" dirty="0"/>
              <a:t>목표하는 대상에 대하여 그 구성과 동작 원리</a:t>
            </a:r>
            <a:r>
              <a:rPr kumimoji="1" lang="en-US" altLang="ko-KR" dirty="0"/>
              <a:t>, </a:t>
            </a:r>
            <a:r>
              <a:rPr kumimoji="1" lang="ko-KR" altLang="en-US" dirty="0"/>
              <a:t>구성 </a:t>
            </a:r>
            <a:r>
              <a:rPr kumimoji="1" lang="ko-KR" altLang="en-US" dirty="0" err="1"/>
              <a:t>요소간의</a:t>
            </a:r>
            <a:r>
              <a:rPr kumimoji="1" lang="ko-KR" altLang="en-US" dirty="0"/>
              <a:t> 관계 등을 설명하는 설계도 혹은 청사진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endParaRPr kumimoji="1"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dirty="0"/>
              <a:t>소프트웨어 </a:t>
            </a:r>
            <a:r>
              <a:rPr kumimoji="1" lang="ko-KR" altLang="en-US" dirty="0" err="1"/>
              <a:t>아키텍쳐</a:t>
            </a:r>
            <a:r>
              <a:rPr kumimoji="1" lang="ko-KR" altLang="en-US" dirty="0"/>
              <a:t> </a:t>
            </a:r>
            <a:r>
              <a:rPr kumimoji="1" lang="en-US" altLang="ko-KR" dirty="0"/>
              <a:t>= </a:t>
            </a:r>
            <a:r>
              <a:rPr kumimoji="1" lang="ko-KR" altLang="en-US" dirty="0"/>
              <a:t>즉</a:t>
            </a:r>
            <a:r>
              <a:rPr kumimoji="1" lang="en-US" altLang="ko-KR" dirty="0"/>
              <a:t>, </a:t>
            </a:r>
            <a:r>
              <a:rPr kumimoji="1" lang="ko-KR" altLang="en-US" dirty="0"/>
              <a:t>소프트웨어의 설계도</a:t>
            </a:r>
            <a:r>
              <a:rPr kumimoji="1" lang="en-US" altLang="ko-KR" dirty="0"/>
              <a:t>, </a:t>
            </a:r>
            <a:r>
              <a:rPr kumimoji="1" lang="ko-KR" altLang="en-US" dirty="0"/>
              <a:t>구조도</a:t>
            </a:r>
            <a:endParaRPr kumimoji="1"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dirty="0"/>
              <a:t>프로토콜 </a:t>
            </a:r>
            <a:r>
              <a:rPr kumimoji="1" lang="en-US" altLang="ko-KR" dirty="0"/>
              <a:t>– </a:t>
            </a:r>
            <a:r>
              <a:rPr kumimoji="1" lang="ko-KR" altLang="en-US" dirty="0"/>
              <a:t>네트워크 상에서 데이터를 주고 받기 위한 규칙과 절차의 집합</a:t>
            </a:r>
            <a:r>
              <a:rPr kumimoji="1" lang="en-US" altLang="ko-KR" dirty="0"/>
              <a:t>. / </a:t>
            </a:r>
            <a:r>
              <a:rPr kumimoji="1" lang="ko-KR" altLang="en-US" dirty="0"/>
              <a:t>통신 시스템 간에 어떻게 데이터를 전송하고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수신하고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처리할지를 정의</a:t>
            </a:r>
            <a:br>
              <a:rPr kumimoji="1" lang="en-US" altLang="ko-KR" dirty="0"/>
            </a:br>
            <a:r>
              <a:rPr kumimoji="1" lang="en-US" altLang="ko-KR" dirty="0"/>
              <a:t>/ </a:t>
            </a:r>
            <a:r>
              <a:rPr kumimoji="1" lang="ko-KR" altLang="en-US" dirty="0"/>
              <a:t>여러 장치들이 일관되게 통신 할 수 있게 해준다</a:t>
            </a:r>
            <a:r>
              <a:rPr kumimoji="1" lang="en-US" altLang="ko-KR" dirty="0"/>
              <a:t>. ==== </a:t>
            </a:r>
            <a:r>
              <a:rPr kumimoji="1" lang="ko-KR" altLang="en-US" dirty="0"/>
              <a:t>약속한 양식과 같음</a:t>
            </a:r>
            <a:r>
              <a:rPr kumimoji="1" lang="en-US" altLang="ko-K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dirty="0"/>
              <a:t>모르는 단어 없게</a:t>
            </a:r>
            <a:endParaRPr kumimoji="1"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dirty="0"/>
              <a:t>세트로 묶이는 이유</a:t>
            </a:r>
            <a:endParaRPr kumimoji="1" lang="en-US" altLang="ko-KR" dirty="0"/>
          </a:p>
          <a:p>
            <a:pPr marL="171450" indent="-171450">
              <a:buFontTx/>
              <a:buChar char="-"/>
            </a:pPr>
            <a:r>
              <a:rPr kumimoji="1" lang="ko-KR" altLang="en-US" dirty="0"/>
              <a:t>네트워크 통신의 기본 프로토콜 세트</a:t>
            </a:r>
            <a:r>
              <a:rPr kumimoji="1" lang="en-US" altLang="ko-KR" dirty="0"/>
              <a:t>, </a:t>
            </a:r>
            <a:r>
              <a:rPr kumimoji="1" lang="ko-KR" altLang="en-US" dirty="0"/>
              <a:t>함께 작동하여 데이터의 전송과 수신을 관리</a:t>
            </a:r>
            <a:r>
              <a:rPr kumimoji="1" lang="en-US" altLang="ko-KR" dirty="0"/>
              <a:t>. </a:t>
            </a:r>
            <a:r>
              <a:rPr kumimoji="1" lang="ko-KR" altLang="en-US" dirty="0"/>
              <a:t>상호보완적 역할</a:t>
            </a:r>
            <a:r>
              <a:rPr kumimoji="1" lang="en-US" altLang="ko-KR" dirty="0"/>
              <a:t>, </a:t>
            </a:r>
            <a:r>
              <a:rPr kumimoji="1" lang="ko-KR" altLang="en-US" dirty="0"/>
              <a:t>각각 다른 계층에서 기능을 수행함</a:t>
            </a:r>
            <a:r>
              <a:rPr kumimoji="1" lang="en-US" altLang="ko-KR" dirty="0"/>
              <a:t>.</a:t>
            </a:r>
          </a:p>
          <a:p>
            <a:pPr marL="171450" indent="-171450">
              <a:buFontTx/>
              <a:buChar char="-"/>
            </a:pPr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149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dirty="0"/>
              <a:t>프로토콜 </a:t>
            </a:r>
            <a:r>
              <a:rPr kumimoji="1" lang="en-US" altLang="ko-KR" dirty="0"/>
              <a:t>– </a:t>
            </a:r>
            <a:r>
              <a:rPr kumimoji="1" lang="ko-KR" altLang="en-US" dirty="0"/>
              <a:t>네트워크 상에서 데이터를 주고 받기 위한 규칙과 절차의 집합</a:t>
            </a:r>
            <a:r>
              <a:rPr kumimoji="1" lang="en-US" altLang="ko-KR" dirty="0"/>
              <a:t>. / </a:t>
            </a:r>
            <a:r>
              <a:rPr kumimoji="1" lang="ko-KR" altLang="en-US" dirty="0"/>
              <a:t>통신 시스템 간에 어떻게 데이터를 전송하고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수신하고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처리할지를 정의</a:t>
            </a:r>
            <a:br>
              <a:rPr kumimoji="1" lang="en-US" altLang="ko-KR" dirty="0"/>
            </a:br>
            <a:r>
              <a:rPr kumimoji="1" lang="en-US" altLang="ko-KR" dirty="0"/>
              <a:t>/ </a:t>
            </a:r>
            <a:r>
              <a:rPr kumimoji="1" lang="ko-KR" altLang="en-US" dirty="0"/>
              <a:t>여러 장치들이 일관되게 통신 할 수 있게 해준다</a:t>
            </a:r>
            <a:r>
              <a:rPr kumimoji="1" lang="en-US" altLang="ko-KR" dirty="0"/>
              <a:t>. ==== </a:t>
            </a:r>
            <a:r>
              <a:rPr kumimoji="1" lang="ko-KR" altLang="en-US" dirty="0"/>
              <a:t>약속한 양식과 같음</a:t>
            </a:r>
            <a:r>
              <a:rPr kumimoji="1" lang="en-US" altLang="ko-K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dirty="0"/>
              <a:t>프로토콜 종류는 여러가지</a:t>
            </a:r>
            <a:endParaRPr kumimoji="1"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dirty="0"/>
              <a:t>그 중 </a:t>
            </a:r>
            <a:r>
              <a:rPr kumimoji="1" lang="en-US" altLang="ko-KR" dirty="0"/>
              <a:t>TCP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IP</a:t>
            </a:r>
            <a:r>
              <a:rPr kumimoji="1" lang="ko-KR" altLang="en-US" dirty="0"/>
              <a:t>가 있고</a:t>
            </a:r>
            <a:r>
              <a:rPr kumimoji="1" lang="en-US" altLang="ko-KR" dirty="0"/>
              <a:t>, TCP</a:t>
            </a:r>
            <a:r>
              <a:rPr kumimoji="1" lang="ko-KR" altLang="en-US" dirty="0"/>
              <a:t>에 대한 설명</a:t>
            </a:r>
            <a:r>
              <a:rPr kumimoji="1" lang="en-US" altLang="ko-K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R" dirty="0"/>
              <a:t>TCP – </a:t>
            </a:r>
            <a:r>
              <a:rPr kumimoji="1" lang="ko-KR" altLang="en-US" dirty="0"/>
              <a:t>데이터가 신뢰성 있게 전송되도록 보장하는 프로토콜</a:t>
            </a:r>
            <a:r>
              <a:rPr kumimoji="1" lang="en-US" altLang="ko-KR" dirty="0"/>
              <a:t>. </a:t>
            </a:r>
            <a:r>
              <a:rPr kumimoji="1" lang="ko-KR" altLang="en-US" dirty="0"/>
              <a:t>데이터의 순서와 무결성을 유지</a:t>
            </a:r>
            <a:r>
              <a:rPr kumimoji="1" lang="en-US" altLang="ko-K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R" dirty="0"/>
              <a:t>* </a:t>
            </a:r>
            <a:r>
              <a:rPr kumimoji="1" lang="ko-KR" altLang="en-US" dirty="0"/>
              <a:t>무결성 </a:t>
            </a:r>
            <a:r>
              <a:rPr kumimoji="1" lang="en-US" altLang="ko-KR" dirty="0"/>
              <a:t>: </a:t>
            </a:r>
            <a:r>
              <a:rPr kumimoji="1" lang="ko-KR" altLang="en-US" dirty="0"/>
              <a:t>데이터가 변경되거나 손상되지 않고 원래 상태 그대로 유지되는 특성을 의미</a:t>
            </a:r>
            <a:r>
              <a:rPr kumimoji="1"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367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*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패킷 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- 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데이터를 전송하는 데 사용되는 작은 단위로 분할된 데이터 블록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120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인터넷기반의 효율적인 데이터 전송이라는 문제를 하나의 프로토콜로 설계</a:t>
            </a:r>
            <a:endParaRPr lang="en" altLang="ko-Kore-KR" b="0" i="0" dirty="0">
              <a:solidFill>
                <a:srgbClr val="374151"/>
              </a:solidFill>
              <a:effectLst/>
              <a:latin typeface="Söhne"/>
            </a:endParaRPr>
          </a:p>
          <a:p>
            <a:r>
              <a:rPr lang="en" altLang="ko-Kore-KR" b="0" i="0" dirty="0">
                <a:solidFill>
                  <a:srgbClr val="374151"/>
                </a:solidFill>
                <a:effectLst/>
                <a:latin typeface="Söhne"/>
              </a:rPr>
              <a:t>TCP/IP 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모델은 네트워크 통신을 위한 프로토콜 스택으로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컴퓨터 네트워크에서 데이터 통신을 관리하는 데 사용되는 기본 아키텍처입니다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. 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이 모델은 총 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4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개의 계층으로 구성되어 있습니다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. 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각 계층은 특정한 역할과 기능을 수행하며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데이터의 흐름을 조절하고 효율적인 통신을 가능하게 합니다</a:t>
            </a:r>
            <a:r>
              <a:rPr lang="en-US" altLang="ko-KR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endParaRPr kumimoji="1" lang="en-US" alt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r>
              <a:rPr kumimoji="1" lang="en-US" altLang="en-US" b="0" i="0" dirty="0">
                <a:solidFill>
                  <a:srgbClr val="374151"/>
                </a:solidFill>
                <a:effectLst/>
                <a:latin typeface="Söhne"/>
              </a:rPr>
              <a:t>*OSI 7</a:t>
            </a:r>
            <a:r>
              <a:rPr kumimoji="1" lang="ko-KR" altLang="en-US" b="0" i="0" dirty="0">
                <a:solidFill>
                  <a:srgbClr val="374151"/>
                </a:solidFill>
                <a:effectLst/>
                <a:latin typeface="Söhne"/>
              </a:rPr>
              <a:t>계층 모델 </a:t>
            </a:r>
            <a:r>
              <a:rPr kumimoji="1" lang="en-US" altLang="ko-KR" b="0" i="0" dirty="0">
                <a:solidFill>
                  <a:srgbClr val="374151"/>
                </a:solidFill>
                <a:effectLst/>
                <a:latin typeface="Söhne"/>
              </a:rPr>
              <a:t>: </a:t>
            </a:r>
            <a:r>
              <a:rPr kumimoji="1" lang="ko-KR" altLang="en-US" b="0" i="0" dirty="0">
                <a:solidFill>
                  <a:srgbClr val="374151"/>
                </a:solidFill>
                <a:effectLst/>
                <a:latin typeface="Söhne"/>
              </a:rPr>
              <a:t>이론적 모델의 의미</a:t>
            </a:r>
            <a:endParaRPr kumimoji="1" lang="en-US" altLang="ko-KR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171450" indent="-171450">
              <a:buFontTx/>
              <a:buChar char="-"/>
            </a:pPr>
            <a:r>
              <a:rPr kumimoji="1" lang="ko-KR" altLang="en-US" b="0" i="0" dirty="0">
                <a:solidFill>
                  <a:srgbClr val="374151"/>
                </a:solidFill>
                <a:effectLst/>
                <a:latin typeface="Söhne"/>
              </a:rPr>
              <a:t>네트워크 통신을 설명하기 위한 </a:t>
            </a:r>
            <a:r>
              <a:rPr kumimoji="1" lang="en-US" altLang="ko-KR" b="0" i="0" dirty="0">
                <a:solidFill>
                  <a:srgbClr val="374151"/>
                </a:solidFill>
                <a:effectLst/>
                <a:latin typeface="Söhne"/>
              </a:rPr>
              <a:t>“</a:t>
            </a:r>
            <a:r>
              <a:rPr kumimoji="1" lang="ko-KR" altLang="en-US" b="0" i="0" dirty="0">
                <a:solidFill>
                  <a:srgbClr val="374151"/>
                </a:solidFill>
                <a:effectLst/>
                <a:latin typeface="Söhne"/>
              </a:rPr>
              <a:t>이론적</a:t>
            </a:r>
            <a:r>
              <a:rPr kumimoji="1" lang="en-US" altLang="ko-KR" b="0" i="0" dirty="0">
                <a:solidFill>
                  <a:srgbClr val="374151"/>
                </a:solidFill>
                <a:effectLst/>
                <a:latin typeface="Söhne"/>
              </a:rPr>
              <a:t>” </a:t>
            </a:r>
            <a:r>
              <a:rPr kumimoji="1" lang="ko-KR" altLang="en-US" b="0" i="0" dirty="0">
                <a:solidFill>
                  <a:srgbClr val="374151"/>
                </a:solidFill>
                <a:effectLst/>
                <a:latin typeface="Söhne"/>
              </a:rPr>
              <a:t>모델</a:t>
            </a:r>
            <a:endParaRPr kumimoji="1" lang="en-US" altLang="ko-KR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171450" indent="-171450">
              <a:buFontTx/>
              <a:buChar char="-"/>
            </a:pPr>
            <a:endParaRPr kumimoji="1" lang="en-US" alt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171450" indent="-171450">
              <a:buFontTx/>
              <a:buChar char="-"/>
            </a:pPr>
            <a:r>
              <a:rPr kumimoji="1" lang="ko-KR" altLang="en-US" dirty="0"/>
              <a:t>네트워크 통신을 </a:t>
            </a:r>
            <a:r>
              <a:rPr kumimoji="1" lang="en-US" altLang="ko-KR" dirty="0"/>
              <a:t>7</a:t>
            </a:r>
            <a:r>
              <a:rPr kumimoji="1" lang="ko-KR" altLang="en-US" dirty="0"/>
              <a:t>개의 계층으로 나누어 각 계층의 역할을 명확히 정의하여</a:t>
            </a:r>
            <a:r>
              <a:rPr kumimoji="1" lang="en-US" altLang="ko-KR" dirty="0"/>
              <a:t>, </a:t>
            </a:r>
            <a:r>
              <a:rPr kumimoji="1" lang="ko-KR" altLang="en-US" dirty="0"/>
              <a:t>네트워크 설계와 문제 해결을 체계적으로 접근할 수 있게 한다</a:t>
            </a:r>
            <a:r>
              <a:rPr kumimoji="1" lang="en-US" altLang="ko-KR" dirty="0"/>
              <a:t>.</a:t>
            </a:r>
          </a:p>
          <a:p>
            <a:pPr marL="171450" indent="-171450">
              <a:buFontTx/>
              <a:buChar char="-"/>
            </a:pPr>
            <a:r>
              <a:rPr kumimoji="1" lang="ko-KR" altLang="en-US" dirty="0"/>
              <a:t>이론적 모델이라는 말은</a:t>
            </a:r>
            <a:r>
              <a:rPr kumimoji="1" lang="en-US" altLang="ko-KR" dirty="0"/>
              <a:t>, OSI </a:t>
            </a:r>
            <a:r>
              <a:rPr kumimoji="1" lang="ko-KR" altLang="en-US" dirty="0"/>
              <a:t>모델이 네트워크 통신을 구조적으로 이해하고 설계하는 데 도움을 주기 위해 만들어진 표준이지만</a:t>
            </a:r>
            <a:r>
              <a:rPr kumimoji="1" lang="en-US" altLang="ko-KR" dirty="0"/>
              <a:t>, </a:t>
            </a:r>
            <a:r>
              <a:rPr kumimoji="1" lang="ko-KR" altLang="en-US" dirty="0"/>
              <a:t>실제로 모든 네트워크 시스템이 이 모델을 엄격 </a:t>
            </a:r>
            <a:r>
              <a:rPr kumimoji="1" lang="ko-KR" altLang="en-US" dirty="0" err="1"/>
              <a:t>따르지느</a:t>
            </a:r>
            <a:r>
              <a:rPr kumimoji="1" lang="ko-KR" altLang="en-US" dirty="0"/>
              <a:t> 않는다는 의미</a:t>
            </a:r>
            <a:r>
              <a:rPr kumimoji="1" lang="en-US" altLang="ko-KR" dirty="0"/>
              <a:t>.</a:t>
            </a:r>
          </a:p>
          <a:p>
            <a:pPr marL="171450" indent="-171450">
              <a:buFontTx/>
              <a:buChar char="-"/>
            </a:pPr>
            <a:endParaRPr kumimoji="1" lang="en-US" alt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en-US" dirty="0"/>
              <a:t>TCP/IP </a:t>
            </a:r>
            <a:r>
              <a:rPr kumimoji="1" lang="ko-KR" altLang="en-US" dirty="0"/>
              <a:t>모델 </a:t>
            </a:r>
            <a:r>
              <a:rPr kumimoji="1" lang="en-US" altLang="ko-KR" dirty="0"/>
              <a:t>: </a:t>
            </a:r>
            <a:r>
              <a:rPr kumimoji="1" lang="ko-KR" altLang="en-US" dirty="0"/>
              <a:t>실제 사용되는 모델</a:t>
            </a:r>
            <a:endParaRPr kumimoji="1" lang="en-US" altLang="ko-KR" dirty="0"/>
          </a:p>
          <a:p>
            <a:pPr marL="171450" indent="-171450">
              <a:buFontTx/>
              <a:buChar char="-"/>
            </a:pPr>
            <a:r>
              <a:rPr kumimoji="1" lang="ko-KR" altLang="en-US" dirty="0"/>
              <a:t>실제 네트워크 통신에서 널리 사용되는 실질적 모델이다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인터넷의 기반이 되는 프로토콜 스위트로</a:t>
            </a:r>
            <a:r>
              <a:rPr kumimoji="1" lang="en-US" altLang="ko-KR" dirty="0"/>
              <a:t>, </a:t>
            </a:r>
            <a:r>
              <a:rPr kumimoji="1" lang="ko-KR" altLang="en-US" dirty="0"/>
              <a:t>네트워크 상에서 데이터를 전송하는데 사용된다</a:t>
            </a:r>
            <a:endParaRPr kumimoji="1" lang="en-US" altLang="ko-KR" dirty="0"/>
          </a:p>
          <a:p>
            <a:pPr marL="171450" indent="-171450">
              <a:buFontTx/>
              <a:buChar char="-"/>
            </a:pPr>
            <a:r>
              <a:rPr kumimoji="1" lang="en-US" altLang="ko-KR" dirty="0"/>
              <a:t>OSI </a:t>
            </a:r>
            <a:r>
              <a:rPr kumimoji="1" lang="ko-KR" altLang="en-US" dirty="0"/>
              <a:t>모델 보다 단순화된 구조를 가지며</a:t>
            </a:r>
            <a:r>
              <a:rPr kumimoji="1" lang="en-US" altLang="ko-KR" dirty="0"/>
              <a:t>, </a:t>
            </a:r>
            <a:r>
              <a:rPr kumimoji="1" lang="ko-KR" altLang="en-US" dirty="0"/>
              <a:t>실제로 네트워크 시스템에서 많이 사용됨</a:t>
            </a:r>
            <a:r>
              <a:rPr kumimoji="1" lang="en-US" altLang="ko-KR" dirty="0"/>
              <a:t>.</a:t>
            </a:r>
          </a:p>
          <a:p>
            <a:pPr marL="171450" indent="-171450">
              <a:buFontTx/>
              <a:buChar char="-"/>
            </a:pPr>
            <a:endParaRPr kumimoji="1" lang="en-US" altLang="ko-KR" dirty="0"/>
          </a:p>
          <a:p>
            <a:pPr marL="171450" indent="-171450">
              <a:buFontTx/>
              <a:buChar char="-"/>
            </a:pPr>
            <a:r>
              <a:rPr kumimoji="1" lang="en-US" altLang="ko-KR" dirty="0"/>
              <a:t>*Why? 4</a:t>
            </a:r>
            <a:r>
              <a:rPr kumimoji="1" lang="ko-KR" altLang="en-US" dirty="0"/>
              <a:t>계층</a:t>
            </a:r>
            <a:r>
              <a:rPr kumimoji="1" lang="en-US" altLang="ko-KR" dirty="0"/>
              <a:t>?</a:t>
            </a:r>
          </a:p>
          <a:p>
            <a:pPr marL="171450" indent="-171450">
              <a:buFontTx/>
              <a:buChar char="-"/>
            </a:pPr>
            <a:r>
              <a:rPr kumimoji="1" lang="ko-KR" altLang="en-US" dirty="0"/>
              <a:t>네트워크 통신의 효율성을 위해 계층을 통합하여 간소화한 모델</a:t>
            </a:r>
            <a:r>
              <a:rPr kumimoji="1" lang="en-US" altLang="ko-KR" dirty="0"/>
              <a:t>.</a:t>
            </a:r>
          </a:p>
          <a:p>
            <a:pPr marL="171450" indent="-171450">
              <a:buFontTx/>
              <a:buChar char="-"/>
            </a:pPr>
            <a:endParaRPr kumimoji="1" lang="en-US" altLang="ko-KR" dirty="0"/>
          </a:p>
          <a:p>
            <a:pPr marL="171450" indent="-171450">
              <a:buFontTx/>
              <a:buChar char="-"/>
            </a:pPr>
            <a:r>
              <a:rPr kumimoji="1" lang="ko-KR" altLang="en-US" dirty="0"/>
              <a:t>계층 설명</a:t>
            </a:r>
            <a:endParaRPr kumimoji="1" lang="en-US" altLang="ko-KR" dirty="0"/>
          </a:p>
          <a:p>
            <a:pPr marL="628650" lvl="1" indent="-171450">
              <a:buFontTx/>
              <a:buChar char="-"/>
            </a:pP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4796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- </a:t>
            </a:r>
            <a:r>
              <a:rPr lang="ko-KR" altLang="en-US" dirty="0"/>
              <a:t>데이터가 실제로 물리적 네트워크를 통해 전송되는 방식을 담당</a:t>
            </a:r>
            <a:r>
              <a:rPr lang="en-US" altLang="ko-K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/>
              <a:t>데이터 프레임 </a:t>
            </a:r>
            <a:r>
              <a:rPr lang="en-US" altLang="ko-KR" dirty="0"/>
              <a:t>– </a:t>
            </a:r>
            <a:r>
              <a:rPr lang="ko-KR" altLang="en-US" dirty="0"/>
              <a:t>데이터 링크 계층에서 사용되는 데이터 전송 단위</a:t>
            </a:r>
            <a:r>
              <a:rPr lang="en-US" altLang="ko-KR" dirty="0"/>
              <a:t>. </a:t>
            </a:r>
            <a:r>
              <a:rPr lang="ko-KR" altLang="en-US" dirty="0"/>
              <a:t>데이터가 물리적 매체를 통해 전송되기 전에 데이터 프레임으로 포장</a:t>
            </a:r>
            <a:r>
              <a:rPr lang="en-US" altLang="ko-K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/>
              <a:t>데이터는 각 계층을 거치면서 캡슐화가 진행되는데 그때마다 데이터를 부르는 이름이 달라집니다</a:t>
            </a:r>
            <a:r>
              <a:rPr lang="en-US" altLang="ko-KR" dirty="0"/>
              <a:t>(</a:t>
            </a:r>
            <a:r>
              <a:rPr lang="ko-KR" altLang="en-US" dirty="0"/>
              <a:t>기능</a:t>
            </a:r>
            <a:r>
              <a:rPr lang="en-US" altLang="ko-KR" dirty="0"/>
              <a:t>=</a:t>
            </a:r>
            <a:r>
              <a:rPr lang="ko-KR" altLang="en-US" dirty="0"/>
              <a:t>가지고 있는 정보도 약간씩 변형</a:t>
            </a:r>
            <a:r>
              <a:rPr lang="en-US" altLang="ko-KR" dirty="0"/>
              <a:t>). </a:t>
            </a:r>
            <a:r>
              <a:rPr lang="ko-KR" altLang="en-US" dirty="0"/>
              <a:t>그냥 데이터다</a:t>
            </a:r>
            <a:r>
              <a:rPr lang="en-US" altLang="ko-KR" dirty="0"/>
              <a:t>~ </a:t>
            </a:r>
            <a:r>
              <a:rPr lang="ko-KR" altLang="en-US" dirty="0"/>
              <a:t>라고 생각하세요</a:t>
            </a:r>
            <a:r>
              <a:rPr lang="en-US" altLang="ko-KR" dirty="0"/>
              <a:t>!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응용 계층 </a:t>
            </a:r>
            <a:r>
              <a:rPr lang="en-US" altLang="ko-KR" dirty="0"/>
              <a:t>: </a:t>
            </a:r>
            <a:r>
              <a:rPr lang="ko-KR" altLang="en-US" dirty="0"/>
              <a:t>데이터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전송 계층 </a:t>
            </a:r>
            <a:r>
              <a:rPr lang="en-US" altLang="ko-KR" dirty="0"/>
              <a:t>: </a:t>
            </a:r>
            <a:r>
              <a:rPr lang="ko-KR" altLang="en-US" dirty="0"/>
              <a:t>세그먼트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인터넷 계층 </a:t>
            </a:r>
            <a:r>
              <a:rPr lang="en-US" altLang="ko-KR" dirty="0"/>
              <a:t>: </a:t>
            </a:r>
            <a:r>
              <a:rPr lang="ko-KR" altLang="en-US" dirty="0"/>
              <a:t>패킷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네트워크 </a:t>
            </a:r>
            <a:r>
              <a:rPr lang="ko-KR" altLang="en-US" dirty="0" err="1"/>
              <a:t>엑세스</a:t>
            </a:r>
            <a:r>
              <a:rPr lang="ko-KR" altLang="en-US" dirty="0"/>
              <a:t> 계층 </a:t>
            </a:r>
            <a:r>
              <a:rPr lang="en-US" altLang="ko-KR" dirty="0"/>
              <a:t>:</a:t>
            </a:r>
            <a:r>
              <a:rPr lang="ko-KR" altLang="en-US" dirty="0"/>
              <a:t> 프레임</a:t>
            </a:r>
            <a:endParaRPr lang="en-US" altLang="ko-KR" dirty="0"/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/>
              <a:t>*</a:t>
            </a:r>
            <a:r>
              <a:rPr lang="ko-KR" altLang="en-US" dirty="0"/>
              <a:t>캡슐화 </a:t>
            </a:r>
            <a:r>
              <a:rPr lang="en-US" altLang="ko-KR" dirty="0"/>
              <a:t>/ </a:t>
            </a:r>
            <a:r>
              <a:rPr lang="ko-KR" altLang="en-US" dirty="0"/>
              <a:t>역캡슐화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네트워크 통신에서 데이터가 상위 계층에서 하위 계층으로 전달 될 때</a:t>
            </a:r>
            <a:r>
              <a:rPr lang="en-US" altLang="ko-KR" dirty="0"/>
              <a:t>, </a:t>
            </a:r>
            <a:r>
              <a:rPr lang="ko-KR" altLang="en-US" dirty="0"/>
              <a:t>각 계층에서 헤더나 특정 정보가 추가되는 과정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878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" altLang="ko-Kore-KR" sz="1200" b="0" i="0" dirty="0">
                <a:effectLst/>
                <a:latin typeface="+mn-ea"/>
              </a:rPr>
              <a:t>ARP</a:t>
            </a:r>
            <a:r>
              <a:rPr lang="en-US" altLang="ko-KR" sz="1200" b="0" i="0" dirty="0">
                <a:effectLst/>
                <a:latin typeface="+mn-ea"/>
              </a:rPr>
              <a:t>(</a:t>
            </a:r>
            <a:r>
              <a:rPr lang="ko-KR" altLang="en-US" sz="1200" b="0" i="0" dirty="0">
                <a:effectLst/>
                <a:latin typeface="+mn-ea"/>
              </a:rPr>
              <a:t>주소 해결 프로토콜</a:t>
            </a:r>
            <a:r>
              <a:rPr lang="en-US" altLang="ko-KR" sz="1200" b="0" i="0" dirty="0">
                <a:effectLst/>
                <a:latin typeface="+mn-ea"/>
              </a:rPr>
              <a:t>) : </a:t>
            </a:r>
            <a:r>
              <a:rPr lang="ko-KR" altLang="en-US" b="0" i="0" dirty="0">
                <a:solidFill>
                  <a:srgbClr val="040C28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네트워크 상에서 </a:t>
            </a:r>
            <a:r>
              <a:rPr lang="en" altLang="ko-Kore-KR" b="0" i="0" dirty="0">
                <a:solidFill>
                  <a:srgbClr val="040C28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IP </a:t>
            </a:r>
            <a:r>
              <a:rPr lang="ko-KR" altLang="en-US" b="0" i="0" dirty="0">
                <a:solidFill>
                  <a:srgbClr val="040C28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주소를 물리적인 </a:t>
            </a:r>
            <a:r>
              <a:rPr lang="en-US" altLang="ko-KR" b="0" i="0" dirty="0">
                <a:solidFill>
                  <a:srgbClr val="040C28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MAC </a:t>
            </a:r>
            <a:r>
              <a:rPr lang="ko-KR" altLang="en-US" b="0" i="0" dirty="0">
                <a:solidFill>
                  <a:srgbClr val="040C28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주소로 매핑</a:t>
            </a:r>
            <a:r>
              <a:rPr lang="en-US" altLang="ko-KR" b="0" i="0" dirty="0">
                <a:solidFill>
                  <a:srgbClr val="040C28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</a:t>
            </a:r>
            <a:r>
              <a:rPr lang="ko-KR" altLang="en-US" b="0" i="0" dirty="0">
                <a:solidFill>
                  <a:srgbClr val="040C28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물리적인 주소를 찾는 과정</a:t>
            </a:r>
            <a:r>
              <a:rPr lang="en-US" altLang="ko-KR" b="0" i="0" dirty="0">
                <a:solidFill>
                  <a:srgbClr val="040C28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</a:t>
            </a:r>
            <a:r>
              <a:rPr lang="ko-KR" altLang="en-US" b="0" i="0" dirty="0">
                <a:solidFill>
                  <a:srgbClr val="040C28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하는 프로토콜</a:t>
            </a:r>
            <a:r>
              <a:rPr lang="en-US" altLang="ko-KR" b="0" i="0" dirty="0">
                <a:solidFill>
                  <a:srgbClr val="040C28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40C28"/>
              </a:solidFill>
              <a:effectLst/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40C28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- MAC </a:t>
            </a:r>
            <a:r>
              <a:rPr lang="ko-KR" altLang="en-US" b="0" i="0" dirty="0">
                <a:solidFill>
                  <a:srgbClr val="040C28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주소는 각 네트워크 장치에 할당된 고유한 식별자이다</a:t>
            </a:r>
            <a:r>
              <a:rPr lang="en-US" altLang="ko-KR" b="0" i="0" dirty="0">
                <a:solidFill>
                  <a:srgbClr val="040C28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40C28"/>
              </a:solidFill>
              <a:effectLst/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040C28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매핑 </a:t>
            </a:r>
            <a:r>
              <a:rPr lang="en-US" altLang="ko-KR" b="0" i="0" dirty="0">
                <a:solidFill>
                  <a:srgbClr val="040C28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: </a:t>
            </a:r>
            <a:r>
              <a:rPr lang="ko-KR" altLang="en-US" b="0" i="0" dirty="0">
                <a:solidFill>
                  <a:srgbClr val="040C28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두 가지 다른 유형의 정보나 요소 사이의 상호 대응</a:t>
            </a:r>
            <a:r>
              <a:rPr lang="en-US" altLang="ko-KR" b="0" i="0" dirty="0">
                <a:solidFill>
                  <a:srgbClr val="040C28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en-US" b="0" i="0" dirty="0">
              <a:solidFill>
                <a:srgbClr val="040C28"/>
              </a:solidFill>
              <a:effectLst/>
              <a:ea typeface="Apple SD Gothic Neo" panose="02000300000000000000" pitchFamily="2" charset="-127"/>
            </a:endParaRPr>
          </a:p>
          <a:p>
            <a:pPr marL="171450" indent="-171450">
              <a:buFontTx/>
              <a:buChar char="-"/>
            </a:pPr>
            <a:r>
              <a:rPr kumimoji="1" lang="ko-KR" altLang="en-US" b="0" i="0" dirty="0">
                <a:solidFill>
                  <a:srgbClr val="040C28"/>
                </a:solidFill>
                <a:effectLst/>
                <a:ea typeface="Apple SD Gothic Neo" panose="02000300000000000000" pitchFamily="2" charset="-127"/>
              </a:rPr>
              <a:t>논리적 주소</a:t>
            </a:r>
            <a:r>
              <a:rPr kumimoji="1" lang="en-US" altLang="ko-KR" b="0" i="0" dirty="0">
                <a:solidFill>
                  <a:srgbClr val="040C28"/>
                </a:solidFill>
                <a:effectLst/>
                <a:ea typeface="Apple SD Gothic Neo" panose="02000300000000000000" pitchFamily="2" charset="-127"/>
              </a:rPr>
              <a:t>(IP </a:t>
            </a:r>
            <a:r>
              <a:rPr kumimoji="1" lang="ko-KR" altLang="en-US" b="0" i="0" dirty="0">
                <a:solidFill>
                  <a:srgbClr val="040C28"/>
                </a:solidFill>
                <a:effectLst/>
                <a:ea typeface="Apple SD Gothic Neo" panose="02000300000000000000" pitchFamily="2" charset="-127"/>
              </a:rPr>
              <a:t>주소</a:t>
            </a:r>
            <a:r>
              <a:rPr kumimoji="1" lang="en-US" altLang="ko-KR" b="0" i="0" dirty="0">
                <a:solidFill>
                  <a:srgbClr val="040C28"/>
                </a:solidFill>
                <a:effectLst/>
                <a:ea typeface="Apple SD Gothic Neo" panose="02000300000000000000" pitchFamily="2" charset="-127"/>
              </a:rPr>
              <a:t>)</a:t>
            </a:r>
            <a:r>
              <a:rPr kumimoji="1" lang="ko-KR" altLang="en-US" b="0" i="0" dirty="0">
                <a:solidFill>
                  <a:srgbClr val="040C28"/>
                </a:solidFill>
                <a:effectLst/>
                <a:ea typeface="Apple SD Gothic Neo" panose="02000300000000000000" pitchFamily="2" charset="-127"/>
              </a:rPr>
              <a:t>를 사용하여 데이터 패킷을 목적지까지 전달한다</a:t>
            </a:r>
            <a:r>
              <a:rPr kumimoji="1" lang="en-US" altLang="ko-KR" b="0" i="0" dirty="0">
                <a:solidFill>
                  <a:srgbClr val="040C28"/>
                </a:solidFill>
                <a:effectLst/>
                <a:ea typeface="Apple SD Gothic Neo" panose="02000300000000000000" pitchFamily="2" charset="-127"/>
              </a:rPr>
              <a:t>. / </a:t>
            </a:r>
            <a:r>
              <a:rPr kumimoji="1" lang="ko-KR" altLang="en-US" b="0" i="0" dirty="0">
                <a:solidFill>
                  <a:srgbClr val="040C28"/>
                </a:solidFill>
                <a:effectLst/>
                <a:ea typeface="Apple SD Gothic Neo" panose="02000300000000000000" pitchFamily="2" charset="-127"/>
              </a:rPr>
              <a:t>경로 설정 및 패킷 전달을 담당</a:t>
            </a:r>
            <a:r>
              <a:rPr kumimoji="1" lang="en-US" altLang="ko-KR" b="0" i="0" dirty="0">
                <a:solidFill>
                  <a:srgbClr val="040C28"/>
                </a:solidFill>
                <a:effectLst/>
                <a:ea typeface="Apple SD Gothic Neo" panose="02000300000000000000" pitchFamily="2" charset="-127"/>
              </a:rPr>
              <a:t>.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42051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데이터의 신뢰성 있는 전송을 담당하며</a:t>
            </a:r>
            <a:r>
              <a:rPr lang="en-US" altLang="ko-KR" dirty="0"/>
              <a:t>, </a:t>
            </a:r>
            <a:r>
              <a:rPr lang="ko-KR" altLang="en-US" dirty="0"/>
              <a:t>데이터 세그먼트의 전달과 오류 검출 및 수정을 수행한다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887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사용자와 네트워크 간의 인터페이스를 제공하며</a:t>
            </a:r>
            <a:r>
              <a:rPr lang="en-US" altLang="ko-KR" dirty="0"/>
              <a:t>, </a:t>
            </a:r>
            <a:r>
              <a:rPr lang="ko-KR" altLang="en-US" dirty="0"/>
              <a:t>네트워크 애플리케이션이 동작하는 계층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6150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 err="1"/>
              <a:t>데이터그램</a:t>
            </a:r>
            <a:r>
              <a:rPr kumimoji="1" lang="ko-KR" altLang="en-US" dirty="0"/>
              <a:t> </a:t>
            </a:r>
            <a:r>
              <a:rPr kumimoji="1" lang="en-US" altLang="ko-KR" dirty="0"/>
              <a:t>- </a:t>
            </a:r>
            <a:r>
              <a:rPr kumimoji="1" lang="ko-KR" altLang="en-US" dirty="0"/>
              <a:t>패킷 과 같이 데이터의 이름이 바뀐 것</a:t>
            </a:r>
            <a:r>
              <a:rPr kumimoji="1" lang="en-US" altLang="ko-KR" dirty="0"/>
              <a:t>.</a:t>
            </a:r>
          </a:p>
          <a:p>
            <a:endParaRPr kumimoji="1" lang="en-US" altLang="en-US" dirty="0"/>
          </a:p>
          <a:p>
            <a:r>
              <a:rPr kumimoji="1" lang="ko-KR" altLang="en-US" dirty="0"/>
              <a:t>데이터를 빠르게 전송해야 하는 곳</a:t>
            </a:r>
            <a:r>
              <a:rPr kumimoji="1" lang="en-US" altLang="ko-KR" dirty="0"/>
              <a:t>. </a:t>
            </a:r>
            <a:r>
              <a:rPr kumimoji="1" lang="ko-KR" altLang="en-US" dirty="0"/>
              <a:t>손실이 발생하더라도 연속적인 데이터 전송이 중요하기 때문에 </a:t>
            </a:r>
            <a:r>
              <a:rPr kumimoji="1" lang="en-US" altLang="ko-KR" dirty="0"/>
              <a:t>TCP </a:t>
            </a:r>
            <a:r>
              <a:rPr kumimoji="1" lang="ko-KR" altLang="en-US" dirty="0"/>
              <a:t>보다 유리</a:t>
            </a:r>
            <a:r>
              <a:rPr kumimoji="1" lang="en-US" altLang="ko-KR" dirty="0"/>
              <a:t>.</a:t>
            </a:r>
          </a:p>
          <a:p>
            <a:endParaRPr kumimoji="1" lang="en-US" altLang="en-US" dirty="0"/>
          </a:p>
          <a:p>
            <a:r>
              <a:rPr kumimoji="1" lang="ko-KR" altLang="en-US" dirty="0"/>
              <a:t>빠른 전송 속도와 낮은 지연 시간</a:t>
            </a:r>
            <a:r>
              <a:rPr kumimoji="1" lang="en-US" altLang="ko-KR" dirty="0"/>
              <a:t>.</a:t>
            </a:r>
          </a:p>
          <a:p>
            <a:endParaRPr kumimoji="1" lang="en-US" altLang="en-US" dirty="0"/>
          </a:p>
          <a:p>
            <a:r>
              <a:rPr kumimoji="1" lang="ko-KR" altLang="en-US" dirty="0"/>
              <a:t>즉 </a:t>
            </a:r>
            <a:r>
              <a:rPr kumimoji="1" lang="en-US" altLang="ko-KR" dirty="0"/>
              <a:t>, </a:t>
            </a:r>
            <a:r>
              <a:rPr kumimoji="1" lang="ko-KR" altLang="en-US" dirty="0"/>
              <a:t>데이터를 신속하게 전송하고 신뢰성 있는 것 보다 속도와 효율성을 중시해야 하는 경우에 적합한 프로토콜 이다</a:t>
            </a:r>
            <a:r>
              <a:rPr kumimoji="1" lang="en-US" altLang="ko-KR" dirty="0"/>
              <a:t>.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778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911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1874828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821775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768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612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075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1968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811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129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894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243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6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416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253175-BE8E-E023-4244-F5F2317AEC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6A246E-FB6A-5321-0337-084276D1DC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SeSAC</a:t>
            </a:r>
            <a:r>
              <a:rPr lang="en-US" altLang="ko-KR" dirty="0"/>
              <a:t> x </a:t>
            </a:r>
            <a:r>
              <a:rPr lang="en-US" altLang="ko-KR" dirty="0" err="1"/>
              <a:t>CODINGOn</a:t>
            </a:r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670CE7-4B81-20AA-262B-0BF996001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6월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558A94-1DC2-850F-3381-EFE96E633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8677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TCP/IP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6620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74256E-8B0A-3A97-F61D-57BD35820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A6F-17D0-4AE7-B2E3-B4DF6F4C79E7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CCFFE7-0D4D-9E31-1A83-2992F733D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4CA2B18-AB30-E935-6541-802B276D9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TCP/IP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A69C55-D842-9205-A47B-484F9C0EDC77}"/>
              </a:ext>
            </a:extLst>
          </p:cNvPr>
          <p:cNvSpPr txBox="1"/>
          <p:nvPr/>
        </p:nvSpPr>
        <p:spPr>
          <a:xfrm>
            <a:off x="727999" y="1736726"/>
            <a:ext cx="10736001" cy="2648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" altLang="ko-Kore-KR" sz="2800" b="0" i="0" dirty="0">
                <a:effectLst/>
                <a:latin typeface="+mn-ea"/>
              </a:rPr>
              <a:t>TCP/IP</a:t>
            </a:r>
            <a:r>
              <a:rPr lang="ko-KR" altLang="en-US" sz="2800" b="0" i="0" dirty="0">
                <a:effectLst/>
                <a:latin typeface="+mn-ea"/>
              </a:rPr>
              <a:t>는 컴퓨터 네트워크에서 데이터 통신을 위한 </a:t>
            </a:r>
            <a:r>
              <a:rPr lang="ko-KR" altLang="en-US" sz="2800" b="1" i="0" dirty="0">
                <a:solidFill>
                  <a:schemeClr val="accent1"/>
                </a:solidFill>
                <a:effectLst/>
                <a:latin typeface="+mn-ea"/>
              </a:rPr>
              <a:t>프로토콜 스택</a:t>
            </a:r>
            <a:r>
              <a:rPr lang="ko-KR" altLang="en-US" sz="2800" b="0" i="0" dirty="0">
                <a:effectLst/>
                <a:latin typeface="+mn-ea"/>
              </a:rPr>
              <a:t>으로</a:t>
            </a:r>
            <a:r>
              <a:rPr lang="en-US" altLang="ko-KR" sz="2800" b="0" i="0" dirty="0">
                <a:effectLst/>
                <a:latin typeface="+mn-ea"/>
              </a:rPr>
              <a:t>, </a:t>
            </a:r>
            <a:r>
              <a:rPr lang="ko-KR" altLang="en-US" sz="2800" b="0" i="0" dirty="0">
                <a:effectLst/>
                <a:latin typeface="+mn-ea"/>
              </a:rPr>
              <a:t>네트워크 간의 데이터 교환을 가능하게 하는 중요한 기술</a:t>
            </a:r>
            <a:endParaRPr lang="en-US" altLang="ko-KR" sz="2800" b="0" i="0" dirty="0">
              <a:effectLst/>
              <a:latin typeface="+mn-ea"/>
            </a:endParaRPr>
          </a:p>
          <a:p>
            <a:pPr algn="l">
              <a:lnSpc>
                <a:spcPct val="120000"/>
              </a:lnSpc>
            </a:pPr>
            <a:endParaRPr lang="en-US" altLang="ko-KR" sz="2800" dirty="0">
              <a:latin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800" b="0" i="0" dirty="0">
                <a:effectLst/>
                <a:latin typeface="+mn-ea"/>
              </a:rPr>
              <a:t>데이터를 분할하여 보냄</a:t>
            </a:r>
            <a:r>
              <a:rPr lang="en-US" altLang="ko-KR" sz="2800" b="0" i="0" dirty="0">
                <a:effectLst/>
                <a:latin typeface="+mn-ea"/>
              </a:rPr>
              <a:t>.</a:t>
            </a: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800" b="0" i="0" dirty="0">
                <a:effectLst/>
                <a:latin typeface="+mn-ea"/>
              </a:rPr>
              <a:t>정확한 전송을 보장하며 데이터의 경로를 지정하는 역할</a:t>
            </a:r>
            <a:r>
              <a:rPr lang="en-US" altLang="ko-KR" sz="2800" b="0" i="0" dirty="0">
                <a:effectLst/>
                <a:latin typeface="+mn-ea"/>
              </a:rPr>
              <a:t>.</a:t>
            </a:r>
            <a:endParaRPr lang="en-US" altLang="ko-KR" sz="2800" i="0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87411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74256E-8B0A-3A97-F61D-57BD35820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A6F-17D0-4AE7-B2E3-B4DF6F4C79E7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CCFFE7-0D4D-9E31-1A83-2992F733D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4CA2B18-AB30-E935-6541-802B276D9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TCP/IP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A69C55-D842-9205-A47B-484F9C0EDC77}"/>
              </a:ext>
            </a:extLst>
          </p:cNvPr>
          <p:cNvSpPr txBox="1"/>
          <p:nvPr/>
        </p:nvSpPr>
        <p:spPr>
          <a:xfrm>
            <a:off x="727999" y="1317001"/>
            <a:ext cx="10736001" cy="4719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" altLang="ko-Kore-KR" sz="2800" b="1" i="0" dirty="0">
                <a:effectLst/>
                <a:latin typeface="+mn-ea"/>
              </a:rPr>
              <a:t>TCP (Transmission Control Protocol)</a:t>
            </a:r>
          </a:p>
          <a:p>
            <a:pPr algn="l">
              <a:lnSpc>
                <a:spcPct val="120000"/>
              </a:lnSpc>
            </a:pPr>
            <a:r>
              <a:rPr lang="en" altLang="ko-Kore-KR" sz="2800" b="0" i="0" dirty="0">
                <a:effectLst/>
                <a:latin typeface="+mn-ea"/>
              </a:rPr>
              <a:t>TCP</a:t>
            </a:r>
            <a:r>
              <a:rPr lang="ko-KR" altLang="en-US" sz="2800" b="0" i="0" dirty="0">
                <a:effectLst/>
                <a:latin typeface="+mn-ea"/>
              </a:rPr>
              <a:t>는 데이터를 </a:t>
            </a:r>
            <a:r>
              <a:rPr lang="ko-KR" altLang="en-US" sz="2800" b="0" i="0" dirty="0">
                <a:solidFill>
                  <a:schemeClr val="accent1"/>
                </a:solidFill>
                <a:effectLst/>
                <a:latin typeface="+mn-ea"/>
              </a:rPr>
              <a:t>신뢰성 있게 전송</a:t>
            </a:r>
            <a:r>
              <a:rPr lang="ko-KR" altLang="en-US" sz="2800" b="0" i="0" dirty="0">
                <a:effectLst/>
                <a:latin typeface="+mn-ea"/>
              </a:rPr>
              <a:t>하기 위한 프로토콜</a:t>
            </a:r>
            <a:endParaRPr lang="en-US" altLang="ko-KR" sz="2800" b="0" i="0" dirty="0">
              <a:effectLst/>
              <a:latin typeface="+mn-ea"/>
            </a:endParaRPr>
          </a:p>
          <a:p>
            <a:pPr algn="l">
              <a:lnSpc>
                <a:spcPct val="120000"/>
              </a:lnSpc>
            </a:pPr>
            <a:r>
              <a:rPr lang="ko-KR" altLang="en-US" sz="2800" dirty="0">
                <a:latin typeface="+mn-ea"/>
              </a:rPr>
              <a:t>특징</a:t>
            </a:r>
            <a:endParaRPr lang="en-US" altLang="ko-KR" sz="2800" dirty="0">
              <a:latin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800" i="0" dirty="0">
                <a:effectLst/>
                <a:latin typeface="+mn-ea"/>
              </a:rPr>
              <a:t>신뢰성</a:t>
            </a:r>
            <a:r>
              <a:rPr lang="en-US" altLang="ko-KR" sz="2800" i="0" dirty="0">
                <a:effectLst/>
                <a:latin typeface="+mn-ea"/>
              </a:rPr>
              <a:t>: </a:t>
            </a:r>
            <a:r>
              <a:rPr lang="ko-KR" altLang="en-US" sz="2800" i="0" dirty="0">
                <a:effectLst/>
                <a:latin typeface="+mn-ea"/>
              </a:rPr>
              <a:t>데이터의 손실이나 손상을 최소화하고</a:t>
            </a:r>
            <a:r>
              <a:rPr lang="en-US" altLang="ko-KR" sz="2800" i="0" dirty="0">
                <a:effectLst/>
                <a:latin typeface="+mn-ea"/>
              </a:rPr>
              <a:t>, </a:t>
            </a:r>
            <a:r>
              <a:rPr lang="ko-KR" altLang="en-US" sz="2800" i="0" dirty="0">
                <a:effectLst/>
                <a:latin typeface="+mn-ea"/>
              </a:rPr>
              <a:t>데이터의 순서를 보장</a:t>
            </a:r>
            <a:endParaRPr lang="en-US" altLang="ko-KR" sz="2800" i="0" dirty="0">
              <a:effectLst/>
              <a:latin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800" i="0" dirty="0">
                <a:effectLst/>
                <a:latin typeface="+mn-ea"/>
              </a:rPr>
              <a:t>연결 지향</a:t>
            </a:r>
            <a:r>
              <a:rPr lang="en-US" altLang="ko-KR" sz="2800" i="0" dirty="0">
                <a:effectLst/>
                <a:latin typeface="+mn-ea"/>
              </a:rPr>
              <a:t>: </a:t>
            </a:r>
            <a:r>
              <a:rPr lang="ko-KR" altLang="en-US" sz="2800" i="0" dirty="0">
                <a:effectLst/>
                <a:latin typeface="+mn-ea"/>
              </a:rPr>
              <a:t>데이터를 주고받기 전에 송신자와 수신자 간에 연결</a:t>
            </a:r>
            <a:endParaRPr lang="en-US" altLang="ko-KR" sz="2800" i="0" dirty="0">
              <a:effectLst/>
              <a:latin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800" i="0" dirty="0">
                <a:effectLst/>
                <a:latin typeface="+mn-ea"/>
              </a:rPr>
              <a:t>흐름 제어</a:t>
            </a:r>
            <a:r>
              <a:rPr lang="en-US" altLang="ko-KR" sz="2800" i="0" dirty="0">
                <a:effectLst/>
                <a:latin typeface="+mn-ea"/>
              </a:rPr>
              <a:t>: </a:t>
            </a:r>
            <a:r>
              <a:rPr lang="ko-KR" altLang="en-US" sz="2800" i="0" dirty="0">
                <a:effectLst/>
                <a:latin typeface="+mn-ea"/>
              </a:rPr>
              <a:t>데이터의 흐름을 제어하여 수신자가 처리할 수 있는 속도에 맞춰 데이터를 전송</a:t>
            </a:r>
            <a:endParaRPr lang="en-US" altLang="ko-KR" sz="2800" i="0" dirty="0">
              <a:effectLst/>
              <a:latin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800" i="0" dirty="0">
                <a:effectLst/>
                <a:latin typeface="+mn-ea"/>
              </a:rPr>
              <a:t>혼잡 제어</a:t>
            </a:r>
            <a:r>
              <a:rPr lang="en-US" altLang="ko-KR" sz="2800" i="0" dirty="0">
                <a:effectLst/>
                <a:latin typeface="+mn-ea"/>
              </a:rPr>
              <a:t>: </a:t>
            </a:r>
            <a:r>
              <a:rPr lang="ko-KR" altLang="en-US" sz="2800" i="0" dirty="0">
                <a:effectLst/>
                <a:latin typeface="+mn-ea"/>
              </a:rPr>
              <a:t>네트워크의 혼잡 상태를 감지하고 조절하여 네트워크 성능을 유지</a:t>
            </a:r>
            <a:endParaRPr lang="en-US" altLang="ko-KR" sz="2800" i="0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13329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74256E-8B0A-3A97-F61D-57BD35820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A6F-17D0-4AE7-B2E3-B4DF6F4C79E7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CCFFE7-0D4D-9E31-1A83-2992F733D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4CA2B18-AB30-E935-6541-802B276D9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TCP/IP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A69C55-D842-9205-A47B-484F9C0EDC77}"/>
              </a:ext>
            </a:extLst>
          </p:cNvPr>
          <p:cNvSpPr txBox="1"/>
          <p:nvPr/>
        </p:nvSpPr>
        <p:spPr>
          <a:xfrm>
            <a:off x="727999" y="1317001"/>
            <a:ext cx="10736001" cy="4707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" altLang="ko-Kore-KR" sz="2800" b="1" i="0" dirty="0">
                <a:effectLst/>
                <a:latin typeface="+mn-ea"/>
              </a:rPr>
              <a:t>IP (Internet Protocol)</a:t>
            </a:r>
          </a:p>
          <a:p>
            <a:pPr algn="l">
              <a:lnSpc>
                <a:spcPct val="120000"/>
              </a:lnSpc>
            </a:pPr>
            <a:r>
              <a:rPr lang="ko-KR" altLang="en-US" sz="2800" dirty="0">
                <a:latin typeface="+mn-ea"/>
              </a:rPr>
              <a:t>인터넷상에서 데이터를 전달하고</a:t>
            </a:r>
            <a:r>
              <a:rPr lang="en-US" altLang="ko-KR" sz="2800" dirty="0">
                <a:latin typeface="+mn-ea"/>
              </a:rPr>
              <a:t>,</a:t>
            </a:r>
            <a:r>
              <a:rPr lang="ko-KR" altLang="en-US" sz="2800" dirty="0">
                <a:latin typeface="+mn-ea"/>
              </a:rPr>
              <a:t> 규칙과 절차를 정의하는 프로토콜</a:t>
            </a:r>
            <a:r>
              <a:rPr lang="en-US" altLang="ko-KR" sz="2800" dirty="0">
                <a:latin typeface="+mn-ea"/>
              </a:rPr>
              <a:t>.</a:t>
            </a:r>
          </a:p>
          <a:p>
            <a:pPr algn="l">
              <a:lnSpc>
                <a:spcPct val="120000"/>
              </a:lnSpc>
            </a:pPr>
            <a:r>
              <a:rPr lang="ko-KR" altLang="en-US" sz="2800" dirty="0">
                <a:latin typeface="+mn-ea"/>
              </a:rPr>
              <a:t>특징</a:t>
            </a:r>
            <a:endParaRPr lang="en-US" altLang="ko-KR" sz="2800" dirty="0">
              <a:latin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800" i="0" dirty="0">
                <a:effectLst/>
                <a:latin typeface="+mn-ea"/>
              </a:rPr>
              <a:t>패킷 기반</a:t>
            </a:r>
            <a:r>
              <a:rPr lang="en-US" altLang="ko-KR" sz="2800" i="0" dirty="0">
                <a:effectLst/>
                <a:latin typeface="+mn-ea"/>
              </a:rPr>
              <a:t>: </a:t>
            </a:r>
            <a:r>
              <a:rPr lang="ko-KR" altLang="en-US" sz="2800" i="0" dirty="0">
                <a:effectLst/>
                <a:latin typeface="+mn-ea"/>
              </a:rPr>
              <a:t>데이터를 작은 패킷 단위로 나누어 전송하고</a:t>
            </a:r>
            <a:r>
              <a:rPr lang="en-US" altLang="ko-KR" sz="2800" i="0" dirty="0">
                <a:effectLst/>
                <a:latin typeface="+mn-ea"/>
              </a:rPr>
              <a:t>, </a:t>
            </a:r>
            <a:r>
              <a:rPr lang="ko-KR" altLang="en-US" sz="2800" i="0" dirty="0">
                <a:effectLst/>
                <a:latin typeface="+mn-ea"/>
              </a:rPr>
              <a:t>각 패킷은 목적지 주소와 출발지 주소 정보를 포함</a:t>
            </a:r>
            <a:endParaRPr lang="en-US" altLang="ko-KR" sz="2800" i="0" dirty="0">
              <a:effectLst/>
              <a:latin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800" i="0" dirty="0">
                <a:effectLst/>
                <a:latin typeface="+mn-ea"/>
              </a:rPr>
              <a:t>비연결성</a:t>
            </a:r>
            <a:r>
              <a:rPr lang="en-US" altLang="ko-KR" sz="2800" i="0" dirty="0">
                <a:effectLst/>
                <a:latin typeface="+mn-ea"/>
              </a:rPr>
              <a:t>: </a:t>
            </a:r>
            <a:r>
              <a:rPr lang="ko-KR" altLang="en-US" sz="2800" i="0" dirty="0">
                <a:effectLst/>
                <a:latin typeface="+mn-ea"/>
              </a:rPr>
              <a:t>패킷은 독립적으로 처리되며</a:t>
            </a:r>
            <a:r>
              <a:rPr lang="en-US" altLang="ko-KR" sz="2800" i="0" dirty="0">
                <a:effectLst/>
                <a:latin typeface="+mn-ea"/>
              </a:rPr>
              <a:t>, </a:t>
            </a:r>
            <a:r>
              <a:rPr lang="ko-KR" altLang="en-US" sz="2800" i="0" dirty="0">
                <a:effectLst/>
                <a:latin typeface="+mn-ea"/>
              </a:rPr>
              <a:t>수신자와의 직접적인 연결이 필요하지 않음</a:t>
            </a:r>
            <a:r>
              <a:rPr lang="en-US" altLang="ko-KR" sz="2800" i="0" dirty="0">
                <a:effectLst/>
                <a:latin typeface="+mn-ea"/>
              </a:rPr>
              <a:t>.</a:t>
            </a: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800" i="0" dirty="0">
                <a:effectLst/>
                <a:latin typeface="+mn-ea"/>
              </a:rPr>
              <a:t>라우팅</a:t>
            </a:r>
            <a:r>
              <a:rPr lang="en-US" altLang="ko-KR" sz="2800" i="0" dirty="0">
                <a:effectLst/>
                <a:latin typeface="+mn-ea"/>
              </a:rPr>
              <a:t>: </a:t>
            </a:r>
            <a:r>
              <a:rPr lang="ko-KR" altLang="en-US" sz="2800" i="0" dirty="0">
                <a:effectLst/>
                <a:latin typeface="+mn-ea"/>
              </a:rPr>
              <a:t>각 라우터가 패킷의 경로를 결정하여 목적지까지 전달</a:t>
            </a:r>
            <a:endParaRPr lang="en-US" altLang="ko-KR" sz="2800" i="0" dirty="0">
              <a:effectLst/>
              <a:latin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" altLang="ko-Kore-KR" sz="2800" i="0" dirty="0">
                <a:effectLst/>
                <a:latin typeface="Söhne"/>
              </a:rPr>
              <a:t>IP </a:t>
            </a:r>
            <a:r>
              <a:rPr lang="ko-KR" altLang="en-US" sz="2800" i="0" dirty="0">
                <a:effectLst/>
                <a:latin typeface="Söhne"/>
              </a:rPr>
              <a:t>주소</a:t>
            </a:r>
            <a:r>
              <a:rPr lang="en-US" altLang="ko-KR" sz="2800" i="0" dirty="0">
                <a:effectLst/>
                <a:latin typeface="Söhne"/>
              </a:rPr>
              <a:t>: </a:t>
            </a:r>
            <a:r>
              <a:rPr lang="en" altLang="ko-Kore-KR" sz="2800" i="0" dirty="0">
                <a:effectLst/>
                <a:latin typeface="Söhne"/>
              </a:rPr>
              <a:t>IP</a:t>
            </a:r>
            <a:r>
              <a:rPr lang="ko-KR" altLang="en-US" sz="2800" i="0" dirty="0">
                <a:effectLst/>
                <a:latin typeface="Söhne"/>
              </a:rPr>
              <a:t>는 각 컴퓨터를 식별하기 위한 </a:t>
            </a:r>
            <a:r>
              <a:rPr lang="en" altLang="ko-Kore-KR" sz="2800" i="0" dirty="0">
                <a:effectLst/>
                <a:latin typeface="Söhne"/>
              </a:rPr>
              <a:t>IP </a:t>
            </a:r>
            <a:r>
              <a:rPr lang="ko-KR" altLang="en-US" sz="2800" i="0" dirty="0">
                <a:effectLst/>
                <a:latin typeface="Söhne"/>
              </a:rPr>
              <a:t>주소를 사용</a:t>
            </a:r>
            <a:endParaRPr lang="en-US" altLang="ko-KR" sz="2800" i="0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70483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74256E-8B0A-3A97-F61D-57BD35820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A6F-17D0-4AE7-B2E3-B4DF6F4C79E7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CCFFE7-0D4D-9E31-1A83-2992F733D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4CA2B18-AB30-E935-6541-802B276D9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TCP/IP 4</a:t>
            </a:r>
            <a:r>
              <a:rPr lang="ko-KR" altLang="en-US" dirty="0"/>
              <a:t>계층</a:t>
            </a:r>
          </a:p>
        </p:txBody>
      </p:sp>
      <p:pic>
        <p:nvPicPr>
          <p:cNvPr id="9" name="그림 8" descr="텍스트, 스크린샷, 폰트, 명함이(가) 표시된 사진&#10;&#10;자동 생성된 설명">
            <a:extLst>
              <a:ext uri="{FF2B5EF4-FFF2-40B4-BE49-F238E27FC236}">
                <a16:creationId xmlns:a16="http://schemas.microsoft.com/office/drawing/2014/main" id="{AC189F21-9CA5-8D0E-122A-E9141BECCE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778" y="1325563"/>
            <a:ext cx="6140444" cy="461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848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74256E-8B0A-3A97-F61D-57BD35820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A6F-17D0-4AE7-B2E3-B4DF6F4C79E7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CCFFE7-0D4D-9E31-1A83-2992F733D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4CA2B18-AB30-E935-6541-802B276D9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i="0" dirty="0">
                <a:effectLst/>
                <a:latin typeface="Söhne"/>
              </a:rPr>
              <a:t>네트워크 인터페이스 계층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6D0704-1D12-8800-6A94-655B239DFD05}"/>
              </a:ext>
            </a:extLst>
          </p:cNvPr>
          <p:cNvSpPr txBox="1"/>
          <p:nvPr/>
        </p:nvSpPr>
        <p:spPr>
          <a:xfrm>
            <a:off x="504669" y="1325563"/>
            <a:ext cx="11182662" cy="4719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" altLang="ko-Kore-KR" sz="2800" b="1" i="0" dirty="0">
                <a:solidFill>
                  <a:schemeClr val="accent1"/>
                </a:solidFill>
                <a:effectLst/>
                <a:latin typeface="+mn-ea"/>
              </a:rPr>
              <a:t>Network Interface Layer</a:t>
            </a:r>
            <a:r>
              <a:rPr lang="en" altLang="ko-Kore-KR" sz="2800" i="0" dirty="0">
                <a:effectLst/>
                <a:latin typeface="+mn-ea"/>
              </a:rPr>
              <a:t> </a:t>
            </a:r>
            <a:r>
              <a:rPr lang="ko-KR" altLang="en-US" sz="2800" i="0" dirty="0">
                <a:effectLst/>
                <a:latin typeface="+mn-ea"/>
              </a:rPr>
              <a:t>또는 </a:t>
            </a:r>
            <a:r>
              <a:rPr lang="en" altLang="ko-Kore-KR" sz="2800" b="1" i="0" dirty="0">
                <a:solidFill>
                  <a:schemeClr val="accent1"/>
                </a:solidFill>
                <a:effectLst/>
                <a:latin typeface="+mn-ea"/>
              </a:rPr>
              <a:t>Network Access Layer</a:t>
            </a:r>
            <a:endParaRPr lang="en" altLang="ko-Kore-KR" sz="2800" dirty="0">
              <a:solidFill>
                <a:schemeClr val="accent1"/>
              </a:solidFill>
              <a:latin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" altLang="ko-Kore-KR" sz="2800" b="0" i="0" dirty="0">
                <a:effectLst/>
                <a:latin typeface="+mn-ea"/>
              </a:rPr>
              <a:t>OSI 7</a:t>
            </a:r>
            <a:r>
              <a:rPr lang="ko-KR" altLang="en-US" sz="2800" b="0" i="0" dirty="0">
                <a:effectLst/>
                <a:latin typeface="+mn-ea"/>
              </a:rPr>
              <a:t>계층의 물리계층과 데이터 링크 계층에 해당</a:t>
            </a:r>
            <a:endParaRPr lang="en" altLang="ko-Kore-KR" sz="2800" b="0" i="0" dirty="0">
              <a:effectLst/>
              <a:latin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800" b="0" i="0" dirty="0">
                <a:effectLst/>
                <a:latin typeface="+mn-ea"/>
              </a:rPr>
              <a:t>이 계층은 물리적인 네트워크와 상호 작용하며</a:t>
            </a:r>
            <a:r>
              <a:rPr lang="en-US" altLang="ko-KR" sz="2800" b="0" i="0" dirty="0">
                <a:effectLst/>
                <a:latin typeface="+mn-ea"/>
              </a:rPr>
              <a:t>, </a:t>
            </a:r>
            <a:r>
              <a:rPr lang="ko-KR" altLang="en-US" sz="2800" b="0" i="0" dirty="0">
                <a:effectLst/>
                <a:latin typeface="+mn-ea"/>
              </a:rPr>
              <a:t>데이터를 전기 신호로 변환하거나 광 신호로 변환하여 전송</a:t>
            </a:r>
            <a:endParaRPr lang="en-US" altLang="ko-KR" sz="2800" b="0" i="0" dirty="0">
              <a:effectLst/>
              <a:latin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800" b="0" i="0" dirty="0">
                <a:effectLst/>
                <a:latin typeface="+mn-ea"/>
              </a:rPr>
              <a:t>데이터를 프레임으로 나누어 전송하고 프레임을 수신하여 물리적인 신호로 변환하는 역할을 수행</a:t>
            </a:r>
            <a:endParaRPr lang="en-US" altLang="ko-KR" sz="2800" b="0" i="0" dirty="0">
              <a:effectLst/>
              <a:latin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800" b="0" i="0" dirty="0">
                <a:effectLst/>
                <a:latin typeface="+mn-ea"/>
              </a:rPr>
              <a:t>수신된 프레임에서 오류를 검출</a:t>
            </a:r>
            <a:endParaRPr lang="en-US" altLang="ko-KR" sz="2800" b="0" i="0" dirty="0">
              <a:effectLst/>
              <a:latin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" altLang="ko-Kore-KR" sz="2800" b="0" i="0" dirty="0">
                <a:effectLst/>
                <a:latin typeface="+mn-ea"/>
              </a:rPr>
              <a:t>MAC (Media Access Control) </a:t>
            </a:r>
            <a:r>
              <a:rPr lang="ko-KR" altLang="en-US" sz="2800" b="0" i="0" dirty="0">
                <a:effectLst/>
                <a:latin typeface="+mn-ea"/>
              </a:rPr>
              <a:t>주소를 관리</a:t>
            </a:r>
            <a:endParaRPr lang="en-US" altLang="ko-KR" sz="2800" b="0" i="0" dirty="0">
              <a:effectLst/>
              <a:latin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" altLang="ko-Kore-KR" sz="2800" b="0" i="0" dirty="0">
                <a:effectLst/>
                <a:latin typeface="+mn-ea"/>
              </a:rPr>
              <a:t>Ethernet</a:t>
            </a:r>
            <a:r>
              <a:rPr lang="ko-KR" altLang="en-US" sz="2800" b="0" i="0" dirty="0">
                <a:effectLst/>
                <a:latin typeface="+mn-ea"/>
              </a:rPr>
              <a:t>이나 </a:t>
            </a:r>
            <a:r>
              <a:rPr lang="en" altLang="ko-Kore-KR" sz="2800" b="0" i="0" dirty="0">
                <a:effectLst/>
                <a:latin typeface="+mn-ea"/>
              </a:rPr>
              <a:t>Wi-Fi </a:t>
            </a:r>
            <a:r>
              <a:rPr lang="ko-KR" altLang="en-US" sz="2800" b="0" i="0" dirty="0">
                <a:effectLst/>
                <a:latin typeface="+mn-ea"/>
              </a:rPr>
              <a:t>같은 기술이 이 계층에 해당</a:t>
            </a:r>
            <a:endParaRPr lang="en-US" altLang="ko-KR" sz="2800" b="0" i="0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46694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74256E-8B0A-3A97-F61D-57BD35820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A6F-17D0-4AE7-B2E3-B4DF6F4C79E7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CCFFE7-0D4D-9E31-1A83-2992F733D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4CA2B18-AB30-E935-6541-802B276D9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5400" i="0" dirty="0">
                <a:effectLst/>
                <a:latin typeface="+mn-ea"/>
              </a:rPr>
              <a:t>인터넷 계층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6D0704-1D12-8800-6A94-655B239DFD05}"/>
              </a:ext>
            </a:extLst>
          </p:cNvPr>
          <p:cNvSpPr txBox="1"/>
          <p:nvPr/>
        </p:nvSpPr>
        <p:spPr>
          <a:xfrm>
            <a:off x="689548" y="1325563"/>
            <a:ext cx="11002780" cy="368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" altLang="ko-Kore-KR" sz="2800" b="1" i="0" dirty="0">
                <a:solidFill>
                  <a:schemeClr val="accent1"/>
                </a:solidFill>
                <a:effectLst/>
                <a:latin typeface="+mn-ea"/>
              </a:rPr>
              <a:t>Internet Layer</a:t>
            </a:r>
            <a:endParaRPr lang="en" altLang="ko-Kore-KR" sz="2800" dirty="0">
              <a:solidFill>
                <a:schemeClr val="accent1"/>
              </a:solidFill>
              <a:latin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" altLang="ko-Kore-KR" sz="2800" b="0" i="0" dirty="0">
                <a:effectLst/>
                <a:latin typeface="+mn-ea"/>
              </a:rPr>
              <a:t>OSI 7</a:t>
            </a:r>
            <a:r>
              <a:rPr lang="ko-KR" altLang="en-US" sz="2800" b="0" i="0" dirty="0">
                <a:effectLst/>
                <a:latin typeface="+mn-ea"/>
              </a:rPr>
              <a:t>계층의 네트워크 계층에 해</a:t>
            </a:r>
            <a:r>
              <a:rPr lang="ko-KR" altLang="en-US" sz="2800" dirty="0">
                <a:latin typeface="+mn-ea"/>
              </a:rPr>
              <a:t>당</a:t>
            </a:r>
            <a:endParaRPr lang="en" altLang="ko-Kore-KR" sz="2800" b="0" i="0" dirty="0">
              <a:effectLst/>
              <a:latin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800" b="0" i="0" dirty="0">
                <a:effectLst/>
                <a:latin typeface="+mn-ea"/>
              </a:rPr>
              <a:t>이 계층은 데이터 패킷의 라우팅과 논리적인 주소 지정을 담당</a:t>
            </a:r>
            <a:endParaRPr lang="en-US" altLang="ko-KR" sz="2800" b="0" i="0" dirty="0">
              <a:effectLst/>
              <a:latin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" altLang="ko-Kore-KR" sz="2800" b="0" i="0" dirty="0">
                <a:effectLst/>
                <a:latin typeface="+mn-ea"/>
              </a:rPr>
              <a:t>IP (Internet Protocol) </a:t>
            </a:r>
            <a:r>
              <a:rPr lang="ko-KR" altLang="en-US" sz="2800" b="0" i="0" dirty="0">
                <a:effectLst/>
                <a:latin typeface="+mn-ea"/>
              </a:rPr>
              <a:t>프로토콜이 이 계층에서 작동하며</a:t>
            </a:r>
            <a:r>
              <a:rPr lang="en-US" altLang="ko-KR" sz="2800" b="0" i="0" dirty="0">
                <a:effectLst/>
                <a:latin typeface="+mn-ea"/>
              </a:rPr>
              <a:t>, </a:t>
            </a:r>
            <a:r>
              <a:rPr lang="ko-KR" altLang="en-US" sz="2800" b="0" i="0" dirty="0">
                <a:effectLst/>
                <a:latin typeface="+mn-ea"/>
              </a:rPr>
              <a:t>패킷의 출발지와 목적지 </a:t>
            </a:r>
            <a:r>
              <a:rPr lang="en" altLang="ko-Kore-KR" sz="2800" b="0" i="0" dirty="0">
                <a:effectLst/>
                <a:latin typeface="+mn-ea"/>
              </a:rPr>
              <a:t>IP </a:t>
            </a:r>
            <a:r>
              <a:rPr lang="ko-KR" altLang="en-US" sz="2800" b="0" i="0" dirty="0">
                <a:effectLst/>
                <a:latin typeface="+mn-ea"/>
              </a:rPr>
              <a:t>주소를 사용하여 라우팅을 수행</a:t>
            </a:r>
            <a:endParaRPr lang="en-US" altLang="ko-KR" sz="2800" b="0" i="0" dirty="0">
              <a:effectLst/>
              <a:latin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" altLang="ko-Kore-KR" sz="2800" b="0" i="0" dirty="0">
                <a:effectLst/>
                <a:latin typeface="+mn-ea"/>
              </a:rPr>
              <a:t>IP </a:t>
            </a:r>
            <a:r>
              <a:rPr lang="ko-KR" altLang="en-US" sz="2800" b="0" i="0" dirty="0">
                <a:effectLst/>
                <a:latin typeface="+mn-ea"/>
              </a:rPr>
              <a:t>주소와 관련된 서비스인 </a:t>
            </a:r>
            <a:r>
              <a:rPr lang="en" altLang="ko-Kore-KR" sz="2800" b="0" i="0" dirty="0">
                <a:effectLst/>
                <a:latin typeface="+mn-ea"/>
              </a:rPr>
              <a:t>ARP (Address Resolution Protocol)</a:t>
            </a:r>
            <a:r>
              <a:rPr lang="ko-KR" altLang="en-US" sz="2800" b="0" i="0" dirty="0">
                <a:effectLst/>
                <a:latin typeface="+mn-ea"/>
              </a:rPr>
              <a:t>와 같은 프로토콜도 이 계층에서 동작</a:t>
            </a:r>
            <a:endParaRPr lang="en-US" altLang="ko-KR" sz="2800" b="0" i="0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53957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74256E-8B0A-3A97-F61D-57BD35820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A6F-17D0-4AE7-B2E3-B4DF6F4C79E7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CCFFE7-0D4D-9E31-1A83-2992F733D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4CA2B18-AB30-E935-6541-802B276D9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5400" i="0" dirty="0">
                <a:effectLst/>
                <a:latin typeface="+mn-ea"/>
              </a:rPr>
              <a:t>전송 계층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6D0704-1D12-8800-6A94-655B239DFD05}"/>
              </a:ext>
            </a:extLst>
          </p:cNvPr>
          <p:cNvSpPr txBox="1"/>
          <p:nvPr/>
        </p:nvSpPr>
        <p:spPr>
          <a:xfrm>
            <a:off x="711369" y="1325563"/>
            <a:ext cx="10935987" cy="2650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" altLang="ko-Kore-KR" sz="2800" b="1" i="0" dirty="0">
                <a:solidFill>
                  <a:schemeClr val="accent1"/>
                </a:solidFill>
                <a:effectLst/>
                <a:latin typeface="+mn-ea"/>
              </a:rPr>
              <a:t>Transport Layer</a:t>
            </a:r>
            <a:endParaRPr lang="en" altLang="ko-Kore-KR" sz="2800" b="0" i="0" dirty="0">
              <a:solidFill>
                <a:schemeClr val="accent1"/>
              </a:solidFill>
              <a:effectLst/>
              <a:latin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" altLang="ko-Kore-KR" sz="2800" b="0" i="0" dirty="0">
                <a:effectLst/>
                <a:latin typeface="+mn-ea"/>
              </a:rPr>
              <a:t>OSI 7</a:t>
            </a:r>
            <a:r>
              <a:rPr lang="ko-KR" altLang="en-US" sz="2800" b="0" i="0" dirty="0">
                <a:effectLst/>
                <a:latin typeface="+mn-ea"/>
              </a:rPr>
              <a:t>계층의 전송 계층에 해당</a:t>
            </a:r>
            <a:endParaRPr lang="en" altLang="ko-KR" sz="2800" dirty="0">
              <a:latin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800" b="0" i="0" dirty="0">
                <a:effectLst/>
                <a:latin typeface="+mn-ea"/>
              </a:rPr>
              <a:t>이 계층은 데이터의 신뢰성과 흐름 제어를 관리</a:t>
            </a:r>
            <a:endParaRPr lang="en-US" altLang="ko-KR" sz="2800" b="0" i="0" dirty="0">
              <a:effectLst/>
              <a:latin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" altLang="ko-Kore-KR" sz="2800" b="0" i="0" dirty="0">
                <a:effectLst/>
                <a:latin typeface="+mn-ea"/>
              </a:rPr>
              <a:t>TCP (Transmission Control Protocol)</a:t>
            </a:r>
            <a:r>
              <a:rPr lang="ko-KR" altLang="en-US" sz="2800" b="0" i="0" dirty="0">
                <a:effectLst/>
                <a:latin typeface="+mn-ea"/>
              </a:rPr>
              <a:t>와 </a:t>
            </a:r>
            <a:r>
              <a:rPr lang="en" altLang="ko-Kore-KR" sz="2800" b="0" i="0" dirty="0">
                <a:effectLst/>
                <a:latin typeface="+mn-ea"/>
              </a:rPr>
              <a:t>UDP (User Datagram Protocol)</a:t>
            </a:r>
            <a:r>
              <a:rPr lang="ko-KR" altLang="en-US" sz="2800" b="0" i="0" dirty="0">
                <a:effectLst/>
                <a:latin typeface="+mn-ea"/>
              </a:rPr>
              <a:t>가 이 계층에서 작동</a:t>
            </a:r>
            <a:endParaRPr lang="en-US" altLang="ko-KR" sz="2800" b="0" i="0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20509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74256E-8B0A-3A97-F61D-57BD35820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A6F-17D0-4AE7-B2E3-B4DF6F4C79E7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CCFFE7-0D4D-9E31-1A83-2992F733D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4CA2B18-AB30-E935-6541-802B276D9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5400" i="0" dirty="0">
                <a:effectLst/>
                <a:latin typeface="+mn-ea"/>
              </a:rPr>
              <a:t>응용 계층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6D0704-1D12-8800-6A94-655B239DFD05}"/>
              </a:ext>
            </a:extLst>
          </p:cNvPr>
          <p:cNvSpPr txBox="1"/>
          <p:nvPr/>
        </p:nvSpPr>
        <p:spPr>
          <a:xfrm>
            <a:off x="481579" y="1325563"/>
            <a:ext cx="11228842" cy="368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" altLang="ko-Kore-KR" sz="2800" b="1" i="0" dirty="0">
                <a:solidFill>
                  <a:schemeClr val="accent1"/>
                </a:solidFill>
                <a:effectLst/>
                <a:latin typeface="+mn-ea"/>
              </a:rPr>
              <a:t>Application Layer</a:t>
            </a:r>
            <a:endParaRPr lang="en" altLang="ko-Kore-KR" sz="2800" b="0" i="0" dirty="0">
              <a:solidFill>
                <a:schemeClr val="accent1"/>
              </a:solidFill>
              <a:effectLst/>
              <a:latin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" altLang="ko-Kore-KR" sz="2800" b="0" i="0" dirty="0">
                <a:effectLst/>
                <a:latin typeface="+mn-ea"/>
              </a:rPr>
              <a:t>OSI 7</a:t>
            </a:r>
            <a:r>
              <a:rPr lang="ko-KR" altLang="en-US" sz="2800" b="0" i="0" dirty="0">
                <a:effectLst/>
                <a:latin typeface="+mn-ea"/>
              </a:rPr>
              <a:t>계층의 세션 계층</a:t>
            </a:r>
            <a:r>
              <a:rPr lang="en-US" altLang="ko-KR" sz="2800" b="0" i="0" dirty="0">
                <a:effectLst/>
                <a:latin typeface="+mn-ea"/>
              </a:rPr>
              <a:t>, </a:t>
            </a:r>
            <a:r>
              <a:rPr lang="ko-KR" altLang="en-US" sz="2800" b="0" i="0" dirty="0">
                <a:effectLst/>
                <a:latin typeface="+mn-ea"/>
              </a:rPr>
              <a:t>표현 계층</a:t>
            </a:r>
            <a:r>
              <a:rPr lang="en-US" altLang="ko-KR" sz="2800" b="0" i="0" dirty="0">
                <a:effectLst/>
                <a:latin typeface="+mn-ea"/>
              </a:rPr>
              <a:t>, </a:t>
            </a:r>
            <a:r>
              <a:rPr lang="ko-KR" altLang="en-US" sz="2800" b="0" i="0" dirty="0">
                <a:effectLst/>
                <a:latin typeface="+mn-ea"/>
              </a:rPr>
              <a:t>응용 계층에 해당 </a:t>
            </a:r>
            <a:endParaRPr lang="en" altLang="ko-KR" sz="2800" dirty="0">
              <a:latin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800" b="0" i="0" dirty="0">
                <a:effectLst/>
                <a:latin typeface="+mn-ea"/>
              </a:rPr>
              <a:t>최종 사용자에게 서비스를 제공하기 위한 응용 프로그램과 사용자 인터페이스가 이 계층에 위치</a:t>
            </a:r>
            <a:endParaRPr lang="en-US" altLang="ko-KR" sz="2800" b="0" i="0" dirty="0">
              <a:effectLst/>
              <a:latin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800" b="0" i="0" dirty="0">
                <a:effectLst/>
                <a:latin typeface="+mn-ea"/>
              </a:rPr>
              <a:t>이 계층은 다양한 프로토콜을 포함하며</a:t>
            </a:r>
            <a:r>
              <a:rPr lang="en-US" altLang="ko-KR" sz="2800" b="0" i="0" dirty="0">
                <a:effectLst/>
                <a:latin typeface="+mn-ea"/>
              </a:rPr>
              <a:t>, </a:t>
            </a:r>
            <a:r>
              <a:rPr lang="en" altLang="ko-Kore-KR" sz="2800" b="0" i="0" dirty="0">
                <a:effectLst/>
                <a:latin typeface="+mn-ea"/>
              </a:rPr>
              <a:t>HTTP, FTP, SMTP, POP3, IMAP, DNS </a:t>
            </a:r>
            <a:r>
              <a:rPr lang="ko-KR" altLang="en-US" sz="2800" b="0" i="0" dirty="0">
                <a:effectLst/>
                <a:latin typeface="+mn-ea"/>
              </a:rPr>
              <a:t>등의 프로토콜이 이 계층에서 동작</a:t>
            </a:r>
            <a:endParaRPr lang="en-US" altLang="ko-KR" sz="2800" b="0" i="0" dirty="0">
              <a:effectLst/>
              <a:latin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800" b="0" i="0" dirty="0">
                <a:effectLst/>
                <a:latin typeface="+mn-ea"/>
              </a:rPr>
              <a:t>각 프로토콜은 특정한 응용 서비스를 제공하기 위한 목적으로 사용</a:t>
            </a:r>
            <a:endParaRPr lang="en-US" altLang="ko-KR" sz="2800" b="0" i="0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98803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74256E-8B0A-3A97-F61D-57BD35820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EA6F-17D0-4AE7-B2E3-B4DF6F4C79E7}" type="datetime6">
              <a:rPr lang="ko-KR" altLang="en-US" smtClean="0"/>
              <a:t>2024년 6월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CCFFE7-0D4D-9E31-1A83-2992F733D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4CA2B18-AB30-E935-6541-802B276D9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UDP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A69C55-D842-9205-A47B-484F9C0EDC77}"/>
              </a:ext>
            </a:extLst>
          </p:cNvPr>
          <p:cNvSpPr txBox="1"/>
          <p:nvPr/>
        </p:nvSpPr>
        <p:spPr>
          <a:xfrm>
            <a:off x="624114" y="1317001"/>
            <a:ext cx="11161485" cy="4201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" altLang="ko-Kore-KR" sz="2800" b="1" i="0" dirty="0">
                <a:solidFill>
                  <a:schemeClr val="accent1"/>
                </a:solidFill>
                <a:effectLst/>
                <a:latin typeface="+mn-ea"/>
              </a:rPr>
              <a:t>UDP (User Datagram Protocol)</a:t>
            </a:r>
            <a:endParaRPr lang="en" altLang="ko-Kore-KR" sz="2800" b="0" i="0" dirty="0">
              <a:solidFill>
                <a:schemeClr val="accent1"/>
              </a:solidFill>
              <a:effectLst/>
              <a:latin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" altLang="ko-Kore-KR" sz="2800" b="0" i="0" dirty="0">
                <a:effectLst/>
                <a:latin typeface="+mn-ea"/>
              </a:rPr>
              <a:t>UDP</a:t>
            </a:r>
            <a:r>
              <a:rPr lang="ko-KR" altLang="en-US" sz="2800" b="0" i="0" dirty="0">
                <a:effectLst/>
                <a:latin typeface="+mn-ea"/>
              </a:rPr>
              <a:t>는 비연결성 프로토콜로</a:t>
            </a:r>
            <a:r>
              <a:rPr lang="en-US" altLang="ko-KR" sz="2800" b="0" i="0" dirty="0">
                <a:effectLst/>
                <a:latin typeface="+mn-ea"/>
              </a:rPr>
              <a:t>, </a:t>
            </a:r>
            <a:r>
              <a:rPr lang="ko-KR" altLang="en-US" sz="2800" b="0" i="0" dirty="0">
                <a:effectLst/>
                <a:latin typeface="+mn-ea"/>
              </a:rPr>
              <a:t>데이터의 신뢰성은 낮지만 속도가 빠르고 간편</a:t>
            </a:r>
            <a:endParaRPr lang="en-US" altLang="ko-KR" sz="2800" b="0" i="0" dirty="0">
              <a:effectLst/>
              <a:latin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800" b="0" i="0" dirty="0" err="1">
                <a:effectLst/>
                <a:latin typeface="+mn-ea"/>
              </a:rPr>
              <a:t>데이터그램</a:t>
            </a:r>
            <a:r>
              <a:rPr lang="ko-KR" altLang="en-US" sz="2800" b="0" i="0" dirty="0">
                <a:effectLst/>
                <a:latin typeface="+mn-ea"/>
              </a:rPr>
              <a:t> 단위로 데이터를 전송하며</a:t>
            </a:r>
            <a:r>
              <a:rPr lang="en-US" altLang="ko-KR" sz="2800" b="0" i="0" dirty="0">
                <a:effectLst/>
                <a:latin typeface="+mn-ea"/>
              </a:rPr>
              <a:t>, </a:t>
            </a:r>
            <a:r>
              <a:rPr lang="ko-KR" altLang="en-US" sz="2800" b="0" i="0" dirty="0">
                <a:effectLst/>
                <a:latin typeface="+mn-ea"/>
              </a:rPr>
              <a:t>순서 보장 및 데이터 신뢰성은 보장되지 않음</a:t>
            </a:r>
            <a:r>
              <a:rPr lang="en-US" altLang="ko-KR" sz="2800" b="0" i="0" dirty="0">
                <a:effectLst/>
                <a:latin typeface="+mn-ea"/>
              </a:rPr>
              <a:t>.</a:t>
            </a:r>
            <a:r>
              <a:rPr lang="ko-KR" altLang="en-US" sz="2800" b="0" i="0" dirty="0">
                <a:effectLst/>
                <a:latin typeface="+mn-ea"/>
              </a:rPr>
              <a:t> </a:t>
            </a:r>
            <a:endParaRPr lang="en-US" altLang="ko-KR" sz="2800" b="0" i="0" dirty="0">
              <a:effectLst/>
              <a:latin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800" b="0" i="0" dirty="0">
                <a:effectLst/>
                <a:latin typeface="Söhne"/>
              </a:rPr>
              <a:t>데이터 전송에 관련된 작업이 단순</a:t>
            </a:r>
            <a:endParaRPr lang="en-US" altLang="ko-KR" sz="2800" b="0" i="0" dirty="0">
              <a:effectLst/>
              <a:latin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800" b="0" i="0" dirty="0">
                <a:effectLst/>
                <a:latin typeface="+mn-ea"/>
              </a:rPr>
              <a:t>흐름 제어나 혼잡 제어 메커니즘이 없어서 오버헤드가 적음</a:t>
            </a:r>
            <a:endParaRPr lang="en-US" altLang="ko-KR" sz="2800" b="0" i="0" dirty="0">
              <a:effectLst/>
              <a:latin typeface="+mn-ea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" altLang="ko-Kore-KR" sz="2800" b="0" i="0" dirty="0">
                <a:effectLst/>
                <a:latin typeface="+mn-ea"/>
              </a:rPr>
              <a:t>VOIP, </a:t>
            </a:r>
            <a:r>
              <a:rPr lang="ko-KR" altLang="en-US" sz="2800" b="0" i="0" dirty="0">
                <a:effectLst/>
                <a:latin typeface="+mn-ea"/>
              </a:rPr>
              <a:t>스트리밍</a:t>
            </a:r>
            <a:r>
              <a:rPr lang="en-US" altLang="ko-KR" sz="2800" b="0" i="0" dirty="0">
                <a:effectLst/>
                <a:latin typeface="+mn-ea"/>
              </a:rPr>
              <a:t>, </a:t>
            </a:r>
            <a:r>
              <a:rPr lang="ko-KR" altLang="en-US" sz="2800" b="0" i="0" dirty="0">
                <a:effectLst/>
                <a:latin typeface="+mn-ea"/>
              </a:rPr>
              <a:t>온라인 게임 등에서 데이터 전송이 빈번하게 발생하는 경우에 사용됩니다</a:t>
            </a:r>
            <a:r>
              <a:rPr lang="en-US" altLang="ko-KR" sz="2800" b="0" i="0" dirty="0">
                <a:effectLst/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4091029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GOV">
      <a:majorFont>
        <a:latin typeface="PretendardGOV"/>
        <a:ea typeface="PretendardGOV"/>
        <a:cs typeface=""/>
      </a:majorFont>
      <a:minorFont>
        <a:latin typeface="PretendardGOV"/>
        <a:ea typeface="Pretendard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1125</Words>
  <Application>Microsoft Office PowerPoint</Application>
  <PresentationFormat>와이드스크린</PresentationFormat>
  <Paragraphs>153</Paragraphs>
  <Slides>11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Apple SD Gothic Neo</vt:lpstr>
      <vt:lpstr>PretendardGOV</vt:lpstr>
      <vt:lpstr>Söhne</vt:lpstr>
      <vt:lpstr>Arial</vt:lpstr>
      <vt:lpstr>맑은 고딕</vt:lpstr>
      <vt:lpstr>3_Office 테마</vt:lpstr>
      <vt:lpstr>웹 개발자 부트캠프 과정</vt:lpstr>
      <vt:lpstr>TCP/IP</vt:lpstr>
      <vt:lpstr>TCP/IP란?</vt:lpstr>
      <vt:lpstr>TCP/IP</vt:lpstr>
      <vt:lpstr>TCP/IP</vt:lpstr>
      <vt:lpstr>TCP/IP 4계층</vt:lpstr>
      <vt:lpstr>네트워크 인터페이스 계층</vt:lpstr>
      <vt:lpstr>인터넷 계층</vt:lpstr>
      <vt:lpstr>전송 계층</vt:lpstr>
      <vt:lpstr>응용 계층</vt:lpstr>
      <vt:lpstr>UDP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 Coding</dc:creator>
  <cp:lastModifiedBy>On Coding</cp:lastModifiedBy>
  <cp:revision>1</cp:revision>
  <dcterms:created xsi:type="dcterms:W3CDTF">2024-06-24T00:59:22Z</dcterms:created>
  <dcterms:modified xsi:type="dcterms:W3CDTF">2024-06-24T01:15:51Z</dcterms:modified>
</cp:coreProperties>
</file>