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39"/>
  </p:notesMasterIdLst>
  <p:sldIdLst>
    <p:sldId id="675" r:id="rId2"/>
    <p:sldId id="376" r:id="rId3"/>
    <p:sldId id="368" r:id="rId4"/>
    <p:sldId id="369" r:id="rId5"/>
    <p:sldId id="289" r:id="rId6"/>
    <p:sldId id="371" r:id="rId7"/>
    <p:sldId id="370" r:id="rId8"/>
    <p:sldId id="329" r:id="rId9"/>
    <p:sldId id="330" r:id="rId10"/>
    <p:sldId id="449" r:id="rId11"/>
    <p:sldId id="450" r:id="rId12"/>
    <p:sldId id="377" r:id="rId13"/>
    <p:sldId id="451" r:id="rId14"/>
    <p:sldId id="452" r:id="rId15"/>
    <p:sldId id="453" r:id="rId16"/>
    <p:sldId id="454" r:id="rId17"/>
    <p:sldId id="455" r:id="rId18"/>
    <p:sldId id="456" r:id="rId19"/>
    <p:sldId id="457" r:id="rId20"/>
    <p:sldId id="458" r:id="rId21"/>
    <p:sldId id="459" r:id="rId22"/>
    <p:sldId id="460" r:id="rId23"/>
    <p:sldId id="378" r:id="rId24"/>
    <p:sldId id="461" r:id="rId25"/>
    <p:sldId id="280" r:id="rId26"/>
    <p:sldId id="272" r:id="rId27"/>
    <p:sldId id="462" r:id="rId28"/>
    <p:sldId id="465" r:id="rId29"/>
    <p:sldId id="466" r:id="rId30"/>
    <p:sldId id="274" r:id="rId31"/>
    <p:sldId id="285" r:id="rId32"/>
    <p:sldId id="464" r:id="rId33"/>
    <p:sldId id="467" r:id="rId34"/>
    <p:sldId id="468" r:id="rId35"/>
    <p:sldId id="469" r:id="rId36"/>
    <p:sldId id="352" r:id="rId37"/>
    <p:sldId id="463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6F3"/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36" autoAdjust="0"/>
    <p:restoredTop sz="72213" autoAdjust="0"/>
  </p:normalViewPr>
  <p:slideViewPr>
    <p:cSldViewPr snapToGrid="0">
      <p:cViewPr varScale="1">
        <p:scale>
          <a:sx n="79" d="100"/>
          <a:sy n="79" d="100"/>
        </p:scale>
        <p:origin x="1020" y="68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</a:pPr>
            <a:r>
              <a:rPr lang="ko-KR" altLang="en-US" dirty="0"/>
              <a:t>수학시간에 배웠던 기본 함수 구조 기억나시는지</a:t>
            </a:r>
            <a:r>
              <a:rPr lang="en-US" altLang="ko-KR" dirty="0"/>
              <a:t>?</a:t>
            </a:r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r>
              <a:rPr lang="en-US" altLang="ko-KR" dirty="0"/>
              <a:t>input</a:t>
            </a:r>
            <a:r>
              <a:rPr lang="ko-KR" altLang="en-US" dirty="0"/>
              <a:t>값</a:t>
            </a:r>
            <a:r>
              <a:rPr lang="en-US" altLang="ko-KR" dirty="0"/>
              <a:t>, </a:t>
            </a:r>
            <a:r>
              <a:rPr lang="en-US" altLang="ko-KR" dirty="0" err="1"/>
              <a:t>outpu</a:t>
            </a:r>
            <a:r>
              <a:rPr lang="ko-KR" altLang="en-US" dirty="0"/>
              <a:t>값</a:t>
            </a:r>
            <a:r>
              <a:rPr lang="en-US" altLang="ko-KR" dirty="0"/>
              <a:t>, </a:t>
            </a:r>
            <a:r>
              <a:rPr lang="ko-KR" altLang="en-US" dirty="0" err="1"/>
              <a:t>함수식</a:t>
            </a: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ko-KR" altLang="en-US" dirty="0"/>
              <a:t>코딩에서도 같다</a:t>
            </a:r>
            <a:r>
              <a:rPr lang="en-US" altLang="ko-KR" dirty="0"/>
              <a:t>. (</a:t>
            </a:r>
            <a:r>
              <a:rPr lang="ko-KR" altLang="en-US" dirty="0"/>
              <a:t>계산식 같이 </a:t>
            </a:r>
            <a:r>
              <a:rPr lang="ko-KR" altLang="en-US"/>
              <a:t>무언가 설계되어있음</a:t>
            </a:r>
            <a:r>
              <a:rPr lang="en-US" altLang="ko-KR"/>
              <a:t>)</a:t>
            </a: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endParaRPr lang="en-US" altLang="ko-KR" dirty="0"/>
          </a:p>
          <a:p>
            <a:pPr>
              <a:buFont typeface="Arial" panose="020B0604020202020204" pitchFamily="34" charset="0"/>
              <a:buNone/>
            </a:pPr>
            <a:r>
              <a:rPr lang="en-US" altLang="ko-KR" dirty="0"/>
              <a:t>input,</a:t>
            </a:r>
            <a:r>
              <a:rPr lang="ko-KR" altLang="en-US" dirty="0"/>
              <a:t> </a:t>
            </a:r>
            <a:r>
              <a:rPr lang="en-US" altLang="ko-KR" dirty="0" err="1"/>
              <a:t>ouput</a:t>
            </a:r>
            <a:r>
              <a:rPr lang="en-US" altLang="ko-KR" dirty="0"/>
              <a:t>,</a:t>
            </a:r>
            <a:r>
              <a:rPr lang="ko-KR" altLang="en-US" dirty="0"/>
              <a:t> 함수 내부 코드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7813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특정 작업을 수행</a:t>
            </a:r>
            <a:r>
              <a:rPr lang="ko-KR" altLang="en-US" dirty="0"/>
              <a:t>하기 위해 독립적으로 설계된 </a:t>
            </a:r>
            <a:r>
              <a:rPr lang="ko-KR" altLang="en-US" b="1" dirty="0"/>
              <a:t>코드의 집합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.e.g. </a:t>
            </a:r>
            <a:r>
              <a:rPr lang="ko-KR" altLang="en-US" dirty="0"/>
              <a:t>메소드</a:t>
            </a:r>
            <a:r>
              <a:rPr lang="en-US" altLang="ko-KR" dirty="0"/>
              <a:t>, </a:t>
            </a:r>
            <a:r>
              <a:rPr lang="ko-KR" altLang="en-US" dirty="0"/>
              <a:t>연산</a:t>
            </a:r>
            <a:r>
              <a:rPr lang="en-US" altLang="ko-KR" dirty="0"/>
              <a:t>, </a:t>
            </a:r>
            <a:r>
              <a:rPr lang="ko-KR" altLang="en-US" dirty="0"/>
              <a:t>오퍼레이션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우선 지시사항들의 묶음</a:t>
            </a:r>
            <a:r>
              <a:rPr lang="en-US" altLang="ko-KR" dirty="0"/>
              <a:t>(</a:t>
            </a:r>
            <a:r>
              <a:rPr lang="ko-KR" altLang="en-US" dirty="0"/>
              <a:t>과정</a:t>
            </a:r>
            <a:r>
              <a:rPr lang="en-US" altLang="ko-KR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일반적으로 </a:t>
            </a:r>
            <a:r>
              <a:rPr lang="ko-KR" altLang="en-US" b="1" dirty="0"/>
              <a:t>입력 → 함수 → </a:t>
            </a:r>
            <a:r>
              <a:rPr lang="en-US" altLang="ko-KR" b="1" dirty="0"/>
              <a:t>return → </a:t>
            </a:r>
            <a:r>
              <a:rPr lang="ko-KR" altLang="en-US" b="1" dirty="0"/>
              <a:t>출력</a:t>
            </a:r>
            <a:r>
              <a:rPr lang="ko-KR" altLang="en-US" dirty="0"/>
              <a:t> 형태를 갖는다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b="1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동일한 작업을 반복</a:t>
            </a:r>
            <a:r>
              <a:rPr lang="en-US" altLang="ko-KR" b="1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; </a:t>
            </a: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함수 사용시 함수 호출만으로 동일한 작업을 여러 번 반복</a:t>
            </a:r>
            <a:endParaRPr lang="en-US" altLang="ko-KR" b="0" i="0" dirty="0">
              <a:solidFill>
                <a:srgbClr val="495057"/>
              </a:solidFill>
              <a:effectLst/>
              <a:latin typeface="Noto Sans KR" panose="020B0500000000000000" pitchFamily="34" charset="-127"/>
              <a:ea typeface="Noto Sans KR" panose="020B0500000000000000" pitchFamily="34" charset="-127"/>
            </a:endParaRPr>
          </a:p>
          <a:p>
            <a:pPr marL="228600" indent="-228600">
              <a:buAutoNum type="arabicPeriod"/>
            </a:pP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반복작업 줄임</a:t>
            </a:r>
            <a:endParaRPr lang="en-US" altLang="ko-KR" b="0" i="0" dirty="0">
              <a:solidFill>
                <a:srgbClr val="495057"/>
              </a:solidFill>
              <a:effectLst/>
              <a:latin typeface="Noto Sans KR" panose="020B0500000000000000" pitchFamily="34" charset="-127"/>
              <a:ea typeface="Noto Sans KR" panose="020B0500000000000000" pitchFamily="34" charset="-127"/>
            </a:endParaRPr>
          </a:p>
          <a:p>
            <a:pPr marL="228600" indent="-228600">
              <a:buAutoNum type="arabicPeriod"/>
            </a:pP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코드 재사용성 늘림</a:t>
            </a:r>
            <a:endParaRPr lang="en-US" altLang="ko-KR" b="0" i="0" dirty="0">
              <a:solidFill>
                <a:srgbClr val="495057"/>
              </a:solidFill>
              <a:effectLst/>
              <a:latin typeface="Noto Sans KR" panose="020B0500000000000000" pitchFamily="34" charset="-127"/>
              <a:ea typeface="Noto Sans KR" panose="020B0500000000000000" pitchFamily="34" charset="-127"/>
            </a:endParaRPr>
          </a:p>
          <a:p>
            <a:pPr marL="228600" indent="-228600">
              <a:buAutoNum type="arabicPeriod"/>
            </a:pPr>
            <a:r>
              <a:rPr lang="ko-KR" altLang="en-US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유지보수 편리</a:t>
            </a:r>
            <a:r>
              <a:rPr lang="en-US" altLang="ko-KR" b="0" i="0" dirty="0">
                <a:solidFill>
                  <a:srgbClr val="495057"/>
                </a:solidFill>
                <a:effectLst/>
                <a:latin typeface="Noto Sans KR" panose="020B0500000000000000" pitchFamily="34" charset="-127"/>
                <a:ea typeface="Noto Sans KR" panose="020B0500000000000000" pitchFamily="34" charset="-127"/>
              </a:rPr>
              <a:t> 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84715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함수　선언．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4202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>
                <a:latin typeface="굴림" panose="020B0600000101010101" pitchFamily="50" charset="-127"/>
                <a:ea typeface="굴림" panose="020B0600000101010101" pitchFamily="50" charset="-127"/>
              </a:rPr>
              <a:t>함수　이름</a:t>
            </a:r>
            <a:endParaRPr lang="en-US" altLang="ko-KR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r>
              <a:rPr lang="ko-KR" altLang="en-US" dirty="0">
                <a:latin typeface="굴림" panose="020B0600000101010101" pitchFamily="50" charset="-127"/>
                <a:ea typeface="굴림" panose="020B0600000101010101" pitchFamily="50" charset="-127"/>
              </a:rPr>
              <a:t>어떤　표기법을　사용했는지？</a:t>
            </a:r>
            <a:endParaRPr lang="en-US" altLang="ko-KR" dirty="0">
              <a:latin typeface="굴림" panose="020B0600000101010101" pitchFamily="50" charset="-127"/>
              <a:ea typeface="굴림" panose="020B0600000101010101" pitchFamily="50" charset="-127"/>
            </a:endParaRPr>
          </a:p>
          <a:p>
            <a:endParaRPr lang="en-US" altLang="ko-KR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78296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40238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7876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함수　선언　방식에는</a:t>
            </a:r>
            <a:endParaRPr lang="en-US" altLang="ko-KR" dirty="0"/>
          </a:p>
          <a:p>
            <a:r>
              <a:rPr lang="ko-KR" altLang="en-US" dirty="0"/>
              <a:t>２가지　방법．</a:t>
            </a:r>
            <a:endParaRPr lang="en-US" altLang="ko-KR" dirty="0"/>
          </a:p>
          <a:p>
            <a:r>
              <a:rPr lang="ko-KR" altLang="en-US" dirty="0"/>
              <a:t>명시적　함수　선언</a:t>
            </a:r>
            <a:endParaRPr lang="en-US" altLang="ko-KR" dirty="0"/>
          </a:p>
          <a:p>
            <a:r>
              <a:rPr lang="ko-KR" altLang="en-US" dirty="0"/>
              <a:t>함수　표현식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같이　알아보도록　하겠습니다．　－　코드　치러　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2995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시간 봐서 실습 하거나 숙제로 주기 </a:t>
            </a:r>
            <a:r>
              <a:rPr lang="en-US" altLang="ko-KR" dirty="0"/>
              <a:t>(</a:t>
            </a:r>
            <a:r>
              <a:rPr lang="ko-KR" altLang="en-US" dirty="0" err="1"/>
              <a:t>안보고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648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시간 봐서 실습 하거나 숙제로 주기 </a:t>
            </a:r>
            <a:r>
              <a:rPr lang="en-US" altLang="ko-KR" dirty="0"/>
              <a:t>(</a:t>
            </a:r>
            <a:r>
              <a:rPr lang="ko-KR" altLang="en-US" dirty="0" err="1"/>
              <a:t>안보고</a:t>
            </a:r>
            <a:r>
              <a:rPr lang="en-US" altLang="ko-KR" dirty="0"/>
              <a:t>)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pPr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206923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46947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특정 조건일 때만 실행하고 싶은 구문이 </a:t>
            </a:r>
            <a:r>
              <a:rPr lang="ko-KR" altLang="en-US" dirty="0" err="1"/>
              <a:t>있을때</a:t>
            </a:r>
            <a:r>
              <a:rPr lang="ko-KR" altLang="en-US" dirty="0"/>
              <a:t> 사용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조금 이따가 같이 한번 해보도록 </a:t>
            </a:r>
            <a:r>
              <a:rPr lang="ko-KR" altLang="en-US" dirty="0" err="1"/>
              <a:t>할게요</a:t>
            </a:r>
            <a:r>
              <a:rPr lang="ko-KR" altLang="en-US" dirty="0"/>
              <a:t> 일단은 알아만 두세요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7534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30356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있어도 되고 없어도 된다는 말은 </a:t>
            </a:r>
            <a:r>
              <a:rPr lang="en-US" altLang="ko-KR" dirty="0"/>
              <a:t>else </a:t>
            </a:r>
            <a:r>
              <a:rPr lang="ko-KR" altLang="en-US" dirty="0"/>
              <a:t>자체가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6971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9800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문 실습 해보자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ko-KR" altLang="en-US" dirty="0"/>
              <a:t>실습에 대한 정답은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2616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작성 </a:t>
            </a:r>
            <a:r>
              <a:rPr lang="en-US" altLang="ko-KR" dirty="0" err="1"/>
              <a:t>rr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실습</a:t>
            </a:r>
            <a:r>
              <a:rPr lang="en-US" altLang="ko-KR" dirty="0"/>
              <a:t>! </a:t>
            </a:r>
            <a:r>
              <a:rPr lang="ko-KR" altLang="en-US" dirty="0"/>
              <a:t>퀴즈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99762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1096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실습을 해보자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New date </a:t>
            </a:r>
            <a:r>
              <a:rPr lang="ko-KR" altLang="en-US" dirty="0"/>
              <a:t>간단하게 설명</a:t>
            </a:r>
            <a:r>
              <a:rPr lang="en-US" altLang="ko-KR" dirty="0"/>
              <a:t>. – </a:t>
            </a:r>
            <a:r>
              <a:rPr lang="ko-KR" altLang="en-US" dirty="0"/>
              <a:t>코드로 </a:t>
            </a:r>
            <a:r>
              <a:rPr lang="ko-KR" altLang="en-US" dirty="0" err="1"/>
              <a:t>ㄱ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다시와서</a:t>
            </a:r>
            <a:r>
              <a:rPr lang="ko-KR" altLang="en-US" dirty="0"/>
              <a:t> 실습 주고 </a:t>
            </a:r>
            <a:r>
              <a:rPr lang="en-US" altLang="ko-KR" dirty="0"/>
              <a:t>&gt; </a:t>
            </a:r>
            <a:r>
              <a:rPr lang="ko-KR" altLang="en-US" dirty="0"/>
              <a:t>핑 </a:t>
            </a:r>
            <a:r>
              <a:rPr lang="en-US" altLang="ko-KR" dirty="0"/>
              <a:t>&gt; </a:t>
            </a:r>
            <a:r>
              <a:rPr lang="ko-KR" altLang="en-US" dirty="0"/>
              <a:t>진도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24503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for</a:t>
            </a:r>
            <a:r>
              <a:rPr lang="ko-KR" altLang="en-US" dirty="0"/>
              <a:t>문의 구조</a:t>
            </a:r>
            <a:r>
              <a:rPr lang="en-US" altLang="ko-KR" dirty="0"/>
              <a:t>, </a:t>
            </a:r>
          </a:p>
          <a:p>
            <a:r>
              <a:rPr lang="en-US" altLang="ko-KR" dirty="0"/>
              <a:t>1</a:t>
            </a:r>
            <a:r>
              <a:rPr lang="ko-KR" altLang="en-US" dirty="0"/>
              <a:t>번 </a:t>
            </a:r>
            <a:r>
              <a:rPr lang="en-US" altLang="ko-KR" dirty="0"/>
              <a:t>, </a:t>
            </a:r>
            <a:r>
              <a:rPr lang="ko-KR" altLang="en-US" dirty="0"/>
              <a:t>어디서부터</a:t>
            </a:r>
            <a:endParaRPr lang="en-US" altLang="ko-KR" dirty="0"/>
          </a:p>
          <a:p>
            <a:r>
              <a:rPr lang="en-US" altLang="ko-KR" dirty="0"/>
              <a:t>2</a:t>
            </a:r>
            <a:r>
              <a:rPr lang="ko-KR" altLang="en-US" dirty="0"/>
              <a:t>번</a:t>
            </a:r>
            <a:r>
              <a:rPr lang="en-US" altLang="ko-KR" dirty="0"/>
              <a:t>, </a:t>
            </a:r>
            <a:r>
              <a:rPr lang="ko-KR" altLang="en-US" dirty="0"/>
              <a:t>어디까지 </a:t>
            </a:r>
            <a:r>
              <a:rPr lang="en-US" altLang="ko-KR" dirty="0"/>
              <a:t>=&gt;</a:t>
            </a:r>
            <a:r>
              <a:rPr lang="ko-KR" altLang="en-US" dirty="0"/>
              <a:t>보통 부등호가 들어가는 조건식이 들어감 </a:t>
            </a:r>
            <a:r>
              <a:rPr lang="en-US" altLang="ko-KR" dirty="0"/>
              <a:t>(</a:t>
            </a:r>
            <a:r>
              <a:rPr lang="ko-KR" altLang="en-US" dirty="0"/>
              <a:t>조건이 참일 때 반복</a:t>
            </a:r>
            <a:r>
              <a:rPr lang="en-US" altLang="ko-KR" dirty="0"/>
              <a:t>.)</a:t>
            </a:r>
          </a:p>
          <a:p>
            <a:r>
              <a:rPr lang="en-US" altLang="ko-KR" dirty="0"/>
              <a:t>3</a:t>
            </a:r>
            <a:r>
              <a:rPr lang="ko-KR" altLang="en-US" dirty="0"/>
              <a:t>번 </a:t>
            </a:r>
            <a:r>
              <a:rPr lang="ko-KR" altLang="en-US" dirty="0" err="1"/>
              <a:t>늘어날거야</a:t>
            </a:r>
            <a:r>
              <a:rPr lang="en-US" altLang="ko-KR" dirty="0"/>
              <a:t>, </a:t>
            </a:r>
            <a:r>
              <a:rPr lang="ko-KR" altLang="en-US" dirty="0" err="1"/>
              <a:t>줄어들거야</a:t>
            </a:r>
            <a:r>
              <a:rPr lang="en-US" altLang="ko-KR" dirty="0"/>
              <a:t>(</a:t>
            </a:r>
            <a:r>
              <a:rPr lang="ko-KR" altLang="en-US" dirty="0" err="1"/>
              <a:t>몇개씩</a:t>
            </a:r>
            <a:r>
              <a:rPr lang="en-US" altLang="ko-KR" dirty="0"/>
              <a:t>?)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부터 </a:t>
            </a:r>
            <a:r>
              <a:rPr lang="en-US" altLang="ko-KR" dirty="0"/>
              <a:t>10</a:t>
            </a:r>
            <a:r>
              <a:rPr lang="ko-KR" altLang="en-US" dirty="0"/>
              <a:t>까지 </a:t>
            </a:r>
            <a:r>
              <a:rPr lang="en-US" altLang="ko-KR" dirty="0"/>
              <a:t>1</a:t>
            </a:r>
            <a:r>
              <a:rPr lang="ko-KR" altLang="en-US" dirty="0"/>
              <a:t>개씩 </a:t>
            </a:r>
            <a:r>
              <a:rPr lang="ko-KR" altLang="en-US" dirty="0" err="1"/>
              <a:t>늘어날거야</a:t>
            </a:r>
            <a:endParaRPr lang="en-US" altLang="ko-KR" dirty="0"/>
          </a:p>
          <a:p>
            <a:r>
              <a:rPr lang="en-US" altLang="ko-KR" dirty="0"/>
              <a:t>20</a:t>
            </a:r>
            <a:r>
              <a:rPr lang="ko-KR" altLang="en-US" dirty="0"/>
              <a:t>부터 </a:t>
            </a:r>
            <a:r>
              <a:rPr lang="en-US" altLang="ko-KR" dirty="0"/>
              <a:t>2</a:t>
            </a:r>
            <a:r>
              <a:rPr lang="ko-KR" altLang="en-US" dirty="0"/>
              <a:t>보다 작기 전까지 </a:t>
            </a:r>
            <a:r>
              <a:rPr lang="en-US" altLang="ko-KR" dirty="0"/>
              <a:t>2</a:t>
            </a:r>
            <a:r>
              <a:rPr lang="ko-KR" altLang="en-US" dirty="0"/>
              <a:t>개씩 </a:t>
            </a:r>
            <a:r>
              <a:rPr lang="ko-KR" altLang="en-US" dirty="0" err="1"/>
              <a:t>줄어들거야</a:t>
            </a:r>
            <a:endParaRPr lang="en-US" altLang="ko-KR" dirty="0"/>
          </a:p>
          <a:p>
            <a:r>
              <a:rPr lang="ko-KR" altLang="en-US" dirty="0" err="1"/>
              <a:t>이런것을</a:t>
            </a:r>
            <a:r>
              <a:rPr lang="ko-KR" altLang="en-US" dirty="0"/>
              <a:t> </a:t>
            </a:r>
            <a:r>
              <a:rPr lang="en-US" altLang="ko-KR" dirty="0"/>
              <a:t>for</a:t>
            </a:r>
            <a:r>
              <a:rPr lang="ko-KR" altLang="en-US" dirty="0"/>
              <a:t>문의 괄호 안에 써줄 수 </a:t>
            </a:r>
            <a:r>
              <a:rPr lang="ko-KR" altLang="en-US" dirty="0" err="1"/>
              <a:t>잇음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28116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이런 알고리즘</a:t>
            </a:r>
            <a:r>
              <a:rPr lang="en-US" altLang="ko-KR" dirty="0"/>
              <a:t>..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20240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설명해주기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17329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for</a:t>
            </a:r>
            <a:r>
              <a:rPr lang="ko-KR" altLang="en-US" dirty="0"/>
              <a:t>문 코드 치러 </a:t>
            </a:r>
            <a:r>
              <a:rPr lang="ko-KR" altLang="en-US" dirty="0" err="1"/>
              <a:t>ㄱㄱ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2921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3598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이것을 같이 한번 </a:t>
            </a:r>
            <a:r>
              <a:rPr lang="ko-KR" altLang="en-US" dirty="0" err="1"/>
              <a:t>해볼게요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코드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2305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while</a:t>
            </a:r>
            <a:r>
              <a:rPr lang="ko-KR" altLang="en-US" dirty="0"/>
              <a:t>반복 가능</a:t>
            </a:r>
            <a:r>
              <a:rPr lang="en-US" altLang="ko-KR" dirty="0"/>
              <a:t>..</a:t>
            </a:r>
          </a:p>
          <a:p>
            <a:r>
              <a:rPr lang="ko-KR" altLang="en-US" dirty="0"/>
              <a:t>구구단 </a:t>
            </a:r>
            <a:r>
              <a:rPr lang="en-US" altLang="ko-KR" dirty="0"/>
              <a:t>while</a:t>
            </a:r>
            <a:r>
              <a:rPr lang="ko-KR" altLang="en-US" dirty="0"/>
              <a:t>버전은 있군</a:t>
            </a:r>
            <a:r>
              <a:rPr lang="en-US" altLang="ko-KR" dirty="0"/>
              <a:t>,..,.,.,,.,</a:t>
            </a:r>
          </a:p>
          <a:p>
            <a:endParaRPr lang="en-US" altLang="ko-KR" dirty="0"/>
          </a:p>
          <a:p>
            <a:r>
              <a:rPr lang="ko-KR" altLang="en-US" dirty="0"/>
              <a:t>안에 있는</a:t>
            </a:r>
            <a:r>
              <a:rPr lang="ko-KR" altLang="en-US" baseline="0" dirty="0"/>
              <a:t> </a:t>
            </a:r>
            <a:r>
              <a:rPr lang="en-US" altLang="ko-KR" baseline="0" dirty="0"/>
              <a:t>while</a:t>
            </a:r>
            <a:r>
              <a:rPr lang="ko-KR" altLang="en-US" baseline="0" dirty="0"/>
              <a:t>문을 벗어나게 되면 하나의 단</a:t>
            </a:r>
            <a:r>
              <a:rPr lang="en-US" altLang="ko-KR" baseline="0" dirty="0"/>
              <a:t>? </a:t>
            </a:r>
            <a:r>
              <a:rPr lang="ko-KR" altLang="en-US" baseline="0" dirty="0" err="1"/>
              <a:t>이끝난거라서</a:t>
            </a:r>
            <a:endParaRPr lang="en-US" altLang="ko-KR" baseline="0" dirty="0"/>
          </a:p>
          <a:p>
            <a:r>
              <a:rPr lang="en-US" altLang="ko-KR" baseline="0" dirty="0"/>
              <a:t>j=1</a:t>
            </a:r>
            <a:r>
              <a:rPr lang="ko-KR" altLang="en-US" baseline="0" dirty="0"/>
              <a:t>로 다시 </a:t>
            </a:r>
            <a:r>
              <a:rPr lang="ko-KR" altLang="en-US" baseline="0" dirty="0" err="1"/>
              <a:t>초기화시켜주는</a:t>
            </a:r>
            <a:r>
              <a:rPr lang="ko-KR" altLang="en-US" baseline="0" dirty="0"/>
              <a:t> 것</a:t>
            </a:r>
            <a:endParaRPr lang="en-US" altLang="ko-KR" baseline="0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메모장 켜서 </a:t>
            </a:r>
            <a:r>
              <a:rPr lang="en-US" altLang="ko-KR" dirty="0"/>
              <a:t>2x1= </a:t>
            </a:r>
            <a:r>
              <a:rPr lang="ko-KR" altLang="en-US" dirty="0"/>
              <a:t>설명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dirty="0"/>
              <a:t>While</a:t>
            </a:r>
            <a:r>
              <a:rPr lang="ko-KR" altLang="en-US" dirty="0"/>
              <a:t>문 구구단 보여주고 </a:t>
            </a:r>
            <a:r>
              <a:rPr lang="en-US" altLang="ko-KR" b="1" dirty="0">
                <a:solidFill>
                  <a:srgbClr val="FF0000"/>
                </a:solidFill>
                <a:highlight>
                  <a:srgbClr val="FFFF00"/>
                </a:highlight>
              </a:rPr>
              <a:t>for</a:t>
            </a:r>
            <a:r>
              <a:rPr lang="ko-KR" altLang="en-US" b="1" dirty="0">
                <a:solidFill>
                  <a:srgbClr val="FF0000"/>
                </a:solidFill>
                <a:highlight>
                  <a:srgbClr val="FFFF00"/>
                </a:highlight>
              </a:rPr>
              <a:t>문</a:t>
            </a:r>
            <a:r>
              <a:rPr lang="ko-KR" altLang="en-US" dirty="0">
                <a:solidFill>
                  <a:srgbClr val="FF0000"/>
                </a:solidFill>
              </a:rPr>
              <a:t>으로 </a:t>
            </a:r>
            <a:r>
              <a:rPr lang="ko-KR" altLang="en-US" dirty="0"/>
              <a:t>구구단 만들기</a:t>
            </a:r>
            <a:r>
              <a:rPr lang="en-US" altLang="ko-KR" dirty="0"/>
              <a:t> </a:t>
            </a:r>
            <a:r>
              <a:rPr lang="ko-KR" altLang="en-US" dirty="0"/>
              <a:t>실습 주기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785698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For</a:t>
            </a:r>
            <a:r>
              <a:rPr lang="ko-KR" altLang="en-US"/>
              <a:t>문으로 만들어보세요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4896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Break </a:t>
            </a:r>
            <a:r>
              <a:rPr lang="ko-KR" altLang="en-US" dirty="0"/>
              <a:t>과 </a:t>
            </a:r>
            <a:r>
              <a:rPr lang="en-US" altLang="ko-KR" dirty="0"/>
              <a:t>continue</a:t>
            </a:r>
            <a:r>
              <a:rPr lang="ko-KR" altLang="en-US" dirty="0"/>
              <a:t>에 관해 </a:t>
            </a:r>
            <a:r>
              <a:rPr lang="ko-KR" altLang="en-US" dirty="0" err="1"/>
              <a:t>알아볼게요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ko-KR" altLang="en-US" dirty="0"/>
              <a:t>이름에서부터 느낌이 </a:t>
            </a:r>
            <a:r>
              <a:rPr lang="ko-KR" altLang="en-US" dirty="0" err="1"/>
              <a:t>올겁니다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95295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46373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484661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0584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56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444484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04475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669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259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783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8200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649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3660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674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44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4412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50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1152595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B437F89-A3A1-A26E-2544-6BFC49FF4C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2345" y="1796844"/>
            <a:ext cx="3664892" cy="326431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14EB663-47BC-8050-C4B7-51DFDDD16E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3753" y="1796844"/>
            <a:ext cx="3392156" cy="326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724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FA4040C-F5C0-4186-1402-E2BFEA5BA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608" y="4838902"/>
            <a:ext cx="11066783" cy="907770"/>
          </a:xfrm>
        </p:spPr>
        <p:txBody>
          <a:bodyPr>
            <a:normAutofit fontScale="925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ko-KR" altLang="en-US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특정 작업을 수행하기 위해 독립적으로 설계된 </a:t>
            </a:r>
            <a:r>
              <a:rPr lang="ko-KR" altLang="en-US" sz="3600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코드 집합</a:t>
            </a:r>
            <a:r>
              <a:rPr lang="en-US" altLang="ko-KR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!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492112" y="1565213"/>
            <a:ext cx="9207774" cy="26148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B8A47E5E-C12A-F6F5-19B2-84BD38E4EE85}"/>
              </a:ext>
            </a:extLst>
          </p:cNvPr>
          <p:cNvSpPr/>
          <p:nvPr/>
        </p:nvSpPr>
        <p:spPr>
          <a:xfrm>
            <a:off x="8893147" y="2290046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9225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0220" y="3444604"/>
            <a:ext cx="3338918" cy="6350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</a:t>
            </a:r>
            <a:r>
              <a:rPr lang="en-US" altLang="ko-KR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en-US" altLang="ko-KR" sz="3600" dirty="0"/>
              <a:t>Keyword</a:t>
            </a:r>
            <a:endParaRPr lang="ko-KR" altLang="en-US" sz="3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327990" y="1699629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2376082" y="2513924"/>
            <a:ext cx="2839453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72E735E-8881-5655-5266-354508ECBD37}"/>
              </a:ext>
            </a:extLst>
          </p:cNvPr>
          <p:cNvSpPr/>
          <p:nvPr/>
        </p:nvSpPr>
        <p:spPr>
          <a:xfrm>
            <a:off x="8723214" y="2314032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159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207127" y="1801760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5056964" y="2601420"/>
            <a:ext cx="1868906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9265" y="4612104"/>
            <a:ext cx="6215241" cy="167212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 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Name (</a:t>
            </a: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 이름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)</a:t>
            </a:r>
          </a:p>
          <a:p>
            <a:pPr marL="0" indent="0">
              <a:buNone/>
            </a:pP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: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일반적으로 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camelCase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이용</a:t>
            </a:r>
            <a:endParaRPr lang="en-US" altLang="ko-KR" sz="30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745F661-47FB-8AAE-E9A8-D19B70E29D89}"/>
              </a:ext>
            </a:extLst>
          </p:cNvPr>
          <p:cNvSpPr/>
          <p:nvPr/>
        </p:nvSpPr>
        <p:spPr>
          <a:xfrm>
            <a:off x="8618018" y="2539714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864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1814" y="4843141"/>
            <a:ext cx="7413086" cy="1219739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 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Parameter</a:t>
            </a:r>
            <a:endParaRPr lang="en-US" altLang="ko-KR" sz="30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pPr marL="0" indent="0">
              <a:buNone/>
            </a:pP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: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함수를 선언할 때 </a:t>
            </a:r>
            <a:r>
              <a:rPr lang="ko-KR" altLang="en-US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매개변수</a:t>
            </a:r>
            <a:r>
              <a:rPr lang="en-US" altLang="ko-KR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(</a:t>
            </a:r>
            <a:r>
              <a:rPr lang="ko-KR" altLang="en-US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인자</a:t>
            </a:r>
            <a:r>
              <a:rPr lang="en-US" altLang="ko-KR" sz="3000" b="1" dirty="0">
                <a:highlight>
                  <a:srgbClr val="FFFF00"/>
                </a:highlight>
                <a:latin typeface="메이플스토리" panose="02000300000000000000" pitchFamily="2" charset="-127"/>
                <a:ea typeface="메이플스토리" panose="02000300000000000000" pitchFamily="2" charset="-127"/>
              </a:rPr>
              <a:t>)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를 받을 것</a:t>
            </a:r>
            <a:endParaRPr lang="en-US" altLang="ko-KR" sz="30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152144" y="1811445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6774704" y="2646144"/>
            <a:ext cx="601580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AEAE3E0-6CB0-3659-4200-A2C92667AB00}"/>
              </a:ext>
            </a:extLst>
          </p:cNvPr>
          <p:cNvSpPr/>
          <p:nvPr/>
        </p:nvSpPr>
        <p:spPr>
          <a:xfrm>
            <a:off x="8553281" y="2549399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09925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7167" y="4350223"/>
            <a:ext cx="6697732" cy="152933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 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Body (Block)</a:t>
            </a:r>
          </a:p>
          <a:p>
            <a:pPr marL="0" indent="0">
              <a:buNone/>
            </a:pP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: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함수가 실행되는 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Scope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라고도 한다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492113" y="1325563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7964905" y="2160262"/>
            <a:ext cx="1018674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2179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5F37647C-10FA-A40F-7646-54C4E59BE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1381" y="2229429"/>
            <a:ext cx="3897230" cy="561077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명시적 함수 선언</a:t>
            </a:r>
            <a:endParaRPr lang="ko-KR" altLang="en-US" sz="3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 선언 방식</a:t>
            </a: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2E085A0E-15BB-DFCD-E7A1-8200B49E24CB}"/>
              </a:ext>
            </a:extLst>
          </p:cNvPr>
          <p:cNvSpPr txBox="1">
            <a:spLocks/>
          </p:cNvSpPr>
          <p:nvPr/>
        </p:nvSpPr>
        <p:spPr>
          <a:xfrm>
            <a:off x="7066499" y="2229429"/>
            <a:ext cx="2639365" cy="561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 표현식</a:t>
            </a:r>
            <a:endParaRPr lang="ko-KR" altLang="en-US" sz="3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13ABE13-F8C0-0411-5D33-AF1C353DCD7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897" b="11962"/>
          <a:stretch/>
        </p:blipFill>
        <p:spPr>
          <a:xfrm>
            <a:off x="737709" y="3079802"/>
            <a:ext cx="4364574" cy="7498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887C908-B7F9-E0AF-86AC-EAF71F19A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0537" y="3079802"/>
            <a:ext cx="5811291" cy="74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9911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multifly</a:t>
            </a:r>
            <a:r>
              <a:rPr lang="en-US" altLang="ko-KR" dirty="0"/>
              <a:t>() </a:t>
            </a:r>
            <a:r>
              <a:rPr lang="ko-KR" altLang="en-US" dirty="0"/>
              <a:t>함수를 만들어주세요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조건</a:t>
            </a:r>
            <a:endParaRPr lang="en-US" altLang="ko-KR" dirty="0"/>
          </a:p>
          <a:p>
            <a:pPr lvl="1"/>
            <a:r>
              <a:rPr lang="ko-KR" altLang="en-US" dirty="0"/>
              <a:t>매개변수로 두 개의 숫자를 </a:t>
            </a:r>
            <a:r>
              <a:rPr lang="ko-KR" altLang="en-US" dirty="0" err="1"/>
              <a:t>입력받기</a:t>
            </a:r>
            <a:endParaRPr lang="en-US" altLang="ko-KR" dirty="0"/>
          </a:p>
          <a:p>
            <a:pPr lvl="1"/>
            <a:r>
              <a:rPr lang="ko-KR" altLang="en-US" dirty="0"/>
              <a:t>두 인자의 곱을 </a:t>
            </a:r>
            <a:r>
              <a:rPr lang="en-US" altLang="ko-KR" dirty="0"/>
              <a:t>‘</a:t>
            </a:r>
            <a:r>
              <a:rPr lang="ko-KR" altLang="en-US" dirty="0"/>
              <a:t>반환</a:t>
            </a:r>
            <a:r>
              <a:rPr lang="en-US" altLang="ko-KR" dirty="0"/>
              <a:t>’ </a:t>
            </a:r>
            <a:r>
              <a:rPr lang="ko-KR" altLang="en-US" dirty="0"/>
              <a:t>하는 함수를 정의</a:t>
            </a:r>
            <a:endParaRPr lang="en-US" altLang="ko-KR" dirty="0"/>
          </a:p>
          <a:p>
            <a:pPr lvl="1"/>
            <a:r>
              <a:rPr lang="en-US" altLang="ko-KR" dirty="0"/>
              <a:t>!! </a:t>
            </a:r>
            <a:r>
              <a:rPr lang="ko-KR" altLang="en-US" dirty="0"/>
              <a:t>출력이 아닌 반환하는 함수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 err="1"/>
              <a:t>콘솔창에</a:t>
            </a:r>
            <a:r>
              <a:rPr lang="ko-KR" altLang="en-US" dirty="0"/>
              <a:t> 출력하고 싶다면 아래처럼 테스트 해보기</a:t>
            </a:r>
            <a:endParaRPr lang="en-US" altLang="ko-KR" dirty="0"/>
          </a:p>
          <a:p>
            <a:pPr lvl="2"/>
            <a:r>
              <a:rPr lang="en-US" altLang="ko-KR" dirty="0"/>
              <a:t> console.log(</a:t>
            </a:r>
            <a:r>
              <a:rPr lang="en-US" altLang="ko-KR" dirty="0" err="1"/>
              <a:t>multifly</a:t>
            </a:r>
            <a:r>
              <a:rPr lang="en-US" altLang="ko-KR" dirty="0"/>
              <a:t>(3,7)); </a:t>
            </a:r>
            <a:r>
              <a:rPr lang="en-US" altLang="ko-KR" dirty="0">
                <a:solidFill>
                  <a:schemeClr val="accent6"/>
                </a:solidFill>
              </a:rPr>
              <a:t>// 21</a:t>
            </a:r>
          </a:p>
          <a:p>
            <a:pPr lvl="2"/>
            <a:r>
              <a:rPr lang="en-US" altLang="ko-KR" dirty="0"/>
              <a:t> console.log(</a:t>
            </a:r>
            <a:r>
              <a:rPr lang="en-US" altLang="ko-KR" dirty="0" err="1"/>
              <a:t>multifly</a:t>
            </a:r>
            <a:r>
              <a:rPr lang="en-US" altLang="ko-KR" dirty="0"/>
              <a:t>(2,2)); </a:t>
            </a:r>
            <a:r>
              <a:rPr lang="en-US" altLang="ko-KR" dirty="0">
                <a:solidFill>
                  <a:schemeClr val="accent6"/>
                </a:solidFill>
              </a:rPr>
              <a:t>// 4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sp>
        <p:nvSpPr>
          <p:cNvPr id="6" name="제목 5">
            <a:extLst>
              <a:ext uri="{FF2B5EF4-FFF2-40B4-BE49-F238E27FC236}">
                <a16:creationId xmlns:a16="http://schemas.microsoft.com/office/drawing/2014/main" id="{A4C95C57-DEA6-F1CD-B4FE-80CED5863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JavaScript </a:t>
            </a:r>
            <a:r>
              <a:rPr lang="ko-KR" altLang="en-US" dirty="0"/>
              <a:t>함수 실습 </a:t>
            </a:r>
            <a:r>
              <a:rPr lang="en-US" altLang="ko-KR" dirty="0"/>
              <a:t>(1)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4153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square() </a:t>
            </a:r>
            <a:r>
              <a:rPr lang="ko-KR" altLang="en-US" dirty="0"/>
              <a:t>함수를 만들어주세요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조건</a:t>
            </a:r>
            <a:endParaRPr lang="en-US" altLang="ko-KR" dirty="0"/>
          </a:p>
          <a:p>
            <a:pPr lvl="1"/>
            <a:r>
              <a:rPr lang="ko-KR" altLang="en-US" dirty="0"/>
              <a:t>매개변수로 하나의 숫자를 </a:t>
            </a:r>
            <a:r>
              <a:rPr lang="ko-KR" altLang="en-US" dirty="0" err="1"/>
              <a:t>입력받기</a:t>
            </a:r>
            <a:endParaRPr lang="en-US" altLang="ko-KR" dirty="0"/>
          </a:p>
          <a:p>
            <a:pPr lvl="1"/>
            <a:r>
              <a:rPr lang="ko-KR" altLang="en-US" dirty="0" err="1"/>
              <a:t>입력받은</a:t>
            </a:r>
            <a:r>
              <a:rPr lang="ko-KR" altLang="en-US" dirty="0"/>
              <a:t> 수의 제곱을 </a:t>
            </a:r>
            <a:r>
              <a:rPr lang="ko-KR" altLang="en-US" dirty="0" err="1"/>
              <a:t>콘솔창에</a:t>
            </a:r>
            <a:r>
              <a:rPr lang="ko-KR" altLang="en-US" dirty="0"/>
              <a:t> 출력하는 함수 정의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 err="1"/>
              <a:t>콘솔창에</a:t>
            </a:r>
            <a:r>
              <a:rPr lang="ko-KR" altLang="en-US" dirty="0"/>
              <a:t> 출력하고 싶다면 아래처럼 테스트 해보기</a:t>
            </a:r>
            <a:endParaRPr lang="en-US" altLang="ko-KR" dirty="0"/>
          </a:p>
          <a:p>
            <a:pPr lvl="2"/>
            <a:r>
              <a:rPr lang="en-US" altLang="ko-KR" dirty="0"/>
              <a:t> square(4)</a:t>
            </a:r>
            <a:r>
              <a:rPr lang="en-US" altLang="ko-KR" dirty="0">
                <a:solidFill>
                  <a:schemeClr val="accent6"/>
                </a:solidFill>
              </a:rPr>
              <a:t>// 16</a:t>
            </a:r>
          </a:p>
          <a:p>
            <a:pPr lvl="2"/>
            <a:r>
              <a:rPr lang="en-US" altLang="ko-KR" dirty="0"/>
              <a:t> square(11); </a:t>
            </a:r>
            <a:r>
              <a:rPr lang="en-US" altLang="ko-KR" dirty="0">
                <a:solidFill>
                  <a:schemeClr val="accent6"/>
                </a:solidFill>
              </a:rPr>
              <a:t>// 121</a:t>
            </a:r>
          </a:p>
          <a:p>
            <a:pPr lvl="2"/>
            <a:r>
              <a:rPr lang="en-US" altLang="ko-KR" dirty="0"/>
              <a:t> square(5); </a:t>
            </a:r>
            <a:r>
              <a:rPr lang="en-US" altLang="ko-KR" dirty="0">
                <a:solidFill>
                  <a:schemeClr val="accent6"/>
                </a:solidFill>
              </a:rPr>
              <a:t>// 25</a:t>
            </a:r>
            <a:endParaRPr lang="ko-KR" altLang="en-US" dirty="0">
              <a:solidFill>
                <a:schemeClr val="accent6"/>
              </a:solidFill>
            </a:endParaRPr>
          </a:p>
          <a:p>
            <a:endParaRPr lang="ko-KR" altLang="en-US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D1E9275-11A8-3E89-9FC3-9A0A8783F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JavaScript </a:t>
            </a:r>
            <a:r>
              <a:rPr lang="ko-KR" altLang="en-US" dirty="0"/>
              <a:t>함수 실습 </a:t>
            </a:r>
            <a:r>
              <a:rPr lang="en-US" altLang="ko-KR" dirty="0"/>
              <a:t>(2)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09190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조건문</a:t>
            </a:r>
          </a:p>
        </p:txBody>
      </p:sp>
    </p:spTree>
    <p:extLst>
      <p:ext uri="{BB962C8B-B14F-4D97-AF65-F5344CB8AC3E}">
        <p14:creationId xmlns:p14="http://schemas.microsoft.com/office/powerpoint/2010/main" val="25794356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BA86382-93BA-1119-7DEF-8FBB48FC3D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특정 조건일 때</a:t>
            </a:r>
            <a:r>
              <a:rPr lang="ko-KR" altLang="en-US" dirty="0"/>
              <a:t>만 실행하고 싶은 구문이 있을 때 사용합니다</a:t>
            </a:r>
            <a:r>
              <a:rPr lang="en-US" altLang="ko-KR" dirty="0"/>
              <a:t>.</a:t>
            </a:r>
          </a:p>
          <a:p>
            <a:pPr lvl="1">
              <a:buFontTx/>
              <a:buChar char="-"/>
            </a:pPr>
            <a:r>
              <a:rPr lang="en-US" altLang="ko-KR" dirty="0"/>
              <a:t>prompt</a:t>
            </a:r>
            <a:r>
              <a:rPr lang="ko-KR" altLang="en-US" dirty="0"/>
              <a:t>에 입력한 수가 짝수인지 홀수인지 판별하는 프로그램</a:t>
            </a:r>
            <a:endParaRPr lang="en-US" altLang="ko-KR" dirty="0"/>
          </a:p>
          <a:p>
            <a:pPr lvl="1">
              <a:buFontTx/>
              <a:buChar char="-"/>
            </a:pPr>
            <a:r>
              <a:rPr lang="en-US" altLang="ko-KR" dirty="0"/>
              <a:t> ~ </a:t>
            </a:r>
            <a:r>
              <a:rPr lang="ko-KR" altLang="en-US" dirty="0"/>
              <a:t>일 때</a:t>
            </a:r>
            <a:r>
              <a:rPr lang="en-US" altLang="ko-KR" dirty="0"/>
              <a:t>, ~ </a:t>
            </a:r>
            <a:r>
              <a:rPr lang="ko-KR" altLang="en-US" dirty="0"/>
              <a:t>하는 프로그램을 만들 때</a:t>
            </a:r>
            <a:r>
              <a:rPr lang="en-US" altLang="ko-KR" dirty="0"/>
              <a:t>!</a:t>
            </a:r>
          </a:p>
          <a:p>
            <a:pPr lvl="1">
              <a:buFontTx/>
              <a:buChar char="-"/>
            </a:pPr>
            <a:endParaRPr lang="en-US" altLang="ko-KR" dirty="0"/>
          </a:p>
          <a:p>
            <a:r>
              <a:rPr lang="ko-KR" altLang="en-US" dirty="0"/>
              <a:t>조건문 종류</a:t>
            </a:r>
            <a:endParaRPr lang="en-US" altLang="ko-KR" dirty="0"/>
          </a:p>
          <a:p>
            <a:pPr lvl="1"/>
            <a:r>
              <a:rPr lang="en-US" altLang="ko-KR" dirty="0"/>
              <a:t>if </a:t>
            </a:r>
            <a:r>
              <a:rPr lang="ko-KR" altLang="en-US" dirty="0"/>
              <a:t>문</a:t>
            </a:r>
            <a:endParaRPr lang="en-US" altLang="ko-KR" dirty="0"/>
          </a:p>
          <a:p>
            <a:pPr lvl="1"/>
            <a:r>
              <a:rPr lang="ko-KR" altLang="en-US" dirty="0" err="1"/>
              <a:t>삼항</a:t>
            </a:r>
            <a:r>
              <a:rPr lang="ko-KR" altLang="en-US" dirty="0"/>
              <a:t> 연산자</a:t>
            </a:r>
            <a:endParaRPr lang="en-US" altLang="ko-KR" dirty="0"/>
          </a:p>
          <a:p>
            <a:pPr lvl="1"/>
            <a:r>
              <a:rPr lang="en-US" altLang="ko-KR" dirty="0"/>
              <a:t>switch </a:t>
            </a:r>
            <a:r>
              <a:rPr lang="ko-KR" altLang="en-US" dirty="0"/>
              <a:t>문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E74F7B-534E-6BE5-5ECE-6AC884E5B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A0CC2-53B4-FFA4-F071-A445DF70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FF1AD85-F818-5A44-FEB2-D046BE94B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조건문</a:t>
            </a:r>
          </a:p>
        </p:txBody>
      </p:sp>
    </p:spTree>
    <p:extLst>
      <p:ext uri="{BB962C8B-B14F-4D97-AF65-F5344CB8AC3E}">
        <p14:creationId xmlns:p14="http://schemas.microsoft.com/office/powerpoint/2010/main" val="3156447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04D5F2E-A859-5D95-3F46-2862D93692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가장 기본적인 조건문</a:t>
            </a:r>
            <a:endParaRPr lang="en-US" altLang="ko-KR" dirty="0"/>
          </a:p>
          <a:p>
            <a:r>
              <a:rPr lang="en-US" altLang="ko-KR" dirty="0"/>
              <a:t>if</a:t>
            </a:r>
            <a:r>
              <a:rPr lang="ko-KR" altLang="en-US" dirty="0"/>
              <a:t>문 기본 구조부터 먼저 알아볼까요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ko-KR" altLang="en-US" dirty="0"/>
              <a:t>조건은</a:t>
            </a:r>
            <a:r>
              <a:rPr lang="ko-KR" altLang="en-US" dirty="0">
                <a:solidFill>
                  <a:srgbClr val="00B050"/>
                </a:solidFill>
              </a:rPr>
              <a:t> </a:t>
            </a:r>
            <a:r>
              <a:rPr lang="en-US" altLang="ko-KR" dirty="0">
                <a:solidFill>
                  <a:srgbClr val="00B050"/>
                </a:solidFill>
              </a:rPr>
              <a:t>true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00B050"/>
                </a:solidFill>
              </a:rPr>
              <a:t>false</a:t>
            </a:r>
            <a:r>
              <a:rPr lang="ko-KR" altLang="en-US" dirty="0"/>
              <a:t>로 결과가 나와요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i="1" dirty="0"/>
              <a:t>a &gt; 10 (</a:t>
            </a:r>
            <a:r>
              <a:rPr lang="ko-KR" altLang="en-US" i="1" dirty="0"/>
              <a:t>변수 </a:t>
            </a:r>
            <a:r>
              <a:rPr lang="en-US" altLang="ko-KR" i="1" dirty="0"/>
              <a:t>a</a:t>
            </a:r>
            <a:r>
              <a:rPr lang="ko-KR" altLang="en-US" i="1" dirty="0"/>
              <a:t>가 </a:t>
            </a:r>
            <a:r>
              <a:rPr lang="en-US" altLang="ko-KR" i="1" dirty="0"/>
              <a:t>10</a:t>
            </a:r>
            <a:r>
              <a:rPr lang="ko-KR" altLang="en-US" i="1" dirty="0"/>
              <a:t>보다 크다면</a:t>
            </a:r>
            <a:r>
              <a:rPr lang="en-US" altLang="ko-KR" i="1" dirty="0"/>
              <a:t>)</a:t>
            </a:r>
          </a:p>
          <a:p>
            <a:pPr lvl="2"/>
            <a:r>
              <a:rPr lang="en-US" altLang="ko-KR" i="1" dirty="0"/>
              <a:t>str ===“</a:t>
            </a:r>
            <a:r>
              <a:rPr lang="en-US" altLang="ko-KR" i="1" dirty="0" err="1"/>
              <a:t>abcd</a:t>
            </a:r>
            <a:r>
              <a:rPr lang="en-US" altLang="ko-KR" i="1" dirty="0"/>
              <a:t>” (</a:t>
            </a:r>
            <a:r>
              <a:rPr lang="ko-KR" altLang="en-US" i="1" dirty="0"/>
              <a:t>변수 </a:t>
            </a:r>
            <a:r>
              <a:rPr lang="en-US" altLang="ko-KR" i="1" dirty="0"/>
              <a:t>str</a:t>
            </a:r>
            <a:r>
              <a:rPr lang="ko-KR" altLang="en-US" i="1" dirty="0"/>
              <a:t>이 </a:t>
            </a:r>
            <a:r>
              <a:rPr lang="en-US" altLang="ko-KR" i="1" dirty="0" err="1"/>
              <a:t>abcd</a:t>
            </a:r>
            <a:r>
              <a:rPr lang="ko-KR" altLang="en-US" i="1" dirty="0"/>
              <a:t>라는 문자열이라면</a:t>
            </a:r>
            <a:r>
              <a:rPr lang="en-US" altLang="ko-KR" i="1" dirty="0"/>
              <a:t>)</a:t>
            </a:r>
          </a:p>
          <a:p>
            <a:pPr lvl="1"/>
            <a:r>
              <a:rPr lang="ko-KR" altLang="en-US" dirty="0"/>
              <a:t>조건에 변수 자체를 써도 되는 경우가 있는데</a:t>
            </a:r>
            <a:r>
              <a:rPr lang="en-US" altLang="ko-KR" dirty="0"/>
              <a:t>, </a:t>
            </a:r>
            <a:r>
              <a:rPr lang="ko-KR" altLang="en-US" dirty="0"/>
              <a:t>이 경우는 변수자체가 </a:t>
            </a:r>
            <a:r>
              <a:rPr lang="en-US" altLang="ko-KR" dirty="0"/>
              <a:t>true</a:t>
            </a:r>
            <a:r>
              <a:rPr lang="ko-KR" altLang="en-US" dirty="0"/>
              <a:t>나 </a:t>
            </a:r>
            <a:r>
              <a:rPr lang="en-US" altLang="ko-KR" dirty="0"/>
              <a:t>false</a:t>
            </a:r>
            <a:r>
              <a:rPr lang="ko-KR" altLang="en-US" dirty="0"/>
              <a:t>로 판별 가능할 경우입니다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AC0ED1-7720-E4C4-3616-96545CB69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38B52-D65F-72CC-37B0-D1065B9FE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8289559-99AB-6FBA-EEE8-8E10A2A42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5AC22E7-2472-B0A4-747A-317D6EBC44CA}"/>
              </a:ext>
            </a:extLst>
          </p:cNvPr>
          <p:cNvSpPr/>
          <p:nvPr/>
        </p:nvSpPr>
        <p:spPr>
          <a:xfrm>
            <a:off x="1371600" y="2856124"/>
            <a:ext cx="6096000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조건이 만족할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4492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462F867-7DB4-29A0-E556-E9951DCEE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</a:t>
            </a:r>
            <a:r>
              <a:rPr lang="en-US" altLang="ko-KR" dirty="0"/>
              <a:t>if</a:t>
            </a:r>
            <a:r>
              <a:rPr lang="ko-KR" altLang="en-US" dirty="0"/>
              <a:t>문에서 진화한 형태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소괄호 속의 조건이 참이면 </a:t>
            </a:r>
            <a:r>
              <a:rPr lang="en-US" altLang="ko-KR" dirty="0"/>
              <a:t>if </a:t>
            </a:r>
            <a:r>
              <a:rPr lang="ko-KR" altLang="en-US" dirty="0"/>
              <a:t>이하의 문장</a:t>
            </a:r>
            <a:r>
              <a:rPr lang="en-US" altLang="ko-KR" dirty="0"/>
              <a:t>, </a:t>
            </a:r>
            <a:r>
              <a:rPr lang="ko-KR" altLang="en-US" dirty="0"/>
              <a:t>조건이 거짓이면 </a:t>
            </a:r>
            <a:r>
              <a:rPr lang="en-US" altLang="ko-KR" dirty="0"/>
              <a:t>else </a:t>
            </a:r>
            <a:r>
              <a:rPr lang="ko-KR" altLang="en-US" dirty="0"/>
              <a:t>이하의 문장 실행</a:t>
            </a:r>
            <a:endParaRPr lang="en-US" altLang="ko-KR" dirty="0"/>
          </a:p>
          <a:p>
            <a:r>
              <a:rPr lang="ko-KR" altLang="en-US" dirty="0"/>
              <a:t>두개의 문장이 전부 다 실행될 수는 없겠죠</a:t>
            </a:r>
            <a:r>
              <a:rPr lang="en-US" altLang="ko-KR" dirty="0"/>
              <a:t>?</a:t>
            </a:r>
          </a:p>
          <a:p>
            <a:pPr marL="0" indent="0">
              <a:buNone/>
            </a:pPr>
            <a:r>
              <a:rPr lang="en-US" altLang="ko-KR" sz="2400" dirty="0"/>
              <a:t>!! else</a:t>
            </a:r>
            <a:r>
              <a:rPr lang="ko-KR" altLang="en-US" sz="2400" dirty="0"/>
              <a:t>는 조건을 필요로 하지 않아요</a:t>
            </a:r>
            <a:r>
              <a:rPr lang="en-US" altLang="ko-KR" sz="2400" dirty="0"/>
              <a:t>!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F5367E8-684E-D08E-9F81-22A1CBA0E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3305C8-7F13-8B09-ECE6-5CFFB7072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98EA0C64-25F4-C2AB-8DB6-829AFE98A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</a:t>
            </a:r>
            <a:r>
              <a:rPr lang="en-US" altLang="ko-KR" dirty="0"/>
              <a:t>else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1BFC7A8-D0D4-D377-721B-4C93FD9167E8}"/>
              </a:ext>
            </a:extLst>
          </p:cNvPr>
          <p:cNvSpPr/>
          <p:nvPr/>
        </p:nvSpPr>
        <p:spPr>
          <a:xfrm>
            <a:off x="1182446" y="2302812"/>
            <a:ext cx="6096000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이 거짓일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1998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6549B72-56E1-4B4E-CE49-30569B85E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마지막 </a:t>
            </a:r>
            <a:r>
              <a:rPr lang="en-US" altLang="ko-KR" dirty="0"/>
              <a:t>if</a:t>
            </a:r>
            <a:r>
              <a:rPr lang="ko-KR" altLang="en-US" dirty="0"/>
              <a:t>문의 모양입니다</a:t>
            </a:r>
            <a:r>
              <a:rPr lang="en-US" altLang="ko-KR" dirty="0"/>
              <a:t>! else if</a:t>
            </a:r>
            <a:r>
              <a:rPr lang="ko-KR" altLang="en-US" dirty="0"/>
              <a:t>가 포함된 문장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else if</a:t>
            </a:r>
            <a:r>
              <a:rPr lang="ko-KR" altLang="en-US" dirty="0"/>
              <a:t>도 </a:t>
            </a:r>
            <a:r>
              <a:rPr lang="en-US" altLang="ko-KR" dirty="0"/>
              <a:t>if</a:t>
            </a:r>
            <a:r>
              <a:rPr lang="ko-KR" altLang="en-US" dirty="0"/>
              <a:t>처럼 조건이 필요해요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else</a:t>
            </a:r>
            <a:r>
              <a:rPr lang="ko-KR" altLang="en-US" dirty="0"/>
              <a:t>는 있어도 되고 없어도 됩니다</a:t>
            </a:r>
            <a:r>
              <a:rPr lang="en-US" altLang="ko-KR" dirty="0"/>
              <a:t>. (else</a:t>
            </a:r>
            <a:r>
              <a:rPr lang="ko-KR" altLang="en-US" dirty="0"/>
              <a:t>는 조건 </a:t>
            </a:r>
            <a:r>
              <a:rPr lang="en-US" altLang="ko-KR" dirty="0"/>
              <a:t>x)</a:t>
            </a:r>
          </a:p>
          <a:p>
            <a:pPr lvl="1"/>
            <a:r>
              <a:rPr lang="ko-KR" altLang="en-US" dirty="0"/>
              <a:t>하지만 반드시 </a:t>
            </a:r>
            <a:r>
              <a:rPr lang="en-US" altLang="ko-KR" dirty="0"/>
              <a:t>if</a:t>
            </a:r>
            <a:r>
              <a:rPr lang="ko-KR" altLang="en-US" dirty="0"/>
              <a:t>문이 가장 먼저 나온 이후에 다른 구문이 나와야 합니다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FDB653-3241-BA4D-8C69-BE2A6201F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4B7F1D-0DBD-45CB-1965-AD72DCA7C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8ED9C5E-A513-C330-6988-879D5D7F2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</a:t>
            </a:r>
            <a:r>
              <a:rPr lang="en-US" altLang="ko-KR" dirty="0"/>
              <a:t>else if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8C4EE7E-72A4-430F-74FD-DB1E5971CFC2}"/>
              </a:ext>
            </a:extLst>
          </p:cNvPr>
          <p:cNvSpPr/>
          <p:nvPr/>
        </p:nvSpPr>
        <p:spPr>
          <a:xfrm>
            <a:off x="1177694" y="2373538"/>
            <a:ext cx="6096000" cy="233910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 실행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2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거짓이고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가 참일 때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3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가 거짓이고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3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1 2 3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모두 거짓일 때 실행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652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46B4EAE-E0E1-8BB8-B428-C939A1398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중첩</a:t>
            </a:r>
            <a:r>
              <a:rPr lang="en-US" altLang="ko-KR" dirty="0"/>
              <a:t>, if</a:t>
            </a:r>
            <a:r>
              <a:rPr lang="ko-KR" altLang="en-US" dirty="0"/>
              <a:t>문 안에 또 다른 </a:t>
            </a:r>
            <a:r>
              <a:rPr lang="en-US" altLang="ko-KR" dirty="0"/>
              <a:t>if</a:t>
            </a:r>
            <a:r>
              <a:rPr lang="ko-KR" altLang="en-US" dirty="0"/>
              <a:t>문도 들어갈 수 있어요</a:t>
            </a:r>
            <a:r>
              <a:rPr lang="en-US" altLang="ko-KR" dirty="0"/>
              <a:t>!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A10236F-58E4-0B79-13FC-BA2977BBF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6BD6FE-05CF-275A-FDDD-2DF90F362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0FFA7B6-6C0E-4A0A-02B8-9181BA23D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중첩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03345AB-902C-1158-5277-09CEE5479664}"/>
              </a:ext>
            </a:extLst>
          </p:cNvPr>
          <p:cNvSpPr/>
          <p:nvPr/>
        </p:nvSpPr>
        <p:spPr>
          <a:xfrm>
            <a:off x="1236944" y="2569540"/>
            <a:ext cx="6096000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 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 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 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2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실행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실행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876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5471541-2328-41C4-7318-5CCD252DD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비교 연산자</a:t>
            </a:r>
            <a:endParaRPr lang="en-US" altLang="ko-KR" dirty="0"/>
          </a:p>
          <a:p>
            <a:pPr lvl="1"/>
            <a:r>
              <a:rPr lang="en-US" altLang="ko-KR" dirty="0"/>
              <a:t>a == b : a</a:t>
            </a:r>
            <a:r>
              <a:rPr lang="ko-KR" altLang="en-US" dirty="0"/>
              <a:t>와 </a:t>
            </a:r>
            <a:r>
              <a:rPr lang="en-US" altLang="ko-KR" dirty="0"/>
              <a:t>b</a:t>
            </a:r>
            <a:r>
              <a:rPr lang="ko-KR" altLang="en-US" dirty="0"/>
              <a:t>가 동일하면 참</a:t>
            </a:r>
          </a:p>
          <a:p>
            <a:pPr lvl="1"/>
            <a:r>
              <a:rPr lang="en-US" altLang="ko-KR" dirty="0"/>
              <a:t>a != b : a</a:t>
            </a:r>
            <a:r>
              <a:rPr lang="ko-KR" altLang="en-US" dirty="0"/>
              <a:t>와 </a:t>
            </a:r>
            <a:r>
              <a:rPr lang="en-US" altLang="ko-KR" dirty="0"/>
              <a:t>b</a:t>
            </a:r>
            <a:r>
              <a:rPr lang="ko-KR" altLang="en-US" dirty="0"/>
              <a:t>가 동일하지 않으면 참</a:t>
            </a:r>
          </a:p>
          <a:p>
            <a:pPr lvl="1"/>
            <a:r>
              <a:rPr lang="en-US" altLang="ko-KR" dirty="0"/>
              <a:t>a &lt; b : a</a:t>
            </a:r>
            <a:r>
              <a:rPr lang="ko-KR" altLang="en-US" dirty="0"/>
              <a:t>가 </a:t>
            </a:r>
            <a:r>
              <a:rPr lang="en-US" altLang="ko-KR" dirty="0"/>
              <a:t>b</a:t>
            </a:r>
            <a:r>
              <a:rPr lang="ko-KR" altLang="en-US" dirty="0"/>
              <a:t>보다 작으면 </a:t>
            </a:r>
            <a:r>
              <a:rPr lang="en-US" altLang="ko-KR" dirty="0"/>
              <a:t>( b</a:t>
            </a:r>
            <a:r>
              <a:rPr lang="ko-KR" altLang="en-US" dirty="0"/>
              <a:t>가 </a:t>
            </a:r>
            <a:r>
              <a:rPr lang="en-US" altLang="ko-KR" dirty="0"/>
              <a:t>a</a:t>
            </a:r>
            <a:r>
              <a:rPr lang="ko-KR" altLang="en-US" dirty="0"/>
              <a:t>보다 크면 </a:t>
            </a:r>
            <a:r>
              <a:rPr lang="en-US" altLang="ko-KR" dirty="0"/>
              <a:t>) </a:t>
            </a:r>
            <a:r>
              <a:rPr lang="ko-KR" altLang="en-US" dirty="0"/>
              <a:t>참</a:t>
            </a:r>
          </a:p>
          <a:p>
            <a:pPr lvl="1"/>
            <a:r>
              <a:rPr lang="en-US" altLang="ko-KR" dirty="0"/>
              <a:t>a &lt;= b : a</a:t>
            </a:r>
            <a:r>
              <a:rPr lang="ko-KR" altLang="en-US" dirty="0"/>
              <a:t>가 </a:t>
            </a:r>
            <a:r>
              <a:rPr lang="en-US" altLang="ko-KR" dirty="0"/>
              <a:t>b</a:t>
            </a:r>
            <a:r>
              <a:rPr lang="ko-KR" altLang="en-US" dirty="0"/>
              <a:t>보다 작거나 같으면 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논리 연산자</a:t>
            </a:r>
            <a:endParaRPr lang="en-US" altLang="ko-KR" dirty="0"/>
          </a:p>
          <a:p>
            <a:pPr lvl="1"/>
            <a:r>
              <a:rPr lang="en-US" altLang="ko-KR" dirty="0"/>
              <a:t>a &amp;&amp; b : a AND b. a </a:t>
            </a:r>
            <a:r>
              <a:rPr lang="ko-KR" altLang="en-US" dirty="0"/>
              <a:t>그리고 </a:t>
            </a:r>
            <a:r>
              <a:rPr lang="en-US" altLang="ko-KR" dirty="0"/>
              <a:t>b</a:t>
            </a:r>
          </a:p>
          <a:p>
            <a:pPr lvl="1"/>
            <a:r>
              <a:rPr lang="en-US" altLang="ko-KR" dirty="0"/>
              <a:t>a || b : a OR b. a </a:t>
            </a:r>
            <a:r>
              <a:rPr lang="ko-KR" altLang="en-US" dirty="0"/>
              <a:t>또는 </a:t>
            </a:r>
            <a:r>
              <a:rPr lang="en-US" altLang="ko-KR" dirty="0"/>
              <a:t>b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9E69E2D-FD21-A92A-0019-1289765E1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A424DA-C5DC-42CA-22B2-94D3A7E44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780DA2B6-1568-15B2-F8B5-C624B0B51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문에서 연산자</a:t>
            </a:r>
          </a:p>
        </p:txBody>
      </p:sp>
    </p:spTree>
    <p:extLst>
      <p:ext uri="{BB962C8B-B14F-4D97-AF65-F5344CB8AC3E}">
        <p14:creationId xmlns:p14="http://schemas.microsoft.com/office/powerpoint/2010/main" val="33923164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B6689DB-22E7-73DE-E013-B8DFF912E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 dirty="0">
                <a:latin typeface="+mn-ea"/>
              </a:rPr>
              <a:t>if</a:t>
            </a:r>
            <a:r>
              <a:rPr lang="ko-KR" altLang="en-US" sz="2800" dirty="0">
                <a:latin typeface="+mn-ea"/>
              </a:rPr>
              <a:t>문을 이용해서 </a:t>
            </a:r>
            <a:r>
              <a:rPr lang="en-US" altLang="ko-KR" sz="2800" dirty="0">
                <a:latin typeface="+mn-ea"/>
              </a:rPr>
              <a:t>console</a:t>
            </a:r>
            <a:r>
              <a:rPr lang="ko-KR" altLang="en-US" sz="2800" dirty="0">
                <a:latin typeface="+mn-ea"/>
              </a:rPr>
              <a:t>창에 연령대별 단어 출력해보기</a:t>
            </a:r>
            <a:r>
              <a:rPr lang="en-US" altLang="ko-KR" sz="2800" dirty="0">
                <a:latin typeface="+mn-ea"/>
              </a:rPr>
              <a:t>!</a:t>
            </a:r>
          </a:p>
          <a:p>
            <a:endParaRPr lang="ko-KR" altLang="en-US" sz="2800" dirty="0">
              <a:latin typeface="+mn-ea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 </a:t>
            </a:r>
            <a:r>
              <a:rPr lang="ko-KR" altLang="en-US" sz="2800" dirty="0">
                <a:latin typeface="+mn-ea"/>
              </a:rPr>
              <a:t>변수 선언</a:t>
            </a:r>
            <a:endParaRPr lang="en-US" altLang="ko-KR" sz="2800" dirty="0">
              <a:latin typeface="+mn-ea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</a:t>
            </a:r>
            <a:r>
              <a:rPr lang="ko-KR" altLang="en-US" sz="2800" dirty="0">
                <a:latin typeface="+mn-ea"/>
              </a:rPr>
              <a:t>가 </a:t>
            </a:r>
            <a:r>
              <a:rPr lang="en-US" altLang="ko-KR" sz="2800" dirty="0">
                <a:latin typeface="+mn-ea"/>
              </a:rPr>
              <a:t>20 </a:t>
            </a:r>
            <a:r>
              <a:rPr lang="ko-KR" altLang="en-US" sz="2800" dirty="0">
                <a:latin typeface="+mn-ea"/>
              </a:rPr>
              <a:t>이상</a:t>
            </a:r>
            <a:r>
              <a:rPr lang="en-US" altLang="ko-KR" sz="2800" dirty="0">
                <a:latin typeface="+mn-ea"/>
              </a:rPr>
              <a:t>: </a:t>
            </a:r>
            <a:r>
              <a:rPr lang="ko-KR" altLang="en-US" sz="2800" dirty="0">
                <a:latin typeface="+mn-ea"/>
              </a:rPr>
              <a:t>성인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</a:t>
            </a:r>
            <a:r>
              <a:rPr lang="ko-KR" altLang="en-US" sz="2800" dirty="0">
                <a:latin typeface="+mn-ea"/>
              </a:rPr>
              <a:t>가 </a:t>
            </a:r>
            <a:r>
              <a:rPr lang="en-US" altLang="ko-KR" sz="2800" dirty="0">
                <a:latin typeface="+mn-ea"/>
              </a:rPr>
              <a:t>17 </a:t>
            </a:r>
            <a:r>
              <a:rPr lang="ko-KR" altLang="en-US" sz="2800" dirty="0">
                <a:latin typeface="+mn-ea"/>
              </a:rPr>
              <a:t>이상</a:t>
            </a:r>
            <a:r>
              <a:rPr lang="en-US" altLang="ko-KR" sz="2800" dirty="0">
                <a:latin typeface="+mn-ea"/>
              </a:rPr>
              <a:t>: </a:t>
            </a:r>
            <a:r>
              <a:rPr lang="ko-KR" altLang="en-US" sz="2800" dirty="0">
                <a:latin typeface="+mn-ea"/>
              </a:rPr>
              <a:t>고등학생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</a:t>
            </a:r>
            <a:r>
              <a:rPr lang="ko-KR" altLang="en-US" sz="2800" dirty="0">
                <a:latin typeface="+mn-ea"/>
              </a:rPr>
              <a:t>가 </a:t>
            </a:r>
            <a:r>
              <a:rPr lang="en-US" altLang="ko-KR" sz="2800" dirty="0">
                <a:latin typeface="+mn-ea"/>
              </a:rPr>
              <a:t>14 </a:t>
            </a:r>
            <a:r>
              <a:rPr lang="ko-KR" altLang="en-US" sz="2800" dirty="0">
                <a:latin typeface="+mn-ea"/>
              </a:rPr>
              <a:t>이상</a:t>
            </a:r>
            <a:r>
              <a:rPr lang="en-US" altLang="ko-KR" sz="2800" dirty="0">
                <a:latin typeface="+mn-ea"/>
              </a:rPr>
              <a:t>: </a:t>
            </a:r>
            <a:r>
              <a:rPr lang="ko-KR" altLang="en-US" sz="2800" dirty="0">
                <a:latin typeface="+mn-ea"/>
              </a:rPr>
              <a:t>중학생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</a:t>
            </a:r>
            <a:r>
              <a:rPr lang="ko-KR" altLang="en-US" sz="2800" dirty="0">
                <a:latin typeface="+mn-ea"/>
              </a:rPr>
              <a:t>가 </a:t>
            </a:r>
            <a:r>
              <a:rPr lang="en-US" altLang="ko-KR" sz="2800" dirty="0">
                <a:latin typeface="+mn-ea"/>
              </a:rPr>
              <a:t>8 </a:t>
            </a:r>
            <a:r>
              <a:rPr lang="ko-KR" altLang="en-US" sz="2800" dirty="0">
                <a:latin typeface="+mn-ea"/>
              </a:rPr>
              <a:t>이상</a:t>
            </a:r>
            <a:r>
              <a:rPr lang="en-US" altLang="ko-KR" sz="2800" dirty="0">
                <a:latin typeface="+mn-ea"/>
              </a:rPr>
              <a:t>: </a:t>
            </a:r>
            <a:r>
              <a:rPr lang="ko-KR" altLang="en-US" sz="2800" dirty="0">
                <a:latin typeface="+mn-ea"/>
              </a:rPr>
              <a:t>초등학생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age</a:t>
            </a:r>
            <a:r>
              <a:rPr lang="ko-KR" altLang="en-US" sz="2800" dirty="0">
                <a:latin typeface="+mn-ea"/>
              </a:rPr>
              <a:t>가 </a:t>
            </a:r>
            <a:r>
              <a:rPr lang="en-US" altLang="ko-KR" sz="2800" dirty="0">
                <a:latin typeface="+mn-ea"/>
              </a:rPr>
              <a:t>0 </a:t>
            </a:r>
            <a:r>
              <a:rPr lang="ko-KR" altLang="en-US" sz="2800" dirty="0">
                <a:latin typeface="+mn-ea"/>
              </a:rPr>
              <a:t>이상</a:t>
            </a:r>
            <a:r>
              <a:rPr lang="en-US" altLang="ko-KR" sz="2800" dirty="0">
                <a:latin typeface="+mn-ea"/>
              </a:rPr>
              <a:t>: </a:t>
            </a:r>
            <a:r>
              <a:rPr lang="ko-KR" altLang="en-US" sz="2800" dirty="0">
                <a:latin typeface="+mn-ea"/>
              </a:rPr>
              <a:t>유아</a:t>
            </a:r>
            <a:endParaRPr lang="ko-KR" altLang="en-US" sz="2800" b="0" dirty="0"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6A84848-616A-28DE-3CFD-54978D33E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E24E26-06F4-2B64-6712-2E4EA8CB2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D513863-AF9E-607F-9E99-474A764FC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if </a:t>
            </a:r>
            <a:r>
              <a:rPr lang="ko-KR" altLang="en-US" dirty="0"/>
              <a:t>문 실습</a:t>
            </a:r>
          </a:p>
        </p:txBody>
      </p:sp>
    </p:spTree>
    <p:extLst>
      <p:ext uri="{BB962C8B-B14F-4D97-AF65-F5344CB8AC3E}">
        <p14:creationId xmlns:p14="http://schemas.microsoft.com/office/powerpoint/2010/main" val="29963965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AFCC2CB-5D69-B9D2-FB5C-3DF1627B5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518" y="1679968"/>
            <a:ext cx="10515600" cy="4351338"/>
          </a:xfrm>
        </p:spPr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마찬가지로 </a:t>
            </a:r>
            <a:r>
              <a:rPr lang="ko-KR" altLang="en-US" dirty="0">
                <a:solidFill>
                  <a:schemeClr val="accent1"/>
                </a:solidFill>
              </a:rPr>
              <a:t>조건문</a:t>
            </a:r>
            <a:r>
              <a:rPr lang="ko-KR" altLang="en-US" dirty="0"/>
              <a:t>이지만 </a:t>
            </a:r>
            <a:r>
              <a:rPr lang="en-US" altLang="ko-KR" dirty="0"/>
              <a:t>switch</a:t>
            </a:r>
            <a:r>
              <a:rPr lang="ko-KR" altLang="en-US" dirty="0"/>
              <a:t>의 소괄호 안에는 </a:t>
            </a:r>
            <a:r>
              <a:rPr lang="en-US" altLang="ko-KR" dirty="0"/>
              <a:t>true, false</a:t>
            </a:r>
            <a:r>
              <a:rPr lang="ko-KR" altLang="en-US" dirty="0"/>
              <a:t>로 값이 나오는 조건이 아닌 변수 사용</a:t>
            </a:r>
            <a:endParaRPr lang="en-US" altLang="ko-KR" dirty="0"/>
          </a:p>
          <a:p>
            <a:r>
              <a:rPr lang="ko-KR" altLang="en-US" dirty="0"/>
              <a:t>변수와 </a:t>
            </a:r>
            <a:r>
              <a:rPr lang="en-US" altLang="ko-KR" dirty="0"/>
              <a:t>case</a:t>
            </a:r>
            <a:r>
              <a:rPr lang="ko-KR" altLang="en-US" dirty="0"/>
              <a:t>의 값이 일치한다면 실행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a</a:t>
            </a:r>
            <a:r>
              <a:rPr lang="ko-KR" altLang="en-US" dirty="0"/>
              <a:t>가 </a:t>
            </a:r>
            <a:r>
              <a:rPr lang="en-US" altLang="ko-KR" dirty="0"/>
              <a:t>1</a:t>
            </a:r>
            <a:r>
              <a:rPr lang="ko-KR" altLang="en-US" dirty="0"/>
              <a:t>일 때</a:t>
            </a:r>
            <a:r>
              <a:rPr lang="en-US" altLang="ko-KR" dirty="0"/>
              <a:t>, a</a:t>
            </a:r>
            <a:r>
              <a:rPr lang="ko-KR" altLang="en-US" dirty="0"/>
              <a:t>가 </a:t>
            </a:r>
            <a:r>
              <a:rPr lang="en-US" altLang="ko-KR" dirty="0"/>
              <a:t>2</a:t>
            </a:r>
            <a:r>
              <a:rPr lang="ko-KR" altLang="en-US" dirty="0"/>
              <a:t>일 때 각각 실행되는</a:t>
            </a:r>
            <a:br>
              <a:rPr lang="en-US" altLang="ko-KR" dirty="0"/>
            </a:br>
            <a:r>
              <a:rPr lang="ko-KR" altLang="en-US" dirty="0"/>
              <a:t>문장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en-US" altLang="ko-KR" dirty="0">
                <a:solidFill>
                  <a:schemeClr val="accent3"/>
                </a:solidFill>
              </a:rPr>
              <a:t>break</a:t>
            </a:r>
            <a:r>
              <a:rPr lang="ko-KR" altLang="en-US" dirty="0"/>
              <a:t>와 </a:t>
            </a:r>
            <a:r>
              <a:rPr lang="en-US" altLang="ko-KR" dirty="0">
                <a:solidFill>
                  <a:schemeClr val="accent3"/>
                </a:solidFill>
              </a:rPr>
              <a:t>default</a:t>
            </a:r>
            <a:r>
              <a:rPr lang="en-US" altLang="ko-KR" dirty="0"/>
              <a:t>?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4503426-3F7E-8E44-760A-88C394FF7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C17513-442A-EB3F-7A11-526DF34A9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96ADA82-6A6E-7BFA-DF4C-A1FBB26C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switch </a:t>
            </a:r>
            <a:r>
              <a:rPr lang="ko-KR" altLang="en-US" dirty="0"/>
              <a:t>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3FDD425-D394-2438-B7FA-05E395C0F228}"/>
              </a:ext>
            </a:extLst>
          </p:cNvPr>
          <p:cNvSpPr/>
          <p:nvPr/>
        </p:nvSpPr>
        <p:spPr>
          <a:xfrm>
            <a:off x="7045925" y="2337987"/>
            <a:ext cx="4805749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switch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case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는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입니다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case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는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2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입니다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값을 모르겠어요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7888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1725740-85CC-6134-E5EC-A79AE168D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/>
          <a:lstStyle/>
          <a:p>
            <a:r>
              <a:rPr lang="ko-KR" altLang="en-US" dirty="0">
                <a:latin typeface="+mn-ea"/>
              </a:rPr>
              <a:t>조건식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?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조건이 참인 경우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: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조건이 거짓인 경우</a:t>
            </a:r>
            <a:r>
              <a:rPr lang="en-US" altLang="ko-KR" dirty="0">
                <a:latin typeface="+mn-ea"/>
              </a:rPr>
              <a:t>;</a:t>
            </a:r>
          </a:p>
          <a:p>
            <a:r>
              <a:rPr lang="ko-KR" altLang="en-US" dirty="0">
                <a:latin typeface="+mn-ea"/>
              </a:rPr>
              <a:t>한 줄로 간단히 표현 가능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1AF694-DB76-4B04-8035-83CE3B0E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83EF6A-BA7C-702B-39DE-3CB6A5FFF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C4A68F2A-641E-E952-1743-2CD8EFD49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 </a:t>
            </a:r>
            <a:r>
              <a:rPr lang="ko-KR" altLang="en-US" dirty="0"/>
              <a:t>문을 간단하게 만드는 </a:t>
            </a:r>
            <a:r>
              <a:rPr lang="ko-KR" altLang="en-US" dirty="0" err="1"/>
              <a:t>삼항</a:t>
            </a:r>
            <a:r>
              <a:rPr lang="ko-KR" altLang="en-US" dirty="0"/>
              <a:t> 연산자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5E12CB-60EE-20D6-7A0E-7A85FBF21554}"/>
              </a:ext>
            </a:extLst>
          </p:cNvPr>
          <p:cNvSpPr txBox="1"/>
          <p:nvPr/>
        </p:nvSpPr>
        <p:spPr>
          <a:xfrm>
            <a:off x="1176989" y="2775695"/>
            <a:ext cx="10509437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if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맞았어요😀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else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틀렸어요 😥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3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항 연산자</a:t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!=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?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맞았어요😀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: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틀렸어요😥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4580564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B19C46C-E019-6553-AAFB-9F856172EE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70713"/>
            <a:ext cx="10515600" cy="4006250"/>
          </a:xfrm>
        </p:spPr>
        <p:txBody>
          <a:bodyPr>
            <a:normAutofit/>
          </a:bodyPr>
          <a:lstStyle/>
          <a:p>
            <a:r>
              <a:rPr lang="ko-KR" altLang="en-US" sz="1800" b="0" dirty="0">
                <a:solidFill>
                  <a:schemeClr val="tx2"/>
                </a:solidFill>
                <a:effectLst/>
                <a:latin typeface="+mn-ea"/>
              </a:rPr>
              <a:t>위의 코드는 현재 </a:t>
            </a:r>
            <a:r>
              <a:rPr lang="en-US" altLang="ko-KR" sz="1800" b="0" dirty="0">
                <a:solidFill>
                  <a:schemeClr val="tx2"/>
                </a:solidFill>
                <a:effectLst/>
                <a:latin typeface="+mn-ea"/>
              </a:rPr>
              <a:t>‘</a:t>
            </a:r>
            <a:r>
              <a:rPr lang="ko-KR" altLang="en-US" sz="1800" b="0" dirty="0">
                <a:solidFill>
                  <a:schemeClr val="tx2"/>
                </a:solidFill>
                <a:effectLst/>
                <a:latin typeface="+mn-ea"/>
              </a:rPr>
              <a:t>시간</a:t>
            </a:r>
            <a:r>
              <a:rPr lang="en-US" altLang="ko-KR" sz="1800" b="0" dirty="0">
                <a:solidFill>
                  <a:schemeClr val="tx2"/>
                </a:solidFill>
                <a:effectLst/>
                <a:latin typeface="+mn-ea"/>
              </a:rPr>
              <a:t>’</a:t>
            </a:r>
            <a:r>
              <a:rPr lang="ko-KR" altLang="en-US" sz="1800" b="0" dirty="0">
                <a:solidFill>
                  <a:schemeClr val="tx2"/>
                </a:solidFill>
                <a:effectLst/>
                <a:latin typeface="+mn-ea"/>
              </a:rPr>
              <a:t>만을 받아오는 코드입니다</a:t>
            </a:r>
            <a:r>
              <a:rPr lang="en-US" altLang="ko-KR" sz="1800" b="0" dirty="0">
                <a:solidFill>
                  <a:schemeClr val="tx2"/>
                </a:solidFill>
                <a:effectLst/>
                <a:latin typeface="+mn-ea"/>
              </a:rPr>
              <a:t>.</a:t>
            </a:r>
          </a:p>
          <a:p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0~ 23</a:t>
            </a:r>
            <a:r>
              <a:rPr lang="ko-KR" altLang="en-US" sz="1800" dirty="0">
                <a:solidFill>
                  <a:schemeClr val="tx2"/>
                </a:solidFill>
                <a:latin typeface="+mn-ea"/>
              </a:rPr>
              <a:t>까지의 숫자를 반환하고 </a:t>
            </a:r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0</a:t>
            </a:r>
            <a:r>
              <a:rPr lang="ko-KR" altLang="en-US" sz="1800" dirty="0">
                <a:solidFill>
                  <a:schemeClr val="tx2"/>
                </a:solidFill>
                <a:latin typeface="+mn-ea"/>
              </a:rPr>
              <a:t>이 자정</a:t>
            </a:r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, 12</a:t>
            </a:r>
            <a:r>
              <a:rPr lang="ko-KR" altLang="en-US" sz="1800" dirty="0">
                <a:solidFill>
                  <a:schemeClr val="tx2"/>
                </a:solidFill>
                <a:latin typeface="+mn-ea"/>
              </a:rPr>
              <a:t>가 정오를 뜻합니다</a:t>
            </a:r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.</a:t>
            </a:r>
          </a:p>
          <a:p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now</a:t>
            </a:r>
            <a:r>
              <a:rPr lang="ko-KR" altLang="en-US" sz="1800" dirty="0">
                <a:solidFill>
                  <a:schemeClr val="tx2"/>
                </a:solidFill>
                <a:latin typeface="+mn-ea"/>
              </a:rPr>
              <a:t>라는 변수에는 현재 시간에 대한 숫자가 저장이 되어있겠죠</a:t>
            </a:r>
            <a:r>
              <a:rPr lang="en-US" altLang="ko-KR" sz="1800" dirty="0">
                <a:solidFill>
                  <a:schemeClr val="tx2"/>
                </a:solidFill>
                <a:latin typeface="+mn-ea"/>
              </a:rPr>
              <a:t>?</a:t>
            </a:r>
          </a:p>
          <a:p>
            <a:endParaRPr lang="en-US" altLang="ko-KR" sz="2600" dirty="0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600" dirty="0" err="1">
                <a:latin typeface="+mn-ea"/>
              </a:rPr>
              <a:t>삼항연산자로</a:t>
            </a:r>
            <a:r>
              <a:rPr lang="ko-KR" altLang="en-US" sz="2600" dirty="0">
                <a:latin typeface="+mn-ea"/>
              </a:rPr>
              <a:t> 지금 시각이 오전인지 오후인지 콘솔창에 출력해보세요</a:t>
            </a:r>
            <a:r>
              <a:rPr lang="en-US" altLang="ko-KR" sz="2600" dirty="0">
                <a:latin typeface="+mn-ea"/>
              </a:rPr>
              <a:t>!</a:t>
            </a:r>
            <a:endParaRPr lang="ko-KR" altLang="en-US" sz="2600" b="0" dirty="0">
              <a:effectLst/>
              <a:latin typeface="+mn-ea"/>
            </a:endParaRPr>
          </a:p>
          <a:p>
            <a:endParaRPr lang="ko-KR" altLang="en-US" sz="2600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507751-F511-25F4-420E-38B4175F1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A68424-8F46-A196-19E1-CAC0F6615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7DBEBE29-1164-B928-707A-E2C0DD058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지금은 오전</a:t>
            </a:r>
            <a:r>
              <a:rPr lang="en-US" altLang="ko-KR" dirty="0"/>
              <a:t>? </a:t>
            </a:r>
            <a:r>
              <a:rPr lang="ko-KR" altLang="en-US" dirty="0"/>
              <a:t>오후</a:t>
            </a:r>
            <a:r>
              <a:rPr lang="en-US" altLang="ko-KR" dirty="0"/>
              <a:t>!?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911DB3E-6E28-CC5E-BCB0-85C878642AC5}"/>
              </a:ext>
            </a:extLst>
          </p:cNvPr>
          <p:cNvSpPr/>
          <p:nvPr/>
        </p:nvSpPr>
        <p:spPr>
          <a:xfrm>
            <a:off x="838200" y="1683297"/>
            <a:ext cx="4237057" cy="369332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now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</a:rPr>
              <a:t>new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4EC9B0"/>
                </a:solidFill>
                <a:latin typeface="Consolas" panose="020B0609020204030204" pitchFamily="49" charset="0"/>
              </a:rPr>
              <a:t>Date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().</a:t>
            </a:r>
            <a:r>
              <a:rPr lang="en-US" altLang="ko-KR" dirty="0" err="1">
                <a:solidFill>
                  <a:srgbClr val="DCDCAA"/>
                </a:solidFill>
                <a:latin typeface="Consolas" panose="020B0609020204030204" pitchFamily="49" charset="0"/>
              </a:rPr>
              <a:t>getHours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</a:rPr>
              <a:t>();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81259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 err="1"/>
              <a:t>반복문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30196447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B2EB20D-A898-691B-CCC2-65F22D88BD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특정 코드를 반복</a:t>
            </a:r>
            <a:r>
              <a:rPr lang="ko-KR" altLang="en-US" dirty="0"/>
              <a:t>하고 싶을 때 사용합니다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100</a:t>
            </a:r>
            <a:r>
              <a:rPr lang="ko-KR" altLang="en-US" dirty="0"/>
              <a:t>번을 같은 동작을 반복하는데</a:t>
            </a:r>
            <a:r>
              <a:rPr lang="en-US" altLang="ko-KR" dirty="0"/>
              <a:t>, 100</a:t>
            </a:r>
            <a:r>
              <a:rPr lang="ko-KR" altLang="en-US" dirty="0"/>
              <a:t>줄을 쓰면 너무나 비효율적이니까요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for</a:t>
            </a:r>
            <a:r>
              <a:rPr lang="ko-KR" altLang="en-US" dirty="0"/>
              <a:t>문</a:t>
            </a:r>
            <a:endParaRPr lang="en-US" altLang="ko-KR" dirty="0"/>
          </a:p>
          <a:p>
            <a:r>
              <a:rPr lang="en-US" altLang="ko-KR" dirty="0"/>
              <a:t>while</a:t>
            </a:r>
            <a:r>
              <a:rPr lang="ko-KR" altLang="en-US" dirty="0"/>
              <a:t>문</a:t>
            </a:r>
            <a:endParaRPr lang="en-US" altLang="ko-KR" dirty="0"/>
          </a:p>
          <a:p>
            <a:pPr lvl="1"/>
            <a:r>
              <a:rPr lang="en-US" altLang="ko-KR" dirty="0"/>
              <a:t>do ~ while …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44EE84-DC1F-73F1-CC52-EF8268C75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D150C8-50D7-E97F-C991-D043498B4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359CE67-EDB1-39A0-3060-B358E2FE3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반복문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89329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for문 흐름">
            <a:extLst>
              <a:ext uri="{FF2B5EF4-FFF2-40B4-BE49-F238E27FC236}">
                <a16:creationId xmlns:a16="http://schemas.microsoft.com/office/drawing/2014/main" id="{74848961-E8D6-0725-9D7F-A6DE41A898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860" y="1136978"/>
            <a:ext cx="6628279" cy="4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85386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>
            <a:extLst>
              <a:ext uri="{FF2B5EF4-FFF2-40B4-BE49-F238E27FC236}">
                <a16:creationId xmlns:a16="http://schemas.microsoft.com/office/drawing/2014/main" id="{F9660209-323F-7181-899C-4178F9D85857}"/>
              </a:ext>
            </a:extLst>
          </p:cNvPr>
          <p:cNvGrpSpPr/>
          <p:nvPr/>
        </p:nvGrpSpPr>
        <p:grpSpPr>
          <a:xfrm>
            <a:off x="4376927" y="757626"/>
            <a:ext cx="3672605" cy="5018162"/>
            <a:chOff x="4649337" y="792795"/>
            <a:chExt cx="3672605" cy="5018162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4D0302F6-6D71-B532-43DB-AAACFC6B348E}"/>
                </a:ext>
              </a:extLst>
            </p:cNvPr>
            <p:cNvSpPr/>
            <p:nvPr/>
          </p:nvSpPr>
          <p:spPr>
            <a:xfrm>
              <a:off x="4649337" y="792795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/>
                <a:t>초기값</a:t>
              </a:r>
            </a:p>
          </p:txBody>
        </p:sp>
        <p:sp>
          <p:nvSpPr>
            <p:cNvPr id="17" name="순서도: 판단 16">
              <a:extLst>
                <a:ext uri="{FF2B5EF4-FFF2-40B4-BE49-F238E27FC236}">
                  <a16:creationId xmlns:a16="http://schemas.microsoft.com/office/drawing/2014/main" id="{B947C037-210C-3F2D-E8BF-A4AC3E7BF963}"/>
                </a:ext>
              </a:extLst>
            </p:cNvPr>
            <p:cNvSpPr/>
            <p:nvPr/>
          </p:nvSpPr>
          <p:spPr>
            <a:xfrm>
              <a:off x="4649337" y="1778506"/>
              <a:ext cx="2893325" cy="1009934"/>
            </a:xfrm>
            <a:prstGeom prst="flowChartDecision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err="1"/>
                <a:t>조건문</a:t>
              </a:r>
              <a:endParaRPr lang="ko-KR" altLang="en-US" sz="2800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072E11ED-E89D-70CE-C23D-DF103FBCCFD0}"/>
                </a:ext>
              </a:extLst>
            </p:cNvPr>
            <p:cNvSpPr/>
            <p:nvPr/>
          </p:nvSpPr>
          <p:spPr>
            <a:xfrm>
              <a:off x="4649337" y="3173649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/>
                <a:t>명령문</a:t>
              </a: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89E918E2-6FC4-1FF1-3B30-39C3DCC7491E}"/>
                </a:ext>
              </a:extLst>
            </p:cNvPr>
            <p:cNvSpPr/>
            <p:nvPr/>
          </p:nvSpPr>
          <p:spPr>
            <a:xfrm>
              <a:off x="4649337" y="4247508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err="1"/>
                <a:t>증감문</a:t>
              </a:r>
              <a:endParaRPr lang="ko-KR" altLang="en-US" sz="2800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1B46E0B-BDDA-8E73-143E-1724AD5311AF}"/>
                </a:ext>
              </a:extLst>
            </p:cNvPr>
            <p:cNvSpPr/>
            <p:nvPr/>
          </p:nvSpPr>
          <p:spPr>
            <a:xfrm>
              <a:off x="4649337" y="5210455"/>
              <a:ext cx="2893325" cy="6005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/>
                <a:t>종료</a:t>
              </a:r>
            </a:p>
          </p:txBody>
        </p: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437E8D75-745B-7AEB-7374-D5BE64800909}"/>
                </a:ext>
              </a:extLst>
            </p:cNvPr>
            <p:cNvCxnSpPr>
              <a:stCxn id="17" idx="2"/>
              <a:endCxn id="18" idx="0"/>
            </p:cNvCxnSpPr>
            <p:nvPr/>
          </p:nvCxnSpPr>
          <p:spPr>
            <a:xfrm>
              <a:off x="6096000" y="2788440"/>
              <a:ext cx="0" cy="38520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E096B3F7-46DD-AD51-94A4-85C3E77719D3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6096000" y="3774151"/>
              <a:ext cx="0" cy="473357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8581B570-DCE4-6031-529F-AA006F97C0A4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>
              <a:off x="6096000" y="4848010"/>
              <a:ext cx="0" cy="36244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34B9C051-C4BA-0D25-5A49-1472A60A65AE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6096000" y="1393297"/>
              <a:ext cx="0" cy="38520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화살표 연결선 21">
              <a:extLst>
                <a:ext uri="{FF2B5EF4-FFF2-40B4-BE49-F238E27FC236}">
                  <a16:creationId xmlns:a16="http://schemas.microsoft.com/office/drawing/2014/main" id="{A28C63EE-B0D9-C529-BE9E-7330469DC2E1}"/>
                </a:ext>
              </a:extLst>
            </p:cNvPr>
            <p:cNvCxnSpPr>
              <a:cxnSpLocks/>
              <a:stCxn id="19" idx="1"/>
              <a:endCxn id="17" idx="1"/>
            </p:cNvCxnSpPr>
            <p:nvPr/>
          </p:nvCxnSpPr>
          <p:spPr>
            <a:xfrm rot="10800000">
              <a:off x="4649337" y="2283473"/>
              <a:ext cx="12700" cy="2264286"/>
            </a:xfrm>
            <a:prstGeom prst="bentConnector3">
              <a:avLst>
                <a:gd name="adj1" fmla="val 5991047"/>
              </a:avLst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화살표 연결선 21">
              <a:extLst>
                <a:ext uri="{FF2B5EF4-FFF2-40B4-BE49-F238E27FC236}">
                  <a16:creationId xmlns:a16="http://schemas.microsoft.com/office/drawing/2014/main" id="{F6D6675D-DD75-E40E-70CD-08BEB6FBFC3E}"/>
                </a:ext>
              </a:extLst>
            </p:cNvPr>
            <p:cNvCxnSpPr>
              <a:cxnSpLocks/>
              <a:stCxn id="17" idx="3"/>
              <a:endCxn id="20" idx="3"/>
            </p:cNvCxnSpPr>
            <p:nvPr/>
          </p:nvCxnSpPr>
          <p:spPr>
            <a:xfrm>
              <a:off x="7542662" y="2283473"/>
              <a:ext cx="12700" cy="3227233"/>
            </a:xfrm>
            <a:prstGeom prst="bentConnector3">
              <a:avLst>
                <a:gd name="adj1" fmla="val 7280598"/>
              </a:avLst>
            </a:prstGeom>
            <a:ln w="571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EB77B53-02D4-8AA9-D283-23CB8F6ED60C}"/>
                </a:ext>
              </a:extLst>
            </p:cNvPr>
            <p:cNvSpPr txBox="1"/>
            <p:nvPr/>
          </p:nvSpPr>
          <p:spPr>
            <a:xfrm>
              <a:off x="6203296" y="2750775"/>
              <a:ext cx="4106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 dirty="0">
                  <a:solidFill>
                    <a:srgbClr val="FF0000"/>
                  </a:solidFill>
                </a:rPr>
                <a:t>참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D893E2B-276A-0D9A-5005-42E3C3BDBD50}"/>
                </a:ext>
              </a:extLst>
            </p:cNvPr>
            <p:cNvSpPr txBox="1"/>
            <p:nvPr/>
          </p:nvSpPr>
          <p:spPr>
            <a:xfrm>
              <a:off x="7690038" y="1822861"/>
              <a:ext cx="6319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000" b="1">
                  <a:solidFill>
                    <a:srgbClr val="FF0000"/>
                  </a:solidFill>
                </a:rPr>
                <a:t>거짓</a:t>
              </a:r>
              <a:endParaRPr lang="ko-KR" altLang="en-US" sz="2000" b="1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67696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5D82798-5374-50D8-0166-8D059E7C9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7CAF76-C20F-DC20-2DEC-F64D737E8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1A9DE3C-C243-E510-4B39-997AA6E52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for </a:t>
            </a:r>
            <a:r>
              <a:rPr lang="ko-KR" altLang="en-US" dirty="0"/>
              <a:t>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607EC3-DC89-FDF2-4CAB-F9F0FF57D02C}"/>
              </a:ext>
            </a:extLst>
          </p:cNvPr>
          <p:cNvSpPr txBox="1"/>
          <p:nvPr/>
        </p:nvSpPr>
        <p:spPr>
          <a:xfrm>
            <a:off x="838200" y="3274513"/>
            <a:ext cx="6623237" cy="120032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for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인사를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AE017E8-BF34-F8D5-0B4B-7BAEEEC6B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910" y="3266764"/>
            <a:ext cx="2786204" cy="2799286"/>
          </a:xfrm>
          <a:prstGeom prst="rect">
            <a:avLst/>
          </a:prstGeom>
        </p:spPr>
      </p:pic>
      <p:pic>
        <p:nvPicPr>
          <p:cNvPr id="9" name="Picture 2" descr="for문 흐름">
            <a:extLst>
              <a:ext uri="{FF2B5EF4-FFF2-40B4-BE49-F238E27FC236}">
                <a16:creationId xmlns:a16="http://schemas.microsoft.com/office/drawing/2014/main" id="{AB376F7E-41B8-B903-0B54-C0A700B364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7884" y="398349"/>
            <a:ext cx="3857641" cy="2667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218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2E146D9-C95B-B1E5-752A-848BA2451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348"/>
            <a:ext cx="10515600" cy="4351338"/>
          </a:xfrm>
        </p:spPr>
        <p:txBody>
          <a:bodyPr/>
          <a:lstStyle/>
          <a:p>
            <a:r>
              <a:rPr lang="ko-KR" altLang="en-US" dirty="0"/>
              <a:t>중첩 </a:t>
            </a:r>
            <a:r>
              <a:rPr lang="en-US" altLang="ko-KR" dirty="0"/>
              <a:t>if </a:t>
            </a:r>
            <a:r>
              <a:rPr lang="ko-KR" altLang="en-US" dirty="0"/>
              <a:t>문이 가능하듯 </a:t>
            </a:r>
            <a:r>
              <a:rPr lang="en-US" altLang="ko-KR" dirty="0"/>
              <a:t>for</a:t>
            </a:r>
            <a:r>
              <a:rPr lang="ko-KR" altLang="en-US" dirty="0"/>
              <a:t>문도 중첩이 가능하다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36B7242-71AF-15C0-83CC-25E3DAD94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CAE97-B21E-53F9-4106-24D2D23B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64A0EF3-D247-E6B8-BF5A-FA3AC3E80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중첩 </a:t>
            </a:r>
            <a:r>
              <a:rPr lang="en-US" altLang="ko-KR" dirty="0"/>
              <a:t>for </a:t>
            </a:r>
            <a:r>
              <a:rPr lang="ko-KR" altLang="en-US" dirty="0"/>
              <a:t>문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415BAA0-792F-CE82-286A-DDD886D0F3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9120" y="2871879"/>
            <a:ext cx="4773759" cy="228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3427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95C3F1B-A936-8299-F4DC-DF35845FB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050" y="3041624"/>
            <a:ext cx="10883900" cy="3211025"/>
          </a:xfrm>
        </p:spPr>
        <p:txBody>
          <a:bodyPr/>
          <a:lstStyle/>
          <a:p>
            <a:r>
              <a:rPr lang="en-US" altLang="ko-KR" dirty="0">
                <a:latin typeface="+mn-ea"/>
              </a:rPr>
              <a:t>for </a:t>
            </a:r>
            <a:r>
              <a:rPr lang="ko-KR" altLang="en-US" dirty="0">
                <a:latin typeface="+mn-ea"/>
              </a:rPr>
              <a:t>문과는 달리 값을 제어하는 구문이 기본적으로 포함이 되어 있지 않기 때문에 무한 루프 가능</a:t>
            </a:r>
            <a:endParaRPr lang="en-US" altLang="ko-KR" dirty="0">
              <a:latin typeface="+mn-ea"/>
            </a:endParaRPr>
          </a:p>
          <a:p>
            <a:pPr lvl="1"/>
            <a:r>
              <a:rPr lang="ko-KR" altLang="en-US" dirty="0">
                <a:latin typeface="+mn-ea"/>
              </a:rPr>
              <a:t>조건이 항상 참이라면</a:t>
            </a:r>
            <a:r>
              <a:rPr lang="en-US" altLang="ko-KR" dirty="0">
                <a:latin typeface="+mn-ea"/>
              </a:rPr>
              <a:t>? while</a:t>
            </a:r>
            <a:r>
              <a:rPr lang="ko-KR" altLang="en-US" dirty="0">
                <a:latin typeface="+mn-ea"/>
              </a:rPr>
              <a:t>문을 빠져나가지 못하고 끝없이 반복하겠지요</a:t>
            </a:r>
            <a:r>
              <a:rPr lang="en-US" altLang="ko-KR" dirty="0">
                <a:latin typeface="+mn-ea"/>
              </a:rPr>
              <a:t>?</a:t>
            </a:r>
          </a:p>
          <a:p>
            <a:r>
              <a:rPr lang="ko-KR" altLang="en-US" dirty="0">
                <a:latin typeface="+mn-ea"/>
              </a:rPr>
              <a:t>따라서 주의하여 사용 필요합니다</a:t>
            </a:r>
            <a:r>
              <a:rPr lang="en-US" altLang="ko-KR" dirty="0">
                <a:latin typeface="+mn-ea"/>
              </a:rPr>
              <a:t>!</a:t>
            </a:r>
            <a:br>
              <a:rPr lang="en-US" altLang="ko-KR" dirty="0">
                <a:latin typeface="+mn-ea"/>
              </a:rPr>
            </a:br>
            <a:endParaRPr lang="en-US" altLang="ko-KR" dirty="0"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E58CB3C-43DD-1458-C094-56ABBC4D8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7905F9-7A94-17BA-7F27-0B8F6153E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7211F31-F22A-206A-645D-727DA0FF8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while </a:t>
            </a:r>
            <a:r>
              <a:rPr lang="ko-KR" altLang="en-US" dirty="0"/>
              <a:t>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BEF6DBA-0BA5-E981-64BD-0A3925308157}"/>
              </a:ext>
            </a:extLst>
          </p:cNvPr>
          <p:cNvSpPr/>
          <p:nvPr/>
        </p:nvSpPr>
        <p:spPr>
          <a:xfrm>
            <a:off x="654050" y="1566790"/>
            <a:ext cx="6096000" cy="120032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sz="2400" dirty="0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24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24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2400" dirty="0">
                <a:solidFill>
                  <a:srgbClr val="6A9955"/>
                </a:solidFill>
                <a:latin typeface="Consolas" panose="020B0609020204030204" pitchFamily="49" charset="0"/>
              </a:rPr>
              <a:t>조건이 참일 때 실행할 코드</a:t>
            </a:r>
            <a:endParaRPr lang="ko-KR" altLang="en-US" sz="24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33005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DDE6412-FF2F-E1DD-CA66-B6D0F6C5F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4187" y="387767"/>
            <a:ext cx="2771937" cy="474864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EDA4F6-0A28-9D38-29A7-17C14D53B100}"/>
              </a:ext>
            </a:extLst>
          </p:cNvPr>
          <p:cNvSpPr txBox="1"/>
          <p:nvPr/>
        </p:nvSpPr>
        <p:spPr>
          <a:xfrm>
            <a:off x="561974" y="387767"/>
            <a:ext cx="7191375" cy="563231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while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b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1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 타입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조건문을 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인사를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2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 타입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조건문을 사용하지 않고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 break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절을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break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54885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9E2AF67-D7E2-E448-913D-2A13A83752B8}"/>
              </a:ext>
            </a:extLst>
          </p:cNvPr>
          <p:cNvSpPr txBox="1"/>
          <p:nvPr/>
        </p:nvSpPr>
        <p:spPr>
          <a:xfrm>
            <a:off x="2710734" y="1693856"/>
            <a:ext cx="6096000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구구단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버전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"="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*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1112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DA6579E-77D9-FEBC-ECC8-826C17452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805363"/>
          </a:xfrm>
        </p:spPr>
        <p:txBody>
          <a:bodyPr/>
          <a:lstStyle/>
          <a:p>
            <a:r>
              <a:rPr lang="ko-KR" altLang="en-US" dirty="0"/>
              <a:t>콘솔 창에 다음과 같이 출력할 수 있도록 만들어보기 </a:t>
            </a:r>
            <a:r>
              <a:rPr lang="en-US" altLang="ko-KR" dirty="0"/>
              <a:t>(2</a:t>
            </a:r>
            <a:r>
              <a:rPr lang="ko-KR" altLang="en-US" dirty="0"/>
              <a:t>단 </a:t>
            </a:r>
            <a:r>
              <a:rPr lang="en-US" altLang="ko-KR" dirty="0"/>
              <a:t>~ 9</a:t>
            </a:r>
            <a:r>
              <a:rPr lang="ko-KR" altLang="en-US" dirty="0"/>
              <a:t>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7C156C7-B7D5-0400-4B32-B1245EA90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C52CC2-EF92-DE03-579E-531952D7F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98ED348-3DCC-6572-AE99-BE64F8B40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구구단 만들기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D8D93C-FD34-D6DD-1D59-55905F749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463" y="1950677"/>
            <a:ext cx="2568374" cy="398585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4298167-89AF-E96F-795D-DEE13B4C5D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00" y="1950677"/>
            <a:ext cx="2608811" cy="401756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C9DD19D-AD96-A358-9026-90558E3CAE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5175" y="1950678"/>
            <a:ext cx="2727952" cy="2832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481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A772AE6-8505-00CF-A012-4B53C0E41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9AF5B2B-20EE-0229-69BE-E1460B9B9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D7317199-4298-2814-22BB-832AD03AB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break</a:t>
            </a:r>
            <a:r>
              <a:rPr lang="ko-KR" altLang="en-US" sz="8000" dirty="0"/>
              <a:t> </a:t>
            </a:r>
            <a:r>
              <a:rPr lang="en-US" altLang="ko-KR" sz="8000" dirty="0"/>
              <a:t>&amp;</a:t>
            </a:r>
            <a:r>
              <a:rPr lang="ko-KR" altLang="en-US" sz="8000" dirty="0"/>
              <a:t> </a:t>
            </a:r>
            <a:r>
              <a:rPr lang="en-US" altLang="ko-KR" sz="8000" dirty="0"/>
              <a:t>continue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40051623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3BC4852-5274-5C13-DB4E-9F18E95E8A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반복문을 멈추고 빠져나감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F3D4BA5-10D1-51C6-BB4E-2943FC98A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99279A-9681-08F8-FC61-918F0FE51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B9ED4A9-E865-7A54-5B51-664110DAA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break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7287F3-6EF3-158F-BB22-DD28618A3D12}"/>
              </a:ext>
            </a:extLst>
          </p:cNvPr>
          <p:cNvSpPr txBox="1"/>
          <p:nvPr/>
        </p:nvSpPr>
        <p:spPr>
          <a:xfrm>
            <a:off x="1162653" y="2614436"/>
            <a:ext cx="6096000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break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==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멈춰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break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7DC0984-9B65-A7A1-5028-17AADA989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7583" y="1905140"/>
            <a:ext cx="1107465" cy="4003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8813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BEF26CA-5F83-A6D7-AA86-FEE70D397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반복문을 이번 반복 </a:t>
            </a:r>
            <a:r>
              <a:rPr lang="ko-KR" altLang="en-US" dirty="0" err="1"/>
              <a:t>회차를</a:t>
            </a:r>
            <a:r>
              <a:rPr lang="ko-KR" altLang="en-US" dirty="0"/>
              <a:t> </a:t>
            </a:r>
            <a:r>
              <a:rPr lang="ko-KR" altLang="en-US" dirty="0" err="1"/>
              <a:t>스킵하고</a:t>
            </a:r>
            <a:r>
              <a:rPr lang="ko-KR" altLang="en-US" dirty="0"/>
              <a:t> 다음 반복 </a:t>
            </a:r>
            <a:r>
              <a:rPr lang="ko-KR" altLang="en-US" dirty="0" err="1"/>
              <a:t>회차로</a:t>
            </a:r>
            <a:r>
              <a:rPr lang="ko-KR" altLang="en-US" dirty="0"/>
              <a:t> 진행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CB3291-7F70-190E-870D-60B4819C5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76A841-CD08-A7EB-DAB7-BCA24C4E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F7752CA-1238-CBBC-AD68-3812D1A9F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continue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674A23-F739-BFE2-6C20-EDA8347B3924}"/>
              </a:ext>
            </a:extLst>
          </p:cNvPr>
          <p:cNvSpPr txBox="1"/>
          <p:nvPr/>
        </p:nvSpPr>
        <p:spPr>
          <a:xfrm>
            <a:off x="1186099" y="2452802"/>
            <a:ext cx="6096000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nn-NO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continue</a:t>
            </a:r>
            <a:endParaRPr lang="nn-NO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nn-NO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sum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nn-NO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for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nn-NO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++) {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nn-NO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%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nn-NO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nn-NO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continue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}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sum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+= 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b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nn-NO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nn-NO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sum</a:t>
            </a:r>
            <a:r>
              <a: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95F052-8360-B821-20BB-F7EA41D2B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4522" y="2452802"/>
            <a:ext cx="1389996" cy="741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4074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0F26C72-9B21-C720-7E83-683D63281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0 ~ 100</a:t>
            </a:r>
            <a:r>
              <a:rPr lang="ko-KR" altLang="en-US" dirty="0">
                <a:latin typeface="+mn-ea"/>
              </a:rPr>
              <a:t>의 숫자 중에서 </a:t>
            </a:r>
            <a:r>
              <a:rPr lang="en-US" altLang="ko-KR" dirty="0">
                <a:latin typeface="+mn-ea"/>
              </a:rPr>
              <a:t>2 </a:t>
            </a:r>
            <a:r>
              <a:rPr lang="ko-KR" altLang="en-US" dirty="0">
                <a:latin typeface="+mn-ea"/>
              </a:rPr>
              <a:t>또는 </a:t>
            </a:r>
            <a:r>
              <a:rPr lang="en-US" altLang="ko-KR" dirty="0">
                <a:latin typeface="+mn-ea"/>
              </a:rPr>
              <a:t>5</a:t>
            </a:r>
            <a:r>
              <a:rPr lang="ko-KR" altLang="en-US" dirty="0">
                <a:latin typeface="+mn-ea"/>
              </a:rPr>
              <a:t>의 배수 총합 구하기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en-US" altLang="ko-KR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힌트</a:t>
            </a:r>
            <a:endParaRPr lang="en-US" altLang="ko-KR" dirty="0">
              <a:latin typeface="+mn-ea"/>
            </a:endParaRPr>
          </a:p>
          <a:p>
            <a:pPr lvl="1"/>
            <a:r>
              <a:rPr lang="ko-KR" altLang="en-US" dirty="0">
                <a:latin typeface="+mn-ea"/>
              </a:rPr>
              <a:t>나머지 연산자 </a:t>
            </a:r>
            <a:r>
              <a:rPr lang="en-US" altLang="ko-KR" dirty="0">
                <a:latin typeface="+mn-ea"/>
              </a:rPr>
              <a:t>% </a:t>
            </a:r>
            <a:r>
              <a:rPr lang="ko-KR" altLang="en-US" dirty="0">
                <a:latin typeface="+mn-ea"/>
              </a:rPr>
              <a:t>를 사용</a:t>
            </a:r>
            <a:endParaRPr lang="en-US" altLang="ko-KR" dirty="0">
              <a:latin typeface="+mn-ea"/>
            </a:endParaRPr>
          </a:p>
          <a:p>
            <a:pPr lvl="1"/>
            <a:r>
              <a:rPr lang="en-US" altLang="ko-KR" dirty="0">
                <a:latin typeface="+mn-ea"/>
              </a:rPr>
              <a:t>5 % 3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2 (5</a:t>
            </a:r>
            <a:r>
              <a:rPr lang="ko-KR" altLang="en-US" dirty="0">
                <a:latin typeface="+mn-ea"/>
                <a:sym typeface="Wingdings" panose="05000000000000000000" pitchFamily="2" charset="2"/>
              </a:rPr>
              <a:t>를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3</a:t>
            </a:r>
            <a:r>
              <a:rPr lang="ko-KR" altLang="en-US" dirty="0">
                <a:latin typeface="+mn-ea"/>
                <a:sym typeface="Wingdings" panose="05000000000000000000" pitchFamily="2" charset="2"/>
              </a:rPr>
              <a:t>으로 나눈 나머지인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2</a:t>
            </a:r>
            <a:r>
              <a:rPr lang="ko-KR" altLang="en-US" dirty="0">
                <a:latin typeface="+mn-ea"/>
                <a:sym typeface="Wingdings" panose="05000000000000000000" pitchFamily="2" charset="2"/>
              </a:rPr>
              <a:t>의 값을 반환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)</a:t>
            </a:r>
            <a:endParaRPr lang="en-US" altLang="ko-KR" dirty="0"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합계 구하기</a:t>
            </a:r>
          </a:p>
        </p:txBody>
      </p:sp>
    </p:spTree>
    <p:extLst>
      <p:ext uri="{BB962C8B-B14F-4D97-AF65-F5344CB8AC3E}">
        <p14:creationId xmlns:p14="http://schemas.microsoft.com/office/powerpoint/2010/main" val="9742238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1C54FCA-AA73-40F5-4B3E-206B3C5BC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10000 </a:t>
            </a:r>
            <a:r>
              <a:rPr lang="ko-KR" altLang="en-US" dirty="0">
                <a:latin typeface="+mn-ea"/>
              </a:rPr>
              <a:t>까지의 숫자 중에서</a:t>
            </a:r>
            <a:r>
              <a:rPr lang="en-US" altLang="ko-KR" dirty="0">
                <a:latin typeface="+mn-ea"/>
              </a:rPr>
              <a:t>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13</a:t>
            </a:r>
            <a:r>
              <a:rPr lang="ko-KR" altLang="en-US" dirty="0">
                <a:solidFill>
                  <a:schemeClr val="accent1"/>
                </a:solidFill>
                <a:latin typeface="+mn-ea"/>
              </a:rPr>
              <a:t>의 배수면서 홀수인 숫자</a:t>
            </a:r>
            <a:r>
              <a:rPr lang="ko-KR" altLang="en-US" dirty="0">
                <a:latin typeface="+mn-ea"/>
              </a:rPr>
              <a:t>를 찾아 봅시다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심화</a:t>
            </a:r>
            <a:r>
              <a:rPr lang="en-US" altLang="ko-KR" dirty="0">
                <a:latin typeface="+mn-ea"/>
              </a:rPr>
              <a:t>) prompt() </a:t>
            </a:r>
            <a:r>
              <a:rPr lang="ko-KR" altLang="en-US" dirty="0">
                <a:latin typeface="+mn-ea"/>
              </a:rPr>
              <a:t>를 이용해서 </a:t>
            </a:r>
            <a:r>
              <a:rPr lang="ko-KR" altLang="en-US" dirty="0" err="1">
                <a:latin typeface="+mn-ea"/>
              </a:rPr>
              <a:t>입력받은</a:t>
            </a:r>
            <a:r>
              <a:rPr lang="ko-KR" altLang="en-US" dirty="0">
                <a:latin typeface="+mn-ea"/>
              </a:rPr>
              <a:t> 수까지 </a:t>
            </a:r>
            <a:r>
              <a:rPr lang="en-US" altLang="ko-KR" dirty="0">
                <a:latin typeface="+mn-ea"/>
              </a:rPr>
              <a:t>13</a:t>
            </a:r>
            <a:r>
              <a:rPr lang="ko-KR" altLang="en-US" dirty="0">
                <a:latin typeface="+mn-ea"/>
              </a:rPr>
              <a:t>의 배수면서 홀수인 숫자를 찾는 프로그램을 만들어 봅시다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en-US" altLang="ko-KR" dirty="0"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FD55E0F-487B-4463-126B-E1D7CCB98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991CB5-972D-2F79-AAA6-B2F6CB98C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5E37073-786C-FCFE-B489-461AA3092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13</a:t>
            </a:r>
            <a:r>
              <a:rPr lang="ko-KR" altLang="en-US" dirty="0"/>
              <a:t>의 배수이자 홀수를 찾아보자</a:t>
            </a:r>
          </a:p>
        </p:txBody>
      </p:sp>
    </p:spTree>
    <p:extLst>
      <p:ext uri="{BB962C8B-B14F-4D97-AF65-F5344CB8AC3E}">
        <p14:creationId xmlns:p14="http://schemas.microsoft.com/office/powerpoint/2010/main" val="1578624217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4382</TotalTime>
  <Words>1811</Words>
  <Application>Microsoft Office PowerPoint</Application>
  <PresentationFormat>와이드스크린</PresentationFormat>
  <Paragraphs>415</Paragraphs>
  <Slides>37</Slides>
  <Notes>31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6" baseType="lpstr">
      <vt:lpstr>Noto Sans KR</vt:lpstr>
      <vt:lpstr>PretendardGOV</vt:lpstr>
      <vt:lpstr>굴림</vt:lpstr>
      <vt:lpstr>맑은 고딕</vt:lpstr>
      <vt:lpstr>메이플스토리</vt:lpstr>
      <vt:lpstr>Arial</vt:lpstr>
      <vt:lpstr>Consolas</vt:lpstr>
      <vt:lpstr>Wingdings</vt:lpstr>
      <vt:lpstr>2_Office 테마</vt:lpstr>
      <vt:lpstr>웹 개발자 부트캠프 과정</vt:lpstr>
      <vt:lpstr>JavaScript 함수</vt:lpstr>
      <vt:lpstr>함수</vt:lpstr>
      <vt:lpstr>JavaScript 함수</vt:lpstr>
      <vt:lpstr>JavaScript 함수</vt:lpstr>
      <vt:lpstr>JavaScript 함수</vt:lpstr>
      <vt:lpstr>JavaScript 함수</vt:lpstr>
      <vt:lpstr>JavaScript 함수</vt:lpstr>
      <vt:lpstr>함수 선언 방식</vt:lpstr>
      <vt:lpstr>실습. JavaScript 함수 실습 (1)</vt:lpstr>
      <vt:lpstr>실습. JavaScript 함수 실습 (2)</vt:lpstr>
      <vt:lpstr>조건문</vt:lpstr>
      <vt:lpstr>조건문</vt:lpstr>
      <vt:lpstr>if 문</vt:lpstr>
      <vt:lpstr>if와 else</vt:lpstr>
      <vt:lpstr>if와 else if</vt:lpstr>
      <vt:lpstr>if 중첩</vt:lpstr>
      <vt:lpstr>if 문에서 연산자</vt:lpstr>
      <vt:lpstr>실습. if 문 실습</vt:lpstr>
      <vt:lpstr>switch 문</vt:lpstr>
      <vt:lpstr>if 문을 간단하게 만드는 삼항 연산자</vt:lpstr>
      <vt:lpstr>실습. 지금은 오전? 오후!?</vt:lpstr>
      <vt:lpstr>반복문</vt:lpstr>
      <vt:lpstr>반복문</vt:lpstr>
      <vt:lpstr>PowerPoint 프레젠테이션</vt:lpstr>
      <vt:lpstr>PowerPoint 프레젠테이션</vt:lpstr>
      <vt:lpstr>for 문</vt:lpstr>
      <vt:lpstr>중첩 for 문</vt:lpstr>
      <vt:lpstr>while 문</vt:lpstr>
      <vt:lpstr>PowerPoint 프레젠테이션</vt:lpstr>
      <vt:lpstr>PowerPoint 프레젠테이션</vt:lpstr>
      <vt:lpstr>실습. 구구단 만들기</vt:lpstr>
      <vt:lpstr>break &amp; continue</vt:lpstr>
      <vt:lpstr>break</vt:lpstr>
      <vt:lpstr>continue</vt:lpstr>
      <vt:lpstr>실습. 합계 구하기</vt:lpstr>
      <vt:lpstr>실습. 13의 배수이자 홀수를 찾아보자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119</cp:revision>
  <dcterms:created xsi:type="dcterms:W3CDTF">2022-06-26T11:10:22Z</dcterms:created>
  <dcterms:modified xsi:type="dcterms:W3CDTF">2024-05-27T02:00:49Z</dcterms:modified>
</cp:coreProperties>
</file>