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0"/>
  </p:notesMasterIdLst>
  <p:sldIdLst>
    <p:sldId id="675" r:id="rId2"/>
    <p:sldId id="376" r:id="rId3"/>
    <p:sldId id="368" r:id="rId4"/>
    <p:sldId id="369" r:id="rId5"/>
    <p:sldId id="289" r:id="rId6"/>
    <p:sldId id="371" r:id="rId7"/>
    <p:sldId id="370" r:id="rId8"/>
    <p:sldId id="329" r:id="rId9"/>
    <p:sldId id="330" r:id="rId10"/>
    <p:sldId id="683" r:id="rId11"/>
    <p:sldId id="684" r:id="rId12"/>
    <p:sldId id="685" r:id="rId13"/>
    <p:sldId id="377" r:id="rId14"/>
    <p:sldId id="451" r:id="rId15"/>
    <p:sldId id="452" r:id="rId16"/>
    <p:sldId id="453" r:id="rId17"/>
    <p:sldId id="454" r:id="rId18"/>
    <p:sldId id="455" r:id="rId19"/>
    <p:sldId id="456" r:id="rId20"/>
    <p:sldId id="315" r:id="rId21"/>
    <p:sldId id="458" r:id="rId22"/>
    <p:sldId id="459" r:id="rId23"/>
    <p:sldId id="676" r:id="rId24"/>
    <p:sldId id="378" r:id="rId25"/>
    <p:sldId id="461" r:id="rId26"/>
    <p:sldId id="280" r:id="rId27"/>
    <p:sldId id="272" r:id="rId28"/>
    <p:sldId id="462" r:id="rId29"/>
    <p:sldId id="465" r:id="rId30"/>
    <p:sldId id="466" r:id="rId31"/>
    <p:sldId id="274" r:id="rId32"/>
    <p:sldId id="285" r:id="rId33"/>
    <p:sldId id="677" r:id="rId34"/>
    <p:sldId id="467" r:id="rId35"/>
    <p:sldId id="468" r:id="rId36"/>
    <p:sldId id="469" r:id="rId37"/>
    <p:sldId id="678" r:id="rId38"/>
    <p:sldId id="680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6F3"/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213" autoAdjust="0"/>
  </p:normalViewPr>
  <p:slideViewPr>
    <p:cSldViewPr snapToGrid="0">
      <p:cViewPr varScale="1">
        <p:scale>
          <a:sx n="76" d="100"/>
          <a:sy n="76" d="100"/>
        </p:scale>
        <p:origin x="120" y="33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 기억나시는지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코딩에서도 같다</a:t>
            </a:r>
            <a:r>
              <a:rPr lang="en-US" altLang="ko-KR" dirty="0"/>
              <a:t>. (</a:t>
            </a:r>
            <a:r>
              <a:rPr lang="ko-KR" altLang="en-US" dirty="0"/>
              <a:t>계산식 같이 </a:t>
            </a:r>
            <a:r>
              <a:rPr lang="ko-KR" altLang="en-US"/>
              <a:t>무언가 설계되어있음</a:t>
            </a:r>
            <a:r>
              <a:rPr lang="en-US" altLang="ko-KR"/>
              <a:t>)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81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특정 작업을 수행</a:t>
            </a:r>
            <a:r>
              <a:rPr lang="ko-KR" altLang="en-US" dirty="0"/>
              <a:t>하기 위해 독립적으로 설계된 </a:t>
            </a:r>
            <a:r>
              <a:rPr lang="ko-KR" altLang="en-US" b="1" dirty="0"/>
              <a:t>코드의 집합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.e.g. </a:t>
            </a:r>
            <a:r>
              <a:rPr lang="ko-KR" altLang="en-US" dirty="0"/>
              <a:t>메소드</a:t>
            </a:r>
            <a:r>
              <a:rPr lang="en-US" altLang="ko-KR" dirty="0"/>
              <a:t>, </a:t>
            </a:r>
            <a:r>
              <a:rPr lang="ko-KR" altLang="en-US" dirty="0"/>
              <a:t>연산</a:t>
            </a:r>
            <a:r>
              <a:rPr lang="en-US" altLang="ko-KR" dirty="0"/>
              <a:t>, </a:t>
            </a:r>
            <a:r>
              <a:rPr lang="ko-KR" altLang="en-US" dirty="0"/>
              <a:t>오퍼레이션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우선 지시사항들의 묶음</a:t>
            </a:r>
            <a:r>
              <a:rPr lang="en-US" altLang="ko-KR" dirty="0"/>
              <a:t>(</a:t>
            </a:r>
            <a:r>
              <a:rPr lang="ko-KR" altLang="en-US" dirty="0"/>
              <a:t>과정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일반적으로 </a:t>
            </a:r>
            <a:r>
              <a:rPr lang="ko-KR" altLang="en-US" b="1" dirty="0"/>
              <a:t>입력 → 함수 → </a:t>
            </a:r>
            <a:r>
              <a:rPr lang="en-US" altLang="ko-KR" b="1" dirty="0"/>
              <a:t>return → </a:t>
            </a:r>
            <a:r>
              <a:rPr lang="ko-KR" altLang="en-US" b="1" dirty="0"/>
              <a:t>출력</a:t>
            </a:r>
            <a:r>
              <a:rPr lang="ko-KR" altLang="en-US" dirty="0"/>
              <a:t> 형태를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동일한 작업을 반복</a:t>
            </a:r>
            <a:r>
              <a:rPr lang="en-US" altLang="ko-KR" b="1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; </a:t>
            </a: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함수 사용시 함수 호출만으로 동일한 작업을 여러 번 반복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반복작업 줄임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코드 재사용성 늘림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유지보수 편리</a:t>
            </a:r>
            <a:r>
              <a:rPr lang="en-US" altLang="ko-KR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47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　선언．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42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함수　이름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어떤　표기법을　사용했는지？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2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023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87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　선언　방식에는</a:t>
            </a:r>
            <a:endParaRPr lang="en-US" altLang="ko-KR" dirty="0"/>
          </a:p>
          <a:p>
            <a:r>
              <a:rPr lang="ko-KR" altLang="en-US" dirty="0"/>
              <a:t>２가지　방법．</a:t>
            </a:r>
            <a:endParaRPr lang="en-US" altLang="ko-KR" dirty="0"/>
          </a:p>
          <a:p>
            <a:r>
              <a:rPr lang="ko-KR" altLang="en-US" dirty="0"/>
              <a:t>명시적　함수　선언</a:t>
            </a:r>
            <a:endParaRPr lang="en-US" altLang="ko-KR" dirty="0"/>
          </a:p>
          <a:p>
            <a:r>
              <a:rPr lang="ko-KR" altLang="en-US" dirty="0"/>
              <a:t>함수　표현식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같이　알아보도록　하겠습니다．　－　코드　치러　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99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4EAC-0118-815D-3FA7-62060F75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1B295E-3C58-BE60-F720-808B42C9A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A862C-78C0-5977-77C6-8B601D8A5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Jsdoc</a:t>
            </a:r>
            <a:r>
              <a:rPr lang="en-US" altLang="ko-KR" dirty="0"/>
              <a:t> </a:t>
            </a:r>
            <a:r>
              <a:rPr lang="ko-KR" altLang="en-US" dirty="0"/>
              <a:t>알려주기</a:t>
            </a:r>
            <a:endParaRPr lang="en-US" altLang="ko-KR" dirty="0"/>
          </a:p>
          <a:p>
            <a:r>
              <a:rPr lang="ko-KR" altLang="en-US" dirty="0"/>
              <a:t>함수 위에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B2CCD6"/>
                </a:solidFill>
                <a:effectLst/>
              </a:rPr>
              <a:t>/** </a:t>
            </a:r>
            <a:r>
              <a:rPr lang="ko-KR" altLang="en-US" dirty="0"/>
              <a:t>여기에 마음대로 작성 </a:t>
            </a:r>
            <a:r>
              <a:rPr lang="en-US" altLang="ko-KR" dirty="0"/>
              <a:t>-&gt; </a:t>
            </a:r>
            <a:r>
              <a:rPr lang="ko-KR" altLang="en-US" dirty="0"/>
              <a:t>해당 함수 사용 시 작성한 메모 보임</a:t>
            </a:r>
            <a:r>
              <a:rPr lang="en-US" altLang="ko-KR" dirty="0">
                <a:solidFill>
                  <a:srgbClr val="B2CCD6"/>
                </a:solidFill>
                <a:effectLst/>
              </a:rPr>
              <a:t> */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더 자세한 정보 </a:t>
            </a:r>
            <a:r>
              <a:rPr lang="ko-KR" altLang="en-US" dirty="0" err="1"/>
              <a:t>알고싶다면</a:t>
            </a:r>
            <a:r>
              <a:rPr lang="ko-KR" altLang="en-US" dirty="0"/>
              <a:t> </a:t>
            </a:r>
            <a:r>
              <a:rPr lang="en-US" altLang="ko-KR" dirty="0"/>
              <a:t>https://ilimes.github.io/javascript/post29/</a:t>
            </a:r>
            <a:endParaRPr lang="ko-KR" altLang="en-US" dirty="0" err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FBAFFA-A881-2DEA-A732-BC55062B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540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A98B-3BB6-62DB-11AA-76814916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F3867E-D0E7-5F3F-9B32-5DECB6481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452FA-9532-B705-3FE3-7E34BE5B7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반환값</a:t>
            </a:r>
            <a:r>
              <a:rPr lang="en-US" altLang="ko-KR" dirty="0"/>
              <a:t>? </a:t>
            </a:r>
            <a:r>
              <a:rPr lang="ko-KR" altLang="en-US" dirty="0"/>
              <a:t>해당 함수가 반환하는 값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40C79-000B-7276-1957-FD7D231CE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160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8D22-C764-EDC7-2C8E-37925536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6483C-2F78-658C-AB0B-B7B167903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76167-80A4-1AE7-B73B-4C86A278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A5259-06FA-81C0-BDEB-57DC677C7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473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694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특정 조건일 때만 실행하고 싶은 구문이 </a:t>
            </a:r>
            <a:r>
              <a:rPr lang="ko-KR" altLang="en-US" dirty="0" err="1"/>
              <a:t>있을때</a:t>
            </a:r>
            <a:r>
              <a:rPr lang="ko-KR" altLang="en-US" dirty="0"/>
              <a:t> 사용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조금 이따가 같이 한번 해보도록 </a:t>
            </a:r>
            <a:r>
              <a:rPr lang="ko-KR" altLang="en-US" dirty="0" err="1"/>
              <a:t>할게요</a:t>
            </a:r>
            <a:r>
              <a:rPr lang="ko-KR" altLang="en-US" dirty="0"/>
              <a:t> 일단은 알아만 두세요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3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035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있어도 되고 없어도 된다는 말은 </a:t>
            </a:r>
            <a:r>
              <a:rPr lang="en-US" altLang="ko-KR" dirty="0"/>
              <a:t>else </a:t>
            </a:r>
            <a:r>
              <a:rPr lang="ko-KR" altLang="en-US" dirty="0"/>
              <a:t>자체가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97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98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 작성 </a:t>
            </a:r>
            <a:r>
              <a:rPr lang="en-US" altLang="ko-KR" dirty="0" err="1"/>
              <a:t>rr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실습</a:t>
            </a:r>
            <a:r>
              <a:rPr lang="en-US" altLang="ko-KR" dirty="0"/>
              <a:t>! </a:t>
            </a:r>
            <a:r>
              <a:rPr lang="ko-KR" altLang="en-US" dirty="0"/>
              <a:t>퀴즈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76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09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실습을 해보자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New date </a:t>
            </a:r>
            <a:r>
              <a:rPr lang="ko-KR" altLang="en-US" dirty="0"/>
              <a:t>간단하게 설명</a:t>
            </a:r>
            <a:r>
              <a:rPr lang="en-US" altLang="ko-KR" dirty="0"/>
              <a:t>. – </a:t>
            </a:r>
            <a:r>
              <a:rPr lang="ko-KR" altLang="en-US" dirty="0"/>
              <a:t>코드로 </a:t>
            </a:r>
            <a:r>
              <a:rPr lang="ko-KR" altLang="en-US" dirty="0" err="1"/>
              <a:t>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다시와서</a:t>
            </a:r>
            <a:r>
              <a:rPr lang="ko-KR" altLang="en-US" dirty="0"/>
              <a:t> 실습 주고 </a:t>
            </a:r>
            <a:r>
              <a:rPr lang="en-US" altLang="ko-KR" dirty="0"/>
              <a:t>&gt; </a:t>
            </a:r>
            <a:r>
              <a:rPr lang="ko-KR" altLang="en-US" dirty="0"/>
              <a:t>핑 </a:t>
            </a:r>
            <a:r>
              <a:rPr lang="en-US" altLang="ko-KR" dirty="0"/>
              <a:t>&gt; </a:t>
            </a:r>
            <a:r>
              <a:rPr lang="ko-KR" altLang="en-US" dirty="0"/>
              <a:t>진도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80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구조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번 </a:t>
            </a:r>
            <a:r>
              <a:rPr lang="en-US" altLang="ko-KR" dirty="0"/>
              <a:t>, </a:t>
            </a:r>
            <a:r>
              <a:rPr lang="ko-KR" altLang="en-US" dirty="0"/>
              <a:t>어디서부터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어디까지 </a:t>
            </a:r>
            <a:r>
              <a:rPr lang="en-US" altLang="ko-KR" dirty="0"/>
              <a:t>=&gt;</a:t>
            </a:r>
            <a:r>
              <a:rPr lang="ko-KR" altLang="en-US" dirty="0"/>
              <a:t>보통 부등호가 들어가는 조건식이 들어감 </a:t>
            </a:r>
            <a:r>
              <a:rPr lang="en-US" altLang="ko-KR" dirty="0"/>
              <a:t>(</a:t>
            </a:r>
            <a:r>
              <a:rPr lang="ko-KR" altLang="en-US" dirty="0"/>
              <a:t>조건이 참일 때 반복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번 </a:t>
            </a:r>
            <a:r>
              <a:rPr lang="ko-KR" altLang="en-US" dirty="0" err="1"/>
              <a:t>늘어날거야</a:t>
            </a:r>
            <a:r>
              <a:rPr lang="en-US" altLang="ko-KR" dirty="0"/>
              <a:t>, </a:t>
            </a:r>
            <a:r>
              <a:rPr lang="ko-KR" altLang="en-US" dirty="0" err="1"/>
              <a:t>줄어들거야</a:t>
            </a:r>
            <a:r>
              <a:rPr lang="en-US" altLang="ko-KR" dirty="0"/>
              <a:t>(</a:t>
            </a:r>
            <a:r>
              <a:rPr lang="ko-KR" altLang="en-US" dirty="0" err="1"/>
              <a:t>몇개씩</a:t>
            </a:r>
            <a:r>
              <a:rPr lang="en-US" altLang="ko-KR" dirty="0"/>
              <a:t>?)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까지 </a:t>
            </a:r>
            <a:r>
              <a:rPr lang="en-US" altLang="ko-KR" dirty="0"/>
              <a:t>1</a:t>
            </a:r>
            <a:r>
              <a:rPr lang="ko-KR" altLang="en-US" dirty="0"/>
              <a:t>개씩 </a:t>
            </a:r>
            <a:r>
              <a:rPr lang="ko-KR" altLang="en-US" dirty="0" err="1"/>
              <a:t>늘어날거야</a:t>
            </a:r>
            <a:endParaRPr lang="en-US" altLang="ko-KR" dirty="0"/>
          </a:p>
          <a:p>
            <a:r>
              <a:rPr lang="en-US" altLang="ko-KR" dirty="0"/>
              <a:t>20</a:t>
            </a:r>
            <a:r>
              <a:rPr lang="ko-KR" altLang="en-US" dirty="0"/>
              <a:t>부터 </a:t>
            </a:r>
            <a:r>
              <a:rPr lang="en-US" altLang="ko-KR" dirty="0"/>
              <a:t>2</a:t>
            </a:r>
            <a:r>
              <a:rPr lang="ko-KR" altLang="en-US" dirty="0"/>
              <a:t>보다 작기 전까지 </a:t>
            </a:r>
            <a:r>
              <a:rPr lang="en-US" altLang="ko-KR" dirty="0"/>
              <a:t>2</a:t>
            </a:r>
            <a:r>
              <a:rPr lang="ko-KR" altLang="en-US" dirty="0"/>
              <a:t>개씩 </a:t>
            </a:r>
            <a:r>
              <a:rPr lang="ko-KR" altLang="en-US" dirty="0" err="1"/>
              <a:t>줄어들거야</a:t>
            </a:r>
            <a:endParaRPr lang="en-US" altLang="ko-KR" dirty="0"/>
          </a:p>
          <a:p>
            <a:r>
              <a:rPr lang="ko-KR" altLang="en-US" dirty="0" err="1"/>
              <a:t>이런것을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문의 괄호 안에 써줄 수 </a:t>
            </a:r>
            <a:r>
              <a:rPr lang="ko-KR" altLang="en-US" dirty="0" err="1"/>
              <a:t>잇음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811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알고리즘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024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설명해주기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32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코드 치러 </a:t>
            </a:r>
            <a:r>
              <a:rPr lang="ko-KR" altLang="en-US" dirty="0" err="1"/>
              <a:t>ㄱㄱ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92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59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이것을 같이 한번 </a:t>
            </a:r>
            <a:r>
              <a:rPr lang="ko-KR" altLang="en-US" dirty="0" err="1"/>
              <a:t>해볼게요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코드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2305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반복 가능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구구단 </a:t>
            </a:r>
            <a:r>
              <a:rPr lang="en-US" altLang="ko-KR" dirty="0"/>
              <a:t>while</a:t>
            </a:r>
            <a:r>
              <a:rPr lang="ko-KR" altLang="en-US" dirty="0"/>
              <a:t>버전은 있군</a:t>
            </a:r>
            <a:r>
              <a:rPr lang="en-US" altLang="ko-KR" dirty="0"/>
              <a:t>,..,.,.,,.,</a:t>
            </a:r>
          </a:p>
          <a:p>
            <a:endParaRPr lang="en-US" altLang="ko-KR" dirty="0"/>
          </a:p>
          <a:p>
            <a:r>
              <a:rPr lang="ko-KR" altLang="en-US" dirty="0"/>
              <a:t>안에 있는</a:t>
            </a:r>
            <a:r>
              <a:rPr lang="ko-KR" altLang="en-US" baseline="0" dirty="0"/>
              <a:t> </a:t>
            </a:r>
            <a:r>
              <a:rPr lang="en-US" altLang="ko-KR" baseline="0" dirty="0"/>
              <a:t>while</a:t>
            </a:r>
            <a:r>
              <a:rPr lang="ko-KR" altLang="en-US" baseline="0" dirty="0"/>
              <a:t>문을 벗어나게 되면 하나의 단</a:t>
            </a:r>
            <a:r>
              <a:rPr lang="en-US" altLang="ko-KR" baseline="0" dirty="0"/>
              <a:t>? </a:t>
            </a:r>
            <a:r>
              <a:rPr lang="ko-KR" altLang="en-US" baseline="0" dirty="0" err="1"/>
              <a:t>이끝난거라서</a:t>
            </a:r>
            <a:endParaRPr lang="en-US" altLang="ko-KR" baseline="0" dirty="0"/>
          </a:p>
          <a:p>
            <a:r>
              <a:rPr lang="en-US" altLang="ko-KR" baseline="0" dirty="0"/>
              <a:t>j=1</a:t>
            </a:r>
            <a:r>
              <a:rPr lang="ko-KR" altLang="en-US" baseline="0" dirty="0"/>
              <a:t>로 다시 </a:t>
            </a:r>
            <a:r>
              <a:rPr lang="ko-KR" altLang="en-US" baseline="0" dirty="0" err="1"/>
              <a:t>초기화시켜주는</a:t>
            </a:r>
            <a:r>
              <a:rPr lang="ko-KR" altLang="en-US" baseline="0" dirty="0"/>
              <a:t> 것</a:t>
            </a:r>
            <a:endParaRPr lang="en-US" altLang="ko-KR" baseline="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메모장 켜서 </a:t>
            </a:r>
            <a:r>
              <a:rPr lang="en-US" altLang="ko-KR" dirty="0"/>
              <a:t>2x1= </a:t>
            </a:r>
            <a:r>
              <a:rPr lang="ko-KR" altLang="en-US" dirty="0"/>
              <a:t>설명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dirty="0"/>
              <a:t>While</a:t>
            </a:r>
            <a:r>
              <a:rPr lang="ko-KR" altLang="en-US" dirty="0"/>
              <a:t>문 구구단 보여주고 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</a:rPr>
              <a:t>for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문</a:t>
            </a:r>
            <a:r>
              <a:rPr lang="ko-KR" altLang="en-US" dirty="0">
                <a:solidFill>
                  <a:srgbClr val="FF0000"/>
                </a:solidFill>
              </a:rPr>
              <a:t>으로 </a:t>
            </a:r>
            <a:r>
              <a:rPr lang="ko-KR" altLang="en-US" dirty="0"/>
              <a:t>구구단 만들기</a:t>
            </a:r>
            <a:r>
              <a:rPr lang="en-US" altLang="ko-KR" dirty="0"/>
              <a:t> </a:t>
            </a:r>
            <a:r>
              <a:rPr lang="ko-KR" altLang="en-US" dirty="0"/>
              <a:t>실습 주기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856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833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과 </a:t>
            </a:r>
            <a:r>
              <a:rPr lang="en-US" altLang="ko-KR" dirty="0"/>
              <a:t>continue</a:t>
            </a:r>
            <a:r>
              <a:rPr lang="ko-KR" altLang="en-US" dirty="0"/>
              <a:t>에 관해 </a:t>
            </a:r>
            <a:r>
              <a:rPr lang="ko-KR" altLang="en-US" dirty="0" err="1"/>
              <a:t>알아볼게요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이름에서부터 느낌이 </a:t>
            </a:r>
            <a:r>
              <a:rPr lang="ko-KR" altLang="en-US" dirty="0" err="1"/>
              <a:t>올겁니다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5295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i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가 짝수인 경우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(</a:t>
            </a:r>
            <a:r>
              <a:rPr lang="en-US" altLang="ko-KR" dirty="0" err="1"/>
              <a:t>i</a:t>
            </a:r>
            <a:r>
              <a:rPr lang="en-US" altLang="ko-KR" dirty="0"/>
              <a:t> % 2 == 0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), </a:t>
            </a:r>
            <a:r>
              <a:rPr lang="en-US" altLang="ko-KR" dirty="0"/>
              <a:t>continue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문이 실행되어 현재 반복 주기의 나머지 부분을 건너뛰고 다음 반복으로 넘어갑니다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</a:t>
            </a:r>
          </a:p>
          <a:p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즉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</a:t>
            </a:r>
            <a:r>
              <a:rPr lang="en-US" altLang="ko-KR" dirty="0" err="1"/>
              <a:t>i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가 짝수일 때는 </a:t>
            </a:r>
            <a:r>
              <a:rPr lang="en-US" altLang="ko-KR" dirty="0"/>
              <a:t>sum += </a:t>
            </a:r>
            <a:r>
              <a:rPr lang="en-US" altLang="ko-KR" dirty="0" err="1"/>
              <a:t>i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부분이 실행되지 않습니다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373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024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92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444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44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8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115259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B437F89-A3A1-A26E-2544-6BFC49FF4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5" y="1796844"/>
            <a:ext cx="3664892" cy="326431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4EB663-47BC-8050-C4B7-51DFDDD16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3" y="1796844"/>
            <a:ext cx="3392156" cy="32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A4040C-F5C0-4186-1402-E2BFEA5B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08" y="4838902"/>
            <a:ext cx="11066783" cy="90777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특정 작업을 수행하기 위해 독립적으로 설계된 </a:t>
            </a:r>
            <a:r>
              <a:rPr lang="ko-KR" altLang="en-US" sz="3600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코드 집합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2" y="1565213"/>
            <a:ext cx="9207774" cy="26148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8A47E5E-C12A-F6F5-19B2-84BD38E4EE85}"/>
              </a:ext>
            </a:extLst>
          </p:cNvPr>
          <p:cNvSpPr/>
          <p:nvPr/>
        </p:nvSpPr>
        <p:spPr>
          <a:xfrm>
            <a:off x="8893147" y="2290046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22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0" y="3444604"/>
            <a:ext cx="3338918" cy="635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3600" dirty="0"/>
              <a:t>Keyword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327990" y="1699629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2376082" y="2513924"/>
            <a:ext cx="2839453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2E735E-8881-5655-5266-354508ECBD37}"/>
              </a:ext>
            </a:extLst>
          </p:cNvPr>
          <p:cNvSpPr/>
          <p:nvPr/>
        </p:nvSpPr>
        <p:spPr>
          <a:xfrm>
            <a:off x="8723214" y="2314032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207127" y="1801760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5056964" y="2601420"/>
            <a:ext cx="1868906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265" y="4612104"/>
            <a:ext cx="6215241" cy="16721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 (</a:t>
            </a: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이름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일반적으로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camelCase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이용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45F661-47FB-8AAE-E9A8-D19B70E29D89}"/>
              </a:ext>
            </a:extLst>
          </p:cNvPr>
          <p:cNvSpPr/>
          <p:nvPr/>
        </p:nvSpPr>
        <p:spPr>
          <a:xfrm>
            <a:off x="8618018" y="2539714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814" y="4843141"/>
            <a:ext cx="7413086" cy="1219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Parameter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함수를 선언할 때 </a:t>
            </a:r>
            <a:r>
              <a:rPr lang="ko-KR" altLang="en-US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매개변수</a:t>
            </a:r>
            <a:r>
              <a:rPr lang="en-US" altLang="ko-KR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인자</a:t>
            </a:r>
            <a:r>
              <a:rPr lang="en-US" altLang="ko-KR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받을 것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152144" y="1811445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6774704" y="2646144"/>
            <a:ext cx="601580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EAE3E0-6CB0-3659-4200-A2C92667AB00}"/>
              </a:ext>
            </a:extLst>
          </p:cNvPr>
          <p:cNvSpPr/>
          <p:nvPr/>
        </p:nvSpPr>
        <p:spPr>
          <a:xfrm>
            <a:off x="8553281" y="2549399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92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167" y="4350223"/>
            <a:ext cx="6697732" cy="1529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Body (Block)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함수가 실행되는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Scope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라고도 한다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3" y="1325563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7964905" y="2160262"/>
            <a:ext cx="1018674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7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F37647C-10FA-A40F-7646-54C4E59B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81" y="2229429"/>
            <a:ext cx="3897230" cy="56107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명시적 함수 선언</a:t>
            </a:r>
            <a:endParaRPr lang="ko-KR" altLang="en-US" sz="3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 방식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E085A0E-15BB-DFCD-E7A1-8200B49E24CB}"/>
              </a:ext>
            </a:extLst>
          </p:cNvPr>
          <p:cNvSpPr txBox="1">
            <a:spLocks/>
          </p:cNvSpPr>
          <p:nvPr/>
        </p:nvSpPr>
        <p:spPr>
          <a:xfrm>
            <a:off x="7066499" y="2229429"/>
            <a:ext cx="2639365" cy="561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표현식</a:t>
            </a:r>
            <a:endParaRPr lang="ko-KR" altLang="en-US" sz="3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3ABE13-F8C0-0411-5D33-AF1C353DCD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97" b="11962"/>
          <a:stretch/>
        </p:blipFill>
        <p:spPr>
          <a:xfrm>
            <a:off x="737709" y="3079802"/>
            <a:ext cx="4364574" cy="749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7C908-B7F9-E0AF-86AC-EAF71F19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537" y="3079802"/>
            <a:ext cx="5811291" cy="7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4F15-635C-3314-7E69-13DCEB35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01A17-8F23-5E1F-6604-EA6EE156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65125"/>
            <a:ext cx="8269515" cy="1325563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G마켓 산스 TTF Bold"/>
                <a:ea typeface="G마켓 산스 TTF Bold"/>
              </a:rPr>
              <a:t>다양한 함수 표현식 사용하기</a:t>
            </a:r>
            <a:endParaRPr lang="ko-KR" altLang="en-US" dirty="0">
              <a:solidFill>
                <a:srgbClr val="00B050"/>
              </a:solidFill>
              <a:latin typeface="G마켓 산스 TTF Bold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6CE1B3-5F2C-46CC-AF1F-D8D67188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2024년 11월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DECCA-CC76-0DF0-AB31-D1B68935303D}"/>
              </a:ext>
            </a:extLst>
          </p:cNvPr>
          <p:cNvSpPr txBox="1"/>
          <p:nvPr/>
        </p:nvSpPr>
        <p:spPr>
          <a:xfrm>
            <a:off x="733997" y="1870897"/>
            <a:ext cx="609600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선언문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표현식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화살표 함수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346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A3D5-710F-3D7E-1C87-24D1E35B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0D3BF-1CF0-4150-8235-72DE3F8F7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65125"/>
            <a:ext cx="8269515" cy="1325563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G마켓 산스 TTF Bold"/>
                <a:ea typeface="G마켓 산스 TTF Bold"/>
              </a:rPr>
              <a:t>함수의 형태</a:t>
            </a:r>
            <a:endParaRPr lang="ko-KR" altLang="en-US" dirty="0">
              <a:solidFill>
                <a:srgbClr val="00B050"/>
              </a:solidFill>
              <a:latin typeface="G마켓 산스 TTF Bold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EF306-A4B9-2A64-7120-E86D456C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2024년 11월</a:t>
            </a:fld>
            <a:endParaRPr lang="ko-KR" altLang="en-US" dirty="0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9C3E5DF-DC6B-15A1-AB85-C06934AA62C8}"/>
              </a:ext>
            </a:extLst>
          </p:cNvPr>
          <p:cNvSpPr txBox="1"/>
          <p:nvPr/>
        </p:nvSpPr>
        <p:spPr>
          <a:xfrm>
            <a:off x="6345467" y="1799026"/>
            <a:ext cx="5736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// 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O,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X</a:t>
            </a: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800" dirty="0">
              <a:solidFill>
                <a:srgbClr val="00B050"/>
              </a:solidFill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// 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O,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O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6B8E98B-87C1-0F3E-B0E5-686F9DB91339}"/>
              </a:ext>
            </a:extLst>
          </p:cNvPr>
          <p:cNvSpPr txBox="1">
            <a:spLocks/>
          </p:cNvSpPr>
          <p:nvPr/>
        </p:nvSpPr>
        <p:spPr>
          <a:xfrm>
            <a:off x="821199" y="1799026"/>
            <a:ext cx="5168185" cy="4809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// 1. </a:t>
            </a:r>
            <a:r>
              <a:rPr lang="ko-KR" altLang="en-US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X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// 2. </a:t>
            </a:r>
            <a:r>
              <a:rPr lang="ko-KR" altLang="en-US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Kim jung chul Gothic Regular" panose="020B0503000000000000" pitchFamily="34" charset="-127"/>
                <a:ea typeface="Kim jung chul Gothic Regular" panose="020B0503000000000000" pitchFamily="34" charset="-127"/>
              </a:rPr>
              <a:t>O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196C27C-26D5-52BE-2732-D78046E3F160}"/>
              </a:ext>
            </a:extLst>
          </p:cNvPr>
          <p:cNvSpPr txBox="1"/>
          <p:nvPr/>
        </p:nvSpPr>
        <p:spPr>
          <a:xfrm>
            <a:off x="6345467" y="246074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8D0C170-B340-F4D1-0D30-95941733699A}"/>
              </a:ext>
            </a:extLst>
          </p:cNvPr>
          <p:cNvSpPr txBox="1"/>
          <p:nvPr/>
        </p:nvSpPr>
        <p:spPr>
          <a:xfrm>
            <a:off x="821199" y="246539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12EF4FE-6274-9A96-AF1A-AC1FBE3D0CDA}"/>
              </a:ext>
            </a:extLst>
          </p:cNvPr>
          <p:cNvSpPr txBox="1"/>
          <p:nvPr/>
        </p:nvSpPr>
        <p:spPr>
          <a:xfrm>
            <a:off x="821199" y="4205608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C735173-20A6-92CE-745C-FFDA2164AFA8}"/>
              </a:ext>
            </a:extLst>
          </p:cNvPr>
          <p:cNvSpPr txBox="1"/>
          <p:nvPr/>
        </p:nvSpPr>
        <p:spPr>
          <a:xfrm>
            <a:off x="6345467" y="4203700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936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F97E-BEA1-43E3-03A0-E4CFF803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D4BCCBEB-282F-1912-9019-85F337F52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C5346-E931-4E4E-85C2-9C046626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91E73-50AA-0F18-4C27-BFF9B12E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1EF1CE-2903-8CE6-E7AC-40FAB2AF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en-US" altLang="ko-KR" dirty="0" smtClean="0">
                <a:solidFill>
                  <a:srgbClr val="6EC173"/>
                </a:solidFill>
              </a:rPr>
              <a:t> </a:t>
            </a:r>
            <a:r>
              <a:rPr lang="ko-KR" altLang="en-US" dirty="0" smtClean="0"/>
              <a:t>함수 만들기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432A9D8-626D-7947-ADAD-31B58CE82C9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</a:t>
            </a:r>
            <a:r>
              <a:rPr lang="en-US" altLang="ko-KR" b="1" dirty="0" err="1">
                <a:solidFill>
                  <a:srgbClr val="212529"/>
                </a:solidFill>
                <a:latin typeface="+mj-lt"/>
              </a:rPr>
              <a:t>SeSAC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j-lt"/>
              </a:rPr>
              <a:t> -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j-lt"/>
              </a:rPr>
              <a:t>웹프론트엔드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j-lt"/>
              </a:rPr>
              <a:t> 실습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j-lt"/>
              </a:rPr>
              <a:t>(UI/UX)</a:t>
            </a:r>
            <a:r>
              <a:rPr lang="ko-KR" altLang="en-US" b="1" dirty="0">
                <a:solidFill>
                  <a:srgbClr val="212529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j-lt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 smtClean="0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함수 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smtClean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smtClean="0">
                <a:solidFill>
                  <a:schemeClr val="accent1"/>
                </a:solidFill>
                <a:latin typeface="+mn-ea"/>
              </a:rPr>
              <a:t>번 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문제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666114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257943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BA86382-93BA-1119-7DEF-8FBB48FC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특정 조건일 때</a:t>
            </a:r>
            <a:r>
              <a:rPr lang="ko-KR" altLang="en-US" dirty="0"/>
              <a:t>만 실행하고 싶은 구문이 있을 때 사용합니다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prompt</a:t>
            </a:r>
            <a:r>
              <a:rPr lang="ko-KR" altLang="en-US" dirty="0"/>
              <a:t>에 입력한 수가 짝수인지 홀수인지 판별하는 프로그램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 ~ </a:t>
            </a:r>
            <a:r>
              <a:rPr lang="ko-KR" altLang="en-US" dirty="0"/>
              <a:t>일 때</a:t>
            </a:r>
            <a:r>
              <a:rPr lang="en-US" altLang="ko-KR" dirty="0"/>
              <a:t>, ~ </a:t>
            </a:r>
            <a:r>
              <a:rPr lang="ko-KR" altLang="en-US" dirty="0"/>
              <a:t>하는 프로그램을 만들 때</a:t>
            </a:r>
            <a:r>
              <a:rPr lang="en-US" altLang="ko-KR" dirty="0"/>
              <a:t>!</a:t>
            </a:r>
          </a:p>
          <a:p>
            <a:pPr lvl="1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조건문 종류</a:t>
            </a:r>
            <a:endParaRPr lang="en-US" altLang="ko-KR" dirty="0"/>
          </a:p>
          <a:p>
            <a:pPr lvl="1"/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  <a:endParaRPr lang="en-US" altLang="ko-KR" dirty="0"/>
          </a:p>
          <a:p>
            <a:pPr lvl="1"/>
            <a:r>
              <a:rPr lang="en-US" altLang="ko-KR" dirty="0"/>
              <a:t>switch </a:t>
            </a:r>
            <a:r>
              <a:rPr lang="ko-KR" altLang="en-US" dirty="0"/>
              <a:t>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74F7B-534E-6BE5-5ECE-6AC884E5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A0CC2-53B4-FFA4-F071-A445DF70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FF1AD85-F818-5A44-FEB2-D046BE94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31564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04D5F2E-A859-5D95-3F46-2862D936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기본적인 조건문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문 기본 구조부터 먼저 알아볼까요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조건은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true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B050"/>
                </a:solidFill>
              </a:rPr>
              <a:t>false</a:t>
            </a:r>
            <a:r>
              <a:rPr lang="ko-KR" altLang="en-US" dirty="0"/>
              <a:t>로 결과가 나와요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i="1" dirty="0"/>
              <a:t>a &gt; 10 (</a:t>
            </a:r>
            <a:r>
              <a:rPr lang="ko-KR" altLang="en-US" i="1" dirty="0"/>
              <a:t>변수 </a:t>
            </a:r>
            <a:r>
              <a:rPr lang="en-US" altLang="ko-KR" i="1" dirty="0"/>
              <a:t>a</a:t>
            </a:r>
            <a:r>
              <a:rPr lang="ko-KR" altLang="en-US" i="1" dirty="0"/>
              <a:t>가 </a:t>
            </a:r>
            <a:r>
              <a:rPr lang="en-US" altLang="ko-KR" i="1" dirty="0"/>
              <a:t>10</a:t>
            </a:r>
            <a:r>
              <a:rPr lang="ko-KR" altLang="en-US" i="1" dirty="0"/>
              <a:t>보다 크다면</a:t>
            </a:r>
            <a:r>
              <a:rPr lang="en-US" altLang="ko-KR" i="1" dirty="0"/>
              <a:t>)</a:t>
            </a:r>
          </a:p>
          <a:p>
            <a:pPr lvl="2"/>
            <a:r>
              <a:rPr lang="en-US" altLang="ko-KR" i="1" dirty="0"/>
              <a:t>str ===“</a:t>
            </a:r>
            <a:r>
              <a:rPr lang="en-US" altLang="ko-KR" i="1" dirty="0" err="1"/>
              <a:t>abcd</a:t>
            </a:r>
            <a:r>
              <a:rPr lang="en-US" altLang="ko-KR" i="1" dirty="0"/>
              <a:t>” (</a:t>
            </a:r>
            <a:r>
              <a:rPr lang="ko-KR" altLang="en-US" i="1" dirty="0"/>
              <a:t>변수 </a:t>
            </a:r>
            <a:r>
              <a:rPr lang="en-US" altLang="ko-KR" i="1" dirty="0"/>
              <a:t>str</a:t>
            </a:r>
            <a:r>
              <a:rPr lang="ko-KR" altLang="en-US" i="1" dirty="0"/>
              <a:t>이 </a:t>
            </a:r>
            <a:r>
              <a:rPr lang="en-US" altLang="ko-KR" i="1" dirty="0" err="1"/>
              <a:t>abcd</a:t>
            </a:r>
            <a:r>
              <a:rPr lang="ko-KR" altLang="en-US" i="1" dirty="0"/>
              <a:t>라는 문자열이라면</a:t>
            </a:r>
            <a:r>
              <a:rPr lang="en-US" altLang="ko-KR" i="1" dirty="0"/>
              <a:t>)</a:t>
            </a:r>
          </a:p>
          <a:p>
            <a:pPr lvl="1"/>
            <a:r>
              <a:rPr lang="ko-KR" altLang="en-US" dirty="0"/>
              <a:t>조건에 변수 자체를 써도 되는 경우가 있는데</a:t>
            </a:r>
            <a:r>
              <a:rPr lang="en-US" altLang="ko-KR" dirty="0"/>
              <a:t>, </a:t>
            </a:r>
            <a:r>
              <a:rPr lang="ko-KR" altLang="en-US" dirty="0"/>
              <a:t>이 경우는 변수자체가 </a:t>
            </a:r>
            <a:r>
              <a:rPr lang="en-US" altLang="ko-KR" dirty="0"/>
              <a:t>true</a:t>
            </a:r>
            <a:r>
              <a:rPr lang="ko-KR" altLang="en-US" dirty="0"/>
              <a:t>나 </a:t>
            </a:r>
            <a:r>
              <a:rPr lang="en-US" altLang="ko-KR" dirty="0"/>
              <a:t>false</a:t>
            </a:r>
            <a:r>
              <a:rPr lang="ko-KR" altLang="en-US" dirty="0"/>
              <a:t>로 판별 가능할 경우입니다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AC0ED1-7720-E4C4-3616-96545CB6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38B52-D65F-72CC-37B0-D1065B9F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8289559-99AB-6FBA-EEE8-8E10A2A4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AC22E7-2472-B0A4-747A-317D6EBC44CA}"/>
              </a:ext>
            </a:extLst>
          </p:cNvPr>
          <p:cNvSpPr/>
          <p:nvPr/>
        </p:nvSpPr>
        <p:spPr>
          <a:xfrm>
            <a:off x="1371600" y="2856124"/>
            <a:ext cx="6096000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조건이 만족할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62F867-7DB4-29A0-E556-E9951DCE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</a:t>
            </a:r>
            <a:r>
              <a:rPr lang="en-US" altLang="ko-KR" dirty="0"/>
              <a:t>if</a:t>
            </a:r>
            <a:r>
              <a:rPr lang="ko-KR" altLang="en-US" dirty="0"/>
              <a:t>문에서 진화한 형태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소괄호 속의 조건이 참이면 </a:t>
            </a:r>
            <a:r>
              <a:rPr lang="en-US" altLang="ko-KR" dirty="0"/>
              <a:t>if </a:t>
            </a:r>
            <a:r>
              <a:rPr lang="ko-KR" altLang="en-US" dirty="0"/>
              <a:t>이하의 문장</a:t>
            </a:r>
            <a:r>
              <a:rPr lang="en-US" altLang="ko-KR" dirty="0"/>
              <a:t>, </a:t>
            </a:r>
            <a:r>
              <a:rPr lang="ko-KR" altLang="en-US" dirty="0"/>
              <a:t>조건이 거짓이면 </a:t>
            </a:r>
            <a:r>
              <a:rPr lang="en-US" altLang="ko-KR" dirty="0"/>
              <a:t>else </a:t>
            </a:r>
            <a:r>
              <a:rPr lang="ko-KR" altLang="en-US" dirty="0"/>
              <a:t>이하의 문장 실행</a:t>
            </a:r>
            <a:endParaRPr lang="en-US" altLang="ko-KR" dirty="0"/>
          </a:p>
          <a:p>
            <a:r>
              <a:rPr lang="ko-KR" altLang="en-US" dirty="0"/>
              <a:t>두개의 문장이 전부 다 실행될 수는 없겠죠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sz="2400" dirty="0"/>
              <a:t>!! else</a:t>
            </a:r>
            <a:r>
              <a:rPr lang="ko-KR" altLang="en-US" sz="2400" dirty="0"/>
              <a:t>는 조건을 필요로 하지 않아요</a:t>
            </a:r>
            <a:r>
              <a:rPr lang="en-US" altLang="ko-KR" sz="2400" dirty="0"/>
              <a:t>!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5367E8-684E-D08E-9F81-22A1CBA0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305C8-7F13-8B09-ECE6-5CFFB707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8EA0C64-25F4-C2AB-8DB6-829AFE98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BFC7A8-D0D4-D377-721B-4C93FD9167E8}"/>
              </a:ext>
            </a:extLst>
          </p:cNvPr>
          <p:cNvSpPr/>
          <p:nvPr/>
        </p:nvSpPr>
        <p:spPr>
          <a:xfrm>
            <a:off x="1182446" y="2302812"/>
            <a:ext cx="60960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거짓일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549B72-56E1-4B4E-CE49-30569B85E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마지막 </a:t>
            </a:r>
            <a:r>
              <a:rPr lang="en-US" altLang="ko-KR" dirty="0"/>
              <a:t>if</a:t>
            </a:r>
            <a:r>
              <a:rPr lang="ko-KR" altLang="en-US" dirty="0"/>
              <a:t>문의 모양입니다</a:t>
            </a:r>
            <a:r>
              <a:rPr lang="en-US" altLang="ko-KR" dirty="0"/>
              <a:t>! else if</a:t>
            </a:r>
            <a:r>
              <a:rPr lang="ko-KR" altLang="en-US" dirty="0"/>
              <a:t>가 포함된 문장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else if</a:t>
            </a:r>
            <a:r>
              <a:rPr lang="ko-KR" altLang="en-US" dirty="0"/>
              <a:t>도 </a:t>
            </a:r>
            <a:r>
              <a:rPr lang="en-US" altLang="ko-KR" dirty="0"/>
              <a:t>if</a:t>
            </a:r>
            <a:r>
              <a:rPr lang="ko-KR" altLang="en-US" dirty="0"/>
              <a:t>처럼 조건이 필요해요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else</a:t>
            </a:r>
            <a:r>
              <a:rPr lang="ko-KR" altLang="en-US" dirty="0"/>
              <a:t>는 있어도 되고 없어도 됩니다</a:t>
            </a:r>
            <a:r>
              <a:rPr lang="en-US" altLang="ko-KR" dirty="0"/>
              <a:t>. (else</a:t>
            </a:r>
            <a:r>
              <a:rPr lang="ko-KR" altLang="en-US" dirty="0"/>
              <a:t>는 조건 </a:t>
            </a:r>
            <a:r>
              <a:rPr lang="en-US" altLang="ko-KR" dirty="0"/>
              <a:t>x)</a:t>
            </a:r>
          </a:p>
          <a:p>
            <a:pPr lvl="1"/>
            <a:r>
              <a:rPr lang="ko-KR" altLang="en-US" dirty="0"/>
              <a:t>하지만 반드시 </a:t>
            </a:r>
            <a:r>
              <a:rPr lang="en-US" altLang="ko-KR" dirty="0"/>
              <a:t>if</a:t>
            </a:r>
            <a:r>
              <a:rPr lang="ko-KR" altLang="en-US" dirty="0"/>
              <a:t>문이 가장 먼저 나온 이후에 다른 구문이 나와야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DB653-3241-BA4D-8C69-BE2A6201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B7F1D-0DBD-45CB-1965-AD72DCA7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ED9C5E-A513-C330-6988-879D5D7F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 if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4EE7E-72A4-430F-74FD-DB1E5971CFC2}"/>
              </a:ext>
            </a:extLst>
          </p:cNvPr>
          <p:cNvSpPr/>
          <p:nvPr/>
        </p:nvSpPr>
        <p:spPr>
          <a:xfrm>
            <a:off x="1177694" y="2373538"/>
            <a:ext cx="6096000" cy="23391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1 2 3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모두 거짓일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2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6B4EAE-E0E1-8BB8-B428-C939A139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중첩</a:t>
            </a:r>
            <a:r>
              <a:rPr lang="en-US" altLang="ko-KR" dirty="0"/>
              <a:t>, if</a:t>
            </a:r>
            <a:r>
              <a:rPr lang="ko-KR" altLang="en-US" dirty="0"/>
              <a:t>문 안에 또 다른 </a:t>
            </a:r>
            <a:r>
              <a:rPr lang="en-US" altLang="ko-KR" dirty="0"/>
              <a:t>if</a:t>
            </a:r>
            <a:r>
              <a:rPr lang="ko-KR" altLang="en-US" dirty="0"/>
              <a:t>문도 들어갈 수 있어요</a:t>
            </a:r>
            <a:r>
              <a:rPr lang="en-US" altLang="ko-KR" dirty="0"/>
              <a:t>!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10236F-58E4-0B79-13FC-BA2977BB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BD6FE-05CF-275A-FDDD-2DF90F36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0FFA7B6-6C0E-4A0A-02B8-9181BA23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중첩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345AB-902C-1158-5277-09CEE5479664}"/>
              </a:ext>
            </a:extLst>
          </p:cNvPr>
          <p:cNvSpPr/>
          <p:nvPr/>
        </p:nvSpPr>
        <p:spPr>
          <a:xfrm>
            <a:off x="1236944" y="2569540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87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471541-2328-41C4-7318-5CCD252D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비교 연산자</a:t>
            </a:r>
            <a:endParaRPr lang="en-US" altLang="ko-KR" dirty="0"/>
          </a:p>
          <a:p>
            <a:pPr lvl="1"/>
            <a:r>
              <a:rPr lang="en-US" altLang="ko-KR" dirty="0"/>
              <a:t>a == b :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동일하면 참</a:t>
            </a:r>
          </a:p>
          <a:p>
            <a:pPr lvl="1"/>
            <a:r>
              <a:rPr lang="en-US" altLang="ko-KR" dirty="0"/>
              <a:t>a != b :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동일하지 않으면 참</a:t>
            </a:r>
          </a:p>
          <a:p>
            <a:pPr lvl="1"/>
            <a:r>
              <a:rPr lang="en-US" altLang="ko-KR" dirty="0"/>
              <a:t>a &lt; b :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작으면 </a:t>
            </a:r>
            <a:r>
              <a:rPr lang="en-US" altLang="ko-KR" dirty="0"/>
              <a:t>( b</a:t>
            </a:r>
            <a:r>
              <a:rPr lang="ko-KR" altLang="en-US" dirty="0"/>
              <a:t>가 </a:t>
            </a:r>
            <a:r>
              <a:rPr lang="en-US" altLang="ko-KR" dirty="0"/>
              <a:t>a</a:t>
            </a:r>
            <a:r>
              <a:rPr lang="ko-KR" altLang="en-US" dirty="0"/>
              <a:t>보다 크면 </a:t>
            </a:r>
            <a:r>
              <a:rPr lang="en-US" altLang="ko-KR" dirty="0"/>
              <a:t>) </a:t>
            </a:r>
            <a:r>
              <a:rPr lang="ko-KR" altLang="en-US" dirty="0"/>
              <a:t>참</a:t>
            </a:r>
          </a:p>
          <a:p>
            <a:pPr lvl="1"/>
            <a:r>
              <a:rPr lang="en-US" altLang="ko-KR" dirty="0"/>
              <a:t>a &lt;= b :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작거나 같으면 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논리 연산자</a:t>
            </a:r>
            <a:endParaRPr lang="en-US" altLang="ko-KR" dirty="0"/>
          </a:p>
          <a:p>
            <a:pPr lvl="1"/>
            <a:r>
              <a:rPr lang="en-US" altLang="ko-KR" dirty="0"/>
              <a:t>a &amp;&amp; b : a AND b. a </a:t>
            </a:r>
            <a:r>
              <a:rPr lang="ko-KR" altLang="en-US" dirty="0"/>
              <a:t>그리고 </a:t>
            </a:r>
            <a:r>
              <a:rPr lang="en-US" altLang="ko-KR" dirty="0"/>
              <a:t>b</a:t>
            </a:r>
          </a:p>
          <a:p>
            <a:pPr lvl="1"/>
            <a:r>
              <a:rPr lang="en-US" altLang="ko-KR" dirty="0"/>
              <a:t>a || b : a OR b. a </a:t>
            </a:r>
            <a:r>
              <a:rPr lang="ko-KR" altLang="en-US" dirty="0"/>
              <a:t>또는 </a:t>
            </a:r>
            <a:r>
              <a:rPr lang="en-US" altLang="ko-KR" dirty="0"/>
              <a:t>b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E69E2D-FD21-A92A-0019-1289765E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424DA-C5DC-42CA-22B2-94D3A7E4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80DA2B6-1568-15B2-F8B5-C624B0B5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문에서 연산자</a:t>
            </a:r>
          </a:p>
        </p:txBody>
      </p:sp>
    </p:spTree>
    <p:extLst>
      <p:ext uri="{BB962C8B-B14F-4D97-AF65-F5344CB8AC3E}">
        <p14:creationId xmlns:p14="http://schemas.microsoft.com/office/powerpoint/2010/main" val="3392316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연령대별 단어 출력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AFCC2CB-5D69-B9D2-FB5C-3DF1627B5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18" y="1679968"/>
            <a:ext cx="10515600" cy="4351338"/>
          </a:xfrm>
        </p:spPr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마찬가지로 </a:t>
            </a:r>
            <a:r>
              <a:rPr lang="ko-KR" altLang="en-US" dirty="0">
                <a:solidFill>
                  <a:schemeClr val="accent1"/>
                </a:solidFill>
              </a:rPr>
              <a:t>조건문</a:t>
            </a:r>
            <a:r>
              <a:rPr lang="ko-KR" altLang="en-US" dirty="0"/>
              <a:t>이지만 </a:t>
            </a:r>
            <a:r>
              <a:rPr lang="en-US" altLang="ko-KR" dirty="0"/>
              <a:t>switch</a:t>
            </a:r>
            <a:r>
              <a:rPr lang="ko-KR" altLang="en-US" dirty="0"/>
              <a:t>의 소괄호 안에는 </a:t>
            </a:r>
            <a:r>
              <a:rPr lang="en-US" altLang="ko-KR" dirty="0"/>
              <a:t>true, false</a:t>
            </a:r>
            <a:r>
              <a:rPr lang="ko-KR" altLang="en-US" dirty="0"/>
              <a:t>로 값이 나오는 조건이 아닌 변수 사용</a:t>
            </a:r>
            <a:endParaRPr lang="en-US" altLang="ko-KR" dirty="0"/>
          </a:p>
          <a:p>
            <a:r>
              <a:rPr lang="ko-KR" altLang="en-US" dirty="0"/>
              <a:t>변수와 </a:t>
            </a:r>
            <a:r>
              <a:rPr lang="en-US" altLang="ko-KR" dirty="0"/>
              <a:t>case</a:t>
            </a:r>
            <a:r>
              <a:rPr lang="ko-KR" altLang="en-US" dirty="0"/>
              <a:t>의 값이 일치한다면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일 때 각각 실행되는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문장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>
                <a:solidFill>
                  <a:schemeClr val="accent3"/>
                </a:solidFill>
              </a:rPr>
              <a:t>break</a:t>
            </a:r>
            <a:r>
              <a:rPr lang="ko-KR" altLang="en-US" dirty="0"/>
              <a:t>와 </a:t>
            </a:r>
            <a:r>
              <a:rPr lang="en-US" altLang="ko-KR" dirty="0">
                <a:solidFill>
                  <a:schemeClr val="accent3"/>
                </a:solidFill>
              </a:rPr>
              <a:t>default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503426-3F7E-8E44-760A-88C394FF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17513-442A-EB3F-7A11-526DF34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96ADA82-6A6E-7BFA-DF4C-A1FBB26C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DD425-D394-2438-B7FA-05E395C0F228}"/>
              </a:ext>
            </a:extLst>
          </p:cNvPr>
          <p:cNvSpPr/>
          <p:nvPr/>
        </p:nvSpPr>
        <p:spPr>
          <a:xfrm>
            <a:off x="7045925" y="2337987"/>
            <a:ext cx="4805749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switch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값을 모르겠어요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8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725740-85CC-6134-E5EC-A79AE168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조건식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?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참인 경우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: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거짓인 경우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ko-KR" altLang="en-US" dirty="0">
                <a:latin typeface="+mn-ea"/>
              </a:rPr>
              <a:t>한 줄로 간단히 표현 가능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1AF694-DB76-4B04-8035-83CE3B0E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3EF6A-BA7C-702B-39DE-3CB6A5FF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4A68F2A-641E-E952-1743-2CD8EFD4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문을 간단하게 만드는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12CB-60EE-20D6-7A0E-7A85FBF21554}"/>
              </a:ext>
            </a:extLst>
          </p:cNvPr>
          <p:cNvSpPr txBox="1"/>
          <p:nvPr/>
        </p:nvSpPr>
        <p:spPr>
          <a:xfrm>
            <a:off x="926136" y="2767603"/>
            <a:ext cx="10509437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 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3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항 연산자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?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8056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지금은 오전</a:t>
            </a:r>
            <a:r>
              <a:rPr lang="en-US" altLang="ko-KR" dirty="0"/>
              <a:t>? </a:t>
            </a:r>
            <a:r>
              <a:rPr lang="ko-KR" altLang="en-US" dirty="0"/>
              <a:t>오후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057935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 err="1"/>
              <a:t>반복문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19644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2EB20D-A898-691B-CCC2-65F22D88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특정 코드를 반복</a:t>
            </a:r>
            <a:r>
              <a:rPr lang="ko-KR" altLang="en-US" dirty="0"/>
              <a:t>하고 싶을 때 사용합니다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100</a:t>
            </a:r>
            <a:r>
              <a:rPr lang="ko-KR" altLang="en-US" dirty="0"/>
              <a:t>번을 같은 동작을 반복하는데</a:t>
            </a:r>
            <a:r>
              <a:rPr lang="en-US" altLang="ko-KR" dirty="0"/>
              <a:t>, 100</a:t>
            </a:r>
            <a:r>
              <a:rPr lang="ko-KR" altLang="en-US" dirty="0"/>
              <a:t>줄을 쓰면 너무나 비효율적이니까요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lang="en-US" altLang="ko-KR" dirty="0"/>
          </a:p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do ~ while …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4EE84-DC1F-73F1-CC52-EF8268C7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150C8-50D7-E97F-C991-D043498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359CE67-EDB1-39A0-3060-B358E2FE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932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or문 흐름">
            <a:extLst>
              <a:ext uri="{FF2B5EF4-FFF2-40B4-BE49-F238E27FC236}">
                <a16:creationId xmlns:a16="http://schemas.microsoft.com/office/drawing/2014/main" id="{74848961-E8D6-0725-9D7F-A6DE41A8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60" y="1136978"/>
            <a:ext cx="6628279" cy="4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538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F9660209-323F-7181-899C-4178F9D85857}"/>
              </a:ext>
            </a:extLst>
          </p:cNvPr>
          <p:cNvGrpSpPr/>
          <p:nvPr/>
        </p:nvGrpSpPr>
        <p:grpSpPr>
          <a:xfrm>
            <a:off x="4376927" y="757626"/>
            <a:ext cx="3672605" cy="5018162"/>
            <a:chOff x="4649337" y="792795"/>
            <a:chExt cx="3672605" cy="501816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D0302F6-6D71-B532-43DB-AAACFC6B348E}"/>
                </a:ext>
              </a:extLst>
            </p:cNvPr>
            <p:cNvSpPr/>
            <p:nvPr/>
          </p:nvSpPr>
          <p:spPr>
            <a:xfrm>
              <a:off x="4649337" y="792795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초기값</a:t>
              </a:r>
            </a:p>
          </p:txBody>
        </p:sp>
        <p:sp>
          <p:nvSpPr>
            <p:cNvPr id="17" name="순서도: 판단 16">
              <a:extLst>
                <a:ext uri="{FF2B5EF4-FFF2-40B4-BE49-F238E27FC236}">
                  <a16:creationId xmlns:a16="http://schemas.microsoft.com/office/drawing/2014/main" id="{B947C037-210C-3F2D-E8BF-A4AC3E7BF963}"/>
                </a:ext>
              </a:extLst>
            </p:cNvPr>
            <p:cNvSpPr/>
            <p:nvPr/>
          </p:nvSpPr>
          <p:spPr>
            <a:xfrm>
              <a:off x="4649337" y="1778506"/>
              <a:ext cx="2893325" cy="100993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 err="1"/>
                <a:t>조건문</a:t>
              </a:r>
              <a:endParaRPr lang="ko-KR" altLang="en-US" sz="28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72E11ED-E89D-70CE-C23D-DF103FBCCFD0}"/>
                </a:ext>
              </a:extLst>
            </p:cNvPr>
            <p:cNvSpPr/>
            <p:nvPr/>
          </p:nvSpPr>
          <p:spPr>
            <a:xfrm>
              <a:off x="4649337" y="3173649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명령문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9E918E2-6FC4-1FF1-3B30-39C3DCC7491E}"/>
                </a:ext>
              </a:extLst>
            </p:cNvPr>
            <p:cNvSpPr/>
            <p:nvPr/>
          </p:nvSpPr>
          <p:spPr>
            <a:xfrm>
              <a:off x="4649337" y="4247508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 err="1"/>
                <a:t>증감문</a:t>
              </a:r>
              <a:endParaRPr lang="ko-KR" altLang="en-US" sz="28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1B46E0B-BDDA-8E73-143E-1724AD5311AF}"/>
                </a:ext>
              </a:extLst>
            </p:cNvPr>
            <p:cNvSpPr/>
            <p:nvPr/>
          </p:nvSpPr>
          <p:spPr>
            <a:xfrm>
              <a:off x="4649337" y="5210455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종료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37E8D75-745B-7AEB-7374-D5BE64800909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6096000" y="2788440"/>
              <a:ext cx="0" cy="3852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E096B3F7-46DD-AD51-94A4-85C3E77719D3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6096000" y="3774151"/>
              <a:ext cx="0" cy="47335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581B570-DCE4-6031-529F-AA006F97C0A4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6096000" y="4848010"/>
              <a:ext cx="0" cy="3624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34B9C051-C4BA-0D25-5A49-1472A60A65AE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6096000" y="1393297"/>
              <a:ext cx="0" cy="3852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1">
              <a:extLst>
                <a:ext uri="{FF2B5EF4-FFF2-40B4-BE49-F238E27FC236}">
                  <a16:creationId xmlns:a16="http://schemas.microsoft.com/office/drawing/2014/main" id="{A28C63EE-B0D9-C529-BE9E-7330469DC2E1}"/>
                </a:ext>
              </a:extLst>
            </p:cNvPr>
            <p:cNvCxnSpPr>
              <a:cxnSpLocks/>
              <a:stCxn id="19" idx="1"/>
              <a:endCxn id="17" idx="1"/>
            </p:cNvCxnSpPr>
            <p:nvPr/>
          </p:nvCxnSpPr>
          <p:spPr>
            <a:xfrm rot="10800000">
              <a:off x="4649337" y="2283473"/>
              <a:ext cx="12700" cy="2264286"/>
            </a:xfrm>
            <a:prstGeom prst="bentConnector3">
              <a:avLst>
                <a:gd name="adj1" fmla="val 5991047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1">
              <a:extLst>
                <a:ext uri="{FF2B5EF4-FFF2-40B4-BE49-F238E27FC236}">
                  <a16:creationId xmlns:a16="http://schemas.microsoft.com/office/drawing/2014/main" id="{F6D6675D-DD75-E40E-70CD-08BEB6FBFC3E}"/>
                </a:ext>
              </a:extLst>
            </p:cNvPr>
            <p:cNvCxnSpPr>
              <a:cxnSpLocks/>
              <a:stCxn id="17" idx="3"/>
              <a:endCxn id="20" idx="3"/>
            </p:cNvCxnSpPr>
            <p:nvPr/>
          </p:nvCxnSpPr>
          <p:spPr>
            <a:xfrm>
              <a:off x="7542662" y="2283473"/>
              <a:ext cx="12700" cy="3227233"/>
            </a:xfrm>
            <a:prstGeom prst="bentConnector3">
              <a:avLst>
                <a:gd name="adj1" fmla="val 7280598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B77B53-02D4-8AA9-D283-23CB8F6ED60C}"/>
                </a:ext>
              </a:extLst>
            </p:cNvPr>
            <p:cNvSpPr txBox="1"/>
            <p:nvPr/>
          </p:nvSpPr>
          <p:spPr>
            <a:xfrm>
              <a:off x="6203296" y="2750775"/>
              <a:ext cx="4106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D893E2B-276A-0D9A-5005-42E3C3BDBD50}"/>
                </a:ext>
              </a:extLst>
            </p:cNvPr>
            <p:cNvSpPr txBox="1"/>
            <p:nvPr/>
          </p:nvSpPr>
          <p:spPr>
            <a:xfrm>
              <a:off x="7690038" y="1822861"/>
              <a:ext cx="631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rgbClr val="FF0000"/>
                  </a:solidFill>
                </a:rPr>
                <a:t>거짓</a:t>
              </a:r>
              <a:endParaRPr lang="ko-KR" altLang="en-US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6769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D82798-5374-50D8-0166-8D059E7C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CAF76-C20F-DC20-2DEC-F64D737E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1A9DE3C-C243-E510-4B39-997AA6E5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07EC3-DC89-FDF2-4CAB-F9F0FF57D02C}"/>
              </a:ext>
            </a:extLst>
          </p:cNvPr>
          <p:cNvSpPr txBox="1"/>
          <p:nvPr/>
        </p:nvSpPr>
        <p:spPr>
          <a:xfrm>
            <a:off x="838200" y="3274513"/>
            <a:ext cx="6623237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for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E017E8-BF34-F8D5-0B4B-7BAEEEC6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10" y="3266764"/>
            <a:ext cx="2786204" cy="2799286"/>
          </a:xfrm>
          <a:prstGeom prst="rect">
            <a:avLst/>
          </a:prstGeom>
        </p:spPr>
      </p:pic>
      <p:pic>
        <p:nvPicPr>
          <p:cNvPr id="9" name="Picture 2" descr="for문 흐름">
            <a:extLst>
              <a:ext uri="{FF2B5EF4-FFF2-40B4-BE49-F238E27FC236}">
                <a16:creationId xmlns:a16="http://schemas.microsoft.com/office/drawing/2014/main" id="{AB376F7E-41B8-B903-0B54-C0A700B3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84" y="398349"/>
            <a:ext cx="3857641" cy="26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8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E146D9-C95B-B1E5-752A-848BA2451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8"/>
            <a:ext cx="10515600" cy="4351338"/>
          </a:xfrm>
        </p:spPr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if </a:t>
            </a:r>
            <a:r>
              <a:rPr lang="ko-KR" altLang="en-US" dirty="0"/>
              <a:t>문이 가능하듯 </a:t>
            </a:r>
            <a:r>
              <a:rPr lang="en-US" altLang="ko-KR" dirty="0"/>
              <a:t>for</a:t>
            </a:r>
            <a:r>
              <a:rPr lang="ko-KR" altLang="en-US" dirty="0"/>
              <a:t>문도 중첩이 가능하다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B7242-71AF-15C0-83CC-25E3DAD9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CAE97-B21E-53F9-4106-24D2D23B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4A0EF3-D247-E6B8-BF5A-FA3AC3E8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15BAA0-792F-CE82-286A-DDD886D0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120" y="2871879"/>
            <a:ext cx="4773759" cy="22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42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C3F1B-A936-8299-F4DC-DF35845F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50" y="3041624"/>
            <a:ext cx="10883900" cy="321102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for </a:t>
            </a:r>
            <a:r>
              <a:rPr lang="ko-KR" altLang="en-US" dirty="0">
                <a:latin typeface="+mn-ea"/>
              </a:rPr>
              <a:t>문과는 달리 값을 제어하는 구문이 기본적으로 포함이 되어 있지 않기 때문에 무한 루프 가능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조건이 항상 참이라면</a:t>
            </a:r>
            <a:r>
              <a:rPr lang="en-US" altLang="ko-KR" dirty="0">
                <a:latin typeface="+mn-ea"/>
              </a:rPr>
              <a:t>? while</a:t>
            </a:r>
            <a:r>
              <a:rPr lang="ko-KR" altLang="en-US" dirty="0">
                <a:latin typeface="+mn-ea"/>
              </a:rPr>
              <a:t>문을 빠져나가지 못하고 끝없이 반복하겠지요</a:t>
            </a:r>
            <a:r>
              <a:rPr lang="en-US" altLang="ko-KR" dirty="0">
                <a:latin typeface="+mn-ea"/>
              </a:rPr>
              <a:t>?</a:t>
            </a:r>
          </a:p>
          <a:p>
            <a:r>
              <a:rPr lang="ko-KR" altLang="en-US" dirty="0">
                <a:latin typeface="+mn-ea"/>
              </a:rPr>
              <a:t>따라서 주의하여 사용 필요합니다</a:t>
            </a:r>
            <a:r>
              <a:rPr lang="en-US" altLang="ko-KR" dirty="0">
                <a:latin typeface="+mn-ea"/>
              </a:rPr>
              <a:t>!</a:t>
            </a:r>
            <a:br>
              <a:rPr lang="en-US" altLang="ko-KR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58CB3C-43DD-1458-C094-56ABBC4D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905F9-7A94-17BA-7F27-0B8F6153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7211F31-F22A-206A-645D-727DA0F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EF6DBA-0BA5-E981-64BD-0A3925308157}"/>
              </a:ext>
            </a:extLst>
          </p:cNvPr>
          <p:cNvSpPr/>
          <p:nvPr/>
        </p:nvSpPr>
        <p:spPr>
          <a:xfrm>
            <a:off x="654050" y="1566790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4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조건이 참일 때 실행할 코드</a:t>
            </a:r>
            <a:endParaRPr lang="ko-KR" altLang="en-US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00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DE6412-FF2F-E1DD-CA66-B6D0F6C5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187" y="387767"/>
            <a:ext cx="2771937" cy="4748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EDA4F6-0A28-9D38-29A7-17C14D53B100}"/>
              </a:ext>
            </a:extLst>
          </p:cNvPr>
          <p:cNvSpPr txBox="1"/>
          <p:nvPr/>
        </p:nvSpPr>
        <p:spPr>
          <a:xfrm>
            <a:off x="561974" y="387767"/>
            <a:ext cx="7191375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1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2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사용하지 않고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 break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절을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5488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2AF67-D7E2-E448-913D-2A13A83752B8}"/>
              </a:ext>
            </a:extLst>
          </p:cNvPr>
          <p:cNvSpPr txBox="1"/>
          <p:nvPr/>
        </p:nvSpPr>
        <p:spPr>
          <a:xfrm>
            <a:off x="2710734" y="1693856"/>
            <a:ext cx="6096000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구구단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버전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"="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11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/>
              <a:t>구구단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구구단 출력하기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45953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772AE6-8505-00CF-A012-4B53C0E4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F5B2B-20EE-0229-69BE-E1460B9B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7317199-4298-2814-22BB-832AD03A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break</a:t>
            </a:r>
            <a:r>
              <a:rPr lang="ko-KR" altLang="en-US" sz="8000" dirty="0"/>
              <a:t> </a:t>
            </a:r>
            <a:r>
              <a:rPr lang="en-US" altLang="ko-KR" sz="8000" dirty="0"/>
              <a:t>&amp;</a:t>
            </a:r>
            <a:r>
              <a:rPr lang="ko-KR" altLang="en-US" sz="8000" dirty="0"/>
              <a:t> </a:t>
            </a:r>
            <a:r>
              <a:rPr lang="en-US" altLang="ko-KR" sz="8000" dirty="0"/>
              <a:t>continue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005162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3BC4852-5274-5C13-DB4E-9F18E95E8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반복문을 멈추고 빠져나감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D4BA5-10D1-51C6-BB4E-2943FC98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9279A-9681-08F8-FC61-918F0FE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B9ED4A9-E865-7A54-5B51-664110DA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287F3-6EF3-158F-BB22-DD28618A3D12}"/>
              </a:ext>
            </a:extLst>
          </p:cNvPr>
          <p:cNvSpPr txBox="1"/>
          <p:nvPr/>
        </p:nvSpPr>
        <p:spPr>
          <a:xfrm>
            <a:off x="1162653" y="2614436"/>
            <a:ext cx="6096000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break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멈춰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DC0984-9B65-A7A1-5028-17AADA98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583" y="1905140"/>
            <a:ext cx="1107465" cy="40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81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EF26CA-5F83-A6D7-AA86-FEE70D39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반복문을 이번 반복 </a:t>
            </a:r>
            <a:r>
              <a:rPr lang="ko-KR" altLang="en-US" dirty="0" err="1"/>
              <a:t>회차를</a:t>
            </a:r>
            <a:r>
              <a:rPr lang="ko-KR" altLang="en-US" dirty="0"/>
              <a:t> </a:t>
            </a:r>
            <a:r>
              <a:rPr lang="ko-KR" altLang="en-US" dirty="0" err="1"/>
              <a:t>스킵하고</a:t>
            </a:r>
            <a:r>
              <a:rPr lang="ko-KR" altLang="en-US" dirty="0"/>
              <a:t> 다음 반복 </a:t>
            </a:r>
            <a:r>
              <a:rPr lang="ko-KR" altLang="en-US" dirty="0" err="1"/>
              <a:t>회차로</a:t>
            </a:r>
            <a:r>
              <a:rPr lang="ko-KR" altLang="en-US" dirty="0"/>
              <a:t> 진행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CB3291-7F70-190E-870D-60B4819C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6A841-CD08-A7EB-DAB7-BCA24C4E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7752CA-1238-CBBC-AD68-3812D1A9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74A23-F739-BFE2-6C20-EDA8347B3924}"/>
              </a:ext>
            </a:extLst>
          </p:cNvPr>
          <p:cNvSpPr txBox="1"/>
          <p:nvPr/>
        </p:nvSpPr>
        <p:spPr>
          <a:xfrm>
            <a:off x="1186099" y="2452802"/>
            <a:ext cx="60960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nn-NO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continue</a:t>
            </a:r>
            <a:endParaRPr lang="nn-NO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nn-NO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%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continue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+=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/>
            </a:r>
            <a:b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nn-NO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95F052-8360-B821-20BB-F7EA41D2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522" y="2452802"/>
            <a:ext cx="1389996" cy="74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07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/>
              <a:t>배수 찾기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 찾기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159761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/>
              <a:t>배수의 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배수의 합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54221371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4499</TotalTime>
  <Words>1195</Words>
  <Application>Microsoft Office PowerPoint</Application>
  <PresentationFormat>와이드스크린</PresentationFormat>
  <Paragraphs>453</Paragraphs>
  <Slides>38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50" baseType="lpstr">
      <vt:lpstr>G마켓 산스 TTF Bold</vt:lpstr>
      <vt:lpstr>Kim jung chul Gothic Regular</vt:lpstr>
      <vt:lpstr>Noto Sans KR</vt:lpstr>
      <vt:lpstr>PretendardGOV</vt:lpstr>
      <vt:lpstr>ui-sans-serif</vt:lpstr>
      <vt:lpstr>굴림</vt:lpstr>
      <vt:lpstr>맑은 고딕</vt:lpstr>
      <vt:lpstr>메이플스토리</vt:lpstr>
      <vt:lpstr>Arial</vt:lpstr>
      <vt:lpstr>Consolas</vt:lpstr>
      <vt:lpstr>Wingdings</vt:lpstr>
      <vt:lpstr>2_Office 테마</vt:lpstr>
      <vt:lpstr>웹 개발자 부트캠프 과정</vt:lpstr>
      <vt:lpstr>JavaScript 함수</vt:lpstr>
      <vt:lpstr>함수</vt:lpstr>
      <vt:lpstr>JavaScript 함수</vt:lpstr>
      <vt:lpstr>JavaScript 함수</vt:lpstr>
      <vt:lpstr>JavaScript 함수</vt:lpstr>
      <vt:lpstr>JavaScript 함수</vt:lpstr>
      <vt:lpstr>JavaScript 함수</vt:lpstr>
      <vt:lpstr>함수 선언 방식</vt:lpstr>
      <vt:lpstr>다양한 함수 표현식 사용하기</vt:lpstr>
      <vt:lpstr>함수의 형태</vt:lpstr>
      <vt:lpstr>실습.  함수 만들기 실습</vt:lpstr>
      <vt:lpstr>조건문</vt:lpstr>
      <vt:lpstr>조건문</vt:lpstr>
      <vt:lpstr>if 문</vt:lpstr>
      <vt:lpstr>if와 else</vt:lpstr>
      <vt:lpstr>if와 else if</vt:lpstr>
      <vt:lpstr>if 중첩</vt:lpstr>
      <vt:lpstr>if 문에서 연산자</vt:lpstr>
      <vt:lpstr>실습. 연령대별 단어 출력</vt:lpstr>
      <vt:lpstr>switch 문</vt:lpstr>
      <vt:lpstr>if 문을 간단하게 만드는 삼항 연산자</vt:lpstr>
      <vt:lpstr>실습. 지금은 오전? 오후?</vt:lpstr>
      <vt:lpstr>반복문</vt:lpstr>
      <vt:lpstr>반복문</vt:lpstr>
      <vt:lpstr>PowerPoint 프레젠테이션</vt:lpstr>
      <vt:lpstr>PowerPoint 프레젠테이션</vt:lpstr>
      <vt:lpstr>for 문</vt:lpstr>
      <vt:lpstr>중첩 for 문</vt:lpstr>
      <vt:lpstr>while 문</vt:lpstr>
      <vt:lpstr>PowerPoint 프레젠테이션</vt:lpstr>
      <vt:lpstr>PowerPoint 프레젠테이션</vt:lpstr>
      <vt:lpstr>실습.  구구단 만들기</vt:lpstr>
      <vt:lpstr>break &amp; continue</vt:lpstr>
      <vt:lpstr>break</vt:lpstr>
      <vt:lpstr>continue</vt:lpstr>
      <vt:lpstr>실습.  배수 찾기</vt:lpstr>
      <vt:lpstr>실습.  배수의 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133</cp:revision>
  <dcterms:created xsi:type="dcterms:W3CDTF">2022-06-26T11:10:22Z</dcterms:created>
  <dcterms:modified xsi:type="dcterms:W3CDTF">2024-11-26T15:58:15Z</dcterms:modified>
</cp:coreProperties>
</file>