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356" r:id="rId2"/>
    <p:sldId id="352" r:id="rId3"/>
    <p:sldId id="353" r:id="rId4"/>
    <p:sldId id="354" r:id="rId5"/>
    <p:sldId id="355" r:id="rId6"/>
    <p:sldId id="329" r:id="rId7"/>
    <p:sldId id="328" r:id="rId8"/>
    <p:sldId id="330" r:id="rId9"/>
    <p:sldId id="359" r:id="rId10"/>
    <p:sldId id="357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C173"/>
    <a:srgbClr val="F99F2C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6" autoAdjust="0"/>
    <p:restoredTop sz="72154" autoAdjust="0"/>
  </p:normalViewPr>
  <p:slideViewPr>
    <p:cSldViewPr snapToGrid="0">
      <p:cViewPr varScale="1">
        <p:scale>
          <a:sx n="83" d="100"/>
          <a:sy n="83" d="100"/>
        </p:scale>
        <p:origin x="8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496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54066-EAB3-47E6-8323-EC023024973E}" type="datetimeFigureOut">
              <a:rPr lang="ko-KR" altLang="en-US" smtClean="0"/>
              <a:t>2023-07-31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133F9-8A13-4C66-9B17-24C879212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1555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2023-07-31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829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132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1" i="0" dirty="0">
                <a:solidFill>
                  <a:srgbClr val="000000"/>
                </a:solidFill>
                <a:effectLst/>
                <a:latin typeface="Ubuntu Condensed" panose="020B0604020202020204" pitchFamily="34" charset="0"/>
              </a:rPr>
              <a:t>🚗 프레임워크</a:t>
            </a:r>
            <a:endParaRPr lang="ko-KR" altLang="en-US" b="0" i="0" dirty="0">
              <a:solidFill>
                <a:srgbClr val="000000"/>
              </a:solidFill>
              <a:effectLst/>
              <a:latin typeface="Ubuntu Condensed" panose="020B0604020202020204" pitchFamily="34" charset="0"/>
            </a:endParaRPr>
          </a:p>
          <a:p>
            <a:pPr algn="l"/>
            <a:r>
              <a:rPr lang="en-US" altLang="ko-KR" dirty="0"/>
              <a:t>SW </a:t>
            </a:r>
            <a:r>
              <a:rPr lang="ko-KR" altLang="en-US" dirty="0"/>
              <a:t>의 특정 문제를 해결하기 위해서 상호 협력하는 클래스와 인터페이스의 집합</a:t>
            </a:r>
            <a:endParaRPr lang="en-US" altLang="ko-KR" dirty="0"/>
          </a:p>
          <a:p>
            <a:pPr algn="l"/>
            <a:r>
              <a:rPr lang="en-US" altLang="ko-KR" dirty="0"/>
              <a:t>IoC(</a:t>
            </a:r>
            <a:r>
              <a:rPr lang="ko-KR" altLang="en-US" dirty="0"/>
              <a:t>제어의 역전</a:t>
            </a:r>
            <a:r>
              <a:rPr lang="en-US" altLang="ko-KR" dirty="0"/>
              <a:t>, Inversion of Control) </a:t>
            </a:r>
            <a:r>
              <a:rPr lang="ko-KR" altLang="en-US" dirty="0"/>
              <a:t>적용됨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프레임워크는 전체적인 흐름을 자체적으로 지님 </a:t>
            </a:r>
            <a:r>
              <a:rPr lang="en-US" altLang="ko-KR" dirty="0"/>
              <a:t>-&gt; </a:t>
            </a:r>
            <a:r>
              <a:rPr lang="ko-KR" altLang="en-US" dirty="0"/>
              <a:t>개발자가 그 안에서 필요한 코드를 활용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b="1" dirty="0"/>
          </a:p>
          <a:p>
            <a:pPr algn="l"/>
            <a:r>
              <a:rPr lang="ko-KR" altLang="en-US" b="1" i="0" dirty="0">
                <a:solidFill>
                  <a:srgbClr val="000000"/>
                </a:solidFill>
                <a:effectLst/>
                <a:latin typeface="Ubuntu Condensed" panose="020B0506030602030204" pitchFamily="34" charset="0"/>
              </a:rPr>
              <a:t>📚 라이브러리</a:t>
            </a:r>
          </a:p>
          <a:p>
            <a:pPr algn="l"/>
            <a:r>
              <a:rPr lang="ko-KR" altLang="en-US" dirty="0"/>
              <a:t>단순 활용이 가능한 도구들의 집합</a:t>
            </a:r>
            <a:endParaRPr lang="en-US" altLang="ko-KR" dirty="0"/>
          </a:p>
          <a:p>
            <a:pPr algn="l"/>
            <a:r>
              <a:rPr lang="ko-KR" altLang="en-US" dirty="0"/>
              <a:t>사용자가 흐름에 대한 제어를 하여 필요한 상황에 가져다 씀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142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909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49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135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501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007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7821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094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폰트, 텍스트, 로고, 그래픽이(가) 표시된 사진&#10;&#10;자동 생성된 설명">
            <a:extLst>
              <a:ext uri="{FF2B5EF4-FFF2-40B4-BE49-F238E27FC236}">
                <a16:creationId xmlns:a16="http://schemas.microsoft.com/office/drawing/2014/main" id="{01AB1409-DEDF-C824-D8D3-05B260A93B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3" y="103811"/>
            <a:ext cx="4328535" cy="228080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26026682-DE15-5F01-6FA7-8F46F9ABCC2A}"/>
              </a:ext>
            </a:extLst>
          </p:cNvPr>
          <p:cNvSpPr txBox="1">
            <a:spLocks/>
          </p:cNvSpPr>
          <p:nvPr userDrawn="1"/>
        </p:nvSpPr>
        <p:spPr>
          <a:xfrm>
            <a:off x="9110749" y="5933035"/>
            <a:ext cx="29485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2000" u="none" dirty="0"/>
              <a:t>With. </a:t>
            </a:r>
            <a:r>
              <a:rPr lang="ko-KR" altLang="en-US" sz="2000" u="none" dirty="0"/>
              <a:t>팀 </a:t>
            </a:r>
            <a:r>
              <a:rPr lang="ko-KR" altLang="en-US" sz="2000" u="none" dirty="0" err="1"/>
              <a:t>뤼쳐드</a:t>
            </a:r>
            <a:endParaRPr lang="ko-KR" altLang="en-US" sz="2000" u="none" dirty="0"/>
          </a:p>
        </p:txBody>
      </p:sp>
    </p:spTree>
    <p:extLst>
      <p:ext uri="{BB962C8B-B14F-4D97-AF65-F5344CB8AC3E}">
        <p14:creationId xmlns:p14="http://schemas.microsoft.com/office/powerpoint/2010/main" val="3823493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10000" b="0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45172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25098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400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791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438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947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452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282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864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090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08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CFFA81A6-6D9A-9C22-6A01-103FCC7108B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576" y="140110"/>
            <a:ext cx="1026976" cy="2051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8CEA0B-0194-B9A0-705F-CAB04B3523DA}"/>
              </a:ext>
            </a:extLst>
          </p:cNvPr>
          <p:cNvSpPr txBox="1"/>
          <p:nvPr userDrawn="1"/>
        </p:nvSpPr>
        <p:spPr>
          <a:xfrm>
            <a:off x="10814758" y="104713"/>
            <a:ext cx="227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X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pic>
        <p:nvPicPr>
          <p:cNvPr id="11" name="Picture 4" descr="청년취업사관학교, 새싹(SeSAC) - YouTube">
            <a:extLst>
              <a:ext uri="{FF2B5EF4-FFF2-40B4-BE49-F238E27FC236}">
                <a16:creationId xmlns:a16="http://schemas.microsoft.com/office/drawing/2014/main" id="{AD5D531A-42B5-6D12-7A47-FFEB75D29C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hq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2653" y="54125"/>
            <a:ext cx="371243" cy="37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9783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getbootstrap.com/docs/5.2/getting-started/introduction/" TargetMode="Externa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2/examples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cons.getbootstrap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fonts.google.com/icons" TargetMode="External"/><Relationship Id="rId4" Type="http://schemas.openxmlformats.org/officeDocument/2006/relationships/hyperlink" Target="https://fontawesome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hemes.getbootstrap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ailwindcss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hyperlink" Target="https://bulma.io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SeSAC</a:t>
            </a:r>
            <a:r>
              <a:rPr lang="en-US" altLang="ko-KR" dirty="0"/>
              <a:t> x </a:t>
            </a:r>
            <a:r>
              <a:rPr lang="en-US" altLang="ko-KR" dirty="0" err="1"/>
              <a:t>CODINGOn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FBCE7-C9F3-4E11-8AB9-1C50FDF9BE9D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3897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0E118-13FA-729A-60AF-684E084F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2BFAC-6F7B-4E33-BE8B-E86855CAF006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786A31-D818-35BC-E175-84E0289F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1DA36C-65CF-DE57-B375-6D86D2A7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Bootstrap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D05DCB7-AD04-98BC-4552-F188A7F03DB7}"/>
              </a:ext>
            </a:extLst>
          </p:cNvPr>
          <p:cNvSpPr txBox="1">
            <a:spLocks/>
          </p:cNvSpPr>
          <p:nvPr/>
        </p:nvSpPr>
        <p:spPr>
          <a:xfrm>
            <a:off x="3846723" y="1677788"/>
            <a:ext cx="7350080" cy="2319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ko-KR" altLang="en-US" dirty="0"/>
              <a:t>웹 사이트를 쉽게 만들 수 있게 도와주는 공개 </a:t>
            </a:r>
            <a:r>
              <a:rPr lang="en-US" altLang="ko-KR" dirty="0"/>
              <a:t>HTML, CSS, JS </a:t>
            </a:r>
            <a:r>
              <a:rPr lang="ko-KR" altLang="en-US" dirty="0">
                <a:solidFill>
                  <a:schemeClr val="accent1"/>
                </a:solidFill>
              </a:rPr>
              <a:t>프레임워크</a:t>
            </a:r>
            <a:endParaRPr lang="en-US" altLang="ko-KR" dirty="0">
              <a:solidFill>
                <a:schemeClr val="accent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66AA8F6-BAFA-629C-9744-AD3166EB5DFD}"/>
              </a:ext>
            </a:extLst>
          </p:cNvPr>
          <p:cNvSpPr/>
          <p:nvPr/>
        </p:nvSpPr>
        <p:spPr>
          <a:xfrm>
            <a:off x="3846723" y="3292520"/>
            <a:ext cx="7350080" cy="1154028"/>
          </a:xfrm>
          <a:prstGeom prst="roundRect">
            <a:avLst/>
          </a:prstGeom>
          <a:ln w="38100">
            <a:solidFill>
              <a:srgbClr val="6EC17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accent1"/>
                </a:solidFill>
              </a:rPr>
              <a:t>프레임워크</a:t>
            </a:r>
            <a:r>
              <a:rPr lang="ko-KR" altLang="en-US" sz="2400" dirty="0"/>
              <a:t>란</a:t>
            </a:r>
            <a:r>
              <a:rPr lang="en-US" altLang="ko-KR" sz="2400" dirty="0"/>
              <a:t>? </a:t>
            </a:r>
          </a:p>
          <a:p>
            <a:pPr algn="ctr"/>
            <a:endParaRPr lang="en-US" altLang="ko-KR" sz="1000" dirty="0"/>
          </a:p>
          <a:p>
            <a:pPr algn="ctr"/>
            <a:r>
              <a:rPr lang="ko-KR" altLang="en-US" dirty="0"/>
              <a:t>어떤 프로그램을 만들기 위한 기본 틀</a:t>
            </a:r>
            <a:endParaRPr lang="en-US" altLang="ko-KR" dirty="0"/>
          </a:p>
        </p:txBody>
      </p:sp>
      <p:pic>
        <p:nvPicPr>
          <p:cNvPr id="3" name="Picture 2" descr="Bootstrap · 세계에서 가장 인기있는 HTML, CSS, JS 라이브러리.">
            <a:extLst>
              <a:ext uri="{FF2B5EF4-FFF2-40B4-BE49-F238E27FC236}">
                <a16:creationId xmlns:a16="http://schemas.microsoft.com/office/drawing/2014/main" id="{5938431A-87D7-DC99-1BCE-943DDADD6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130" y="172640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0249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C43D55F8-49FB-2A49-7338-AE0F87C12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6335" y="5361759"/>
            <a:ext cx="2106223" cy="62285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ko-KR" altLang="en-US" sz="3600" dirty="0"/>
              <a:t>프레임워크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121C12-01C8-2680-C97E-DC639A226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E3B55-60D5-42A8-8975-211B117686E3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F91E01-FFEB-0525-B6D5-2AE4E8361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5DC0481-1963-4297-B79D-1E16C966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프레임워크 </a:t>
            </a:r>
            <a:r>
              <a:rPr lang="en-US" altLang="ko-KR" dirty="0"/>
              <a:t>vs </a:t>
            </a:r>
            <a:r>
              <a:rPr lang="ko-KR" altLang="en-US" dirty="0"/>
              <a:t>라이브러리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419C8B6-04D6-383E-2CF4-F79FF40F316F}"/>
              </a:ext>
            </a:extLst>
          </p:cNvPr>
          <p:cNvSpPr/>
          <p:nvPr/>
        </p:nvSpPr>
        <p:spPr>
          <a:xfrm>
            <a:off x="1000264" y="1756214"/>
            <a:ext cx="4238367" cy="3398108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D8FE67-DF6E-199C-A56F-33E955CBE9E7}"/>
              </a:ext>
            </a:extLst>
          </p:cNvPr>
          <p:cNvSpPr/>
          <p:nvPr/>
        </p:nvSpPr>
        <p:spPr>
          <a:xfrm>
            <a:off x="2915562" y="1780927"/>
            <a:ext cx="2298356" cy="1983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/>
              <a:t>거실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2CEE74-C57C-2840-6CD6-4AC155ECA863}"/>
              </a:ext>
            </a:extLst>
          </p:cNvPr>
          <p:cNvSpPr/>
          <p:nvPr/>
        </p:nvSpPr>
        <p:spPr>
          <a:xfrm>
            <a:off x="1024978" y="1780929"/>
            <a:ext cx="1890584" cy="13715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/>
              <a:t>방</a:t>
            </a:r>
            <a:r>
              <a:rPr lang="en-US" altLang="ko-KR" sz="2800" dirty="0"/>
              <a:t>1</a:t>
            </a:r>
            <a:endParaRPr lang="ko-KR" altLang="en-US" sz="28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70C102-CD7D-3E42-CBA7-F23981A05AEF}"/>
              </a:ext>
            </a:extLst>
          </p:cNvPr>
          <p:cNvSpPr/>
          <p:nvPr/>
        </p:nvSpPr>
        <p:spPr>
          <a:xfrm>
            <a:off x="2915562" y="3764186"/>
            <a:ext cx="2298356" cy="13715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/>
              <a:t>방</a:t>
            </a:r>
            <a:r>
              <a:rPr lang="en-US" altLang="ko-KR" sz="2800" dirty="0"/>
              <a:t>2</a:t>
            </a:r>
            <a:endParaRPr lang="ko-KR" altLang="en-US" sz="28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C78329A-C5FA-2CFE-FEE9-7806EBA8F42E}"/>
              </a:ext>
            </a:extLst>
          </p:cNvPr>
          <p:cNvSpPr/>
          <p:nvPr/>
        </p:nvSpPr>
        <p:spPr>
          <a:xfrm>
            <a:off x="1024978" y="3152528"/>
            <a:ext cx="1041357" cy="13715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화장실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172E6210-1928-4802-DE10-4D2E03EC1A4A}"/>
              </a:ext>
            </a:extLst>
          </p:cNvPr>
          <p:cNvSpPr txBox="1">
            <a:spLocks/>
          </p:cNvSpPr>
          <p:nvPr/>
        </p:nvSpPr>
        <p:spPr>
          <a:xfrm>
            <a:off x="8042890" y="5361759"/>
            <a:ext cx="2106223" cy="6228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3600" dirty="0"/>
              <a:t>라이브러리</a:t>
            </a:r>
          </a:p>
        </p:txBody>
      </p:sp>
      <p:pic>
        <p:nvPicPr>
          <p:cNvPr id="2052" name="Picture 4" descr="리빙가구 | FURNITURE | 에이스침대">
            <a:extLst>
              <a:ext uri="{FF2B5EF4-FFF2-40B4-BE49-F238E27FC236}">
                <a16:creationId xmlns:a16="http://schemas.microsoft.com/office/drawing/2014/main" id="{8B618BB9-C2EA-7D8D-275F-57773FEB92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8" t="27246" r="7855" b="27142"/>
          <a:stretch/>
        </p:blipFill>
        <p:spPr bwMode="auto">
          <a:xfrm>
            <a:off x="8752455" y="1567212"/>
            <a:ext cx="2875883" cy="1572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가구 | 오늘의집 스토어">
            <a:extLst>
              <a:ext uri="{FF2B5EF4-FFF2-40B4-BE49-F238E27FC236}">
                <a16:creationId xmlns:a16="http://schemas.microsoft.com/office/drawing/2014/main" id="{F91AEA9B-3E71-1B32-321B-1DD76F894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039" y="3015873"/>
            <a:ext cx="2399429" cy="2399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LG 일반냉장고 | B600S51 | LG전자">
            <a:extLst>
              <a:ext uri="{FF2B5EF4-FFF2-40B4-BE49-F238E27FC236}">
                <a16:creationId xmlns:a16="http://schemas.microsoft.com/office/drawing/2014/main" id="{B16CB3DA-6250-5241-F004-E9A6041CC3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5" t="9099" r="23133" b="5572"/>
          <a:stretch/>
        </p:blipFill>
        <p:spPr bwMode="auto">
          <a:xfrm>
            <a:off x="6626327" y="1966038"/>
            <a:ext cx="1767017" cy="292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241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D6AEEE-FC9F-73F2-C957-9A16000E7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5555" y="3389093"/>
            <a:ext cx="5257800" cy="633370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>
                <a:hlinkClick r:id="rId3"/>
              </a:rPr>
              <a:t>https://getbootstrap.com/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121C12-01C8-2680-C97E-DC639A226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76D4-76B4-4791-A395-DC8DC63F6814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F91E01-FFEB-0525-B6D5-2AE4E8361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5DC0481-1963-4297-B79D-1E16C966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Bootstrap</a:t>
            </a:r>
            <a:r>
              <a:rPr lang="ko-KR" altLang="en-US" dirty="0"/>
              <a:t> 시작하기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E3104BA-1C71-BA66-F83D-8BD8E5346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45" y="1455075"/>
            <a:ext cx="5727355" cy="431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491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9CFA54EB-3B61-464B-CB2D-161CAF334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113" y="5839250"/>
            <a:ext cx="10839793" cy="633370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altLang="ko-KR" dirty="0">
                <a:hlinkClick r:id="rId3"/>
              </a:rPr>
              <a:t>https://getbootstrap.com/docs/5.2/getting-started/introduction/</a:t>
            </a:r>
            <a:r>
              <a:rPr lang="en-US" altLang="ko-KR" dirty="0"/>
              <a:t>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121C12-01C8-2680-C97E-DC639A226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76D4-76B4-4791-A395-DC8DC63F6814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F91E01-FFEB-0525-B6D5-2AE4E8361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5DC0481-1963-4297-B79D-1E16C966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Bootstrap</a:t>
            </a:r>
            <a:r>
              <a:rPr lang="ko-KR" altLang="en-US" dirty="0"/>
              <a:t> </a:t>
            </a:r>
            <a:r>
              <a:rPr lang="en-US" altLang="ko-KR" b="1" dirty="0"/>
              <a:t>Docs</a:t>
            </a:r>
            <a:endParaRPr lang="ko-KR" altLang="en-US" b="1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E771D85-1C5D-F3C0-A804-2FE8320DDCBD}"/>
              </a:ext>
            </a:extLst>
          </p:cNvPr>
          <p:cNvGrpSpPr/>
          <p:nvPr/>
        </p:nvGrpSpPr>
        <p:grpSpPr>
          <a:xfrm>
            <a:off x="1900330" y="1374147"/>
            <a:ext cx="8391339" cy="4109706"/>
            <a:chOff x="1092156" y="1432229"/>
            <a:chExt cx="9376077" cy="4591987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E368460-A6E0-C19E-69F3-9FC6FAF3CD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12253"/>
            <a:stretch/>
          </p:blipFill>
          <p:spPr>
            <a:xfrm>
              <a:off x="1092156" y="1452691"/>
              <a:ext cx="2038866" cy="3950095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83C58B04-489D-B368-3756-BACC330B1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60318" y="1432229"/>
              <a:ext cx="2038866" cy="2946490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6D969552-DFEA-DD17-14B4-CEE2F5AD4A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11670"/>
            <a:stretch/>
          </p:blipFill>
          <p:spPr>
            <a:xfrm>
              <a:off x="4425778" y="1432229"/>
              <a:ext cx="2338130" cy="4268208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EBD54BDE-DCD7-C035-159E-8E05FD888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64643" y="1452691"/>
              <a:ext cx="2038866" cy="4510564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D5D51F2F-6BFE-791C-60D6-D8105E7BF2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473" r="19123"/>
            <a:stretch/>
          </p:blipFill>
          <p:spPr>
            <a:xfrm>
              <a:off x="8429367" y="1432229"/>
              <a:ext cx="2038866" cy="4591987"/>
            </a:xfrm>
            <a:prstGeom prst="rect">
              <a:avLst/>
            </a:prstGeom>
          </p:spPr>
        </p:pic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2383BC-C308-E82F-4A18-FB0F63A5B823}"/>
              </a:ext>
            </a:extLst>
          </p:cNvPr>
          <p:cNvSpPr txBox="1">
            <a:spLocks/>
          </p:cNvSpPr>
          <p:nvPr/>
        </p:nvSpPr>
        <p:spPr>
          <a:xfrm>
            <a:off x="3928862" y="5204181"/>
            <a:ext cx="4334276" cy="7445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1800" b="1" dirty="0"/>
              <a:t>“</a:t>
            </a:r>
            <a:r>
              <a:rPr lang="ko-KR" altLang="en-US" sz="1800" b="1" dirty="0"/>
              <a:t>엄청 많다</a:t>
            </a:r>
            <a:r>
              <a:rPr lang="en-US" altLang="ko-KR" sz="1800" b="1" dirty="0"/>
              <a:t>…!!!!!</a:t>
            </a:r>
            <a:r>
              <a:rPr lang="ko-KR" altLang="en-US" sz="1800" b="1" dirty="0"/>
              <a:t> 공식문서에서 살펴보자</a:t>
            </a:r>
            <a:r>
              <a:rPr lang="en-US" altLang="ko-KR" sz="1800" b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0313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9CFA54EB-3B61-464B-CB2D-161CAF334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5555716"/>
            <a:ext cx="9869637" cy="63337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dirty="0">
                <a:hlinkClick r:id="rId3"/>
              </a:rPr>
              <a:t>https://getbootstrap.com/docs/5.2/examples/</a:t>
            </a:r>
            <a:r>
              <a:rPr lang="en-US" altLang="ko-KR" dirty="0"/>
              <a:t>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121C12-01C8-2680-C97E-DC639A226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76D4-76B4-4791-A395-DC8DC63F6814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F91E01-FFEB-0525-B6D5-2AE4E8361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5DC0481-1963-4297-B79D-1E16C966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Bootstrap</a:t>
            </a:r>
            <a:r>
              <a:rPr lang="ko-KR" altLang="en-US" dirty="0"/>
              <a:t> </a:t>
            </a:r>
            <a:r>
              <a:rPr lang="en-US" altLang="ko-KR" b="1" dirty="0"/>
              <a:t>Examples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2DAAA8F-963E-4F35-6CEB-26821C78B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62" y="1616190"/>
            <a:ext cx="10163175" cy="3600450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6765616-B61D-2873-742D-5D07F61D58BF}"/>
              </a:ext>
            </a:extLst>
          </p:cNvPr>
          <p:cNvSpPr txBox="1">
            <a:spLocks/>
          </p:cNvSpPr>
          <p:nvPr/>
        </p:nvSpPr>
        <p:spPr>
          <a:xfrm>
            <a:off x="3406727" y="5045482"/>
            <a:ext cx="5799382" cy="10204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2000" b="1" dirty="0"/>
              <a:t>헤더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푸터</a:t>
            </a:r>
            <a:r>
              <a:rPr lang="ko-KR" altLang="en-US" sz="2000" b="1" dirty="0"/>
              <a:t> 같은 예시들을 가져와 사용할 수도 있다</a:t>
            </a:r>
            <a:r>
              <a:rPr lang="en-US" altLang="ko-KR" sz="20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33442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121C12-01C8-2680-C97E-DC639A226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76D4-76B4-4791-A395-DC8DC63F6814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F91E01-FFEB-0525-B6D5-2AE4E8361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5DC0481-1963-4297-B79D-1E16C966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Bootstrap</a:t>
            </a:r>
            <a:r>
              <a:rPr lang="ko-KR" altLang="en-US" dirty="0"/>
              <a:t> </a:t>
            </a:r>
            <a:r>
              <a:rPr lang="en-US" altLang="ko-KR" b="1" dirty="0"/>
              <a:t>Icon</a:t>
            </a:r>
            <a:endParaRPr lang="ko-KR" altLang="en-US" b="1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EA4DD4D-416F-4EA4-2063-4E9374CEF0A1}"/>
              </a:ext>
            </a:extLst>
          </p:cNvPr>
          <p:cNvSpPr txBox="1">
            <a:spLocks/>
          </p:cNvSpPr>
          <p:nvPr/>
        </p:nvSpPr>
        <p:spPr>
          <a:xfrm>
            <a:off x="515218" y="1440907"/>
            <a:ext cx="10515600" cy="41300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ko-KR" altLang="en-US" sz="2800" dirty="0"/>
              <a:t>대표적인 폰트 아이콘 종류</a:t>
            </a:r>
            <a:endParaRPr lang="en-US" altLang="ko-KR" sz="2800" dirty="0"/>
          </a:p>
          <a:p>
            <a:pPr marL="457200" indent="-4572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ko-KR" sz="2800" b="1" dirty="0">
                <a:highlight>
                  <a:srgbClr val="FFFF00"/>
                </a:highlight>
              </a:rPr>
              <a:t>Bootstrap Icon</a:t>
            </a:r>
            <a:r>
              <a:rPr lang="en-US" altLang="ko-KR" sz="2800" dirty="0">
                <a:highlight>
                  <a:srgbClr val="FFFF00"/>
                </a:highlight>
              </a:rPr>
              <a:t>: </a:t>
            </a:r>
            <a:r>
              <a:rPr lang="en-US" altLang="ko-KR" sz="2800" dirty="0">
                <a:highlight>
                  <a:srgbClr val="FFFF00"/>
                </a:highlight>
                <a:hlinkClick r:id="rId3"/>
              </a:rPr>
              <a:t>https://icons.getbootstrap.com/</a:t>
            </a:r>
            <a:endParaRPr lang="en-US" altLang="ko-KR" sz="2800" dirty="0">
              <a:highlight>
                <a:srgbClr val="FFFF00"/>
              </a:highlight>
            </a:endParaRPr>
          </a:p>
          <a:p>
            <a:pPr marL="457200" indent="-4572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ko-KR" sz="2800" b="1" dirty="0" err="1"/>
              <a:t>FontAwesome</a:t>
            </a:r>
            <a:r>
              <a:rPr lang="en-US" altLang="ko-KR" sz="2800" dirty="0"/>
              <a:t>: </a:t>
            </a:r>
            <a:r>
              <a:rPr lang="en-US" altLang="ko-KR" sz="2800" dirty="0">
                <a:hlinkClick r:id="rId4"/>
              </a:rPr>
              <a:t>https://fontawesome.com/</a:t>
            </a:r>
            <a:r>
              <a:rPr lang="en-US" altLang="ko-KR" sz="2800" dirty="0"/>
              <a:t> </a:t>
            </a:r>
          </a:p>
          <a:p>
            <a:pPr marL="457200" indent="-4572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ko-KR" sz="2800" b="1" dirty="0"/>
              <a:t>Google Icon Fonts</a:t>
            </a:r>
            <a:r>
              <a:rPr lang="en-US" altLang="ko-KR" sz="2800" dirty="0"/>
              <a:t>: </a:t>
            </a:r>
            <a:r>
              <a:rPr lang="en-US" altLang="ko-KR" sz="2800" dirty="0">
                <a:hlinkClick r:id="rId5"/>
              </a:rPr>
              <a:t>https://fonts.google.com/icons</a:t>
            </a:r>
            <a:r>
              <a:rPr lang="en-US" altLang="ko-KR" sz="2800" dirty="0"/>
              <a:t> 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18074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5F429AE-318B-A420-F552-55B7B28F8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5555716"/>
            <a:ext cx="9869637" cy="63337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dirty="0">
                <a:hlinkClick r:id="rId3"/>
              </a:rPr>
              <a:t>https://themes.getbootstrap.com/</a:t>
            </a:r>
            <a:r>
              <a:rPr lang="en-US" altLang="ko-KR" dirty="0"/>
              <a:t>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121C12-01C8-2680-C97E-DC639A226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76D4-76B4-4791-A395-DC8DC63F6814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F91E01-FFEB-0525-B6D5-2AE4E8361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5DC0481-1963-4297-B79D-1E16C966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Bootstrap</a:t>
            </a:r>
            <a:r>
              <a:rPr lang="ko-KR" altLang="en-US" dirty="0"/>
              <a:t> </a:t>
            </a:r>
            <a:r>
              <a:rPr lang="en-US" altLang="ko-KR" b="1" dirty="0"/>
              <a:t>Theme</a:t>
            </a:r>
            <a:endParaRPr lang="ko-KR" altLang="en-US" b="1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EA4DD4D-416F-4EA4-2063-4E9374CEF0A1}"/>
              </a:ext>
            </a:extLst>
          </p:cNvPr>
          <p:cNvSpPr txBox="1">
            <a:spLocks/>
          </p:cNvSpPr>
          <p:nvPr/>
        </p:nvSpPr>
        <p:spPr>
          <a:xfrm>
            <a:off x="305510" y="1150478"/>
            <a:ext cx="10408155" cy="573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altLang="ko-KR" sz="2800" dirty="0" err="1"/>
              <a:t>Bootsrap</a:t>
            </a:r>
            <a:r>
              <a:rPr lang="ko-KR" altLang="en-US" sz="2800" dirty="0"/>
              <a:t>을 활용한 여러 테마들을 확인할 수 있다</a:t>
            </a:r>
            <a:r>
              <a:rPr lang="en-US" altLang="ko-KR" sz="28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BDDC22-0952-B34F-5CB4-8D93EC348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1730" y="1809962"/>
            <a:ext cx="8402595" cy="389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351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Tailwind CSS: </a:t>
            </a:r>
            <a:r>
              <a:rPr lang="en-US" altLang="ko-KR" dirty="0">
                <a:hlinkClick r:id="rId3"/>
              </a:rPr>
              <a:t>https://tailwindcss.com/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Bulma</a:t>
            </a:r>
            <a:r>
              <a:rPr lang="en-US" altLang="ko-KR" dirty="0"/>
              <a:t> : </a:t>
            </a:r>
            <a:r>
              <a:rPr lang="en-US" altLang="ko-KR" dirty="0">
                <a:hlinkClick r:id="rId4"/>
              </a:rPr>
              <a:t>https://bulma.io/</a:t>
            </a:r>
            <a:r>
              <a:rPr lang="en-US" altLang="ko-KR" dirty="0"/>
              <a:t> </a:t>
            </a:r>
          </a:p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다양한 </a:t>
            </a:r>
            <a:r>
              <a:rPr lang="en-US" altLang="ko-KR" dirty="0"/>
              <a:t>CSS </a:t>
            </a:r>
            <a:r>
              <a:rPr lang="ko-KR" altLang="en-US" dirty="0"/>
              <a:t>프레임워크</a:t>
            </a:r>
          </a:p>
        </p:txBody>
      </p:sp>
      <p:sp>
        <p:nvSpPr>
          <p:cNvPr id="6" name="AutoShape 2" descr="Tailwind CSS (NextJs환경에서 사용하기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83" b="23947"/>
          <a:stretch/>
        </p:blipFill>
        <p:spPr>
          <a:xfrm>
            <a:off x="838200" y="2374366"/>
            <a:ext cx="4993785" cy="126018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124" y="4778903"/>
            <a:ext cx="2869987" cy="71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444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부트스트랩 기능들을 이용해 웹 페이지를 만들어보자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헤더</a:t>
            </a:r>
            <a:r>
              <a:rPr lang="en-US" altLang="ko-KR" dirty="0"/>
              <a:t>, </a:t>
            </a:r>
            <a:r>
              <a:rPr lang="ko-KR" altLang="en-US" dirty="0" err="1" smtClean="0"/>
              <a:t>푸터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베너</a:t>
            </a:r>
            <a:r>
              <a:rPr lang="en-US" altLang="ko-KR" dirty="0" smtClean="0"/>
              <a:t>, </a:t>
            </a:r>
            <a:r>
              <a:rPr lang="ko-KR" altLang="en-US" dirty="0" smtClean="0"/>
              <a:t>카드 </a:t>
            </a:r>
            <a:r>
              <a:rPr lang="ko-KR" altLang="en-US" dirty="0" smtClean="0"/>
              <a:t>리스트</a:t>
            </a:r>
            <a:r>
              <a:rPr lang="en-US" altLang="ko-KR" dirty="0" smtClean="0"/>
              <a:t> </a:t>
            </a:r>
            <a:r>
              <a:rPr lang="ko-KR" altLang="en-US" dirty="0"/>
              <a:t>등의 요소를 갖는 페이지를 </a:t>
            </a:r>
            <a:r>
              <a:rPr lang="ko-KR" altLang="en-US" dirty="0" smtClean="0"/>
              <a:t>만들어주세요</a:t>
            </a:r>
            <a:r>
              <a:rPr lang="en-US" altLang="ko-KR" dirty="0" smtClean="0"/>
              <a:t>~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ko-KR" altLang="en-US" dirty="0" err="1"/>
              <a:t>웹페이지</a:t>
            </a:r>
            <a:r>
              <a:rPr lang="ko-KR" altLang="en-US" dirty="0"/>
              <a:t> 만들기</a:t>
            </a:r>
          </a:p>
        </p:txBody>
      </p:sp>
    </p:spTree>
    <p:extLst>
      <p:ext uri="{BB962C8B-B14F-4D97-AF65-F5344CB8AC3E}">
        <p14:creationId xmlns:p14="http://schemas.microsoft.com/office/powerpoint/2010/main" val="496712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코딩온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1202</TotalTime>
  <Words>242</Words>
  <Application>Microsoft Office PowerPoint</Application>
  <PresentationFormat>와이드스크린</PresentationFormat>
  <Paragraphs>77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Ubuntu Condensed</vt:lpstr>
      <vt:lpstr>맑은 고딕</vt:lpstr>
      <vt:lpstr>메이플스토리</vt:lpstr>
      <vt:lpstr>Arial</vt:lpstr>
      <vt:lpstr>1_Office 테마</vt:lpstr>
      <vt:lpstr>웹 개발자 부트캠프 과정</vt:lpstr>
      <vt:lpstr>Bootstrap</vt:lpstr>
      <vt:lpstr>프레임워크 vs 라이브러리</vt:lpstr>
      <vt:lpstr>Bootstrap 시작하기</vt:lpstr>
      <vt:lpstr>Bootstrap Docs</vt:lpstr>
      <vt:lpstr>Bootstrap Examples</vt:lpstr>
      <vt:lpstr>Bootstrap Icon</vt:lpstr>
      <vt:lpstr>Bootstrap Theme</vt:lpstr>
      <vt:lpstr>다양한 CSS 프레임워크</vt:lpstr>
      <vt:lpstr>실습. 웹페이지 만들기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sesac</cp:lastModifiedBy>
  <cp:revision>153</cp:revision>
  <dcterms:created xsi:type="dcterms:W3CDTF">2022-06-26T11:10:22Z</dcterms:created>
  <dcterms:modified xsi:type="dcterms:W3CDTF">2023-07-31T03:53:00Z</dcterms:modified>
</cp:coreProperties>
</file>