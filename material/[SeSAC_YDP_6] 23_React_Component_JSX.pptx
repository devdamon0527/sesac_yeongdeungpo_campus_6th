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3" r:id="rId1"/>
  </p:sldMasterIdLst>
  <p:notesMasterIdLst>
    <p:notesMasterId r:id="rId22"/>
  </p:notesMasterIdLst>
  <p:sldIdLst>
    <p:sldId id="256" r:id="rId2"/>
    <p:sldId id="261" r:id="rId3"/>
    <p:sldId id="262" r:id="rId4"/>
    <p:sldId id="263" r:id="rId5"/>
    <p:sldId id="264" r:id="rId6"/>
    <p:sldId id="268" r:id="rId7"/>
    <p:sldId id="283" r:id="rId8"/>
    <p:sldId id="265" r:id="rId9"/>
    <p:sldId id="267" r:id="rId10"/>
    <p:sldId id="269" r:id="rId11"/>
    <p:sldId id="282" r:id="rId12"/>
    <p:sldId id="271" r:id="rId13"/>
    <p:sldId id="272" r:id="rId14"/>
    <p:sldId id="273" r:id="rId15"/>
    <p:sldId id="274" r:id="rId16"/>
    <p:sldId id="275" r:id="rId17"/>
    <p:sldId id="276" r:id="rId18"/>
    <p:sldId id="277" r:id="rId19"/>
    <p:sldId id="278" r:id="rId20"/>
    <p:sldId id="280" r:id="rId21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A53A6"/>
    <a:srgbClr val="6EC173"/>
    <a:srgbClr val="F99F2C"/>
    <a:srgbClr val="FFFFFF"/>
    <a:srgbClr val="B4D56D"/>
    <a:srgbClr val="B1DDB4"/>
    <a:srgbClr val="F9A13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655" autoAdjust="0"/>
    <p:restoredTop sz="73684" autoAdjust="0"/>
  </p:normalViewPr>
  <p:slideViewPr>
    <p:cSldViewPr snapToGrid="0">
      <p:cViewPr varScale="1">
        <p:scale>
          <a:sx n="75" d="100"/>
          <a:sy n="75" d="100"/>
        </p:scale>
        <p:origin x="402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59" d="100"/>
          <a:sy n="59" d="100"/>
        </p:scale>
        <p:origin x="2524" y="6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EF3F159-7250-4DD4-91C2-13B35D56E1AF}" type="datetimeFigureOut">
              <a:rPr lang="ko-KR" altLang="en-US" smtClean="0"/>
              <a:t>2023-09-19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09E5BFC-1559-42F1-8940-AB342D56BF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304593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6184230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F7660BF-9D8A-4D9B-A2EE-C667F9509E93}" type="slidenum">
              <a:rPr lang="ko-KR" altLang="en-US" smtClean="0"/>
              <a:t>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9765446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8476412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FFC000"/>
                </a:solidFill>
              </a:rPr>
              <a:t>컴포넌트 안에 컴포넌트 안에 컴포넌트</a:t>
            </a:r>
            <a:r>
              <a:rPr lang="en-US" altLang="ko-KR" dirty="0">
                <a:solidFill>
                  <a:srgbClr val="FFC000"/>
                </a:solidFill>
              </a:rPr>
              <a:t>… </a:t>
            </a:r>
            <a:r>
              <a:rPr lang="ko-KR" altLang="en-US" dirty="0">
                <a:solidFill>
                  <a:srgbClr val="FFC000"/>
                </a:solidFill>
              </a:rPr>
              <a:t>가 될 수 있다</a:t>
            </a:r>
            <a:r>
              <a:rPr lang="en-US" altLang="ko-KR" dirty="0">
                <a:solidFill>
                  <a:srgbClr val="FFC000"/>
                </a:solidFill>
              </a:rPr>
              <a:t>.</a:t>
            </a:r>
            <a:endParaRPr lang="ko-KR" altLang="en-US" dirty="0">
              <a:solidFill>
                <a:srgbClr val="FFC000"/>
              </a:solidFill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F7660BF-9D8A-4D9B-A2EE-C667F9509E93}" type="slidenum">
              <a:rPr lang="ko-KR" altLang="en-US" smtClean="0"/>
              <a:t>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9532538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App.js </a:t>
            </a:r>
            <a:r>
              <a:rPr lang="ko-KR" altLang="en-US" dirty="0"/>
              <a:t>밑으로 컴포넌트 </a:t>
            </a:r>
            <a:r>
              <a:rPr lang="ko-KR" altLang="en-US" dirty="0" err="1"/>
              <a:t>와다다다</a:t>
            </a:r>
            <a:r>
              <a:rPr lang="ko-KR" altLang="en-US" dirty="0"/>
              <a:t> 달림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4098314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6890302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F7660BF-9D8A-4D9B-A2EE-C667F9509E93}" type="slidenum">
              <a:rPr lang="ko-KR" altLang="en-US" smtClean="0"/>
              <a:t>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990879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export</a:t>
            </a:r>
            <a:r>
              <a:rPr lang="en-US" altLang="ko-KR" baseline="0" dirty="0"/>
              <a:t> default</a:t>
            </a:r>
            <a:r>
              <a:rPr lang="ko-KR" altLang="en-US" baseline="0" dirty="0"/>
              <a:t>는 따로 </a:t>
            </a:r>
            <a:r>
              <a:rPr lang="ko-KR" altLang="en-US" baseline="0" dirty="0" err="1"/>
              <a:t>빼둬도</a:t>
            </a:r>
            <a:r>
              <a:rPr lang="ko-KR" altLang="en-US" baseline="0" dirty="0"/>
              <a:t> 되고</a:t>
            </a:r>
            <a:r>
              <a:rPr lang="en-US" altLang="ko-KR" baseline="0" dirty="0"/>
              <a:t>, </a:t>
            </a:r>
            <a:r>
              <a:rPr lang="ko-KR" altLang="en-US" baseline="0" dirty="0"/>
              <a:t>함수</a:t>
            </a:r>
            <a:r>
              <a:rPr lang="en-US" altLang="ko-KR" baseline="0" dirty="0"/>
              <a:t>/</a:t>
            </a:r>
            <a:r>
              <a:rPr lang="ko-KR" altLang="en-US" baseline="0" dirty="0" err="1"/>
              <a:t>클래스형</a:t>
            </a:r>
            <a:r>
              <a:rPr lang="ko-KR" altLang="en-US" baseline="0" dirty="0"/>
              <a:t> 앞에 둬도 됨</a:t>
            </a:r>
            <a:endParaRPr lang="en-US" altLang="ko-KR" baseline="0" dirty="0"/>
          </a:p>
          <a:p>
            <a:r>
              <a:rPr lang="ko-KR" altLang="en-US" dirty="0" err="1"/>
              <a:t>클래스형</a:t>
            </a:r>
            <a:endParaRPr lang="en-US" altLang="ko-KR" baseline="0" dirty="0"/>
          </a:p>
          <a:p>
            <a:r>
              <a:rPr lang="en-US" altLang="ko-KR" baseline="0" dirty="0"/>
              <a:t>1. Components class </a:t>
            </a:r>
            <a:r>
              <a:rPr lang="ko-KR" altLang="en-US" baseline="0" dirty="0"/>
              <a:t>상속</a:t>
            </a:r>
            <a:r>
              <a:rPr lang="en-US" altLang="ko-KR" baseline="0" dirty="0"/>
              <a:t>, </a:t>
            </a:r>
          </a:p>
          <a:p>
            <a:r>
              <a:rPr lang="en-US" altLang="ko-KR" baseline="0" dirty="0"/>
              <a:t>2. render() </a:t>
            </a:r>
            <a:r>
              <a:rPr lang="ko-KR" altLang="en-US" baseline="0" dirty="0"/>
              <a:t>함수 사용 리턴에 실제로 보여주고 싶은 </a:t>
            </a:r>
            <a:r>
              <a:rPr lang="en-US" altLang="ko-KR" baseline="0" dirty="0"/>
              <a:t>html </a:t>
            </a:r>
            <a:r>
              <a:rPr lang="ko-KR" altLang="en-US" baseline="0" dirty="0"/>
              <a:t>요소 작성</a:t>
            </a:r>
            <a:endParaRPr lang="en-US" altLang="ko-KR" baseline="0" dirty="0"/>
          </a:p>
          <a:p>
            <a:r>
              <a:rPr lang="ko-KR" altLang="en-US" dirty="0"/>
              <a:t>함수형 </a:t>
            </a:r>
            <a:endParaRPr lang="en-US" altLang="ko-KR" dirty="0"/>
          </a:p>
          <a:p>
            <a:pPr marL="228600" indent="-228600">
              <a:buAutoNum type="arabicPeriod"/>
            </a:pPr>
            <a:r>
              <a:rPr lang="ko-KR" altLang="en-US" dirty="0"/>
              <a:t>직관적으로 함수 이름만 만들고</a:t>
            </a:r>
            <a:r>
              <a:rPr lang="en-US" altLang="ko-KR" dirty="0"/>
              <a:t>, </a:t>
            </a:r>
            <a:r>
              <a:rPr lang="ko-KR" altLang="en-US" dirty="0"/>
              <a:t>보여줄 </a:t>
            </a:r>
            <a:r>
              <a:rPr lang="en-US" altLang="ko-KR" dirty="0"/>
              <a:t>html</a:t>
            </a:r>
            <a:r>
              <a:rPr lang="en-US" altLang="ko-KR" baseline="0" dirty="0"/>
              <a:t> </a:t>
            </a:r>
            <a:r>
              <a:rPr lang="ko-KR" altLang="en-US" baseline="0" dirty="0"/>
              <a:t>요소 </a:t>
            </a:r>
            <a:r>
              <a:rPr lang="en-US" altLang="ko-KR" baseline="0" dirty="0"/>
              <a:t>return </a:t>
            </a:r>
          </a:p>
          <a:p>
            <a:pPr marL="0" indent="0">
              <a:buNone/>
            </a:pPr>
            <a:r>
              <a:rPr lang="en-US" altLang="ko-KR" baseline="0" dirty="0"/>
              <a:t>+ </a:t>
            </a:r>
            <a:r>
              <a:rPr lang="ko-KR" altLang="en-US" baseline="0" dirty="0"/>
              <a:t>화살표 함수</a:t>
            </a:r>
            <a:r>
              <a:rPr lang="en-US" altLang="ko-KR" baseline="0" dirty="0"/>
              <a:t>(</a:t>
            </a:r>
            <a:r>
              <a:rPr lang="ko-KR" altLang="en-US" baseline="0" dirty="0" err="1"/>
              <a:t>함수표현식</a:t>
            </a:r>
            <a:r>
              <a:rPr lang="en-US" altLang="ko-KR" baseline="0" dirty="0"/>
              <a:t>)</a:t>
            </a:r>
            <a:r>
              <a:rPr lang="ko-KR" altLang="en-US" baseline="0" dirty="0"/>
              <a:t>로 </a:t>
            </a:r>
            <a:r>
              <a:rPr lang="ko-KR" altLang="en-US" baseline="0" dirty="0" err="1"/>
              <a:t>작성해놨지만</a:t>
            </a:r>
            <a:r>
              <a:rPr lang="ko-KR" altLang="en-US" baseline="0" dirty="0"/>
              <a:t> 함수선언문으로 작성해도 무방함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F7660BF-9D8A-4D9B-A2EE-C667F9509E93}" type="slidenum">
              <a:rPr lang="ko-KR" altLang="en-US" smtClean="0"/>
              <a:t>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2924615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F7660BF-9D8A-4D9B-A2EE-C667F9509E93}" type="slidenum">
              <a:rPr lang="ko-KR" altLang="en-US" smtClean="0"/>
              <a:t>12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45367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html</a:t>
            </a:r>
            <a:r>
              <a:rPr lang="en-US" altLang="ko-KR" baseline="0" dirty="0"/>
              <a:t> </a:t>
            </a:r>
            <a:r>
              <a:rPr lang="ko-KR" altLang="en-US" baseline="0" dirty="0"/>
              <a:t>쓰다가 변수를 넣는다거나</a:t>
            </a:r>
            <a:r>
              <a:rPr lang="en-US" altLang="ko-KR" baseline="0" dirty="0"/>
              <a:t>, </a:t>
            </a:r>
            <a:r>
              <a:rPr lang="ko-KR" altLang="en-US" baseline="0" dirty="0"/>
              <a:t>연산을 하고 싶을 때는 중괄호 쓰고</a:t>
            </a:r>
            <a:r>
              <a:rPr lang="en-US" altLang="ko-KR" baseline="0" dirty="0"/>
              <a:t>,</a:t>
            </a:r>
          </a:p>
          <a:p>
            <a:r>
              <a:rPr lang="ko-KR" altLang="en-US" dirty="0"/>
              <a:t>중괄호안에서 자바스크립트 문법을 쓰다가 </a:t>
            </a:r>
            <a:r>
              <a:rPr lang="en-US" altLang="ko-KR" dirty="0"/>
              <a:t>html </a:t>
            </a:r>
            <a:r>
              <a:rPr lang="ko-KR" altLang="en-US" dirty="0"/>
              <a:t>요소를 쓰고 싶으면 </a:t>
            </a:r>
            <a:r>
              <a:rPr lang="ko-KR" altLang="en-US" dirty="0" err="1"/>
              <a:t>소괄호안에다가</a:t>
            </a:r>
            <a:r>
              <a:rPr lang="ko-KR" altLang="en-US" dirty="0"/>
              <a:t> </a:t>
            </a:r>
            <a:r>
              <a:rPr lang="en-US" altLang="ko-KR" dirty="0"/>
              <a:t>html</a:t>
            </a:r>
            <a:r>
              <a:rPr lang="en-US" altLang="ko-KR" baseline="0" dirty="0"/>
              <a:t> </a:t>
            </a:r>
            <a:r>
              <a:rPr lang="ko-KR" altLang="en-US" baseline="0" dirty="0"/>
              <a:t>요소 쓰기</a:t>
            </a:r>
            <a:r>
              <a:rPr lang="en-US" altLang="ko-KR" baseline="0" dirty="0"/>
              <a:t>.</a:t>
            </a:r>
          </a:p>
          <a:p>
            <a:r>
              <a:rPr lang="en-US" altLang="ko-KR" baseline="0" dirty="0"/>
              <a:t>(return </a:t>
            </a:r>
            <a:r>
              <a:rPr lang="ko-KR" altLang="en-US" baseline="0" dirty="0"/>
              <a:t>과 마찬가지로 하나의 태그만 </a:t>
            </a:r>
            <a:r>
              <a:rPr lang="ko-KR" altLang="en-US" baseline="0" dirty="0" err="1"/>
              <a:t>쓸때는</a:t>
            </a:r>
            <a:r>
              <a:rPr lang="ko-KR" altLang="en-US" baseline="0" dirty="0"/>
              <a:t> 소괄호로 감싸지 않아도 됨</a:t>
            </a:r>
            <a:r>
              <a:rPr lang="en-US" altLang="ko-KR" baseline="0" dirty="0"/>
              <a:t>. </a:t>
            </a:r>
          </a:p>
          <a:p>
            <a:r>
              <a:rPr lang="en-US" altLang="ko-KR" baseline="0" dirty="0"/>
              <a:t>div&gt;h2 </a:t>
            </a:r>
            <a:r>
              <a:rPr lang="ko-KR" altLang="en-US" baseline="0" dirty="0"/>
              <a:t>가 아닌 </a:t>
            </a:r>
            <a:r>
              <a:rPr lang="en-US" altLang="ko-KR" baseline="0" dirty="0"/>
              <a:t>h2</a:t>
            </a:r>
            <a:r>
              <a:rPr lang="ko-KR" altLang="en-US" baseline="0" dirty="0"/>
              <a:t>만 쓰고 싶었다면</a:t>
            </a:r>
            <a:r>
              <a:rPr lang="en-US" altLang="ko-KR" baseline="0" dirty="0"/>
              <a:t>, </a:t>
            </a:r>
            <a:r>
              <a:rPr lang="ko-KR" altLang="en-US" baseline="0" dirty="0"/>
              <a:t>소괄호 굳이 필요 없고</a:t>
            </a:r>
            <a:r>
              <a:rPr lang="en-US" altLang="ko-KR" baseline="0" dirty="0"/>
              <a:t>,  </a:t>
            </a:r>
          </a:p>
          <a:p>
            <a:r>
              <a:rPr lang="ko-KR" altLang="en-US" baseline="0" dirty="0"/>
              <a:t>중괄호 내부에서 </a:t>
            </a:r>
            <a:r>
              <a:rPr lang="en-US" altLang="ko-KR" baseline="0" dirty="0"/>
              <a:t>html</a:t>
            </a:r>
            <a:r>
              <a:rPr lang="ko-KR" altLang="en-US" baseline="0" dirty="0"/>
              <a:t>을 작성할 때도 마찬가지로 하나의 전체 태그가 </a:t>
            </a:r>
            <a:r>
              <a:rPr lang="ko-KR" altLang="en-US" baseline="0" dirty="0" err="1"/>
              <a:t>모든것을</a:t>
            </a:r>
            <a:r>
              <a:rPr lang="ko-KR" altLang="en-US" baseline="0" dirty="0"/>
              <a:t> 감싸야 함</a:t>
            </a:r>
            <a:r>
              <a:rPr lang="en-US" altLang="ko-KR" baseline="0" dirty="0"/>
              <a:t>)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F7660BF-9D8A-4D9B-A2EE-C667F9509E93}" type="slidenum">
              <a:rPr lang="ko-KR" altLang="en-US" smtClean="0"/>
              <a:t>13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8423232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 err="1"/>
              <a:t>str</a:t>
            </a:r>
            <a:r>
              <a:rPr lang="ko-KR" altLang="en-US" dirty="0"/>
              <a:t>이 </a:t>
            </a:r>
            <a:r>
              <a:rPr lang="en-US" altLang="ko-KR" dirty="0"/>
              <a:t>‘hello,’ </a:t>
            </a:r>
            <a:r>
              <a:rPr lang="ko-KR" altLang="en-US" dirty="0"/>
              <a:t>였기 때문에 </a:t>
            </a:r>
            <a:r>
              <a:rPr lang="ko-KR" altLang="en-US" dirty="0" err="1"/>
              <a:t>결과화면</a:t>
            </a:r>
            <a:r>
              <a:rPr lang="ko-KR" altLang="en-US" dirty="0"/>
              <a:t> 저렇게 나타남</a:t>
            </a:r>
            <a:endParaRPr lang="en-US" altLang="ko-KR" dirty="0"/>
          </a:p>
          <a:p>
            <a:r>
              <a:rPr lang="en-US" altLang="ko-KR" dirty="0"/>
              <a:t>+ </a:t>
            </a:r>
            <a:r>
              <a:rPr lang="ko-KR" altLang="en-US" dirty="0"/>
              <a:t>우리는 </a:t>
            </a:r>
            <a:r>
              <a:rPr lang="en-US" altLang="ko-KR" dirty="0"/>
              <a:t>JSX </a:t>
            </a:r>
            <a:r>
              <a:rPr lang="ko-KR" altLang="en-US" dirty="0"/>
              <a:t>형태로 썼지만 실제 브라우저는 </a:t>
            </a:r>
            <a:r>
              <a:rPr lang="en-US" altLang="ko-KR" dirty="0" err="1"/>
              <a:t>js</a:t>
            </a:r>
            <a:r>
              <a:rPr lang="ko-KR" altLang="en-US" dirty="0"/>
              <a:t>로 받아서 봄</a:t>
            </a:r>
            <a:r>
              <a:rPr lang="en-US" altLang="ko-KR" dirty="0"/>
              <a:t>. </a:t>
            </a:r>
            <a:r>
              <a:rPr lang="ko-KR" altLang="en-US" dirty="0"/>
              <a:t>바벨이 번역해서 전달해주니까</a:t>
            </a:r>
            <a:r>
              <a:rPr lang="en-US" altLang="ko-KR" dirty="0"/>
              <a:t>!!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F7660BF-9D8A-4D9B-A2EE-C667F9509E93}" type="slidenum">
              <a:rPr lang="ko-KR" altLang="en-US" smtClean="0"/>
              <a:t>14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0127783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err="1"/>
              <a:t>밑줄쳐진</a:t>
            </a:r>
            <a:r>
              <a:rPr lang="ko-KR" altLang="en-US" dirty="0"/>
              <a:t> </a:t>
            </a:r>
            <a:r>
              <a:rPr lang="ko-KR" altLang="en-US" dirty="0" err="1"/>
              <a:t>삼항연산자</a:t>
            </a:r>
            <a:r>
              <a:rPr lang="ko-KR" altLang="en-US" dirty="0"/>
              <a:t> 대신 </a:t>
            </a:r>
            <a:r>
              <a:rPr lang="en-US" altLang="ko-KR" dirty="0"/>
              <a:t>if</a:t>
            </a:r>
            <a:r>
              <a:rPr lang="en-US" altLang="ko-KR" baseline="0" dirty="0"/>
              <a:t> ~ else </a:t>
            </a:r>
            <a:r>
              <a:rPr lang="ko-KR" altLang="en-US" baseline="0" dirty="0"/>
              <a:t>문이 올 수 </a:t>
            </a:r>
            <a:r>
              <a:rPr lang="ko-KR" altLang="en-US" baseline="0" dirty="0" err="1"/>
              <a:t>없ㅇ므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F7660BF-9D8A-4D9B-A2EE-C667F9509E93}" type="slidenum">
              <a:rPr lang="ko-KR" altLang="en-US" smtClean="0"/>
              <a:t>15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6403026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dash-case(kebab-case</a:t>
            </a:r>
            <a:r>
              <a:rPr lang="ko-KR" altLang="en-US" dirty="0"/>
              <a:t>라고도 함</a:t>
            </a:r>
            <a:r>
              <a:rPr lang="en-US" altLang="ko-KR" dirty="0"/>
              <a:t>): </a:t>
            </a:r>
            <a:r>
              <a:rPr lang="en-US" altLang="ko-KR" dirty="0" err="1"/>
              <a:t>dashcase</a:t>
            </a:r>
            <a:r>
              <a:rPr lang="en-US" altLang="ko-KR" dirty="0"/>
              <a:t>?</a:t>
            </a:r>
            <a:r>
              <a:rPr lang="en-US" altLang="ko-KR" baseline="0" dirty="0"/>
              <a:t> </a:t>
            </a:r>
            <a:r>
              <a:rPr lang="en-US" altLang="ko-KR" baseline="0" dirty="0" err="1"/>
              <a:t>js</a:t>
            </a:r>
            <a:r>
              <a:rPr lang="ko-KR" altLang="en-US" baseline="0" dirty="0"/>
              <a:t>가 </a:t>
            </a:r>
            <a:r>
              <a:rPr lang="ko-KR" altLang="en-US" baseline="0" dirty="0" err="1"/>
              <a:t>볼때</a:t>
            </a:r>
            <a:r>
              <a:rPr lang="ko-KR" altLang="en-US" baseline="0" dirty="0"/>
              <a:t> </a:t>
            </a:r>
            <a:r>
              <a:rPr lang="en-US" altLang="ko-KR" baseline="0" dirty="0"/>
              <a:t>-</a:t>
            </a:r>
            <a:r>
              <a:rPr lang="ko-KR" altLang="en-US" baseline="0" dirty="0"/>
              <a:t>는 </a:t>
            </a:r>
            <a:r>
              <a:rPr lang="ko-KR" altLang="en-US" baseline="0" dirty="0" err="1"/>
              <a:t>빼기라고</a:t>
            </a:r>
            <a:r>
              <a:rPr lang="ko-KR" altLang="en-US" baseline="0" dirty="0"/>
              <a:t> 생각할 수 있기 </a:t>
            </a:r>
            <a:r>
              <a:rPr lang="ko-KR" altLang="en-US" baseline="0" dirty="0" err="1"/>
              <a:t>떄문에</a:t>
            </a:r>
            <a:r>
              <a:rPr lang="en-US" altLang="ko-KR" baseline="0" dirty="0"/>
              <a:t>.</a:t>
            </a:r>
          </a:p>
          <a:p>
            <a:endParaRPr lang="en-US" altLang="ko-KR" baseline="0" dirty="0"/>
          </a:p>
          <a:p>
            <a:r>
              <a:rPr lang="ko-KR" altLang="en-US" dirty="0"/>
              <a:t>객체를 담는 방식을 </a:t>
            </a:r>
            <a:r>
              <a:rPr lang="en-US" altLang="ko-KR" dirty="0" err="1"/>
              <a:t>jsx</a:t>
            </a:r>
            <a:r>
              <a:rPr lang="en-US" altLang="ko-KR" dirty="0"/>
              <a:t> </a:t>
            </a:r>
            <a:r>
              <a:rPr lang="ko-KR" altLang="en-US" dirty="0"/>
              <a:t>문법을 통해서 </a:t>
            </a:r>
            <a:r>
              <a:rPr lang="ko-KR" altLang="en-US" dirty="0" err="1"/>
              <a:t>쓴것이기</a:t>
            </a:r>
            <a:r>
              <a:rPr lang="ko-KR" altLang="en-US" dirty="0"/>
              <a:t> 때문에 스타일 적용 시에는 두번의 중괄호가 필요</a:t>
            </a:r>
            <a:r>
              <a:rPr lang="en-US" altLang="ko-KR" dirty="0"/>
              <a:t>,</a:t>
            </a:r>
          </a:p>
          <a:p>
            <a:r>
              <a:rPr lang="ko-KR" altLang="en-US" dirty="0"/>
              <a:t>오브젝트를 따로 변수에 선언해서 사용할 수도 있음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F7660BF-9D8A-4D9B-A2EE-C667F9509E93}" type="slidenum">
              <a:rPr lang="ko-KR" altLang="en-US" smtClean="0"/>
              <a:t>16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2079296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 err="1"/>
              <a:t>js</a:t>
            </a:r>
            <a:r>
              <a:rPr lang="ko-KR" altLang="en-US" dirty="0"/>
              <a:t>에서</a:t>
            </a:r>
            <a:r>
              <a:rPr lang="ko-KR" altLang="en-US" baseline="0" dirty="0"/>
              <a:t> </a:t>
            </a:r>
            <a:r>
              <a:rPr lang="en-US" altLang="ko-KR" baseline="0" dirty="0"/>
              <a:t>class </a:t>
            </a:r>
            <a:r>
              <a:rPr lang="ko-KR" altLang="en-US" baseline="0" dirty="0"/>
              <a:t>는 </a:t>
            </a:r>
            <a:r>
              <a:rPr lang="en-US" altLang="ko-KR" baseline="0" dirty="0"/>
              <a:t>? </a:t>
            </a:r>
            <a:r>
              <a:rPr lang="ko-KR" altLang="en-US" baseline="0" dirty="0"/>
              <a:t>다른 기능이 있으니 </a:t>
            </a:r>
            <a:r>
              <a:rPr lang="en-US" altLang="ko-KR" baseline="0" dirty="0"/>
              <a:t>CSS </a:t>
            </a:r>
            <a:r>
              <a:rPr lang="ko-KR" altLang="en-US" baseline="0" dirty="0"/>
              <a:t>에서의 클래스를 구분하기 위해서 </a:t>
            </a:r>
            <a:r>
              <a:rPr lang="en-US" altLang="ko-KR" baseline="0" dirty="0" err="1"/>
              <a:t>className</a:t>
            </a:r>
            <a:r>
              <a:rPr lang="ko-KR" altLang="en-US" baseline="0" dirty="0"/>
              <a:t>사용</a:t>
            </a:r>
            <a:endParaRPr lang="en-US" altLang="ko-KR" baseline="0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F7660BF-9D8A-4D9B-A2EE-C667F9509E93}" type="slidenum">
              <a:rPr lang="ko-KR" altLang="en-US" smtClean="0"/>
              <a:t>17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2721910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err: </a:t>
            </a:r>
            <a:r>
              <a:rPr lang="ko-KR" altLang="en-US" dirty="0"/>
              <a:t>인풋에 대한 </a:t>
            </a:r>
            <a:r>
              <a:rPr lang="ko-KR" altLang="en-US" dirty="0" err="1"/>
              <a:t>클로징</a:t>
            </a:r>
            <a:r>
              <a:rPr lang="ko-KR" altLang="en-US" dirty="0"/>
              <a:t> 태그가 존재하지 않습니다</a:t>
            </a:r>
            <a:endParaRPr lang="en-US" altLang="ko-KR" dirty="0"/>
          </a:p>
          <a:p>
            <a:pPr marL="171450" indent="-171450">
              <a:buFont typeface="Wingdings" panose="05000000000000000000" pitchFamily="2" charset="2"/>
              <a:buChar char="à"/>
            </a:pPr>
            <a:r>
              <a:rPr lang="en-US" altLang="ko-KR" dirty="0">
                <a:sym typeface="Wingdings" panose="05000000000000000000" pitchFamily="2" charset="2"/>
              </a:rPr>
              <a:t>html</a:t>
            </a:r>
            <a:r>
              <a:rPr lang="en-US" altLang="ko-KR" baseline="0" dirty="0">
                <a:sym typeface="Wingdings" panose="05000000000000000000" pitchFamily="2" charset="2"/>
              </a:rPr>
              <a:t> </a:t>
            </a:r>
            <a:r>
              <a:rPr lang="ko-KR" altLang="en-US" baseline="0" dirty="0">
                <a:sym typeface="Wingdings" panose="05000000000000000000" pitchFamily="2" charset="2"/>
              </a:rPr>
              <a:t>수업에서 배웠던 것처럼</a:t>
            </a:r>
            <a:r>
              <a:rPr lang="en-US" altLang="ko-KR" baseline="0" dirty="0">
                <a:sym typeface="Wingdings" panose="05000000000000000000" pitchFamily="2" charset="2"/>
              </a:rPr>
              <a:t>, </a:t>
            </a:r>
            <a:r>
              <a:rPr lang="ko-KR" altLang="en-US" baseline="0" dirty="0" err="1">
                <a:sym typeface="Wingdings" panose="05000000000000000000" pitchFamily="2" charset="2"/>
              </a:rPr>
              <a:t>빈태그</a:t>
            </a:r>
            <a:r>
              <a:rPr lang="ko-KR" altLang="en-US" baseline="0" dirty="0">
                <a:sym typeface="Wingdings" panose="05000000000000000000" pitchFamily="2" charset="2"/>
              </a:rPr>
              <a:t> 마지막에 슬래시를 붙여서 닫아주거나</a:t>
            </a:r>
            <a:r>
              <a:rPr lang="en-US" altLang="ko-KR" baseline="0" dirty="0">
                <a:sym typeface="Wingdings" panose="05000000000000000000" pitchFamily="2" charset="2"/>
              </a:rPr>
              <a:t>,</a:t>
            </a:r>
          </a:p>
          <a:p>
            <a:pPr marL="171450" indent="-171450">
              <a:buFont typeface="Wingdings" panose="05000000000000000000" pitchFamily="2" charset="2"/>
              <a:buChar char="à"/>
            </a:pPr>
            <a:r>
              <a:rPr lang="ko-KR" altLang="en-US" baseline="0" dirty="0">
                <a:sym typeface="Wingdings" panose="05000000000000000000" pitchFamily="2" charset="2"/>
              </a:rPr>
              <a:t>기존의 </a:t>
            </a:r>
            <a:r>
              <a:rPr lang="en-US" altLang="ko-KR" baseline="0" dirty="0">
                <a:sym typeface="Wingdings" panose="05000000000000000000" pitchFamily="2" charset="2"/>
              </a:rPr>
              <a:t>div span</a:t>
            </a:r>
            <a:r>
              <a:rPr lang="ko-KR" altLang="en-US" baseline="0" dirty="0">
                <a:sym typeface="Wingdings" panose="05000000000000000000" pitchFamily="2" charset="2"/>
              </a:rPr>
              <a:t>등의 태그처럼 아예 닫는 태그를 만들어줘도 됨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F7660BF-9D8A-4D9B-A2EE-C667F9509E93}" type="slidenum">
              <a:rPr lang="ko-KR" altLang="en-US" smtClean="0"/>
              <a:t>18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9602809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F7660BF-9D8A-4D9B-A2EE-C667F9509E93}" type="slidenum">
              <a:rPr lang="ko-KR" altLang="en-US" smtClean="0"/>
              <a:t>19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3279818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디버깅 </a:t>
            </a:r>
            <a:r>
              <a:rPr lang="en-US" altLang="ko-KR" dirty="0"/>
              <a:t>= </a:t>
            </a:r>
            <a:r>
              <a:rPr lang="ko-KR" altLang="en-US" dirty="0" err="1"/>
              <a:t>오류있는지</a:t>
            </a:r>
            <a:r>
              <a:rPr lang="ko-KR" altLang="en-US" dirty="0"/>
              <a:t> 검사하는 것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F7660BF-9D8A-4D9B-A2EE-C667F9509E93}" type="slidenum">
              <a:rPr lang="ko-KR" altLang="en-US" smtClean="0"/>
              <a:t>20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979692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 descr="폰트, 텍스트, 로고, 그래픽이(가) 표시된 사진&#10;&#10;자동 생성된 설명">
            <a:extLst>
              <a:ext uri="{FF2B5EF4-FFF2-40B4-BE49-F238E27FC236}">
                <a16:creationId xmlns:a16="http://schemas.microsoft.com/office/drawing/2014/main" id="{01AB1409-DEDF-C824-D8D3-05B260A93BD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8533" y="103811"/>
            <a:ext cx="4328535" cy="2280805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4B009D0C-0730-3FA7-D006-7345AAB817A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1080511"/>
            <a:ext cx="9144000" cy="2387600"/>
          </a:xfrm>
        </p:spPr>
        <p:txBody>
          <a:bodyPr anchor="b"/>
          <a:lstStyle>
            <a:lvl1pPr algn="ctr">
              <a:defRPr sz="6000" b="1">
                <a:solidFill>
                  <a:srgbClr val="6EC173"/>
                </a:solidFill>
              </a:defRPr>
            </a:lvl1pPr>
          </a:lstStyle>
          <a:p>
            <a:r>
              <a:rPr lang="ko-KR" altLang="en-US" sz="6000" dirty="0" err="1"/>
              <a:t>과정명</a:t>
            </a:r>
            <a:endParaRPr lang="ko-KR" altLang="en-US" sz="60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BBAF2A3-6AB5-1035-43BF-2D5011F42D6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24000" y="3741092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dirty="0"/>
              <a:t>부제목</a:t>
            </a:r>
          </a:p>
        </p:txBody>
      </p:sp>
      <p:sp>
        <p:nvSpPr>
          <p:cNvPr id="11" name="날짜 개체 틀 10">
            <a:extLst>
              <a:ext uri="{FF2B5EF4-FFF2-40B4-BE49-F238E27FC236}">
                <a16:creationId xmlns:a16="http://schemas.microsoft.com/office/drawing/2014/main" id="{AAFCC098-95A8-6767-4379-8DD4626B9D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2023년 9월</a:t>
            </a:fld>
            <a:endParaRPr lang="ko-KR" altLang="en-US"/>
          </a:p>
        </p:txBody>
      </p:sp>
      <p:sp>
        <p:nvSpPr>
          <p:cNvPr id="12" name="바닥글 개체 틀 11">
            <a:extLst>
              <a:ext uri="{FF2B5EF4-FFF2-40B4-BE49-F238E27FC236}">
                <a16:creationId xmlns:a16="http://schemas.microsoft.com/office/drawing/2014/main" id="{51CCB6AA-ECDD-5B10-7505-0EFEAC9C64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13" name="슬라이드 번호 개체 틀 12">
            <a:extLst>
              <a:ext uri="{FF2B5EF4-FFF2-40B4-BE49-F238E27FC236}">
                <a16:creationId xmlns:a16="http://schemas.microsoft.com/office/drawing/2014/main" id="{38B667F6-930A-7162-796D-3A16CE2AFD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4" name="제목 1">
            <a:extLst>
              <a:ext uri="{FF2B5EF4-FFF2-40B4-BE49-F238E27FC236}">
                <a16:creationId xmlns:a16="http://schemas.microsoft.com/office/drawing/2014/main" id="{92A323E6-E95B-6EB2-7753-649DE78B1653}"/>
              </a:ext>
            </a:extLst>
          </p:cNvPr>
          <p:cNvSpPr txBox="1">
            <a:spLocks/>
          </p:cNvSpPr>
          <p:nvPr userDrawn="1"/>
        </p:nvSpPr>
        <p:spPr>
          <a:xfrm>
            <a:off x="6096000" y="2203895"/>
            <a:ext cx="3287846" cy="45852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altLang="ko-KR" sz="2400" dirty="0">
              <a:solidFill>
                <a:srgbClr val="6EC173"/>
              </a:solidFill>
            </a:endParaRPr>
          </a:p>
        </p:txBody>
      </p:sp>
      <p:sp>
        <p:nvSpPr>
          <p:cNvPr id="15" name="부제목 2">
            <a:extLst>
              <a:ext uri="{FF2B5EF4-FFF2-40B4-BE49-F238E27FC236}">
                <a16:creationId xmlns:a16="http://schemas.microsoft.com/office/drawing/2014/main" id="{26026682-DE15-5F01-6FA7-8F46F9ABCC2A}"/>
              </a:ext>
            </a:extLst>
          </p:cNvPr>
          <p:cNvSpPr txBox="1">
            <a:spLocks/>
          </p:cNvSpPr>
          <p:nvPr userDrawn="1"/>
        </p:nvSpPr>
        <p:spPr>
          <a:xfrm>
            <a:off x="9110749" y="5933035"/>
            <a:ext cx="2948515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en-US" altLang="ko-KR" sz="2000" u="none" dirty="0"/>
              <a:t>With. </a:t>
            </a:r>
            <a:r>
              <a:rPr lang="ko-KR" altLang="en-US" sz="2000" u="none" dirty="0"/>
              <a:t>팀 </a:t>
            </a:r>
            <a:r>
              <a:rPr lang="ko-KR" altLang="en-US" sz="2000" u="none" dirty="0" err="1"/>
              <a:t>뤼쳐드</a:t>
            </a:r>
            <a:endParaRPr lang="ko-KR" altLang="en-US" sz="2000" u="none" dirty="0"/>
          </a:p>
        </p:txBody>
      </p:sp>
    </p:spTree>
    <p:extLst>
      <p:ext uri="{BB962C8B-B14F-4D97-AF65-F5344CB8AC3E}">
        <p14:creationId xmlns:p14="http://schemas.microsoft.com/office/powerpoint/2010/main" val="21045026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파트제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날짜 개체 틀 10">
            <a:extLst>
              <a:ext uri="{FF2B5EF4-FFF2-40B4-BE49-F238E27FC236}">
                <a16:creationId xmlns:a16="http://schemas.microsoft.com/office/drawing/2014/main" id="{AAFCC098-95A8-6767-4379-8DD4626B9D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2023년 9월</a:t>
            </a:fld>
            <a:endParaRPr lang="ko-KR" altLang="en-US"/>
          </a:p>
        </p:txBody>
      </p:sp>
      <p:sp>
        <p:nvSpPr>
          <p:cNvPr id="12" name="바닥글 개체 틀 11">
            <a:extLst>
              <a:ext uri="{FF2B5EF4-FFF2-40B4-BE49-F238E27FC236}">
                <a16:creationId xmlns:a16="http://schemas.microsoft.com/office/drawing/2014/main" id="{51CCB6AA-ECDD-5B10-7505-0EFEAC9C64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13" name="슬라이드 번호 개체 틀 12">
            <a:extLst>
              <a:ext uri="{FF2B5EF4-FFF2-40B4-BE49-F238E27FC236}">
                <a16:creationId xmlns:a16="http://schemas.microsoft.com/office/drawing/2014/main" id="{38B667F6-930A-7162-796D-3A16CE2AFD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4" name="제목 1">
            <a:extLst>
              <a:ext uri="{FF2B5EF4-FFF2-40B4-BE49-F238E27FC236}">
                <a16:creationId xmlns:a16="http://schemas.microsoft.com/office/drawing/2014/main" id="{92A323E6-E95B-6EB2-7753-649DE78B1653}"/>
              </a:ext>
            </a:extLst>
          </p:cNvPr>
          <p:cNvSpPr txBox="1">
            <a:spLocks/>
          </p:cNvSpPr>
          <p:nvPr userDrawn="1"/>
        </p:nvSpPr>
        <p:spPr>
          <a:xfrm>
            <a:off x="6096000" y="2203895"/>
            <a:ext cx="3287846" cy="45852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altLang="ko-KR" sz="2400" dirty="0">
              <a:solidFill>
                <a:srgbClr val="6EC173"/>
              </a:solidFill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838200" y="2598269"/>
            <a:ext cx="10515600" cy="1325563"/>
          </a:xfrm>
        </p:spPr>
        <p:txBody>
          <a:bodyPr>
            <a:noAutofit/>
          </a:bodyPr>
          <a:lstStyle>
            <a:lvl1pPr algn="ctr">
              <a:defRPr sz="8000" b="0">
                <a:solidFill>
                  <a:srgbClr val="6EC173"/>
                </a:solidFill>
              </a:defRPr>
            </a:lvl1pPr>
          </a:lstStyle>
          <a:p>
            <a:r>
              <a:rPr lang="ko-KR" altLang="en-US" dirty="0"/>
              <a:t>파트 제목</a:t>
            </a:r>
          </a:p>
        </p:txBody>
      </p:sp>
    </p:spTree>
    <p:extLst>
      <p:ext uri="{BB962C8B-B14F-4D97-AF65-F5344CB8AC3E}">
        <p14:creationId xmlns:p14="http://schemas.microsoft.com/office/powerpoint/2010/main" val="26089427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8757714-0D4F-E274-0B81-4198785050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784D0C3-D33B-7107-AB80-D9F33099C3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2023년 9월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9897DBF-398C-9DB6-E916-35AB4FE2F4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155B8D2-7CD5-9B15-8E13-87FF760EC8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7" name="제목 개체 틀 1">
            <a:extLst>
              <a:ext uri="{FF2B5EF4-FFF2-40B4-BE49-F238E27FC236}">
                <a16:creationId xmlns:a16="http://schemas.microsoft.com/office/drawing/2014/main" id="{964962A2-A4D4-9231-66A1-E1F593E604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23965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24931439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14601C5-2723-67A2-7D21-9F39D14C7C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4B1E75F-8FF2-A69A-E094-650EAEFD04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331FDEF-673D-E199-7B54-FFD44BA29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5A7087-D460-46DD-B430-F8D9B9677D08}" type="datetime6">
              <a:rPr lang="ko-KR" altLang="en-US" smtClean="0"/>
              <a:t>2023년 9월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6E7B47C-D16B-1F66-3165-B941B9C612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6F13A5C-BE81-C46F-5191-E33C5F066F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590298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D69A2ED-4026-CEC5-0F77-74287163EC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95CA756-D15D-464E-966E-2DF9AA9796A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FDC8A21-839F-87B3-9ABB-E0DA07E88E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B268EA5-E313-8CB5-4A12-914620F474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81BA25-D675-4234-A003-8449BDEEF18E}" type="datetime6">
              <a:rPr lang="ko-KR" altLang="en-US" smtClean="0"/>
              <a:t>2023년 9월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02797BB-0DAF-A25A-8AC2-46D61F5D6C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48752A1-1625-10E7-A4F0-2E13719E44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474496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B7AE7F-26ED-35B6-1BBA-A08CB8ECE2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588D8DD-7148-8B19-6172-B0A169CFC3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38CD1D6-87C8-BD82-7711-368227F17A5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EA208518-1B3C-A417-C6AC-99F9C66D122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D843F92-B722-06A6-9A56-0A03BE26CFC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23532A15-9ECF-C043-5CC2-911757B5AC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155C29-A87F-46F0-A24C-6C9F0A4BF6AA}" type="datetime6">
              <a:rPr lang="ko-KR" altLang="en-US" smtClean="0"/>
              <a:t>2023년 9월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79998F67-77F3-1632-EC3C-114B75C5A3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8AB6C1BB-6866-2A3B-A1F3-28B5D93C14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336619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F899283-9B12-5339-3042-B6B67884BD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D97E34E6-ECFD-E5F2-081F-39427DA947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2EDD62-8757-43DB-BAE0-460422B548EA}" type="datetime6">
              <a:rPr lang="ko-KR" altLang="en-US" smtClean="0"/>
              <a:t>2023년 9월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AE04029-E47F-F52E-AF1E-D31E2D400E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3665754-DE22-245A-A4D5-FE78A35B0D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241412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35E82391-47AE-B4C0-C4C4-22E5D96331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6A871B-4800-495F-AC75-93D44C7DEBA5}" type="datetime6">
              <a:rPr lang="ko-KR" altLang="en-US" smtClean="0"/>
              <a:t>2023년 9월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B69BF5EA-4922-4594-BC0D-A1D7F17A9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67BF1BF-296A-E655-349A-1877369A8C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143066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5094360-95AE-5B28-BF6B-212680601E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6D97E12-A7FB-C81A-18C2-34781A0686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739CAA1-90A7-601C-BD90-A0DC6A391D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E885FF0-6BE8-F11D-CDAC-7E7B63F396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605888-30A6-49BB-95E2-DEAE4E5B09E9}" type="datetime6">
              <a:rPr lang="ko-KR" altLang="en-US" smtClean="0"/>
              <a:t>2023년 9월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3A67A35-AF67-BDC9-86E1-D6EE283B8D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8C23707-35CC-08DC-8C13-06293DE525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401815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0BD7A00-094E-C3F9-1A07-8FD90B7C99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DFE9F136-9A64-0D06-F721-734E1E22447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5C3BE40-4202-4B4A-C8A7-24945AC6EE2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DD21BA2-CA17-A4B0-BBDD-B3995CC85A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A39A32-5728-48B8-9F9C-437D214CCAF1}" type="datetime6">
              <a:rPr lang="ko-KR" altLang="en-US" smtClean="0"/>
              <a:t>2023년 9월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E5E2437-D7E8-6CA8-856B-7C81E4CF80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000DA3E-B239-6A01-347D-5321CBE953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568157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8DC3B4-86CF-2498-CC6E-A256E4AA68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1E0FE57-EEBD-DC2E-5AAA-A425A6D59E3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C0A4B4C-46E0-9C94-5EAC-7237CB6A9F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ECC8BA-EBCB-4BF9-8E87-970CE0138376}" type="datetime6">
              <a:rPr lang="ko-KR" altLang="en-US" smtClean="0"/>
              <a:t>2023년 9월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816647A-6FF5-9F90-2812-CADD484055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F6AE80C-7F7A-130E-8BD8-5BA97658E5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0254805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E58AC244-4A84-09D3-50FB-F934F9F4796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B03D64C9-D76D-C43E-C82B-A315CE73F3E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40D0D7C-1A4D-433C-79F6-2C0633D1E9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69FA6E-4699-4AC6-B2CB-4E60A58ED7A8}" type="datetime6">
              <a:rPr lang="ko-KR" altLang="en-US" smtClean="0"/>
              <a:t>2023년 9월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C3F9A77-28DF-C409-13B2-D20C80BB4A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C466F88-F4F1-E00D-DC2A-8DBEA27072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137865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microsoft.com/office/2007/relationships/hdphoto" Target="../media/hdphoto1.wdp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2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0FFFA81-23D3-040A-78B0-48B808FA70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23965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9EC21FE-078C-940B-0151-04DDA663F5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257DE65-2350-3072-3D26-AE091FE7230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0" y="6479713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691C14A-5735-4A8B-B68B-DEC1DC2A3813}" type="datetime6">
              <a:rPr lang="ko-KR" altLang="en-US" smtClean="0"/>
              <a:t>2023년 9월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960F7DA-0F14-8211-C3E8-B6E466EE492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C8DDAAB-9487-BAAF-7209-B8E704131B6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448800" y="6479714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114AD115-409A-442E-434C-D90831860530}"/>
              </a:ext>
            </a:extLst>
          </p:cNvPr>
          <p:cNvSpPr/>
          <p:nvPr userDrawn="1"/>
        </p:nvSpPr>
        <p:spPr>
          <a:xfrm>
            <a:off x="0" y="6415344"/>
            <a:ext cx="12192000" cy="45719"/>
          </a:xfrm>
          <a:prstGeom prst="rect">
            <a:avLst/>
          </a:prstGeom>
          <a:solidFill>
            <a:srgbClr val="6EC173"/>
          </a:solidFill>
          <a:ln>
            <a:solidFill>
              <a:srgbClr val="6EC17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9" name="그림 8" descr="텍스트, 클립아트이(가) 표시된 사진&#10;&#10;자동 생성된 설명">
            <a:extLst>
              <a:ext uri="{FF2B5EF4-FFF2-40B4-BE49-F238E27FC236}">
                <a16:creationId xmlns:a16="http://schemas.microsoft.com/office/drawing/2014/main" id="{CFFA81A6-6D9A-9C22-6A01-103FCC7108B8}"/>
              </a:ext>
            </a:extLst>
          </p:cNvPr>
          <p:cNvPicPr>
            <a:picLocks noChangeAspect="1"/>
          </p:cNvPicPr>
          <p:nvPr userDrawn="1"/>
        </p:nvPicPr>
        <p:blipFill>
          <a:blip r:embed="rId14" cstate="hqprint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44576" y="140110"/>
            <a:ext cx="1026976" cy="20510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E8CEA0B-0194-B9A0-705F-CAB04B3523DA}"/>
              </a:ext>
            </a:extLst>
          </p:cNvPr>
          <p:cNvSpPr txBox="1"/>
          <p:nvPr userDrawn="1"/>
        </p:nvSpPr>
        <p:spPr>
          <a:xfrm>
            <a:off x="10814758" y="104713"/>
            <a:ext cx="22701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b="1" dirty="0">
                <a:solidFill>
                  <a:schemeClr val="tx1"/>
                </a:solidFill>
              </a:rPr>
              <a:t>X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pic>
        <p:nvPicPr>
          <p:cNvPr id="11" name="Picture 4" descr="청년취업사관학교, 새싹(SeSAC) - YouTube">
            <a:extLst>
              <a:ext uri="{FF2B5EF4-FFF2-40B4-BE49-F238E27FC236}">
                <a16:creationId xmlns:a16="http://schemas.microsoft.com/office/drawing/2014/main" id="{AD5D531A-42B5-6D12-7A47-FFEB75D29CB0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5" cstate="hqprint">
            <a:extLst>
              <a:ext uri="{BEBA8EAE-BF5A-486C-A8C5-ECC9F3942E4B}">
                <a14:imgProps xmlns:a14="http://schemas.microsoft.com/office/drawing/2010/main">
                  <a14:imgLayer r:embed="rId16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92653" y="54125"/>
            <a:ext cx="371243" cy="3712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791739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4" r:id="rId1"/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  <p:sldLayoutId id="2147483683" r:id="rId10"/>
    <p:sldLayoutId id="2147483684" r:id="rId11"/>
    <p:sldLayoutId id="2147483685" r:id="rId12"/>
  </p:sldLayoutIdLst>
  <p:hf hdr="0" ftr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7.png"/><Relationship Id="rId4" Type="http://schemas.openxmlformats.org/officeDocument/2006/relationships/image" Target="../media/image8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제목 6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/>
              <a:t>웹 개발자 부트캠프 과정</a:t>
            </a:r>
          </a:p>
        </p:txBody>
      </p:sp>
      <p:sp>
        <p:nvSpPr>
          <p:cNvPr id="8" name="부제목 7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sz="2800" dirty="0" err="1"/>
              <a:t>SeSAC</a:t>
            </a:r>
            <a:r>
              <a:rPr lang="en-US" altLang="ko-KR" sz="2800" dirty="0"/>
              <a:t> x </a:t>
            </a:r>
            <a:r>
              <a:rPr lang="en-US" altLang="ko-KR" sz="2800" dirty="0" err="1"/>
              <a:t>CODINGOn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0223B3B-2FCF-58AF-BC81-E9824EB6B1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A02FB7-A3D0-4BF4-B23F-90A4C3B73A56}" type="datetime6">
              <a:rPr lang="ko-KR" altLang="en-US" smtClean="0"/>
              <a:t>2023년 9월</a:t>
            </a:fld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C7112DC-52CD-A148-06F6-6813E1A67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116553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2023년 9월</a:t>
            </a:fld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4" name="제목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Compoment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562772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Component</a:t>
            </a:r>
            <a:endParaRPr lang="ko-KR" altLang="en-US" dirty="0"/>
          </a:p>
        </p:txBody>
      </p:sp>
      <p:pic>
        <p:nvPicPr>
          <p:cNvPr id="6" name="내용 개체 틀 5">
            <a:extLst>
              <a:ext uri="{FF2B5EF4-FFF2-40B4-BE49-F238E27FC236}">
                <a16:creationId xmlns:a16="http://schemas.microsoft.com/office/drawing/2014/main" id="{F3707F33-E737-AFB7-B776-FD130002B8B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838200" y="2087380"/>
            <a:ext cx="10515600" cy="3827828"/>
          </a:xfrm>
          <a:prstGeom prst="rect">
            <a:avLst/>
          </a:prstGeom>
          <a:effectLst>
            <a:outerShdw blurRad="254000" dir="18900000" algn="bl" rotWithShape="0">
              <a:schemeClr val="bg1">
                <a:lumMod val="75000"/>
                <a:alpha val="40000"/>
              </a:schemeClr>
            </a:outerShdw>
          </a:effectLst>
        </p:spPr>
      </p:pic>
    </p:spTree>
    <p:extLst>
      <p:ext uri="{BB962C8B-B14F-4D97-AF65-F5344CB8AC3E}">
        <p14:creationId xmlns:p14="http://schemas.microsoft.com/office/powerpoint/2010/main" val="5905738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Component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React</a:t>
            </a:r>
            <a:r>
              <a:rPr lang="ko-KR" altLang="en-US" dirty="0"/>
              <a:t>의 꽃이라 불리는 </a:t>
            </a:r>
            <a:r>
              <a:rPr lang="en-US" altLang="ko-KR" dirty="0">
                <a:solidFill>
                  <a:schemeClr val="accent1"/>
                </a:solidFill>
              </a:rPr>
              <a:t>React</a:t>
            </a:r>
            <a:r>
              <a:rPr lang="ko-KR" altLang="en-US" dirty="0">
                <a:solidFill>
                  <a:schemeClr val="accent1"/>
                </a:solidFill>
              </a:rPr>
              <a:t>의 핵심</a:t>
            </a:r>
            <a:endParaRPr lang="en-US" altLang="ko-KR" dirty="0">
              <a:solidFill>
                <a:schemeClr val="accent1"/>
              </a:solidFill>
            </a:endParaRPr>
          </a:p>
          <a:p>
            <a:r>
              <a:rPr lang="en-US" altLang="ko-KR" dirty="0"/>
              <a:t>React </a:t>
            </a:r>
            <a:r>
              <a:rPr lang="ko-KR" altLang="en-US" dirty="0"/>
              <a:t>를 화면을 구성하는 하나의 부분</a:t>
            </a:r>
            <a:endParaRPr lang="en-US" altLang="ko-KR" dirty="0"/>
          </a:p>
          <a:p>
            <a:r>
              <a:rPr lang="ko-KR" altLang="en-US" dirty="0"/>
              <a:t>내부의 데이터만 변경해서 전체적인 틀</a:t>
            </a:r>
            <a:r>
              <a:rPr lang="en-US" altLang="ko-KR" dirty="0"/>
              <a:t>(UI)</a:t>
            </a:r>
            <a:r>
              <a:rPr lang="ko-KR" altLang="en-US" dirty="0"/>
              <a:t>을 재사용 가능</a:t>
            </a:r>
            <a:endParaRPr lang="en-US" altLang="ko-KR" dirty="0"/>
          </a:p>
          <a:p>
            <a:r>
              <a:rPr lang="en-US" altLang="ko-KR" dirty="0"/>
              <a:t>UI</a:t>
            </a:r>
            <a:r>
              <a:rPr lang="ko-KR" altLang="en-US" dirty="0"/>
              <a:t>를 재사용 가능한 개별적인 여러 조각으로 나누고</a:t>
            </a:r>
            <a:r>
              <a:rPr lang="en-US" altLang="ko-KR" dirty="0"/>
              <a:t>, </a:t>
            </a:r>
            <a:r>
              <a:rPr lang="ko-KR" altLang="en-US" dirty="0"/>
              <a:t>각 조각을 개별적으로 나누어 분리 가능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40106537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Component</a:t>
            </a:r>
            <a:endParaRPr lang="ko-KR" altLang="en-US" dirty="0"/>
          </a:p>
        </p:txBody>
      </p:sp>
      <p:pic>
        <p:nvPicPr>
          <p:cNvPr id="6" name="내용 개체 틀 5">
            <a:extLst>
              <a:ext uri="{FF2B5EF4-FFF2-40B4-BE49-F238E27FC236}">
                <a16:creationId xmlns:a16="http://schemas.microsoft.com/office/drawing/2014/main" id="{F3707F33-E737-AFB7-B776-FD130002B8B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838200" y="2087380"/>
            <a:ext cx="10515600" cy="3827828"/>
          </a:xfrm>
          <a:prstGeom prst="rect">
            <a:avLst/>
          </a:prstGeom>
          <a:effectLst>
            <a:outerShdw blurRad="254000" dir="18900000" algn="bl" rotWithShape="0">
              <a:schemeClr val="bg1">
                <a:lumMod val="75000"/>
                <a:alpha val="40000"/>
              </a:schemeClr>
            </a:outerShdw>
          </a:effectLst>
        </p:spPr>
      </p:pic>
      <p:sp>
        <p:nvSpPr>
          <p:cNvPr id="3" name="직사각형 2"/>
          <p:cNvSpPr/>
          <p:nvPr/>
        </p:nvSpPr>
        <p:spPr>
          <a:xfrm>
            <a:off x="838201" y="3203798"/>
            <a:ext cx="10515600" cy="2711410"/>
          </a:xfrm>
          <a:prstGeom prst="rect">
            <a:avLst/>
          </a:prstGeom>
          <a:noFill/>
          <a:ln w="28575">
            <a:solidFill>
              <a:srgbClr val="FF5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/>
          <p:cNvSpPr/>
          <p:nvPr/>
        </p:nvSpPr>
        <p:spPr>
          <a:xfrm>
            <a:off x="838199" y="2601532"/>
            <a:ext cx="10515601" cy="602266"/>
          </a:xfrm>
          <a:prstGeom prst="rect">
            <a:avLst/>
          </a:prstGeom>
          <a:noFill/>
          <a:ln w="28575">
            <a:solidFill>
              <a:srgbClr val="FF5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="1" dirty="0"/>
          </a:p>
        </p:txBody>
      </p:sp>
      <p:sp>
        <p:nvSpPr>
          <p:cNvPr id="4" name="모서리가 둥근 직사각형 3"/>
          <p:cNvSpPr/>
          <p:nvPr/>
        </p:nvSpPr>
        <p:spPr>
          <a:xfrm>
            <a:off x="865423" y="3258528"/>
            <a:ext cx="2085304" cy="2562723"/>
          </a:xfrm>
          <a:prstGeom prst="roundRect">
            <a:avLst/>
          </a:prstGeom>
          <a:noFill/>
          <a:ln w="28575">
            <a:solidFill>
              <a:srgbClr val="3399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직사각형 6"/>
          <p:cNvSpPr/>
          <p:nvPr/>
        </p:nvSpPr>
        <p:spPr>
          <a:xfrm>
            <a:off x="838198" y="2087380"/>
            <a:ext cx="10515601" cy="514152"/>
          </a:xfrm>
          <a:prstGeom prst="rect">
            <a:avLst/>
          </a:prstGeom>
          <a:noFill/>
          <a:ln w="28575">
            <a:solidFill>
              <a:srgbClr val="FF5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모서리가 둥근 직사각형 7"/>
          <p:cNvSpPr/>
          <p:nvPr/>
        </p:nvSpPr>
        <p:spPr>
          <a:xfrm>
            <a:off x="851076" y="2619061"/>
            <a:ext cx="733026" cy="543873"/>
          </a:xfrm>
          <a:prstGeom prst="roundRect">
            <a:avLst/>
          </a:prstGeom>
          <a:noFill/>
          <a:ln w="28575">
            <a:solidFill>
              <a:srgbClr val="3399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/>
          <p:cNvSpPr/>
          <p:nvPr/>
        </p:nvSpPr>
        <p:spPr>
          <a:xfrm>
            <a:off x="748045" y="1983347"/>
            <a:ext cx="10701273" cy="4031087"/>
          </a:xfrm>
          <a:prstGeom prst="rect">
            <a:avLst/>
          </a:prstGeom>
          <a:noFill/>
          <a:ln w="5715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TextBox 10"/>
          <p:cNvSpPr txBox="1"/>
          <p:nvPr/>
        </p:nvSpPr>
        <p:spPr>
          <a:xfrm>
            <a:off x="4983802" y="681953"/>
            <a:ext cx="618009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rgbClr val="3399FF"/>
                </a:solidFill>
                <a:latin typeface="+mn-ea"/>
              </a:rPr>
              <a:t>1. </a:t>
            </a:r>
            <a:r>
              <a:rPr lang="ko-KR" altLang="en-US" dirty="0">
                <a:solidFill>
                  <a:srgbClr val="3399FF"/>
                </a:solidFill>
                <a:latin typeface="+mn-ea"/>
              </a:rPr>
              <a:t>재사용 되고 있는 부분을 담당하고 있는 작은 단위의 컴포넌트</a:t>
            </a:r>
            <a:endParaRPr lang="en-US" altLang="ko-KR" dirty="0">
              <a:solidFill>
                <a:srgbClr val="3399FF"/>
              </a:solidFill>
              <a:latin typeface="+mn-ea"/>
            </a:endParaRPr>
          </a:p>
          <a:p>
            <a:r>
              <a:rPr lang="en-US" altLang="ko-KR" dirty="0">
                <a:solidFill>
                  <a:srgbClr val="FF5050"/>
                </a:solidFill>
                <a:latin typeface="+mn-ea"/>
              </a:rPr>
              <a:t>2. </a:t>
            </a:r>
            <a:r>
              <a:rPr lang="ko-KR" altLang="en-US" dirty="0">
                <a:solidFill>
                  <a:srgbClr val="FF5050"/>
                </a:solidFill>
                <a:latin typeface="+mn-ea"/>
              </a:rPr>
              <a:t>페이지의 부분</a:t>
            </a:r>
            <a:r>
              <a:rPr lang="en-US" altLang="ko-KR" dirty="0">
                <a:solidFill>
                  <a:srgbClr val="FF5050"/>
                </a:solidFill>
                <a:latin typeface="+mn-ea"/>
              </a:rPr>
              <a:t>(section, header </a:t>
            </a:r>
            <a:r>
              <a:rPr lang="ko-KR" altLang="en-US" dirty="0">
                <a:solidFill>
                  <a:srgbClr val="FF5050"/>
                </a:solidFill>
                <a:latin typeface="+mn-ea"/>
              </a:rPr>
              <a:t>등</a:t>
            </a:r>
            <a:r>
              <a:rPr lang="en-US" altLang="ko-KR" dirty="0">
                <a:solidFill>
                  <a:srgbClr val="FF5050"/>
                </a:solidFill>
                <a:latin typeface="+mn-ea"/>
              </a:rPr>
              <a:t>)</a:t>
            </a:r>
            <a:r>
              <a:rPr lang="ko-KR" altLang="en-US" dirty="0">
                <a:solidFill>
                  <a:srgbClr val="FF5050"/>
                </a:solidFill>
                <a:latin typeface="+mn-ea"/>
              </a:rPr>
              <a:t>을 담당하고 있는 컴포넌트</a:t>
            </a:r>
            <a:endParaRPr lang="en-US" altLang="ko-KR" dirty="0">
              <a:solidFill>
                <a:srgbClr val="FF5050"/>
              </a:solidFill>
              <a:latin typeface="+mn-ea"/>
            </a:endParaRPr>
          </a:p>
          <a:p>
            <a:r>
              <a:rPr lang="en-US" altLang="ko-KR" dirty="0">
                <a:solidFill>
                  <a:srgbClr val="FFC000"/>
                </a:solidFill>
                <a:latin typeface="+mn-ea"/>
              </a:rPr>
              <a:t>3. </a:t>
            </a:r>
            <a:r>
              <a:rPr lang="ko-KR" altLang="en-US" dirty="0">
                <a:solidFill>
                  <a:srgbClr val="FFC000"/>
                </a:solidFill>
                <a:latin typeface="+mn-ea"/>
              </a:rPr>
              <a:t>페이지 전체를 담당하고 있는 컴포넌트</a:t>
            </a:r>
          </a:p>
        </p:txBody>
      </p:sp>
    </p:spTree>
    <p:extLst>
      <p:ext uri="{BB962C8B-B14F-4D97-AF65-F5344CB8AC3E}">
        <p14:creationId xmlns:p14="http://schemas.microsoft.com/office/powerpoint/2010/main" val="11065176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5" grpId="0" animBg="1"/>
      <p:bldP spid="4" grpId="0" animBg="1"/>
      <p:bldP spid="7" grpId="0" animBg="1"/>
      <p:bldP spid="8" grpId="0" animBg="1"/>
      <p:bldP spid="10" grpId="0" animBg="1"/>
      <p:bldP spid="1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F6F743E-6D99-228E-21E4-B6FD029FA0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Component </a:t>
            </a:r>
            <a:r>
              <a:rPr lang="ko-KR" altLang="en-US" dirty="0"/>
              <a:t>트리 구조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2B9A688-2F5D-8B51-60C9-FFEB052364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68698F-A099-4459-96DD-C5B99D5CE837}" type="datetime6">
              <a:rPr lang="ko-KR" altLang="en-US" smtClean="0"/>
              <a:t>2023년 9월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FD0328C-2E8F-DD57-52F6-4CEE68F39D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6</a:t>
            </a:fld>
            <a:endParaRPr lang="ko-KR" altLang="en-US"/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83A8DE69-7729-8C4A-3329-8DF0B36FF9FF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560" r="345" b="7003"/>
          <a:stretch/>
        </p:blipFill>
        <p:spPr>
          <a:xfrm>
            <a:off x="2164575" y="1488687"/>
            <a:ext cx="7862849" cy="3880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62272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BCA096F-6F3F-6E1B-B93A-CE04A9DF4D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 dirty="0">
                <a:solidFill>
                  <a:schemeClr val="accent1"/>
                </a:solidFill>
              </a:rPr>
              <a:t>클래스형 컴포넌트 </a:t>
            </a:r>
            <a:r>
              <a:rPr lang="en-US" altLang="ko-KR" dirty="0">
                <a:solidFill>
                  <a:schemeClr val="accent1"/>
                </a:solidFill>
              </a:rPr>
              <a:t>(Class Component)</a:t>
            </a:r>
          </a:p>
          <a:p>
            <a:pPr lvl="1"/>
            <a:r>
              <a:rPr lang="en-US" altLang="ko-KR" dirty="0"/>
              <a:t>render </a:t>
            </a:r>
            <a:r>
              <a:rPr lang="ko-KR" altLang="en-US" dirty="0"/>
              <a:t>함수를 반드시 사용해야 함</a:t>
            </a:r>
            <a:endParaRPr lang="en-US" altLang="ko-KR" dirty="0"/>
          </a:p>
          <a:p>
            <a:pPr lvl="1"/>
            <a:r>
              <a:rPr lang="en-US" altLang="ko-KR" dirty="0"/>
              <a:t>lifecycle </a:t>
            </a:r>
            <a:r>
              <a:rPr lang="ko-KR" altLang="en-US" dirty="0"/>
              <a:t>기능 </a:t>
            </a:r>
            <a:endParaRPr lang="en-US" altLang="ko-KR" dirty="0"/>
          </a:p>
          <a:p>
            <a:pPr lvl="1"/>
            <a:r>
              <a:rPr lang="ko-KR" altLang="en-US" dirty="0"/>
              <a:t>컴포넌트를 만들 때 기존 </a:t>
            </a:r>
            <a:r>
              <a:rPr lang="en-US" altLang="ko-KR" dirty="0"/>
              <a:t>Components </a:t>
            </a:r>
            <a:r>
              <a:rPr lang="ko-KR" altLang="en-US" dirty="0"/>
              <a:t>클래스에서 상속받아서 사용</a:t>
            </a:r>
          </a:p>
          <a:p>
            <a:pPr lvl="1"/>
            <a:endParaRPr lang="en-US" altLang="ko-KR" dirty="0"/>
          </a:p>
          <a:p>
            <a:r>
              <a:rPr lang="ko-KR" altLang="en-US" dirty="0">
                <a:solidFill>
                  <a:schemeClr val="accent1"/>
                </a:solidFill>
              </a:rPr>
              <a:t>함수형 컴포넌트 </a:t>
            </a:r>
            <a:r>
              <a:rPr lang="en-US" altLang="ko-KR" dirty="0">
                <a:solidFill>
                  <a:schemeClr val="accent1"/>
                </a:solidFill>
              </a:rPr>
              <a:t>(Functional Component)</a:t>
            </a:r>
          </a:p>
          <a:p>
            <a:pPr lvl="1"/>
            <a:r>
              <a:rPr lang="ko-KR" altLang="en-US" dirty="0"/>
              <a:t>짧고 직관적이며</a:t>
            </a:r>
            <a:r>
              <a:rPr lang="en-US" altLang="ko-KR" dirty="0"/>
              <a:t>, </a:t>
            </a:r>
            <a:r>
              <a:rPr lang="ko-KR" altLang="en-US" dirty="0"/>
              <a:t>사용방법이 더 간단함</a:t>
            </a:r>
            <a:endParaRPr lang="en-US" altLang="ko-KR" dirty="0"/>
          </a:p>
          <a:p>
            <a:pPr lvl="1"/>
            <a:r>
              <a:rPr lang="ko-KR" altLang="en-US" dirty="0"/>
              <a:t>메모리 사용에 이점이 있음</a:t>
            </a:r>
          </a:p>
          <a:p>
            <a:pPr lvl="1"/>
            <a:endParaRPr lang="en-US" altLang="ko-KR" dirty="0"/>
          </a:p>
          <a:p>
            <a:endParaRPr lang="ko-KR" altLang="en-US" dirty="0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C8A712E-47C4-D02F-744F-A910EE24D8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2023년 9월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1E7DD45-DE90-3D89-3299-F2DF57E2A8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7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338601F7-E9A8-CB0C-86CB-96A8625F0C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React</a:t>
            </a:r>
            <a:r>
              <a:rPr lang="ko-KR" altLang="en-US" dirty="0"/>
              <a:t> 컴포넌트 종류</a:t>
            </a:r>
          </a:p>
        </p:txBody>
      </p:sp>
    </p:spTree>
    <p:extLst>
      <p:ext uri="{BB962C8B-B14F-4D97-AF65-F5344CB8AC3E}">
        <p14:creationId xmlns:p14="http://schemas.microsoft.com/office/powerpoint/2010/main" val="416255932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Component </a:t>
            </a:r>
            <a:r>
              <a:rPr lang="ko-KR" altLang="en-US" dirty="0"/>
              <a:t>를 만드는 방법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819874"/>
          </a:xfrm>
        </p:spPr>
        <p:txBody>
          <a:bodyPr>
            <a:normAutofit lnSpcReduction="10000"/>
          </a:bodyPr>
          <a:lstStyle/>
          <a:p>
            <a:r>
              <a:rPr lang="ko-KR" altLang="en-US" dirty="0" err="1">
                <a:solidFill>
                  <a:srgbClr val="92D050"/>
                </a:solidFill>
              </a:rPr>
              <a:t>클래스형</a:t>
            </a:r>
            <a:r>
              <a:rPr lang="ko-KR" altLang="en-US" dirty="0">
                <a:solidFill>
                  <a:srgbClr val="92D050"/>
                </a:solidFill>
              </a:rPr>
              <a:t> 컴포넌트 </a:t>
            </a:r>
            <a:r>
              <a:rPr lang="en-US" altLang="ko-KR" dirty="0">
                <a:solidFill>
                  <a:srgbClr val="2FA599"/>
                </a:solidFill>
              </a:rPr>
              <a:t>vs.</a:t>
            </a:r>
            <a:r>
              <a:rPr lang="en-US" altLang="ko-KR" dirty="0"/>
              <a:t> </a:t>
            </a:r>
            <a:r>
              <a:rPr lang="ko-KR" altLang="en-US" dirty="0">
                <a:solidFill>
                  <a:srgbClr val="6DC172"/>
                </a:solidFill>
              </a:rPr>
              <a:t>함수형 컴포넌트</a:t>
            </a:r>
            <a:endParaRPr lang="en-US" altLang="ko-KR" dirty="0">
              <a:solidFill>
                <a:srgbClr val="6DC172"/>
              </a:solidFill>
            </a:endParaRPr>
          </a:p>
          <a:p>
            <a:pPr lvl="1">
              <a:lnSpc>
                <a:spcPct val="110000"/>
              </a:lnSpc>
            </a:pPr>
            <a:r>
              <a:rPr lang="en-US" altLang="ko-KR" dirty="0"/>
              <a:t>React </a:t>
            </a:r>
            <a:r>
              <a:rPr lang="ko-KR" altLang="en-US" dirty="0"/>
              <a:t>초창기에는 </a:t>
            </a:r>
            <a:r>
              <a:rPr lang="ko-KR" altLang="en-US" dirty="0">
                <a:solidFill>
                  <a:srgbClr val="6DC172"/>
                </a:solidFill>
              </a:rPr>
              <a:t>함수형 컴포넌트</a:t>
            </a:r>
            <a:r>
              <a:rPr lang="ko-KR" altLang="en-US" dirty="0"/>
              <a:t>에는 현재 </a:t>
            </a:r>
            <a:r>
              <a:rPr lang="ko-KR" altLang="en-US" dirty="0" err="1"/>
              <a:t>리액트의</a:t>
            </a:r>
            <a:r>
              <a:rPr lang="ko-KR" altLang="en-US" dirty="0"/>
              <a:t> 핵심기능</a:t>
            </a:r>
            <a:r>
              <a:rPr lang="en-US" altLang="ko-KR" dirty="0"/>
              <a:t>(state, lifecycle..)</a:t>
            </a:r>
            <a:r>
              <a:rPr lang="ko-KR" altLang="en-US" dirty="0"/>
              <a:t>등 기능을 사용할 수 없었어요</a:t>
            </a:r>
            <a:r>
              <a:rPr lang="en-US" altLang="ko-KR" dirty="0"/>
              <a:t>.</a:t>
            </a:r>
          </a:p>
          <a:p>
            <a:pPr lvl="1">
              <a:lnSpc>
                <a:spcPct val="110000"/>
              </a:lnSpc>
            </a:pPr>
            <a:endParaRPr lang="en-US" altLang="ko-KR" sz="1000" dirty="0"/>
          </a:p>
          <a:p>
            <a:pPr lvl="1">
              <a:lnSpc>
                <a:spcPct val="110000"/>
              </a:lnSpc>
            </a:pPr>
            <a:r>
              <a:rPr lang="en-US" altLang="ko-KR" dirty="0"/>
              <a:t>React 16.8 </a:t>
            </a:r>
            <a:r>
              <a:rPr lang="ko-KR" altLang="en-US" dirty="0"/>
              <a:t>부터 </a:t>
            </a:r>
            <a:r>
              <a:rPr lang="en-US" altLang="ko-KR" dirty="0"/>
              <a:t>hooks </a:t>
            </a:r>
            <a:r>
              <a:rPr lang="ko-KR" altLang="en-US" dirty="0"/>
              <a:t>의 등장으로 </a:t>
            </a:r>
            <a:r>
              <a:rPr lang="en-US" altLang="ko-KR" dirty="0"/>
              <a:t> </a:t>
            </a:r>
            <a:r>
              <a:rPr lang="ko-KR" altLang="en-US" dirty="0">
                <a:solidFill>
                  <a:srgbClr val="6DC172"/>
                </a:solidFill>
              </a:rPr>
              <a:t>함수형 컴포넌트</a:t>
            </a:r>
            <a:r>
              <a:rPr lang="ko-KR" altLang="en-US" dirty="0"/>
              <a:t>에도 핵심기능을 사용할 수 있게 되었습니다</a:t>
            </a:r>
            <a:r>
              <a:rPr lang="en-US" altLang="ko-KR" dirty="0"/>
              <a:t>.</a:t>
            </a:r>
          </a:p>
          <a:p>
            <a:pPr lvl="1">
              <a:lnSpc>
                <a:spcPct val="110000"/>
              </a:lnSpc>
            </a:pPr>
            <a:endParaRPr lang="en-US" altLang="ko-KR" sz="1000" dirty="0"/>
          </a:p>
          <a:p>
            <a:pPr lvl="1">
              <a:lnSpc>
                <a:spcPct val="110000"/>
              </a:lnSpc>
            </a:pPr>
            <a:r>
              <a:rPr lang="ko-KR" altLang="en-US" dirty="0"/>
              <a:t>과거에는 다양한 기능을 사용할 수 있는 </a:t>
            </a:r>
            <a:r>
              <a:rPr lang="ko-KR" altLang="en-US" dirty="0" err="1">
                <a:solidFill>
                  <a:srgbClr val="92D050"/>
                </a:solidFill>
              </a:rPr>
              <a:t>클래스형</a:t>
            </a:r>
            <a:r>
              <a:rPr lang="ko-KR" altLang="en-US" dirty="0">
                <a:solidFill>
                  <a:srgbClr val="92D050"/>
                </a:solidFill>
              </a:rPr>
              <a:t> 컴포넌트</a:t>
            </a:r>
            <a:r>
              <a:rPr lang="ko-KR" altLang="en-US" dirty="0"/>
              <a:t>를 사용했지만</a:t>
            </a:r>
            <a:r>
              <a:rPr lang="en-US" altLang="ko-KR" dirty="0"/>
              <a:t>, </a:t>
            </a:r>
            <a:r>
              <a:rPr lang="ko-KR" altLang="en-US" dirty="0"/>
              <a:t>현재는 더 쉬운 문법을 가지고 있는 </a:t>
            </a:r>
            <a:r>
              <a:rPr lang="ko-KR" altLang="en-US" u="sng" dirty="0">
                <a:solidFill>
                  <a:srgbClr val="6DC172"/>
                </a:solidFill>
              </a:rPr>
              <a:t>함수형 컴포넌트의</a:t>
            </a:r>
            <a:r>
              <a:rPr lang="ko-KR" altLang="en-US" u="sng" dirty="0"/>
              <a:t> 사용 비율이 압도적으로 높아요</a:t>
            </a:r>
            <a:r>
              <a:rPr lang="en-US" altLang="ko-KR" u="sng" dirty="0"/>
              <a:t>!</a:t>
            </a:r>
          </a:p>
          <a:p>
            <a:pPr lvl="1">
              <a:lnSpc>
                <a:spcPct val="110000"/>
              </a:lnSpc>
            </a:pPr>
            <a:endParaRPr lang="en-US" altLang="ko-KR" sz="1000" u="sng" dirty="0"/>
          </a:p>
          <a:p>
            <a:pPr lvl="1">
              <a:lnSpc>
                <a:spcPct val="110000"/>
              </a:lnSpc>
            </a:pPr>
            <a:r>
              <a:rPr lang="ko-KR" altLang="en-US" dirty="0"/>
              <a:t>공통적으로 컴포넌트의 이름은 </a:t>
            </a:r>
            <a:r>
              <a:rPr lang="en-US" altLang="ko-KR" dirty="0" err="1">
                <a:solidFill>
                  <a:schemeClr val="accent5"/>
                </a:solidFill>
              </a:rPr>
              <a:t>PascalCase</a:t>
            </a:r>
            <a:r>
              <a:rPr lang="en-US" altLang="ko-KR" dirty="0"/>
              <a:t> </a:t>
            </a:r>
            <a:r>
              <a:rPr lang="ko-KR" altLang="en-US" dirty="0"/>
              <a:t>사용</a:t>
            </a:r>
            <a:r>
              <a:rPr lang="en-US" altLang="ko-KR" dirty="0"/>
              <a:t>!</a:t>
            </a:r>
          </a:p>
          <a:p>
            <a:pPr lvl="1">
              <a:lnSpc>
                <a:spcPct val="110000"/>
              </a:lnSpc>
            </a:pPr>
            <a:endParaRPr lang="en-US" altLang="ko-KR" sz="1800" u="sng" dirty="0"/>
          </a:p>
          <a:p>
            <a:pPr marL="457200" lvl="1" indent="0">
              <a:lnSpc>
                <a:spcPct val="110000"/>
              </a:lnSpc>
              <a:buNone/>
            </a:pPr>
            <a:r>
              <a:rPr lang="ko-KR" altLang="en-US" sz="1600" dirty="0" err="1">
                <a:solidFill>
                  <a:schemeClr val="bg1">
                    <a:lumMod val="65000"/>
                  </a:schemeClr>
                </a:solidFill>
              </a:rPr>
              <a:t>클래스형</a:t>
            </a:r>
            <a:r>
              <a:rPr lang="ko-KR" altLang="en-US" sz="1600" dirty="0">
                <a:solidFill>
                  <a:schemeClr val="bg1">
                    <a:lumMod val="65000"/>
                  </a:schemeClr>
                </a:solidFill>
              </a:rPr>
              <a:t> 컴포넌트를 만드는 방법도 </a:t>
            </a:r>
            <a:r>
              <a:rPr lang="ko-KR" altLang="en-US" sz="1600" dirty="0" err="1">
                <a:solidFill>
                  <a:schemeClr val="bg1">
                    <a:lumMod val="65000"/>
                  </a:schemeClr>
                </a:solidFill>
              </a:rPr>
              <a:t>배울거지만</a:t>
            </a:r>
            <a:r>
              <a:rPr lang="en-US" altLang="ko-KR" sz="1600" dirty="0">
                <a:solidFill>
                  <a:schemeClr val="bg1">
                    <a:lumMod val="65000"/>
                  </a:schemeClr>
                </a:solidFill>
              </a:rPr>
              <a:t>, </a:t>
            </a:r>
            <a:r>
              <a:rPr lang="ko-KR" altLang="en-US" sz="1600" dirty="0">
                <a:solidFill>
                  <a:schemeClr val="bg1">
                    <a:lumMod val="65000"/>
                  </a:schemeClr>
                </a:solidFill>
              </a:rPr>
              <a:t>저렇게 쓰는구나 </a:t>
            </a:r>
            <a:r>
              <a:rPr lang="en-US" altLang="ko-KR" sz="1600" dirty="0">
                <a:solidFill>
                  <a:schemeClr val="bg1">
                    <a:lumMod val="65000"/>
                  </a:schemeClr>
                </a:solidFill>
              </a:rPr>
              <a:t>~ </a:t>
            </a:r>
            <a:r>
              <a:rPr lang="ko-KR" altLang="en-US" sz="1600" dirty="0">
                <a:solidFill>
                  <a:schemeClr val="bg1">
                    <a:lumMod val="65000"/>
                  </a:schemeClr>
                </a:solidFill>
              </a:rPr>
              <a:t>하고 알아만 주시면 됩니다</a:t>
            </a:r>
            <a:endParaRPr lang="en-US" altLang="ko-KR" dirty="0">
              <a:solidFill>
                <a:schemeClr val="bg1">
                  <a:lumMod val="65000"/>
                </a:schemeClr>
              </a:solidFill>
            </a:endParaRPr>
          </a:p>
          <a:p>
            <a:pPr lvl="1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434591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이렇게</a:t>
            </a:r>
            <a:r>
              <a:rPr lang="en-US" altLang="ko-KR" dirty="0"/>
              <a:t> </a:t>
            </a:r>
            <a:r>
              <a:rPr lang="ko-KR" altLang="en-US" dirty="0"/>
              <a:t>생겼어요</a:t>
            </a:r>
            <a:r>
              <a:rPr lang="en-US" altLang="ko-KR" dirty="0"/>
              <a:t>!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C5FFE2C-D46A-FD74-FBC3-4E1A499D5FF6}"/>
              </a:ext>
            </a:extLst>
          </p:cNvPr>
          <p:cNvSpPr txBox="1"/>
          <p:nvPr/>
        </p:nvSpPr>
        <p:spPr>
          <a:xfrm>
            <a:off x="302149" y="1690688"/>
            <a:ext cx="6553200" cy="3139321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 w="28575">
            <a:solidFill>
              <a:schemeClr val="bg1">
                <a:lumMod val="50000"/>
              </a:schemeClr>
            </a:solidFill>
          </a:ln>
        </p:spPr>
        <p:txBody>
          <a:bodyPr wrap="square">
            <a:spAutoFit/>
          </a:bodyPr>
          <a:lstStyle/>
          <a:p>
            <a:r>
              <a:rPr lang="en-US" altLang="ko-KR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React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{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Component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 </a:t>
            </a:r>
            <a:r>
              <a:rPr lang="en-US" altLang="ko-KR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'react'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b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ClassComponent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extends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Component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render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h1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Class Component </a:t>
            </a:r>
            <a:r>
              <a:rPr lang="ko-KR" alt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입니다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&lt;/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h1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altLang="ko-KR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);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b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export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default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ClassComponent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0DE8C96-0434-7B0F-CD73-1384897015A5}"/>
              </a:ext>
            </a:extLst>
          </p:cNvPr>
          <p:cNvSpPr txBox="1"/>
          <p:nvPr/>
        </p:nvSpPr>
        <p:spPr>
          <a:xfrm>
            <a:off x="5698523" y="4354030"/>
            <a:ext cx="6096000" cy="2031325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 w="28575">
            <a:solidFill>
              <a:schemeClr val="bg1">
                <a:lumMod val="50000"/>
              </a:schemeClr>
            </a:solidFill>
          </a:ln>
        </p:spPr>
        <p:txBody>
          <a:bodyPr wrap="square">
            <a:spAutoFit/>
          </a:bodyPr>
          <a:lstStyle/>
          <a:p>
            <a:r>
              <a:rPr lang="en-US" altLang="ko-KR" dirty="0">
                <a:solidFill>
                  <a:srgbClr val="C586C0"/>
                </a:solidFill>
                <a:latin typeface="Consolas" panose="020B0609020204030204" pitchFamily="49" charset="0"/>
              </a:rPr>
              <a:t>export</a:t>
            </a:r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</a:rPr>
              <a:t> </a:t>
            </a:r>
            <a:r>
              <a:rPr lang="en-US" altLang="ko-KR" dirty="0">
                <a:solidFill>
                  <a:srgbClr val="C586C0"/>
                </a:solidFill>
                <a:latin typeface="Consolas" panose="020B0609020204030204" pitchFamily="49" charset="0"/>
              </a:rPr>
              <a:t>default</a:t>
            </a:r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</a:rPr>
              <a:t> </a:t>
            </a:r>
            <a:r>
              <a:rPr lang="en-US" altLang="ko-KR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FunctionComponent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() 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=&gt;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</a:p>
          <a:p>
            <a:r>
              <a:rPr lang="en-US" altLang="ko-KR" dirty="0">
                <a:solidFill>
                  <a:srgbClr val="C586C0"/>
                </a:solidFill>
                <a:latin typeface="Consolas" panose="020B0609020204030204" pitchFamily="49" charset="0"/>
              </a:rPr>
              <a:t>      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</a:p>
          <a:p>
            <a:r>
              <a:rPr lang="en-US" altLang="ko-KR" dirty="0">
                <a:solidFill>
                  <a:srgbClr val="808080"/>
                </a:solidFill>
                <a:latin typeface="Consolas" panose="020B0609020204030204" pitchFamily="49" charset="0"/>
              </a:rPr>
              <a:t>        </a:t>
            </a:r>
            <a:r>
              <a:rPr lang="en-US" altLang="ko-KR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Funtional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Component </a:t>
            </a:r>
            <a:r>
              <a:rPr lang="ko-KR" alt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입니다</a:t>
            </a:r>
            <a:endParaRPr lang="en-US" altLang="ko-KR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</a:rPr>
              <a:t>      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&lt;/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altLang="ko-KR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39449" y="4795669"/>
            <a:ext cx="165782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dirty="0" err="1">
                <a:solidFill>
                  <a:schemeClr val="bg1">
                    <a:lumMod val="50000"/>
                  </a:schemeClr>
                </a:solidFill>
                <a:latin typeface="+mn-ea"/>
              </a:rPr>
              <a:t>클래스형</a:t>
            </a:r>
            <a:r>
              <a:rPr lang="ko-KR" altLang="en-US" sz="1600" dirty="0">
                <a:solidFill>
                  <a:schemeClr val="bg1">
                    <a:lumMod val="50000"/>
                  </a:schemeClr>
                </a:solidFill>
                <a:latin typeface="+mn-ea"/>
              </a:rPr>
              <a:t> 컴포넌트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04974" y="4001294"/>
            <a:ext cx="148309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dirty="0">
                <a:solidFill>
                  <a:schemeClr val="bg1">
                    <a:lumMod val="50000"/>
                  </a:schemeClr>
                </a:solidFill>
                <a:latin typeface="+mn-ea"/>
              </a:rPr>
              <a:t>함수형 컴포넌트</a:t>
            </a:r>
          </a:p>
        </p:txBody>
      </p:sp>
    </p:spTree>
    <p:extLst>
      <p:ext uri="{BB962C8B-B14F-4D97-AF65-F5344CB8AC3E}">
        <p14:creationId xmlns:p14="http://schemas.microsoft.com/office/powerpoint/2010/main" val="127307845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2023년 9월</a:t>
            </a:fld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4" name="제목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JSX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9312029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3EE62515-77DC-5636-47A6-D37F1B113C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r>
              <a:rPr lang="en-US" altLang="ko-KR" sz="2800" dirty="0">
                <a:solidFill>
                  <a:srgbClr val="F3DF49"/>
                </a:solidFill>
                <a:latin typeface="+mj-lt"/>
              </a:rPr>
              <a:t>Java</a:t>
            </a:r>
            <a:r>
              <a:rPr lang="en-US" altLang="ko-KR" dirty="0">
                <a:solidFill>
                  <a:srgbClr val="F3DF49"/>
                </a:solidFill>
                <a:latin typeface="+mj-lt"/>
              </a:rPr>
              <a:t>S</a:t>
            </a:r>
            <a:r>
              <a:rPr lang="en-US" altLang="ko-KR" sz="2800" dirty="0">
                <a:solidFill>
                  <a:srgbClr val="F3DF49"/>
                </a:solidFill>
                <a:latin typeface="+mj-lt"/>
              </a:rPr>
              <a:t>cript</a:t>
            </a:r>
            <a:r>
              <a:rPr lang="en-US" altLang="ko-KR" dirty="0">
                <a:latin typeface="+mj-lt"/>
              </a:rPr>
              <a:t> + </a:t>
            </a:r>
            <a:r>
              <a:rPr lang="en-US" altLang="ko-KR" dirty="0">
                <a:solidFill>
                  <a:srgbClr val="8A53A6"/>
                </a:solidFill>
                <a:latin typeface="+mj-lt"/>
              </a:rPr>
              <a:t>XML</a:t>
            </a:r>
          </a:p>
          <a:p>
            <a:r>
              <a:rPr lang="ko-KR" altLang="en-US" dirty="0"/>
              <a:t>자바스크립트 확장 문법으로 </a:t>
            </a:r>
            <a:r>
              <a:rPr lang="en-US" altLang="ko-KR" dirty="0"/>
              <a:t>XML </a:t>
            </a:r>
            <a:r>
              <a:rPr lang="ko-KR" altLang="en-US" dirty="0"/>
              <a:t>과 유사</a:t>
            </a:r>
            <a:endParaRPr lang="en-US" altLang="ko-KR" dirty="0"/>
          </a:p>
          <a:p>
            <a:r>
              <a:rPr lang="ko-KR" altLang="en-US" dirty="0"/>
              <a:t>바벨을 이용해 일반 자바스크립트 코드로 변환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CB72458-EFF5-77A4-A6F9-13EB3EDECD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2023년 9월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AC09E7A-0652-D644-D24E-338EF03BF4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11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1E191F99-BB90-B152-95C7-F086E168CA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JSX</a:t>
            </a:r>
            <a:endParaRPr lang="ko-KR" altLang="en-US" dirty="0"/>
          </a:p>
        </p:txBody>
      </p:sp>
      <p:pic>
        <p:nvPicPr>
          <p:cNvPr id="6" name="Picture 2" descr="GitHub - OpenJSX/logo: Logo of JSX-IR">
            <a:extLst>
              <a:ext uri="{FF2B5EF4-FFF2-40B4-BE49-F238E27FC236}">
                <a16:creationId xmlns:a16="http://schemas.microsoft.com/office/drawing/2014/main" id="{4D814A0F-C916-7827-5A00-789759C21D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09280" y="1825625"/>
            <a:ext cx="3385819" cy="33858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0842184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>
                <a:solidFill>
                  <a:srgbClr val="F3DF49"/>
                </a:solidFill>
              </a:rPr>
              <a:t>JS</a:t>
            </a:r>
            <a:r>
              <a:rPr lang="en-US" altLang="ko-KR" dirty="0" err="1">
                <a:solidFill>
                  <a:srgbClr val="8A53A6"/>
                </a:solidFill>
              </a:rPr>
              <a:t>X</a:t>
            </a:r>
            <a:r>
              <a:rPr lang="en-US" altLang="ko-KR" dirty="0"/>
              <a:t> </a:t>
            </a:r>
            <a:r>
              <a:rPr lang="ko-KR" altLang="en-US" dirty="0"/>
              <a:t> </a:t>
            </a:r>
            <a:r>
              <a:rPr lang="en-US" altLang="ko-KR" dirty="0">
                <a:solidFill>
                  <a:srgbClr val="8A53A6"/>
                </a:solidFill>
              </a:rPr>
              <a:t>1. </a:t>
            </a:r>
            <a:r>
              <a:rPr lang="ko-KR" altLang="en-US" dirty="0"/>
              <a:t>전체는 하나의 태그로 감싸야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ko-KR" sz="2600" dirty="0"/>
              <a:t>html </a:t>
            </a:r>
            <a:r>
              <a:rPr lang="ko-KR" altLang="en-US" sz="2600" dirty="0"/>
              <a:t>태그는 항상 </a:t>
            </a:r>
            <a:r>
              <a:rPr lang="en-US" altLang="ko-KR" sz="2600" dirty="0"/>
              <a:t>return </a:t>
            </a:r>
            <a:r>
              <a:rPr lang="ko-KR" altLang="en-US" sz="2600" dirty="0"/>
              <a:t>이후에</a:t>
            </a:r>
            <a:r>
              <a:rPr lang="en-US" altLang="ko-KR" sz="2600" dirty="0"/>
              <a:t>, </a:t>
            </a:r>
            <a:r>
              <a:rPr lang="ko-KR" altLang="en-US" sz="2600" dirty="0"/>
              <a:t>반드시 하나의 부모 요소가 전체 요소를 감싸는 형태로</a:t>
            </a:r>
            <a:r>
              <a:rPr lang="en-US" altLang="ko-KR" sz="2600" dirty="0"/>
              <a:t>!</a:t>
            </a:r>
          </a:p>
          <a:p>
            <a:pPr marL="457200" lvl="1" indent="0">
              <a:buNone/>
            </a:pPr>
            <a:r>
              <a:rPr lang="en-US" altLang="ko-KR" sz="2000" dirty="0"/>
              <a:t>+ </a:t>
            </a:r>
            <a:r>
              <a:rPr lang="ko-KR" altLang="en-US" sz="2000" dirty="0"/>
              <a:t>딱 하나의 태그만 </a:t>
            </a:r>
            <a:r>
              <a:rPr lang="en-US" altLang="ko-KR" sz="2000" dirty="0"/>
              <a:t>return</a:t>
            </a:r>
            <a:r>
              <a:rPr lang="ko-KR" altLang="en-US" sz="2000" dirty="0"/>
              <a:t>할 때는 </a:t>
            </a:r>
            <a:r>
              <a:rPr lang="en-US" altLang="ko-KR" sz="2000" dirty="0"/>
              <a:t>()</a:t>
            </a:r>
            <a:r>
              <a:rPr lang="ko-KR" altLang="en-US" sz="2000" dirty="0"/>
              <a:t>가 필요 없지만 여러 개의 태그가 있다면 </a:t>
            </a:r>
            <a:r>
              <a:rPr lang="en-US" altLang="ko-KR" sz="2000" dirty="0"/>
              <a:t>return (~) </a:t>
            </a:r>
            <a:r>
              <a:rPr lang="ko-KR" altLang="en-US" sz="2000" dirty="0"/>
              <a:t>괄호 내부에</a:t>
            </a:r>
            <a:r>
              <a:rPr lang="en-US" altLang="ko-KR" sz="2000" dirty="0"/>
              <a:t> </a:t>
            </a:r>
            <a:r>
              <a:rPr lang="ko-KR" altLang="en-US" sz="2000" dirty="0"/>
              <a:t>작성해야 해요</a:t>
            </a:r>
            <a:r>
              <a:rPr lang="en-US" altLang="ko-KR" sz="2000" dirty="0"/>
              <a:t>!</a:t>
            </a:r>
          </a:p>
        </p:txBody>
      </p:sp>
      <p:sp>
        <p:nvSpPr>
          <p:cNvPr id="5" name="직사각형 4"/>
          <p:cNvSpPr/>
          <p:nvPr/>
        </p:nvSpPr>
        <p:spPr>
          <a:xfrm>
            <a:off x="1569663" y="3546460"/>
            <a:ext cx="4284807" cy="3139321"/>
          </a:xfrm>
          <a:prstGeom prst="rect">
            <a:avLst/>
          </a:prstGeom>
          <a:solidFill>
            <a:srgbClr val="07090F"/>
          </a:solidFill>
        </p:spPr>
        <p:txBody>
          <a:bodyPr wrap="square">
            <a:spAutoFit/>
          </a:bodyPr>
          <a:lstStyle/>
          <a:p>
            <a:r>
              <a:rPr lang="en-US" altLang="ko-KR" dirty="0">
                <a:solidFill>
                  <a:srgbClr val="C792EA"/>
                </a:solidFill>
                <a:latin typeface="Consolas" panose="020B0609020204030204" pitchFamily="49" charset="0"/>
              </a:rPr>
              <a:t>function</a:t>
            </a:r>
            <a:r>
              <a:rPr lang="en-US" altLang="ko-KR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dirty="0">
                <a:solidFill>
                  <a:srgbClr val="82AAFF"/>
                </a:solidFill>
                <a:latin typeface="Consolas" panose="020B0609020204030204" pitchFamily="49" charset="0"/>
              </a:rPr>
              <a:t>App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()</a:t>
            </a:r>
            <a:r>
              <a:rPr lang="en-US" altLang="ko-KR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{</a:t>
            </a:r>
            <a:endParaRPr lang="en-US" altLang="ko-KR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en-US" altLang="ko-KR" dirty="0">
                <a:solidFill>
                  <a:srgbClr val="BBBBBB"/>
                </a:solidFill>
                <a:latin typeface="Consolas" panose="020B0609020204030204" pitchFamily="49" charset="0"/>
              </a:rPr>
              <a:t>  </a:t>
            </a:r>
            <a:r>
              <a:rPr lang="en-US" altLang="ko-KR" dirty="0" err="1">
                <a:solidFill>
                  <a:srgbClr val="C792EA"/>
                </a:solidFill>
                <a:latin typeface="Consolas" panose="020B0609020204030204" pitchFamily="49" charset="0"/>
              </a:rPr>
              <a:t>const</a:t>
            </a:r>
            <a:r>
              <a:rPr lang="en-US" altLang="ko-KR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dirty="0" err="1">
                <a:solidFill>
                  <a:srgbClr val="F07178"/>
                </a:solidFill>
                <a:latin typeface="Consolas" panose="020B0609020204030204" pitchFamily="49" charset="0"/>
              </a:rPr>
              <a:t>str</a:t>
            </a:r>
            <a:r>
              <a:rPr lang="en-US" altLang="ko-KR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dirty="0">
                <a:solidFill>
                  <a:srgbClr val="C792EA"/>
                </a:solidFill>
                <a:latin typeface="Consolas" panose="020B0609020204030204" pitchFamily="49" charset="0"/>
              </a:rPr>
              <a:t>=</a:t>
            </a:r>
            <a:r>
              <a:rPr lang="en-US" altLang="ko-KR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'</a:t>
            </a:r>
            <a:r>
              <a:rPr lang="en-US" altLang="ko-KR" dirty="0">
                <a:solidFill>
                  <a:srgbClr val="C3E88D"/>
                </a:solidFill>
                <a:latin typeface="Consolas" panose="020B0609020204030204" pitchFamily="49" charset="0"/>
              </a:rPr>
              <a:t>hello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';</a:t>
            </a:r>
            <a:endParaRPr lang="en-US" altLang="ko-KR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br>
              <a:rPr lang="en-US" altLang="ko-KR" dirty="0">
                <a:solidFill>
                  <a:srgbClr val="BBBBBB"/>
                </a:solidFill>
                <a:latin typeface="Consolas" panose="020B0609020204030204" pitchFamily="49" charset="0"/>
              </a:rPr>
            </a:br>
            <a:r>
              <a:rPr lang="en-US" altLang="ko-KR" dirty="0">
                <a:solidFill>
                  <a:srgbClr val="BBBBBB"/>
                </a:solidFill>
                <a:latin typeface="Consolas" panose="020B0609020204030204" pitchFamily="49" charset="0"/>
              </a:rPr>
              <a:t>  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return</a:t>
            </a:r>
            <a:r>
              <a:rPr lang="en-US" altLang="ko-KR" dirty="0">
                <a:solidFill>
                  <a:srgbClr val="BBBBBB"/>
                </a:solidFill>
                <a:latin typeface="Consolas" panose="020B0609020204030204" pitchFamily="49" charset="0"/>
              </a:rPr>
              <a:t> (</a:t>
            </a:r>
          </a:p>
          <a:p>
            <a:r>
              <a:rPr lang="en-US" altLang="ko-KR" dirty="0">
                <a:solidFill>
                  <a:srgbClr val="BBBBBB"/>
                </a:solidFill>
                <a:latin typeface="Consolas" panose="020B0609020204030204" pitchFamily="49" charset="0"/>
              </a:rPr>
              <a:t>    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&lt;</a:t>
            </a:r>
            <a:r>
              <a:rPr lang="en-US" altLang="ko-KR" dirty="0">
                <a:solidFill>
                  <a:srgbClr val="F07178"/>
                </a:solidFill>
                <a:latin typeface="Consolas" panose="020B0609020204030204" pitchFamily="49" charset="0"/>
              </a:rPr>
              <a:t>div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 </a:t>
            </a:r>
            <a:r>
              <a:rPr lang="en-US" altLang="ko-KR" dirty="0" err="1">
                <a:solidFill>
                  <a:srgbClr val="C792EA"/>
                </a:solidFill>
                <a:latin typeface="Consolas" panose="020B0609020204030204" pitchFamily="49" charset="0"/>
              </a:rPr>
              <a:t>className</a:t>
            </a:r>
            <a:r>
              <a:rPr lang="en-US" altLang="ko-KR" dirty="0">
                <a:solidFill>
                  <a:srgbClr val="C792EA"/>
                </a:solidFill>
                <a:latin typeface="Consolas" panose="020B0609020204030204" pitchFamily="49" charset="0"/>
              </a:rPr>
              <a:t>=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'</a:t>
            </a:r>
            <a:r>
              <a:rPr lang="en-US" altLang="ko-KR" dirty="0">
                <a:solidFill>
                  <a:srgbClr val="C3E88D"/>
                </a:solidFill>
                <a:latin typeface="Consolas" panose="020B0609020204030204" pitchFamily="49" charset="0"/>
              </a:rPr>
              <a:t>App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'&gt;</a:t>
            </a:r>
            <a:endParaRPr lang="en-US" altLang="ko-KR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      &lt;</a:t>
            </a:r>
            <a:r>
              <a:rPr lang="en-US" altLang="ko-KR" dirty="0">
                <a:solidFill>
                  <a:srgbClr val="F07178"/>
                </a:solidFill>
                <a:latin typeface="Consolas" panose="020B0609020204030204" pitchFamily="49" charset="0"/>
              </a:rPr>
              <a:t>span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&gt;{</a:t>
            </a:r>
            <a:r>
              <a:rPr lang="en-US" altLang="ko-KR" dirty="0" err="1">
                <a:solidFill>
                  <a:srgbClr val="F07178"/>
                </a:solidFill>
                <a:latin typeface="Consolas" panose="020B0609020204030204" pitchFamily="49" charset="0"/>
              </a:rPr>
              <a:t>str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}&lt;/</a:t>
            </a:r>
            <a:r>
              <a:rPr lang="en-US" altLang="ko-KR" dirty="0">
                <a:solidFill>
                  <a:srgbClr val="F07178"/>
                </a:solidFill>
                <a:latin typeface="Consolas" panose="020B0609020204030204" pitchFamily="49" charset="0"/>
              </a:rPr>
              <a:t>span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&gt;</a:t>
            </a:r>
            <a:endParaRPr lang="en-US" altLang="ko-KR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      &lt;</a:t>
            </a:r>
            <a:r>
              <a:rPr lang="en-US" altLang="ko-KR" dirty="0">
                <a:solidFill>
                  <a:srgbClr val="F07178"/>
                </a:solidFill>
                <a:latin typeface="Consolas" panose="020B0609020204030204" pitchFamily="49" charset="0"/>
              </a:rPr>
              <a:t>span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&gt;world&lt;/</a:t>
            </a:r>
            <a:r>
              <a:rPr lang="en-US" altLang="ko-KR" dirty="0">
                <a:solidFill>
                  <a:srgbClr val="F07178"/>
                </a:solidFill>
                <a:latin typeface="Consolas" panose="020B0609020204030204" pitchFamily="49" charset="0"/>
              </a:rPr>
              <a:t>span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&gt;</a:t>
            </a:r>
            <a:endParaRPr lang="en-US" altLang="ko-KR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    &lt;/</a:t>
            </a:r>
            <a:r>
              <a:rPr lang="en-US" altLang="ko-KR" dirty="0">
                <a:solidFill>
                  <a:srgbClr val="F07178"/>
                </a:solidFill>
                <a:latin typeface="Consolas" panose="020B0609020204030204" pitchFamily="49" charset="0"/>
              </a:rPr>
              <a:t>div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&gt;</a:t>
            </a:r>
            <a:endParaRPr lang="en-US" altLang="ko-KR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en-US" altLang="ko-KR" dirty="0">
                <a:solidFill>
                  <a:srgbClr val="BBBBBB"/>
                </a:solidFill>
                <a:latin typeface="Consolas" panose="020B0609020204030204" pitchFamily="49" charset="0"/>
              </a:rPr>
              <a:t>  )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;</a:t>
            </a:r>
            <a:endParaRPr lang="en-US" altLang="ko-KR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}</a:t>
            </a:r>
          </a:p>
          <a:p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export</a:t>
            </a:r>
            <a:r>
              <a:rPr lang="en-US" altLang="ko-KR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default</a:t>
            </a:r>
            <a:r>
              <a:rPr lang="en-US" altLang="ko-KR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dirty="0">
                <a:solidFill>
                  <a:srgbClr val="EEFFFF"/>
                </a:solidFill>
                <a:latin typeface="Consolas" panose="020B0609020204030204" pitchFamily="49" charset="0"/>
              </a:rPr>
              <a:t>App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;</a:t>
            </a:r>
            <a:endParaRPr lang="en-US" altLang="ko-KR" dirty="0">
              <a:solidFill>
                <a:srgbClr val="BBBBBB"/>
              </a:solidFill>
              <a:latin typeface="Consolas" panose="020B0609020204030204" pitchFamily="49" charset="0"/>
            </a:endParaRPr>
          </a:p>
        </p:txBody>
      </p:sp>
      <p:pic>
        <p:nvPicPr>
          <p:cNvPr id="6" name="그림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28080" y="3546460"/>
            <a:ext cx="4229201" cy="3131235"/>
          </a:xfrm>
          <a:prstGeom prst="rect">
            <a:avLst/>
          </a:prstGeom>
        </p:spPr>
      </p:pic>
      <p:pic>
        <p:nvPicPr>
          <p:cNvPr id="9" name="그림 8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33478" y="5209579"/>
            <a:ext cx="855418" cy="598793"/>
          </a:xfrm>
          <a:prstGeom prst="rect">
            <a:avLst/>
          </a:prstGeom>
        </p:spPr>
      </p:pic>
      <p:pic>
        <p:nvPicPr>
          <p:cNvPr id="8" name="그림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22855" y="5714410"/>
            <a:ext cx="5356195" cy="344327"/>
          </a:xfrm>
          <a:prstGeom prst="rect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35144888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>
                <a:solidFill>
                  <a:srgbClr val="F3DF49"/>
                </a:solidFill>
              </a:rPr>
              <a:t>JS</a:t>
            </a:r>
            <a:r>
              <a:rPr lang="en-US" altLang="ko-KR" dirty="0" err="1">
                <a:solidFill>
                  <a:srgbClr val="8A53A6"/>
                </a:solidFill>
              </a:rPr>
              <a:t>X</a:t>
            </a:r>
            <a:r>
              <a:rPr lang="en-US" altLang="ko-KR" dirty="0"/>
              <a:t> </a:t>
            </a:r>
            <a:r>
              <a:rPr lang="ko-KR" altLang="en-US" dirty="0"/>
              <a:t> </a:t>
            </a:r>
            <a:r>
              <a:rPr lang="en-US" altLang="ko-KR" dirty="0">
                <a:solidFill>
                  <a:srgbClr val="8A53A6"/>
                </a:solidFill>
              </a:rPr>
              <a:t>2. </a:t>
            </a:r>
            <a:r>
              <a:rPr lang="en-US" altLang="ko-KR" dirty="0"/>
              <a:t>html with JS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838200" y="1579158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en-US" altLang="ko-KR" dirty="0"/>
              <a:t>html</a:t>
            </a:r>
            <a:r>
              <a:rPr lang="ko-KR" altLang="en-US" dirty="0"/>
              <a:t>를 작성하다가 중간에 </a:t>
            </a:r>
            <a:r>
              <a:rPr lang="en-US" altLang="ko-KR" dirty="0" err="1"/>
              <a:t>js</a:t>
            </a:r>
            <a:r>
              <a:rPr lang="en-US" altLang="ko-KR" dirty="0"/>
              <a:t> </a:t>
            </a:r>
            <a:r>
              <a:rPr lang="ko-KR" altLang="en-US" dirty="0"/>
              <a:t>문법을 사용하고 싶을 때는 </a:t>
            </a:r>
            <a:r>
              <a:rPr lang="en-US" altLang="ko-KR" dirty="0"/>
              <a:t>{</a:t>
            </a:r>
            <a:r>
              <a:rPr lang="ko-KR" altLang="en-US" dirty="0"/>
              <a:t>중괄호</a:t>
            </a:r>
            <a:r>
              <a:rPr lang="en-US" altLang="ko-KR" dirty="0"/>
              <a:t>}</a:t>
            </a:r>
            <a:r>
              <a:rPr lang="ko-KR" altLang="en-US" dirty="0"/>
              <a:t>로 감싸야 합니다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grpSp>
        <p:nvGrpSpPr>
          <p:cNvPr id="11" name="그룹 10"/>
          <p:cNvGrpSpPr/>
          <p:nvPr/>
        </p:nvGrpSpPr>
        <p:grpSpPr>
          <a:xfrm>
            <a:off x="2853003" y="2281023"/>
            <a:ext cx="7867511" cy="1802235"/>
            <a:chOff x="1204507" y="2708046"/>
            <a:chExt cx="7867511" cy="1802235"/>
          </a:xfrm>
        </p:grpSpPr>
        <p:pic>
          <p:nvPicPr>
            <p:cNvPr id="8" name="그림 7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4809190">
              <a:off x="6875440" y="2977881"/>
              <a:ext cx="1532400" cy="1532400"/>
            </a:xfrm>
            <a:prstGeom prst="rect">
              <a:avLst/>
            </a:prstGeom>
          </p:spPr>
        </p:pic>
        <p:pic>
          <p:nvPicPr>
            <p:cNvPr id="5" name="그림 4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3866071" flipH="1" flipV="1">
              <a:off x="2428431" y="2957033"/>
              <a:ext cx="1492557" cy="1492557"/>
            </a:xfrm>
            <a:prstGeom prst="rect">
              <a:avLst/>
            </a:prstGeom>
          </p:spPr>
        </p:pic>
        <p:pic>
          <p:nvPicPr>
            <p:cNvPr id="4" name="Picture 2" descr="Learn HTML - Google Play 앱">
              <a:extLst>
                <a:ext uri="{FF2B5EF4-FFF2-40B4-BE49-F238E27FC236}">
                  <a16:creationId xmlns:a16="http://schemas.microsoft.com/office/drawing/2014/main" id="{2CF6B682-995A-6BCE-AC16-873A5A065B3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204507" y="2738141"/>
              <a:ext cx="1469721" cy="146972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" name="Picture 4" descr="Javascript ] Javascript 기본 이론">
              <a:extLst>
                <a:ext uri="{FF2B5EF4-FFF2-40B4-BE49-F238E27FC236}">
                  <a16:creationId xmlns:a16="http://schemas.microsoft.com/office/drawing/2014/main" id="{D483B20F-94E8-4157-B953-877AE2EDD57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6278"/>
            <a:stretch/>
          </p:blipFill>
          <p:spPr bwMode="auto">
            <a:xfrm>
              <a:off x="5534284" y="2708047"/>
              <a:ext cx="2568853" cy="172494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D8FBA9DC-FBA2-F61A-ECC5-30460748177C}"/>
                </a:ext>
              </a:extLst>
            </p:cNvPr>
            <p:cNvSpPr txBox="1"/>
            <p:nvPr/>
          </p:nvSpPr>
          <p:spPr>
            <a:xfrm>
              <a:off x="3221918" y="2708047"/>
              <a:ext cx="2156360" cy="523220"/>
            </a:xfrm>
            <a:prstGeom prst="rect">
              <a:avLst/>
            </a:prstGeom>
            <a:solidFill>
              <a:srgbClr val="07090F"/>
            </a:solidFill>
          </p:spPr>
          <p:txBody>
            <a:bodyPr wrap="none" rtlCol="0">
              <a:spAutoFit/>
            </a:bodyPr>
            <a:lstStyle/>
            <a:p>
              <a:r>
                <a:rPr lang="en-US" altLang="ko-KR" sz="2800" b="0" dirty="0">
                  <a:solidFill>
                    <a:srgbClr val="C586C0"/>
                  </a:solidFill>
                  <a:effectLst/>
                  <a:latin typeface="Consolas" panose="020B0609020204030204" pitchFamily="49" charset="0"/>
                </a:rPr>
                <a:t>return</a:t>
              </a:r>
              <a:r>
                <a:rPr lang="en-US" altLang="ko-KR" sz="2800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</a:rPr>
                <a:t> ();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80172934-1DE0-E8D4-D8D4-F69331765EF4}"/>
                </a:ext>
              </a:extLst>
            </p:cNvPr>
            <p:cNvSpPr txBox="1"/>
            <p:nvPr/>
          </p:nvSpPr>
          <p:spPr>
            <a:xfrm>
              <a:off x="8435305" y="2708046"/>
              <a:ext cx="636713" cy="584775"/>
            </a:xfrm>
            <a:prstGeom prst="rect">
              <a:avLst/>
            </a:prstGeom>
            <a:solidFill>
              <a:srgbClr val="07090F"/>
            </a:solidFill>
          </p:spPr>
          <p:txBody>
            <a:bodyPr wrap="none" rtlCol="0">
              <a:spAutoFit/>
            </a:bodyPr>
            <a:lstStyle/>
            <a:p>
              <a:r>
                <a:rPr lang="en-US" altLang="ko-KR" sz="3200" b="0" dirty="0">
                  <a:solidFill>
                    <a:srgbClr val="569CD6"/>
                  </a:solidFill>
                  <a:effectLst/>
                  <a:latin typeface="Consolas" panose="020B0609020204030204" pitchFamily="49" charset="0"/>
                </a:rPr>
                <a:t>{}</a:t>
              </a:r>
              <a:endParaRPr lang="en-US" altLang="ko-KR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endParaRPr>
            </a:p>
          </p:txBody>
        </p:sp>
      </p:grpSp>
      <p:sp>
        <p:nvSpPr>
          <p:cNvPr id="12" name="직사각형 11"/>
          <p:cNvSpPr/>
          <p:nvPr/>
        </p:nvSpPr>
        <p:spPr>
          <a:xfrm>
            <a:off x="531874" y="4083258"/>
            <a:ext cx="11353800" cy="2708434"/>
          </a:xfrm>
          <a:prstGeom prst="rect">
            <a:avLst/>
          </a:prstGeom>
          <a:solidFill>
            <a:srgbClr val="07090F"/>
          </a:solidFill>
        </p:spPr>
        <p:txBody>
          <a:bodyPr wrap="square">
            <a:spAutoFit/>
          </a:bodyPr>
          <a:lstStyle/>
          <a:p>
            <a:r>
              <a:rPr lang="en-US" altLang="ko-KR" sz="1600" dirty="0" err="1">
                <a:solidFill>
                  <a:srgbClr val="C792EA"/>
                </a:solidFill>
                <a:latin typeface="Consolas" panose="020B0609020204030204" pitchFamily="49" charset="0"/>
              </a:rPr>
              <a:t>const</a:t>
            </a:r>
            <a:r>
              <a:rPr lang="en-US" altLang="ko-KR" sz="16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600" dirty="0" err="1">
                <a:solidFill>
                  <a:srgbClr val="F07178"/>
                </a:solidFill>
                <a:latin typeface="Consolas" panose="020B0609020204030204" pitchFamily="49" charset="0"/>
              </a:rPr>
              <a:t>str</a:t>
            </a:r>
            <a:r>
              <a:rPr lang="en-US" altLang="ko-KR" sz="16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600" dirty="0">
                <a:solidFill>
                  <a:srgbClr val="C792EA"/>
                </a:solidFill>
                <a:latin typeface="Consolas" panose="020B0609020204030204" pitchFamily="49" charset="0"/>
              </a:rPr>
              <a:t>=</a:t>
            </a:r>
            <a:r>
              <a:rPr lang="en-US" altLang="ko-KR" sz="16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'</a:t>
            </a:r>
            <a:r>
              <a:rPr lang="en-US" altLang="ko-KR" sz="1600" dirty="0">
                <a:solidFill>
                  <a:srgbClr val="C3E88D"/>
                </a:solidFill>
                <a:latin typeface="Consolas" panose="020B0609020204030204" pitchFamily="49" charset="0"/>
              </a:rPr>
              <a:t>hello,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';</a:t>
            </a:r>
            <a:endParaRPr lang="en-US" altLang="ko-KR" sz="1700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return</a:t>
            </a:r>
            <a:r>
              <a:rPr lang="en-US" altLang="ko-KR" sz="1700" dirty="0">
                <a:solidFill>
                  <a:srgbClr val="BBBBBB"/>
                </a:solidFill>
                <a:latin typeface="Consolas" panose="020B0609020204030204" pitchFamily="49" charset="0"/>
              </a:rPr>
              <a:t> (</a:t>
            </a:r>
          </a:p>
          <a:p>
            <a:r>
              <a:rPr lang="en-US" altLang="ko-KR" sz="1700" dirty="0">
                <a:solidFill>
                  <a:srgbClr val="BBBBBB"/>
                </a:solidFill>
                <a:latin typeface="Consolas" panose="020B0609020204030204" pitchFamily="49" charset="0"/>
              </a:rPr>
              <a:t>    </a:t>
            </a:r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&lt;</a:t>
            </a:r>
            <a:r>
              <a:rPr lang="en-US" altLang="ko-KR" sz="1700" dirty="0">
                <a:solidFill>
                  <a:srgbClr val="F07178"/>
                </a:solidFill>
                <a:latin typeface="Consolas" panose="020B0609020204030204" pitchFamily="49" charset="0"/>
              </a:rPr>
              <a:t>div</a:t>
            </a:r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700" dirty="0" err="1">
                <a:solidFill>
                  <a:srgbClr val="C792EA"/>
                </a:solidFill>
                <a:latin typeface="Consolas" panose="020B0609020204030204" pitchFamily="49" charset="0"/>
              </a:rPr>
              <a:t>className</a:t>
            </a:r>
            <a:r>
              <a:rPr lang="en-US" altLang="ko-KR" sz="1700" dirty="0">
                <a:solidFill>
                  <a:srgbClr val="C792EA"/>
                </a:solidFill>
                <a:latin typeface="Consolas" panose="020B0609020204030204" pitchFamily="49" charset="0"/>
              </a:rPr>
              <a:t>=</a:t>
            </a:r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'</a:t>
            </a:r>
            <a:r>
              <a:rPr lang="en-US" altLang="ko-KR" sz="1700" dirty="0">
                <a:solidFill>
                  <a:srgbClr val="C3E88D"/>
                </a:solidFill>
                <a:latin typeface="Consolas" panose="020B0609020204030204" pitchFamily="49" charset="0"/>
              </a:rPr>
              <a:t>App</a:t>
            </a:r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'&gt;</a:t>
            </a:r>
            <a:endParaRPr lang="en-US" altLang="ko-KR" sz="1700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      &lt;</a:t>
            </a:r>
            <a:r>
              <a:rPr lang="en-US" altLang="ko-KR" sz="1700" dirty="0">
                <a:solidFill>
                  <a:srgbClr val="F07178"/>
                </a:solidFill>
                <a:latin typeface="Consolas" panose="020B0609020204030204" pitchFamily="49" charset="0"/>
              </a:rPr>
              <a:t>span</a:t>
            </a:r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&gt;{</a:t>
            </a:r>
            <a:r>
              <a:rPr lang="en-US" altLang="ko-KR" sz="1700" dirty="0" err="1">
                <a:solidFill>
                  <a:srgbClr val="F07178"/>
                </a:solidFill>
                <a:latin typeface="Consolas" panose="020B0609020204030204" pitchFamily="49" charset="0"/>
              </a:rPr>
              <a:t>str</a:t>
            </a:r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}&lt;/</a:t>
            </a:r>
            <a:r>
              <a:rPr lang="en-US" altLang="ko-KR" sz="1700" dirty="0">
                <a:solidFill>
                  <a:srgbClr val="F07178"/>
                </a:solidFill>
                <a:latin typeface="Consolas" panose="020B0609020204030204" pitchFamily="49" charset="0"/>
              </a:rPr>
              <a:t>span</a:t>
            </a:r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&gt;</a:t>
            </a:r>
            <a:endParaRPr lang="en-US" altLang="ko-KR" sz="1700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      &lt;</a:t>
            </a:r>
            <a:r>
              <a:rPr lang="en-US" altLang="ko-KR" sz="1700" dirty="0">
                <a:solidFill>
                  <a:srgbClr val="F07178"/>
                </a:solidFill>
                <a:latin typeface="Consolas" panose="020B0609020204030204" pitchFamily="49" charset="0"/>
              </a:rPr>
              <a:t>span</a:t>
            </a:r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&gt;{</a:t>
            </a:r>
            <a:r>
              <a:rPr lang="en-US" altLang="ko-KR" sz="1700" dirty="0" err="1">
                <a:solidFill>
                  <a:srgbClr val="F07178"/>
                </a:solidFill>
                <a:latin typeface="Consolas" panose="020B0609020204030204" pitchFamily="49" charset="0"/>
              </a:rPr>
              <a:t>str</a:t>
            </a:r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700" dirty="0">
                <a:solidFill>
                  <a:srgbClr val="C792EA"/>
                </a:solidFill>
                <a:latin typeface="Consolas" panose="020B0609020204030204" pitchFamily="49" charset="0"/>
              </a:rPr>
              <a:t>===</a:t>
            </a:r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 '</a:t>
            </a:r>
            <a:r>
              <a:rPr lang="en-US" altLang="ko-KR" sz="1700" dirty="0">
                <a:solidFill>
                  <a:srgbClr val="C3E88D"/>
                </a:solidFill>
                <a:latin typeface="Consolas" panose="020B0609020204030204" pitchFamily="49" charset="0"/>
              </a:rPr>
              <a:t>hello,</a:t>
            </a:r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' </a:t>
            </a:r>
            <a:r>
              <a:rPr lang="en-US" altLang="ko-KR" sz="1700" dirty="0">
                <a:solidFill>
                  <a:srgbClr val="C792EA"/>
                </a:solidFill>
                <a:latin typeface="Consolas" panose="020B0609020204030204" pitchFamily="49" charset="0"/>
              </a:rPr>
              <a:t>?</a:t>
            </a:r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 '</a:t>
            </a:r>
            <a:r>
              <a:rPr lang="en-US" altLang="ko-KR" sz="1700" dirty="0">
                <a:solidFill>
                  <a:srgbClr val="C3E88D"/>
                </a:solidFill>
                <a:latin typeface="Consolas" panose="020B0609020204030204" pitchFamily="49" charset="0"/>
              </a:rPr>
              <a:t>world</a:t>
            </a:r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' </a:t>
            </a:r>
            <a:r>
              <a:rPr lang="en-US" altLang="ko-KR" sz="1700" dirty="0">
                <a:solidFill>
                  <a:srgbClr val="C792EA"/>
                </a:solidFill>
                <a:latin typeface="Consolas" panose="020B0609020204030204" pitchFamily="49" charset="0"/>
              </a:rPr>
              <a:t>:</a:t>
            </a:r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 '</a:t>
            </a:r>
            <a:r>
              <a:rPr lang="ko-KR" altLang="en-US" sz="1700" dirty="0">
                <a:solidFill>
                  <a:srgbClr val="C3E88D"/>
                </a:solidFill>
                <a:latin typeface="Consolas" panose="020B0609020204030204" pitchFamily="49" charset="0"/>
              </a:rPr>
              <a:t>세상</a:t>
            </a:r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'}&lt;/</a:t>
            </a:r>
            <a:r>
              <a:rPr lang="en-US" altLang="ko-KR" sz="1700" dirty="0">
                <a:solidFill>
                  <a:srgbClr val="F07178"/>
                </a:solidFill>
                <a:latin typeface="Consolas" panose="020B0609020204030204" pitchFamily="49" charset="0"/>
              </a:rPr>
              <a:t>span</a:t>
            </a:r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&gt;</a:t>
            </a:r>
            <a:endParaRPr lang="en-US" altLang="ko-KR" sz="1700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      &lt;</a:t>
            </a:r>
            <a:r>
              <a:rPr lang="en-US" altLang="ko-KR" sz="1700" dirty="0">
                <a:solidFill>
                  <a:srgbClr val="F07178"/>
                </a:solidFill>
                <a:latin typeface="Consolas" panose="020B0609020204030204" pitchFamily="49" charset="0"/>
              </a:rPr>
              <a:t>div</a:t>
            </a:r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&gt;</a:t>
            </a:r>
            <a:endParaRPr lang="en-US" altLang="ko-KR" sz="1700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        {</a:t>
            </a:r>
            <a:r>
              <a:rPr lang="en-US" altLang="ko-KR" sz="1700" dirty="0" err="1">
                <a:solidFill>
                  <a:srgbClr val="F07178"/>
                </a:solidFill>
                <a:latin typeface="Consolas" panose="020B0609020204030204" pitchFamily="49" charset="0"/>
              </a:rPr>
              <a:t>str</a:t>
            </a:r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700" dirty="0">
                <a:solidFill>
                  <a:srgbClr val="C792EA"/>
                </a:solidFill>
                <a:latin typeface="Consolas" panose="020B0609020204030204" pitchFamily="49" charset="0"/>
              </a:rPr>
              <a:t>===</a:t>
            </a:r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 '</a:t>
            </a:r>
            <a:r>
              <a:rPr lang="en-US" altLang="ko-KR" sz="1700" dirty="0">
                <a:solidFill>
                  <a:srgbClr val="C3E88D"/>
                </a:solidFill>
                <a:latin typeface="Consolas" panose="020B0609020204030204" pitchFamily="49" charset="0"/>
              </a:rPr>
              <a:t>hello,</a:t>
            </a:r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' </a:t>
            </a:r>
            <a:r>
              <a:rPr lang="en-US" altLang="ko-KR" sz="1700" dirty="0">
                <a:solidFill>
                  <a:srgbClr val="C792EA"/>
                </a:solidFill>
                <a:latin typeface="Consolas" panose="020B0609020204030204" pitchFamily="49" charset="0"/>
              </a:rPr>
              <a:t>?</a:t>
            </a:r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 (&lt;</a:t>
            </a:r>
            <a:r>
              <a:rPr lang="en-US" altLang="ko-KR" sz="1700" dirty="0">
                <a:solidFill>
                  <a:srgbClr val="F07178"/>
                </a:solidFill>
                <a:latin typeface="Consolas" panose="020B0609020204030204" pitchFamily="49" charset="0"/>
              </a:rPr>
              <a:t>div</a:t>
            </a:r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&gt;&lt;</a:t>
            </a:r>
            <a:r>
              <a:rPr lang="en-US" altLang="ko-KR" sz="1700" dirty="0">
                <a:solidFill>
                  <a:srgbClr val="F07178"/>
                </a:solidFill>
                <a:latin typeface="Consolas" panose="020B0609020204030204" pitchFamily="49" charset="0"/>
              </a:rPr>
              <a:t>h2</a:t>
            </a:r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&gt;react&lt;/</a:t>
            </a:r>
            <a:r>
              <a:rPr lang="en-US" altLang="ko-KR" sz="1700" dirty="0">
                <a:solidFill>
                  <a:srgbClr val="F07178"/>
                </a:solidFill>
                <a:latin typeface="Consolas" panose="020B0609020204030204" pitchFamily="49" charset="0"/>
              </a:rPr>
              <a:t>h2</a:t>
            </a:r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&gt;&lt;/</a:t>
            </a:r>
            <a:r>
              <a:rPr lang="en-US" altLang="ko-KR" sz="1700" dirty="0">
                <a:solidFill>
                  <a:srgbClr val="F07178"/>
                </a:solidFill>
                <a:latin typeface="Consolas" panose="020B0609020204030204" pitchFamily="49" charset="0"/>
              </a:rPr>
              <a:t>div</a:t>
            </a:r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&gt;) </a:t>
            </a:r>
            <a:r>
              <a:rPr lang="en-US" altLang="ko-KR" sz="1700" dirty="0">
                <a:solidFill>
                  <a:srgbClr val="C792EA"/>
                </a:solidFill>
                <a:latin typeface="Consolas" panose="020B0609020204030204" pitchFamily="49" charset="0"/>
              </a:rPr>
              <a:t>:</a:t>
            </a:r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 (&lt;</a:t>
            </a:r>
            <a:r>
              <a:rPr lang="en-US" altLang="ko-KR" sz="1700" dirty="0">
                <a:solidFill>
                  <a:srgbClr val="F07178"/>
                </a:solidFill>
                <a:latin typeface="Consolas" panose="020B0609020204030204" pitchFamily="49" charset="0"/>
              </a:rPr>
              <a:t>div</a:t>
            </a:r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&gt;&lt;</a:t>
            </a:r>
            <a:r>
              <a:rPr lang="en-US" altLang="ko-KR" sz="1700" dirty="0">
                <a:solidFill>
                  <a:srgbClr val="F07178"/>
                </a:solidFill>
                <a:latin typeface="Consolas" panose="020B0609020204030204" pitchFamily="49" charset="0"/>
              </a:rPr>
              <a:t>h2</a:t>
            </a:r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&gt;</a:t>
            </a:r>
            <a:r>
              <a:rPr lang="ko-KR" altLang="en-US" sz="1700" dirty="0" err="1">
                <a:solidFill>
                  <a:srgbClr val="89DDFF"/>
                </a:solidFill>
                <a:latin typeface="Consolas" panose="020B0609020204030204" pitchFamily="49" charset="0"/>
              </a:rPr>
              <a:t>리액트</a:t>
            </a:r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&lt;/</a:t>
            </a:r>
            <a:r>
              <a:rPr lang="en-US" altLang="ko-KR" sz="1700" dirty="0">
                <a:solidFill>
                  <a:srgbClr val="F07178"/>
                </a:solidFill>
                <a:latin typeface="Consolas" panose="020B0609020204030204" pitchFamily="49" charset="0"/>
              </a:rPr>
              <a:t>h2</a:t>
            </a:r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&gt;&lt;/</a:t>
            </a:r>
            <a:r>
              <a:rPr lang="en-US" altLang="ko-KR" sz="1700" dirty="0">
                <a:solidFill>
                  <a:srgbClr val="F07178"/>
                </a:solidFill>
                <a:latin typeface="Consolas" panose="020B0609020204030204" pitchFamily="49" charset="0"/>
              </a:rPr>
              <a:t>div</a:t>
            </a:r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&gt;)}</a:t>
            </a:r>
            <a:endParaRPr lang="en-US" altLang="ko-KR" sz="1700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      &lt;/</a:t>
            </a:r>
            <a:r>
              <a:rPr lang="en-US" altLang="ko-KR" sz="1700" dirty="0">
                <a:solidFill>
                  <a:srgbClr val="F07178"/>
                </a:solidFill>
                <a:latin typeface="Consolas" panose="020B0609020204030204" pitchFamily="49" charset="0"/>
              </a:rPr>
              <a:t>div</a:t>
            </a:r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&gt;</a:t>
            </a:r>
            <a:endParaRPr lang="en-US" altLang="ko-KR" sz="1700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    &lt;/</a:t>
            </a:r>
            <a:r>
              <a:rPr lang="en-US" altLang="ko-KR" sz="1700" dirty="0">
                <a:solidFill>
                  <a:srgbClr val="F07178"/>
                </a:solidFill>
                <a:latin typeface="Consolas" panose="020B0609020204030204" pitchFamily="49" charset="0"/>
              </a:rPr>
              <a:t>div</a:t>
            </a:r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&gt;</a:t>
            </a:r>
            <a:endParaRPr lang="en-US" altLang="ko-KR" sz="1700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en-US" altLang="ko-KR" sz="1700" dirty="0">
                <a:solidFill>
                  <a:srgbClr val="BBBBBB"/>
                </a:solidFill>
                <a:latin typeface="Consolas" panose="020B0609020204030204" pitchFamily="49" charset="0"/>
              </a:rPr>
              <a:t>  )</a:t>
            </a:r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;</a:t>
            </a:r>
            <a:endParaRPr lang="en-US" altLang="ko-KR" sz="1700" b="0" dirty="0">
              <a:solidFill>
                <a:srgbClr val="BBBBBB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2034862" y="4870803"/>
            <a:ext cx="631065" cy="296215"/>
          </a:xfrm>
          <a:prstGeom prst="rect">
            <a:avLst/>
          </a:prstGeom>
          <a:noFill/>
          <a:ln w="28575">
            <a:solidFill>
              <a:srgbClr val="F3DF4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n>
                <a:solidFill>
                  <a:schemeClr val="bg1"/>
                </a:solidFill>
              </a:ln>
            </a:endParaRPr>
          </a:p>
        </p:txBody>
      </p:sp>
      <p:sp>
        <p:nvSpPr>
          <p:cNvPr id="14" name="직사각형 13"/>
          <p:cNvSpPr/>
          <p:nvPr/>
        </p:nvSpPr>
        <p:spPr>
          <a:xfrm>
            <a:off x="2034862" y="5167018"/>
            <a:ext cx="4391696" cy="286951"/>
          </a:xfrm>
          <a:prstGeom prst="rect">
            <a:avLst/>
          </a:prstGeom>
          <a:noFill/>
          <a:ln w="28575">
            <a:solidFill>
              <a:srgbClr val="F3DF4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n>
                <a:solidFill>
                  <a:schemeClr val="bg1"/>
                </a:solidFill>
              </a:ln>
            </a:endParaRPr>
          </a:p>
        </p:txBody>
      </p:sp>
      <p:sp>
        <p:nvSpPr>
          <p:cNvPr id="16" name="직사각형 15"/>
          <p:cNvSpPr/>
          <p:nvPr/>
        </p:nvSpPr>
        <p:spPr>
          <a:xfrm>
            <a:off x="1556898" y="5680491"/>
            <a:ext cx="9390144" cy="286951"/>
          </a:xfrm>
          <a:prstGeom prst="rect">
            <a:avLst/>
          </a:prstGeom>
          <a:noFill/>
          <a:ln w="28575">
            <a:solidFill>
              <a:srgbClr val="F3DF4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n>
                <a:solidFill>
                  <a:schemeClr val="bg1"/>
                </a:solidFill>
              </a:ln>
            </a:endParaRPr>
          </a:p>
        </p:txBody>
      </p:sp>
      <p:sp>
        <p:nvSpPr>
          <p:cNvPr id="17" name="직사각형 16"/>
          <p:cNvSpPr/>
          <p:nvPr/>
        </p:nvSpPr>
        <p:spPr>
          <a:xfrm>
            <a:off x="3972410" y="5612302"/>
            <a:ext cx="3210370" cy="431391"/>
          </a:xfrm>
          <a:prstGeom prst="rect">
            <a:avLst/>
          </a:prstGeom>
          <a:noFill/>
          <a:ln w="28575">
            <a:solidFill>
              <a:srgbClr val="8A53A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n>
                <a:solidFill>
                  <a:schemeClr val="bg1"/>
                </a:solidFill>
              </a:ln>
              <a:solidFill>
                <a:srgbClr val="8A53A6"/>
              </a:solidFill>
            </a:endParaRPr>
          </a:p>
        </p:txBody>
      </p:sp>
      <p:sp>
        <p:nvSpPr>
          <p:cNvPr id="18" name="직사각형 17"/>
          <p:cNvSpPr/>
          <p:nvPr/>
        </p:nvSpPr>
        <p:spPr>
          <a:xfrm>
            <a:off x="7513676" y="5602013"/>
            <a:ext cx="3278819" cy="441680"/>
          </a:xfrm>
          <a:prstGeom prst="rect">
            <a:avLst/>
          </a:prstGeom>
          <a:noFill/>
          <a:ln w="28575">
            <a:solidFill>
              <a:srgbClr val="8A53A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n>
                <a:solidFill>
                  <a:schemeClr val="bg1"/>
                </a:solidFill>
              </a:ln>
              <a:solidFill>
                <a:srgbClr val="8A53A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81203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6" grpId="0" animBg="1"/>
      <p:bldP spid="17" grpId="0" animBg="1"/>
      <p:bldP spid="18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>
                <a:solidFill>
                  <a:srgbClr val="F3DF49"/>
                </a:solidFill>
              </a:rPr>
              <a:t>JS</a:t>
            </a:r>
            <a:r>
              <a:rPr lang="en-US" altLang="ko-KR" dirty="0" err="1">
                <a:solidFill>
                  <a:srgbClr val="8A53A6"/>
                </a:solidFill>
              </a:rPr>
              <a:t>X</a:t>
            </a:r>
            <a:r>
              <a:rPr lang="en-US" altLang="ko-KR" dirty="0"/>
              <a:t> </a:t>
            </a:r>
            <a:r>
              <a:rPr lang="ko-KR" altLang="en-US" dirty="0"/>
              <a:t> </a:t>
            </a:r>
            <a:r>
              <a:rPr lang="en-US" altLang="ko-KR" dirty="0">
                <a:solidFill>
                  <a:srgbClr val="8A53A6"/>
                </a:solidFill>
              </a:rPr>
              <a:t>2</a:t>
            </a:r>
            <a:r>
              <a:rPr lang="en-US" altLang="ko-KR" dirty="0"/>
              <a:t>. html with JS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838200" y="1579158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en-US" altLang="ko-KR" dirty="0"/>
              <a:t>html</a:t>
            </a:r>
            <a:r>
              <a:rPr lang="ko-KR" altLang="en-US" dirty="0"/>
              <a:t>를 작성하다가 중간에 </a:t>
            </a:r>
            <a:r>
              <a:rPr lang="en-US" altLang="ko-KR" dirty="0" err="1"/>
              <a:t>js</a:t>
            </a:r>
            <a:r>
              <a:rPr lang="en-US" altLang="ko-KR" dirty="0"/>
              <a:t> </a:t>
            </a:r>
            <a:r>
              <a:rPr lang="ko-KR" altLang="en-US" dirty="0"/>
              <a:t>문법을 사용하고 싶을 때는 </a:t>
            </a:r>
            <a:r>
              <a:rPr lang="en-US" altLang="ko-KR" dirty="0">
                <a:solidFill>
                  <a:srgbClr val="FFC000"/>
                </a:solidFill>
              </a:rPr>
              <a:t>{</a:t>
            </a:r>
            <a:r>
              <a:rPr lang="ko-KR" altLang="en-US" dirty="0"/>
              <a:t>중괄호</a:t>
            </a:r>
            <a:r>
              <a:rPr lang="en-US" altLang="ko-KR" dirty="0">
                <a:solidFill>
                  <a:srgbClr val="FFC000"/>
                </a:solidFill>
              </a:rPr>
              <a:t>}</a:t>
            </a:r>
            <a:r>
              <a:rPr lang="ko-KR" altLang="en-US" dirty="0"/>
              <a:t>로 감싸야 합니다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12" name="직사각형 11"/>
          <p:cNvSpPr/>
          <p:nvPr/>
        </p:nvSpPr>
        <p:spPr>
          <a:xfrm>
            <a:off x="672385" y="3222062"/>
            <a:ext cx="11353800" cy="2708434"/>
          </a:xfrm>
          <a:prstGeom prst="rect">
            <a:avLst/>
          </a:prstGeom>
          <a:solidFill>
            <a:srgbClr val="07090F"/>
          </a:solidFill>
        </p:spPr>
        <p:txBody>
          <a:bodyPr wrap="square">
            <a:spAutoFit/>
          </a:bodyPr>
          <a:lstStyle/>
          <a:p>
            <a:r>
              <a:rPr lang="en-US" altLang="ko-KR" sz="1600" dirty="0" err="1">
                <a:solidFill>
                  <a:srgbClr val="C792EA"/>
                </a:solidFill>
                <a:latin typeface="Consolas" panose="020B0609020204030204" pitchFamily="49" charset="0"/>
              </a:rPr>
              <a:t>const</a:t>
            </a:r>
            <a:r>
              <a:rPr lang="en-US" altLang="ko-KR" sz="16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600" dirty="0" err="1">
                <a:solidFill>
                  <a:srgbClr val="F07178"/>
                </a:solidFill>
                <a:latin typeface="Consolas" panose="020B0609020204030204" pitchFamily="49" charset="0"/>
              </a:rPr>
              <a:t>str</a:t>
            </a:r>
            <a:r>
              <a:rPr lang="en-US" altLang="ko-KR" sz="16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600" dirty="0">
                <a:solidFill>
                  <a:srgbClr val="C792EA"/>
                </a:solidFill>
                <a:latin typeface="Consolas" panose="020B0609020204030204" pitchFamily="49" charset="0"/>
              </a:rPr>
              <a:t>=</a:t>
            </a:r>
            <a:r>
              <a:rPr lang="en-US" altLang="ko-KR" sz="16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'</a:t>
            </a:r>
            <a:r>
              <a:rPr lang="en-US" altLang="ko-KR" sz="1600" dirty="0">
                <a:solidFill>
                  <a:srgbClr val="C3E88D"/>
                </a:solidFill>
                <a:latin typeface="Consolas" panose="020B0609020204030204" pitchFamily="49" charset="0"/>
              </a:rPr>
              <a:t>hello,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';</a:t>
            </a:r>
            <a:endParaRPr lang="en-US" altLang="ko-KR" sz="1700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return</a:t>
            </a:r>
            <a:r>
              <a:rPr lang="en-US" altLang="ko-KR" sz="1700" dirty="0">
                <a:solidFill>
                  <a:srgbClr val="BBBBBB"/>
                </a:solidFill>
                <a:latin typeface="Consolas" panose="020B0609020204030204" pitchFamily="49" charset="0"/>
              </a:rPr>
              <a:t> (</a:t>
            </a:r>
          </a:p>
          <a:p>
            <a:r>
              <a:rPr lang="en-US" altLang="ko-KR" sz="1700" dirty="0">
                <a:solidFill>
                  <a:srgbClr val="BBBBBB"/>
                </a:solidFill>
                <a:latin typeface="Consolas" panose="020B0609020204030204" pitchFamily="49" charset="0"/>
              </a:rPr>
              <a:t>    </a:t>
            </a:r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&lt;</a:t>
            </a:r>
            <a:r>
              <a:rPr lang="en-US" altLang="ko-KR" sz="1700" dirty="0">
                <a:solidFill>
                  <a:srgbClr val="F07178"/>
                </a:solidFill>
                <a:latin typeface="Consolas" panose="020B0609020204030204" pitchFamily="49" charset="0"/>
              </a:rPr>
              <a:t>div</a:t>
            </a:r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700" dirty="0" err="1">
                <a:solidFill>
                  <a:srgbClr val="C792EA"/>
                </a:solidFill>
                <a:latin typeface="Consolas" panose="020B0609020204030204" pitchFamily="49" charset="0"/>
              </a:rPr>
              <a:t>className</a:t>
            </a:r>
            <a:r>
              <a:rPr lang="en-US" altLang="ko-KR" sz="1700" dirty="0">
                <a:solidFill>
                  <a:srgbClr val="C792EA"/>
                </a:solidFill>
                <a:latin typeface="Consolas" panose="020B0609020204030204" pitchFamily="49" charset="0"/>
              </a:rPr>
              <a:t>=</a:t>
            </a:r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'</a:t>
            </a:r>
            <a:r>
              <a:rPr lang="en-US" altLang="ko-KR" sz="1700" dirty="0">
                <a:solidFill>
                  <a:srgbClr val="C3E88D"/>
                </a:solidFill>
                <a:latin typeface="Consolas" panose="020B0609020204030204" pitchFamily="49" charset="0"/>
              </a:rPr>
              <a:t>App</a:t>
            </a:r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'&gt;</a:t>
            </a:r>
            <a:endParaRPr lang="en-US" altLang="ko-KR" sz="1700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      &lt;</a:t>
            </a:r>
            <a:r>
              <a:rPr lang="en-US" altLang="ko-KR" sz="1700" dirty="0">
                <a:solidFill>
                  <a:srgbClr val="F07178"/>
                </a:solidFill>
                <a:latin typeface="Consolas" panose="020B0609020204030204" pitchFamily="49" charset="0"/>
              </a:rPr>
              <a:t>span</a:t>
            </a:r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&gt;{</a:t>
            </a:r>
            <a:r>
              <a:rPr lang="en-US" altLang="ko-KR" sz="1700" dirty="0" err="1">
                <a:solidFill>
                  <a:srgbClr val="F07178"/>
                </a:solidFill>
                <a:latin typeface="Consolas" panose="020B0609020204030204" pitchFamily="49" charset="0"/>
              </a:rPr>
              <a:t>str</a:t>
            </a:r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}&lt;/</a:t>
            </a:r>
            <a:r>
              <a:rPr lang="en-US" altLang="ko-KR" sz="1700" dirty="0">
                <a:solidFill>
                  <a:srgbClr val="F07178"/>
                </a:solidFill>
                <a:latin typeface="Consolas" panose="020B0609020204030204" pitchFamily="49" charset="0"/>
              </a:rPr>
              <a:t>span</a:t>
            </a:r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&gt;</a:t>
            </a:r>
            <a:endParaRPr lang="en-US" altLang="ko-KR" sz="1700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      &lt;</a:t>
            </a:r>
            <a:r>
              <a:rPr lang="en-US" altLang="ko-KR" sz="1700" dirty="0">
                <a:solidFill>
                  <a:srgbClr val="F07178"/>
                </a:solidFill>
                <a:latin typeface="Consolas" panose="020B0609020204030204" pitchFamily="49" charset="0"/>
              </a:rPr>
              <a:t>span</a:t>
            </a:r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&gt;{</a:t>
            </a:r>
            <a:r>
              <a:rPr lang="en-US" altLang="ko-KR" sz="1700" dirty="0" err="1">
                <a:solidFill>
                  <a:srgbClr val="F07178"/>
                </a:solidFill>
                <a:latin typeface="Consolas" panose="020B0609020204030204" pitchFamily="49" charset="0"/>
              </a:rPr>
              <a:t>str</a:t>
            </a:r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700" dirty="0">
                <a:solidFill>
                  <a:srgbClr val="C792EA"/>
                </a:solidFill>
                <a:latin typeface="Consolas" panose="020B0609020204030204" pitchFamily="49" charset="0"/>
              </a:rPr>
              <a:t>===</a:t>
            </a:r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 '</a:t>
            </a:r>
            <a:r>
              <a:rPr lang="en-US" altLang="ko-KR" sz="1700" dirty="0">
                <a:solidFill>
                  <a:srgbClr val="C3E88D"/>
                </a:solidFill>
                <a:latin typeface="Consolas" panose="020B0609020204030204" pitchFamily="49" charset="0"/>
              </a:rPr>
              <a:t>hello,</a:t>
            </a:r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' </a:t>
            </a:r>
            <a:r>
              <a:rPr lang="en-US" altLang="ko-KR" sz="1700" dirty="0">
                <a:solidFill>
                  <a:srgbClr val="C792EA"/>
                </a:solidFill>
                <a:latin typeface="Consolas" panose="020B0609020204030204" pitchFamily="49" charset="0"/>
              </a:rPr>
              <a:t>?</a:t>
            </a:r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 '</a:t>
            </a:r>
            <a:r>
              <a:rPr lang="en-US" altLang="ko-KR" sz="1700" dirty="0">
                <a:solidFill>
                  <a:srgbClr val="C3E88D"/>
                </a:solidFill>
                <a:latin typeface="Consolas" panose="020B0609020204030204" pitchFamily="49" charset="0"/>
              </a:rPr>
              <a:t>world</a:t>
            </a:r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' </a:t>
            </a:r>
            <a:r>
              <a:rPr lang="en-US" altLang="ko-KR" sz="1700" dirty="0">
                <a:solidFill>
                  <a:srgbClr val="C792EA"/>
                </a:solidFill>
                <a:latin typeface="Consolas" panose="020B0609020204030204" pitchFamily="49" charset="0"/>
              </a:rPr>
              <a:t>:</a:t>
            </a:r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 '</a:t>
            </a:r>
            <a:r>
              <a:rPr lang="ko-KR" altLang="en-US" sz="1700" dirty="0">
                <a:solidFill>
                  <a:srgbClr val="C3E88D"/>
                </a:solidFill>
                <a:latin typeface="Consolas" panose="020B0609020204030204" pitchFamily="49" charset="0"/>
              </a:rPr>
              <a:t>세상</a:t>
            </a:r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'}&lt;/</a:t>
            </a:r>
            <a:r>
              <a:rPr lang="en-US" altLang="ko-KR" sz="1700" dirty="0">
                <a:solidFill>
                  <a:srgbClr val="F07178"/>
                </a:solidFill>
                <a:latin typeface="Consolas" panose="020B0609020204030204" pitchFamily="49" charset="0"/>
              </a:rPr>
              <a:t>span</a:t>
            </a:r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&gt;</a:t>
            </a:r>
            <a:endParaRPr lang="en-US" altLang="ko-KR" sz="1700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      &lt;</a:t>
            </a:r>
            <a:r>
              <a:rPr lang="en-US" altLang="ko-KR" sz="1700" dirty="0">
                <a:solidFill>
                  <a:srgbClr val="F07178"/>
                </a:solidFill>
                <a:latin typeface="Consolas" panose="020B0609020204030204" pitchFamily="49" charset="0"/>
              </a:rPr>
              <a:t>div</a:t>
            </a:r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&gt;</a:t>
            </a:r>
            <a:endParaRPr lang="en-US" altLang="ko-KR" sz="1700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        {</a:t>
            </a:r>
            <a:r>
              <a:rPr lang="en-US" altLang="ko-KR" sz="1700" dirty="0" err="1">
                <a:solidFill>
                  <a:srgbClr val="F07178"/>
                </a:solidFill>
                <a:latin typeface="Consolas" panose="020B0609020204030204" pitchFamily="49" charset="0"/>
              </a:rPr>
              <a:t>str</a:t>
            </a:r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700" dirty="0">
                <a:solidFill>
                  <a:srgbClr val="C792EA"/>
                </a:solidFill>
                <a:latin typeface="Consolas" panose="020B0609020204030204" pitchFamily="49" charset="0"/>
              </a:rPr>
              <a:t>===</a:t>
            </a:r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 '</a:t>
            </a:r>
            <a:r>
              <a:rPr lang="en-US" altLang="ko-KR" sz="1700" dirty="0">
                <a:solidFill>
                  <a:srgbClr val="C3E88D"/>
                </a:solidFill>
                <a:latin typeface="Consolas" panose="020B0609020204030204" pitchFamily="49" charset="0"/>
              </a:rPr>
              <a:t>hello,</a:t>
            </a:r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' </a:t>
            </a:r>
            <a:r>
              <a:rPr lang="en-US" altLang="ko-KR" sz="1700" dirty="0">
                <a:solidFill>
                  <a:srgbClr val="C792EA"/>
                </a:solidFill>
                <a:latin typeface="Consolas" panose="020B0609020204030204" pitchFamily="49" charset="0"/>
              </a:rPr>
              <a:t>?</a:t>
            </a:r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 (&lt;</a:t>
            </a:r>
            <a:r>
              <a:rPr lang="en-US" altLang="ko-KR" sz="1700" dirty="0">
                <a:solidFill>
                  <a:srgbClr val="F07178"/>
                </a:solidFill>
                <a:latin typeface="Consolas" panose="020B0609020204030204" pitchFamily="49" charset="0"/>
              </a:rPr>
              <a:t>div</a:t>
            </a:r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&gt;&lt;</a:t>
            </a:r>
            <a:r>
              <a:rPr lang="en-US" altLang="ko-KR" sz="1700" dirty="0">
                <a:solidFill>
                  <a:srgbClr val="F07178"/>
                </a:solidFill>
                <a:latin typeface="Consolas" panose="020B0609020204030204" pitchFamily="49" charset="0"/>
              </a:rPr>
              <a:t>h2</a:t>
            </a:r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&gt;react&lt;/</a:t>
            </a:r>
            <a:r>
              <a:rPr lang="en-US" altLang="ko-KR" sz="1700" dirty="0">
                <a:solidFill>
                  <a:srgbClr val="F07178"/>
                </a:solidFill>
                <a:latin typeface="Consolas" panose="020B0609020204030204" pitchFamily="49" charset="0"/>
              </a:rPr>
              <a:t>h2</a:t>
            </a:r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&gt;&lt;/</a:t>
            </a:r>
            <a:r>
              <a:rPr lang="en-US" altLang="ko-KR" sz="1700" dirty="0">
                <a:solidFill>
                  <a:srgbClr val="F07178"/>
                </a:solidFill>
                <a:latin typeface="Consolas" panose="020B0609020204030204" pitchFamily="49" charset="0"/>
              </a:rPr>
              <a:t>div</a:t>
            </a:r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&gt;) </a:t>
            </a:r>
            <a:r>
              <a:rPr lang="en-US" altLang="ko-KR" sz="1700" dirty="0">
                <a:solidFill>
                  <a:srgbClr val="C792EA"/>
                </a:solidFill>
                <a:latin typeface="Consolas" panose="020B0609020204030204" pitchFamily="49" charset="0"/>
              </a:rPr>
              <a:t>:</a:t>
            </a:r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 (&lt;</a:t>
            </a:r>
            <a:r>
              <a:rPr lang="en-US" altLang="ko-KR" sz="1700" dirty="0">
                <a:solidFill>
                  <a:srgbClr val="F07178"/>
                </a:solidFill>
                <a:latin typeface="Consolas" panose="020B0609020204030204" pitchFamily="49" charset="0"/>
              </a:rPr>
              <a:t>div</a:t>
            </a:r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&gt;&lt;</a:t>
            </a:r>
            <a:r>
              <a:rPr lang="en-US" altLang="ko-KR" sz="1700" dirty="0">
                <a:solidFill>
                  <a:srgbClr val="F07178"/>
                </a:solidFill>
                <a:latin typeface="Consolas" panose="020B0609020204030204" pitchFamily="49" charset="0"/>
              </a:rPr>
              <a:t>h2</a:t>
            </a:r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&gt;</a:t>
            </a:r>
            <a:r>
              <a:rPr lang="ko-KR" altLang="en-US" sz="1700" dirty="0" err="1">
                <a:solidFill>
                  <a:srgbClr val="89DDFF"/>
                </a:solidFill>
                <a:latin typeface="Consolas" panose="020B0609020204030204" pitchFamily="49" charset="0"/>
              </a:rPr>
              <a:t>리액트</a:t>
            </a:r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&lt;/</a:t>
            </a:r>
            <a:r>
              <a:rPr lang="en-US" altLang="ko-KR" sz="1700" dirty="0">
                <a:solidFill>
                  <a:srgbClr val="F07178"/>
                </a:solidFill>
                <a:latin typeface="Consolas" panose="020B0609020204030204" pitchFamily="49" charset="0"/>
              </a:rPr>
              <a:t>h2</a:t>
            </a:r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&gt;&lt;/</a:t>
            </a:r>
            <a:r>
              <a:rPr lang="en-US" altLang="ko-KR" sz="1700" dirty="0">
                <a:solidFill>
                  <a:srgbClr val="F07178"/>
                </a:solidFill>
                <a:latin typeface="Consolas" panose="020B0609020204030204" pitchFamily="49" charset="0"/>
              </a:rPr>
              <a:t>div</a:t>
            </a:r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&gt;)}</a:t>
            </a:r>
            <a:endParaRPr lang="en-US" altLang="ko-KR" sz="1700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      &lt;/</a:t>
            </a:r>
            <a:r>
              <a:rPr lang="en-US" altLang="ko-KR" sz="1700" dirty="0">
                <a:solidFill>
                  <a:srgbClr val="F07178"/>
                </a:solidFill>
                <a:latin typeface="Consolas" panose="020B0609020204030204" pitchFamily="49" charset="0"/>
              </a:rPr>
              <a:t>div</a:t>
            </a:r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&gt;</a:t>
            </a:r>
            <a:endParaRPr lang="en-US" altLang="ko-KR" sz="1700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    &lt;/</a:t>
            </a:r>
            <a:r>
              <a:rPr lang="en-US" altLang="ko-KR" sz="1700" dirty="0">
                <a:solidFill>
                  <a:srgbClr val="F07178"/>
                </a:solidFill>
                <a:latin typeface="Consolas" panose="020B0609020204030204" pitchFamily="49" charset="0"/>
              </a:rPr>
              <a:t>div</a:t>
            </a:r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&gt;</a:t>
            </a:r>
            <a:endParaRPr lang="en-US" altLang="ko-KR" sz="1700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en-US" altLang="ko-KR" sz="1700" dirty="0">
                <a:solidFill>
                  <a:srgbClr val="BBBBBB"/>
                </a:solidFill>
                <a:latin typeface="Consolas" panose="020B0609020204030204" pitchFamily="49" charset="0"/>
              </a:rPr>
              <a:t>  )</a:t>
            </a:r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;</a:t>
            </a:r>
            <a:endParaRPr lang="en-US" altLang="ko-KR" sz="1700" b="0" dirty="0">
              <a:solidFill>
                <a:srgbClr val="BBBBBB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6" name="그림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8164" y="2383882"/>
            <a:ext cx="3891451" cy="21619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970078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7" name="구부러진 연결선 16"/>
          <p:cNvCxnSpPr/>
          <p:nvPr/>
        </p:nvCxnSpPr>
        <p:spPr>
          <a:xfrm rot="10800000">
            <a:off x="7796817" y="3617302"/>
            <a:ext cx="573647" cy="385544"/>
          </a:xfrm>
          <a:prstGeom prst="curvedConnector3">
            <a:avLst>
              <a:gd name="adj1" fmla="val 99392"/>
            </a:avLst>
          </a:prstGeom>
          <a:ln w="57150">
            <a:solidFill>
              <a:srgbClr val="6DC17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구부러진 연결선 14"/>
          <p:cNvCxnSpPr/>
          <p:nvPr/>
        </p:nvCxnSpPr>
        <p:spPr>
          <a:xfrm flipV="1">
            <a:off x="1275012" y="3741947"/>
            <a:ext cx="489397" cy="401525"/>
          </a:xfrm>
          <a:prstGeom prst="curvedConnector3">
            <a:avLst/>
          </a:prstGeom>
          <a:ln w="57150">
            <a:solidFill>
              <a:srgbClr val="6DC17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>
                <a:solidFill>
                  <a:srgbClr val="F3DF49"/>
                </a:solidFill>
              </a:rPr>
              <a:t>JS</a:t>
            </a:r>
            <a:r>
              <a:rPr lang="en-US" altLang="ko-KR" dirty="0" err="1">
                <a:solidFill>
                  <a:srgbClr val="8A53A6"/>
                </a:solidFill>
              </a:rPr>
              <a:t>X</a:t>
            </a:r>
            <a:r>
              <a:rPr lang="en-US" altLang="ko-KR" dirty="0"/>
              <a:t> </a:t>
            </a:r>
            <a:r>
              <a:rPr lang="ko-KR" altLang="en-US" dirty="0"/>
              <a:t> </a:t>
            </a:r>
            <a:r>
              <a:rPr lang="en-US" altLang="ko-KR" dirty="0">
                <a:solidFill>
                  <a:srgbClr val="8A53A6"/>
                </a:solidFill>
              </a:rPr>
              <a:t>2. </a:t>
            </a:r>
            <a:r>
              <a:rPr lang="en-US" altLang="ko-KR" dirty="0"/>
              <a:t>html with JS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838200" y="1579158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en-US" altLang="ko-KR" dirty="0"/>
              <a:t>JSX </a:t>
            </a:r>
            <a:r>
              <a:rPr lang="ko-KR" altLang="en-US" dirty="0" err="1"/>
              <a:t>삼항연산자</a:t>
            </a:r>
            <a:r>
              <a:rPr lang="ko-KR" altLang="en-US" dirty="0"/>
              <a:t> 대신 </a:t>
            </a:r>
            <a:r>
              <a:rPr lang="en-US" altLang="ko-KR" dirty="0">
                <a:solidFill>
                  <a:srgbClr val="FF5050"/>
                </a:solidFill>
              </a:rPr>
              <a:t>if </a:t>
            </a:r>
            <a:r>
              <a:rPr lang="ko-KR" altLang="en-US" dirty="0">
                <a:solidFill>
                  <a:srgbClr val="FF5050"/>
                </a:solidFill>
              </a:rPr>
              <a:t>문이 올 수 없어요</a:t>
            </a:r>
            <a:r>
              <a:rPr lang="en-US" altLang="ko-KR" dirty="0">
                <a:solidFill>
                  <a:srgbClr val="FF5050"/>
                </a:solidFill>
              </a:rPr>
              <a:t>,</a:t>
            </a:r>
          </a:p>
          <a:p>
            <a:pPr marL="0" indent="0">
              <a:buNone/>
            </a:pPr>
            <a:r>
              <a:rPr lang="en-US" altLang="ko-KR" dirty="0"/>
              <a:t>+ </a:t>
            </a:r>
            <a:r>
              <a:rPr lang="en-US" altLang="ko-KR" dirty="0">
                <a:solidFill>
                  <a:srgbClr val="FF5050"/>
                </a:solidFill>
              </a:rPr>
              <a:t>for</a:t>
            </a:r>
            <a:r>
              <a:rPr lang="ko-KR" altLang="en-US" dirty="0" err="1">
                <a:solidFill>
                  <a:srgbClr val="FF5050"/>
                </a:solidFill>
              </a:rPr>
              <a:t>문</a:t>
            </a:r>
            <a:r>
              <a:rPr lang="ko-KR" altLang="en-US" dirty="0" err="1"/>
              <a:t>또한</a:t>
            </a:r>
            <a:r>
              <a:rPr lang="ko-KR" altLang="en-US" dirty="0"/>
              <a:t> </a:t>
            </a:r>
            <a:r>
              <a:rPr lang="en-US" altLang="ko-KR" dirty="0"/>
              <a:t>JSX </a:t>
            </a:r>
            <a:r>
              <a:rPr lang="ko-KR" altLang="en-US" dirty="0"/>
              <a:t>내부에 </a:t>
            </a:r>
            <a:r>
              <a:rPr lang="ko-KR" altLang="en-US" dirty="0">
                <a:solidFill>
                  <a:srgbClr val="FF5050"/>
                </a:solidFill>
              </a:rPr>
              <a:t>올 수 없어요</a:t>
            </a:r>
            <a:r>
              <a:rPr lang="en-US" altLang="ko-KR" dirty="0">
                <a:solidFill>
                  <a:srgbClr val="FF5050"/>
                </a:solidFill>
              </a:rPr>
              <a:t>!</a:t>
            </a:r>
          </a:p>
          <a:p>
            <a:pPr marL="0" indent="0">
              <a:buNone/>
            </a:pPr>
            <a:r>
              <a:rPr lang="en-US" altLang="ko-KR" sz="2400" dirty="0"/>
              <a:t>(for</a:t>
            </a:r>
            <a:r>
              <a:rPr lang="ko-KR" altLang="en-US" sz="2400" dirty="0"/>
              <a:t>문과 </a:t>
            </a:r>
            <a:r>
              <a:rPr lang="en-US" altLang="ko-KR" sz="2400" dirty="0"/>
              <a:t>if </a:t>
            </a:r>
            <a:r>
              <a:rPr lang="ko-KR" altLang="en-US" sz="2400" dirty="0"/>
              <a:t>문을 사용하고 싶다면 </a:t>
            </a:r>
            <a:r>
              <a:rPr lang="en-US" altLang="ko-KR" sz="2400" dirty="0"/>
              <a:t>return </a:t>
            </a:r>
            <a:r>
              <a:rPr lang="ko-KR" altLang="en-US" sz="2400" dirty="0"/>
              <a:t>이 오기 전에 결과값을 저장하고 사용</a:t>
            </a:r>
            <a:r>
              <a:rPr lang="en-US" altLang="ko-KR" sz="2400" dirty="0"/>
              <a:t>)</a:t>
            </a:r>
            <a:endParaRPr lang="ko-KR" altLang="en-US" sz="2400" dirty="0"/>
          </a:p>
        </p:txBody>
      </p:sp>
      <p:sp>
        <p:nvSpPr>
          <p:cNvPr id="13" name="직사각형 12"/>
          <p:cNvSpPr/>
          <p:nvPr/>
        </p:nvSpPr>
        <p:spPr>
          <a:xfrm>
            <a:off x="343439" y="4079078"/>
            <a:ext cx="10083621" cy="2662267"/>
          </a:xfrm>
          <a:prstGeom prst="rect">
            <a:avLst/>
          </a:prstGeom>
          <a:solidFill>
            <a:srgbClr val="07090F"/>
          </a:solidFill>
          <a:ln w="38100">
            <a:solidFill>
              <a:srgbClr val="6DC172"/>
            </a:solidFill>
          </a:ln>
        </p:spPr>
        <p:txBody>
          <a:bodyPr wrap="square">
            <a:spAutoFit/>
          </a:bodyPr>
          <a:lstStyle/>
          <a:p>
            <a:r>
              <a:rPr lang="en-US" altLang="ko-KR" sz="1400" dirty="0" err="1">
                <a:solidFill>
                  <a:srgbClr val="C792EA"/>
                </a:solidFill>
                <a:latin typeface="Consolas" panose="020B0609020204030204" pitchFamily="49" charset="0"/>
              </a:rPr>
              <a:t>const</a:t>
            </a:r>
            <a:r>
              <a:rPr lang="en-US" altLang="ko-KR" sz="14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400" dirty="0" err="1">
                <a:solidFill>
                  <a:srgbClr val="F07178"/>
                </a:solidFill>
                <a:latin typeface="Consolas" panose="020B0609020204030204" pitchFamily="49" charset="0"/>
              </a:rPr>
              <a:t>str</a:t>
            </a:r>
            <a:r>
              <a:rPr lang="en-US" altLang="ko-KR" sz="14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400" dirty="0">
                <a:solidFill>
                  <a:srgbClr val="C792EA"/>
                </a:solidFill>
                <a:latin typeface="Consolas" panose="020B0609020204030204" pitchFamily="49" charset="0"/>
              </a:rPr>
              <a:t>=</a:t>
            </a:r>
            <a:r>
              <a:rPr lang="en-US" altLang="ko-KR" sz="14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400" dirty="0">
                <a:solidFill>
                  <a:srgbClr val="89DDFF"/>
                </a:solidFill>
                <a:latin typeface="Consolas" panose="020B0609020204030204" pitchFamily="49" charset="0"/>
              </a:rPr>
              <a:t>'</a:t>
            </a:r>
            <a:r>
              <a:rPr lang="en-US" altLang="ko-KR" sz="1400" dirty="0">
                <a:solidFill>
                  <a:srgbClr val="C3E88D"/>
                </a:solidFill>
                <a:latin typeface="Consolas" panose="020B0609020204030204" pitchFamily="49" charset="0"/>
              </a:rPr>
              <a:t>hello,</a:t>
            </a:r>
            <a:r>
              <a:rPr lang="en-US" altLang="ko-KR" sz="1400" dirty="0">
                <a:solidFill>
                  <a:srgbClr val="89DDFF"/>
                </a:solidFill>
                <a:latin typeface="Consolas" panose="020B0609020204030204" pitchFamily="49" charset="0"/>
              </a:rPr>
              <a:t>';</a:t>
            </a:r>
            <a:endParaRPr lang="en-US" altLang="ko-KR" sz="1600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return</a:t>
            </a:r>
            <a:r>
              <a:rPr lang="en-US" altLang="ko-KR" sz="1600" dirty="0">
                <a:solidFill>
                  <a:srgbClr val="BBBBBB"/>
                </a:solidFill>
                <a:latin typeface="Consolas" panose="020B0609020204030204" pitchFamily="49" charset="0"/>
              </a:rPr>
              <a:t> (</a:t>
            </a:r>
          </a:p>
          <a:p>
            <a:r>
              <a:rPr lang="en-US" altLang="ko-KR" sz="1600" dirty="0">
                <a:solidFill>
                  <a:srgbClr val="BBBBBB"/>
                </a:solidFill>
                <a:latin typeface="Consolas" panose="020B0609020204030204" pitchFamily="49" charset="0"/>
              </a:rPr>
              <a:t>    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&lt;</a:t>
            </a:r>
            <a:r>
              <a:rPr lang="en-US" altLang="ko-KR" sz="1600" dirty="0">
                <a:solidFill>
                  <a:srgbClr val="F07178"/>
                </a:solidFill>
                <a:latin typeface="Consolas" panose="020B0609020204030204" pitchFamily="49" charset="0"/>
              </a:rPr>
              <a:t>div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600" dirty="0" err="1">
                <a:solidFill>
                  <a:srgbClr val="C792EA"/>
                </a:solidFill>
                <a:latin typeface="Consolas" panose="020B0609020204030204" pitchFamily="49" charset="0"/>
              </a:rPr>
              <a:t>className</a:t>
            </a:r>
            <a:r>
              <a:rPr lang="en-US" altLang="ko-KR" sz="1600" dirty="0">
                <a:solidFill>
                  <a:srgbClr val="C792EA"/>
                </a:solidFill>
                <a:latin typeface="Consolas" panose="020B0609020204030204" pitchFamily="49" charset="0"/>
              </a:rPr>
              <a:t>=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'</a:t>
            </a:r>
            <a:r>
              <a:rPr lang="en-US" altLang="ko-KR" sz="1600" dirty="0">
                <a:solidFill>
                  <a:srgbClr val="C3E88D"/>
                </a:solidFill>
                <a:latin typeface="Consolas" panose="020B0609020204030204" pitchFamily="49" charset="0"/>
              </a:rPr>
              <a:t>App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'&gt;</a:t>
            </a:r>
            <a:endParaRPr lang="en-US" altLang="ko-KR" sz="1600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      &lt;</a:t>
            </a:r>
            <a:r>
              <a:rPr lang="en-US" altLang="ko-KR" sz="1600" dirty="0">
                <a:solidFill>
                  <a:srgbClr val="F07178"/>
                </a:solidFill>
                <a:latin typeface="Consolas" panose="020B0609020204030204" pitchFamily="49" charset="0"/>
              </a:rPr>
              <a:t>span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&gt;{</a:t>
            </a:r>
            <a:r>
              <a:rPr lang="en-US" altLang="ko-KR" sz="1600" dirty="0" err="1">
                <a:solidFill>
                  <a:srgbClr val="F07178"/>
                </a:solidFill>
                <a:latin typeface="Consolas" panose="020B0609020204030204" pitchFamily="49" charset="0"/>
              </a:rPr>
              <a:t>str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}&lt;/</a:t>
            </a:r>
            <a:r>
              <a:rPr lang="en-US" altLang="ko-KR" sz="1600" dirty="0">
                <a:solidFill>
                  <a:srgbClr val="F07178"/>
                </a:solidFill>
                <a:latin typeface="Consolas" panose="020B0609020204030204" pitchFamily="49" charset="0"/>
              </a:rPr>
              <a:t>span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&gt;</a:t>
            </a:r>
            <a:endParaRPr lang="en-US" altLang="ko-KR" sz="1600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      &lt;</a:t>
            </a:r>
            <a:r>
              <a:rPr lang="en-US" altLang="ko-KR" sz="1600" dirty="0">
                <a:solidFill>
                  <a:srgbClr val="F07178"/>
                </a:solidFill>
                <a:latin typeface="Consolas" panose="020B0609020204030204" pitchFamily="49" charset="0"/>
              </a:rPr>
              <a:t>span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&gt;{</a:t>
            </a:r>
            <a:r>
              <a:rPr lang="en-US" altLang="ko-KR" sz="1600" dirty="0" err="1">
                <a:solidFill>
                  <a:srgbClr val="F07178"/>
                </a:solidFill>
                <a:latin typeface="Consolas" panose="020B0609020204030204" pitchFamily="49" charset="0"/>
              </a:rPr>
              <a:t>str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600" dirty="0">
                <a:solidFill>
                  <a:srgbClr val="C792EA"/>
                </a:solidFill>
                <a:latin typeface="Consolas" panose="020B0609020204030204" pitchFamily="49" charset="0"/>
              </a:rPr>
              <a:t>===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 '</a:t>
            </a:r>
            <a:r>
              <a:rPr lang="en-US" altLang="ko-KR" sz="1600" dirty="0">
                <a:solidFill>
                  <a:srgbClr val="C3E88D"/>
                </a:solidFill>
                <a:latin typeface="Consolas" panose="020B0609020204030204" pitchFamily="49" charset="0"/>
              </a:rPr>
              <a:t>hello,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' </a:t>
            </a:r>
            <a:r>
              <a:rPr lang="en-US" altLang="ko-KR" sz="1600" dirty="0">
                <a:solidFill>
                  <a:srgbClr val="C792EA"/>
                </a:solidFill>
                <a:latin typeface="Consolas" panose="020B0609020204030204" pitchFamily="49" charset="0"/>
              </a:rPr>
              <a:t>?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 '</a:t>
            </a:r>
            <a:r>
              <a:rPr lang="en-US" altLang="ko-KR" sz="1600" dirty="0">
                <a:solidFill>
                  <a:srgbClr val="C3E88D"/>
                </a:solidFill>
                <a:latin typeface="Consolas" panose="020B0609020204030204" pitchFamily="49" charset="0"/>
              </a:rPr>
              <a:t>world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' </a:t>
            </a:r>
            <a:r>
              <a:rPr lang="en-US" altLang="ko-KR" sz="1600" dirty="0">
                <a:solidFill>
                  <a:srgbClr val="C792EA"/>
                </a:solidFill>
                <a:latin typeface="Consolas" panose="020B0609020204030204" pitchFamily="49" charset="0"/>
              </a:rPr>
              <a:t>: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 '</a:t>
            </a:r>
            <a:r>
              <a:rPr lang="ko-KR" altLang="en-US" sz="1600" dirty="0">
                <a:solidFill>
                  <a:srgbClr val="C3E88D"/>
                </a:solidFill>
                <a:latin typeface="Consolas" panose="020B0609020204030204" pitchFamily="49" charset="0"/>
              </a:rPr>
              <a:t>세상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'}&lt;/</a:t>
            </a:r>
            <a:r>
              <a:rPr lang="en-US" altLang="ko-KR" sz="1600" dirty="0">
                <a:solidFill>
                  <a:srgbClr val="F07178"/>
                </a:solidFill>
                <a:latin typeface="Consolas" panose="020B0609020204030204" pitchFamily="49" charset="0"/>
              </a:rPr>
              <a:t>span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&gt;</a:t>
            </a:r>
            <a:endParaRPr lang="en-US" altLang="ko-KR" sz="1600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      &lt;</a:t>
            </a:r>
            <a:r>
              <a:rPr lang="en-US" altLang="ko-KR" sz="1600" dirty="0">
                <a:solidFill>
                  <a:srgbClr val="F07178"/>
                </a:solidFill>
                <a:latin typeface="Consolas" panose="020B0609020204030204" pitchFamily="49" charset="0"/>
              </a:rPr>
              <a:t>div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&gt;</a:t>
            </a:r>
            <a:endParaRPr lang="en-US" altLang="ko-KR" sz="1600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        {</a:t>
            </a:r>
            <a:r>
              <a:rPr lang="en-US" altLang="ko-KR" sz="1600" dirty="0" err="1">
                <a:solidFill>
                  <a:srgbClr val="F07178"/>
                </a:solidFill>
                <a:latin typeface="Consolas" panose="020B0609020204030204" pitchFamily="49" charset="0"/>
              </a:rPr>
              <a:t>str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600" dirty="0">
                <a:solidFill>
                  <a:srgbClr val="C792EA"/>
                </a:solidFill>
                <a:latin typeface="Consolas" panose="020B0609020204030204" pitchFamily="49" charset="0"/>
              </a:rPr>
              <a:t>===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 '</a:t>
            </a:r>
            <a:r>
              <a:rPr lang="en-US" altLang="ko-KR" sz="1600" dirty="0">
                <a:solidFill>
                  <a:srgbClr val="C3E88D"/>
                </a:solidFill>
                <a:latin typeface="Consolas" panose="020B0609020204030204" pitchFamily="49" charset="0"/>
              </a:rPr>
              <a:t>hello,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' </a:t>
            </a:r>
            <a:r>
              <a:rPr lang="en-US" altLang="ko-KR" sz="1600" dirty="0">
                <a:solidFill>
                  <a:srgbClr val="C792EA"/>
                </a:solidFill>
                <a:latin typeface="Consolas" panose="020B0609020204030204" pitchFamily="49" charset="0"/>
              </a:rPr>
              <a:t>?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 (&lt;</a:t>
            </a:r>
            <a:r>
              <a:rPr lang="en-US" altLang="ko-KR" sz="1600" dirty="0">
                <a:solidFill>
                  <a:srgbClr val="F07178"/>
                </a:solidFill>
                <a:latin typeface="Consolas" panose="020B0609020204030204" pitchFamily="49" charset="0"/>
              </a:rPr>
              <a:t>div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&gt;&lt;</a:t>
            </a:r>
            <a:r>
              <a:rPr lang="en-US" altLang="ko-KR" sz="1600" dirty="0">
                <a:solidFill>
                  <a:srgbClr val="F07178"/>
                </a:solidFill>
                <a:latin typeface="Consolas" panose="020B0609020204030204" pitchFamily="49" charset="0"/>
              </a:rPr>
              <a:t>h2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&gt;react&lt;/</a:t>
            </a:r>
            <a:r>
              <a:rPr lang="en-US" altLang="ko-KR" sz="1600" dirty="0">
                <a:solidFill>
                  <a:srgbClr val="F07178"/>
                </a:solidFill>
                <a:latin typeface="Consolas" panose="020B0609020204030204" pitchFamily="49" charset="0"/>
              </a:rPr>
              <a:t>h2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&gt;&lt;/</a:t>
            </a:r>
            <a:r>
              <a:rPr lang="en-US" altLang="ko-KR" sz="1600" dirty="0">
                <a:solidFill>
                  <a:srgbClr val="F07178"/>
                </a:solidFill>
                <a:latin typeface="Consolas" panose="020B0609020204030204" pitchFamily="49" charset="0"/>
              </a:rPr>
              <a:t>div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&gt;) </a:t>
            </a:r>
            <a:r>
              <a:rPr lang="en-US" altLang="ko-KR" sz="1600" dirty="0">
                <a:solidFill>
                  <a:srgbClr val="C792EA"/>
                </a:solidFill>
                <a:latin typeface="Consolas" panose="020B0609020204030204" pitchFamily="49" charset="0"/>
              </a:rPr>
              <a:t>: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 (&lt;</a:t>
            </a:r>
            <a:r>
              <a:rPr lang="en-US" altLang="ko-KR" sz="1600" dirty="0">
                <a:solidFill>
                  <a:srgbClr val="F07178"/>
                </a:solidFill>
                <a:latin typeface="Consolas" panose="020B0609020204030204" pitchFamily="49" charset="0"/>
              </a:rPr>
              <a:t>div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&gt;&lt;</a:t>
            </a:r>
            <a:r>
              <a:rPr lang="en-US" altLang="ko-KR" sz="1600" dirty="0">
                <a:solidFill>
                  <a:srgbClr val="F07178"/>
                </a:solidFill>
                <a:latin typeface="Consolas" panose="020B0609020204030204" pitchFamily="49" charset="0"/>
              </a:rPr>
              <a:t>h2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&gt;</a:t>
            </a:r>
            <a:r>
              <a:rPr lang="ko-KR" altLang="en-US" sz="1600" dirty="0" err="1">
                <a:solidFill>
                  <a:srgbClr val="89DDFF"/>
                </a:solidFill>
                <a:latin typeface="Consolas" panose="020B0609020204030204" pitchFamily="49" charset="0"/>
              </a:rPr>
              <a:t>리액트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&lt;/</a:t>
            </a:r>
            <a:r>
              <a:rPr lang="en-US" altLang="ko-KR" sz="1600" dirty="0">
                <a:solidFill>
                  <a:srgbClr val="F07178"/>
                </a:solidFill>
                <a:latin typeface="Consolas" panose="020B0609020204030204" pitchFamily="49" charset="0"/>
              </a:rPr>
              <a:t>h2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&gt;&lt;/</a:t>
            </a:r>
            <a:r>
              <a:rPr lang="en-US" altLang="ko-KR" sz="1600" dirty="0">
                <a:solidFill>
                  <a:srgbClr val="F07178"/>
                </a:solidFill>
                <a:latin typeface="Consolas" panose="020B0609020204030204" pitchFamily="49" charset="0"/>
              </a:rPr>
              <a:t>div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&gt;)}</a:t>
            </a:r>
          </a:p>
          <a:p>
            <a:endParaRPr lang="en-US" altLang="ko-KR" sz="400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      &lt;/</a:t>
            </a:r>
            <a:r>
              <a:rPr lang="en-US" altLang="ko-KR" sz="1600" dirty="0">
                <a:solidFill>
                  <a:srgbClr val="F07178"/>
                </a:solidFill>
                <a:latin typeface="Consolas" panose="020B0609020204030204" pitchFamily="49" charset="0"/>
              </a:rPr>
              <a:t>div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&gt;</a:t>
            </a:r>
            <a:endParaRPr lang="en-US" altLang="ko-KR" sz="1600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    &lt;/</a:t>
            </a:r>
            <a:r>
              <a:rPr lang="en-US" altLang="ko-KR" sz="1600" dirty="0">
                <a:solidFill>
                  <a:srgbClr val="F07178"/>
                </a:solidFill>
                <a:latin typeface="Consolas" panose="020B0609020204030204" pitchFamily="49" charset="0"/>
              </a:rPr>
              <a:t>div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&gt;</a:t>
            </a:r>
            <a:endParaRPr lang="en-US" altLang="ko-KR" sz="1600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en-US" altLang="ko-KR" sz="1600" dirty="0">
                <a:solidFill>
                  <a:srgbClr val="BBBBBB"/>
                </a:solidFill>
                <a:latin typeface="Consolas" panose="020B0609020204030204" pitchFamily="49" charset="0"/>
              </a:rPr>
              <a:t>  )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;</a:t>
            </a:r>
            <a:endParaRPr lang="en-US" altLang="ko-KR" sz="1600" b="0" dirty="0">
              <a:solidFill>
                <a:srgbClr val="BBBBBB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8083641" y="3155523"/>
            <a:ext cx="3765461" cy="2339102"/>
          </a:xfrm>
          <a:prstGeom prst="rect">
            <a:avLst/>
          </a:prstGeom>
          <a:solidFill>
            <a:srgbClr val="07090F"/>
          </a:solidFill>
          <a:ln w="38100">
            <a:solidFill>
              <a:srgbClr val="6DC172"/>
            </a:solidFill>
          </a:ln>
        </p:spPr>
        <p:txBody>
          <a:bodyPr wrap="square">
            <a:spAutoFit/>
          </a:bodyPr>
          <a:lstStyle/>
          <a:p>
            <a:r>
              <a:rPr lang="en-US" altLang="ko-KR" sz="1600" dirty="0" err="1">
                <a:solidFill>
                  <a:srgbClr val="C792EA"/>
                </a:solidFill>
                <a:latin typeface="Consolas" panose="020B0609020204030204" pitchFamily="49" charset="0"/>
              </a:rPr>
              <a:t>const</a:t>
            </a:r>
            <a:r>
              <a:rPr lang="en-US" altLang="ko-KR" sz="16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600" dirty="0">
                <a:solidFill>
                  <a:srgbClr val="EEFFFF"/>
                </a:solidFill>
                <a:latin typeface="Consolas" panose="020B0609020204030204" pitchFamily="49" charset="0"/>
              </a:rPr>
              <a:t>numbers</a:t>
            </a:r>
            <a:r>
              <a:rPr lang="en-US" altLang="ko-KR" sz="16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600" dirty="0">
                <a:solidFill>
                  <a:srgbClr val="C792EA"/>
                </a:solidFill>
                <a:latin typeface="Consolas" panose="020B0609020204030204" pitchFamily="49" charset="0"/>
              </a:rPr>
              <a:t>=</a:t>
            </a:r>
            <a:r>
              <a:rPr lang="en-US" altLang="ko-KR" sz="1600" dirty="0">
                <a:solidFill>
                  <a:srgbClr val="BBBBBB"/>
                </a:solidFill>
                <a:latin typeface="Consolas" panose="020B0609020204030204" pitchFamily="49" charset="0"/>
              </a:rPr>
              <a:t> [</a:t>
            </a:r>
            <a:r>
              <a:rPr lang="en-US" altLang="ko-KR" sz="1600" dirty="0">
                <a:solidFill>
                  <a:srgbClr val="F78C6C"/>
                </a:solidFill>
                <a:latin typeface="Consolas" panose="020B0609020204030204" pitchFamily="49" charset="0"/>
              </a:rPr>
              <a:t>1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,</a:t>
            </a:r>
            <a:r>
              <a:rPr lang="en-US" altLang="ko-KR" sz="16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600" dirty="0">
                <a:solidFill>
                  <a:srgbClr val="F78C6C"/>
                </a:solidFill>
                <a:latin typeface="Consolas" panose="020B0609020204030204" pitchFamily="49" charset="0"/>
              </a:rPr>
              <a:t>2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,</a:t>
            </a:r>
            <a:r>
              <a:rPr lang="en-US" altLang="ko-KR" sz="16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600" dirty="0">
                <a:solidFill>
                  <a:srgbClr val="F78C6C"/>
                </a:solidFill>
                <a:latin typeface="Consolas" panose="020B0609020204030204" pitchFamily="49" charset="0"/>
              </a:rPr>
              <a:t>3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,</a:t>
            </a:r>
            <a:r>
              <a:rPr lang="en-US" altLang="ko-KR" sz="16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600" dirty="0">
                <a:solidFill>
                  <a:srgbClr val="F78C6C"/>
                </a:solidFill>
                <a:latin typeface="Consolas" panose="020B0609020204030204" pitchFamily="49" charset="0"/>
              </a:rPr>
              <a:t>4</a:t>
            </a:r>
            <a:r>
              <a:rPr lang="en-US" altLang="ko-KR" sz="1600" dirty="0">
                <a:solidFill>
                  <a:srgbClr val="BBBBBB"/>
                </a:solidFill>
                <a:latin typeface="Consolas" panose="020B0609020204030204" pitchFamily="49" charset="0"/>
              </a:rPr>
              <a:t>]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;</a:t>
            </a:r>
            <a:endParaRPr lang="en-US" altLang="ko-KR" sz="1600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en-US" altLang="ko-KR" sz="1600" dirty="0">
                <a:solidFill>
                  <a:srgbClr val="C792EA"/>
                </a:solidFill>
                <a:latin typeface="Consolas" panose="020B0609020204030204" pitchFamily="49" charset="0"/>
              </a:rPr>
              <a:t>let</a:t>
            </a:r>
            <a:r>
              <a:rPr lang="en-US" altLang="ko-KR" sz="16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600" dirty="0">
                <a:solidFill>
                  <a:srgbClr val="EEFFFF"/>
                </a:solidFill>
                <a:latin typeface="Consolas" panose="020B0609020204030204" pitchFamily="49" charset="0"/>
              </a:rPr>
              <a:t>sum</a:t>
            </a:r>
            <a:r>
              <a:rPr lang="en-US" altLang="ko-KR" sz="16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600" dirty="0">
                <a:solidFill>
                  <a:srgbClr val="C792EA"/>
                </a:solidFill>
                <a:latin typeface="Consolas" panose="020B0609020204030204" pitchFamily="49" charset="0"/>
              </a:rPr>
              <a:t>=</a:t>
            </a:r>
            <a:r>
              <a:rPr lang="en-US" altLang="ko-KR" sz="16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600" dirty="0">
                <a:solidFill>
                  <a:srgbClr val="F78C6C"/>
                </a:solidFill>
                <a:latin typeface="Consolas" panose="020B0609020204030204" pitchFamily="49" charset="0"/>
              </a:rPr>
              <a:t>0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;</a:t>
            </a:r>
            <a:endParaRPr lang="en-US" altLang="ko-KR" sz="1600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for</a:t>
            </a:r>
            <a:r>
              <a:rPr lang="en-US" altLang="ko-KR" sz="1600" dirty="0">
                <a:solidFill>
                  <a:srgbClr val="BBBBBB"/>
                </a:solidFill>
                <a:latin typeface="Consolas" panose="020B0609020204030204" pitchFamily="49" charset="0"/>
              </a:rPr>
              <a:t> (</a:t>
            </a:r>
            <a:r>
              <a:rPr lang="en-US" altLang="ko-KR" sz="1600" dirty="0">
                <a:solidFill>
                  <a:srgbClr val="C792EA"/>
                </a:solidFill>
                <a:latin typeface="Consolas" panose="020B0609020204030204" pitchFamily="49" charset="0"/>
              </a:rPr>
              <a:t>let</a:t>
            </a:r>
            <a:r>
              <a:rPr lang="en-US" altLang="ko-KR" sz="16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600" dirty="0" err="1">
                <a:solidFill>
                  <a:srgbClr val="EEFFFF"/>
                </a:solidFill>
                <a:latin typeface="Consolas" panose="020B0609020204030204" pitchFamily="49" charset="0"/>
              </a:rPr>
              <a:t>num</a:t>
            </a:r>
            <a:r>
              <a:rPr lang="en-US" altLang="ko-KR" sz="16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600" dirty="0">
                <a:solidFill>
                  <a:srgbClr val="C792EA"/>
                </a:solidFill>
                <a:latin typeface="Consolas" panose="020B0609020204030204" pitchFamily="49" charset="0"/>
              </a:rPr>
              <a:t>of</a:t>
            </a:r>
            <a:r>
              <a:rPr lang="en-US" altLang="ko-KR" sz="16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600" dirty="0">
                <a:solidFill>
                  <a:srgbClr val="EEFFFF"/>
                </a:solidFill>
                <a:latin typeface="Consolas" panose="020B0609020204030204" pitchFamily="49" charset="0"/>
              </a:rPr>
              <a:t>numbers</a:t>
            </a:r>
            <a:r>
              <a:rPr lang="en-US" altLang="ko-KR" sz="1600" dirty="0">
                <a:solidFill>
                  <a:srgbClr val="BBBBBB"/>
                </a:solidFill>
                <a:latin typeface="Consolas" panose="020B0609020204030204" pitchFamily="49" charset="0"/>
              </a:rPr>
              <a:t>) 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{</a:t>
            </a:r>
            <a:endParaRPr lang="en-US" altLang="ko-KR" sz="1600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en-US" altLang="ko-KR" sz="1600" dirty="0">
                <a:solidFill>
                  <a:srgbClr val="BBBBBB"/>
                </a:solidFill>
                <a:latin typeface="Consolas" panose="020B0609020204030204" pitchFamily="49" charset="0"/>
              </a:rPr>
              <a:t>  </a:t>
            </a:r>
            <a:r>
              <a:rPr lang="en-US" altLang="ko-KR" sz="1600" dirty="0">
                <a:solidFill>
                  <a:srgbClr val="F07178"/>
                </a:solidFill>
                <a:latin typeface="Consolas" panose="020B0609020204030204" pitchFamily="49" charset="0"/>
              </a:rPr>
              <a:t>sum</a:t>
            </a:r>
            <a:r>
              <a:rPr lang="en-US" altLang="ko-KR" sz="16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600" dirty="0">
                <a:solidFill>
                  <a:srgbClr val="C792EA"/>
                </a:solidFill>
                <a:latin typeface="Consolas" panose="020B0609020204030204" pitchFamily="49" charset="0"/>
              </a:rPr>
              <a:t>+=</a:t>
            </a:r>
            <a:r>
              <a:rPr lang="en-US" altLang="ko-KR" sz="16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600" dirty="0" err="1">
                <a:solidFill>
                  <a:srgbClr val="F07178"/>
                </a:solidFill>
                <a:latin typeface="Consolas" panose="020B0609020204030204" pitchFamily="49" charset="0"/>
              </a:rPr>
              <a:t>num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;</a:t>
            </a:r>
            <a:endParaRPr lang="en-US" altLang="ko-KR" sz="1600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}</a:t>
            </a:r>
            <a:endParaRPr lang="en-US" altLang="ko-KR" sz="1600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br>
              <a:rPr lang="en-US" altLang="ko-KR" sz="1600" dirty="0">
                <a:solidFill>
                  <a:srgbClr val="BBBBBB"/>
                </a:solidFill>
                <a:latin typeface="Consolas" panose="020B0609020204030204" pitchFamily="49" charset="0"/>
              </a:rPr>
            </a:b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export</a:t>
            </a:r>
            <a:r>
              <a:rPr lang="en-US" altLang="ko-KR" sz="16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default</a:t>
            </a:r>
            <a:r>
              <a:rPr lang="en-US" altLang="ko-KR" sz="16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600" dirty="0">
                <a:solidFill>
                  <a:srgbClr val="C792EA"/>
                </a:solidFill>
                <a:latin typeface="Consolas" panose="020B0609020204030204" pitchFamily="49" charset="0"/>
              </a:rPr>
              <a:t>function</a:t>
            </a:r>
            <a:r>
              <a:rPr lang="en-US" altLang="ko-KR" sz="16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600" dirty="0">
                <a:solidFill>
                  <a:srgbClr val="82AAFF"/>
                </a:solidFill>
                <a:latin typeface="Consolas" panose="020B0609020204030204" pitchFamily="49" charset="0"/>
              </a:rPr>
              <a:t>App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()</a:t>
            </a:r>
            <a:r>
              <a:rPr lang="en-US" altLang="ko-KR" sz="16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{</a:t>
            </a:r>
            <a:endParaRPr lang="en-US" altLang="ko-KR" sz="1600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en-US" altLang="ko-KR" sz="1600" dirty="0">
                <a:solidFill>
                  <a:srgbClr val="BBBBBB"/>
                </a:solidFill>
                <a:latin typeface="Consolas" panose="020B0609020204030204" pitchFamily="49" charset="0"/>
              </a:rPr>
              <a:t>  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return</a:t>
            </a:r>
            <a:r>
              <a:rPr lang="en-US" altLang="ko-KR" sz="16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&lt;</a:t>
            </a:r>
            <a:r>
              <a:rPr lang="en-US" altLang="ko-KR" sz="1600" dirty="0">
                <a:solidFill>
                  <a:srgbClr val="F07178"/>
                </a:solidFill>
                <a:latin typeface="Consolas" panose="020B0609020204030204" pitchFamily="49" charset="0"/>
              </a:rPr>
              <a:t>span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&gt;{</a:t>
            </a:r>
            <a:r>
              <a:rPr lang="en-US" altLang="ko-KR" sz="1600" dirty="0">
                <a:solidFill>
                  <a:srgbClr val="F07178"/>
                </a:solidFill>
                <a:latin typeface="Consolas" panose="020B0609020204030204" pitchFamily="49" charset="0"/>
              </a:rPr>
              <a:t>sum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}&lt;/</a:t>
            </a:r>
            <a:r>
              <a:rPr lang="en-US" altLang="ko-KR" sz="1600" dirty="0">
                <a:solidFill>
                  <a:srgbClr val="F07178"/>
                </a:solidFill>
                <a:latin typeface="Consolas" panose="020B0609020204030204" pitchFamily="49" charset="0"/>
              </a:rPr>
              <a:t>span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&gt;;</a:t>
            </a:r>
            <a:endParaRPr lang="en-US" altLang="ko-KR" sz="1600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}</a:t>
            </a:r>
            <a:endParaRPr lang="en-US" altLang="ko-KR" sz="1600" b="0" dirty="0">
              <a:solidFill>
                <a:srgbClr val="BBBBBB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1792045" y="3557281"/>
            <a:ext cx="297389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삼항연산자</a:t>
            </a:r>
            <a:r>
              <a:rPr lang="ko-KR" alt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 대신 </a:t>
            </a:r>
            <a:r>
              <a:rPr lang="en-US" altLang="ko-KR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if </a:t>
            </a:r>
            <a:r>
              <a:rPr lang="ko-KR" alt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문이 나올 수 없어요</a:t>
            </a:r>
            <a:r>
              <a:rPr lang="en-US" altLang="ko-KR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!</a:t>
            </a:r>
            <a:endParaRPr lang="ko-KR" altLang="en-US" sz="1400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5504873" y="3128396"/>
            <a:ext cx="270138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for, if </a:t>
            </a:r>
            <a:r>
              <a:rPr lang="ko-KR" alt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등이 오려면 </a:t>
            </a:r>
            <a:endParaRPr lang="en-US" altLang="ko-KR" sz="1400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  <a:p>
            <a:r>
              <a:rPr lang="ko-KR" alt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특정 변수에 저장하고 사용해야 해요</a:t>
            </a:r>
          </a:p>
        </p:txBody>
      </p:sp>
      <p:cxnSp>
        <p:nvCxnSpPr>
          <p:cNvPr id="23" name="직선 연결선 22"/>
          <p:cNvCxnSpPr/>
          <p:nvPr/>
        </p:nvCxnSpPr>
        <p:spPr>
          <a:xfrm>
            <a:off x="1742014" y="5344732"/>
            <a:ext cx="4167096" cy="0"/>
          </a:xfrm>
          <a:prstGeom prst="line">
            <a:avLst/>
          </a:prstGeom>
          <a:ln w="38100">
            <a:solidFill>
              <a:srgbClr val="92D050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24" name="직선 연결선 23"/>
          <p:cNvCxnSpPr/>
          <p:nvPr/>
        </p:nvCxnSpPr>
        <p:spPr>
          <a:xfrm>
            <a:off x="1353364" y="5831986"/>
            <a:ext cx="8640644" cy="0"/>
          </a:xfrm>
          <a:prstGeom prst="line">
            <a:avLst/>
          </a:prstGeom>
          <a:ln w="38100">
            <a:solidFill>
              <a:srgbClr val="92D050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4842075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>
                <a:solidFill>
                  <a:srgbClr val="F3DF49"/>
                </a:solidFill>
              </a:rPr>
              <a:t>JS</a:t>
            </a:r>
            <a:r>
              <a:rPr lang="en-US" altLang="ko-KR" dirty="0" err="1">
                <a:solidFill>
                  <a:srgbClr val="8A53A6"/>
                </a:solidFill>
              </a:rPr>
              <a:t>X</a:t>
            </a:r>
            <a:r>
              <a:rPr lang="en-US" altLang="ko-KR" dirty="0">
                <a:solidFill>
                  <a:srgbClr val="8A53A6"/>
                </a:solidFill>
              </a:rPr>
              <a:t>  3. </a:t>
            </a:r>
            <a:r>
              <a:rPr lang="ko-KR" altLang="en-US" dirty="0"/>
              <a:t>인라인 </a:t>
            </a:r>
            <a:r>
              <a:rPr lang="en-US" altLang="ko-KR" dirty="0"/>
              <a:t>style</a:t>
            </a:r>
            <a:r>
              <a:rPr lang="ko-KR" altLang="en-US" dirty="0"/>
              <a:t> 적용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 err="1"/>
              <a:t>CSS</a:t>
            </a:r>
            <a:r>
              <a:rPr lang="en-US" altLang="ko-KR" dirty="0"/>
              <a:t> </a:t>
            </a:r>
            <a:r>
              <a:rPr lang="ko-KR" altLang="en-US" dirty="0"/>
              <a:t>를 인라인 형태로 적용할 때는 </a:t>
            </a:r>
            <a:r>
              <a:rPr lang="en-US" altLang="ko-KR" dirty="0"/>
              <a:t>{object}</a:t>
            </a:r>
            <a:r>
              <a:rPr lang="ko-KR" altLang="en-US" dirty="0"/>
              <a:t>형태로 저장해야 해요</a:t>
            </a:r>
            <a:r>
              <a:rPr lang="en-US" altLang="ko-KR" dirty="0"/>
              <a:t>!</a:t>
            </a:r>
          </a:p>
          <a:p>
            <a:r>
              <a:rPr lang="en-US" altLang="ko-KR" dirty="0" err="1">
                <a:solidFill>
                  <a:srgbClr val="FF5050"/>
                </a:solidFill>
              </a:rPr>
              <a:t>CSS</a:t>
            </a:r>
            <a:r>
              <a:rPr lang="en-US" altLang="ko-KR" dirty="0">
                <a:solidFill>
                  <a:srgbClr val="FF5050"/>
                </a:solidFill>
              </a:rPr>
              <a:t> </a:t>
            </a:r>
            <a:r>
              <a:rPr lang="ko-KR" altLang="en-US" dirty="0">
                <a:solidFill>
                  <a:srgbClr val="FF5050"/>
                </a:solidFill>
              </a:rPr>
              <a:t>속성은 </a:t>
            </a:r>
            <a:r>
              <a:rPr lang="en-US" altLang="ko-KR" dirty="0"/>
              <a:t>dash-case </a:t>
            </a:r>
            <a:r>
              <a:rPr lang="en-US" altLang="ko-KR" dirty="0">
                <a:solidFill>
                  <a:schemeClr val="tx1">
                    <a:lumMod val="65000"/>
                    <a:lumOff val="35000"/>
                  </a:schemeClr>
                </a:solidFill>
                <a:sym typeface="Wingdings" panose="05000000000000000000" pitchFamily="2" charset="2"/>
              </a:rPr>
              <a:t></a:t>
            </a:r>
            <a:r>
              <a:rPr lang="en-US" altLang="ko-KR" dirty="0">
                <a:sym typeface="Wingdings" panose="05000000000000000000" pitchFamily="2" charset="2"/>
              </a:rPr>
              <a:t> </a:t>
            </a:r>
            <a:r>
              <a:rPr lang="en-US" altLang="ko-KR" dirty="0" err="1">
                <a:solidFill>
                  <a:srgbClr val="FF5050"/>
                </a:solidFill>
              </a:rPr>
              <a:t>camelCase</a:t>
            </a:r>
            <a:endParaRPr lang="en-US" altLang="ko-KR" dirty="0">
              <a:solidFill>
                <a:srgbClr val="FF5050"/>
              </a:solidFill>
            </a:endParaRPr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return </a:t>
            </a:r>
            <a:r>
              <a:rPr lang="ko-KR" altLang="en-US" dirty="0"/>
              <a:t>위에 </a:t>
            </a:r>
            <a:r>
              <a:rPr lang="en-US" altLang="ko-KR" dirty="0"/>
              <a:t>object</a:t>
            </a:r>
            <a:r>
              <a:rPr lang="ko-KR" altLang="en-US" dirty="0"/>
              <a:t>를 변수에 담아놓고 사용할 수도 있어요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13" name="직사각형 12"/>
          <p:cNvSpPr/>
          <p:nvPr/>
        </p:nvSpPr>
        <p:spPr>
          <a:xfrm>
            <a:off x="1254416" y="2922362"/>
            <a:ext cx="9674443" cy="369332"/>
          </a:xfrm>
          <a:prstGeom prst="rect">
            <a:avLst/>
          </a:prstGeom>
          <a:solidFill>
            <a:srgbClr val="07090F"/>
          </a:solidFill>
        </p:spPr>
        <p:txBody>
          <a:bodyPr wrap="none">
            <a:spAutoFit/>
          </a:bodyPr>
          <a:lstStyle/>
          <a:p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&lt;</a:t>
            </a:r>
            <a:r>
              <a:rPr lang="en-US" altLang="ko-KR" dirty="0">
                <a:solidFill>
                  <a:srgbClr val="F07178"/>
                </a:solidFill>
                <a:latin typeface="Consolas" panose="020B0609020204030204" pitchFamily="49" charset="0"/>
              </a:rPr>
              <a:t>div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 </a:t>
            </a:r>
            <a:r>
              <a:rPr lang="en-US" altLang="ko-KR" dirty="0">
                <a:solidFill>
                  <a:srgbClr val="C792EA"/>
                </a:solidFill>
                <a:latin typeface="Consolas" panose="020B0609020204030204" pitchFamily="49" charset="0"/>
              </a:rPr>
              <a:t>style=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"</a:t>
            </a:r>
            <a:r>
              <a:rPr lang="en-US" altLang="ko-KR" dirty="0">
                <a:solidFill>
                  <a:srgbClr val="C3E88D"/>
                </a:solidFill>
                <a:latin typeface="Consolas" panose="020B0609020204030204" pitchFamily="49" charset="0"/>
              </a:rPr>
              <a:t>font-size: 32px; background-color: crimson;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"&gt;</a:t>
            </a:r>
            <a:r>
              <a:rPr lang="ko-KR" altLang="en-US" dirty="0">
                <a:solidFill>
                  <a:srgbClr val="89DDFF"/>
                </a:solidFill>
                <a:latin typeface="Consolas" panose="020B0609020204030204" pitchFamily="49" charset="0"/>
              </a:rPr>
              <a:t>인라인 스타일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&lt;/</a:t>
            </a:r>
            <a:r>
              <a:rPr lang="en-US" altLang="ko-KR" dirty="0">
                <a:solidFill>
                  <a:srgbClr val="F07178"/>
                </a:solidFill>
                <a:latin typeface="Consolas" panose="020B0609020204030204" pitchFamily="49" charset="0"/>
              </a:rPr>
              <a:t>div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&gt;</a:t>
            </a:r>
            <a:endParaRPr lang="en-US" altLang="ko-KR" b="0" dirty="0">
              <a:solidFill>
                <a:srgbClr val="BBBBBB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4" name="직사각형 13"/>
          <p:cNvSpPr/>
          <p:nvPr/>
        </p:nvSpPr>
        <p:spPr>
          <a:xfrm>
            <a:off x="296144" y="3836756"/>
            <a:ext cx="11590985" cy="923330"/>
          </a:xfrm>
          <a:prstGeom prst="rect">
            <a:avLst/>
          </a:prstGeom>
          <a:solidFill>
            <a:srgbClr val="07090F"/>
          </a:solidFill>
        </p:spPr>
        <p:txBody>
          <a:bodyPr wrap="square">
            <a:spAutoFit/>
          </a:bodyPr>
          <a:lstStyle/>
          <a:p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export</a:t>
            </a:r>
            <a:r>
              <a:rPr lang="en-US" altLang="ko-KR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default</a:t>
            </a:r>
            <a:r>
              <a:rPr lang="en-US" altLang="ko-KR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dirty="0">
                <a:solidFill>
                  <a:srgbClr val="C792EA"/>
                </a:solidFill>
                <a:latin typeface="Consolas" panose="020B0609020204030204" pitchFamily="49" charset="0"/>
              </a:rPr>
              <a:t>function</a:t>
            </a:r>
            <a:r>
              <a:rPr lang="en-US" altLang="ko-KR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dirty="0">
                <a:solidFill>
                  <a:srgbClr val="82AAFF"/>
                </a:solidFill>
                <a:latin typeface="Consolas" panose="020B0609020204030204" pitchFamily="49" charset="0"/>
              </a:rPr>
              <a:t>App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()</a:t>
            </a:r>
            <a:r>
              <a:rPr lang="en-US" altLang="ko-KR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{</a:t>
            </a:r>
            <a:endParaRPr lang="en-US" altLang="ko-KR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en-US" altLang="ko-KR" dirty="0">
                <a:solidFill>
                  <a:srgbClr val="BBBBBB"/>
                </a:solidFill>
                <a:latin typeface="Consolas" panose="020B0609020204030204" pitchFamily="49" charset="0"/>
              </a:rPr>
              <a:t>  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return</a:t>
            </a:r>
            <a:r>
              <a:rPr lang="en-US" altLang="ko-KR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&lt;</a:t>
            </a:r>
            <a:r>
              <a:rPr lang="en-US" altLang="ko-KR" dirty="0">
                <a:solidFill>
                  <a:srgbClr val="F07178"/>
                </a:solidFill>
                <a:latin typeface="Consolas" panose="020B0609020204030204" pitchFamily="49" charset="0"/>
              </a:rPr>
              <a:t>div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 </a:t>
            </a:r>
            <a:r>
              <a:rPr lang="en-US" altLang="ko-KR" dirty="0">
                <a:solidFill>
                  <a:srgbClr val="C792EA"/>
                </a:solidFill>
                <a:latin typeface="Consolas" panose="020B0609020204030204" pitchFamily="49" charset="0"/>
              </a:rPr>
              <a:t>style=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{{ </a:t>
            </a:r>
            <a:r>
              <a:rPr lang="en-US" altLang="ko-KR" dirty="0" err="1">
                <a:solidFill>
                  <a:srgbClr val="89DDFF"/>
                </a:solidFill>
                <a:latin typeface="Consolas" panose="020B0609020204030204" pitchFamily="49" charset="0"/>
              </a:rPr>
              <a:t>fontSize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: '</a:t>
            </a:r>
            <a:r>
              <a:rPr lang="en-US" altLang="ko-KR" dirty="0">
                <a:solidFill>
                  <a:srgbClr val="C3E88D"/>
                </a:solidFill>
                <a:latin typeface="Consolas" panose="020B0609020204030204" pitchFamily="49" charset="0"/>
              </a:rPr>
              <a:t>32px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', </a:t>
            </a:r>
            <a:r>
              <a:rPr lang="en-US" altLang="ko-KR" dirty="0" err="1">
                <a:solidFill>
                  <a:srgbClr val="89DDFF"/>
                </a:solidFill>
                <a:latin typeface="Consolas" panose="020B0609020204030204" pitchFamily="49" charset="0"/>
              </a:rPr>
              <a:t>backgroundColor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: '</a:t>
            </a:r>
            <a:r>
              <a:rPr lang="en-US" altLang="ko-KR" dirty="0">
                <a:solidFill>
                  <a:srgbClr val="C3E88D"/>
                </a:solidFill>
                <a:latin typeface="Consolas" panose="020B0609020204030204" pitchFamily="49" charset="0"/>
              </a:rPr>
              <a:t>crimson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' }}&gt;</a:t>
            </a:r>
            <a:r>
              <a:rPr lang="ko-KR" altLang="en-US" dirty="0">
                <a:solidFill>
                  <a:srgbClr val="89DDFF"/>
                </a:solidFill>
                <a:latin typeface="Consolas" panose="020B0609020204030204" pitchFamily="49" charset="0"/>
              </a:rPr>
              <a:t>인라인 스타일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&lt;/</a:t>
            </a:r>
            <a:r>
              <a:rPr lang="en-US" altLang="ko-KR" dirty="0">
                <a:solidFill>
                  <a:srgbClr val="F07178"/>
                </a:solidFill>
                <a:latin typeface="Consolas" panose="020B0609020204030204" pitchFamily="49" charset="0"/>
              </a:rPr>
              <a:t>div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&gt;;</a:t>
            </a:r>
            <a:endParaRPr lang="en-US" altLang="ko-KR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}</a:t>
            </a:r>
            <a:endParaRPr lang="en-US" altLang="ko-KR" b="0" dirty="0">
              <a:solidFill>
                <a:srgbClr val="BBBBBB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아래쪽 화살표 15"/>
          <p:cNvSpPr/>
          <p:nvPr/>
        </p:nvSpPr>
        <p:spPr>
          <a:xfrm>
            <a:off x="5731099" y="3374264"/>
            <a:ext cx="360537" cy="385218"/>
          </a:xfrm>
          <a:prstGeom prst="downArrow">
            <a:avLst/>
          </a:prstGeom>
          <a:noFill/>
          <a:ln w="38100">
            <a:solidFill>
              <a:srgbClr val="8A53A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FFC000"/>
              </a:solidFill>
            </a:endParaRPr>
          </a:p>
        </p:txBody>
      </p:sp>
      <p:sp>
        <p:nvSpPr>
          <p:cNvPr id="17" name="직사각형 16"/>
          <p:cNvSpPr/>
          <p:nvPr/>
        </p:nvSpPr>
        <p:spPr>
          <a:xfrm>
            <a:off x="1669959" y="5437762"/>
            <a:ext cx="9354356" cy="1200329"/>
          </a:xfrm>
          <a:prstGeom prst="rect">
            <a:avLst/>
          </a:prstGeom>
          <a:solidFill>
            <a:srgbClr val="07090F"/>
          </a:solidFill>
        </p:spPr>
        <p:txBody>
          <a:bodyPr wrap="square">
            <a:spAutoFit/>
          </a:bodyPr>
          <a:lstStyle/>
          <a:p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export</a:t>
            </a:r>
            <a:r>
              <a:rPr lang="en-US" altLang="ko-KR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default</a:t>
            </a:r>
            <a:r>
              <a:rPr lang="en-US" altLang="ko-KR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dirty="0">
                <a:solidFill>
                  <a:srgbClr val="C792EA"/>
                </a:solidFill>
                <a:latin typeface="Consolas" panose="020B0609020204030204" pitchFamily="49" charset="0"/>
              </a:rPr>
              <a:t>function</a:t>
            </a:r>
            <a:r>
              <a:rPr lang="en-US" altLang="ko-KR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dirty="0">
                <a:solidFill>
                  <a:srgbClr val="82AAFF"/>
                </a:solidFill>
                <a:latin typeface="Consolas" panose="020B0609020204030204" pitchFamily="49" charset="0"/>
              </a:rPr>
              <a:t>App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()</a:t>
            </a:r>
            <a:r>
              <a:rPr lang="en-US" altLang="ko-KR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{</a:t>
            </a:r>
            <a:endParaRPr lang="en-US" altLang="ko-KR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en-US" altLang="ko-KR" dirty="0">
                <a:solidFill>
                  <a:srgbClr val="BBBBBB"/>
                </a:solidFill>
                <a:latin typeface="Consolas" panose="020B0609020204030204" pitchFamily="49" charset="0"/>
              </a:rPr>
              <a:t>  </a:t>
            </a:r>
            <a:r>
              <a:rPr lang="en-US" altLang="ko-KR" dirty="0" err="1">
                <a:solidFill>
                  <a:srgbClr val="C792EA"/>
                </a:solidFill>
                <a:latin typeface="Consolas" panose="020B0609020204030204" pitchFamily="49" charset="0"/>
              </a:rPr>
              <a:t>const</a:t>
            </a:r>
            <a:r>
              <a:rPr lang="en-US" altLang="ko-KR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dirty="0" err="1">
                <a:solidFill>
                  <a:srgbClr val="F07178"/>
                </a:solidFill>
                <a:latin typeface="Consolas" panose="020B0609020204030204" pitchFamily="49" charset="0"/>
              </a:rPr>
              <a:t>divStyle</a:t>
            </a:r>
            <a:r>
              <a:rPr lang="en-US" altLang="ko-KR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dirty="0">
                <a:solidFill>
                  <a:srgbClr val="C792EA"/>
                </a:solidFill>
                <a:latin typeface="Consolas" panose="020B0609020204030204" pitchFamily="49" charset="0"/>
              </a:rPr>
              <a:t>=</a:t>
            </a:r>
            <a:r>
              <a:rPr lang="en-US" altLang="ko-KR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{</a:t>
            </a:r>
            <a:r>
              <a:rPr lang="en-US" altLang="ko-KR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dirty="0" err="1">
                <a:solidFill>
                  <a:srgbClr val="BBBBBB"/>
                </a:solidFill>
                <a:latin typeface="Consolas" panose="020B0609020204030204" pitchFamily="49" charset="0"/>
              </a:rPr>
              <a:t>fontSize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:</a:t>
            </a:r>
            <a:r>
              <a:rPr lang="en-US" altLang="ko-KR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'</a:t>
            </a:r>
            <a:r>
              <a:rPr lang="en-US" altLang="ko-KR" dirty="0">
                <a:solidFill>
                  <a:srgbClr val="C3E88D"/>
                </a:solidFill>
                <a:latin typeface="Consolas" panose="020B0609020204030204" pitchFamily="49" charset="0"/>
              </a:rPr>
              <a:t>32px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',</a:t>
            </a:r>
            <a:r>
              <a:rPr lang="en-US" altLang="ko-KR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dirty="0" err="1">
                <a:solidFill>
                  <a:srgbClr val="BBBBBB"/>
                </a:solidFill>
                <a:latin typeface="Consolas" panose="020B0609020204030204" pitchFamily="49" charset="0"/>
              </a:rPr>
              <a:t>backgroundColor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:</a:t>
            </a:r>
            <a:r>
              <a:rPr lang="en-US" altLang="ko-KR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'</a:t>
            </a:r>
            <a:r>
              <a:rPr lang="en-US" altLang="ko-KR" dirty="0">
                <a:solidFill>
                  <a:srgbClr val="C3E88D"/>
                </a:solidFill>
                <a:latin typeface="Consolas" panose="020B0609020204030204" pitchFamily="49" charset="0"/>
              </a:rPr>
              <a:t>crimson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'</a:t>
            </a:r>
            <a:r>
              <a:rPr lang="en-US" altLang="ko-KR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};</a:t>
            </a:r>
            <a:endParaRPr lang="en-US" altLang="ko-KR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en-US" altLang="ko-KR" dirty="0">
                <a:solidFill>
                  <a:srgbClr val="BBBBBB"/>
                </a:solidFill>
                <a:latin typeface="Consolas" panose="020B0609020204030204" pitchFamily="49" charset="0"/>
              </a:rPr>
              <a:t>  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return</a:t>
            </a:r>
            <a:r>
              <a:rPr lang="en-US" altLang="ko-KR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&lt;</a:t>
            </a:r>
            <a:r>
              <a:rPr lang="en-US" altLang="ko-KR" dirty="0">
                <a:solidFill>
                  <a:srgbClr val="F07178"/>
                </a:solidFill>
                <a:latin typeface="Consolas" panose="020B0609020204030204" pitchFamily="49" charset="0"/>
              </a:rPr>
              <a:t>div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 </a:t>
            </a:r>
            <a:r>
              <a:rPr lang="en-US" altLang="ko-KR" dirty="0">
                <a:solidFill>
                  <a:srgbClr val="C792EA"/>
                </a:solidFill>
                <a:latin typeface="Consolas" panose="020B0609020204030204" pitchFamily="49" charset="0"/>
              </a:rPr>
              <a:t>style=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{</a:t>
            </a:r>
            <a:r>
              <a:rPr lang="en-US" altLang="ko-KR" dirty="0" err="1">
                <a:solidFill>
                  <a:srgbClr val="F07178"/>
                </a:solidFill>
                <a:latin typeface="Consolas" panose="020B0609020204030204" pitchFamily="49" charset="0"/>
              </a:rPr>
              <a:t>divStyle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}&gt;</a:t>
            </a:r>
            <a:r>
              <a:rPr lang="ko-KR" altLang="en-US" dirty="0">
                <a:solidFill>
                  <a:srgbClr val="89DDFF"/>
                </a:solidFill>
                <a:latin typeface="Consolas" panose="020B0609020204030204" pitchFamily="49" charset="0"/>
              </a:rPr>
              <a:t>인라인 스타일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&lt;/</a:t>
            </a:r>
            <a:r>
              <a:rPr lang="en-US" altLang="ko-KR" dirty="0">
                <a:solidFill>
                  <a:srgbClr val="F07178"/>
                </a:solidFill>
                <a:latin typeface="Consolas" panose="020B0609020204030204" pitchFamily="49" charset="0"/>
              </a:rPr>
              <a:t>div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&gt;;</a:t>
            </a:r>
            <a:endParaRPr lang="en-US" altLang="ko-KR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}</a:t>
            </a:r>
            <a:endParaRPr lang="en-US" altLang="ko-KR" b="0" dirty="0">
              <a:solidFill>
                <a:srgbClr val="BBBBBB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167618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>
                <a:solidFill>
                  <a:srgbClr val="F3DF49"/>
                </a:solidFill>
              </a:rPr>
              <a:t>JS</a:t>
            </a:r>
            <a:r>
              <a:rPr lang="en-US" altLang="ko-KR" dirty="0" err="1">
                <a:solidFill>
                  <a:srgbClr val="8A53A6"/>
                </a:solidFill>
              </a:rPr>
              <a:t>X</a:t>
            </a:r>
            <a:r>
              <a:rPr lang="en-US" altLang="ko-KR" dirty="0">
                <a:solidFill>
                  <a:srgbClr val="8A53A6"/>
                </a:solidFill>
              </a:rPr>
              <a:t>  4. </a:t>
            </a:r>
            <a:r>
              <a:rPr lang="en-US" altLang="ko-KR" dirty="0"/>
              <a:t>class</a:t>
            </a:r>
            <a:r>
              <a:rPr lang="ko-KR" altLang="en-US" dirty="0"/>
              <a:t>와 </a:t>
            </a:r>
            <a:r>
              <a:rPr lang="en-US" altLang="ko-KR" dirty="0" err="1"/>
              <a:t>onclick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ko-KR" dirty="0"/>
              <a:t>class </a:t>
            </a:r>
            <a:r>
              <a:rPr lang="ko-KR" altLang="en-US" dirty="0"/>
              <a:t>대신 </a:t>
            </a:r>
            <a:r>
              <a:rPr lang="en-US" altLang="ko-KR" dirty="0" err="1">
                <a:solidFill>
                  <a:srgbClr val="FF5050"/>
                </a:solidFill>
              </a:rPr>
              <a:t>class</a:t>
            </a:r>
            <a:r>
              <a:rPr lang="en-US" altLang="ko-KR" b="1" dirty="0" err="1">
                <a:solidFill>
                  <a:srgbClr val="8A53A6"/>
                </a:solidFill>
              </a:rPr>
              <a:t>N</a:t>
            </a:r>
            <a:r>
              <a:rPr lang="en-US" altLang="ko-KR" dirty="0" err="1">
                <a:solidFill>
                  <a:srgbClr val="FF5050"/>
                </a:solidFill>
              </a:rPr>
              <a:t>ame</a:t>
            </a:r>
            <a:r>
              <a:rPr lang="en-US" altLang="ko-KR" dirty="0"/>
              <a:t>, </a:t>
            </a:r>
            <a:r>
              <a:rPr lang="en-US" altLang="ko-KR" dirty="0" err="1"/>
              <a:t>onclick</a:t>
            </a:r>
            <a:r>
              <a:rPr lang="ko-KR" altLang="en-US" dirty="0"/>
              <a:t>대신 </a:t>
            </a:r>
            <a:r>
              <a:rPr lang="en-US" altLang="ko-KR" dirty="0" err="1">
                <a:solidFill>
                  <a:srgbClr val="FF5050"/>
                </a:solidFill>
              </a:rPr>
              <a:t>on</a:t>
            </a:r>
            <a:r>
              <a:rPr lang="en-US" altLang="ko-KR" b="1" dirty="0" err="1">
                <a:solidFill>
                  <a:srgbClr val="8A53A6"/>
                </a:solidFill>
              </a:rPr>
              <a:t>C</a:t>
            </a:r>
            <a:r>
              <a:rPr lang="en-US" altLang="ko-KR" dirty="0" err="1">
                <a:solidFill>
                  <a:srgbClr val="FF5050"/>
                </a:solidFill>
              </a:rPr>
              <a:t>lick</a:t>
            </a:r>
            <a:r>
              <a:rPr lang="en-US" altLang="ko-KR" dirty="0"/>
              <a:t> </a:t>
            </a:r>
            <a:r>
              <a:rPr lang="ko-KR" altLang="en-US" dirty="0"/>
              <a:t>을 사용합니다</a:t>
            </a:r>
            <a:r>
              <a:rPr lang="en-US" altLang="ko-KR" dirty="0"/>
              <a:t>.</a:t>
            </a:r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r>
              <a:rPr lang="en-US" altLang="ko-KR" sz="2000" dirty="0" err="1"/>
              <a:t>onClick</a:t>
            </a:r>
            <a:r>
              <a:rPr lang="en-US" altLang="ko-KR" sz="2000" dirty="0"/>
              <a:t>={</a:t>
            </a:r>
            <a:r>
              <a:rPr lang="ko-KR" altLang="en-US" sz="2000" dirty="0" err="1"/>
              <a:t>클릭되었을</a:t>
            </a:r>
            <a:r>
              <a:rPr lang="ko-KR" altLang="en-US" sz="2000" dirty="0"/>
              <a:t> 때 실행할 </a:t>
            </a:r>
            <a:r>
              <a:rPr lang="en-US" altLang="ko-KR" sz="2000" dirty="0"/>
              <a:t>JS </a:t>
            </a:r>
            <a:r>
              <a:rPr lang="ko-KR" altLang="en-US" sz="2000" dirty="0"/>
              <a:t>코드</a:t>
            </a:r>
            <a:r>
              <a:rPr lang="en-US" altLang="ko-KR" sz="2000" dirty="0"/>
              <a:t>} </a:t>
            </a:r>
          </a:p>
          <a:p>
            <a:r>
              <a:rPr lang="en-US" altLang="ko-KR" sz="2000" dirty="0" err="1"/>
              <a:t>className</a:t>
            </a:r>
            <a:r>
              <a:rPr lang="en-US" altLang="ko-KR" sz="2000" dirty="0"/>
              <a:t>=‘</a:t>
            </a:r>
            <a:r>
              <a:rPr lang="ko-KR" altLang="en-US" sz="2000" dirty="0"/>
              <a:t>클래스 이름</a:t>
            </a:r>
            <a:r>
              <a:rPr lang="en-US" altLang="ko-KR" sz="2000" dirty="0"/>
              <a:t>’</a:t>
            </a:r>
          </a:p>
          <a:p>
            <a:r>
              <a:rPr lang="ko-KR" altLang="en-US" sz="2000" dirty="0"/>
              <a:t>클래스 이름도 따로 선언해서 </a:t>
            </a:r>
            <a:r>
              <a:rPr lang="en-US" altLang="ko-KR" sz="2000" dirty="0" err="1"/>
              <a:t>className</a:t>
            </a:r>
            <a:r>
              <a:rPr lang="en-US" altLang="ko-KR" sz="2000" dirty="0"/>
              <a:t>={class-name}</a:t>
            </a:r>
            <a:r>
              <a:rPr lang="ko-KR" altLang="en-US" sz="2000" dirty="0"/>
              <a:t>처럼 사용할 수 있어요</a:t>
            </a:r>
            <a:r>
              <a:rPr lang="en-US" altLang="ko-KR" sz="2000" dirty="0"/>
              <a:t> </a:t>
            </a:r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</p:txBody>
      </p:sp>
      <p:grpSp>
        <p:nvGrpSpPr>
          <p:cNvPr id="4" name="그룹 3"/>
          <p:cNvGrpSpPr/>
          <p:nvPr/>
        </p:nvGrpSpPr>
        <p:grpSpPr>
          <a:xfrm>
            <a:off x="961624" y="2540580"/>
            <a:ext cx="7564192" cy="1754326"/>
            <a:chOff x="987381" y="2387581"/>
            <a:chExt cx="7564192" cy="1754326"/>
          </a:xfrm>
        </p:grpSpPr>
        <p:sp>
          <p:nvSpPr>
            <p:cNvPr id="6" name="직사각형 5"/>
            <p:cNvSpPr/>
            <p:nvPr/>
          </p:nvSpPr>
          <p:spPr>
            <a:xfrm>
              <a:off x="987381" y="2387581"/>
              <a:ext cx="7564192" cy="1754326"/>
            </a:xfrm>
            <a:prstGeom prst="rect">
              <a:avLst/>
            </a:prstGeom>
            <a:solidFill>
              <a:srgbClr val="07090F"/>
            </a:solidFill>
          </p:spPr>
          <p:txBody>
            <a:bodyPr wrap="square">
              <a:spAutoFit/>
            </a:bodyPr>
            <a:lstStyle/>
            <a:p>
              <a:r>
                <a:rPr lang="en-US" altLang="ko-KR" dirty="0">
                  <a:solidFill>
                    <a:srgbClr val="89DDFF"/>
                  </a:solidFill>
                  <a:latin typeface="Consolas" panose="020B0609020204030204" pitchFamily="49" charset="0"/>
                </a:rPr>
                <a:t>return</a:t>
              </a:r>
              <a:r>
                <a:rPr lang="en-US" altLang="ko-KR" dirty="0">
                  <a:solidFill>
                    <a:srgbClr val="BBBBBB"/>
                  </a:solidFill>
                  <a:latin typeface="Consolas" panose="020B0609020204030204" pitchFamily="49" charset="0"/>
                </a:rPr>
                <a:t> (</a:t>
              </a:r>
            </a:p>
            <a:p>
              <a:r>
                <a:rPr lang="en-US" altLang="ko-KR" dirty="0">
                  <a:solidFill>
                    <a:srgbClr val="BBBBBB"/>
                  </a:solidFill>
                  <a:latin typeface="Consolas" panose="020B0609020204030204" pitchFamily="49" charset="0"/>
                </a:rPr>
                <a:t>    </a:t>
              </a:r>
              <a:r>
                <a:rPr lang="en-US" altLang="ko-KR" dirty="0">
                  <a:solidFill>
                    <a:srgbClr val="89DDFF"/>
                  </a:solidFill>
                  <a:latin typeface="Consolas" panose="020B0609020204030204" pitchFamily="49" charset="0"/>
                </a:rPr>
                <a:t>&lt;</a:t>
              </a:r>
              <a:r>
                <a:rPr lang="en-US" altLang="ko-KR" dirty="0">
                  <a:solidFill>
                    <a:srgbClr val="F07178"/>
                  </a:solidFill>
                  <a:latin typeface="Consolas" panose="020B0609020204030204" pitchFamily="49" charset="0"/>
                </a:rPr>
                <a:t>div</a:t>
              </a:r>
              <a:r>
                <a:rPr lang="en-US" altLang="ko-KR" dirty="0">
                  <a:solidFill>
                    <a:srgbClr val="89DDFF"/>
                  </a:solidFill>
                  <a:latin typeface="Consolas" panose="020B0609020204030204" pitchFamily="49" charset="0"/>
                </a:rPr>
                <a:t> </a:t>
              </a:r>
              <a:r>
                <a:rPr lang="en-US" altLang="ko-KR" dirty="0" err="1">
                  <a:solidFill>
                    <a:srgbClr val="C792EA"/>
                  </a:solidFill>
                  <a:latin typeface="Consolas" panose="020B0609020204030204" pitchFamily="49" charset="0"/>
                </a:rPr>
                <a:t>className</a:t>
              </a:r>
              <a:r>
                <a:rPr lang="en-US" altLang="ko-KR" dirty="0">
                  <a:solidFill>
                    <a:srgbClr val="C792EA"/>
                  </a:solidFill>
                  <a:latin typeface="Consolas" panose="020B0609020204030204" pitchFamily="49" charset="0"/>
                </a:rPr>
                <a:t>=</a:t>
              </a:r>
              <a:r>
                <a:rPr lang="en-US" altLang="ko-KR" dirty="0">
                  <a:solidFill>
                    <a:srgbClr val="89DDFF"/>
                  </a:solidFill>
                  <a:latin typeface="Consolas" panose="020B0609020204030204" pitchFamily="49" charset="0"/>
                </a:rPr>
                <a:t>'</a:t>
              </a:r>
              <a:r>
                <a:rPr lang="en-US" altLang="ko-KR" dirty="0">
                  <a:solidFill>
                    <a:srgbClr val="C3E88D"/>
                  </a:solidFill>
                  <a:latin typeface="Consolas" panose="020B0609020204030204" pitchFamily="49" charset="0"/>
                </a:rPr>
                <a:t>App</a:t>
              </a:r>
              <a:r>
                <a:rPr lang="en-US" altLang="ko-KR" dirty="0">
                  <a:solidFill>
                    <a:srgbClr val="89DDFF"/>
                  </a:solidFill>
                  <a:latin typeface="Consolas" panose="020B0609020204030204" pitchFamily="49" charset="0"/>
                </a:rPr>
                <a:t>' </a:t>
              </a:r>
              <a:r>
                <a:rPr lang="en-US" altLang="ko-KR" dirty="0" err="1">
                  <a:solidFill>
                    <a:srgbClr val="C792EA"/>
                  </a:solidFill>
                  <a:latin typeface="Consolas" panose="020B0609020204030204" pitchFamily="49" charset="0"/>
                </a:rPr>
                <a:t>onClick</a:t>
              </a:r>
              <a:r>
                <a:rPr lang="en-US" altLang="ko-KR" dirty="0">
                  <a:solidFill>
                    <a:srgbClr val="C792EA"/>
                  </a:solidFill>
                  <a:latin typeface="Consolas" panose="020B0609020204030204" pitchFamily="49" charset="0"/>
                </a:rPr>
                <a:t>=</a:t>
              </a:r>
              <a:r>
                <a:rPr lang="en-US" altLang="ko-KR" dirty="0">
                  <a:solidFill>
                    <a:srgbClr val="89DDFF"/>
                  </a:solidFill>
                  <a:latin typeface="Consolas" panose="020B0609020204030204" pitchFamily="49" charset="0"/>
                </a:rPr>
                <a:t>{()</a:t>
              </a:r>
              <a:r>
                <a:rPr lang="en-US" altLang="ko-KR" dirty="0">
                  <a:solidFill>
                    <a:srgbClr val="C792EA"/>
                  </a:solidFill>
                  <a:latin typeface="Consolas" panose="020B0609020204030204" pitchFamily="49" charset="0"/>
                </a:rPr>
                <a:t>=&gt;</a:t>
              </a:r>
              <a:r>
                <a:rPr lang="en-US" altLang="ko-KR" dirty="0">
                  <a:solidFill>
                    <a:srgbClr val="89DDFF"/>
                  </a:solidFill>
                  <a:latin typeface="Consolas" panose="020B0609020204030204" pitchFamily="49" charset="0"/>
                </a:rPr>
                <a:t>{</a:t>
              </a:r>
              <a:r>
                <a:rPr lang="en-US" altLang="ko-KR" dirty="0">
                  <a:solidFill>
                    <a:srgbClr val="82AAFF"/>
                  </a:solidFill>
                  <a:latin typeface="Consolas" panose="020B0609020204030204" pitchFamily="49" charset="0"/>
                </a:rPr>
                <a:t>alert</a:t>
              </a:r>
              <a:r>
                <a:rPr lang="en-US" altLang="ko-KR" dirty="0">
                  <a:solidFill>
                    <a:srgbClr val="89DDFF"/>
                  </a:solidFill>
                  <a:latin typeface="Consolas" panose="020B0609020204030204" pitchFamily="49" charset="0"/>
                </a:rPr>
                <a:t>('</a:t>
              </a:r>
              <a:r>
                <a:rPr lang="en-US" altLang="ko-KR" dirty="0">
                  <a:solidFill>
                    <a:srgbClr val="C3E88D"/>
                  </a:solidFill>
                  <a:latin typeface="Consolas" panose="020B0609020204030204" pitchFamily="49" charset="0"/>
                </a:rPr>
                <a:t>hi</a:t>
              </a:r>
              <a:r>
                <a:rPr lang="en-US" altLang="ko-KR" dirty="0">
                  <a:solidFill>
                    <a:srgbClr val="89DDFF"/>
                  </a:solidFill>
                  <a:latin typeface="Consolas" panose="020B0609020204030204" pitchFamily="49" charset="0"/>
                </a:rPr>
                <a:t>')}}&gt;</a:t>
              </a:r>
              <a:endParaRPr lang="en-US" altLang="ko-KR" dirty="0">
                <a:solidFill>
                  <a:srgbClr val="BBBBBB"/>
                </a:solidFill>
                <a:latin typeface="Consolas" panose="020B0609020204030204" pitchFamily="49" charset="0"/>
              </a:endParaRPr>
            </a:p>
            <a:p>
              <a:r>
                <a:rPr lang="en-US" altLang="ko-KR" dirty="0">
                  <a:solidFill>
                    <a:srgbClr val="89DDFF"/>
                  </a:solidFill>
                  <a:latin typeface="Consolas" panose="020B0609020204030204" pitchFamily="49" charset="0"/>
                </a:rPr>
                <a:t>      &lt;</a:t>
              </a:r>
              <a:r>
                <a:rPr lang="en-US" altLang="ko-KR" dirty="0">
                  <a:solidFill>
                    <a:srgbClr val="F07178"/>
                  </a:solidFill>
                  <a:latin typeface="Consolas" panose="020B0609020204030204" pitchFamily="49" charset="0"/>
                </a:rPr>
                <a:t>span</a:t>
              </a:r>
              <a:r>
                <a:rPr lang="en-US" altLang="ko-KR" dirty="0">
                  <a:solidFill>
                    <a:srgbClr val="89DDFF"/>
                  </a:solidFill>
                  <a:latin typeface="Consolas" panose="020B0609020204030204" pitchFamily="49" charset="0"/>
                </a:rPr>
                <a:t>&gt;{</a:t>
              </a:r>
              <a:r>
                <a:rPr lang="en-US" altLang="ko-KR" dirty="0" err="1">
                  <a:solidFill>
                    <a:srgbClr val="F07178"/>
                  </a:solidFill>
                  <a:latin typeface="Consolas" panose="020B0609020204030204" pitchFamily="49" charset="0"/>
                </a:rPr>
                <a:t>str</a:t>
              </a:r>
              <a:r>
                <a:rPr lang="en-US" altLang="ko-KR" dirty="0">
                  <a:solidFill>
                    <a:srgbClr val="89DDFF"/>
                  </a:solidFill>
                  <a:latin typeface="Consolas" panose="020B0609020204030204" pitchFamily="49" charset="0"/>
                </a:rPr>
                <a:t>}&lt;/</a:t>
              </a:r>
              <a:r>
                <a:rPr lang="en-US" altLang="ko-KR" dirty="0">
                  <a:solidFill>
                    <a:srgbClr val="F07178"/>
                  </a:solidFill>
                  <a:latin typeface="Consolas" panose="020B0609020204030204" pitchFamily="49" charset="0"/>
                </a:rPr>
                <a:t>span</a:t>
              </a:r>
              <a:r>
                <a:rPr lang="en-US" altLang="ko-KR" dirty="0">
                  <a:solidFill>
                    <a:srgbClr val="89DDFF"/>
                  </a:solidFill>
                  <a:latin typeface="Consolas" panose="020B0609020204030204" pitchFamily="49" charset="0"/>
                </a:rPr>
                <a:t>&gt;</a:t>
              </a:r>
              <a:endParaRPr lang="en-US" altLang="ko-KR" dirty="0">
                <a:solidFill>
                  <a:srgbClr val="BBBBBB"/>
                </a:solidFill>
                <a:latin typeface="Consolas" panose="020B0609020204030204" pitchFamily="49" charset="0"/>
              </a:endParaRPr>
            </a:p>
            <a:p>
              <a:r>
                <a:rPr lang="en-US" altLang="ko-KR" dirty="0">
                  <a:solidFill>
                    <a:srgbClr val="89DDFF"/>
                  </a:solidFill>
                  <a:latin typeface="Consolas" panose="020B0609020204030204" pitchFamily="49" charset="0"/>
                </a:rPr>
                <a:t>      &lt;</a:t>
              </a:r>
              <a:r>
                <a:rPr lang="en-US" altLang="ko-KR" dirty="0">
                  <a:solidFill>
                    <a:srgbClr val="F07178"/>
                  </a:solidFill>
                  <a:latin typeface="Consolas" panose="020B0609020204030204" pitchFamily="49" charset="0"/>
                </a:rPr>
                <a:t>span</a:t>
              </a:r>
              <a:r>
                <a:rPr lang="en-US" altLang="ko-KR" dirty="0">
                  <a:solidFill>
                    <a:srgbClr val="89DDFF"/>
                  </a:solidFill>
                  <a:latin typeface="Consolas" panose="020B0609020204030204" pitchFamily="49" charset="0"/>
                </a:rPr>
                <a:t>&gt;world!!&lt;/</a:t>
              </a:r>
              <a:r>
                <a:rPr lang="en-US" altLang="ko-KR" dirty="0">
                  <a:solidFill>
                    <a:srgbClr val="F07178"/>
                  </a:solidFill>
                  <a:latin typeface="Consolas" panose="020B0609020204030204" pitchFamily="49" charset="0"/>
                </a:rPr>
                <a:t>span</a:t>
              </a:r>
              <a:r>
                <a:rPr lang="en-US" altLang="ko-KR" dirty="0">
                  <a:solidFill>
                    <a:srgbClr val="89DDFF"/>
                  </a:solidFill>
                  <a:latin typeface="Consolas" panose="020B0609020204030204" pitchFamily="49" charset="0"/>
                </a:rPr>
                <a:t>&gt;</a:t>
              </a:r>
              <a:endParaRPr lang="en-US" altLang="ko-KR" dirty="0">
                <a:solidFill>
                  <a:srgbClr val="BBBBBB"/>
                </a:solidFill>
                <a:latin typeface="Consolas" panose="020B0609020204030204" pitchFamily="49" charset="0"/>
              </a:endParaRPr>
            </a:p>
            <a:p>
              <a:r>
                <a:rPr lang="en-US" altLang="ko-KR" dirty="0">
                  <a:solidFill>
                    <a:srgbClr val="89DDFF"/>
                  </a:solidFill>
                  <a:latin typeface="Consolas" panose="020B0609020204030204" pitchFamily="49" charset="0"/>
                </a:rPr>
                <a:t>    &lt;/</a:t>
              </a:r>
              <a:r>
                <a:rPr lang="en-US" altLang="ko-KR" dirty="0">
                  <a:solidFill>
                    <a:srgbClr val="F07178"/>
                  </a:solidFill>
                  <a:latin typeface="Consolas" panose="020B0609020204030204" pitchFamily="49" charset="0"/>
                </a:rPr>
                <a:t>div</a:t>
              </a:r>
              <a:r>
                <a:rPr lang="en-US" altLang="ko-KR" dirty="0">
                  <a:solidFill>
                    <a:srgbClr val="89DDFF"/>
                  </a:solidFill>
                  <a:latin typeface="Consolas" panose="020B0609020204030204" pitchFamily="49" charset="0"/>
                </a:rPr>
                <a:t>&gt;</a:t>
              </a:r>
              <a:endParaRPr lang="en-US" altLang="ko-KR" dirty="0">
                <a:solidFill>
                  <a:srgbClr val="BBBBBB"/>
                </a:solidFill>
                <a:latin typeface="Consolas" panose="020B0609020204030204" pitchFamily="49" charset="0"/>
              </a:endParaRPr>
            </a:p>
            <a:p>
              <a:r>
                <a:rPr lang="en-US" altLang="ko-KR" dirty="0">
                  <a:solidFill>
                    <a:srgbClr val="BBBBBB"/>
                  </a:solidFill>
                  <a:latin typeface="Consolas" panose="020B0609020204030204" pitchFamily="49" charset="0"/>
                </a:rPr>
                <a:t>  )</a:t>
              </a:r>
              <a:r>
                <a:rPr lang="en-US" altLang="ko-KR" dirty="0">
                  <a:solidFill>
                    <a:srgbClr val="89DDFF"/>
                  </a:solidFill>
                  <a:latin typeface="Consolas" panose="020B0609020204030204" pitchFamily="49" charset="0"/>
                </a:rPr>
                <a:t>;</a:t>
              </a:r>
              <a:endParaRPr lang="en-US" altLang="ko-KR" b="0" dirty="0">
                <a:solidFill>
                  <a:srgbClr val="BBBBBB"/>
                </a:solidFill>
                <a:effectLst/>
                <a:latin typeface="Consolas" panose="020B0609020204030204" pitchFamily="49" charset="0"/>
              </a:endParaRPr>
            </a:p>
          </p:txBody>
        </p:sp>
        <p:sp>
          <p:nvSpPr>
            <p:cNvPr id="5" name="직사각형 4"/>
            <p:cNvSpPr/>
            <p:nvPr/>
          </p:nvSpPr>
          <p:spPr>
            <a:xfrm>
              <a:off x="2086377" y="2707153"/>
              <a:ext cx="2009105" cy="319382"/>
            </a:xfrm>
            <a:prstGeom prst="rect">
              <a:avLst/>
            </a:prstGeom>
            <a:noFill/>
            <a:ln w="28575">
              <a:solidFill>
                <a:srgbClr val="F3DF49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n>
                  <a:solidFill>
                    <a:schemeClr val="bg1"/>
                  </a:solidFill>
                </a:ln>
              </a:endParaRPr>
            </a:p>
          </p:txBody>
        </p:sp>
        <p:sp>
          <p:nvSpPr>
            <p:cNvPr id="7" name="직사각형 6"/>
            <p:cNvSpPr/>
            <p:nvPr/>
          </p:nvSpPr>
          <p:spPr>
            <a:xfrm>
              <a:off x="4189925" y="2707153"/>
              <a:ext cx="3408610" cy="319382"/>
            </a:xfrm>
            <a:prstGeom prst="rect">
              <a:avLst/>
            </a:prstGeom>
            <a:noFill/>
            <a:ln w="28575">
              <a:solidFill>
                <a:srgbClr val="F3DF49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n>
                  <a:solidFill>
                    <a:schemeClr val="bg1"/>
                  </a:solidFill>
                </a:ln>
              </a:endParaRPr>
            </a:p>
          </p:txBody>
        </p:sp>
      </p:grpSp>
      <p:pic>
        <p:nvPicPr>
          <p:cNvPr id="1026" name="Picture 2" descr="Apple Emoji Faces, Emoji Pictures [Download PNG] | Emoji Island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63214" y="1711456"/>
            <a:ext cx="539884" cy="5398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7439892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F3DF49"/>
                </a:solidFill>
              </a:rPr>
              <a:t>JS</a:t>
            </a:r>
            <a:r>
              <a:rPr lang="en-US" altLang="ko-KR" dirty="0">
                <a:solidFill>
                  <a:srgbClr val="8A53A6"/>
                </a:solidFill>
              </a:rPr>
              <a:t>X  5. </a:t>
            </a:r>
            <a:r>
              <a:rPr lang="en-US" altLang="ko-KR" dirty="0"/>
              <a:t>closing tag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ko-KR" dirty="0"/>
              <a:t>opening tag(</a:t>
            </a:r>
            <a:r>
              <a:rPr lang="ko-KR" altLang="en-US" dirty="0" err="1"/>
              <a:t>빈태그</a:t>
            </a:r>
            <a:r>
              <a:rPr lang="en-US" altLang="ko-KR" dirty="0"/>
              <a:t>)</a:t>
            </a:r>
            <a:r>
              <a:rPr lang="ko-KR" altLang="en-US" dirty="0"/>
              <a:t>도 </a:t>
            </a:r>
            <a:r>
              <a:rPr lang="en-US" altLang="ko-KR" dirty="0"/>
              <a:t>closing tag</a:t>
            </a:r>
            <a:r>
              <a:rPr lang="ko-KR" altLang="en-US" dirty="0"/>
              <a:t>가 필요해요</a:t>
            </a:r>
            <a:r>
              <a:rPr lang="en-US" altLang="ko-KR" dirty="0"/>
              <a:t>!</a:t>
            </a:r>
          </a:p>
        </p:txBody>
      </p:sp>
      <p:pic>
        <p:nvPicPr>
          <p:cNvPr id="8" name="그림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7032" y="3553118"/>
            <a:ext cx="3651777" cy="1914524"/>
          </a:xfrm>
          <a:prstGeom prst="rect">
            <a:avLst/>
          </a:prstGeom>
        </p:spPr>
      </p:pic>
      <p:sp>
        <p:nvSpPr>
          <p:cNvPr id="9" name="직사각형 8"/>
          <p:cNvSpPr/>
          <p:nvPr/>
        </p:nvSpPr>
        <p:spPr>
          <a:xfrm>
            <a:off x="6061008" y="2454564"/>
            <a:ext cx="4160636" cy="2339102"/>
          </a:xfrm>
          <a:prstGeom prst="rect">
            <a:avLst/>
          </a:prstGeom>
          <a:solidFill>
            <a:srgbClr val="07090F"/>
          </a:solidFill>
          <a:ln w="38100">
            <a:solidFill>
              <a:srgbClr val="6DC172"/>
            </a:solidFill>
          </a:ln>
        </p:spPr>
        <p:txBody>
          <a:bodyPr wrap="square">
            <a:spAutoFit/>
          </a:bodyPr>
          <a:lstStyle/>
          <a:p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export</a:t>
            </a:r>
            <a:r>
              <a:rPr lang="en-US" altLang="ko-KR" sz="16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default</a:t>
            </a:r>
            <a:r>
              <a:rPr lang="en-US" altLang="ko-KR" sz="16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600" dirty="0">
                <a:solidFill>
                  <a:srgbClr val="C792EA"/>
                </a:solidFill>
                <a:latin typeface="Consolas" panose="020B0609020204030204" pitchFamily="49" charset="0"/>
              </a:rPr>
              <a:t>function</a:t>
            </a:r>
            <a:r>
              <a:rPr lang="en-US" altLang="ko-KR" sz="16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600" dirty="0">
                <a:solidFill>
                  <a:srgbClr val="82AAFF"/>
                </a:solidFill>
                <a:latin typeface="Consolas" panose="020B0609020204030204" pitchFamily="49" charset="0"/>
              </a:rPr>
              <a:t>App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()</a:t>
            </a:r>
            <a:r>
              <a:rPr lang="en-US" altLang="ko-KR" sz="16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{</a:t>
            </a:r>
            <a:endParaRPr lang="en-US" altLang="ko-KR" sz="1600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en-US" altLang="ko-KR" sz="1600" dirty="0">
                <a:solidFill>
                  <a:srgbClr val="BBBBBB"/>
                </a:solidFill>
                <a:latin typeface="Consolas" panose="020B0609020204030204" pitchFamily="49" charset="0"/>
              </a:rPr>
              <a:t>  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return</a:t>
            </a:r>
            <a:r>
              <a:rPr lang="en-US" altLang="ko-KR" sz="1600" dirty="0">
                <a:solidFill>
                  <a:srgbClr val="BBBBBB"/>
                </a:solidFill>
                <a:latin typeface="Consolas" panose="020B0609020204030204" pitchFamily="49" charset="0"/>
              </a:rPr>
              <a:t> (</a:t>
            </a:r>
          </a:p>
          <a:p>
            <a:r>
              <a:rPr lang="en-US" altLang="ko-KR" sz="1600" dirty="0">
                <a:solidFill>
                  <a:srgbClr val="BBBBBB"/>
                </a:solidFill>
                <a:latin typeface="Consolas" panose="020B0609020204030204" pitchFamily="49" charset="0"/>
              </a:rPr>
              <a:t>    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&lt;</a:t>
            </a:r>
            <a:r>
              <a:rPr lang="en-US" altLang="ko-KR" sz="1600" dirty="0">
                <a:solidFill>
                  <a:srgbClr val="F07178"/>
                </a:solidFill>
                <a:latin typeface="Consolas" panose="020B0609020204030204" pitchFamily="49" charset="0"/>
              </a:rPr>
              <a:t>div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&gt;</a:t>
            </a:r>
            <a:endParaRPr lang="en-US" altLang="ko-KR" sz="1600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      &lt;</a:t>
            </a:r>
            <a:r>
              <a:rPr lang="en-US" altLang="ko-KR" sz="1600" dirty="0">
                <a:solidFill>
                  <a:srgbClr val="F07178"/>
                </a:solidFill>
                <a:latin typeface="Consolas" panose="020B0609020204030204" pitchFamily="49" charset="0"/>
              </a:rPr>
              <a:t>input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600" dirty="0">
                <a:solidFill>
                  <a:srgbClr val="C792EA"/>
                </a:solidFill>
                <a:latin typeface="Consolas" panose="020B0609020204030204" pitchFamily="49" charset="0"/>
              </a:rPr>
              <a:t>type=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'</a:t>
            </a:r>
            <a:r>
              <a:rPr lang="en-US" altLang="ko-KR" sz="1600" dirty="0">
                <a:solidFill>
                  <a:srgbClr val="C3E88D"/>
                </a:solidFill>
                <a:latin typeface="Consolas" panose="020B0609020204030204" pitchFamily="49" charset="0"/>
              </a:rPr>
              <a:t>text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' /&gt;</a:t>
            </a:r>
            <a:endParaRPr lang="en-US" altLang="ko-KR" sz="1600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      &lt;</a:t>
            </a:r>
            <a:r>
              <a:rPr lang="en-US" altLang="ko-KR" sz="1600" dirty="0" err="1">
                <a:solidFill>
                  <a:srgbClr val="F07178"/>
                </a:solidFill>
                <a:latin typeface="Consolas" panose="020B0609020204030204" pitchFamily="49" charset="0"/>
              </a:rPr>
              <a:t>br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 /&gt;</a:t>
            </a:r>
            <a:endParaRPr lang="en-US" altLang="ko-KR" sz="1600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      &lt;</a:t>
            </a:r>
            <a:r>
              <a:rPr lang="en-US" altLang="ko-KR" sz="1600" dirty="0" err="1">
                <a:solidFill>
                  <a:srgbClr val="F07178"/>
                </a:solidFill>
                <a:latin typeface="Consolas" panose="020B0609020204030204" pitchFamily="49" charset="0"/>
              </a:rPr>
              <a:t>img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600" dirty="0" err="1">
                <a:solidFill>
                  <a:srgbClr val="C792EA"/>
                </a:solidFill>
                <a:latin typeface="Consolas" panose="020B0609020204030204" pitchFamily="49" charset="0"/>
              </a:rPr>
              <a:t>src</a:t>
            </a:r>
            <a:r>
              <a:rPr lang="en-US" altLang="ko-KR" sz="1600" dirty="0">
                <a:solidFill>
                  <a:srgbClr val="C792EA"/>
                </a:solidFill>
                <a:latin typeface="Consolas" panose="020B0609020204030204" pitchFamily="49" charset="0"/>
              </a:rPr>
              <a:t>=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{</a:t>
            </a:r>
            <a:r>
              <a:rPr lang="en-US" altLang="ko-KR" sz="1600" dirty="0">
                <a:solidFill>
                  <a:srgbClr val="F07178"/>
                </a:solidFill>
                <a:latin typeface="Consolas" panose="020B0609020204030204" pitchFamily="49" charset="0"/>
              </a:rPr>
              <a:t>~~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} </a:t>
            </a:r>
            <a:r>
              <a:rPr lang="en-US" altLang="ko-KR" sz="1600" dirty="0">
                <a:solidFill>
                  <a:srgbClr val="C792EA"/>
                </a:solidFill>
                <a:latin typeface="Consolas" panose="020B0609020204030204" pitchFamily="49" charset="0"/>
              </a:rPr>
              <a:t>alt=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'</a:t>
            </a:r>
            <a:r>
              <a:rPr lang="en-US" altLang="ko-KR" sz="1600" dirty="0">
                <a:solidFill>
                  <a:srgbClr val="C3E88D"/>
                </a:solidFill>
                <a:latin typeface="Consolas" panose="020B0609020204030204" pitchFamily="49" charset="0"/>
              </a:rPr>
              <a:t>alt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' /&gt;</a:t>
            </a:r>
            <a:endParaRPr lang="en-US" altLang="ko-KR" sz="1600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    &lt;/</a:t>
            </a:r>
            <a:r>
              <a:rPr lang="en-US" altLang="ko-KR" sz="1600" dirty="0">
                <a:solidFill>
                  <a:srgbClr val="F07178"/>
                </a:solidFill>
                <a:latin typeface="Consolas" panose="020B0609020204030204" pitchFamily="49" charset="0"/>
              </a:rPr>
              <a:t>div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&gt;</a:t>
            </a:r>
            <a:endParaRPr lang="en-US" altLang="ko-KR" sz="1600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en-US" altLang="ko-KR" sz="1600" dirty="0">
                <a:solidFill>
                  <a:srgbClr val="BBBBBB"/>
                </a:solidFill>
                <a:latin typeface="Consolas" panose="020B0609020204030204" pitchFamily="49" charset="0"/>
              </a:rPr>
              <a:t>  )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;</a:t>
            </a:r>
            <a:endParaRPr lang="en-US" altLang="ko-KR" sz="1600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}</a:t>
            </a:r>
            <a:endParaRPr lang="en-US" altLang="ko-KR" sz="1600" b="0" dirty="0">
              <a:solidFill>
                <a:srgbClr val="BBBBBB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6848386" y="4367951"/>
            <a:ext cx="4505414" cy="2339102"/>
          </a:xfrm>
          <a:prstGeom prst="rect">
            <a:avLst/>
          </a:prstGeom>
          <a:solidFill>
            <a:srgbClr val="07090F"/>
          </a:solidFill>
          <a:ln w="38100">
            <a:solidFill>
              <a:srgbClr val="6DC172"/>
            </a:solidFill>
          </a:ln>
        </p:spPr>
        <p:txBody>
          <a:bodyPr wrap="square">
            <a:spAutoFit/>
          </a:bodyPr>
          <a:lstStyle/>
          <a:p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export</a:t>
            </a:r>
            <a:r>
              <a:rPr lang="en-US" altLang="ko-KR" sz="16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default</a:t>
            </a:r>
            <a:r>
              <a:rPr lang="en-US" altLang="ko-KR" sz="16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600" dirty="0">
                <a:solidFill>
                  <a:srgbClr val="C792EA"/>
                </a:solidFill>
                <a:latin typeface="Consolas" panose="020B0609020204030204" pitchFamily="49" charset="0"/>
              </a:rPr>
              <a:t>function</a:t>
            </a:r>
            <a:r>
              <a:rPr lang="en-US" altLang="ko-KR" sz="16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600" dirty="0">
                <a:solidFill>
                  <a:srgbClr val="82AAFF"/>
                </a:solidFill>
                <a:latin typeface="Consolas" panose="020B0609020204030204" pitchFamily="49" charset="0"/>
              </a:rPr>
              <a:t>App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()</a:t>
            </a:r>
            <a:r>
              <a:rPr lang="en-US" altLang="ko-KR" sz="16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{</a:t>
            </a:r>
            <a:endParaRPr lang="en-US" altLang="ko-KR" sz="1600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en-US" altLang="ko-KR" sz="1600" dirty="0">
                <a:solidFill>
                  <a:srgbClr val="BBBBBB"/>
                </a:solidFill>
                <a:latin typeface="Consolas" panose="020B0609020204030204" pitchFamily="49" charset="0"/>
              </a:rPr>
              <a:t>  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return</a:t>
            </a:r>
            <a:r>
              <a:rPr lang="en-US" altLang="ko-KR" sz="1600" dirty="0">
                <a:solidFill>
                  <a:srgbClr val="BBBBBB"/>
                </a:solidFill>
                <a:latin typeface="Consolas" panose="020B0609020204030204" pitchFamily="49" charset="0"/>
              </a:rPr>
              <a:t> (</a:t>
            </a:r>
          </a:p>
          <a:p>
            <a:r>
              <a:rPr lang="en-US" altLang="ko-KR" sz="1600" dirty="0">
                <a:solidFill>
                  <a:srgbClr val="BBBBBB"/>
                </a:solidFill>
                <a:latin typeface="Consolas" panose="020B0609020204030204" pitchFamily="49" charset="0"/>
              </a:rPr>
              <a:t>    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&lt;</a:t>
            </a:r>
            <a:r>
              <a:rPr lang="en-US" altLang="ko-KR" sz="1600" dirty="0">
                <a:solidFill>
                  <a:srgbClr val="F07178"/>
                </a:solidFill>
                <a:latin typeface="Consolas" panose="020B0609020204030204" pitchFamily="49" charset="0"/>
              </a:rPr>
              <a:t>div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&gt;</a:t>
            </a:r>
            <a:endParaRPr lang="en-US" altLang="ko-KR" sz="1600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      &lt;</a:t>
            </a:r>
            <a:r>
              <a:rPr lang="en-US" altLang="ko-KR" sz="1600" dirty="0">
                <a:solidFill>
                  <a:srgbClr val="F07178"/>
                </a:solidFill>
                <a:latin typeface="Consolas" panose="020B0609020204030204" pitchFamily="49" charset="0"/>
              </a:rPr>
              <a:t>input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600" dirty="0">
                <a:solidFill>
                  <a:srgbClr val="C792EA"/>
                </a:solidFill>
                <a:latin typeface="Consolas" panose="020B0609020204030204" pitchFamily="49" charset="0"/>
              </a:rPr>
              <a:t>type=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'</a:t>
            </a:r>
            <a:r>
              <a:rPr lang="en-US" altLang="ko-KR" sz="1600" dirty="0">
                <a:solidFill>
                  <a:srgbClr val="C3E88D"/>
                </a:solidFill>
                <a:latin typeface="Consolas" panose="020B0609020204030204" pitchFamily="49" charset="0"/>
              </a:rPr>
              <a:t>text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'&gt;&lt;/</a:t>
            </a:r>
            <a:r>
              <a:rPr lang="en-US" altLang="ko-KR" sz="1600" dirty="0">
                <a:solidFill>
                  <a:srgbClr val="F07178"/>
                </a:solidFill>
                <a:latin typeface="Consolas" panose="020B0609020204030204" pitchFamily="49" charset="0"/>
              </a:rPr>
              <a:t>input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&gt;</a:t>
            </a:r>
            <a:endParaRPr lang="en-US" altLang="ko-KR" sz="1600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      &lt;</a:t>
            </a:r>
            <a:r>
              <a:rPr lang="en-US" altLang="ko-KR" sz="1600" dirty="0" err="1">
                <a:solidFill>
                  <a:srgbClr val="F07178"/>
                </a:solidFill>
                <a:latin typeface="Consolas" panose="020B0609020204030204" pitchFamily="49" charset="0"/>
              </a:rPr>
              <a:t>br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&gt;&lt;/</a:t>
            </a:r>
            <a:r>
              <a:rPr lang="en-US" altLang="ko-KR" sz="1600" dirty="0" err="1">
                <a:solidFill>
                  <a:srgbClr val="F07178"/>
                </a:solidFill>
                <a:latin typeface="Consolas" panose="020B0609020204030204" pitchFamily="49" charset="0"/>
              </a:rPr>
              <a:t>br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&gt;</a:t>
            </a:r>
            <a:endParaRPr lang="en-US" altLang="ko-KR" sz="1600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      &lt;</a:t>
            </a:r>
            <a:r>
              <a:rPr lang="en-US" altLang="ko-KR" sz="1600" dirty="0" err="1">
                <a:solidFill>
                  <a:srgbClr val="F07178"/>
                </a:solidFill>
                <a:latin typeface="Consolas" panose="020B0609020204030204" pitchFamily="49" charset="0"/>
              </a:rPr>
              <a:t>img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600" dirty="0" err="1">
                <a:solidFill>
                  <a:srgbClr val="C792EA"/>
                </a:solidFill>
                <a:latin typeface="Consolas" panose="020B0609020204030204" pitchFamily="49" charset="0"/>
              </a:rPr>
              <a:t>src</a:t>
            </a:r>
            <a:r>
              <a:rPr lang="en-US" altLang="ko-KR" sz="1600" dirty="0">
                <a:solidFill>
                  <a:srgbClr val="C792EA"/>
                </a:solidFill>
                <a:latin typeface="Consolas" panose="020B0609020204030204" pitchFamily="49" charset="0"/>
              </a:rPr>
              <a:t>=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{</a:t>
            </a:r>
            <a:r>
              <a:rPr lang="en-US" altLang="ko-KR" sz="1600" dirty="0">
                <a:solidFill>
                  <a:srgbClr val="F07178"/>
                </a:solidFill>
                <a:latin typeface="Consolas" panose="020B0609020204030204" pitchFamily="49" charset="0"/>
              </a:rPr>
              <a:t>~~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} </a:t>
            </a:r>
            <a:r>
              <a:rPr lang="en-US" altLang="ko-KR" sz="1600" dirty="0">
                <a:solidFill>
                  <a:srgbClr val="C792EA"/>
                </a:solidFill>
                <a:latin typeface="Consolas" panose="020B0609020204030204" pitchFamily="49" charset="0"/>
              </a:rPr>
              <a:t>alt=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'</a:t>
            </a:r>
            <a:r>
              <a:rPr lang="en-US" altLang="ko-KR" sz="1600" dirty="0">
                <a:solidFill>
                  <a:srgbClr val="C3E88D"/>
                </a:solidFill>
                <a:latin typeface="Consolas" panose="020B0609020204030204" pitchFamily="49" charset="0"/>
              </a:rPr>
              <a:t>alt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'&gt;&lt;/</a:t>
            </a:r>
            <a:r>
              <a:rPr lang="en-US" altLang="ko-KR" sz="1600" dirty="0" err="1">
                <a:solidFill>
                  <a:srgbClr val="F07178"/>
                </a:solidFill>
                <a:latin typeface="Consolas" panose="020B0609020204030204" pitchFamily="49" charset="0"/>
              </a:rPr>
              <a:t>img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&gt;</a:t>
            </a:r>
            <a:endParaRPr lang="en-US" altLang="ko-KR" sz="1600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    &lt;/</a:t>
            </a:r>
            <a:r>
              <a:rPr lang="en-US" altLang="ko-KR" sz="1600" dirty="0">
                <a:solidFill>
                  <a:srgbClr val="F07178"/>
                </a:solidFill>
                <a:latin typeface="Consolas" panose="020B0609020204030204" pitchFamily="49" charset="0"/>
              </a:rPr>
              <a:t>div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&gt;</a:t>
            </a:r>
            <a:endParaRPr lang="en-US" altLang="ko-KR" sz="1600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en-US" altLang="ko-KR" sz="1600" dirty="0">
                <a:solidFill>
                  <a:srgbClr val="BBBBBB"/>
                </a:solidFill>
                <a:latin typeface="Consolas" panose="020B0609020204030204" pitchFamily="49" charset="0"/>
              </a:rPr>
              <a:t>  )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;</a:t>
            </a:r>
            <a:endParaRPr lang="en-US" altLang="ko-KR" sz="1600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}</a:t>
            </a:r>
            <a:endParaRPr lang="en-US" altLang="ko-KR" sz="1600" b="0" dirty="0">
              <a:solidFill>
                <a:srgbClr val="BBBBBB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2" name="아래쪽 화살표 11"/>
          <p:cNvSpPr/>
          <p:nvPr/>
        </p:nvSpPr>
        <p:spPr>
          <a:xfrm rot="16200000">
            <a:off x="5235919" y="4188713"/>
            <a:ext cx="360537" cy="643332"/>
          </a:xfrm>
          <a:prstGeom prst="downArrow">
            <a:avLst/>
          </a:prstGeom>
          <a:noFill/>
          <a:ln w="38100">
            <a:solidFill>
              <a:srgbClr val="6DC17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FFC000"/>
              </a:solidFill>
            </a:endParaRPr>
          </a:p>
        </p:txBody>
      </p:sp>
      <p:pic>
        <p:nvPicPr>
          <p:cNvPr id="13" name="그림 1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72788" y="4582756"/>
            <a:ext cx="855418" cy="598793"/>
          </a:xfrm>
          <a:prstGeom prst="rect">
            <a:avLst/>
          </a:prstGeom>
        </p:spPr>
      </p:pic>
      <p:pic>
        <p:nvPicPr>
          <p:cNvPr id="11" name="그림 1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9861" y="4996671"/>
            <a:ext cx="6549951" cy="369755"/>
          </a:xfrm>
          <a:prstGeom prst="rect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8931369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2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>
                <a:solidFill>
                  <a:srgbClr val="F3DF49"/>
                </a:solidFill>
              </a:rPr>
              <a:t>JS</a:t>
            </a:r>
            <a:r>
              <a:rPr lang="en-US" altLang="ko-KR" dirty="0" err="1">
                <a:solidFill>
                  <a:srgbClr val="8A53A6"/>
                </a:solidFill>
              </a:rPr>
              <a:t>X</a:t>
            </a:r>
            <a:r>
              <a:rPr lang="en-US" altLang="ko-KR" dirty="0">
                <a:solidFill>
                  <a:srgbClr val="8A53A6"/>
                </a:solidFill>
              </a:rPr>
              <a:t>  6. </a:t>
            </a:r>
            <a:r>
              <a:rPr lang="ko-KR" altLang="en-US" dirty="0"/>
              <a:t>주석 사용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 dirty="0"/>
              <a:t>주석은 </a:t>
            </a:r>
            <a:r>
              <a:rPr lang="en-US" altLang="ko-KR" dirty="0">
                <a:solidFill>
                  <a:srgbClr val="6DC172"/>
                </a:solidFill>
              </a:rPr>
              <a:t>{/* </a:t>
            </a:r>
            <a:r>
              <a:rPr lang="ko-KR" altLang="en-US" dirty="0">
                <a:solidFill>
                  <a:srgbClr val="6DC172"/>
                </a:solidFill>
              </a:rPr>
              <a:t>이렇게 씁니다</a:t>
            </a:r>
            <a:r>
              <a:rPr lang="en-US" altLang="ko-KR" dirty="0">
                <a:solidFill>
                  <a:srgbClr val="6DC172"/>
                </a:solidFill>
              </a:rPr>
              <a:t>!*/}</a:t>
            </a:r>
          </a:p>
        </p:txBody>
      </p:sp>
      <p:sp>
        <p:nvSpPr>
          <p:cNvPr id="4" name="직사각형 3"/>
          <p:cNvSpPr/>
          <p:nvPr/>
        </p:nvSpPr>
        <p:spPr>
          <a:xfrm>
            <a:off x="1116168" y="2702803"/>
            <a:ext cx="7757375" cy="3139321"/>
          </a:xfrm>
          <a:prstGeom prst="rect">
            <a:avLst/>
          </a:prstGeom>
          <a:solidFill>
            <a:srgbClr val="07090F"/>
          </a:solidFill>
        </p:spPr>
        <p:txBody>
          <a:bodyPr wrap="square">
            <a:spAutoFit/>
          </a:bodyPr>
          <a:lstStyle/>
          <a:p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export</a:t>
            </a:r>
            <a:r>
              <a:rPr lang="ko-KR" altLang="en-US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default</a:t>
            </a:r>
            <a:r>
              <a:rPr lang="ko-KR" altLang="en-US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dirty="0">
                <a:solidFill>
                  <a:srgbClr val="C792EA"/>
                </a:solidFill>
                <a:latin typeface="Consolas" panose="020B0609020204030204" pitchFamily="49" charset="0"/>
              </a:rPr>
              <a:t>function</a:t>
            </a:r>
            <a:r>
              <a:rPr lang="ko-KR" altLang="en-US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dirty="0">
                <a:solidFill>
                  <a:srgbClr val="82AAFF"/>
                </a:solidFill>
                <a:latin typeface="Consolas" panose="020B0609020204030204" pitchFamily="49" charset="0"/>
              </a:rPr>
              <a:t>App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()</a:t>
            </a:r>
            <a:r>
              <a:rPr lang="ko-KR" altLang="en-US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{</a:t>
            </a:r>
            <a:endParaRPr lang="ko-KR" altLang="en-US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ko-KR" altLang="en-US" dirty="0">
                <a:solidFill>
                  <a:srgbClr val="89DDFF"/>
                </a:solidFill>
                <a:latin typeface="Consolas" panose="020B0609020204030204" pitchFamily="49" charset="0"/>
              </a:rPr>
              <a:t>  </a:t>
            </a:r>
            <a:r>
              <a:rPr lang="en-US" altLang="ko-KR" i="1" dirty="0">
                <a:solidFill>
                  <a:srgbClr val="546E7A"/>
                </a:solidFill>
                <a:latin typeface="Consolas" panose="020B0609020204030204" pitchFamily="49" charset="0"/>
              </a:rPr>
              <a:t>// return </a:t>
            </a:r>
            <a:r>
              <a:rPr lang="ko-KR" altLang="en-US" i="1" dirty="0">
                <a:solidFill>
                  <a:srgbClr val="546E7A"/>
                </a:solidFill>
                <a:latin typeface="Consolas" panose="020B0609020204030204" pitchFamily="49" charset="0"/>
              </a:rPr>
              <a:t>밖에서는 기존의 </a:t>
            </a:r>
            <a:r>
              <a:rPr lang="en-US" altLang="ko-KR" i="1" dirty="0" err="1">
                <a:solidFill>
                  <a:srgbClr val="546E7A"/>
                </a:solidFill>
                <a:latin typeface="Consolas" panose="020B0609020204030204" pitchFamily="49" charset="0"/>
              </a:rPr>
              <a:t>Javascript</a:t>
            </a:r>
            <a:r>
              <a:rPr lang="en-US" altLang="ko-KR" i="1" dirty="0">
                <a:solidFill>
                  <a:srgbClr val="546E7A"/>
                </a:solidFill>
                <a:latin typeface="Consolas" panose="020B0609020204030204" pitchFamily="49" charset="0"/>
              </a:rPr>
              <a:t> </a:t>
            </a:r>
            <a:r>
              <a:rPr lang="ko-KR" altLang="en-US" i="1" dirty="0">
                <a:solidFill>
                  <a:srgbClr val="546E7A"/>
                </a:solidFill>
                <a:latin typeface="Consolas" panose="020B0609020204030204" pitchFamily="49" charset="0"/>
              </a:rPr>
              <a:t>처럼</a:t>
            </a:r>
            <a:endParaRPr lang="ko-KR" altLang="en-US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ko-KR" altLang="en-US" dirty="0">
                <a:solidFill>
                  <a:srgbClr val="BBBBBB"/>
                </a:solidFill>
                <a:latin typeface="Consolas" panose="020B0609020204030204" pitchFamily="49" charset="0"/>
              </a:rPr>
              <a:t>  </a:t>
            </a:r>
            <a:r>
              <a:rPr lang="en-US" altLang="ko-KR" i="1" dirty="0">
                <a:solidFill>
                  <a:srgbClr val="546E7A"/>
                </a:solidFill>
                <a:latin typeface="Consolas" panose="020B0609020204030204" pitchFamily="49" charset="0"/>
              </a:rPr>
              <a:t>/* </a:t>
            </a:r>
            <a:r>
              <a:rPr lang="ko-KR" altLang="en-US" i="1" dirty="0">
                <a:solidFill>
                  <a:srgbClr val="546E7A"/>
                </a:solidFill>
                <a:latin typeface="Consolas" panose="020B0609020204030204" pitchFamily="49" charset="0"/>
              </a:rPr>
              <a:t>주석을 사용하면 돼요</a:t>
            </a:r>
            <a:r>
              <a:rPr lang="en-US" altLang="ko-KR" i="1" dirty="0">
                <a:solidFill>
                  <a:srgbClr val="546E7A"/>
                </a:solidFill>
                <a:latin typeface="Consolas" panose="020B0609020204030204" pitchFamily="49" charset="0"/>
              </a:rPr>
              <a:t>! */</a:t>
            </a:r>
            <a:endParaRPr lang="ko-KR" altLang="en-US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ko-KR" altLang="en-US" dirty="0">
                <a:solidFill>
                  <a:srgbClr val="BBBBBB"/>
                </a:solidFill>
                <a:latin typeface="Consolas" panose="020B0609020204030204" pitchFamily="49" charset="0"/>
              </a:rPr>
              <a:t>  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return</a:t>
            </a:r>
            <a:r>
              <a:rPr lang="ko-KR" altLang="en-US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dirty="0">
                <a:solidFill>
                  <a:srgbClr val="BBBBBB"/>
                </a:solidFill>
                <a:latin typeface="Consolas" panose="020B0609020204030204" pitchFamily="49" charset="0"/>
              </a:rPr>
              <a:t>(</a:t>
            </a:r>
          </a:p>
          <a:p>
            <a:r>
              <a:rPr lang="en-US" altLang="ko-KR" dirty="0">
                <a:solidFill>
                  <a:srgbClr val="BBBBBB"/>
                </a:solidFill>
                <a:latin typeface="Consolas" panose="020B0609020204030204" pitchFamily="49" charset="0"/>
              </a:rPr>
              <a:t>    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&lt;</a:t>
            </a:r>
            <a:r>
              <a:rPr lang="en-US" altLang="ko-KR" dirty="0">
                <a:solidFill>
                  <a:srgbClr val="F07178"/>
                </a:solidFill>
                <a:latin typeface="Consolas" panose="020B0609020204030204" pitchFamily="49" charset="0"/>
              </a:rPr>
              <a:t>div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&gt;</a:t>
            </a:r>
            <a:endParaRPr lang="ko-KR" altLang="en-US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ko-KR" altLang="en-US" dirty="0">
                <a:solidFill>
                  <a:srgbClr val="89DDFF"/>
                </a:solidFill>
                <a:latin typeface="Consolas" panose="020B0609020204030204" pitchFamily="49" charset="0"/>
              </a:rPr>
              <a:t>      주석 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test!</a:t>
            </a:r>
            <a:endParaRPr lang="ko-KR" altLang="en-US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ko-KR" altLang="en-US" dirty="0">
                <a:solidFill>
                  <a:srgbClr val="89DDFF"/>
                </a:solidFill>
                <a:latin typeface="Consolas" panose="020B0609020204030204" pitchFamily="49" charset="0"/>
              </a:rPr>
              <a:t>      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{</a:t>
            </a:r>
            <a:r>
              <a:rPr lang="en-US" altLang="ko-KR" i="1" dirty="0">
                <a:solidFill>
                  <a:srgbClr val="546E7A"/>
                </a:solidFill>
                <a:latin typeface="Consolas" panose="020B0609020204030204" pitchFamily="49" charset="0"/>
              </a:rPr>
              <a:t>/* return </a:t>
            </a:r>
            <a:r>
              <a:rPr lang="ko-KR" altLang="en-US" i="1" dirty="0">
                <a:solidFill>
                  <a:srgbClr val="546E7A"/>
                </a:solidFill>
                <a:latin typeface="Consolas" panose="020B0609020204030204" pitchFamily="49" charset="0"/>
              </a:rPr>
              <a:t>내부에서주석사용은 이렇게 합니다 *</a:t>
            </a:r>
            <a:r>
              <a:rPr lang="en-US" altLang="ko-KR" i="1" dirty="0">
                <a:solidFill>
                  <a:srgbClr val="546E7A"/>
                </a:solidFill>
                <a:latin typeface="Consolas" panose="020B0609020204030204" pitchFamily="49" charset="0"/>
              </a:rPr>
              <a:t>/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}</a:t>
            </a:r>
            <a:endParaRPr lang="ko-KR" altLang="en-US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ko-KR" altLang="en-US" dirty="0">
                <a:solidFill>
                  <a:srgbClr val="89DDFF"/>
                </a:solidFill>
                <a:latin typeface="Consolas" panose="020B0609020204030204" pitchFamily="49" charset="0"/>
              </a:rPr>
              <a:t>      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{</a:t>
            </a:r>
            <a:r>
              <a:rPr lang="en-US" altLang="ko-KR" i="1" dirty="0">
                <a:solidFill>
                  <a:srgbClr val="546E7A"/>
                </a:solidFill>
                <a:latin typeface="Consolas" panose="020B0609020204030204" pitchFamily="49" charset="0"/>
              </a:rPr>
              <a:t>/* </a:t>
            </a:r>
            <a:r>
              <a:rPr lang="ko-KR" altLang="en-US" i="1" dirty="0">
                <a:solidFill>
                  <a:srgbClr val="546E7A"/>
                </a:solidFill>
                <a:latin typeface="Consolas" panose="020B0609020204030204" pitchFamily="49" charset="0"/>
              </a:rPr>
              <a:t>물론 기존의 </a:t>
            </a:r>
            <a:r>
              <a:rPr lang="en-US" altLang="ko-KR" i="1" dirty="0">
                <a:solidFill>
                  <a:srgbClr val="546E7A"/>
                </a:solidFill>
                <a:latin typeface="Consolas" panose="020B0609020204030204" pitchFamily="49" charset="0"/>
              </a:rPr>
              <a:t>ctrl + '/' </a:t>
            </a:r>
            <a:r>
              <a:rPr lang="ko-KR" altLang="en-US" i="1" dirty="0">
                <a:solidFill>
                  <a:srgbClr val="546E7A"/>
                </a:solidFill>
                <a:latin typeface="Consolas" panose="020B0609020204030204" pitchFamily="49" charset="0"/>
              </a:rPr>
              <a:t>단축키 이용하면 됩니다</a:t>
            </a:r>
            <a:r>
              <a:rPr lang="en-US" altLang="ko-KR" i="1" dirty="0">
                <a:solidFill>
                  <a:srgbClr val="546E7A"/>
                </a:solidFill>
                <a:latin typeface="Consolas" panose="020B0609020204030204" pitchFamily="49" charset="0"/>
              </a:rPr>
              <a:t>. */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}</a:t>
            </a:r>
            <a:endParaRPr lang="ko-KR" altLang="en-US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ko-KR" altLang="en-US" dirty="0">
                <a:solidFill>
                  <a:srgbClr val="89DDFF"/>
                </a:solidFill>
                <a:latin typeface="Consolas" panose="020B0609020204030204" pitchFamily="49" charset="0"/>
              </a:rPr>
              <a:t>    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&lt;/</a:t>
            </a:r>
            <a:r>
              <a:rPr lang="en-US" altLang="ko-KR" dirty="0">
                <a:solidFill>
                  <a:srgbClr val="F07178"/>
                </a:solidFill>
                <a:latin typeface="Consolas" panose="020B0609020204030204" pitchFamily="49" charset="0"/>
              </a:rPr>
              <a:t>div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&gt;</a:t>
            </a:r>
            <a:endParaRPr lang="ko-KR" altLang="en-US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ko-KR" altLang="en-US" dirty="0">
                <a:solidFill>
                  <a:srgbClr val="BBBBBB"/>
                </a:solidFill>
                <a:latin typeface="Consolas" panose="020B0609020204030204" pitchFamily="49" charset="0"/>
              </a:rPr>
              <a:t>  </a:t>
            </a:r>
            <a:r>
              <a:rPr lang="en-US" altLang="ko-KR" dirty="0">
                <a:solidFill>
                  <a:srgbClr val="BBBBBB"/>
                </a:solidFill>
                <a:latin typeface="Consolas" panose="020B0609020204030204" pitchFamily="49" charset="0"/>
              </a:rPr>
              <a:t>)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;</a:t>
            </a:r>
            <a:endParaRPr lang="ko-KR" altLang="en-US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}</a:t>
            </a:r>
            <a:endParaRPr lang="ko-KR" altLang="en-US" b="0" dirty="0">
              <a:solidFill>
                <a:srgbClr val="BBBBBB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1397853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리액트의</a:t>
            </a:r>
            <a:r>
              <a:rPr lang="ko-KR" altLang="en-US" dirty="0"/>
              <a:t> 디버깅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838200" y="1565213"/>
            <a:ext cx="10515600" cy="4611750"/>
          </a:xfrm>
        </p:spPr>
        <p:txBody>
          <a:bodyPr>
            <a:normAutofit fontScale="85000" lnSpcReduction="10000"/>
          </a:bodyPr>
          <a:lstStyle/>
          <a:p>
            <a:pPr>
              <a:lnSpc>
                <a:spcPct val="160000"/>
              </a:lnSpc>
            </a:pPr>
            <a:r>
              <a:rPr lang="ko-KR" altLang="en-US" dirty="0"/>
              <a:t>기존 </a:t>
            </a:r>
            <a:r>
              <a:rPr lang="en-US" altLang="ko-KR" dirty="0"/>
              <a:t>JavaScript </a:t>
            </a:r>
            <a:r>
              <a:rPr lang="ko-KR" altLang="en-US" dirty="0"/>
              <a:t>에서는 에러를 확인하기 위해서 </a:t>
            </a:r>
            <a:r>
              <a:rPr lang="en-US" altLang="ko-KR" dirty="0"/>
              <a:t>console</a:t>
            </a:r>
            <a:r>
              <a:rPr lang="ko-KR" altLang="en-US" dirty="0"/>
              <a:t>창으로 봐야하지만</a:t>
            </a:r>
            <a:r>
              <a:rPr lang="en-US" altLang="ko-KR" dirty="0"/>
              <a:t>, React</a:t>
            </a:r>
            <a:r>
              <a:rPr lang="ko-KR" altLang="en-US" dirty="0"/>
              <a:t>는 치명적인 버그일 경우에 화면에 바로 띄워줍니다</a:t>
            </a:r>
            <a:r>
              <a:rPr lang="en-US" altLang="ko-KR" dirty="0"/>
              <a:t>.</a:t>
            </a:r>
          </a:p>
          <a:p>
            <a:pPr>
              <a:lnSpc>
                <a:spcPct val="160000"/>
              </a:lnSpc>
            </a:pPr>
            <a:endParaRPr lang="en-US" altLang="ko-KR" dirty="0"/>
          </a:p>
          <a:p>
            <a:pPr marL="0" indent="0">
              <a:lnSpc>
                <a:spcPct val="160000"/>
              </a:lnSpc>
              <a:buNone/>
            </a:pPr>
            <a:endParaRPr lang="en-US" altLang="ko-KR" dirty="0"/>
          </a:p>
          <a:p>
            <a:pPr marL="0" indent="0">
              <a:lnSpc>
                <a:spcPct val="160000"/>
              </a:lnSpc>
              <a:buNone/>
            </a:pPr>
            <a:endParaRPr lang="en-US" altLang="ko-KR" dirty="0"/>
          </a:p>
          <a:p>
            <a:pPr>
              <a:lnSpc>
                <a:spcPct val="160000"/>
              </a:lnSpc>
            </a:pPr>
            <a:r>
              <a:rPr lang="en-US" altLang="ko-KR" dirty="0"/>
              <a:t>JS</a:t>
            </a:r>
            <a:r>
              <a:rPr lang="ko-KR" altLang="en-US" dirty="0"/>
              <a:t>의 문제점을 보완하고자 </a:t>
            </a:r>
            <a:r>
              <a:rPr lang="en-US" altLang="ko-KR" dirty="0"/>
              <a:t>strict mode </a:t>
            </a:r>
            <a:r>
              <a:rPr lang="ko-KR" altLang="en-US" dirty="0"/>
              <a:t>강제</a:t>
            </a:r>
            <a:r>
              <a:rPr lang="en-US" altLang="ko-KR" dirty="0"/>
              <a:t>! </a:t>
            </a:r>
          </a:p>
          <a:p>
            <a:pPr lvl="1">
              <a:lnSpc>
                <a:spcPct val="160000"/>
              </a:lnSpc>
            </a:pPr>
            <a:r>
              <a:rPr lang="ko-KR" altLang="en-US" dirty="0"/>
              <a:t>어디서 실수 </a:t>
            </a:r>
            <a:r>
              <a:rPr lang="ko-KR" altLang="en-US" dirty="0" err="1"/>
              <a:t>했는지까지</a:t>
            </a:r>
            <a:r>
              <a:rPr lang="ko-KR" altLang="en-US" dirty="0"/>
              <a:t> 자세히 제공하니 </a:t>
            </a:r>
            <a:r>
              <a:rPr lang="ko-KR" altLang="en-US" dirty="0">
                <a:solidFill>
                  <a:srgbClr val="FF5050"/>
                </a:solidFill>
              </a:rPr>
              <a:t>에러 창을 두려워하지 말고 에러메세지를 잘 읽어주세요</a:t>
            </a:r>
            <a:r>
              <a:rPr lang="en-US" altLang="ko-KR" dirty="0"/>
              <a:t>!</a:t>
            </a:r>
            <a:endParaRPr lang="ko-KR" alt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388DBC1B-5901-7E2B-982F-F49F11DFCD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2230" y="2890776"/>
            <a:ext cx="4943770" cy="19077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6961678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테마">
  <a:themeElements>
    <a:clrScheme name="코딩온_새싹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6EC173"/>
      </a:accent1>
      <a:accent2>
        <a:srgbClr val="B4D56D"/>
      </a:accent2>
      <a:accent3>
        <a:srgbClr val="F99F2C"/>
      </a:accent3>
      <a:accent4>
        <a:srgbClr val="FFDB83"/>
      </a:accent4>
      <a:accent5>
        <a:srgbClr val="2894FF"/>
      </a:accent5>
      <a:accent6>
        <a:srgbClr val="A5A5A5"/>
      </a:accent6>
      <a:hlink>
        <a:srgbClr val="2894FF"/>
      </a:hlink>
      <a:folHlink>
        <a:srgbClr val="954F72"/>
      </a:folHlink>
    </a:clrScheme>
    <a:fontScheme name="코딩온">
      <a:majorFont>
        <a:latin typeface="메이플스토리"/>
        <a:ea typeface="메이플스토리"/>
        <a:cs typeface=""/>
      </a:majorFont>
      <a:minorFont>
        <a:latin typeface="메이플스토리"/>
        <a:ea typeface="메이플스토리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489</TotalTime>
  <Words>1488</Words>
  <Application>Microsoft Office PowerPoint</Application>
  <PresentationFormat>와이드스크린</PresentationFormat>
  <Paragraphs>248</Paragraphs>
  <Slides>20</Slides>
  <Notes>17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20</vt:i4>
      </vt:variant>
    </vt:vector>
  </HeadingPairs>
  <TitlesOfParts>
    <vt:vector size="26" baseType="lpstr">
      <vt:lpstr>Arial</vt:lpstr>
      <vt:lpstr>Consolas</vt:lpstr>
      <vt:lpstr>Wingdings</vt:lpstr>
      <vt:lpstr>맑은 고딕</vt:lpstr>
      <vt:lpstr>메이플스토리</vt:lpstr>
      <vt:lpstr>1_Office 테마</vt:lpstr>
      <vt:lpstr>웹 개발자 부트캠프 과정</vt:lpstr>
      <vt:lpstr>Compoment</vt:lpstr>
      <vt:lpstr>Component</vt:lpstr>
      <vt:lpstr>Component</vt:lpstr>
      <vt:lpstr>Component</vt:lpstr>
      <vt:lpstr>Component 트리 구조</vt:lpstr>
      <vt:lpstr>React 컴포넌트 종류</vt:lpstr>
      <vt:lpstr>Component 를 만드는 방법</vt:lpstr>
      <vt:lpstr>이렇게 생겼어요!</vt:lpstr>
      <vt:lpstr>JSX</vt:lpstr>
      <vt:lpstr>JSX</vt:lpstr>
      <vt:lpstr>JSX  1. 전체는 하나의 태그로 감싸야</vt:lpstr>
      <vt:lpstr>JSX  2. html with JS</vt:lpstr>
      <vt:lpstr>JSX  2. html with JS</vt:lpstr>
      <vt:lpstr>JSX  2. html with JS</vt:lpstr>
      <vt:lpstr>JSX  3. 인라인 style 적용</vt:lpstr>
      <vt:lpstr>JSX  4. class와 onclick</vt:lpstr>
      <vt:lpstr>JSX  5. closing tag</vt:lpstr>
      <vt:lpstr>JSX  6. 주석 사용</vt:lpstr>
      <vt:lpstr>리액트의 디버깅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김규리</dc:creator>
  <cp:lastModifiedBy>고서연</cp:lastModifiedBy>
  <cp:revision>100</cp:revision>
  <dcterms:created xsi:type="dcterms:W3CDTF">2022-06-26T11:10:22Z</dcterms:created>
  <dcterms:modified xsi:type="dcterms:W3CDTF">2023-09-19T08:37:29Z</dcterms:modified>
</cp:coreProperties>
</file>