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649" r:id="rId2"/>
    <p:sldId id="650" r:id="rId3"/>
    <p:sldId id="606" r:id="rId4"/>
    <p:sldId id="656" r:id="rId5"/>
    <p:sldId id="655" r:id="rId6"/>
    <p:sldId id="607" r:id="rId7"/>
    <p:sldId id="608" r:id="rId8"/>
    <p:sldId id="609" r:id="rId9"/>
    <p:sldId id="610" r:id="rId10"/>
    <p:sldId id="611" r:id="rId11"/>
    <p:sldId id="613" r:id="rId12"/>
    <p:sldId id="612" r:id="rId13"/>
    <p:sldId id="614" r:id="rId14"/>
    <p:sldId id="615" r:id="rId15"/>
    <p:sldId id="654" r:id="rId16"/>
    <p:sldId id="651" r:id="rId17"/>
    <p:sldId id="616" r:id="rId18"/>
    <p:sldId id="65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130"/>
    <a:srgbClr val="C32F2F"/>
    <a:srgbClr val="FF0000"/>
    <a:srgbClr val="F99FD9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5" autoAdjust="0"/>
    <p:restoredTop sz="72936" autoAdjust="0"/>
  </p:normalViewPr>
  <p:slideViewPr>
    <p:cSldViewPr snapToGrid="0">
      <p:cViewPr>
        <p:scale>
          <a:sx n="125" d="100"/>
          <a:sy n="125" d="100"/>
        </p:scale>
        <p:origin x="115" y="-394"/>
      </p:cViewPr>
      <p:guideLst/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94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274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엔터프라이즈 애플리케이션</a:t>
            </a:r>
            <a:r>
              <a:rPr lang="en-US" altLang="ko-KR" dirty="0"/>
              <a:t>: </a:t>
            </a:r>
            <a:r>
              <a:rPr lang="ko-KR" altLang="en-US" dirty="0"/>
              <a:t>대규모의 복잡한 데이터를 관리하는 애플리케이션</a:t>
            </a:r>
            <a:endParaRPr lang="en-US" altLang="ko-KR" dirty="0"/>
          </a:p>
          <a:p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많은 사용자가 있는 만큼 많은 요청이 온다</a:t>
            </a:r>
            <a:r>
              <a:rPr lang="en-US" altLang="ko-KR" dirty="0"/>
              <a:t>!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많은 사용자의 요청을 동시에 처리해야 함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서버 성능</a:t>
            </a:r>
            <a:r>
              <a:rPr lang="en-US" altLang="ko-KR" dirty="0"/>
              <a:t>, </a:t>
            </a:r>
            <a:r>
              <a:rPr lang="ko-KR" altLang="en-US" dirty="0"/>
              <a:t>안정성</a:t>
            </a:r>
            <a:r>
              <a:rPr lang="en-US" altLang="ko-KR" dirty="0"/>
              <a:t>, </a:t>
            </a:r>
            <a:r>
              <a:rPr lang="ko-KR" altLang="en-US" dirty="0"/>
              <a:t>보안이 매우 중요</a:t>
            </a:r>
            <a:r>
              <a:rPr lang="en-US" altLang="ko-KR" dirty="0"/>
              <a:t>, </a:t>
            </a:r>
            <a:r>
              <a:rPr lang="ko-KR" altLang="en-US" dirty="0"/>
              <a:t>동시에 비즈니스 로직도 </a:t>
            </a:r>
            <a:r>
              <a:rPr lang="ko-KR" altLang="en-US" dirty="0" err="1"/>
              <a:t>신경써야</a:t>
            </a:r>
            <a:r>
              <a:rPr lang="ko-KR" altLang="en-US" dirty="0"/>
              <a:t> 함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기능 개발에만 집중할 수 있도록 해 줌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b="1" dirty="0"/>
              <a:t>스프링 등장 배경</a:t>
            </a:r>
            <a:r>
              <a:rPr lang="en-US" altLang="ko-KR" b="1" dirty="0"/>
              <a:t>!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---------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b="1" dirty="0"/>
              <a:t>경량급</a:t>
            </a:r>
            <a:r>
              <a:rPr lang="en-US" altLang="ko-KR" dirty="0"/>
              <a:t>: </a:t>
            </a:r>
            <a:r>
              <a:rPr lang="ko-KR" altLang="en-US" dirty="0"/>
              <a:t>기존에 스프링 대신 쓰던 기술</a:t>
            </a:r>
            <a:r>
              <a:rPr lang="en-US" altLang="ko-KR" dirty="0"/>
              <a:t>(EJB, Enterprise Java Bean) </a:t>
            </a:r>
            <a:r>
              <a:rPr lang="ko-KR" altLang="en-US" dirty="0"/>
              <a:t>들과 비교해서 스프링을 사용할 때 개발자가 작성해야 할 코드가 상대적으로 단순함</a:t>
            </a: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dirty="0"/>
              <a:t>---------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b="1" i="0" dirty="0">
                <a:solidFill>
                  <a:srgbClr val="333333"/>
                </a:solidFill>
                <a:effectLst/>
                <a:latin typeface="Pretendard Variable"/>
              </a:rPr>
              <a:t>애플리케이션 프레임워크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Pretendard Variable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Pretendard Variable"/>
              </a:rPr>
              <a:t>애플리케이션을 개발하는 데에 있어 필요한 모든 업무 분야 및 모든 기술과 관련된 코드들의 뼈대를 제공</a:t>
            </a:r>
            <a:endParaRPr lang="en-US" altLang="ko-KR" b="0" i="0" dirty="0">
              <a:solidFill>
                <a:srgbClr val="333333"/>
              </a:solidFill>
              <a:effectLst/>
              <a:latin typeface="Pretendard Variabl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427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 </a:t>
            </a:r>
            <a:r>
              <a:rPr lang="ko-KR" altLang="en-US" dirty="0" err="1"/>
              <a:t>알아야하는</a:t>
            </a:r>
            <a:r>
              <a:rPr lang="ko-KR" altLang="en-US" dirty="0"/>
              <a:t> 건 아니고</a:t>
            </a:r>
            <a:r>
              <a:rPr lang="en-US" altLang="ko-KR" dirty="0"/>
              <a:t>, </a:t>
            </a:r>
            <a:r>
              <a:rPr lang="ko-KR" altLang="en-US" dirty="0"/>
              <a:t>대부분의 프로젝트가 새로운 기술이나 특정 기술에 특화되어 있고</a:t>
            </a:r>
            <a:r>
              <a:rPr lang="en-US" altLang="ko-KR" dirty="0"/>
              <a:t>, </a:t>
            </a:r>
            <a:r>
              <a:rPr lang="ko-KR" altLang="en-US" dirty="0"/>
              <a:t>모든 애플리케이션 개발에 사용되는 것은 아니기에 </a:t>
            </a:r>
            <a:endParaRPr lang="en-US" altLang="ko-KR" dirty="0"/>
          </a:p>
          <a:p>
            <a:r>
              <a:rPr lang="ko-KR" altLang="en-US" dirty="0"/>
              <a:t>개발하는 애플리케이션의 특성에 따라 스프링 프로젝트 중에서 유용한 것이 있는지 고려하는 자세면 충분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https://velog.io/@dhkim1522/Spring-Spring-Project-%EC%A2%85%EB%A5%98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007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중요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64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858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부분을 어려워 한다면 다음과 같이 설명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r>
              <a:rPr lang="en-US" altLang="ko-KR" dirty="0"/>
              <a:t>// </a:t>
            </a:r>
            <a:r>
              <a:rPr lang="ko-KR" altLang="en-US" dirty="0"/>
              <a:t>클래스 </a:t>
            </a:r>
            <a:r>
              <a:rPr lang="en-US" altLang="ko-KR" dirty="0"/>
              <a:t>A </a:t>
            </a:r>
            <a:r>
              <a:rPr lang="ko-KR" altLang="en-US" dirty="0"/>
              <a:t>에서 </a:t>
            </a:r>
            <a:r>
              <a:rPr lang="en-US" altLang="ko-KR" dirty="0"/>
              <a:t>new </a:t>
            </a:r>
            <a:r>
              <a:rPr lang="ko-KR" altLang="en-US" dirty="0"/>
              <a:t>키워드로 클래스 </a:t>
            </a:r>
            <a:r>
              <a:rPr lang="en-US" altLang="ko-KR" dirty="0"/>
              <a:t>B</a:t>
            </a:r>
            <a:r>
              <a:rPr lang="ko-KR" altLang="en-US" dirty="0"/>
              <a:t>의 객체를 생성 </a:t>
            </a:r>
            <a:br>
              <a:rPr lang="en-US" altLang="ko-KR" dirty="0"/>
            </a:br>
            <a:r>
              <a:rPr lang="en-US" altLang="ko-KR" dirty="0"/>
              <a:t>public class A { </a:t>
            </a:r>
          </a:p>
          <a:p>
            <a:r>
              <a:rPr lang="en-US" altLang="ko-KR" dirty="0"/>
              <a:t>    b = new B(); </a:t>
            </a:r>
          </a:p>
          <a:p>
            <a:r>
              <a:rPr lang="en-US" altLang="ko-KR" dirty="0"/>
              <a:t>} 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// </a:t>
            </a:r>
            <a:r>
              <a:rPr lang="en-US" altLang="ko-KR" dirty="0" err="1"/>
              <a:t>IoC</a:t>
            </a:r>
            <a:r>
              <a:rPr lang="en-US" altLang="ko-KR" dirty="0"/>
              <a:t> </a:t>
            </a:r>
            <a:r>
              <a:rPr lang="ko-KR" altLang="en-US" dirty="0"/>
              <a:t>를 적용한다면</a:t>
            </a:r>
            <a:r>
              <a:rPr lang="en-US" altLang="ko-KR" dirty="0"/>
              <a:t>,,, </a:t>
            </a:r>
            <a:br>
              <a:rPr lang="en-US" altLang="ko-KR" dirty="0"/>
            </a:br>
            <a:r>
              <a:rPr lang="en-US" altLang="ko-KR" dirty="0"/>
              <a:t>// B </a:t>
            </a:r>
            <a:r>
              <a:rPr lang="ko-KR" altLang="en-US" dirty="0"/>
              <a:t>객체를 생성하지 않음 </a:t>
            </a:r>
            <a:r>
              <a:rPr lang="en-US" altLang="ko-KR" dirty="0"/>
              <a:t>-&gt; </a:t>
            </a:r>
            <a:r>
              <a:rPr lang="ko-KR" altLang="en-US" dirty="0"/>
              <a:t>그럼에도 어디선가 객체를 받아와서 </a:t>
            </a:r>
            <a:r>
              <a:rPr lang="en-US" altLang="ko-KR" dirty="0"/>
              <a:t>b </a:t>
            </a:r>
            <a:r>
              <a:rPr lang="ko-KR" altLang="en-US" dirty="0"/>
              <a:t>에게 할당한다</a:t>
            </a:r>
            <a:r>
              <a:rPr lang="en-US" altLang="ko-KR" dirty="0"/>
              <a:t>!! </a:t>
            </a:r>
          </a:p>
          <a:p>
            <a:r>
              <a:rPr lang="en-US" altLang="ko-KR" dirty="0"/>
              <a:t>public class A { </a:t>
            </a:r>
          </a:p>
          <a:p>
            <a:r>
              <a:rPr lang="en-US" altLang="ko-KR" dirty="0"/>
              <a:t>    private B </a:t>
            </a:r>
            <a:r>
              <a:rPr lang="en-US" altLang="ko-KR" dirty="0" err="1"/>
              <a:t>b</a:t>
            </a:r>
            <a:r>
              <a:rPr lang="en-US" altLang="ko-KR" dirty="0"/>
              <a:t>; 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088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47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057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각각의 클래스가 있다고 가정했을 때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각 클래스들은 서로 코드와 기능들이 중복되는 부분이 많다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코드가 중복될 경우 실용성과 가독성 및 개발 속도에 좋지 않다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중복된 코드를 최대한 배제하는 방법은 중복되는 기능들을 전부 빼놓은 뒤 </a:t>
            </a:r>
            <a:r>
              <a:rPr lang="ko-KR" altLang="en-US" b="1" dirty="0"/>
              <a:t>그 기능이 필요할 때 호출하여 쓰면 훨씬 효율성이 좋다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105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087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포조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809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Pojo</a:t>
            </a:r>
            <a:r>
              <a:rPr lang="ko-KR" altLang="en-US" dirty="0"/>
              <a:t> 는 왜 중요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634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요약 </a:t>
            </a:r>
            <a:r>
              <a:rPr lang="en-US" altLang="ko-KR"/>
              <a:t>(https://www.codestates.com/blog/content/%EC%8A%A4%ED%94%84%EB%A7%81-%EC%8A%A4%ED%94%84%EB%A7%81%EB%B6%80%ED%8A%B8)</a:t>
            </a:r>
            <a:endParaRPr lang="en-US" altLang="ko-KR" dirty="0"/>
          </a:p>
          <a:p>
            <a:endParaRPr lang="en-US" dirty="0"/>
          </a:p>
          <a:p>
            <a:r>
              <a:rPr lang="en-US" altLang="ko-KR" dirty="0"/>
              <a:t>1. </a:t>
            </a:r>
            <a:r>
              <a:rPr lang="ko-KR" altLang="en-US" dirty="0"/>
              <a:t>스프링은 엔터프라이즈용 </a:t>
            </a:r>
            <a:r>
              <a:rPr lang="en-US" altLang="ko-KR" dirty="0"/>
              <a:t>Java </a:t>
            </a:r>
            <a:r>
              <a:rPr lang="ko-KR" altLang="en-US" dirty="0"/>
              <a:t>애플리케이션 개발을 편하게 할 수 있게 해주는 오픈소스 경량급 애플리케이션 프레임워크</a:t>
            </a:r>
          </a:p>
          <a:p>
            <a:endParaRPr lang="ko-KR" altLang="en-US" dirty="0"/>
          </a:p>
          <a:p>
            <a:r>
              <a:rPr lang="en-US" altLang="ko-KR" dirty="0"/>
              <a:t>2. </a:t>
            </a:r>
            <a:r>
              <a:rPr lang="ko-KR" altLang="en-US" dirty="0"/>
              <a:t>스프링은 </a:t>
            </a:r>
            <a:r>
              <a:rPr lang="en-US" altLang="ko-KR" dirty="0"/>
              <a:t>POJO(</a:t>
            </a:r>
            <a:r>
              <a:rPr lang="ko-KR" altLang="en-US" dirty="0"/>
              <a:t>순수 오브젝트</a:t>
            </a:r>
            <a:r>
              <a:rPr lang="en-US" altLang="ko-KR" dirty="0"/>
              <a:t>) </a:t>
            </a:r>
            <a:r>
              <a:rPr lang="ko-KR" altLang="en-US" dirty="0"/>
              <a:t>프로그래밍 지향 </a:t>
            </a:r>
            <a:r>
              <a:rPr lang="en-US" altLang="ko-KR" dirty="0"/>
              <a:t>-&gt; IoC/DI, AOP </a:t>
            </a:r>
            <a:r>
              <a:rPr lang="ko-KR" altLang="en-US" dirty="0"/>
              <a:t>지원</a:t>
            </a:r>
          </a:p>
          <a:p>
            <a:endParaRPr lang="ko-KR" altLang="en-US" dirty="0"/>
          </a:p>
          <a:p>
            <a:r>
              <a:rPr lang="en-US" altLang="ko-KR" dirty="0"/>
              <a:t>3. IoC </a:t>
            </a:r>
            <a:r>
              <a:rPr lang="ko-KR" altLang="en-US" dirty="0"/>
              <a:t>는 객체 간 의존 관계를 개발자가 아닌 </a:t>
            </a:r>
            <a:r>
              <a:rPr lang="en-US" altLang="ko-KR" dirty="0"/>
              <a:t>"</a:t>
            </a:r>
            <a:r>
              <a:rPr lang="ko-KR" altLang="en-US" dirty="0"/>
              <a:t>스프링</a:t>
            </a:r>
            <a:r>
              <a:rPr lang="en-US" altLang="ko-KR" dirty="0"/>
              <a:t>"</a:t>
            </a:r>
            <a:r>
              <a:rPr lang="ko-KR" altLang="en-US" dirty="0"/>
              <a:t>이 맺어주는 것</a:t>
            </a:r>
          </a:p>
          <a:p>
            <a:endParaRPr lang="ko-KR" altLang="en-US" dirty="0"/>
          </a:p>
          <a:p>
            <a:r>
              <a:rPr lang="en-US" altLang="ko-KR" dirty="0"/>
              <a:t>4. DI </a:t>
            </a:r>
            <a:r>
              <a:rPr lang="ko-KR" altLang="en-US" dirty="0"/>
              <a:t>는 의존 객체를 특정 클래스에서 직접 </a:t>
            </a:r>
            <a:r>
              <a:rPr lang="ko-KR" altLang="en-US" dirty="0" err="1"/>
              <a:t>생성하는게</a:t>
            </a:r>
            <a:r>
              <a:rPr lang="ko-KR" altLang="en-US" dirty="0"/>
              <a:t> 아니라 외부로 부터 주입 </a:t>
            </a:r>
          </a:p>
          <a:p>
            <a:endParaRPr lang="ko-KR" altLang="en-US" dirty="0"/>
          </a:p>
          <a:p>
            <a:r>
              <a:rPr lang="en-US" altLang="ko-KR" dirty="0"/>
              <a:t>5. </a:t>
            </a:r>
            <a:r>
              <a:rPr lang="en-US" altLang="ko-KR" dirty="0" err="1"/>
              <a:t>AoP</a:t>
            </a:r>
            <a:r>
              <a:rPr lang="en-US" altLang="ko-KR" dirty="0"/>
              <a:t> </a:t>
            </a:r>
            <a:r>
              <a:rPr lang="ko-KR" altLang="en-US" dirty="0"/>
              <a:t>는 애플리케이션 전반에 걸쳐 공통적으로 사용되는 코드를 비즈니스 로직으로 부터 분리해서 관리</a:t>
            </a:r>
          </a:p>
          <a:p>
            <a:endParaRPr lang="ko-KR" altLang="en-US" dirty="0"/>
          </a:p>
          <a:p>
            <a:r>
              <a:rPr lang="en-US" altLang="ko-KR" dirty="0"/>
              <a:t>6. </a:t>
            </a:r>
            <a:r>
              <a:rPr lang="ko-KR" altLang="en-US" dirty="0"/>
              <a:t>스프링 부트는 스프링 애플리케이션을 만들 때에 필요한 초기 설정을 간편하게 해주는 프레임워크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스프링 부트는 스프링에 </a:t>
            </a:r>
            <a:r>
              <a:rPr lang="ko-KR" altLang="en-US" dirty="0" err="1"/>
              <a:t>속해있다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555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헷갈리지 말자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스프링과 </a:t>
            </a:r>
            <a:r>
              <a:rPr lang="ko-KR" altLang="en-US" dirty="0" err="1"/>
              <a:t>스프링부트는</a:t>
            </a:r>
            <a:r>
              <a:rPr lang="ko-KR" altLang="en-US" dirty="0"/>
              <a:t> 별개의 기술이 아니다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09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492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5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5139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1506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55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53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6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151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02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80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54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52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4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spring.io/projects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CDE18D-B6E6-803E-4FAE-C686E1DD6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0" dirty="0">
                <a:effectLst/>
                <a:latin typeface="inherit"/>
              </a:rPr>
              <a:t>Java </a:t>
            </a:r>
            <a:r>
              <a:rPr lang="ko-KR" altLang="en-US" dirty="0"/>
              <a:t>웹 프레임워크로 </a:t>
            </a:r>
            <a:r>
              <a:rPr lang="en-US" altLang="ko-KR" i="0" dirty="0">
                <a:effectLst/>
                <a:latin typeface="inherit"/>
              </a:rPr>
              <a:t>Java</a:t>
            </a:r>
            <a:r>
              <a:rPr lang="en-US" altLang="ko-KR" dirty="0"/>
              <a:t> </a:t>
            </a:r>
            <a:r>
              <a:rPr lang="ko-KR" altLang="en-US" dirty="0"/>
              <a:t>언어를 기반으로 함</a:t>
            </a:r>
            <a:endParaRPr lang="en-US" altLang="ko-KR" i="0" dirty="0">
              <a:effectLst/>
              <a:latin typeface="inherit"/>
            </a:endParaRPr>
          </a:p>
          <a:p>
            <a:r>
              <a:rPr lang="en-US" altLang="ko-KR" i="0" dirty="0">
                <a:effectLst/>
                <a:latin typeface="inherit"/>
              </a:rPr>
              <a:t>Java </a:t>
            </a:r>
            <a:r>
              <a:rPr lang="ko-KR" altLang="en-US" dirty="0"/>
              <a:t>기반의 웹 어플리케이션을 만들 수 있는 </a:t>
            </a:r>
            <a:r>
              <a:rPr lang="ko-KR" altLang="en-US" dirty="0" err="1"/>
              <a:t>백엔드</a:t>
            </a:r>
            <a:r>
              <a:rPr lang="ko-KR" altLang="en-US" dirty="0"/>
              <a:t> 프레임워크</a:t>
            </a:r>
            <a:endParaRPr lang="en-US" altLang="ko-KR" dirty="0"/>
          </a:p>
          <a:p>
            <a:r>
              <a:rPr lang="ko-KR" altLang="en-US" dirty="0"/>
              <a:t>수많은 국내 기업과 해외 기업에서 많이 사용하는 프레임워크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7BCA9-4DE4-2C71-F398-924309F7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949F-B597-4B2D-93B1-6C036B265BD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E8B63D-40D9-7D50-A6C3-0152A223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ACE2E0-3D48-77B4-769B-CD2D4680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0DA3EEA-CC5F-E476-6F6C-C1EAF3DAC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173" y="3990518"/>
            <a:ext cx="5325654" cy="137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05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CDE18D-B6E6-803E-4FAE-C686E1DD6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/>
          <a:lstStyle/>
          <a:p>
            <a:pPr marL="0" indent="0" algn="l" fontAlgn="base">
              <a:buNone/>
            </a:pPr>
            <a:endParaRPr lang="en-US" altLang="ko-KR" i="0" dirty="0">
              <a:effectLst/>
              <a:latin typeface="inherit"/>
            </a:endParaRPr>
          </a:p>
          <a:p>
            <a:pPr marL="0" indent="0" algn="l" fontAlgn="base">
              <a:buNone/>
            </a:pPr>
            <a:endParaRPr lang="en-US" altLang="ko-KR" dirty="0">
              <a:latin typeface="inherit"/>
            </a:endParaRPr>
          </a:p>
          <a:p>
            <a:pPr marL="0" indent="0" algn="l" fontAlgn="base">
              <a:buNone/>
            </a:pPr>
            <a:endParaRPr lang="en-US" altLang="ko-KR" dirty="0">
              <a:latin typeface="inherit"/>
            </a:endParaRPr>
          </a:p>
          <a:p>
            <a:pPr marL="0" indent="0" algn="ctr" fontAlgn="base">
              <a:buNone/>
            </a:pPr>
            <a:r>
              <a:rPr lang="ko-KR" altLang="en-US" i="0" dirty="0">
                <a:effectLst/>
                <a:latin typeface="inherit"/>
              </a:rPr>
              <a:t>엔터프라이즈용 </a:t>
            </a:r>
            <a:r>
              <a:rPr lang="en-US" altLang="ko-KR" i="0" dirty="0">
                <a:effectLst/>
                <a:latin typeface="inherit"/>
              </a:rPr>
              <a:t>Java </a:t>
            </a:r>
            <a:r>
              <a:rPr lang="ko-KR" altLang="en-US" i="0" dirty="0">
                <a:effectLst/>
                <a:latin typeface="inherit"/>
              </a:rPr>
              <a:t>애플리케이션 개발을 편하게 할 수 있게 해주는 </a:t>
            </a:r>
            <a:br>
              <a:rPr lang="en-US" altLang="ko-KR" i="0" dirty="0">
                <a:effectLst/>
                <a:latin typeface="inherit"/>
              </a:rPr>
            </a:br>
            <a:r>
              <a:rPr lang="ko-KR" altLang="en-US" i="0" dirty="0">
                <a:effectLst/>
                <a:latin typeface="inherit"/>
              </a:rPr>
              <a:t>오픈소스 경량급 애플리케이션 프레임워크</a:t>
            </a:r>
            <a:endParaRPr lang="ko-KR" altLang="en-US" i="0" dirty="0">
              <a:effectLst/>
              <a:latin typeface="Pretendard Variable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7BCA9-4DE4-2C71-F398-924309F7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949F-B597-4B2D-93B1-6C036B265BD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E8B63D-40D9-7D50-A6C3-0152A223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ACE2E0-3D48-77B4-769B-CD2D4680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2270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CDE18D-B6E6-803E-4FAE-C686E1DD6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/>
          <a:lstStyle/>
          <a:p>
            <a:pPr marL="0" indent="0" algn="l" fontAlgn="base">
              <a:buNone/>
            </a:pPr>
            <a:endParaRPr lang="en-US" altLang="ko-KR" i="0" dirty="0">
              <a:solidFill>
                <a:schemeClr val="accent1"/>
              </a:solidFill>
              <a:effectLst/>
              <a:latin typeface="inherit"/>
            </a:endParaRPr>
          </a:p>
          <a:p>
            <a:pPr marL="0" indent="0" algn="l" fontAlgn="base">
              <a:buNone/>
            </a:pPr>
            <a:endParaRPr lang="en-US" altLang="ko-KR" dirty="0">
              <a:solidFill>
                <a:schemeClr val="accent1"/>
              </a:solidFill>
              <a:latin typeface="inherit"/>
            </a:endParaRPr>
          </a:p>
          <a:p>
            <a:pPr marL="0" indent="0" algn="l" fontAlgn="base">
              <a:buNone/>
            </a:pPr>
            <a:endParaRPr lang="en-US" altLang="ko-KR" dirty="0">
              <a:solidFill>
                <a:schemeClr val="accent1"/>
              </a:solidFill>
              <a:latin typeface="inherit"/>
            </a:endParaRPr>
          </a:p>
          <a:p>
            <a:pPr marL="0" indent="0" algn="ctr" fontAlgn="base">
              <a:buNone/>
            </a:pPr>
            <a:r>
              <a:rPr lang="ko-KR" altLang="en-US" b="1" i="0" dirty="0">
                <a:solidFill>
                  <a:schemeClr val="accent5"/>
                </a:solidFill>
                <a:effectLst/>
                <a:latin typeface="inherit"/>
              </a:rPr>
              <a:t>엔터프라이즈용 </a:t>
            </a:r>
            <a:r>
              <a:rPr lang="en-US" altLang="ko-KR" b="1" i="0" dirty="0">
                <a:solidFill>
                  <a:schemeClr val="accent5"/>
                </a:solidFill>
                <a:effectLst/>
                <a:latin typeface="inherit"/>
              </a:rPr>
              <a:t>Java </a:t>
            </a:r>
            <a:r>
              <a:rPr lang="ko-KR" altLang="en-US" b="1" i="0" dirty="0">
                <a:solidFill>
                  <a:schemeClr val="accent5"/>
                </a:solidFill>
                <a:effectLst/>
                <a:latin typeface="inherit"/>
              </a:rPr>
              <a:t>애플리케이션</a:t>
            </a:r>
            <a:r>
              <a:rPr lang="ko-KR" altLang="en-US" i="0" dirty="0">
                <a:effectLst/>
                <a:latin typeface="inherit"/>
              </a:rPr>
              <a:t> 개발을 편하게 할 수 있게 해주는 </a:t>
            </a:r>
            <a:br>
              <a:rPr lang="en-US" altLang="ko-KR" i="0" dirty="0">
                <a:effectLst/>
                <a:latin typeface="inherit"/>
              </a:rPr>
            </a:br>
            <a:r>
              <a:rPr lang="ko-KR" altLang="en-US" i="0" dirty="0">
                <a:effectLst/>
                <a:latin typeface="inherit"/>
              </a:rPr>
              <a:t>오픈소스 </a:t>
            </a:r>
            <a:r>
              <a:rPr lang="ko-KR" altLang="en-US" b="1" i="0" dirty="0">
                <a:solidFill>
                  <a:schemeClr val="accent3"/>
                </a:solidFill>
                <a:effectLst/>
                <a:latin typeface="inherit"/>
              </a:rPr>
              <a:t>경량급</a:t>
            </a:r>
            <a:r>
              <a:rPr lang="ko-KR" altLang="en-US" i="0" dirty="0">
                <a:effectLst/>
                <a:latin typeface="inherit"/>
              </a:rPr>
              <a:t> </a:t>
            </a:r>
            <a:r>
              <a:rPr lang="ko-KR" altLang="en-US" b="1" i="0" dirty="0">
                <a:solidFill>
                  <a:schemeClr val="accent1"/>
                </a:solidFill>
                <a:effectLst/>
                <a:latin typeface="inherit"/>
              </a:rPr>
              <a:t>애플리케이션 프레임워크</a:t>
            </a:r>
            <a:endParaRPr lang="ko-KR" altLang="en-US" b="1" i="0" dirty="0">
              <a:solidFill>
                <a:schemeClr val="accent1"/>
              </a:solidFill>
              <a:effectLst/>
              <a:latin typeface="Pretendard Variable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7BCA9-4DE4-2C71-F398-924309F7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949F-B597-4B2D-93B1-6C036B265BD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E8B63D-40D9-7D50-A6C3-0152A223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ACE2E0-3D48-77B4-769B-CD2D4680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95E4F-0E54-1A62-25B4-78B5B155283D}"/>
              </a:ext>
            </a:extLst>
          </p:cNvPr>
          <p:cNvSpPr txBox="1"/>
          <p:nvPr/>
        </p:nvSpPr>
        <p:spPr>
          <a:xfrm>
            <a:off x="4106916" y="2036698"/>
            <a:ext cx="4120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6"/>
                </a:solidFill>
              </a:rPr>
              <a:t>대규모의 복잡한 데이터를 관리하는 애플리케이션</a:t>
            </a:r>
            <a:endParaRPr lang="en-US" altLang="ko-KR" sz="1600" dirty="0">
              <a:solidFill>
                <a:schemeClr val="accent6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26588B6-EFA5-0BAB-C57D-5A12CBE27353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894083" y="2375252"/>
            <a:ext cx="2272853" cy="634331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49A2171-7AF5-7DC7-87F6-C861AB3FA088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3515440" y="4054777"/>
            <a:ext cx="1348222" cy="738438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DAC79F-8827-6F39-6585-4E88D7A54E7C}"/>
              </a:ext>
            </a:extLst>
          </p:cNvPr>
          <p:cNvSpPr txBox="1"/>
          <p:nvPr/>
        </p:nvSpPr>
        <p:spPr>
          <a:xfrm>
            <a:off x="1216573" y="4793215"/>
            <a:ext cx="4597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6"/>
                </a:solidFill>
              </a:rPr>
              <a:t>기존 기술 대비 개발자가 작성할 코드가 상대적으로 단순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7A7969B-C2D9-AF2C-1EE7-CFED7534BC81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417676" y="3988676"/>
            <a:ext cx="1073871" cy="80453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1D04FCD-9F5A-04DD-CEB8-97E1AFF55ED6}"/>
              </a:ext>
            </a:extLst>
          </p:cNvPr>
          <p:cNvSpPr txBox="1"/>
          <p:nvPr/>
        </p:nvSpPr>
        <p:spPr>
          <a:xfrm>
            <a:off x="6028372" y="4793215"/>
            <a:ext cx="4926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6"/>
                </a:solidFill>
              </a:rPr>
              <a:t>애플리케이션을 개발하는 데에 필요한 코드들의 뼈대를 제공</a:t>
            </a:r>
          </a:p>
        </p:txBody>
      </p:sp>
    </p:spTree>
    <p:extLst>
      <p:ext uri="{BB962C8B-B14F-4D97-AF65-F5344CB8AC3E}">
        <p14:creationId xmlns:p14="http://schemas.microsoft.com/office/powerpoint/2010/main" val="75534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3DB81B-5EFC-C714-61B7-7EB2886C7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5213"/>
            <a:ext cx="11068251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스프링 프레임워크를 중심으로 다양한 프로젝트가 존재함 </a:t>
            </a:r>
            <a:r>
              <a:rPr lang="en-US" altLang="ko-KR" sz="2400" dirty="0"/>
              <a:t>(</a:t>
            </a:r>
            <a:r>
              <a:rPr lang="ko-KR" altLang="en-US" sz="2400" dirty="0">
                <a:hlinkClick r:id="rId3"/>
              </a:rPr>
              <a:t>https://spring.io/projects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4F8A4E-2428-424D-599D-31B9EC82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249F11-85E6-A5D7-8F8D-BFDCD9FF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86EA44-C865-EAFA-A1F8-D0B3E8E2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Projects</a:t>
            </a:r>
            <a:endParaRPr lang="ko-KR" alt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F1A9CCE-C91A-2DEF-8755-3BBE5AE8C78C}"/>
              </a:ext>
            </a:extLst>
          </p:cNvPr>
          <p:cNvGrpSpPr/>
          <p:nvPr/>
        </p:nvGrpSpPr>
        <p:grpSpPr>
          <a:xfrm>
            <a:off x="2142474" y="2228596"/>
            <a:ext cx="8585078" cy="3518909"/>
            <a:chOff x="2142474" y="2228596"/>
            <a:chExt cx="8585078" cy="351890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335CCE0-45C3-9B63-D2AD-9706C3033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0763" y="2939706"/>
              <a:ext cx="2481251" cy="900000"/>
            </a:xfrm>
            <a:prstGeom prst="rect">
              <a:avLst/>
            </a:prstGeom>
            <a:ln w="38100">
              <a:solidFill>
                <a:srgbClr val="92D050"/>
              </a:solidFill>
            </a:ln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015C58B-B757-2CF0-B73D-57631CD1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2474" y="4208233"/>
              <a:ext cx="2420270" cy="900000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19F4136-D757-B8DA-819F-E8EFBA290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57208" y="4158898"/>
              <a:ext cx="2470344" cy="900000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411A1319-7AAD-0C55-6156-D65086314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36555" y="2942650"/>
              <a:ext cx="2424490" cy="900000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DEFEE9D-25A9-FD7C-0426-F806114D5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06299" y="4847505"/>
              <a:ext cx="2607353" cy="900000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47D64-67BB-2FC6-9B39-7FE3F7EE2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34454" y="3317486"/>
              <a:ext cx="3762900" cy="1371791"/>
            </a:xfrm>
            <a:prstGeom prst="rect">
              <a:avLst/>
            </a:prstGeom>
            <a:ln w="38100">
              <a:solidFill>
                <a:schemeClr val="accent5"/>
              </a:solidFill>
            </a:ln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96EF1907-3FBF-58C8-3057-38255CB8E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48693" y="2228596"/>
              <a:ext cx="2447261" cy="900000"/>
            </a:xfrm>
            <a:prstGeom prst="rect">
              <a:avLst/>
            </a:prstGeom>
            <a:ln w="38100">
              <a:solidFill>
                <a:srgbClr val="92D050"/>
              </a:solidFill>
            </a:ln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BAFAAD4-7E41-DB1D-7BF2-56558F88CE76}"/>
              </a:ext>
            </a:extLst>
          </p:cNvPr>
          <p:cNvSpPr txBox="1"/>
          <p:nvPr/>
        </p:nvSpPr>
        <p:spPr>
          <a:xfrm>
            <a:off x="1419577" y="5905733"/>
            <a:ext cx="9352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accent6"/>
                </a:solidFill>
              </a:rPr>
              <a:t>Spring Framework, Spring Boot, Spring Security</a:t>
            </a:r>
            <a:r>
              <a:rPr lang="ko-KR" altLang="en-US" sz="1600" dirty="0">
                <a:solidFill>
                  <a:schemeClr val="accent6"/>
                </a:solidFill>
              </a:rPr>
              <a:t>는 대부분의 프로젝트에서 사용되는 프로젝트</a:t>
            </a:r>
            <a:r>
              <a:rPr lang="en-US" altLang="ko-KR" sz="1600" dirty="0">
                <a:solidFill>
                  <a:schemeClr val="accent6"/>
                </a:solidFill>
              </a:rPr>
              <a:t>!</a:t>
            </a:r>
            <a:endParaRPr lang="ko-KR" altLang="en-US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28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6C725-A1BF-619A-676A-FC7E4E088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sz="2400" b="1" dirty="0"/>
              <a:t>IoC</a:t>
            </a:r>
            <a:r>
              <a:rPr lang="en-US" altLang="ko-KR" sz="2400" dirty="0"/>
              <a:t> ( Inversion of Control, </a:t>
            </a:r>
            <a:r>
              <a:rPr lang="ko-KR" altLang="en-US" sz="2400" dirty="0"/>
              <a:t>제어 반전 </a:t>
            </a:r>
            <a:r>
              <a:rPr lang="en-US" altLang="ko-KR" sz="2400" dirty="0"/>
              <a:t>)</a:t>
            </a:r>
          </a:p>
          <a:p>
            <a:pPr marL="514350" indent="-514350">
              <a:buAutoNum type="arabicPeriod"/>
            </a:pPr>
            <a:r>
              <a:rPr lang="en-US" altLang="ko-KR" sz="2400" b="1" dirty="0"/>
              <a:t>DI</a:t>
            </a:r>
            <a:r>
              <a:rPr lang="en-US" altLang="ko-KR" sz="2400" dirty="0"/>
              <a:t> ( Dependency Injection, </a:t>
            </a:r>
            <a:r>
              <a:rPr lang="ko-KR" altLang="en-US" sz="2400" dirty="0"/>
              <a:t>의존성 주입 </a:t>
            </a:r>
            <a:r>
              <a:rPr lang="en-US" altLang="ko-KR" sz="2400" dirty="0"/>
              <a:t>)</a:t>
            </a:r>
          </a:p>
          <a:p>
            <a:pPr marL="514350" indent="-514350">
              <a:buAutoNum type="arabicPeriod"/>
            </a:pPr>
            <a:r>
              <a:rPr lang="en-US" altLang="ko-KR" sz="2400" b="1" dirty="0"/>
              <a:t>AOP</a:t>
            </a:r>
            <a:r>
              <a:rPr lang="en-US" altLang="ko-KR" sz="2400" dirty="0"/>
              <a:t> ( Aspect Object Programming, </a:t>
            </a:r>
            <a:r>
              <a:rPr lang="ko-KR" altLang="en-US" sz="2400" dirty="0"/>
              <a:t>관점 지향 프로그래밍 </a:t>
            </a:r>
            <a:r>
              <a:rPr lang="en-US" altLang="ko-KR" sz="2400" dirty="0"/>
              <a:t>)</a:t>
            </a:r>
          </a:p>
          <a:p>
            <a:pPr marL="514350" indent="-514350">
              <a:buAutoNum type="arabicPeriod"/>
            </a:pPr>
            <a:r>
              <a:rPr lang="en-US" altLang="ko-KR" sz="2400" b="1" dirty="0"/>
              <a:t>POJO</a:t>
            </a:r>
            <a:r>
              <a:rPr lang="en-US" altLang="ko-KR" sz="2400" dirty="0"/>
              <a:t> ( Pain Old Java Object </a:t>
            </a:r>
            <a:r>
              <a:rPr lang="ko-KR" altLang="en-US" sz="2400" dirty="0"/>
              <a:t>방식 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D4269F-B420-59E1-E561-9D8BD0A3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A63622-E90C-06B1-19CA-4E18A0AF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C5E4ED-7055-E23C-5147-B6172852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스프링 프레임워크 특징</a:t>
            </a:r>
          </a:p>
        </p:txBody>
      </p:sp>
    </p:spTree>
    <p:extLst>
      <p:ext uri="{BB962C8B-B14F-4D97-AF65-F5344CB8AC3E}">
        <p14:creationId xmlns:p14="http://schemas.microsoft.com/office/powerpoint/2010/main" val="147206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8876DC-C7B1-376A-0F0B-4BFFA014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1"/>
                </a:solidFill>
              </a:rPr>
              <a:t>객체의 생성부터 소멸까지 </a:t>
            </a:r>
            <a:r>
              <a:rPr lang="ko-KR" altLang="en-US" sz="2400" dirty="0"/>
              <a:t>개발자가 아닌 </a:t>
            </a:r>
            <a:r>
              <a:rPr lang="ko-KR" altLang="en-US" sz="2400" dirty="0">
                <a:solidFill>
                  <a:schemeClr val="accent1"/>
                </a:solidFill>
              </a:rPr>
              <a:t>스프링 컨테이너가 대신해</a:t>
            </a:r>
            <a:r>
              <a:rPr lang="ko-KR" altLang="en-US" sz="2400" dirty="0"/>
              <a:t>주는 것</a:t>
            </a:r>
            <a:endParaRPr lang="en-US" altLang="ko-KR" sz="2400" dirty="0"/>
          </a:p>
          <a:p>
            <a:r>
              <a:rPr lang="ko-KR" altLang="en-US" sz="2400" dirty="0"/>
              <a:t>제어권이 개발자가 아닌 </a:t>
            </a:r>
            <a:r>
              <a:rPr lang="en-US" altLang="ko-KR" sz="2400" dirty="0"/>
              <a:t>IoC </a:t>
            </a:r>
            <a:r>
              <a:rPr lang="ko-KR" altLang="en-US" sz="2400" dirty="0"/>
              <a:t>에 있으며</a:t>
            </a:r>
            <a:r>
              <a:rPr lang="en-US" altLang="ko-KR" sz="2400" dirty="0"/>
              <a:t>, IoC </a:t>
            </a:r>
            <a:r>
              <a:rPr lang="ko-KR" altLang="en-US" sz="2400" dirty="0"/>
              <a:t>가 개발자의 코드를 호출해 필요한 객체를 생성</a:t>
            </a:r>
            <a:r>
              <a:rPr lang="en-US" altLang="ko-KR" sz="2400" dirty="0"/>
              <a:t>, </a:t>
            </a:r>
            <a:r>
              <a:rPr lang="ko-KR" altLang="en-US" sz="2400" dirty="0"/>
              <a:t>소멸해 생명주기를 관리한다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64A01-1193-6CC1-DD43-0630A9D5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E981BB-84A0-AACD-61E9-3D6F52CA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3BD04B-4A00-D003-E447-FC5B2DC9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1. IoC </a:t>
            </a:r>
            <a:r>
              <a:rPr lang="en-US" altLang="ko-KR" sz="3600" dirty="0"/>
              <a:t>(Inversion of Control, </a:t>
            </a:r>
            <a:r>
              <a:rPr lang="ko-KR" altLang="en-US" sz="3600" dirty="0"/>
              <a:t>제어의 역전</a:t>
            </a:r>
            <a:r>
              <a:rPr lang="en-US" altLang="ko-KR" sz="36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0516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5AF95-ED54-C886-1B4C-E049954F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sz="2400" dirty="0"/>
              <a:t>Java</a:t>
            </a:r>
            <a:r>
              <a:rPr lang="ko-KR" altLang="en-US" sz="2400" dirty="0"/>
              <a:t>에서 객체 생성</a:t>
            </a:r>
            <a:br>
              <a:rPr lang="en-US" altLang="ko-KR" sz="2400" dirty="0"/>
            </a:br>
            <a:br>
              <a:rPr lang="en-US" altLang="ko-KR" sz="2400" dirty="0"/>
            </a:br>
            <a:br>
              <a:rPr lang="en-US" altLang="ko-KR" sz="2400" dirty="0"/>
            </a:br>
            <a:endParaRPr lang="en-US" altLang="ko-KR" sz="2000" dirty="0"/>
          </a:p>
          <a:p>
            <a:pPr marL="514350" indent="-514350">
              <a:buAutoNum type="arabicPeriod"/>
            </a:pPr>
            <a:endParaRPr lang="en-US" altLang="ko-KR" sz="2400" dirty="0"/>
          </a:p>
          <a:p>
            <a:pPr marL="514350" indent="-514350">
              <a:buAutoNum type="arabicPeriod"/>
            </a:pPr>
            <a:r>
              <a:rPr lang="ko-KR" altLang="en-US" sz="2400" dirty="0"/>
              <a:t>스프링 컨테이너가 객체 관리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48F935-DFE9-4CD7-B823-129F683A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B32ADD-EF19-7DFE-4C86-D8D181D9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E19278-34F8-3222-5F63-CC5C8585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특징 </a:t>
            </a:r>
            <a:r>
              <a:rPr lang="en-US" altLang="ko-KR" dirty="0"/>
              <a:t>1. IoC </a:t>
            </a:r>
            <a:r>
              <a:rPr lang="en-US" altLang="ko-KR" sz="3600" dirty="0"/>
              <a:t>(Inversion of Control, </a:t>
            </a:r>
            <a:r>
              <a:rPr lang="ko-KR" altLang="en-US" sz="3600" dirty="0"/>
              <a:t>제어의 역전</a:t>
            </a:r>
            <a:r>
              <a:rPr lang="en-US" altLang="ko-KR" sz="3600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A38C76-559E-C1C9-A3E4-EA7D7C63B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763" y="1668015"/>
            <a:ext cx="3703580" cy="9365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6769921-43BF-88DD-25A7-8AB3F6EE8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932" y="3429000"/>
            <a:ext cx="3101411" cy="2734450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2850114-8C05-30A2-A09B-BE3901FABBC6}"/>
              </a:ext>
            </a:extLst>
          </p:cNvPr>
          <p:cNvSpPr txBox="1">
            <a:spLocks/>
          </p:cNvSpPr>
          <p:nvPr/>
        </p:nvSpPr>
        <p:spPr>
          <a:xfrm>
            <a:off x="1371600" y="3956106"/>
            <a:ext cx="5943600" cy="2315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/>
              <a:t>→ </a:t>
            </a:r>
            <a:r>
              <a:rPr lang="en-US" altLang="ko-KR" sz="2000" dirty="0"/>
              <a:t>Apple</a:t>
            </a:r>
            <a:r>
              <a:rPr lang="ko-KR" altLang="en-US" sz="2000" dirty="0"/>
              <a:t> 객체의 제어권이 </a:t>
            </a:r>
            <a:r>
              <a:rPr lang="en-US" altLang="ko-KR" sz="2000" dirty="0"/>
              <a:t>Sample </a:t>
            </a:r>
            <a:r>
              <a:rPr lang="ko-KR" altLang="en-US" sz="2000" dirty="0"/>
              <a:t>에 있는 것이 아닌</a:t>
            </a:r>
            <a:r>
              <a:rPr lang="en-US" altLang="ko-KR" sz="2000" dirty="0"/>
              <a:t>,            </a:t>
            </a:r>
            <a:r>
              <a:rPr lang="en-US" altLang="ko-KR" sz="2000" dirty="0" err="1"/>
              <a:t>SampleTest</a:t>
            </a:r>
            <a:r>
              <a:rPr lang="en-US" altLang="ko-KR" sz="2000" dirty="0"/>
              <a:t> </a:t>
            </a:r>
            <a:r>
              <a:rPr lang="ko-KR" altLang="en-US" sz="2000" dirty="0"/>
              <a:t>클래스에게 있음</a:t>
            </a:r>
            <a:endParaRPr lang="en-US" altLang="ko-KR" sz="20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/>
              <a:t>→ </a:t>
            </a:r>
            <a:r>
              <a:rPr lang="ko-KR" altLang="en-US" sz="2000" b="1" dirty="0"/>
              <a:t>의존성을 역전시켜 제어권을 직접 갖지 않는 것이 </a:t>
            </a:r>
            <a:r>
              <a:rPr lang="en-US" altLang="ko-KR" sz="2000" b="1" dirty="0">
                <a:solidFill>
                  <a:schemeClr val="accent1"/>
                </a:solidFill>
              </a:rPr>
              <a:t>IoC</a:t>
            </a:r>
            <a:endParaRPr lang="ko-KR" altLang="en-US" sz="200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1B27678-04F4-A4B8-D632-EB367C30CC00}"/>
              </a:ext>
            </a:extLst>
          </p:cNvPr>
          <p:cNvSpPr txBox="1">
            <a:spLocks/>
          </p:cNvSpPr>
          <p:nvPr/>
        </p:nvSpPr>
        <p:spPr>
          <a:xfrm>
            <a:off x="1371600" y="2039956"/>
            <a:ext cx="5741706" cy="861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/>
              <a:t>→ </a:t>
            </a:r>
            <a:r>
              <a:rPr lang="en-US" altLang="ko-KR" sz="2000" dirty="0"/>
              <a:t>Sample </a:t>
            </a:r>
            <a:r>
              <a:rPr lang="ko-KR" altLang="en-US" sz="2000" dirty="0"/>
              <a:t>클래스에서 </a:t>
            </a:r>
            <a:r>
              <a:rPr lang="en-US" altLang="ko-KR" sz="2000" dirty="0"/>
              <a:t>new </a:t>
            </a:r>
            <a:r>
              <a:rPr lang="ko-KR" altLang="en-US" sz="2000" dirty="0"/>
              <a:t>키워드로 </a:t>
            </a:r>
            <a:r>
              <a:rPr lang="en-US" altLang="ko-KR" sz="2000" dirty="0"/>
              <a:t>Apple </a:t>
            </a:r>
            <a:r>
              <a:rPr lang="ko-KR" altLang="en-US" sz="2000" dirty="0"/>
              <a:t>클래스의 객체 생성</a:t>
            </a:r>
            <a:endParaRPr lang="ko-KR" altLang="en-US" sz="2000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06378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A4D5EC-BD46-0BC1-44AF-236A6F054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구성 요소의 의존 관계가 소스코드 내부가 아닌 외부의 설정 파일을 통해 정의됨</a:t>
            </a:r>
            <a:endParaRPr lang="en-US" altLang="ko-KR" sz="2400" dirty="0"/>
          </a:p>
          <a:p>
            <a:r>
              <a:rPr lang="ko-KR" altLang="en-US" sz="2400" dirty="0"/>
              <a:t>즉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외부에서 객체를 주입 받아 사용</a:t>
            </a:r>
            <a:r>
              <a:rPr lang="ko-KR" altLang="en-US" sz="2400" dirty="0"/>
              <a:t>함</a:t>
            </a:r>
            <a:endParaRPr lang="en-US" altLang="ko-KR" sz="2400" dirty="0"/>
          </a:p>
          <a:p>
            <a:r>
              <a:rPr lang="en-US" altLang="ko-KR" sz="2400" dirty="0"/>
              <a:t>DI (</a:t>
            </a:r>
            <a:r>
              <a:rPr lang="ko-KR" altLang="en-US" sz="2400" dirty="0"/>
              <a:t>의존성 주입</a:t>
            </a:r>
            <a:r>
              <a:rPr lang="en-US" altLang="ko-KR" sz="2400" dirty="0"/>
              <a:t>) </a:t>
            </a:r>
            <a:r>
              <a:rPr lang="ko-KR" altLang="en-US" sz="2400" dirty="0"/>
              <a:t>방법으로 </a:t>
            </a:r>
            <a:r>
              <a:rPr lang="en-US" altLang="ko-KR" sz="2400" dirty="0"/>
              <a:t>IoC (</a:t>
            </a:r>
            <a:r>
              <a:rPr lang="ko-KR" altLang="en-US" sz="2400" dirty="0"/>
              <a:t>제어의 역전</a:t>
            </a:r>
            <a:r>
              <a:rPr lang="en-US" altLang="ko-KR" sz="2400" dirty="0"/>
              <a:t>) </a:t>
            </a:r>
            <a:r>
              <a:rPr lang="ko-KR" altLang="en-US" sz="2400" dirty="0"/>
              <a:t>를 구현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endParaRPr lang="en-US" altLang="ko-KR" sz="2400" dirty="0"/>
          </a:p>
          <a:p>
            <a:pPr marL="0" indent="0" algn="ctr">
              <a:buNone/>
            </a:pPr>
            <a:r>
              <a:rPr lang="en-US" altLang="ko-KR" sz="2400" b="1" dirty="0"/>
              <a:t>“</a:t>
            </a:r>
            <a:r>
              <a:rPr lang="ko-KR" altLang="en-US" sz="2400" b="1" dirty="0"/>
              <a:t>이를 통해 코드 간의 </a:t>
            </a:r>
            <a:r>
              <a:rPr lang="ko-KR" altLang="en-US" sz="2400" b="1" dirty="0" err="1">
                <a:solidFill>
                  <a:schemeClr val="accent1"/>
                </a:solidFill>
              </a:rPr>
              <a:t>재사용률</a:t>
            </a:r>
            <a:r>
              <a:rPr lang="ko-KR" altLang="en-US" sz="2400" b="1" dirty="0" err="1"/>
              <a:t>을</a:t>
            </a:r>
            <a:r>
              <a:rPr lang="ko-KR" altLang="en-US" sz="2400" b="1" dirty="0"/>
              <a:t> 높이고</a:t>
            </a:r>
            <a:r>
              <a:rPr lang="en-US" altLang="ko-KR" sz="2400" b="1" dirty="0"/>
              <a:t>, </a:t>
            </a:r>
            <a:r>
              <a:rPr lang="ko-KR" altLang="en-US" sz="2400" b="1" dirty="0">
                <a:solidFill>
                  <a:schemeClr val="accent1"/>
                </a:solidFill>
              </a:rPr>
              <a:t>모듈 간의 결합도</a:t>
            </a:r>
            <a:r>
              <a:rPr lang="ko-KR" altLang="en-US" sz="2400" b="1" dirty="0"/>
              <a:t>를 낮출 수 있음</a:t>
            </a:r>
            <a:r>
              <a:rPr lang="en-US" altLang="ko-KR" sz="2400" b="1" dirty="0"/>
              <a:t>”</a:t>
            </a:r>
            <a:endParaRPr lang="ko-KR" altLang="en-US" sz="24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D4CD4C-9CA6-9B34-8F24-48FDAED7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9B84BA-5AE3-A201-6266-EB3A6F3B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E7F179-7D6C-1BD2-4906-3542146A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특징 </a:t>
            </a:r>
            <a:r>
              <a:rPr lang="en-US" altLang="ko-KR" dirty="0"/>
              <a:t>2. DI </a:t>
            </a:r>
            <a:r>
              <a:rPr lang="en-US" altLang="ko-KR" sz="3600" dirty="0"/>
              <a:t>(Dependency Injection, </a:t>
            </a:r>
            <a:r>
              <a:rPr lang="ko-KR" altLang="en-US" sz="3600" dirty="0"/>
              <a:t>의존성 주입</a:t>
            </a:r>
            <a:r>
              <a:rPr lang="en-US" altLang="ko-KR" sz="36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00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73C445-CAF7-9517-0BE4-72970B6CA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방법 </a:t>
            </a:r>
            <a:r>
              <a:rPr lang="en-US" altLang="ko-KR" sz="2400" dirty="0"/>
              <a:t>1. Field Injection (</a:t>
            </a:r>
            <a:r>
              <a:rPr lang="ko-KR" altLang="en-US" sz="2400" dirty="0"/>
              <a:t>필드 주입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2400" dirty="0"/>
              <a:t>방법 </a:t>
            </a:r>
            <a:r>
              <a:rPr lang="en-US" altLang="ko-KR" sz="2400" dirty="0"/>
              <a:t>2. Setter Injection (</a:t>
            </a:r>
            <a:r>
              <a:rPr lang="ko-KR" altLang="en-US" sz="2400" dirty="0" err="1"/>
              <a:t>수정자</a:t>
            </a:r>
            <a:r>
              <a:rPr lang="ko-KR" altLang="en-US" sz="2400" dirty="0"/>
              <a:t> 주입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방법 </a:t>
            </a:r>
            <a:r>
              <a:rPr lang="en-US" altLang="ko-KR" sz="2400" dirty="0"/>
              <a:t>3. Constructor Injection (</a:t>
            </a:r>
            <a:r>
              <a:rPr lang="ko-KR" altLang="en-US" sz="2400" dirty="0"/>
              <a:t>생성자 주입 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5AD212-3F4A-6868-FB55-36DDBDF3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658C4C-E815-B31E-37C4-A804936D7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A4A63D-2CD4-439A-91DA-78E8E45A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2. DI </a:t>
            </a:r>
            <a:r>
              <a:rPr lang="en-US" altLang="ko-KR" sz="3600" dirty="0"/>
              <a:t>(Dependency Injection, </a:t>
            </a:r>
            <a:r>
              <a:rPr lang="ko-KR" altLang="en-US" sz="3600" dirty="0"/>
              <a:t>의존성 주입</a:t>
            </a:r>
            <a:r>
              <a:rPr lang="en-US" altLang="ko-KR" sz="3600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E240F6-5F0D-66EA-680B-165DC488B9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526" b="9317"/>
          <a:stretch/>
        </p:blipFill>
        <p:spPr>
          <a:xfrm>
            <a:off x="7267710" y="1640606"/>
            <a:ext cx="3267199" cy="4431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F8E8F6C-2C7B-1812-6E7A-4C291DE0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710" y="2692140"/>
            <a:ext cx="4229876" cy="11878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89CCD38-5FE2-45F4-1180-ABBDD31FE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710" y="4196952"/>
            <a:ext cx="4301154" cy="10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8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E33149-D476-1CA2-27BA-6A5C41C71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어떤 로직을 기준으로 </a:t>
            </a:r>
            <a:r>
              <a:rPr lang="en-US" altLang="ko-KR" sz="2400" dirty="0">
                <a:solidFill>
                  <a:schemeClr val="accent1"/>
                </a:solidFill>
              </a:rPr>
              <a:t>“</a:t>
            </a:r>
            <a:r>
              <a:rPr lang="ko-KR" altLang="en-US" sz="2400" dirty="0">
                <a:solidFill>
                  <a:schemeClr val="accent1"/>
                </a:solidFill>
              </a:rPr>
              <a:t>핵심 관점</a:t>
            </a:r>
            <a:r>
              <a:rPr lang="en-US" altLang="ko-KR" sz="2400" dirty="0">
                <a:solidFill>
                  <a:schemeClr val="accent1"/>
                </a:solidFill>
              </a:rPr>
              <a:t>”, “</a:t>
            </a:r>
            <a:r>
              <a:rPr lang="ko-KR" altLang="en-US" sz="2400" dirty="0">
                <a:solidFill>
                  <a:schemeClr val="accent1"/>
                </a:solidFill>
              </a:rPr>
              <a:t>부가 관점</a:t>
            </a:r>
            <a:r>
              <a:rPr lang="en-US" altLang="ko-KR" sz="2400" dirty="0">
                <a:solidFill>
                  <a:schemeClr val="accent1"/>
                </a:solidFill>
              </a:rPr>
              <a:t>”</a:t>
            </a:r>
            <a:r>
              <a:rPr lang="ko-KR" altLang="en-US" sz="2400" dirty="0"/>
              <a:t>으로 나누어서 보고 그 관점을 기준으로 각각 모듈화</a:t>
            </a:r>
            <a:endParaRPr lang="en-US" altLang="ko-KR" sz="2400" dirty="0"/>
          </a:p>
          <a:p>
            <a:r>
              <a:rPr lang="ko-KR" altLang="en-US" sz="2400" dirty="0"/>
              <a:t>기능을 </a:t>
            </a:r>
            <a:r>
              <a:rPr lang="ko-KR" altLang="en-US" sz="2400" dirty="0">
                <a:solidFill>
                  <a:schemeClr val="accent1"/>
                </a:solidFill>
              </a:rPr>
              <a:t>비즈니스 로직</a:t>
            </a:r>
            <a:r>
              <a:rPr lang="ko-KR" altLang="en-US" sz="2400" dirty="0"/>
              <a:t>과 </a:t>
            </a:r>
            <a:r>
              <a:rPr lang="ko-KR" altLang="en-US" sz="2400" dirty="0">
                <a:solidFill>
                  <a:schemeClr val="accent5"/>
                </a:solidFill>
              </a:rPr>
              <a:t>공통 모듈</a:t>
            </a:r>
            <a:r>
              <a:rPr lang="ko-KR" altLang="en-US" sz="2400" dirty="0"/>
              <a:t>로 구분한 후</a:t>
            </a:r>
            <a:r>
              <a:rPr lang="en-US" altLang="ko-KR" sz="2400" dirty="0"/>
              <a:t>, </a:t>
            </a:r>
            <a:r>
              <a:rPr lang="ko-KR" altLang="en-US" sz="2400" dirty="0"/>
              <a:t>개발자의 코드 밖에서 필요한 시점에 비즈니스 로직을 삽입하여 실행되도록 함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0" indent="0" algn="ctr">
              <a:buNone/>
            </a:pPr>
            <a:r>
              <a:rPr lang="en-US" altLang="ko-KR" sz="2400" b="1" dirty="0"/>
              <a:t>“</a:t>
            </a:r>
            <a:r>
              <a:rPr lang="ko-KR" altLang="en-US" sz="2400" b="1" dirty="0"/>
              <a:t>여러 객체에 공통으로 적용할 수 있는 기능을 구분함으로써</a:t>
            </a:r>
            <a:br>
              <a:rPr lang="en-US" altLang="ko-KR" sz="2400" b="1" dirty="0"/>
            </a:br>
            <a:r>
              <a:rPr lang="ko-KR" altLang="en-US" sz="2400" b="1" dirty="0"/>
              <a:t>재사용성을 높여주는 기법</a:t>
            </a:r>
            <a:r>
              <a:rPr lang="en-US" altLang="ko-KR" sz="2400" b="1" dirty="0"/>
              <a:t>”</a:t>
            </a:r>
            <a:endParaRPr lang="ko-KR" altLang="en-US" sz="24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71770-6CD1-82FF-0135-97DCB254C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410F9D-38EB-6FB8-9792-65A56ED6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EAC32DC-0DD1-0EF0-40C2-B91E9713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 AOP </a:t>
            </a:r>
            <a:r>
              <a:rPr lang="en-US" altLang="ko-KR" sz="2400" dirty="0"/>
              <a:t>(Aspect Object Programming, </a:t>
            </a:r>
            <a:r>
              <a:rPr lang="ko-KR" altLang="en-US" sz="2400" dirty="0"/>
              <a:t>관점 지향 프로그래밍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687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3E3EBC5-81BC-4F57-21E3-0015FBAFB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699350" y="3555164"/>
            <a:ext cx="4835283" cy="2721059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50C275-7F76-9081-8F4D-7D36BF71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DBE140-4249-50E1-8E0C-B32E547F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E0F9D3-B117-C82F-6EF5-B50FFD8F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</a:t>
            </a:r>
            <a:r>
              <a:rPr lang="en-US" altLang="ko-KR" dirty="0"/>
              <a:t>3. AOP </a:t>
            </a:r>
            <a:r>
              <a:rPr lang="en-US" altLang="ko-KR" sz="2400" dirty="0"/>
              <a:t>(Aspect Object Programming, </a:t>
            </a:r>
            <a:r>
              <a:rPr lang="ko-KR" altLang="en-US" sz="2400" dirty="0"/>
              <a:t>관점 지향 프로그래밍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3D37016-A972-0476-D1BC-E45CDB1F969C}"/>
              </a:ext>
            </a:extLst>
          </p:cNvPr>
          <p:cNvSpPr txBox="1">
            <a:spLocks/>
          </p:cNvSpPr>
          <p:nvPr/>
        </p:nvSpPr>
        <p:spPr>
          <a:xfrm>
            <a:off x="838200" y="1565213"/>
            <a:ext cx="10515600" cy="4111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chemeClr val="accent1"/>
                </a:solidFill>
              </a:rPr>
              <a:t>계좌 이체</a:t>
            </a:r>
            <a:r>
              <a:rPr lang="ko-KR" altLang="en-US" sz="2400" dirty="0"/>
              <a:t>와 </a:t>
            </a:r>
            <a:r>
              <a:rPr lang="ko-KR" altLang="en-US" sz="2400" dirty="0">
                <a:solidFill>
                  <a:schemeClr val="accent1"/>
                </a:solidFill>
              </a:rPr>
              <a:t>입출금 </a:t>
            </a:r>
            <a:r>
              <a:rPr lang="ko-KR" altLang="en-US" sz="2400" dirty="0"/>
              <a:t>로직을 처리할 때 공통적으로 </a:t>
            </a:r>
            <a:r>
              <a:rPr lang="ko-KR" altLang="en-US" sz="2400" dirty="0">
                <a:solidFill>
                  <a:schemeClr val="accent5"/>
                </a:solidFill>
              </a:rPr>
              <a:t>로깅</a:t>
            </a:r>
            <a:r>
              <a:rPr lang="ko-KR" altLang="en-US" sz="2400" dirty="0"/>
              <a:t>과 </a:t>
            </a:r>
            <a:r>
              <a:rPr lang="ko-KR" altLang="en-US" sz="2400" dirty="0">
                <a:solidFill>
                  <a:schemeClr val="accent5"/>
                </a:solidFill>
              </a:rPr>
              <a:t>보안</a:t>
            </a:r>
            <a:r>
              <a:rPr lang="ko-KR" altLang="en-US" sz="2400" dirty="0"/>
              <a:t> 작업을 수행해야 한다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일반적으로 이 경우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5"/>
                </a:solidFill>
              </a:rPr>
              <a:t>공통의 코드</a:t>
            </a:r>
            <a:r>
              <a:rPr lang="ko-KR" altLang="en-US" sz="2400" dirty="0"/>
              <a:t>를 </a:t>
            </a:r>
            <a:r>
              <a:rPr lang="ko-KR" altLang="en-US" sz="2400" dirty="0">
                <a:solidFill>
                  <a:schemeClr val="accent1"/>
                </a:solidFill>
              </a:rPr>
              <a:t>두 개의 로직</a:t>
            </a:r>
            <a:r>
              <a:rPr lang="ko-KR" altLang="en-US" sz="2400" dirty="0"/>
              <a:t>에 모두 넣고 사용한다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AOP</a:t>
            </a:r>
            <a:r>
              <a:rPr lang="ko-KR" altLang="en-US" sz="2400" dirty="0"/>
              <a:t>는 </a:t>
            </a:r>
            <a:r>
              <a:rPr lang="ko-KR" altLang="en-US" sz="2400" dirty="0">
                <a:solidFill>
                  <a:schemeClr val="accent5"/>
                </a:solidFill>
              </a:rPr>
              <a:t>공통 관심</a:t>
            </a:r>
            <a:r>
              <a:rPr lang="en-US" altLang="ko-KR" sz="2400" dirty="0">
                <a:solidFill>
                  <a:schemeClr val="accent5"/>
                </a:solidFill>
              </a:rPr>
              <a:t>(</a:t>
            </a:r>
            <a:r>
              <a:rPr lang="ko-KR" altLang="en-US" sz="2400" dirty="0">
                <a:solidFill>
                  <a:schemeClr val="accent5"/>
                </a:solidFill>
              </a:rPr>
              <a:t>로깅</a:t>
            </a:r>
            <a:r>
              <a:rPr lang="en-US" altLang="ko-KR" sz="2400" dirty="0">
                <a:solidFill>
                  <a:schemeClr val="accent5"/>
                </a:solidFill>
              </a:rPr>
              <a:t>, </a:t>
            </a:r>
            <a:r>
              <a:rPr lang="ko-KR" altLang="en-US" sz="2400" dirty="0">
                <a:solidFill>
                  <a:schemeClr val="accent5"/>
                </a:solidFill>
              </a:rPr>
              <a:t>보안</a:t>
            </a:r>
            <a:r>
              <a:rPr lang="en-US" altLang="ko-KR" sz="2400" dirty="0">
                <a:solidFill>
                  <a:schemeClr val="accent5"/>
                </a:solidFill>
              </a:rPr>
              <a:t>)</a:t>
            </a:r>
            <a:r>
              <a:rPr lang="ko-KR" altLang="en-US" sz="2400" dirty="0"/>
              <a:t>을 따로 빼내어 객체 별로 처리하는 것이 아닌 관점 별로 외부에서 접근해 사용하도록 만든다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/>
              <a:t>“</a:t>
            </a:r>
            <a:r>
              <a:rPr lang="ko-KR" altLang="en-US" sz="2400" b="1" dirty="0"/>
              <a:t>따라서 개발자는 </a:t>
            </a:r>
            <a:r>
              <a:rPr lang="ko-KR" altLang="en-US" sz="2400" b="1" dirty="0">
                <a:solidFill>
                  <a:schemeClr val="accent1"/>
                </a:solidFill>
              </a:rPr>
              <a:t>핵심 관점 </a:t>
            </a:r>
            <a:r>
              <a:rPr lang="ko-KR" altLang="en-US" sz="2400" b="1" dirty="0"/>
              <a:t>코드에만 집중할 수 있다</a:t>
            </a:r>
            <a:r>
              <a:rPr lang="en-US" altLang="ko-KR" sz="2400" b="1" dirty="0"/>
              <a:t>!”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39538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B5B54-0CD3-1F11-9931-4978B9088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974859" cy="411168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다른 기술을 사용하지 않고 순수 </a:t>
            </a:r>
            <a:r>
              <a:rPr lang="en-US" altLang="ko-KR" sz="2400" dirty="0"/>
              <a:t>Java</a:t>
            </a:r>
            <a:r>
              <a:rPr lang="ko-KR" altLang="en-US" sz="2400" dirty="0"/>
              <a:t>만을 통해서 생성한 객체 </a:t>
            </a:r>
            <a:endParaRPr lang="en-US" altLang="ko-KR" sz="2400" dirty="0"/>
          </a:p>
          <a:p>
            <a:r>
              <a:rPr lang="en-US" altLang="ko-KR" sz="2400" dirty="0"/>
              <a:t>ex. </a:t>
            </a:r>
            <a:r>
              <a:rPr lang="ko-KR" altLang="en-US" sz="2400" dirty="0"/>
              <a:t>필드</a:t>
            </a:r>
            <a:r>
              <a:rPr lang="en-US" altLang="ko-KR" sz="2400" dirty="0"/>
              <a:t>, getter, setter</a:t>
            </a:r>
            <a:r>
              <a:rPr lang="ko-KR" altLang="en-US" sz="2400" dirty="0"/>
              <a:t>만 존재하는 기본적인 </a:t>
            </a:r>
            <a:r>
              <a:rPr lang="en-US" altLang="ko-KR" sz="2400" dirty="0"/>
              <a:t>Java</a:t>
            </a:r>
            <a:r>
              <a:rPr lang="ko-KR" altLang="en-US" sz="2400" dirty="0"/>
              <a:t> 오브젝트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F635B5-DF61-422B-6685-33A643D3A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BCA2DB-32A2-0A45-06F7-2286E127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953DD-649E-26C9-13F5-0029A7AE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특징 </a:t>
            </a:r>
            <a:r>
              <a:rPr lang="en-US" altLang="ko-KR" dirty="0"/>
              <a:t>4. POJO </a:t>
            </a:r>
            <a:r>
              <a:rPr lang="en-US" altLang="ko-KR" sz="2400" dirty="0"/>
              <a:t>(Plain Old Java Object, </a:t>
            </a:r>
            <a:r>
              <a:rPr lang="ko-KR" altLang="en-US" sz="2400" dirty="0"/>
              <a:t>단순한 자바 오브젝트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7D765B0-0F66-C2E5-41F2-3F909EF0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563" y="2666245"/>
            <a:ext cx="4053179" cy="315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78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B5B54-0CD3-1F11-9931-4978B9088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974859" cy="411168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왜 중요할까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dirty="0"/>
              <a:t>외부 라이브러리를 </a:t>
            </a:r>
            <a:r>
              <a:rPr lang="en-US" altLang="ko-KR" sz="2000" dirty="0"/>
              <a:t>import </a:t>
            </a:r>
            <a:r>
              <a:rPr lang="ko-KR" altLang="en-US" sz="2000" dirty="0"/>
              <a:t>해서 특정 객체를 사용한다면</a:t>
            </a:r>
            <a:r>
              <a:rPr lang="en-US" altLang="ko-KR" sz="2000" dirty="0"/>
              <a:t>? (</a:t>
            </a:r>
            <a:r>
              <a:rPr lang="ko-KR" altLang="en-US" sz="2000" dirty="0"/>
              <a:t>즉</a:t>
            </a:r>
            <a:r>
              <a:rPr lang="en-US" altLang="ko-KR" sz="2000" dirty="0"/>
              <a:t>, POJO </a:t>
            </a:r>
            <a:r>
              <a:rPr lang="ko-KR" altLang="en-US" sz="2000" dirty="0"/>
              <a:t>가 아닌 객체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해당 기술이 </a:t>
            </a:r>
            <a:r>
              <a:rPr lang="en-US" altLang="ko-KR" sz="2000" dirty="0"/>
              <a:t>deprecated (</a:t>
            </a:r>
            <a:r>
              <a:rPr lang="ko-KR" altLang="en-US" sz="2000" dirty="0"/>
              <a:t>더 이상 사용되지 않음</a:t>
            </a:r>
            <a:r>
              <a:rPr lang="en-US" altLang="ko-KR" sz="2000" dirty="0"/>
              <a:t>) </a:t>
            </a:r>
            <a:r>
              <a:rPr lang="ko-KR" altLang="en-US" sz="2000" dirty="0"/>
              <a:t>되거나 새로운 기술로 변경되면 관련 코드를 모두 변경해야 하는 번거로움 </a:t>
            </a:r>
            <a:endParaRPr lang="en-US" altLang="ko-KR" sz="2000" dirty="0"/>
          </a:p>
          <a:p>
            <a:pPr lvl="1"/>
            <a:r>
              <a:rPr lang="ko-KR" altLang="en-US" sz="2000" dirty="0"/>
              <a:t>해당 객체가 외부 라이브러리에 의존적인 상황 </a:t>
            </a:r>
            <a:r>
              <a:rPr lang="en-US" altLang="ko-KR" sz="2000" dirty="0"/>
              <a:t>-&gt; </a:t>
            </a:r>
            <a:r>
              <a:rPr lang="ko-KR" altLang="en-US" sz="2000" dirty="0"/>
              <a:t>좋지 않음</a:t>
            </a:r>
            <a:endParaRPr lang="en-US" altLang="ko-KR" sz="2000" dirty="0"/>
          </a:p>
          <a:p>
            <a:pPr marL="0" indent="0" algn="ctr">
              <a:buNone/>
            </a:pPr>
            <a:endParaRPr lang="en-US" altLang="ko-KR" sz="2400" dirty="0"/>
          </a:p>
          <a:p>
            <a:pPr marL="0" indent="0" algn="ctr">
              <a:buNone/>
            </a:pPr>
            <a:br>
              <a:rPr lang="en-US" altLang="ko-KR" sz="2400" dirty="0"/>
            </a:br>
            <a:r>
              <a:rPr lang="en-US" altLang="ko-KR" sz="2400" b="1" dirty="0"/>
              <a:t>“</a:t>
            </a:r>
            <a:r>
              <a:rPr lang="ko-KR" altLang="en-US" sz="2400" b="1" dirty="0"/>
              <a:t>객체 지향적인 원리에 충실하면서</a:t>
            </a:r>
            <a:br>
              <a:rPr lang="en-US" altLang="ko-KR" sz="2400" b="1" dirty="0"/>
            </a:br>
            <a:r>
              <a:rPr lang="ko-KR" altLang="en-US" sz="2400" b="1" dirty="0">
                <a:solidFill>
                  <a:schemeClr val="accent1"/>
                </a:solidFill>
              </a:rPr>
              <a:t>환경과 기술에 종속되지 않고 필요에 따라 재활용</a:t>
            </a:r>
            <a:r>
              <a:rPr lang="ko-KR" altLang="en-US" sz="2400" b="1" dirty="0"/>
              <a:t>될 수 있는 방식으로 설계된 오브젝트</a:t>
            </a:r>
            <a:r>
              <a:rPr lang="en-US" altLang="ko-KR" sz="2400" b="1" dirty="0"/>
              <a:t>”</a:t>
            </a:r>
          </a:p>
          <a:p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F635B5-DF61-422B-6685-33A643D3A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BCA2DB-32A2-0A45-06F7-2286E127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953DD-649E-26C9-13F5-0029A7AE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특징 </a:t>
            </a:r>
            <a:r>
              <a:rPr lang="en-US" altLang="ko-KR" dirty="0"/>
              <a:t>4. POJO </a:t>
            </a:r>
            <a:r>
              <a:rPr lang="en-US" altLang="ko-KR" sz="2400" dirty="0"/>
              <a:t>(Plain Old Java Object, </a:t>
            </a:r>
            <a:r>
              <a:rPr lang="ko-KR" altLang="en-US" sz="2400" dirty="0"/>
              <a:t>단순한 자바 오브젝트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9058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9859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2C813-7F50-722D-AE75-67FFC84F3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65213"/>
            <a:ext cx="10944225" cy="411168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Spring </a:t>
            </a:r>
            <a:r>
              <a:rPr lang="ko-KR" altLang="en-US" sz="2400" dirty="0"/>
              <a:t>은 필요한 여러 설정 </a:t>
            </a:r>
            <a:r>
              <a:rPr lang="en-US" altLang="ko-KR" sz="2400" dirty="0"/>
              <a:t>(ex </a:t>
            </a:r>
            <a:r>
              <a:rPr lang="ko-KR" altLang="en-US" sz="2400" dirty="0" err="1"/>
              <a:t>톰캣</a:t>
            </a:r>
            <a:r>
              <a:rPr lang="ko-KR" altLang="en-US" sz="2400" dirty="0"/>
              <a:t> 서버 설정</a:t>
            </a:r>
            <a:r>
              <a:rPr lang="en-US" altLang="ko-KR" sz="2400" dirty="0"/>
              <a:t>, XML </a:t>
            </a:r>
            <a:r>
              <a:rPr lang="ko-KR" altLang="en-US" sz="2400" dirty="0"/>
              <a:t>설정</a:t>
            </a:r>
            <a:r>
              <a:rPr lang="en-US" altLang="ko-KR" sz="2400" dirty="0"/>
              <a:t>, …) </a:t>
            </a:r>
            <a:r>
              <a:rPr lang="ko-KR" altLang="en-US" sz="2400" dirty="0"/>
              <a:t>이 복잡하다는 단점</a:t>
            </a:r>
            <a:r>
              <a:rPr lang="en-US" altLang="ko-KR" sz="2400" dirty="0"/>
              <a:t>! </a:t>
            </a:r>
          </a:p>
          <a:p>
            <a:r>
              <a:rPr lang="en-US" altLang="ko-KR" sz="2400" dirty="0"/>
              <a:t>Spring Boot </a:t>
            </a:r>
            <a:r>
              <a:rPr lang="ko-KR" altLang="en-US" sz="2400" dirty="0"/>
              <a:t>는 </a:t>
            </a:r>
            <a:r>
              <a:rPr lang="ko-KR" altLang="en-US" sz="2400" dirty="0">
                <a:solidFill>
                  <a:schemeClr val="accent1"/>
                </a:solidFill>
              </a:rPr>
              <a:t>쉽고 빠르게 스프링 프레임워크를 사용</a:t>
            </a:r>
            <a:r>
              <a:rPr lang="ko-KR" altLang="en-US" sz="2400" dirty="0"/>
              <a:t>할 수 있는 도구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0" indent="0" algn="ctr">
              <a:buNone/>
            </a:pPr>
            <a:r>
              <a:rPr lang="en-US" altLang="ko-KR" b="1" dirty="0">
                <a:solidFill>
                  <a:schemeClr val="accent1"/>
                </a:solidFill>
              </a:rPr>
              <a:t>“Spring Boot</a:t>
            </a:r>
            <a:r>
              <a:rPr lang="ko-KR" altLang="en-US" b="1" dirty="0">
                <a:solidFill>
                  <a:schemeClr val="accent1"/>
                </a:solidFill>
              </a:rPr>
              <a:t> 는 </a:t>
            </a:r>
            <a:r>
              <a:rPr lang="en-US" altLang="ko-KR" b="1" dirty="0">
                <a:solidFill>
                  <a:schemeClr val="accent1"/>
                </a:solidFill>
              </a:rPr>
              <a:t>Spring </a:t>
            </a:r>
            <a:r>
              <a:rPr lang="ko-KR" altLang="en-US" b="1" dirty="0">
                <a:solidFill>
                  <a:schemeClr val="accent1"/>
                </a:solidFill>
              </a:rPr>
              <a:t>에 속해 있다</a:t>
            </a:r>
            <a:r>
              <a:rPr lang="en-US" altLang="ko-KR" b="1" dirty="0">
                <a:solidFill>
                  <a:schemeClr val="accent1"/>
                </a:solidFill>
              </a:rPr>
              <a:t>!!”</a:t>
            </a:r>
            <a:endParaRPr lang="ko-KR" altLang="en-US" b="1" dirty="0">
              <a:solidFill>
                <a:schemeClr val="accent1"/>
              </a:solidFill>
            </a:endParaRPr>
          </a:p>
          <a:p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F3D69-2D2A-B105-ACDC-784057A1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1B8-B873-444C-9808-CF46FEAB4B7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89136B-9D7E-8A77-4304-BC984C76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340218-0CB7-5D96-AD67-FB745F6F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FCF407F-26A3-D450-29EB-052A7426C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636" y="4031721"/>
            <a:ext cx="3136725" cy="164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35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23FEBB-E4DD-4A60-F859-D6B9BB401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717696" cy="46117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1"/>
                </a:solidFill>
              </a:rPr>
              <a:t>WAS </a:t>
            </a:r>
            <a:r>
              <a:rPr lang="ko-KR" altLang="en-US" sz="2400" dirty="0">
                <a:solidFill>
                  <a:schemeClr val="accent1"/>
                </a:solidFill>
              </a:rPr>
              <a:t>내장</a:t>
            </a:r>
            <a:r>
              <a:rPr lang="ko-KR" altLang="en-US" sz="2400" dirty="0"/>
              <a:t> 되어 있어 독립적으로 실행 가능</a:t>
            </a:r>
            <a:endParaRPr lang="en-US" altLang="ko-KR" sz="2400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WAS</a:t>
            </a:r>
            <a:r>
              <a:rPr lang="ko-KR" altLang="en-US" sz="2000" dirty="0"/>
              <a:t> </a:t>
            </a:r>
            <a:r>
              <a:rPr lang="en-US" altLang="ko-KR" sz="2000" dirty="0"/>
              <a:t>(Web Application Server): </a:t>
            </a:r>
            <a:r>
              <a:rPr lang="ko-KR" altLang="en-US" sz="2000" dirty="0"/>
              <a:t>웹 애플리케이션 실행 장치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내장된 </a:t>
            </a:r>
            <a:r>
              <a:rPr lang="en-US" altLang="ko-KR" sz="2000" dirty="0"/>
              <a:t>WAS </a:t>
            </a:r>
            <a:r>
              <a:rPr lang="ko-KR" altLang="en-US" sz="2000" dirty="0"/>
              <a:t>는 </a:t>
            </a:r>
            <a:r>
              <a:rPr lang="ko-KR" altLang="en-US" sz="2000" dirty="0" err="1"/>
              <a:t>톰캣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제티</a:t>
            </a:r>
            <a:r>
              <a:rPr lang="ko-KR" altLang="en-US" sz="2000" dirty="0"/>
              <a:t> 등 여러 옵션 중 선택 가능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chemeClr val="accent1"/>
                </a:solidFill>
              </a:rPr>
              <a:t>스프링 부트 </a:t>
            </a:r>
            <a:r>
              <a:rPr lang="ko-KR" altLang="en-US" sz="2400" dirty="0" err="1">
                <a:solidFill>
                  <a:schemeClr val="accent1"/>
                </a:solidFill>
              </a:rPr>
              <a:t>스타터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개발에 필요한 빌드 구성을 단순화하는 스프링 부트 </a:t>
            </a:r>
            <a:r>
              <a:rPr lang="ko-KR" altLang="en-US" sz="2000" dirty="0" err="1"/>
              <a:t>스타터</a:t>
            </a:r>
            <a:r>
              <a:rPr lang="ko-KR" altLang="en-US" sz="2000" dirty="0"/>
              <a:t> 제공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chemeClr val="accent1"/>
                </a:solidFill>
              </a:rPr>
              <a:t>애플리케이션 설정</a:t>
            </a:r>
            <a:r>
              <a:rPr lang="ko-KR" altLang="en-US" sz="2400" dirty="0"/>
              <a:t>을 </a:t>
            </a:r>
            <a:r>
              <a:rPr lang="en-US" altLang="ko-KR" sz="2400" dirty="0"/>
              <a:t>XML </a:t>
            </a:r>
            <a:r>
              <a:rPr lang="ko-KR" altLang="en-US" sz="2400" dirty="0"/>
              <a:t>이 아닌 </a:t>
            </a:r>
            <a:r>
              <a:rPr lang="en-US" altLang="ko-KR" sz="2400" dirty="0">
                <a:solidFill>
                  <a:schemeClr val="accent1"/>
                </a:solidFill>
              </a:rPr>
              <a:t>Java </a:t>
            </a:r>
            <a:r>
              <a:rPr lang="ko-KR" altLang="en-US" sz="2400" dirty="0">
                <a:solidFill>
                  <a:schemeClr val="accent1"/>
                </a:solidFill>
              </a:rPr>
              <a:t>코드 </a:t>
            </a:r>
            <a:r>
              <a:rPr lang="ko-KR" altLang="en-US" sz="2400" dirty="0"/>
              <a:t>작성 가능</a:t>
            </a:r>
            <a:endParaRPr lang="en-US" altLang="ko-KR" sz="2400" dirty="0"/>
          </a:p>
          <a:p>
            <a:pPr lvl="1">
              <a:lnSpc>
                <a:spcPct val="100000"/>
              </a:lnSpc>
            </a:pPr>
            <a:r>
              <a:rPr lang="ko-KR" altLang="en-US" sz="2000" dirty="0"/>
              <a:t>개발자가 더 직관적이고 유연하게 애플리케이션 설정 가능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accent1"/>
                </a:solidFill>
              </a:rPr>
              <a:t>JAR </a:t>
            </a:r>
            <a:r>
              <a:rPr lang="ko-KR" altLang="en-US" sz="2400" dirty="0">
                <a:solidFill>
                  <a:schemeClr val="accent1"/>
                </a:solidFill>
              </a:rPr>
              <a:t>이용</a:t>
            </a:r>
            <a:r>
              <a:rPr lang="ko-KR" altLang="en-US" sz="2400" dirty="0"/>
              <a:t>해 자바 옵션 만으로도 </a:t>
            </a:r>
            <a:r>
              <a:rPr lang="ko-KR" altLang="en-US" sz="2400" dirty="0">
                <a:solidFill>
                  <a:schemeClr val="accent1"/>
                </a:solidFill>
              </a:rPr>
              <a:t>배포</a:t>
            </a:r>
            <a:r>
              <a:rPr lang="ko-KR" altLang="en-US" sz="2400" dirty="0"/>
              <a:t> 가능</a:t>
            </a:r>
            <a:endParaRPr lang="en-US" altLang="ko-KR" sz="2400" dirty="0"/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JAR</a:t>
            </a:r>
            <a:r>
              <a:rPr lang="ko-KR" altLang="en-US" sz="2000" dirty="0"/>
              <a:t> </a:t>
            </a:r>
            <a:r>
              <a:rPr lang="en-US" altLang="ko-KR" sz="2000" dirty="0"/>
              <a:t>(Java</a:t>
            </a:r>
            <a:r>
              <a:rPr lang="ko-KR" altLang="en-US" sz="2000" dirty="0"/>
              <a:t> </a:t>
            </a:r>
            <a:r>
              <a:rPr lang="en-US" altLang="ko-KR" sz="2000" dirty="0"/>
              <a:t>Archive) </a:t>
            </a:r>
            <a:r>
              <a:rPr lang="ko-KR" altLang="en-US" sz="2000" dirty="0"/>
              <a:t>파일</a:t>
            </a:r>
            <a:r>
              <a:rPr lang="en-US" altLang="ko-KR" sz="2000" dirty="0"/>
              <a:t>: </a:t>
            </a:r>
            <a:r>
              <a:rPr lang="ko-KR" altLang="en-US" sz="2000" dirty="0"/>
              <a:t>애플리케이션과 의존 라이브러리들을 하나의 파일로 묶은 형태로 배포 및 실행 환경에서 별도의 설정이 필요 없다는 장점 </a:t>
            </a:r>
            <a:r>
              <a:rPr lang="en-US" altLang="ko-KR" sz="2000" dirty="0"/>
              <a:t>(</a:t>
            </a:r>
            <a:r>
              <a:rPr lang="ko-KR" altLang="en-US" sz="2000" dirty="0"/>
              <a:t>애플리케이션 이식성과 배포 과정 단순화</a:t>
            </a:r>
            <a:r>
              <a:rPr lang="en-US" altLang="ko-KR" sz="20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ko-KR" sz="2000" dirty="0"/>
              <a:t>JAR</a:t>
            </a:r>
            <a:r>
              <a:rPr lang="ko-KR" altLang="en-US" sz="2000" dirty="0"/>
              <a:t> 파일로 </a:t>
            </a:r>
            <a:r>
              <a:rPr lang="ko-KR" altLang="en-US" sz="2000" dirty="0" err="1"/>
              <a:t>패키징해</a:t>
            </a:r>
            <a:r>
              <a:rPr lang="ko-KR" altLang="en-US" sz="2000" dirty="0"/>
              <a:t> 배포 가능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1532A5-4D03-680E-71E0-93F62C8A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351BA-EC28-0147-7455-0F997344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01E6C78-DF3A-CFBF-4ADC-A4C80B742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Boot </a:t>
            </a:r>
            <a:r>
              <a:rPr lang="ko-KR" altLang="en-US" dirty="0"/>
              <a:t>주요 특징</a:t>
            </a:r>
          </a:p>
        </p:txBody>
      </p:sp>
    </p:spTree>
    <p:extLst>
      <p:ext uri="{BB962C8B-B14F-4D97-AF65-F5344CB8AC3E}">
        <p14:creationId xmlns:p14="http://schemas.microsoft.com/office/powerpoint/2010/main" val="381523311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5640</TotalTime>
  <Words>1223</Words>
  <Application>Microsoft Office PowerPoint</Application>
  <PresentationFormat>와이드스크린</PresentationFormat>
  <Paragraphs>192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inherit</vt:lpstr>
      <vt:lpstr>Pretendard GOV</vt:lpstr>
      <vt:lpstr>Pretendard Variable</vt:lpstr>
      <vt:lpstr>맑은 고딕</vt:lpstr>
      <vt:lpstr>Arial</vt:lpstr>
      <vt:lpstr>Wingdings</vt:lpstr>
      <vt:lpstr>3_Office 테마</vt:lpstr>
      <vt:lpstr>웹 개발자 부트캠프 과정</vt:lpstr>
      <vt:lpstr>Spring</vt:lpstr>
      <vt:lpstr>Spring이란?</vt:lpstr>
      <vt:lpstr>Spring이란?</vt:lpstr>
      <vt:lpstr>Spring이란?</vt:lpstr>
      <vt:lpstr>Spring Projects</vt:lpstr>
      <vt:lpstr>스프링 프레임워크 특징</vt:lpstr>
      <vt:lpstr>특징 1. IoC (Inversion of Control, 제어의 역전)</vt:lpstr>
      <vt:lpstr>특징 1. IoC (Inversion of Control, 제어의 역전)</vt:lpstr>
      <vt:lpstr>특징 2. DI (Dependency Injection, 의존성 주입)</vt:lpstr>
      <vt:lpstr>특징 2. DI (Dependency Injection, 의존성 주입)</vt:lpstr>
      <vt:lpstr>특징 3. AOP (Aspect Object Programming, 관점 지향 프로그래밍)</vt:lpstr>
      <vt:lpstr>특징 3. AOP (Aspect Object Programming, 관점 지향 프로그래밍)</vt:lpstr>
      <vt:lpstr>특징 4. POJO (Plain Old Java Object, 단순한 자바 오브젝트)</vt:lpstr>
      <vt:lpstr>특징 4. POJO (Plain Old Java Object, 단순한 자바 오브젝트)</vt:lpstr>
      <vt:lpstr>Spring Boot란?</vt:lpstr>
      <vt:lpstr>Spring Boot란?</vt:lpstr>
      <vt:lpstr>Spring Boot 주요 특징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1402</cp:revision>
  <dcterms:created xsi:type="dcterms:W3CDTF">2022-06-26T11:10:22Z</dcterms:created>
  <dcterms:modified xsi:type="dcterms:W3CDTF">2024-07-15T00:50:11Z</dcterms:modified>
</cp:coreProperties>
</file>