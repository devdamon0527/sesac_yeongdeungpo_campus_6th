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73" r:id="rId1"/>
  </p:sldMasterIdLst>
  <p:notesMasterIdLst>
    <p:notesMasterId r:id="rId12"/>
  </p:notesMasterIdLst>
  <p:sldIdLst>
    <p:sldId id="649" r:id="rId2"/>
    <p:sldId id="650" r:id="rId3"/>
    <p:sldId id="293" r:id="rId4"/>
    <p:sldId id="294" r:id="rId5"/>
    <p:sldId id="299" r:id="rId6"/>
    <p:sldId id="295" r:id="rId7"/>
    <p:sldId id="296" r:id="rId8"/>
    <p:sldId id="297" r:id="rId9"/>
    <p:sldId id="298" r:id="rId10"/>
    <p:sldId id="662" r:id="rId11"/>
  </p:sldIdLst>
  <p:sldSz cx="12192000" cy="6858000"/>
  <p:notesSz cx="6858000" cy="9144000"/>
  <p:embeddedFontLst>
    <p:embeddedFont>
      <p:font typeface="Pretendard GOV" panose="02000503000000020004" pitchFamily="2" charset="-127"/>
      <p:regular r:id="rId13"/>
      <p:bold r:id="rId14"/>
    </p:embeddedFont>
    <p:embeddedFont>
      <p:font typeface="메이플스토리" panose="020B0600000101010101" charset="-127"/>
      <p:regular r:id="rId15"/>
      <p:bold r:id="rId16"/>
    </p:embeddedFont>
    <p:embeddedFont>
      <p:font typeface="Cascadia Code SemiLight" panose="020B0609020000020004" pitchFamily="49" charset="0"/>
      <p:regular r:id="rId17"/>
      <p:italic r:id="rId18"/>
    </p:embeddedFont>
    <p:embeddedFont>
      <p:font typeface="Consolas" panose="020B0609020204030204" pitchFamily="49" charset="0"/>
      <p:regular r:id="rId19"/>
      <p:bold r:id="rId20"/>
      <p:italic r:id="rId21"/>
      <p:boldItalic r:id="rId2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C66"/>
    <a:srgbClr val="FF9966"/>
    <a:srgbClr val="F7F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1" autoAdjust="0"/>
    <p:restoredTop sz="75082" autoAdjust="0"/>
  </p:normalViewPr>
  <p:slideViewPr>
    <p:cSldViewPr snapToGrid="0">
      <p:cViewPr varScale="1">
        <p:scale>
          <a:sx n="82" d="100"/>
          <a:sy n="82" d="100"/>
        </p:scale>
        <p:origin x="888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9.fntdata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메이플스토리" panose="02000300000000000000" pitchFamily="2" charset="-127"/>
                <a:ea typeface="메이플스토리" panose="020003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메이플스토리" panose="02000300000000000000" pitchFamily="2" charset="-127"/>
                <a:ea typeface="메이플스토리" panose="02000300000000000000" pitchFamily="2" charset="-127"/>
              </a:defRPr>
            </a:lvl1pPr>
          </a:lstStyle>
          <a:p>
            <a:fld id="{FCB54652-048B-4930-89EC-2DB9C4976659}" type="datetimeFigureOut">
              <a:rPr lang="ko-KR" altLang="en-US" smtClean="0"/>
              <a:pPr/>
              <a:t>2024-08-21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메이플스토리" panose="02000300000000000000" pitchFamily="2" charset="-127"/>
                <a:ea typeface="메이플스토리" panose="02000300000000000000" pitchFamily="2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메이플스토리" panose="02000300000000000000" pitchFamily="2" charset="-127"/>
                <a:ea typeface="메이플스토리" panose="02000300000000000000" pitchFamily="2" charset="-127"/>
              </a:defRPr>
            </a:lvl1pPr>
          </a:lstStyle>
          <a:p>
            <a:fld id="{E36974B4-3C72-4F7B-BD8B-CF478B248459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51430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메이플스토리" panose="02000300000000000000" pitchFamily="2" charset="-127"/>
        <a:ea typeface="메이플스토리" panose="02000300000000000000" pitchFamily="2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메이플스토리" panose="02000300000000000000" pitchFamily="2" charset="-127"/>
        <a:ea typeface="메이플스토리" panose="02000300000000000000" pitchFamily="2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메이플스토리" panose="02000300000000000000" pitchFamily="2" charset="-127"/>
        <a:ea typeface="메이플스토리" panose="02000300000000000000" pitchFamily="2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메이플스토리" panose="02000300000000000000" pitchFamily="2" charset="-127"/>
        <a:ea typeface="메이플스토리" panose="02000300000000000000" pitchFamily="2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메이플스토리" panose="02000300000000000000" pitchFamily="2" charset="-127"/>
        <a:ea typeface="메이플스토리" panose="02000300000000000000" pitchFamily="2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482480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249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typescript </a:t>
            </a:r>
            <a:r>
              <a:rPr lang="ko-KR" altLang="en-US" dirty="0"/>
              <a:t>를 사용하지 않을 때는 </a:t>
            </a:r>
            <a:r>
              <a:rPr lang="en-US" altLang="ko-KR" dirty="0"/>
              <a:t>props</a:t>
            </a:r>
            <a:r>
              <a:rPr lang="ko-KR" altLang="en-US" dirty="0"/>
              <a:t>가 사용되고 있어도 넘겨주지 않아도 됐었지만</a:t>
            </a:r>
            <a:endParaRPr lang="en-US" altLang="ko-KR" dirty="0"/>
          </a:p>
          <a:p>
            <a:r>
              <a:rPr lang="en-US" altLang="ko-KR" dirty="0"/>
              <a:t>typescript</a:t>
            </a:r>
            <a:r>
              <a:rPr lang="ko-KR" altLang="en-US" dirty="0"/>
              <a:t>를 사용한다면</a:t>
            </a:r>
            <a:r>
              <a:rPr lang="en-US" altLang="ko-KR" dirty="0"/>
              <a:t>, 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90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초기값을 </a:t>
            </a:r>
            <a:r>
              <a:rPr lang="en-US" altLang="ko-KR" dirty="0"/>
              <a:t>null</a:t>
            </a:r>
            <a:r>
              <a:rPr lang="ko-KR" altLang="en-US" dirty="0"/>
              <a:t>로 설정하는 경우에는 </a:t>
            </a:r>
            <a:r>
              <a:rPr lang="en-US" altLang="ko-KR" dirty="0"/>
              <a:t>typescript</a:t>
            </a:r>
            <a:r>
              <a:rPr lang="ko-KR" altLang="en-US"/>
              <a:t>에서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94421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 err="1">
                <a:solidFill>
                  <a:schemeClr val="tx1"/>
                </a:solidFill>
                <a:effectLst/>
                <a:cs typeface="+mn-cs"/>
              </a:rPr>
              <a:t>useRef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cs typeface="+mn-cs"/>
              </a:rPr>
              <a:t>로 취득하는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cs typeface="+mn-cs"/>
              </a:rPr>
              <a:t>DOM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cs typeface="+mn-cs"/>
              </a:rPr>
              <a:t>은 최초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cs typeface="+mn-cs"/>
              </a:rPr>
              <a:t>mount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cs typeface="+mn-cs"/>
              </a:rPr>
              <a:t>되기 전엔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cs typeface="+mn-cs"/>
              </a:rPr>
              <a:t>null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cs typeface="+mn-cs"/>
              </a:rPr>
              <a:t>이다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cs typeface="+mn-cs"/>
              </a:rPr>
              <a:t>.</a:t>
            </a:r>
          </a:p>
          <a:p>
            <a:r>
              <a:rPr lang="en-US" altLang="ko-KR" dirty="0"/>
              <a:t>https://curryyou.tistory.com/488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382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pPr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756677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https://react-typescript-cheatsheet.netlify.app/</a:t>
            </a:r>
            <a:endParaRPr lang="en-US" altLang="ko-KR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6974B4-3C72-4F7B-BD8B-CF478B248459}" type="slidenum">
              <a:rPr lang="ko-KR" altLang="en-US" smtClean="0"/>
              <a:pPr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35618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55029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6070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40991271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521651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36913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2953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03427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749418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60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26223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5106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81720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22341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22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제목 6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8" name="부제목 7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sz="2800" dirty="0" err="1"/>
              <a:t>SeSAC</a:t>
            </a:r>
            <a:r>
              <a:rPr lang="en-US" altLang="ko-KR" sz="2800" dirty="0"/>
              <a:t> x </a:t>
            </a:r>
            <a:r>
              <a:rPr lang="en-US" altLang="ko-KR" sz="2800" dirty="0" err="1"/>
              <a:t>CODINGOn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223B3B-2FCF-58AF-BC81-E9824EB6B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A02FB7-A3D0-4BF4-B23F-90A4C3B73A56}" type="datetime6">
              <a:rPr lang="ko-KR" altLang="en-US" smtClean="0"/>
              <a:t>2024년 8월</a:t>
            </a:fld>
            <a:endParaRPr lang="ko-KR" altLang="en-US" dirty="0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7112DC-52CD-A148-06F6-6813E1A67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0293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8월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7200" dirty="0"/>
              <a:t>React with TypeScript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19493888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1036227-73E9-6A99-990D-3F67B6102B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프로젝트 만들기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참고</a:t>
            </a:r>
            <a:r>
              <a:rPr lang="en-US" altLang="ko-KR" dirty="0"/>
              <a:t>) </a:t>
            </a:r>
            <a:r>
              <a:rPr lang="ko-KR" altLang="en-US" dirty="0"/>
              <a:t>기존 프로젝트에 </a:t>
            </a:r>
            <a:r>
              <a:rPr lang="en-US" altLang="ko-KR" dirty="0"/>
              <a:t>typescript </a:t>
            </a:r>
            <a:r>
              <a:rPr lang="ko-KR" altLang="en-US" dirty="0"/>
              <a:t>를 적용하고 싶다면</a:t>
            </a:r>
            <a:endParaRPr lang="en-US" altLang="ko-KR" dirty="0"/>
          </a:p>
          <a:p>
            <a:endParaRPr lang="en-US" altLang="ko-KR" dirty="0"/>
          </a:p>
          <a:p>
            <a:pPr lvl="1"/>
            <a:r>
              <a:rPr lang="ko-KR" altLang="en-US" dirty="0"/>
              <a:t>모듈 설치</a:t>
            </a:r>
            <a:r>
              <a:rPr lang="en-US" altLang="ko-KR" dirty="0"/>
              <a:t>! &amp;</a:t>
            </a:r>
          </a:p>
          <a:p>
            <a:pPr lvl="1"/>
            <a:r>
              <a:rPr lang="en-US" altLang="ko-KR" dirty="0" err="1"/>
              <a:t>js</a:t>
            </a:r>
            <a:r>
              <a:rPr lang="en-US" altLang="ko-KR" dirty="0"/>
              <a:t> &amp; </a:t>
            </a:r>
            <a:r>
              <a:rPr lang="en-US" altLang="ko-KR" dirty="0" err="1"/>
              <a:t>jsx</a:t>
            </a:r>
            <a:r>
              <a:rPr lang="en-US" altLang="ko-KR" dirty="0"/>
              <a:t> </a:t>
            </a:r>
            <a:r>
              <a:rPr lang="ko-KR" altLang="en-US" dirty="0"/>
              <a:t>파일을 </a:t>
            </a:r>
            <a:r>
              <a:rPr lang="en-US" altLang="ko-KR" dirty="0" err="1"/>
              <a:t>ts</a:t>
            </a:r>
            <a:r>
              <a:rPr lang="en-US" altLang="ko-KR" dirty="0"/>
              <a:t>, </a:t>
            </a:r>
            <a:r>
              <a:rPr lang="en-US" altLang="ko-KR" dirty="0" err="1"/>
              <a:t>tsx</a:t>
            </a:r>
            <a:r>
              <a:rPr lang="en-US" altLang="ko-KR" dirty="0"/>
              <a:t> </a:t>
            </a:r>
            <a:r>
              <a:rPr lang="ko-KR" altLang="en-US" dirty="0"/>
              <a:t>파일 변경</a:t>
            </a:r>
            <a:endParaRPr lang="en-US" altLang="ko-KR" dirty="0"/>
          </a:p>
          <a:p>
            <a:pPr lvl="1"/>
            <a:r>
              <a:rPr lang="en-US" altLang="ko-KR" dirty="0" err="1"/>
              <a:t>tsconfig.json</a:t>
            </a:r>
            <a:r>
              <a:rPr lang="en-US" altLang="ko-KR" dirty="0"/>
              <a:t> </a:t>
            </a:r>
            <a:r>
              <a:rPr lang="ko-KR" altLang="en-US" dirty="0"/>
              <a:t>파일</a:t>
            </a:r>
            <a:endParaRPr lang="en-US" altLang="ko-KR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A2E3C59C-CD0C-BEF4-B0F6-565F091C9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React </a:t>
            </a:r>
            <a:r>
              <a:rPr lang="en-US" altLang="ko-KR"/>
              <a:t>with Typescript</a:t>
            </a:r>
            <a:endParaRPr lang="ko-KR" altLang="en-US"/>
          </a:p>
        </p:txBody>
      </p:sp>
      <p:sp>
        <p:nvSpPr>
          <p:cNvPr id="12" name="Rectangle 4"/>
          <p:cNvSpPr>
            <a:spLocks noChangeArrowheads="1"/>
          </p:cNvSpPr>
          <p:nvPr/>
        </p:nvSpPr>
        <p:spPr bwMode="auto">
          <a:xfrm>
            <a:off x="1188927" y="2381870"/>
            <a:ext cx="6652462" cy="276999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npx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create-react-app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ko-KR" altLang="en-US" dirty="0">
                <a:solidFill>
                  <a:srgbClr val="333333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프로젝트이름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 --</a:t>
            </a:r>
            <a:r>
              <a:rPr kumimoji="0" lang="en-US" altLang="ko-KR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template </a:t>
            </a:r>
            <a:r>
              <a:rPr kumimoji="0" lang="ko-KR" altLang="ko-KR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rPr>
              <a:t>typescript</a:t>
            </a:r>
            <a:r>
              <a:rPr kumimoji="0" lang="ko-KR" altLang="ko-KR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kumimoji="0" lang="ko-KR" altLang="ko-KR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ea typeface="메이플스토리" panose="02000300000000000000" pitchFamily="2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054180" y="3932823"/>
            <a:ext cx="8240133" cy="307777"/>
          </a:xfrm>
          <a:prstGeom prst="rect">
            <a:avLst/>
          </a:prstGeom>
          <a:solidFill>
            <a:srgbClr val="F7F7F7"/>
          </a:solidFill>
          <a:ln>
            <a:noFill/>
          </a:ln>
        </p:spPr>
        <p:txBody>
          <a:bodyPr wrap="square">
            <a:spAutoFit/>
          </a:bodyPr>
          <a:lstStyle/>
          <a:p>
            <a:r>
              <a:rPr lang="en-US" altLang="ko-KR" sz="1400" dirty="0" err="1">
                <a:latin typeface="Cascadia Code SemiLight" panose="020B0609020000020004" pitchFamily="49" charset="0"/>
                <a:ea typeface="메이플스토리" panose="02000300000000000000" pitchFamily="2" charset="-127"/>
                <a:cs typeface="Cascadia Code SemiLight" panose="020B0609020000020004" pitchFamily="49" charset="0"/>
              </a:rPr>
              <a:t>npm</a:t>
            </a:r>
            <a:r>
              <a:rPr lang="en-US" altLang="ko-KR" sz="1400" dirty="0">
                <a:latin typeface="Cascadia Code SemiLight" panose="020B0609020000020004" pitchFamily="49" charset="0"/>
                <a:ea typeface="메이플스토리" panose="02000300000000000000" pitchFamily="2" charset="-127"/>
                <a:cs typeface="Cascadia Code SemiLight" panose="020B0609020000020004" pitchFamily="49" charset="0"/>
              </a:rPr>
              <a:t> install typescript @types/node @types/react @types/react-</a:t>
            </a:r>
            <a:r>
              <a:rPr lang="en-US" altLang="ko-KR" sz="1400" dirty="0" err="1">
                <a:latin typeface="Cascadia Code SemiLight" panose="020B0609020000020004" pitchFamily="49" charset="0"/>
                <a:ea typeface="메이플스토리" panose="02000300000000000000" pitchFamily="2" charset="-127"/>
                <a:cs typeface="Cascadia Code SemiLight" panose="020B0609020000020004" pitchFamily="49" charset="0"/>
              </a:rPr>
              <a:t>dom</a:t>
            </a:r>
            <a:r>
              <a:rPr lang="en-US" altLang="ko-KR" sz="1400" dirty="0">
                <a:latin typeface="Cascadia Code SemiLight" panose="020B0609020000020004" pitchFamily="49" charset="0"/>
                <a:ea typeface="메이플스토리" panose="02000300000000000000" pitchFamily="2" charset="-127"/>
                <a:cs typeface="Cascadia Code SemiLight" panose="020B0609020000020004" pitchFamily="49" charset="0"/>
              </a:rPr>
              <a:t> @types/jest</a:t>
            </a:r>
            <a:endParaRPr lang="ko-KR" altLang="en-US" sz="1400" dirty="0">
              <a:latin typeface="Cascadia Code SemiLight" panose="020B0609020000020004" pitchFamily="49" charset="0"/>
              <a:ea typeface="메이플스토리" panose="02000300000000000000" pitchFamily="2" charset="-127"/>
              <a:cs typeface="Cascadia Code SemiLight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4912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5"/>
            <a:ext cx="10134600" cy="4351338"/>
          </a:xfrm>
        </p:spPr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를 이용해서 데이터를 상위 컴포넌트에게 받을 때는 </a:t>
            </a:r>
            <a:r>
              <a:rPr lang="en-US" altLang="ko-KR" dirty="0"/>
              <a:t>props </a:t>
            </a:r>
            <a:r>
              <a:rPr lang="ko-KR" altLang="en-US" dirty="0"/>
              <a:t>가 어떤 형태로 넘어오는지 </a:t>
            </a:r>
            <a:r>
              <a:rPr lang="en-US" altLang="ko-KR" dirty="0"/>
              <a:t>type</a:t>
            </a:r>
            <a:r>
              <a:rPr lang="ko-KR" altLang="en-US" dirty="0"/>
              <a:t>을 미리 적어둬야 함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와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5543964" y="2782945"/>
            <a:ext cx="6096000" cy="3139321"/>
          </a:xfrm>
          <a:prstGeom prst="rect">
            <a:avLst/>
          </a:prstGeom>
          <a:solidFill>
            <a:schemeClr val="tx1"/>
          </a:solidFill>
        </p:spPr>
        <p:txBody>
          <a:bodyPr>
            <a:spAutoFit/>
          </a:bodyPr>
          <a:lstStyle/>
          <a:p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interface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Props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: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string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</a:p>
          <a:p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function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PropsType1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E0AF6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}: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Props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</a:t>
            </a:r>
            <a:r>
              <a:rPr lang="en-US" altLang="ko-KR" i="1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return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(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h2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Hello 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&lt;/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h2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&lt;/&gt;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9319519" y="3918585"/>
            <a:ext cx="767217" cy="310559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962415" y="3115119"/>
            <a:ext cx="4295385" cy="203132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function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PropsType1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E0AF6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r>
              <a:rPr lang="en-US" altLang="ko-KR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</a:t>
            </a:r>
            <a:r>
              <a:rPr lang="en-US" altLang="ko-KR" i="1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return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(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h2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Hello 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&lt;/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h2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  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&lt;/&gt;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9688" y="5222190"/>
            <a:ext cx="45627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jsx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사용한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react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props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받아오는 법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246445" y="5930565"/>
            <a:ext cx="58493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typescript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사용하는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react 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에서 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props</a:t>
            </a:r>
            <a:r>
              <a:rPr lang="ko-KR" altLang="en-US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받아오는 법</a:t>
            </a:r>
            <a:r>
              <a:rPr lang="en-US" altLang="ko-KR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5590415" y="2820523"/>
            <a:ext cx="2254162" cy="907580"/>
          </a:xfrm>
          <a:prstGeom prst="rect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pic>
        <p:nvPicPr>
          <p:cNvPr id="10" name="그림 9"/>
          <p:cNvPicPr>
            <a:picLocks noChangeAspect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6487073">
            <a:off x="7897008" y="2944511"/>
            <a:ext cx="1449724" cy="150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8757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400" dirty="0"/>
              <a:t>상위 컴포넌트에서 </a:t>
            </a:r>
            <a:r>
              <a:rPr lang="en-US" altLang="ko-KR" sz="2400" dirty="0"/>
              <a:t>prop</a:t>
            </a:r>
            <a:r>
              <a:rPr lang="ko-KR" altLang="en-US" sz="2400" dirty="0"/>
              <a:t>를 넘겨줄 때</a:t>
            </a:r>
            <a:r>
              <a:rPr lang="en-US" altLang="ko-KR" sz="2400" dirty="0"/>
              <a:t>, </a:t>
            </a:r>
            <a:r>
              <a:rPr lang="ko-KR" altLang="en-US" sz="2400" dirty="0"/>
              <a:t>정의된 </a:t>
            </a:r>
            <a:r>
              <a:rPr lang="en-US" altLang="ko-KR" sz="2400" dirty="0"/>
              <a:t>props</a:t>
            </a:r>
            <a:r>
              <a:rPr lang="ko-KR" altLang="en-US" sz="2400" dirty="0"/>
              <a:t>라면 반드시 넘겨줘야 함</a:t>
            </a:r>
            <a:r>
              <a:rPr lang="en-US" altLang="ko-KR" sz="2400" dirty="0"/>
              <a:t>.</a:t>
            </a:r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넘겨주고 싶지 않은 </a:t>
            </a:r>
            <a:r>
              <a:rPr lang="en-US" altLang="ko-KR" sz="2400" dirty="0"/>
              <a:t>props</a:t>
            </a:r>
            <a:r>
              <a:rPr lang="ko-KR" altLang="en-US" sz="2400" dirty="0"/>
              <a:t>가 있다면</a:t>
            </a:r>
            <a:r>
              <a:rPr lang="en-US" altLang="ko-KR" sz="2400" dirty="0"/>
              <a:t> </a:t>
            </a:r>
            <a:r>
              <a:rPr lang="ko-KR" altLang="en-US" sz="2400" dirty="0"/>
              <a:t>→</a:t>
            </a:r>
            <a:r>
              <a:rPr lang="en-US" altLang="ko-KR" sz="2400" dirty="0"/>
              <a:t> </a:t>
            </a:r>
            <a:r>
              <a:rPr lang="en-US" altLang="ko-KR" sz="2400" dirty="0">
                <a:solidFill>
                  <a:schemeClr val="accent1"/>
                </a:solidFill>
              </a:rPr>
              <a:t>?</a:t>
            </a:r>
            <a:r>
              <a:rPr lang="en-US" altLang="ko-KR" sz="2400" dirty="0"/>
              <a:t> </a:t>
            </a:r>
            <a:r>
              <a:rPr lang="ko-KR" altLang="en-US" sz="2400" dirty="0"/>
              <a:t>를</a:t>
            </a:r>
            <a:r>
              <a:rPr lang="en-US" altLang="ko-KR" sz="2400" dirty="0"/>
              <a:t> </a:t>
            </a:r>
            <a:r>
              <a:rPr lang="ko-KR" altLang="en-US" sz="2400" dirty="0"/>
              <a:t>이용</a:t>
            </a:r>
            <a:r>
              <a:rPr lang="en-US" altLang="ko-KR" sz="2400" dirty="0"/>
              <a:t>!</a:t>
            </a:r>
          </a:p>
          <a:p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				</a:t>
            </a:r>
            <a:endParaRPr lang="ko-KR" altLang="en-US" sz="2400" b="1" dirty="0">
              <a:solidFill>
                <a:srgbClr val="FF0000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props</a:t>
            </a:r>
            <a:r>
              <a:rPr lang="ko-KR" altLang="en-US" dirty="0"/>
              <a:t>와 </a:t>
            </a:r>
            <a:r>
              <a:rPr lang="en-US" altLang="ko-KR" dirty="0"/>
              <a:t>interface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245" y="2417576"/>
            <a:ext cx="6106461" cy="1795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06075" y="3324332"/>
            <a:ext cx="360868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하위 컴포넌트에서 </a:t>
            </a:r>
            <a:endParaRPr lang="en-US" altLang="ko-KR" dirty="0">
              <a:solidFill>
                <a:schemeClr val="accent5"/>
              </a:solidFill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interface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로 정의된 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props</a:t>
            </a:r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들은 </a:t>
            </a:r>
            <a:endParaRPr lang="en-US" altLang="ko-KR" dirty="0">
              <a:solidFill>
                <a:schemeClr val="accent5"/>
              </a:solidFill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사용되지 않더라도 넘겨주어야 합니다</a:t>
            </a:r>
            <a:r>
              <a:rPr lang="en-US" altLang="ko-KR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  <a:endParaRPr lang="ko-KR" altLang="en-US" dirty="0">
              <a:solidFill>
                <a:schemeClr val="accent5"/>
              </a:solidFill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6" name="직사각형 5"/>
          <p:cNvSpPr/>
          <p:nvPr/>
        </p:nvSpPr>
        <p:spPr>
          <a:xfrm>
            <a:off x="1238206" y="5170993"/>
            <a:ext cx="2425874" cy="86177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interface</a:t>
            </a:r>
            <a:r>
              <a:rPr lang="en-US" altLang="ko-KR" sz="1600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sz="1600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Props</a:t>
            </a:r>
            <a:r>
              <a:rPr lang="en-US" altLang="ko-KR" sz="1600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sz="1600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endParaRPr lang="en-US" altLang="ko-KR" sz="1600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sz="1600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 </a:t>
            </a:r>
            <a:r>
              <a:rPr lang="en-US" altLang="ko-KR" sz="1600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?:</a:t>
            </a:r>
            <a:r>
              <a:rPr lang="en-US" altLang="ko-KR" sz="1600" dirty="0">
                <a:solidFill>
                  <a:srgbClr val="A9B1D6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sz="1600" dirty="0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string</a:t>
            </a:r>
            <a:r>
              <a:rPr lang="en-US" altLang="ko-KR" sz="1600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endParaRPr lang="en-US" altLang="ko-KR" sz="1600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sz="1600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endParaRPr lang="en-US" altLang="ko-KR" sz="1600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3925" y="5307705"/>
            <a:ext cx="1657350" cy="6191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90522" y="5292317"/>
            <a:ext cx="400321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name</a:t>
            </a:r>
            <a:r>
              <a:rPr lang="ko-KR" altLang="en-US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이라는 </a:t>
            </a:r>
            <a:r>
              <a:rPr lang="en-US" altLang="ko-KR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key</a:t>
            </a:r>
            <a:r>
              <a:rPr lang="ko-KR" altLang="en-US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 물음표</a:t>
            </a:r>
            <a:r>
              <a:rPr lang="en-US" altLang="ko-KR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(?)</a:t>
            </a:r>
            <a:r>
              <a:rPr lang="ko-KR" altLang="en-US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붙여</a:t>
            </a:r>
            <a:endParaRPr lang="en-US" altLang="ko-KR" sz="1600" dirty="0">
              <a:solidFill>
                <a:schemeClr val="accent5"/>
              </a:solidFill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en-US" altLang="ko-KR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props</a:t>
            </a:r>
            <a:r>
              <a:rPr lang="ko-KR" altLang="en-US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전달하지 않아도 됩니다</a:t>
            </a:r>
            <a:r>
              <a:rPr lang="en-US" altLang="ko-KR" sz="1600" dirty="0">
                <a:solidFill>
                  <a:schemeClr val="accent5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. (optional)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60822" y="5201770"/>
            <a:ext cx="7393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800" b="1" dirty="0">
                <a:solidFill>
                  <a:schemeClr val="accent1"/>
                </a:solidFill>
                <a:latin typeface="메이플스토리" panose="02000300000000000000" pitchFamily="2" charset="-127"/>
                <a:ea typeface="메이플스토리" panose="02000300000000000000" pitchFamily="2" charset="-127"/>
              </a:rPr>
              <a:t>→</a:t>
            </a:r>
            <a:endParaRPr lang="ko-KR" altLang="en-US" sz="4800" dirty="0">
              <a:solidFill>
                <a:schemeClr val="accent1"/>
              </a:solidFill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72506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/>
      <p:bldP spid="13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/>
              <a:t>generic </a:t>
            </a:r>
            <a:r>
              <a:rPr lang="ko-KR" altLang="en-US" sz="2400" dirty="0"/>
              <a:t>함께 쓰기</a:t>
            </a:r>
            <a:endParaRPr lang="en-US" altLang="ko-KR" sz="2400" dirty="0"/>
          </a:p>
          <a:p>
            <a:pPr lvl="1"/>
            <a:r>
              <a:rPr lang="ko-KR" altLang="en-US" sz="2000" dirty="0"/>
              <a:t>초기값에 대한 </a:t>
            </a:r>
            <a:r>
              <a:rPr lang="en-US" altLang="ko-KR" sz="2000" dirty="0"/>
              <a:t>type</a:t>
            </a:r>
            <a:r>
              <a:rPr lang="ko-KR" altLang="en-US" sz="2000" dirty="0"/>
              <a:t>을 </a:t>
            </a:r>
            <a:r>
              <a:rPr lang="en-US" altLang="ko-KR" sz="2000" dirty="0"/>
              <a:t>generic</a:t>
            </a:r>
            <a:r>
              <a:rPr lang="ko-KR" altLang="en-US" sz="2000" dirty="0"/>
              <a:t>을 이용해서 설정</a:t>
            </a:r>
            <a:endParaRPr lang="en-US" altLang="ko-KR" sz="2000" dirty="0"/>
          </a:p>
          <a:p>
            <a:pPr lvl="1"/>
            <a:r>
              <a:rPr lang="ko-KR" altLang="en-US" sz="2000" dirty="0"/>
              <a:t>물론 </a:t>
            </a:r>
            <a:r>
              <a:rPr lang="en-US" altLang="ko-KR" sz="2000" dirty="0" err="1"/>
              <a:t>setState</a:t>
            </a:r>
            <a:r>
              <a:rPr lang="ko-KR" altLang="en-US" sz="2000" dirty="0"/>
              <a:t> 이용해서 </a:t>
            </a:r>
            <a:r>
              <a:rPr lang="en-US" altLang="ko-KR" sz="2000" dirty="0"/>
              <a:t>state</a:t>
            </a:r>
            <a:r>
              <a:rPr lang="ko-KR" altLang="en-US" sz="2000" dirty="0"/>
              <a:t>를 변경할 때에도 </a:t>
            </a:r>
            <a:r>
              <a:rPr lang="en-US" altLang="ko-KR" sz="2000" dirty="0"/>
              <a:t>generic</a:t>
            </a:r>
            <a:r>
              <a:rPr lang="ko-KR" altLang="en-US" sz="2000" dirty="0"/>
              <a:t>으로 정해준 </a:t>
            </a:r>
            <a:r>
              <a:rPr lang="en-US" altLang="ko-KR" sz="2000" dirty="0"/>
              <a:t>type</a:t>
            </a:r>
            <a:r>
              <a:rPr lang="ko-KR" altLang="en-US" sz="2000" dirty="0"/>
              <a:t>으로만 변경 가능</a:t>
            </a:r>
            <a:r>
              <a:rPr lang="en-US" altLang="ko-KR" sz="2000" dirty="0"/>
              <a:t>!</a:t>
            </a:r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2400" dirty="0"/>
              <a:t>하지만 </a:t>
            </a:r>
            <a:r>
              <a:rPr lang="en-US" altLang="ko-KR" sz="2400" dirty="0"/>
              <a:t>typescript </a:t>
            </a:r>
            <a:r>
              <a:rPr lang="ko-KR" altLang="en-US" sz="2400" dirty="0"/>
              <a:t>가 </a:t>
            </a:r>
            <a:r>
              <a:rPr lang="ko-KR" altLang="en-US" sz="2400" dirty="0">
                <a:solidFill>
                  <a:srgbClr val="002060"/>
                </a:solidFill>
              </a:rPr>
              <a:t>타입 유추</a:t>
            </a:r>
            <a:r>
              <a:rPr lang="ko-KR" altLang="en-US" sz="2400" dirty="0"/>
              <a:t>를 알아서 잘 합니다</a:t>
            </a:r>
            <a:r>
              <a:rPr lang="en-US" altLang="ko-KR" sz="2400" dirty="0"/>
              <a:t>.</a:t>
            </a:r>
          </a:p>
          <a:p>
            <a:r>
              <a:rPr lang="ko-KR" altLang="en-US" sz="2400" dirty="0"/>
              <a:t>기본적으로는 </a:t>
            </a:r>
            <a:r>
              <a:rPr lang="en-US" altLang="ko-KR" sz="2400" dirty="0" err="1"/>
              <a:t>useState</a:t>
            </a:r>
            <a:r>
              <a:rPr lang="ko-KR" altLang="en-US" sz="2400" dirty="0"/>
              <a:t>를 사용할 때 </a:t>
            </a:r>
            <a:r>
              <a:rPr lang="en-US" altLang="ko-KR" sz="2400" dirty="0">
                <a:solidFill>
                  <a:srgbClr val="FF9966"/>
                </a:solidFill>
              </a:rPr>
              <a:t>generic</a:t>
            </a:r>
            <a:r>
              <a:rPr lang="ko-KR" altLang="en-US" sz="2400" dirty="0">
                <a:solidFill>
                  <a:srgbClr val="FF9966"/>
                </a:solidFill>
              </a:rPr>
              <a:t>을 쓰지 않아도 괜찮아요</a:t>
            </a:r>
            <a:r>
              <a:rPr lang="en-US" altLang="ko-KR" sz="2400" dirty="0"/>
              <a:t>.</a:t>
            </a:r>
          </a:p>
          <a:p>
            <a:endParaRPr lang="en-US" altLang="ko-KR" sz="1800" dirty="0"/>
          </a:p>
          <a:p>
            <a:r>
              <a:rPr lang="en-US" altLang="ko-KR" sz="2000" dirty="0"/>
              <a:t>state</a:t>
            </a:r>
            <a:r>
              <a:rPr lang="ko-KR" altLang="en-US" sz="2000" dirty="0"/>
              <a:t>의 값이 </a:t>
            </a:r>
            <a:r>
              <a:rPr lang="en-US" altLang="ko-KR" sz="2000" dirty="0"/>
              <a:t>null </a:t>
            </a:r>
            <a:r>
              <a:rPr lang="ko-KR" altLang="en-US" sz="2000" dirty="0"/>
              <a:t>일 수도 있고 아닐 수도 있을 때</a:t>
            </a:r>
            <a:r>
              <a:rPr lang="en-US" altLang="ko-KR" sz="2000" dirty="0"/>
              <a:t>, </a:t>
            </a:r>
            <a:r>
              <a:rPr lang="ko-KR" altLang="en-US" sz="2000" dirty="0"/>
              <a:t>반드시 </a:t>
            </a:r>
            <a:r>
              <a:rPr lang="en-US" altLang="ko-KR" sz="2000" dirty="0"/>
              <a:t>generic</a:t>
            </a:r>
            <a:r>
              <a:rPr lang="ko-KR" altLang="en-US" sz="2000" dirty="0"/>
              <a:t>으로 </a:t>
            </a:r>
            <a:r>
              <a:rPr lang="en-US" altLang="ko-KR" sz="2000" dirty="0"/>
              <a:t>union type </a:t>
            </a:r>
            <a:r>
              <a:rPr lang="ko-KR" altLang="en-US" sz="2000" dirty="0"/>
              <a:t>전달</a:t>
            </a:r>
            <a:r>
              <a:rPr lang="en-US" altLang="ko-KR" sz="2000" dirty="0"/>
              <a:t>!</a:t>
            </a:r>
          </a:p>
          <a:p>
            <a:endParaRPr lang="en-US" altLang="ko-KR" sz="20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useState</a:t>
            </a:r>
            <a:r>
              <a:rPr lang="en-US" altLang="ko-KR" dirty="0"/>
              <a:t> generic </a:t>
            </a:r>
            <a:r>
              <a:rPr lang="en-US" altLang="ko-KR" dirty="0">
                <a:solidFill>
                  <a:srgbClr val="00CC66"/>
                </a:solidFill>
              </a:rPr>
              <a:t>&lt;T&gt;</a:t>
            </a:r>
            <a:endParaRPr lang="ko-KR" altLang="en-US" dirty="0">
              <a:solidFill>
                <a:srgbClr val="00CC66"/>
              </a:solidFill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3855456" y="1420412"/>
            <a:ext cx="6009979" cy="715581"/>
            <a:chOff x="1888512" y="2580454"/>
            <a:chExt cx="6009979" cy="715581"/>
          </a:xfrm>
        </p:grpSpPr>
        <p:sp>
          <p:nvSpPr>
            <p:cNvPr id="4" name="직사각형 3"/>
            <p:cNvSpPr/>
            <p:nvPr/>
          </p:nvSpPr>
          <p:spPr>
            <a:xfrm>
              <a:off x="1888512" y="2580454"/>
              <a:ext cx="6009979" cy="369332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txBody>
            <a:bodyPr wrap="none">
              <a:spAutoFit/>
            </a:bodyPr>
            <a:lstStyle/>
            <a:p>
              <a:r>
                <a:rPr lang="en-US" altLang="ko-KR" i="1" dirty="0" err="1">
                  <a:solidFill>
                    <a:srgbClr val="9D7CD8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const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[</a:t>
              </a:r>
              <a:r>
                <a:rPr lang="en-US" altLang="ko-KR" dirty="0">
                  <a:solidFill>
                    <a:srgbClr val="BB9A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count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,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 err="1">
                  <a:solidFill>
                    <a:srgbClr val="BB9A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setCount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]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=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 err="1">
                  <a:solidFill>
                    <a:srgbClr val="7AA2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useState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&lt;</a:t>
              </a:r>
              <a:r>
                <a:rPr lang="en-US" altLang="ko-KR" dirty="0">
                  <a:solidFill>
                    <a:srgbClr val="0DB9D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number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&gt;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(</a:t>
              </a:r>
              <a:r>
                <a:rPr lang="en-US" altLang="ko-KR" dirty="0">
                  <a:solidFill>
                    <a:srgbClr val="FF9E64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0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)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;</a:t>
              </a:r>
              <a:endPara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endParaRP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1888512" y="2926703"/>
              <a:ext cx="6009979" cy="369332"/>
            </a:xfrm>
            <a:prstGeom prst="rect">
              <a:avLst/>
            </a:prstGeom>
            <a:solidFill>
              <a:schemeClr val="tx1">
                <a:lumMod val="95000"/>
                <a:lumOff val="5000"/>
              </a:schemeClr>
            </a:solidFill>
          </p:spPr>
          <p:txBody>
            <a:bodyPr wrap="square">
              <a:spAutoFit/>
            </a:bodyPr>
            <a:lstStyle/>
            <a:p>
              <a:r>
                <a:rPr lang="en-US" altLang="ko-KR" i="1" dirty="0" err="1">
                  <a:solidFill>
                    <a:srgbClr val="9D7CD8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const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[</a:t>
              </a:r>
              <a:r>
                <a:rPr lang="en-US" altLang="ko-KR" dirty="0">
                  <a:solidFill>
                    <a:srgbClr val="BB9A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text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,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 err="1">
                  <a:solidFill>
                    <a:srgbClr val="BB9A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setText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]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=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 </a:t>
              </a:r>
              <a:r>
                <a:rPr lang="en-US" altLang="ko-KR" dirty="0" err="1">
                  <a:solidFill>
                    <a:srgbClr val="7AA2F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useState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&lt;</a:t>
              </a:r>
              <a:r>
                <a:rPr lang="en-US" altLang="ko-KR" dirty="0">
                  <a:solidFill>
                    <a:srgbClr val="0DB9D7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string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&gt;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(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''</a:t>
              </a:r>
              <a:r>
                <a:rPr lang="en-US" altLang="ko-KR" dirty="0">
                  <a:solidFill>
                    <a:srgbClr val="9ABDF5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)</a:t>
              </a:r>
              <a:r>
                <a:rPr lang="en-US" altLang="ko-KR" dirty="0">
                  <a:solidFill>
                    <a:srgbClr val="89DDFF"/>
                  </a:solidFill>
                  <a:latin typeface="Consolas" panose="020B0609020204030204" pitchFamily="49" charset="0"/>
                  <a:ea typeface="메이플스토리" panose="02000300000000000000" pitchFamily="2" charset="-127"/>
                </a:rPr>
                <a:t>;</a:t>
              </a:r>
              <a:endParaRPr lang="en-US" altLang="ko-KR" b="0" dirty="0">
                <a:solidFill>
                  <a:srgbClr val="A9B1D6"/>
                </a:solidFill>
                <a:effectLst/>
                <a:latin typeface="Consolas" panose="020B0609020204030204" pitchFamily="49" charset="0"/>
                <a:ea typeface="메이플스토리" panose="02000300000000000000" pitchFamily="2" charset="-127"/>
              </a:endParaRPr>
            </a:p>
          </p:txBody>
        </p:sp>
      </p:grpSp>
      <p:sp>
        <p:nvSpPr>
          <p:cNvPr id="6" name="직사각형 5"/>
          <p:cNvSpPr/>
          <p:nvPr/>
        </p:nvSpPr>
        <p:spPr>
          <a:xfrm>
            <a:off x="1159643" y="5104653"/>
            <a:ext cx="6772406" cy="646331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interface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Data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{ </a:t>
            </a:r>
            <a:r>
              <a:rPr lang="en-US" altLang="ko-KR" dirty="0" err="1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name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:</a:t>
            </a:r>
            <a:r>
              <a:rPr lang="en-US" altLang="ko-KR" dirty="0" err="1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string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age</a:t>
            </a:r>
            <a:r>
              <a:rPr lang="en-US" altLang="ko-KR" dirty="0" err="1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:</a:t>
            </a:r>
            <a:r>
              <a:rPr lang="en-US" altLang="ko-KR" dirty="0" err="1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number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endParaRPr lang="en-US" altLang="ko-KR" dirty="0">
              <a:solidFill>
                <a:srgbClr val="A9B1D6"/>
              </a:solidFill>
              <a:latin typeface="Consolas" panose="020B0609020204030204" pitchFamily="49" charset="0"/>
              <a:ea typeface="메이플스토리" panose="02000300000000000000" pitchFamily="2" charset="-127"/>
            </a:endParaRPr>
          </a:p>
          <a:p>
            <a:r>
              <a:rPr lang="en-US" altLang="ko-KR" i="1" dirty="0" err="1">
                <a:solidFill>
                  <a:srgbClr val="9D7CD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const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[</a:t>
            </a:r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data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,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setData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]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=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useState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null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|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Data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FF9E64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null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235765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ko-KR" altLang="en-US" sz="2400" dirty="0"/>
              <a:t>값</a:t>
            </a:r>
            <a:r>
              <a:rPr lang="en-US" altLang="ko-KR" sz="2400" dirty="0"/>
              <a:t> </a:t>
            </a:r>
            <a:r>
              <a:rPr lang="ko-KR" altLang="en-US" sz="2400" dirty="0"/>
              <a:t>저장</a:t>
            </a:r>
            <a:endParaRPr lang="en-US" altLang="ko-KR" sz="2400" dirty="0"/>
          </a:p>
          <a:p>
            <a:pPr lvl="1"/>
            <a:r>
              <a:rPr lang="ko-KR" altLang="en-US" sz="2000" dirty="0"/>
              <a:t>초기값에 대한 </a:t>
            </a:r>
            <a:r>
              <a:rPr lang="en-US" altLang="ko-KR" sz="2000" dirty="0"/>
              <a:t>type</a:t>
            </a:r>
            <a:r>
              <a:rPr lang="ko-KR" altLang="en-US" sz="2000" dirty="0"/>
              <a:t>을 </a:t>
            </a:r>
            <a:r>
              <a:rPr lang="en-US" altLang="ko-KR" sz="2000" dirty="0"/>
              <a:t>generic</a:t>
            </a:r>
            <a:r>
              <a:rPr lang="ko-KR" altLang="en-US" sz="2000" dirty="0"/>
              <a:t>으로 작성</a:t>
            </a:r>
            <a:endParaRPr lang="en-US" altLang="ko-KR" sz="2000" dirty="0"/>
          </a:p>
          <a:p>
            <a:endParaRPr lang="en-US" altLang="ko-KR" sz="2400" dirty="0"/>
          </a:p>
          <a:p>
            <a:pPr marL="0" indent="0">
              <a:buNone/>
            </a:pPr>
            <a:endParaRPr lang="en-US" altLang="ko-KR" sz="2400" dirty="0"/>
          </a:p>
          <a:p>
            <a:pPr marL="0" indent="0">
              <a:buNone/>
            </a:pPr>
            <a:r>
              <a:rPr lang="en-US" altLang="ko-KR" sz="2400" dirty="0"/>
              <a:t>2. DOM </a:t>
            </a:r>
            <a:r>
              <a:rPr lang="ko-KR" altLang="en-US" sz="2400" dirty="0"/>
              <a:t>접근</a:t>
            </a:r>
            <a:endParaRPr lang="en-US" altLang="ko-KR" sz="2400" dirty="0"/>
          </a:p>
          <a:p>
            <a:pPr lvl="1"/>
            <a:r>
              <a:rPr lang="en-US" altLang="ko-KR" sz="2000" dirty="0"/>
              <a:t>DOM </a:t>
            </a:r>
            <a:r>
              <a:rPr lang="ko-KR" altLang="en-US" sz="2000" dirty="0"/>
              <a:t>객체에 접근하기 위한 </a:t>
            </a:r>
            <a:r>
              <a:rPr lang="en-US" altLang="ko-KR" sz="2000" dirty="0" err="1"/>
              <a:t>useRef</a:t>
            </a:r>
            <a:r>
              <a:rPr lang="ko-KR" altLang="en-US" sz="2000" dirty="0"/>
              <a:t>의 </a:t>
            </a:r>
            <a:r>
              <a:rPr lang="en-US" altLang="ko-KR" sz="2000" dirty="0"/>
              <a:t>generic</a:t>
            </a:r>
            <a:r>
              <a:rPr lang="ko-KR" altLang="en-US" sz="2000" dirty="0"/>
              <a:t>에는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br>
              <a:rPr lang="en-US" altLang="ko-KR" sz="2000" dirty="0"/>
            </a:br>
            <a:r>
              <a:rPr lang="en-US" altLang="ko-KR" sz="2000" dirty="0"/>
              <a:t>type</a:t>
            </a:r>
            <a:r>
              <a:rPr lang="ko-KR" altLang="en-US" sz="2000" dirty="0"/>
              <a:t>에 </a:t>
            </a:r>
            <a:r>
              <a:rPr lang="en-US" altLang="ko-KR" sz="2000" dirty="0" err="1"/>
              <a:t>HTMLElement</a:t>
            </a:r>
            <a:r>
              <a:rPr lang="en-US" altLang="ko-KR" sz="2000" dirty="0"/>
              <a:t> </a:t>
            </a:r>
            <a:r>
              <a:rPr lang="ko-KR" altLang="en-US" sz="2000" dirty="0"/>
              <a:t>타입 이용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useRef</a:t>
            </a:r>
            <a:r>
              <a:rPr lang="en-US" altLang="ko-KR" dirty="0"/>
              <a:t> generic </a:t>
            </a:r>
            <a:r>
              <a:rPr lang="en-US" altLang="ko-KR" dirty="0">
                <a:solidFill>
                  <a:srgbClr val="00CC66"/>
                </a:solidFill>
              </a:rPr>
              <a:t>&lt;T&gt;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1610051" y="4761468"/>
            <a:ext cx="5756704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>
            <a:spAutoFit/>
          </a:bodyPr>
          <a:lstStyle/>
          <a:p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 </a:t>
            </a:r>
            <a:r>
              <a:rPr lang="en-US" altLang="ko-KR" i="1" dirty="0" err="1">
                <a:solidFill>
                  <a:srgbClr val="9D7CD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const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ref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=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useRef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 err="1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HTMLInputElement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FF9E64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null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1610051" y="2739549"/>
            <a:ext cx="4237057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none">
            <a:spAutoFit/>
          </a:bodyPr>
          <a:lstStyle/>
          <a:p>
            <a:r>
              <a:rPr lang="en-US" altLang="ko-KR" i="1" dirty="0" err="1">
                <a:solidFill>
                  <a:srgbClr val="9D7CD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const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refVal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=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useRef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>
                <a:solidFill>
                  <a:srgbClr val="0DB9D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number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FF9E64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0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66832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sz="2000" dirty="0"/>
              <a:t>click event</a:t>
            </a:r>
            <a:r>
              <a:rPr lang="ko-KR" altLang="en-US" sz="2000" dirty="0"/>
              <a:t>의 </a:t>
            </a:r>
            <a:r>
              <a:rPr lang="en-US" altLang="ko-KR" sz="2000" dirty="0" err="1"/>
              <a:t>e.target</a:t>
            </a:r>
            <a:r>
              <a:rPr lang="en-US" altLang="ko-KR" sz="2000" dirty="0"/>
              <a:t>, </a:t>
            </a:r>
          </a:p>
          <a:p>
            <a:r>
              <a:rPr lang="en-US" altLang="ko-KR" sz="2000" dirty="0" err="1"/>
              <a:t>keydown</a:t>
            </a:r>
            <a:r>
              <a:rPr lang="en-US" altLang="ko-KR" sz="2000" dirty="0"/>
              <a:t> event</a:t>
            </a:r>
            <a:r>
              <a:rPr lang="ko-KR" altLang="en-US" sz="2000" dirty="0"/>
              <a:t>의 </a:t>
            </a:r>
            <a:r>
              <a:rPr lang="en-US" altLang="ko-KR" sz="2000" dirty="0" err="1"/>
              <a:t>e.key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e.code</a:t>
            </a:r>
            <a:endParaRPr lang="en-US" altLang="ko-KR" sz="2000" dirty="0"/>
          </a:p>
          <a:p>
            <a:r>
              <a:rPr lang="en-US" altLang="ko-KR" sz="2000" dirty="0"/>
              <a:t>change event </a:t>
            </a:r>
            <a:r>
              <a:rPr lang="ko-KR" altLang="en-US" sz="2000" dirty="0"/>
              <a:t>의 </a:t>
            </a:r>
            <a:r>
              <a:rPr lang="en-US" altLang="ko-KR" sz="2000" dirty="0" err="1"/>
              <a:t>e.target.value</a:t>
            </a:r>
            <a:r>
              <a:rPr lang="en-US" altLang="ko-KR" sz="2000" dirty="0"/>
              <a:t>, …</a:t>
            </a:r>
          </a:p>
          <a:p>
            <a:endParaRPr lang="en-US" altLang="ko-KR" dirty="0"/>
          </a:p>
          <a:p>
            <a:r>
              <a:rPr lang="en-US" altLang="ko-KR" sz="2400" dirty="0"/>
              <a:t>html </a:t>
            </a:r>
            <a:r>
              <a:rPr lang="ko-KR" altLang="en-US" sz="2400" dirty="0"/>
              <a:t>요소에 이벤트를 적용 할 때</a:t>
            </a:r>
            <a:r>
              <a:rPr lang="en-US" altLang="ko-KR" sz="2400" dirty="0"/>
              <a:t>, </a:t>
            </a:r>
            <a:r>
              <a:rPr lang="ko-KR" altLang="en-US" sz="2400" dirty="0"/>
              <a:t>이벤트가 발생한 요소에 대한 정보가 담겨져 있는 객체</a:t>
            </a:r>
            <a:endParaRPr lang="en-US" altLang="ko-KR" sz="2400" dirty="0"/>
          </a:p>
          <a:p>
            <a:endParaRPr lang="en-US" altLang="ko-KR" sz="2400" dirty="0"/>
          </a:p>
          <a:p>
            <a:r>
              <a:rPr lang="ko-KR" altLang="en-US" sz="2400" dirty="0"/>
              <a:t>매개변수인 </a:t>
            </a:r>
            <a:r>
              <a:rPr lang="en-US" altLang="ko-KR" sz="2400" dirty="0"/>
              <a:t>e</a:t>
            </a:r>
            <a:r>
              <a:rPr lang="ko-KR" altLang="en-US" sz="2400" dirty="0"/>
              <a:t>의 타입은 어떻게 지정해야 할까요</a:t>
            </a:r>
            <a:r>
              <a:rPr lang="en-US" altLang="ko-KR" sz="2400" dirty="0"/>
              <a:t>?</a:t>
            </a:r>
            <a:endParaRPr lang="ko-KR" altLang="en-US" sz="2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 </a:t>
            </a:r>
            <a:r>
              <a:rPr lang="ko-KR" altLang="en-US" dirty="0"/>
              <a:t>객체의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146430" y="4299032"/>
            <a:ext cx="6563639" cy="369332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div</a:t>
            </a:r>
            <a:r>
              <a:rPr lang="en-US" altLang="ko-KR" dirty="0">
                <a:solidFill>
                  <a:srgbClr val="DE5971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 err="1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onClick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=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{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E0AF68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e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r>
              <a:rPr lang="en-US" altLang="ko-KR" dirty="0">
                <a:solidFill>
                  <a:srgbClr val="DE5971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BB9A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=&gt;</a:t>
            </a:r>
            <a:r>
              <a:rPr lang="en-US" altLang="ko-KR" dirty="0">
                <a:solidFill>
                  <a:srgbClr val="DE5971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 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console</a:t>
            </a:r>
            <a:r>
              <a:rPr lang="en-US" altLang="ko-KR" dirty="0">
                <a:solidFill>
                  <a:srgbClr val="89DD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.</a:t>
            </a:r>
            <a:r>
              <a:rPr lang="en-US" altLang="ko-KR" dirty="0">
                <a:solidFill>
                  <a:srgbClr val="7AA2F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log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(</a:t>
            </a:r>
            <a:r>
              <a:rPr lang="en-US" altLang="ko-KR" dirty="0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e</a:t>
            </a:r>
            <a:r>
              <a:rPr lang="en-US" altLang="ko-KR" dirty="0">
                <a:solidFill>
                  <a:srgbClr val="9ABD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)</a:t>
            </a:r>
            <a:r>
              <a:rPr lang="en-US" altLang="ko-KR" dirty="0">
                <a:solidFill>
                  <a:srgbClr val="7DCFFF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}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r>
              <a:rPr lang="en-US" altLang="ko-KR" dirty="0" err="1">
                <a:solidFill>
                  <a:srgbClr val="C0CAF5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onClick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&lt;/</a:t>
            </a:r>
            <a:r>
              <a:rPr lang="en-US" altLang="ko-KR" dirty="0">
                <a:solidFill>
                  <a:srgbClr val="F7768E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div</a:t>
            </a:r>
            <a:r>
              <a:rPr lang="en-US" altLang="ko-KR" dirty="0">
                <a:solidFill>
                  <a:srgbClr val="BA3C97"/>
                </a:solidFill>
                <a:latin typeface="Consolas" panose="020B0609020204030204" pitchFamily="49" charset="0"/>
                <a:ea typeface="메이플스토리" panose="02000300000000000000" pitchFamily="2" charset="-127"/>
              </a:rPr>
              <a:t>&gt;</a:t>
            </a:r>
            <a:endParaRPr lang="en-US" altLang="ko-KR" b="0" dirty="0">
              <a:solidFill>
                <a:srgbClr val="A9B1D6"/>
              </a:solidFill>
              <a:effectLst/>
              <a:latin typeface="Consolas" panose="020B0609020204030204" pitchFamily="49" charset="0"/>
              <a:ea typeface="메이플스토리" panose="02000300000000000000" pitchFamily="2" charset="-127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43653" y="4068199"/>
            <a:ext cx="31101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왼쪽의 </a:t>
            </a:r>
            <a:r>
              <a:rPr lang="en-US" altLang="ko-KR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div</a:t>
            </a:r>
            <a:r>
              <a:rPr lang="ko-KR" altLang="en-US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를 클릭하게 되면</a:t>
            </a:r>
            <a:r>
              <a:rPr lang="en-US" altLang="ko-KR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,</a:t>
            </a:r>
          </a:p>
          <a:p>
            <a:r>
              <a:rPr lang="en-US" altLang="ko-KR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div</a:t>
            </a:r>
            <a:r>
              <a:rPr lang="ko-KR" altLang="en-US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 </a:t>
            </a:r>
            <a:r>
              <a:rPr lang="en-US" altLang="ko-KR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click </a:t>
            </a:r>
            <a:r>
              <a:rPr lang="ko-KR" altLang="en-US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에 대한 정보가 </a:t>
            </a:r>
            <a:r>
              <a:rPr lang="ko-KR" altLang="en-US" sz="1600" dirty="0" err="1">
                <a:latin typeface="메이플스토리" panose="02000300000000000000" pitchFamily="2" charset="-127"/>
                <a:ea typeface="메이플스토리" panose="02000300000000000000" pitchFamily="2" charset="-127"/>
              </a:rPr>
              <a:t>콘솔창에</a:t>
            </a:r>
            <a:endParaRPr lang="en-US" altLang="ko-KR" sz="16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  <a:p>
            <a:r>
              <a:rPr lang="ko-KR" altLang="en-US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출력됩니다</a:t>
            </a:r>
            <a:r>
              <a:rPr lang="en-US" altLang="ko-KR" sz="1600" dirty="0">
                <a:latin typeface="메이플스토리" panose="02000300000000000000" pitchFamily="2" charset="-127"/>
                <a:ea typeface="메이플스토리" panose="02000300000000000000" pitchFamily="2" charset="-127"/>
              </a:rPr>
              <a:t>.</a:t>
            </a:r>
            <a:endParaRPr lang="ko-KR" altLang="en-US" sz="1600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  <p:sp>
        <p:nvSpPr>
          <p:cNvPr id="8" name="오른쪽 화살표 7"/>
          <p:cNvSpPr/>
          <p:nvPr/>
        </p:nvSpPr>
        <p:spPr>
          <a:xfrm>
            <a:off x="7818300" y="4391365"/>
            <a:ext cx="358609" cy="184666"/>
          </a:xfrm>
          <a:prstGeom prst="rightArrow">
            <a:avLst/>
          </a:prstGeom>
          <a:solidFill>
            <a:srgbClr val="FF996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latin typeface="메이플스토리" panose="02000300000000000000" pitchFamily="2" charset="-127"/>
              <a:ea typeface="메이플스토리" panose="020003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9105461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z="2400" dirty="0" err="1"/>
              <a:t>onClick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onDrag</a:t>
            </a:r>
            <a:r>
              <a:rPr lang="en-US" altLang="ko-KR" sz="2400" dirty="0"/>
              <a:t>, .. (click </a:t>
            </a:r>
            <a:r>
              <a:rPr lang="ko-KR" altLang="en-US" sz="2400" dirty="0"/>
              <a:t>과 관련된 </a:t>
            </a:r>
            <a:r>
              <a:rPr lang="en-US" altLang="ko-KR" sz="2400" dirty="0"/>
              <a:t>event </a:t>
            </a:r>
            <a:r>
              <a:rPr lang="ko-KR" altLang="en-US" sz="2400" dirty="0"/>
              <a:t>객체</a:t>
            </a:r>
            <a:r>
              <a:rPr lang="en-US" altLang="ko-KR" sz="2400" dirty="0"/>
              <a:t>)</a:t>
            </a:r>
          </a:p>
          <a:p>
            <a:pPr lvl="1"/>
            <a:r>
              <a:rPr lang="en-US" altLang="ko-KR" sz="2000" dirty="0"/>
              <a:t> </a:t>
            </a:r>
            <a:r>
              <a:rPr lang="en-US" altLang="ko-KR" sz="2000" dirty="0" err="1">
                <a:solidFill>
                  <a:schemeClr val="accent5"/>
                </a:solidFill>
              </a:rPr>
              <a:t>React.MouseEvent</a:t>
            </a:r>
            <a:r>
              <a:rPr lang="en-US" altLang="ko-KR" sz="2000" dirty="0">
                <a:solidFill>
                  <a:srgbClr val="00CC66"/>
                </a:solidFill>
              </a:rPr>
              <a:t>&lt;</a:t>
            </a:r>
            <a:r>
              <a:rPr lang="en-US" altLang="ko-KR" sz="2000" dirty="0" err="1">
                <a:solidFill>
                  <a:srgbClr val="00CC66"/>
                </a:solidFill>
              </a:rPr>
              <a:t>HTMLElement</a:t>
            </a:r>
            <a:r>
              <a:rPr lang="en-US" altLang="ko-KR" sz="2000" dirty="0">
                <a:solidFill>
                  <a:srgbClr val="00CC66"/>
                </a:solidFill>
              </a:rPr>
              <a:t>&gt;</a:t>
            </a:r>
          </a:p>
          <a:p>
            <a:pPr lvl="1"/>
            <a:endParaRPr lang="en-US" altLang="ko-KR" sz="2000" dirty="0">
              <a:solidFill>
                <a:srgbClr val="00CC66"/>
              </a:solidFill>
            </a:endParaRPr>
          </a:p>
          <a:p>
            <a:r>
              <a:rPr lang="en-US" altLang="ko-KR" sz="2400" dirty="0" err="1"/>
              <a:t>onChange</a:t>
            </a:r>
            <a:endParaRPr lang="en-US" altLang="ko-KR" sz="2400" dirty="0"/>
          </a:p>
          <a:p>
            <a:pPr lvl="1"/>
            <a:r>
              <a:rPr lang="en-US" altLang="ko-KR" sz="2000" dirty="0"/>
              <a:t> </a:t>
            </a:r>
            <a:r>
              <a:rPr lang="en-US" altLang="ko-KR" sz="2000" dirty="0" err="1">
                <a:solidFill>
                  <a:schemeClr val="accent5"/>
                </a:solidFill>
              </a:rPr>
              <a:t>React.ChangeEvent</a:t>
            </a:r>
            <a:r>
              <a:rPr lang="en-US" altLang="ko-KR" sz="2000" dirty="0">
                <a:solidFill>
                  <a:srgbClr val="00CC66"/>
                </a:solidFill>
              </a:rPr>
              <a:t>&lt;</a:t>
            </a:r>
            <a:r>
              <a:rPr lang="en-US" altLang="ko-KR" sz="2000" dirty="0" err="1">
                <a:solidFill>
                  <a:srgbClr val="00CC66"/>
                </a:solidFill>
              </a:rPr>
              <a:t>HTMLInputElement</a:t>
            </a:r>
            <a:r>
              <a:rPr lang="en-US" altLang="ko-KR" sz="2000" dirty="0">
                <a:solidFill>
                  <a:srgbClr val="00CC66"/>
                </a:solidFill>
              </a:rPr>
              <a:t>&gt;</a:t>
            </a:r>
          </a:p>
          <a:p>
            <a:pPr lvl="1"/>
            <a:endParaRPr lang="en-US" altLang="ko-KR" sz="2000" dirty="0">
              <a:solidFill>
                <a:srgbClr val="00CC66"/>
              </a:solidFill>
            </a:endParaRPr>
          </a:p>
          <a:p>
            <a:r>
              <a:rPr lang="en-US" altLang="ko-KR" sz="2400" dirty="0" err="1"/>
              <a:t>onKeydown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onKeyup</a:t>
            </a:r>
            <a:r>
              <a:rPr lang="en-US" altLang="ko-KR" sz="2400" dirty="0"/>
              <a:t>, .. (keyboard </a:t>
            </a:r>
            <a:r>
              <a:rPr lang="ko-KR" altLang="en-US" sz="2400" dirty="0"/>
              <a:t>이벤트와 관련된 </a:t>
            </a:r>
            <a:r>
              <a:rPr lang="en-US" altLang="ko-KR" sz="2400" dirty="0"/>
              <a:t>event </a:t>
            </a:r>
            <a:r>
              <a:rPr lang="ko-KR" altLang="en-US" sz="2400" dirty="0"/>
              <a:t>객체</a:t>
            </a:r>
            <a:r>
              <a:rPr lang="en-US" altLang="ko-KR" sz="2400" dirty="0"/>
              <a:t>)</a:t>
            </a:r>
          </a:p>
          <a:p>
            <a:pPr lvl="1"/>
            <a:r>
              <a:rPr lang="en-US" altLang="ko-KR" sz="2000" dirty="0"/>
              <a:t> </a:t>
            </a:r>
            <a:r>
              <a:rPr lang="en-US" altLang="ko-KR" sz="2000" dirty="0" err="1">
                <a:solidFill>
                  <a:schemeClr val="accent5"/>
                </a:solidFill>
              </a:rPr>
              <a:t>React.KeyboardEvent</a:t>
            </a:r>
            <a:r>
              <a:rPr lang="en-US" altLang="ko-KR" sz="2000" dirty="0">
                <a:solidFill>
                  <a:srgbClr val="00CC66"/>
                </a:solidFill>
              </a:rPr>
              <a:t>&lt;</a:t>
            </a:r>
            <a:r>
              <a:rPr lang="en-US" altLang="ko-KR" sz="2000" dirty="0" err="1">
                <a:solidFill>
                  <a:srgbClr val="00CC66"/>
                </a:solidFill>
              </a:rPr>
              <a:t>HTMLInputElement</a:t>
            </a:r>
            <a:r>
              <a:rPr lang="en-US" altLang="ko-KR" sz="2000" dirty="0">
                <a:solidFill>
                  <a:srgbClr val="00CC66"/>
                </a:solidFill>
              </a:rPr>
              <a:t>&gt;</a:t>
            </a:r>
          </a:p>
          <a:p>
            <a:pPr marL="0" indent="0">
              <a:buNone/>
            </a:pPr>
            <a:endParaRPr lang="ko-KR" altLang="en-US" sz="2400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event </a:t>
            </a:r>
            <a:r>
              <a:rPr lang="ko-KR" altLang="en-US" dirty="0"/>
              <a:t>객체의 </a:t>
            </a:r>
            <a:r>
              <a:rPr lang="en-US" altLang="ko-KR" dirty="0"/>
              <a:t>type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886311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2024-08-21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React with TS </a:t>
            </a:r>
            <a:r>
              <a:rPr lang="ko-KR" altLang="en-US" dirty="0"/>
              <a:t>실습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React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[React with TS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[1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번 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66258550"/>
      </p:ext>
    </p:extLst>
  </p:cSld>
  <p:clrMapOvr>
    <a:masterClrMapping/>
  </p:clrMapOvr>
</p:sld>
</file>

<file path=ppt/theme/theme1.xml><?xml version="1.0" encoding="utf-8"?>
<a:theme xmlns:a="http://schemas.openxmlformats.org/drawingml/2006/main" name="3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 GOV">
      <a:majorFont>
        <a:latin typeface="Pretendard GOV"/>
        <a:ea typeface="Pretendard GOV"/>
        <a:cs typeface=""/>
      </a:majorFont>
      <a:minorFont>
        <a:latin typeface="Pretendard GOV"/>
        <a:ea typeface="Pretendard 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1498</TotalTime>
  <Words>641</Words>
  <Application>Microsoft Office PowerPoint</Application>
  <PresentationFormat>와이드스크린</PresentationFormat>
  <Paragraphs>125</Paragraphs>
  <Slides>10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메이플스토리</vt:lpstr>
      <vt:lpstr>Pretendard GOV</vt:lpstr>
      <vt:lpstr>Consolas</vt:lpstr>
      <vt:lpstr>Cascadia Code SemiLight</vt:lpstr>
      <vt:lpstr>Arial</vt:lpstr>
      <vt:lpstr>3_Office 테마</vt:lpstr>
      <vt:lpstr>웹 개발자 부트캠프 과정</vt:lpstr>
      <vt:lpstr>React with TypeScript</vt:lpstr>
      <vt:lpstr>React with Typescript</vt:lpstr>
      <vt:lpstr>props와 interface</vt:lpstr>
      <vt:lpstr>props와 interface</vt:lpstr>
      <vt:lpstr>useState generic &lt;T&gt;</vt:lpstr>
      <vt:lpstr>useRef generic &lt;T&gt;</vt:lpstr>
      <vt:lpstr>event 객체의 type</vt:lpstr>
      <vt:lpstr>event 객체의 type</vt:lpstr>
      <vt:lpstr>실습.   React with TS 실습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Typescript</dc:title>
  <dc:creator>진형 유</dc:creator>
  <cp:lastModifiedBy>On Coding</cp:lastModifiedBy>
  <cp:revision>45</cp:revision>
  <dcterms:created xsi:type="dcterms:W3CDTF">2023-09-18T07:41:25Z</dcterms:created>
  <dcterms:modified xsi:type="dcterms:W3CDTF">2024-08-21T02:51:02Z</dcterms:modified>
</cp:coreProperties>
</file>