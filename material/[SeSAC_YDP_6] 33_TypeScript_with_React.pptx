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11"/>
  </p:notesMasterIdLst>
  <p:sldIdLst>
    <p:sldId id="649" r:id="rId2"/>
    <p:sldId id="650" r:id="rId3"/>
    <p:sldId id="293" r:id="rId4"/>
    <p:sldId id="294" r:id="rId5"/>
    <p:sldId id="299" r:id="rId6"/>
    <p:sldId id="295" r:id="rId7"/>
    <p:sldId id="296" r:id="rId8"/>
    <p:sldId id="297" r:id="rId9"/>
    <p:sldId id="298" r:id="rId10"/>
  </p:sldIdLst>
  <p:sldSz cx="12192000" cy="6858000"/>
  <p:notesSz cx="6858000" cy="9144000"/>
  <p:embeddedFontLst>
    <p:embeddedFont>
      <p:font typeface="메이플스토리" panose="020B0600000101010101" charset="-127"/>
      <p:regular r:id="rId12"/>
      <p:bold r:id="rId13"/>
    </p:embeddedFont>
    <p:embeddedFont>
      <p:font typeface="Cascadia Code SemiLight" panose="020B0600000101010101" charset="0"/>
      <p:regular r:id="rId14"/>
      <p: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00CC66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1" autoAdjust="0"/>
    <p:restoredTop sz="84204" autoAdjust="0"/>
  </p:normalViewPr>
  <p:slideViewPr>
    <p:cSldViewPr snapToGrid="0">
      <p:cViewPr varScale="1">
        <p:scale>
          <a:sx n="110" d="100"/>
          <a:sy n="110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FCB54652-048B-4930-89EC-2DB9C4976659}" type="datetimeFigureOut">
              <a:rPr lang="ko-KR" altLang="en-US" smtClean="0"/>
              <a:pPr/>
              <a:t>2023-10-19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메이플스토리" panose="02000300000000000000" pitchFamily="2" charset="-127"/>
                <a:ea typeface="메이플스토리" panose="02000300000000000000" pitchFamily="2" charset="-127"/>
              </a:defRPr>
            </a:lvl1pPr>
          </a:lstStyle>
          <a:p>
            <a:fld id="{E36974B4-3C72-4F7B-BD8B-CF478B24845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1430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메이플스토리" panose="02000300000000000000" pitchFamily="2" charset="-127"/>
        <a:ea typeface="메이플스토리" panose="020003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82480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974B4-3C72-4F7B-BD8B-CF478B24845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499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typescript </a:t>
            </a:r>
            <a:r>
              <a:rPr lang="ko-KR" altLang="en-US" dirty="0"/>
              <a:t>를 사용하지 않을 때는 </a:t>
            </a:r>
            <a:r>
              <a:rPr lang="en-US" altLang="ko-KR" dirty="0"/>
              <a:t>props</a:t>
            </a:r>
            <a:r>
              <a:rPr lang="ko-KR" altLang="en-US" dirty="0"/>
              <a:t>가 사용되고 있어도 넘겨주지 않아도 됐었지만</a:t>
            </a:r>
            <a:endParaRPr lang="en-US" altLang="ko-KR" dirty="0"/>
          </a:p>
          <a:p>
            <a:r>
              <a:rPr lang="en-US" altLang="ko-KR" dirty="0"/>
              <a:t>typescript</a:t>
            </a:r>
            <a:r>
              <a:rPr lang="ko-KR" altLang="en-US" dirty="0"/>
              <a:t>를 사용한다면</a:t>
            </a:r>
            <a:r>
              <a:rPr lang="en-US" altLang="ko-KR" dirty="0"/>
              <a:t>,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974B4-3C72-4F7B-BD8B-CF478B24845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0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초기값을 </a:t>
            </a:r>
            <a:r>
              <a:rPr lang="en-US" altLang="ko-KR" dirty="0"/>
              <a:t>null</a:t>
            </a:r>
            <a:r>
              <a:rPr lang="ko-KR" altLang="en-US" dirty="0"/>
              <a:t>로 설정하는 </a:t>
            </a:r>
            <a:r>
              <a:rPr lang="ko-KR" altLang="en-US"/>
              <a:t>경우에는 </a:t>
            </a:r>
            <a:r>
              <a:rPr lang="en-US" altLang="ko-KR"/>
              <a:t>typescript</a:t>
            </a:r>
            <a:r>
              <a:rPr lang="ko-KR" altLang="en-US"/>
              <a:t>에서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974B4-3C72-4F7B-BD8B-CF478B248459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421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 err="1">
                <a:solidFill>
                  <a:schemeClr val="tx1"/>
                </a:solidFill>
                <a:effectLst/>
                <a:cs typeface="+mn-cs"/>
              </a:rPr>
              <a:t>useRef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cs typeface="+mn-cs"/>
              </a:rPr>
              <a:t>로 취득하는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cs typeface="+mn-cs"/>
              </a:rPr>
              <a:t>DOM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cs typeface="+mn-cs"/>
              </a:rPr>
              <a:t>은 최초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cs typeface="+mn-cs"/>
              </a:rPr>
              <a:t>mount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cs typeface="+mn-cs"/>
              </a:rPr>
              <a:t>되기 전엔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cs typeface="+mn-cs"/>
              </a:rPr>
              <a:t>null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cs typeface="+mn-cs"/>
              </a:rPr>
              <a:t>이다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cs typeface="+mn-cs"/>
              </a:rPr>
              <a:t>.</a:t>
            </a:r>
          </a:p>
          <a:p>
            <a:r>
              <a:rPr lang="en-US" altLang="ko-KR" dirty="0"/>
              <a:t>https://curryyou.tistory.com/488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6974B4-3C72-4F7B-BD8B-CF478B24845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38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01AB1409-DEDF-C824-D8D3-05B260A93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33" y="103811"/>
            <a:ext cx="4328535" cy="228080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080511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6EC173"/>
                </a:solidFill>
              </a:defRPr>
            </a:lvl1pPr>
          </a:lstStyle>
          <a:p>
            <a:r>
              <a:rPr lang="ko-KR" altLang="en-US" sz="6000" dirty="0" err="1"/>
              <a:t>과정명</a:t>
            </a:r>
            <a:endParaRPr lang="ko-KR" altLang="en-US" sz="6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41092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</a:t>
            </a:r>
          </a:p>
        </p:txBody>
      </p:sp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15" name="부제목 2">
            <a:extLst>
              <a:ext uri="{FF2B5EF4-FFF2-40B4-BE49-F238E27FC236}">
                <a16:creationId xmlns:a16="http://schemas.microsoft.com/office/drawing/2014/main" id="{26026682-DE15-5F01-6FA7-8F46F9ABCC2A}"/>
              </a:ext>
            </a:extLst>
          </p:cNvPr>
          <p:cNvSpPr txBox="1">
            <a:spLocks/>
          </p:cNvSpPr>
          <p:nvPr userDrawn="1"/>
        </p:nvSpPr>
        <p:spPr>
          <a:xfrm>
            <a:off x="9110749" y="5933035"/>
            <a:ext cx="29485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altLang="ko-KR" sz="2000" u="none" dirty="0"/>
              <a:t>With. </a:t>
            </a:r>
            <a:r>
              <a:rPr lang="ko-KR" altLang="en-US" sz="2000" u="none" dirty="0"/>
              <a:t>팀 </a:t>
            </a:r>
            <a:r>
              <a:rPr lang="ko-KR" altLang="en-US" sz="2000" u="none" dirty="0" err="1"/>
              <a:t>뤼쳐드</a:t>
            </a:r>
            <a:endParaRPr lang="ko-KR" altLang="en-US" sz="2000" u="none" dirty="0"/>
          </a:p>
        </p:txBody>
      </p:sp>
    </p:spTree>
    <p:extLst>
      <p:ext uri="{BB962C8B-B14F-4D97-AF65-F5344CB8AC3E}">
        <p14:creationId xmlns:p14="http://schemas.microsoft.com/office/powerpoint/2010/main" val="1322938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0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2971631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84D0C3-D33B-7107-AB80-D9F33099C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897DBF-398C-9DB6-E916-35AB4FE2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B8D2-7CD5-9B15-8E13-87FF760E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964962A2-A4D4-9231-66A1-E1F593E6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80172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01C5-2723-67A2-7D21-9F39D14C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B1E75F-8FF2-A69A-E094-650EAEFD0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1FDEF-673D-E199-7B54-FFD44BA29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A7087-D460-46DD-B430-F8D9B9677D08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E7B47C-D16B-1F66-3165-B941B9C6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F13A5C-BE81-C46F-5191-E33C5F0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62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9A2ED-4026-CEC5-0F77-74287163E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5CA756-D15D-464E-966E-2DF9AA979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FDC8A21-839F-87B3-9ABB-E0DA07E88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268EA5-E313-8CB5-4A12-914620F47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1BA25-D675-4234-A003-8449BDEEF18E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797BB-0DAF-A25A-8AC2-46D61F5D6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8752A1-1625-10E7-A4F0-2E13719E4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12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7AE7F-26ED-35B6-1BBA-A08CB8ECE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588D8DD-7148-8B19-6172-B0A169CF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8CD1D6-87C8-BD82-7711-368227F17A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208518-1B3C-A417-C6AC-99F9C66D12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43F92-B722-06A6-9A56-0A03BE26C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3532A15-9ECF-C043-5CC2-911757B5A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55C29-A87F-46F0-A24C-6C9F0A4BF6AA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9998F67-77F3-1632-EC3C-114B75C5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B6C1BB-6866-2A3B-A1F3-28B5D93C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26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899283-9B12-5339-3042-B6B67884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7E34E6-ECFD-E5F2-081F-39427DA9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2EDD62-8757-43DB-BAE0-460422B548EA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E04029-E47F-F52E-AF1E-D31E2D400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3665754-DE22-245A-A4D5-FE78A35B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652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E82391-47AE-B4C0-C4C4-22E5D9633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A871B-4800-495F-AC75-93D44C7DEBA5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69BF5EA-4922-4594-BC0D-A1D7F17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7BF1BF-296A-E655-349A-1877369A8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9034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094360-95AE-5B28-BF6B-212680601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D97E12-A7FB-C81A-18C2-34781A068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39CAA1-90A7-601C-BD90-A0DC6A391D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885FF0-6BE8-F11D-CDAC-7E7B63F39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605888-30A6-49BB-95E2-DEAE4E5B09E9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3A67A35-AF67-BDC9-86E1-D6EE283B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8C23707-35CC-08DC-8C13-06293DE52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074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BD7A00-094E-C3F9-1A07-8FD90B7C9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FE9F136-9A64-0D06-F721-734E1E2244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C3BE40-4202-4B4A-C8A7-24945AC6E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D21BA2-CA17-A4B0-BBDD-B3995CC85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39A32-5728-48B8-9F9C-437D214CCAF1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5E2437-D7E8-6CA8-856B-7C81E4CF8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00DA3E-B239-6A01-347D-5321CBE95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9760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DC3B4-86CF-2498-CC6E-A256E4AA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E0FE57-EEBD-DC2E-5AAA-A425A6D59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0A4B4C-46E0-9C94-5EAC-7237CB6A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CC8BA-EBCB-4BF9-8E87-970CE0138376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6647A-6FF5-9F90-2812-CADD48405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AE80C-7F7A-130E-8BD8-5BA97658E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445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58AC244-4A84-09D3-50FB-F934F9F47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03D64C9-D76D-C43E-C82B-A315CE73F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0D0D7C-1A4D-433C-79F6-2C0633D1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9FA6E-4699-4AC6-B2CB-4E60A58ED7A8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3F9A77-28DF-C409-13B2-D20C80BB4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466F88-F4F1-E00D-DC2A-8DBEA2707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218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396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DE65-2350-3072-3D26-AE091FE723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7971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91C14A-5735-4A8B-B68B-DEC1DC2A3813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60F7DA-0F14-8211-C3E8-B6E466EE4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8DDAAB-9487-BAAF-7209-B8E704131B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797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6EC173"/>
          </a:solidFill>
          <a:ln>
            <a:solidFill>
              <a:srgbClr val="6EC1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CFFA81A6-6D9A-9C22-6A01-103FCC7108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hq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4576" y="140110"/>
            <a:ext cx="1026976" cy="2051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8CEA0B-0194-B9A0-705F-CAB04B3523DA}"/>
              </a:ext>
            </a:extLst>
          </p:cNvPr>
          <p:cNvSpPr txBox="1"/>
          <p:nvPr userDrawn="1"/>
        </p:nvSpPr>
        <p:spPr>
          <a:xfrm>
            <a:off x="10814758" y="104713"/>
            <a:ext cx="2270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schemeClr val="tx1"/>
                </a:solidFill>
              </a:rPr>
              <a:t>X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pic>
        <p:nvPicPr>
          <p:cNvPr id="11" name="Picture 4" descr="청년취업사관학교, 새싹(SeSAC) - YouTube">
            <a:extLst>
              <a:ext uri="{FF2B5EF4-FFF2-40B4-BE49-F238E27FC236}">
                <a16:creationId xmlns:a16="http://schemas.microsoft.com/office/drawing/2014/main" id="{AD5D531A-42B5-6D12-7A47-FFEB75D29C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hq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2653" y="54125"/>
            <a:ext cx="371243" cy="371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5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웹 개발자 부트캠프 과정</a:t>
            </a: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2800" dirty="0" err="1"/>
              <a:t>SeSAC</a:t>
            </a:r>
            <a:r>
              <a:rPr lang="en-US" altLang="ko-KR" sz="2800" dirty="0"/>
              <a:t> x </a:t>
            </a:r>
            <a:r>
              <a:rPr lang="en-US" altLang="ko-KR" sz="2800" dirty="0" err="1"/>
              <a:t>CODINGOn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0223B3B-2FCF-58AF-BC81-E9824EB6B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02FB7-A3D0-4BF4-B23F-90A4C3B73A56}" type="datetime6">
              <a:rPr lang="ko-KR" altLang="en-US" smtClean="0"/>
              <a:t>2023년 10월</a:t>
            </a:fld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7112DC-52CD-A148-06F6-6813E1A67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293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2023년 10월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7200" dirty="0"/>
              <a:t>React with TypeScript</a:t>
            </a:r>
            <a:endParaRPr lang="ko-KR" altLang="en-US" sz="7200" dirty="0"/>
          </a:p>
        </p:txBody>
      </p:sp>
    </p:spTree>
    <p:extLst>
      <p:ext uri="{BB962C8B-B14F-4D97-AF65-F5344CB8AC3E}">
        <p14:creationId xmlns:p14="http://schemas.microsoft.com/office/powerpoint/2010/main" val="1949388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036227-73E9-6A99-990D-3F67B6102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 만들기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/>
              <a:t>참고</a:t>
            </a:r>
            <a:r>
              <a:rPr lang="en-US" altLang="ko-KR" dirty="0"/>
              <a:t>) </a:t>
            </a:r>
            <a:r>
              <a:rPr lang="ko-KR" altLang="en-US" dirty="0"/>
              <a:t>기존 프로젝트에 </a:t>
            </a:r>
            <a:r>
              <a:rPr lang="en-US" altLang="ko-KR" dirty="0"/>
              <a:t>typescript </a:t>
            </a:r>
            <a:r>
              <a:rPr lang="ko-KR" altLang="en-US" dirty="0"/>
              <a:t>를 적용하고 싶다면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dirty="0"/>
              <a:t>모듈 설치</a:t>
            </a:r>
            <a:r>
              <a:rPr lang="en-US" altLang="ko-KR" dirty="0"/>
              <a:t>! &amp;</a:t>
            </a:r>
          </a:p>
          <a:p>
            <a:pPr lvl="1"/>
            <a:r>
              <a:rPr lang="en-US" altLang="ko-KR" dirty="0" err="1"/>
              <a:t>js</a:t>
            </a:r>
            <a:r>
              <a:rPr lang="en-US" altLang="ko-KR" dirty="0"/>
              <a:t> &amp; </a:t>
            </a:r>
            <a:r>
              <a:rPr lang="en-US" altLang="ko-KR" dirty="0" err="1"/>
              <a:t>jsx</a:t>
            </a:r>
            <a:r>
              <a:rPr lang="en-US" altLang="ko-KR" dirty="0"/>
              <a:t> </a:t>
            </a:r>
            <a:r>
              <a:rPr lang="ko-KR" altLang="en-US" dirty="0"/>
              <a:t>파일을 </a:t>
            </a:r>
            <a:r>
              <a:rPr lang="en-US" altLang="ko-KR" dirty="0" err="1"/>
              <a:t>ts</a:t>
            </a:r>
            <a:r>
              <a:rPr lang="en-US" altLang="ko-KR" dirty="0"/>
              <a:t>, </a:t>
            </a:r>
            <a:r>
              <a:rPr lang="en-US" altLang="ko-KR" dirty="0" err="1"/>
              <a:t>tsx</a:t>
            </a:r>
            <a:r>
              <a:rPr lang="en-US" altLang="ko-KR" dirty="0"/>
              <a:t> </a:t>
            </a:r>
            <a:r>
              <a:rPr lang="ko-KR" altLang="en-US" dirty="0"/>
              <a:t>파일 변경</a:t>
            </a:r>
            <a:endParaRPr lang="en-US" altLang="ko-KR" dirty="0"/>
          </a:p>
          <a:p>
            <a:pPr lvl="1"/>
            <a:r>
              <a:rPr lang="en-US" altLang="ko-KR" dirty="0" err="1"/>
              <a:t>tsconfig.json</a:t>
            </a:r>
            <a:r>
              <a:rPr lang="en-US" altLang="ko-KR" dirty="0"/>
              <a:t> </a:t>
            </a:r>
            <a:r>
              <a:rPr lang="ko-KR" altLang="en-US" dirty="0"/>
              <a:t>파일</a:t>
            </a:r>
            <a:endParaRPr lang="en-US" altLang="ko-KR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E3C59C-CD0C-BEF4-B0F6-565F091C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React </a:t>
            </a:r>
            <a:r>
              <a:rPr lang="en-US" altLang="ko-KR"/>
              <a:t>with Typescript</a:t>
            </a:r>
            <a:endParaRPr lang="ko-KR" altLang="en-US"/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188927" y="2381870"/>
            <a:ext cx="6652462" cy="276999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npx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create-react-app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ko-KR" altLang="en-US" dirty="0">
                <a:solidFill>
                  <a:srgbClr val="333333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프로젝트이름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 --</a:t>
            </a:r>
            <a:r>
              <a:rPr kumimoji="0" lang="en-US" altLang="ko-KR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template </a:t>
            </a:r>
            <a:r>
              <a:rPr kumimoji="0" lang="ko-KR" altLang="ko-KR" b="0" i="0" u="none" strike="noStrike" cap="none" normalizeH="0" baseline="0" dirty="0" err="1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rPr>
              <a:t>typescript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메이플스토리" panose="02000300000000000000" pitchFamily="2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54180" y="3932823"/>
            <a:ext cx="8240133" cy="307777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400" dirty="0" err="1">
                <a:latin typeface="Cascadia Code SemiLight" panose="020B0609020000020004" pitchFamily="49" charset="0"/>
                <a:ea typeface="메이플스토리" panose="02000300000000000000" pitchFamily="2" charset="-127"/>
                <a:cs typeface="Cascadia Code SemiLight" panose="020B0609020000020004" pitchFamily="49" charset="0"/>
              </a:rPr>
              <a:t>npm</a:t>
            </a:r>
            <a:r>
              <a:rPr lang="en-US" altLang="ko-KR" sz="1400" dirty="0">
                <a:latin typeface="Cascadia Code SemiLight" panose="020B0609020000020004" pitchFamily="49" charset="0"/>
                <a:ea typeface="메이플스토리" panose="02000300000000000000" pitchFamily="2" charset="-127"/>
                <a:cs typeface="Cascadia Code SemiLight" panose="020B0609020000020004" pitchFamily="49" charset="0"/>
              </a:rPr>
              <a:t> install typescript @types/node @types/react @types/react-</a:t>
            </a:r>
            <a:r>
              <a:rPr lang="en-US" altLang="ko-KR" sz="1400" dirty="0" err="1">
                <a:latin typeface="Cascadia Code SemiLight" panose="020B0609020000020004" pitchFamily="49" charset="0"/>
                <a:ea typeface="메이플스토리" panose="02000300000000000000" pitchFamily="2" charset="-127"/>
                <a:cs typeface="Cascadia Code SemiLight" panose="020B0609020000020004" pitchFamily="49" charset="0"/>
              </a:rPr>
              <a:t>dom</a:t>
            </a:r>
            <a:r>
              <a:rPr lang="en-US" altLang="ko-KR" sz="1400" dirty="0">
                <a:latin typeface="Cascadia Code SemiLight" panose="020B0609020000020004" pitchFamily="49" charset="0"/>
                <a:ea typeface="메이플스토리" panose="02000300000000000000" pitchFamily="2" charset="-127"/>
                <a:cs typeface="Cascadia Code SemiLight" panose="020B0609020000020004" pitchFamily="49" charset="0"/>
              </a:rPr>
              <a:t> @types/jest</a:t>
            </a:r>
            <a:endParaRPr lang="ko-KR" altLang="en-US" sz="1400" dirty="0">
              <a:latin typeface="Cascadia Code SemiLight" panose="020B0609020000020004" pitchFamily="49" charset="0"/>
              <a:ea typeface="메이플스토리" panose="02000300000000000000" pitchFamily="2" charset="-127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12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를 이용해서 데이터를 상위 </a:t>
            </a:r>
            <a:r>
              <a:rPr lang="ko-KR" altLang="en-US" dirty="0" err="1"/>
              <a:t>컴포넌트에게</a:t>
            </a:r>
            <a:r>
              <a:rPr lang="ko-KR" altLang="en-US" dirty="0"/>
              <a:t> 받을 때는 </a:t>
            </a:r>
            <a:r>
              <a:rPr lang="en-US" altLang="ko-KR" dirty="0"/>
              <a:t>props </a:t>
            </a:r>
            <a:r>
              <a:rPr lang="ko-KR" altLang="en-US" dirty="0"/>
              <a:t>가 어떤 형태로 넘어오는지 </a:t>
            </a:r>
            <a:r>
              <a:rPr lang="en-US" altLang="ko-KR" dirty="0"/>
              <a:t>type</a:t>
            </a:r>
            <a:r>
              <a:rPr lang="ko-KR" altLang="en-US" dirty="0"/>
              <a:t>을 미리 적어둬야 함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와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5543964" y="2782945"/>
            <a:ext cx="6096000" cy="3139321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interface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Props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: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string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</a:p>
          <a:p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function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PropsType1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E0AF6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}: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Props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</a:t>
            </a:r>
            <a:r>
              <a:rPr lang="en-US" altLang="ko-KR" i="1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return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(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h2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Hello 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&lt;/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h2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&lt;/&gt;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319519" y="3918585"/>
            <a:ext cx="767217" cy="31055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962415" y="3115119"/>
            <a:ext cx="4295385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function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PropsType1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E0AF6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r>
              <a:rPr lang="en-US" altLang="ko-KR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</a:t>
            </a:r>
            <a:r>
              <a:rPr lang="en-US" altLang="ko-KR" i="1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return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(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h2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Hello 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&lt;/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h2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  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&lt;/&gt;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9688" y="5222190"/>
            <a:ext cx="4562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jsx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사용한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react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props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받아오는 법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46445" y="5930565"/>
            <a:ext cx="5849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typescript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사용하는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react 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에서 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props</a:t>
            </a:r>
            <a:r>
              <a:rPr lang="ko-KR" altLang="en-US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받아오는 법</a:t>
            </a:r>
            <a:r>
              <a:rPr lang="en-US" altLang="ko-KR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590415" y="2820523"/>
            <a:ext cx="2254162" cy="90758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487073">
            <a:off x="7897008" y="2944511"/>
            <a:ext cx="1449724" cy="1506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75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상위 컴포넌트에서 </a:t>
            </a:r>
            <a:r>
              <a:rPr lang="en-US" altLang="ko-KR" sz="2400" dirty="0"/>
              <a:t>prop</a:t>
            </a:r>
            <a:r>
              <a:rPr lang="ko-KR" altLang="en-US" sz="2400" dirty="0"/>
              <a:t>를 넘겨줄 때</a:t>
            </a:r>
            <a:r>
              <a:rPr lang="en-US" altLang="ko-KR" sz="2400" dirty="0"/>
              <a:t>, </a:t>
            </a:r>
            <a:r>
              <a:rPr lang="ko-KR" altLang="en-US" sz="2400" dirty="0"/>
              <a:t>정의된 </a:t>
            </a:r>
            <a:r>
              <a:rPr lang="en-US" altLang="ko-KR" sz="2400" dirty="0"/>
              <a:t>props</a:t>
            </a:r>
            <a:r>
              <a:rPr lang="ko-KR" altLang="en-US" sz="2400" dirty="0"/>
              <a:t>라면 반드시 넘겨줘야 함</a:t>
            </a:r>
            <a:r>
              <a:rPr lang="en-US" altLang="ko-KR" sz="2400" dirty="0"/>
              <a:t>.</a:t>
            </a:r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넘겨주고 싶지 않은 </a:t>
            </a:r>
            <a:r>
              <a:rPr lang="en-US" altLang="ko-KR" sz="2400" dirty="0"/>
              <a:t>props</a:t>
            </a:r>
            <a:r>
              <a:rPr lang="ko-KR" altLang="en-US" sz="2400" dirty="0"/>
              <a:t>가 있다면</a:t>
            </a:r>
            <a:r>
              <a:rPr lang="en-US" altLang="ko-KR" sz="2400" dirty="0"/>
              <a:t> </a:t>
            </a:r>
            <a:r>
              <a:rPr lang="ko-KR" altLang="en-US" sz="2400" dirty="0"/>
              <a:t>→</a:t>
            </a:r>
            <a:r>
              <a:rPr lang="en-US" altLang="ko-KR" sz="2400" dirty="0"/>
              <a:t> </a:t>
            </a:r>
            <a:r>
              <a:rPr lang="en-US" altLang="ko-KR" sz="2400" dirty="0">
                <a:solidFill>
                  <a:schemeClr val="accent1"/>
                </a:solidFill>
              </a:rPr>
              <a:t>?</a:t>
            </a:r>
            <a:r>
              <a:rPr lang="en-US" altLang="ko-KR" sz="2400" dirty="0"/>
              <a:t> </a:t>
            </a:r>
            <a:r>
              <a:rPr lang="ko-KR" altLang="en-US" sz="2400" dirty="0"/>
              <a:t>를</a:t>
            </a:r>
            <a:r>
              <a:rPr lang="en-US" altLang="ko-KR" sz="2400" dirty="0"/>
              <a:t> </a:t>
            </a:r>
            <a:r>
              <a:rPr lang="ko-KR" altLang="en-US" sz="2400" dirty="0"/>
              <a:t>이용</a:t>
            </a:r>
            <a:r>
              <a:rPr lang="en-US" altLang="ko-KR" sz="2400" dirty="0"/>
              <a:t>!</a:t>
            </a:r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				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props</a:t>
            </a:r>
            <a:r>
              <a:rPr lang="ko-KR" altLang="en-US" dirty="0"/>
              <a:t>와 </a:t>
            </a:r>
            <a:r>
              <a:rPr lang="en-US" altLang="ko-KR" dirty="0"/>
              <a:t>interface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245" y="2417576"/>
            <a:ext cx="6106461" cy="1795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075" y="3324332"/>
            <a:ext cx="36086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하위 컴포넌트에서 </a:t>
            </a:r>
            <a:endParaRPr lang="en-US" altLang="ko-KR" dirty="0">
              <a:solidFill>
                <a:schemeClr val="accent5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interface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로 정의된 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props</a:t>
            </a:r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들은 </a:t>
            </a:r>
            <a:endParaRPr lang="en-US" altLang="ko-KR" dirty="0">
              <a:solidFill>
                <a:schemeClr val="accent5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사용되지 않더라도 넘겨주어야 합니다</a:t>
            </a:r>
            <a:r>
              <a:rPr lang="en-US" altLang="ko-KR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dirty="0">
              <a:solidFill>
                <a:schemeClr val="accent5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238206" y="5170993"/>
            <a:ext cx="2425874" cy="8617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interface</a:t>
            </a:r>
            <a:r>
              <a:rPr lang="en-US" altLang="ko-KR" sz="1600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sz="1600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Props</a:t>
            </a:r>
            <a:r>
              <a:rPr lang="en-US" altLang="ko-KR" sz="1600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sz="1600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endParaRPr lang="en-US" altLang="ko-KR" sz="1600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sz="1600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 </a:t>
            </a:r>
            <a:r>
              <a:rPr lang="en-US" altLang="ko-KR" sz="1600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?:</a:t>
            </a:r>
            <a:r>
              <a:rPr lang="en-US" altLang="ko-KR" sz="1600" dirty="0">
                <a:solidFill>
                  <a:srgbClr val="A9B1D6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sz="1600" dirty="0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string</a:t>
            </a:r>
            <a:r>
              <a:rPr lang="en-US" altLang="ko-KR" sz="1600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endParaRPr lang="en-US" altLang="ko-KR" sz="1600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sz="1600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endParaRPr lang="en-US" altLang="ko-KR" sz="1600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925" y="5307705"/>
            <a:ext cx="1657350" cy="6191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90522" y="5292317"/>
            <a:ext cx="40032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name</a:t>
            </a:r>
            <a:r>
              <a:rPr lang="ko-KR" altLang="en-US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이라는 </a:t>
            </a:r>
            <a:r>
              <a:rPr lang="en-US" altLang="ko-KR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key</a:t>
            </a:r>
            <a:r>
              <a:rPr lang="ko-KR" altLang="en-US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물음표</a:t>
            </a:r>
            <a:r>
              <a:rPr lang="en-US" altLang="ko-KR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(?)</a:t>
            </a:r>
            <a:r>
              <a:rPr lang="ko-KR" altLang="en-US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붙여</a:t>
            </a:r>
            <a:endParaRPr lang="en-US" altLang="ko-KR" sz="1600" dirty="0">
              <a:solidFill>
                <a:schemeClr val="accent5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en-US" altLang="ko-KR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props</a:t>
            </a:r>
            <a:r>
              <a:rPr lang="ko-KR" altLang="en-US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전달하지 않아도 됩니다</a:t>
            </a:r>
            <a:r>
              <a:rPr lang="en-US" altLang="ko-KR" sz="1600" dirty="0">
                <a:solidFill>
                  <a:schemeClr val="accent5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. (optional)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0822" y="5201770"/>
            <a:ext cx="739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dirty="0">
                <a:solidFill>
                  <a:schemeClr val="accent1"/>
                </a:solidFill>
                <a:latin typeface="메이플스토리" panose="02000300000000000000" pitchFamily="2" charset="-127"/>
                <a:ea typeface="메이플스토리" panose="02000300000000000000" pitchFamily="2" charset="-127"/>
              </a:rPr>
              <a:t>→</a:t>
            </a:r>
            <a:endParaRPr lang="ko-KR" altLang="en-US" sz="4800" dirty="0">
              <a:solidFill>
                <a:schemeClr val="accent1"/>
              </a:solidFill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2506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generic </a:t>
            </a:r>
            <a:r>
              <a:rPr lang="ko-KR" altLang="en-US" sz="2400" dirty="0"/>
              <a:t>함께 쓰기</a:t>
            </a:r>
            <a:endParaRPr lang="en-US" altLang="ko-KR" sz="2400" dirty="0"/>
          </a:p>
          <a:p>
            <a:pPr lvl="1"/>
            <a:r>
              <a:rPr lang="ko-KR" altLang="en-US" sz="2000" dirty="0"/>
              <a:t>초기값에 대한 </a:t>
            </a:r>
            <a:r>
              <a:rPr lang="en-US" altLang="ko-KR" sz="2000" dirty="0"/>
              <a:t>type</a:t>
            </a:r>
            <a:r>
              <a:rPr lang="ko-KR" altLang="en-US" sz="2000" dirty="0"/>
              <a:t>을 </a:t>
            </a:r>
            <a:r>
              <a:rPr lang="en-US" altLang="ko-KR" sz="2000" dirty="0"/>
              <a:t>generic</a:t>
            </a:r>
            <a:r>
              <a:rPr lang="ko-KR" altLang="en-US" sz="2000" dirty="0"/>
              <a:t>을 이용해서 설정</a:t>
            </a:r>
            <a:endParaRPr lang="en-US" altLang="ko-KR" sz="2000" dirty="0"/>
          </a:p>
          <a:p>
            <a:pPr lvl="1"/>
            <a:r>
              <a:rPr lang="ko-KR" altLang="en-US" sz="2000" dirty="0"/>
              <a:t>물론 </a:t>
            </a:r>
            <a:r>
              <a:rPr lang="en-US" altLang="ko-KR" sz="2000" dirty="0" err="1"/>
              <a:t>setState</a:t>
            </a:r>
            <a:r>
              <a:rPr lang="ko-KR" altLang="en-US" sz="2000" dirty="0"/>
              <a:t> 이용해서 </a:t>
            </a:r>
            <a:r>
              <a:rPr lang="en-US" altLang="ko-KR" sz="2000" dirty="0"/>
              <a:t>state</a:t>
            </a:r>
            <a:r>
              <a:rPr lang="ko-KR" altLang="en-US" sz="2000" dirty="0"/>
              <a:t>를 변경할 때에도 </a:t>
            </a:r>
            <a:r>
              <a:rPr lang="en-US" altLang="ko-KR" sz="2000" dirty="0"/>
              <a:t>generic</a:t>
            </a:r>
            <a:r>
              <a:rPr lang="ko-KR" altLang="en-US" sz="2000" dirty="0"/>
              <a:t>으로 정해준 </a:t>
            </a:r>
            <a:r>
              <a:rPr lang="en-US" altLang="ko-KR" sz="2000" dirty="0"/>
              <a:t>type</a:t>
            </a:r>
            <a:r>
              <a:rPr lang="ko-KR" altLang="en-US" sz="2000" dirty="0"/>
              <a:t>으로만 변경 가능</a:t>
            </a:r>
            <a:r>
              <a:rPr lang="en-US" altLang="ko-KR" sz="2000" dirty="0"/>
              <a:t>!</a:t>
            </a:r>
          </a:p>
          <a:p>
            <a:pPr marL="0" indent="0">
              <a:buNone/>
            </a:pPr>
            <a:endParaRPr lang="en-US" altLang="ko-KR" sz="1400" dirty="0"/>
          </a:p>
          <a:p>
            <a:r>
              <a:rPr lang="ko-KR" altLang="en-US" sz="2400" dirty="0"/>
              <a:t>하지만 </a:t>
            </a:r>
            <a:r>
              <a:rPr lang="en-US" altLang="ko-KR" sz="2400" dirty="0"/>
              <a:t>typescript </a:t>
            </a:r>
            <a:r>
              <a:rPr lang="ko-KR" altLang="en-US" sz="2400" dirty="0"/>
              <a:t>가 </a:t>
            </a:r>
            <a:r>
              <a:rPr lang="ko-KR" altLang="en-US" sz="2400" dirty="0">
                <a:solidFill>
                  <a:srgbClr val="002060"/>
                </a:solidFill>
              </a:rPr>
              <a:t>타입 유추</a:t>
            </a:r>
            <a:r>
              <a:rPr lang="ko-KR" altLang="en-US" sz="2400" dirty="0"/>
              <a:t>를 알아서 잘 합니다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기본적으로는 </a:t>
            </a:r>
            <a:r>
              <a:rPr lang="en-US" altLang="ko-KR" sz="2400" dirty="0" err="1"/>
              <a:t>useState</a:t>
            </a:r>
            <a:r>
              <a:rPr lang="ko-KR" altLang="en-US" sz="2400" dirty="0"/>
              <a:t>를 사용할 때 </a:t>
            </a:r>
            <a:r>
              <a:rPr lang="en-US" altLang="ko-KR" sz="2400" dirty="0">
                <a:solidFill>
                  <a:srgbClr val="FF9966"/>
                </a:solidFill>
              </a:rPr>
              <a:t>generic</a:t>
            </a:r>
            <a:r>
              <a:rPr lang="ko-KR" altLang="en-US" sz="2400" dirty="0">
                <a:solidFill>
                  <a:srgbClr val="FF9966"/>
                </a:solidFill>
              </a:rPr>
              <a:t>을 쓰지 않아도 괜찮아요</a:t>
            </a:r>
            <a:r>
              <a:rPr lang="en-US" altLang="ko-KR" sz="2400" dirty="0"/>
              <a:t>.</a:t>
            </a:r>
          </a:p>
          <a:p>
            <a:endParaRPr lang="en-US" altLang="ko-KR" sz="1800" dirty="0"/>
          </a:p>
          <a:p>
            <a:r>
              <a:rPr lang="en-US" altLang="ko-KR" sz="2000" dirty="0"/>
              <a:t>state</a:t>
            </a:r>
            <a:r>
              <a:rPr lang="ko-KR" altLang="en-US" sz="2000" dirty="0"/>
              <a:t>의 값이 </a:t>
            </a:r>
            <a:r>
              <a:rPr lang="en-US" altLang="ko-KR" sz="2000" dirty="0"/>
              <a:t>null </a:t>
            </a:r>
            <a:r>
              <a:rPr lang="ko-KR" altLang="en-US" sz="2000" dirty="0"/>
              <a:t>일 수도 있고 아닐 수도 있을 때</a:t>
            </a:r>
            <a:r>
              <a:rPr lang="en-US" altLang="ko-KR" sz="2000" dirty="0"/>
              <a:t>, </a:t>
            </a:r>
            <a:r>
              <a:rPr lang="ko-KR" altLang="en-US" sz="2000" dirty="0"/>
              <a:t>반드시 </a:t>
            </a:r>
            <a:r>
              <a:rPr lang="en-US" altLang="ko-KR" sz="2000" dirty="0"/>
              <a:t>generic</a:t>
            </a:r>
            <a:r>
              <a:rPr lang="ko-KR" altLang="en-US" sz="2000" dirty="0"/>
              <a:t>으로 </a:t>
            </a:r>
            <a:r>
              <a:rPr lang="en-US" altLang="ko-KR" sz="2000" dirty="0"/>
              <a:t>union type </a:t>
            </a:r>
            <a:r>
              <a:rPr lang="ko-KR" altLang="en-US" sz="2000" dirty="0"/>
              <a:t>전달</a:t>
            </a:r>
            <a:r>
              <a:rPr lang="en-US" altLang="ko-KR" sz="2000" dirty="0"/>
              <a:t>!</a:t>
            </a:r>
          </a:p>
          <a:p>
            <a:endParaRPr lang="en-US" altLang="ko-KR" sz="20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useState</a:t>
            </a:r>
            <a:r>
              <a:rPr lang="en-US" altLang="ko-KR" dirty="0"/>
              <a:t> generic </a:t>
            </a:r>
            <a:r>
              <a:rPr lang="en-US" altLang="ko-KR" dirty="0">
                <a:solidFill>
                  <a:srgbClr val="00CC66"/>
                </a:solidFill>
              </a:rPr>
              <a:t>&lt;T&gt;</a:t>
            </a:r>
            <a:endParaRPr lang="ko-KR" altLang="en-US" dirty="0">
              <a:solidFill>
                <a:srgbClr val="00CC66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3855456" y="1420412"/>
            <a:ext cx="6009979" cy="715581"/>
            <a:chOff x="1888512" y="2580454"/>
            <a:chExt cx="6009979" cy="715581"/>
          </a:xfrm>
        </p:grpSpPr>
        <p:sp>
          <p:nvSpPr>
            <p:cNvPr id="4" name="직사각형 3"/>
            <p:cNvSpPr/>
            <p:nvPr/>
          </p:nvSpPr>
          <p:spPr>
            <a:xfrm>
              <a:off x="1888512" y="2580454"/>
              <a:ext cx="6009979" cy="36933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none">
              <a:spAutoFit/>
            </a:bodyPr>
            <a:lstStyle/>
            <a:p>
              <a:r>
                <a:rPr lang="en-US" altLang="ko-KR" i="1" dirty="0" err="1">
                  <a:solidFill>
                    <a:srgbClr val="9D7CD8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const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[</a:t>
              </a:r>
              <a:r>
                <a:rPr lang="en-US" altLang="ko-KR" dirty="0">
                  <a:solidFill>
                    <a:srgbClr val="BB9A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count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,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 err="1">
                  <a:solidFill>
                    <a:srgbClr val="BB9A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setCount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]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=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 err="1">
                  <a:solidFill>
                    <a:srgbClr val="7AA2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useState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&lt;</a:t>
              </a:r>
              <a:r>
                <a:rPr lang="en-US" altLang="ko-KR" dirty="0">
                  <a:solidFill>
                    <a:srgbClr val="0DB9D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number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&gt;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(</a:t>
              </a:r>
              <a:r>
                <a:rPr lang="en-US" altLang="ko-KR" dirty="0">
                  <a:solidFill>
                    <a:srgbClr val="FF9E64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0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)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;</a:t>
              </a:r>
              <a:endPara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1888512" y="2926703"/>
              <a:ext cx="6009979" cy="369332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ko-KR" i="1" dirty="0" err="1">
                  <a:solidFill>
                    <a:srgbClr val="9D7CD8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const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[</a:t>
              </a:r>
              <a:r>
                <a:rPr lang="en-US" altLang="ko-KR" dirty="0">
                  <a:solidFill>
                    <a:srgbClr val="BB9A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text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,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 err="1">
                  <a:solidFill>
                    <a:srgbClr val="BB9A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setText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]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=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 </a:t>
              </a:r>
              <a:r>
                <a:rPr lang="en-US" altLang="ko-KR" dirty="0" err="1">
                  <a:solidFill>
                    <a:srgbClr val="7AA2F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useState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&lt;</a:t>
              </a:r>
              <a:r>
                <a:rPr lang="en-US" altLang="ko-KR" dirty="0">
                  <a:solidFill>
                    <a:srgbClr val="0DB9D7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string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&gt;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(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''</a:t>
              </a:r>
              <a:r>
                <a:rPr lang="en-US" altLang="ko-KR" dirty="0">
                  <a:solidFill>
                    <a:srgbClr val="9ABDF5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)</a:t>
              </a:r>
              <a:r>
                <a:rPr lang="en-US" altLang="ko-KR" dirty="0">
                  <a:solidFill>
                    <a:srgbClr val="89DDFF"/>
                  </a:solidFill>
                  <a:latin typeface="Consolas" panose="020B0609020204030204" pitchFamily="49" charset="0"/>
                  <a:ea typeface="메이플스토리" panose="02000300000000000000" pitchFamily="2" charset="-127"/>
                </a:rPr>
                <a:t>;</a:t>
              </a:r>
              <a:endParaRPr lang="en-US" altLang="ko-KR" b="0" dirty="0">
                <a:solidFill>
                  <a:srgbClr val="A9B1D6"/>
                </a:solidFill>
                <a:effectLst/>
                <a:latin typeface="Consolas" panose="020B0609020204030204" pitchFamily="49" charset="0"/>
                <a:ea typeface="메이플스토리" panose="02000300000000000000" pitchFamily="2" charset="-127"/>
              </a:endParaRPr>
            </a:p>
          </p:txBody>
        </p:sp>
      </p:grpSp>
      <p:sp>
        <p:nvSpPr>
          <p:cNvPr id="6" name="직사각형 5"/>
          <p:cNvSpPr/>
          <p:nvPr/>
        </p:nvSpPr>
        <p:spPr>
          <a:xfrm>
            <a:off x="1159643" y="5104653"/>
            <a:ext cx="6772406" cy="646331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interface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Data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{ </a:t>
            </a:r>
            <a:r>
              <a:rPr lang="en-US" altLang="ko-KR" dirty="0" err="1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name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:</a:t>
            </a:r>
            <a:r>
              <a:rPr lang="en-US" altLang="ko-KR" dirty="0" err="1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string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age</a:t>
            </a:r>
            <a:r>
              <a:rPr lang="en-US" altLang="ko-KR" dirty="0" err="1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:</a:t>
            </a:r>
            <a:r>
              <a:rPr lang="en-US" altLang="ko-KR" dirty="0" err="1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number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endParaRPr lang="en-US" altLang="ko-KR" dirty="0">
              <a:solidFill>
                <a:srgbClr val="A9B1D6"/>
              </a:solidFill>
              <a:latin typeface="Consolas" panose="020B0609020204030204" pitchFamily="49" charset="0"/>
              <a:ea typeface="메이플스토리" panose="02000300000000000000" pitchFamily="2" charset="-127"/>
            </a:endParaRPr>
          </a:p>
          <a:p>
            <a:r>
              <a:rPr lang="en-US" altLang="ko-KR" i="1" dirty="0" err="1">
                <a:solidFill>
                  <a:srgbClr val="9D7CD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const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[</a:t>
            </a:r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data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,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setData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]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=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useState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null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|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Data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FF9E64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null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23576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ko-KR" altLang="en-US" sz="2400" dirty="0"/>
              <a:t>값</a:t>
            </a:r>
            <a:r>
              <a:rPr lang="en-US" altLang="ko-KR" sz="2400" dirty="0"/>
              <a:t> </a:t>
            </a:r>
            <a:r>
              <a:rPr lang="ko-KR" altLang="en-US" sz="2400" dirty="0"/>
              <a:t>저장</a:t>
            </a:r>
            <a:endParaRPr lang="en-US" altLang="ko-KR" sz="2400" dirty="0"/>
          </a:p>
          <a:p>
            <a:pPr lvl="1"/>
            <a:r>
              <a:rPr lang="ko-KR" altLang="en-US" sz="2000" dirty="0"/>
              <a:t>초기값에 대한 </a:t>
            </a:r>
            <a:r>
              <a:rPr lang="en-US" altLang="ko-KR" sz="2000" dirty="0"/>
              <a:t>type</a:t>
            </a:r>
            <a:r>
              <a:rPr lang="ko-KR" altLang="en-US" sz="2000" dirty="0"/>
              <a:t>을 </a:t>
            </a:r>
            <a:r>
              <a:rPr lang="en-US" altLang="ko-KR" sz="2000" dirty="0"/>
              <a:t>generic</a:t>
            </a:r>
            <a:r>
              <a:rPr lang="ko-KR" altLang="en-US" sz="2000" dirty="0"/>
              <a:t>으로 작성</a:t>
            </a:r>
            <a:endParaRPr lang="en-US" altLang="ko-KR" sz="20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DOM </a:t>
            </a:r>
            <a:r>
              <a:rPr lang="ko-KR" altLang="en-US" sz="2400" dirty="0"/>
              <a:t>접근</a:t>
            </a:r>
            <a:endParaRPr lang="en-US" altLang="ko-KR" sz="2400" dirty="0"/>
          </a:p>
          <a:p>
            <a:pPr lvl="1"/>
            <a:r>
              <a:rPr lang="en-US" altLang="ko-KR" sz="2000" dirty="0"/>
              <a:t>DOM </a:t>
            </a:r>
            <a:r>
              <a:rPr lang="ko-KR" altLang="en-US" sz="2000" dirty="0"/>
              <a:t>객체에 접근하기 위한 </a:t>
            </a:r>
            <a:r>
              <a:rPr lang="en-US" altLang="ko-KR" sz="2000" dirty="0" err="1"/>
              <a:t>useRef</a:t>
            </a:r>
            <a:r>
              <a:rPr lang="ko-KR" altLang="en-US" sz="2000" dirty="0"/>
              <a:t>의 </a:t>
            </a:r>
            <a:r>
              <a:rPr lang="en-US" altLang="ko-KR" sz="2000" dirty="0"/>
              <a:t>generic</a:t>
            </a:r>
            <a:r>
              <a:rPr lang="ko-KR" altLang="en-US" sz="2000" dirty="0"/>
              <a:t>에는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br>
              <a:rPr lang="en-US" altLang="ko-KR" sz="2000" dirty="0"/>
            </a:br>
            <a:r>
              <a:rPr lang="en-US" altLang="ko-KR" sz="2000" dirty="0"/>
              <a:t>type</a:t>
            </a:r>
            <a:r>
              <a:rPr lang="ko-KR" altLang="en-US" sz="2000" dirty="0"/>
              <a:t>에 </a:t>
            </a:r>
            <a:r>
              <a:rPr lang="en-US" altLang="ko-KR" sz="2000" dirty="0" err="1"/>
              <a:t>HTMLElement</a:t>
            </a:r>
            <a:r>
              <a:rPr lang="en-US" altLang="ko-KR" sz="2000" dirty="0"/>
              <a:t> </a:t>
            </a:r>
            <a:r>
              <a:rPr lang="ko-KR" altLang="en-US" sz="2000" dirty="0"/>
              <a:t>타입 이용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useRef</a:t>
            </a:r>
            <a:r>
              <a:rPr lang="en-US" altLang="ko-KR" dirty="0"/>
              <a:t> generic </a:t>
            </a:r>
            <a:r>
              <a:rPr lang="en-US" altLang="ko-KR" dirty="0">
                <a:solidFill>
                  <a:srgbClr val="00CC66"/>
                </a:solidFill>
              </a:rPr>
              <a:t>&lt;T&gt;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610051" y="4761468"/>
            <a:ext cx="5756704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 </a:t>
            </a:r>
            <a:r>
              <a:rPr lang="en-US" altLang="ko-KR" i="1" dirty="0" err="1">
                <a:solidFill>
                  <a:srgbClr val="9D7CD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const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ref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=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useRef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 err="1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HTMLInputElement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FF9E64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null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610051" y="2739549"/>
            <a:ext cx="4237057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none">
            <a:spAutoFit/>
          </a:bodyPr>
          <a:lstStyle/>
          <a:p>
            <a:r>
              <a:rPr lang="en-US" altLang="ko-KR" i="1" dirty="0" err="1">
                <a:solidFill>
                  <a:srgbClr val="9D7CD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const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refVal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=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useRef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>
                <a:solidFill>
                  <a:srgbClr val="0DB9D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number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FF9E64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0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6832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dirty="0"/>
              <a:t>click event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e.target</a:t>
            </a:r>
            <a:r>
              <a:rPr lang="en-US" altLang="ko-KR" sz="2000" dirty="0"/>
              <a:t>, </a:t>
            </a:r>
          </a:p>
          <a:p>
            <a:r>
              <a:rPr lang="en-US" altLang="ko-KR" sz="2000" dirty="0" err="1"/>
              <a:t>keydown</a:t>
            </a:r>
            <a:r>
              <a:rPr lang="en-US" altLang="ko-KR" sz="2000" dirty="0"/>
              <a:t> event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e.key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e.code</a:t>
            </a:r>
            <a:endParaRPr lang="en-US" altLang="ko-KR" sz="2000" dirty="0"/>
          </a:p>
          <a:p>
            <a:r>
              <a:rPr lang="en-US" altLang="ko-KR" sz="2000" dirty="0"/>
              <a:t>change event </a:t>
            </a:r>
            <a:r>
              <a:rPr lang="ko-KR" altLang="en-US" sz="2000" dirty="0"/>
              <a:t>의 </a:t>
            </a:r>
            <a:r>
              <a:rPr lang="en-US" altLang="ko-KR" sz="2000" dirty="0" err="1"/>
              <a:t>e.target.value</a:t>
            </a:r>
            <a:r>
              <a:rPr lang="en-US" altLang="ko-KR" sz="2000" dirty="0"/>
              <a:t>, …</a:t>
            </a:r>
          </a:p>
          <a:p>
            <a:endParaRPr lang="en-US" altLang="ko-KR" dirty="0"/>
          </a:p>
          <a:p>
            <a:r>
              <a:rPr lang="en-US" altLang="ko-KR" sz="2400" dirty="0"/>
              <a:t>html </a:t>
            </a:r>
            <a:r>
              <a:rPr lang="ko-KR" altLang="en-US" sz="2400" dirty="0"/>
              <a:t>요소에 이벤트를 적용 할 때</a:t>
            </a:r>
            <a:r>
              <a:rPr lang="en-US" altLang="ko-KR" sz="2400" dirty="0"/>
              <a:t>, </a:t>
            </a:r>
            <a:r>
              <a:rPr lang="ko-KR" altLang="en-US" sz="2400" dirty="0"/>
              <a:t>이벤트가 발생한 요소에 대한 정보가 담겨져 있는 객체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매개변수인 </a:t>
            </a:r>
            <a:r>
              <a:rPr lang="en-US" altLang="ko-KR" sz="2400" dirty="0"/>
              <a:t>e</a:t>
            </a:r>
            <a:r>
              <a:rPr lang="ko-KR" altLang="en-US" sz="2400" dirty="0"/>
              <a:t>의 타입은 어떻게 지정해야 할까요</a:t>
            </a:r>
            <a:r>
              <a:rPr lang="en-US" altLang="ko-KR" sz="2400" dirty="0"/>
              <a:t>?</a:t>
            </a:r>
            <a:endParaRPr lang="ko-KR" altLang="en-US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 </a:t>
            </a:r>
            <a:r>
              <a:rPr lang="ko-KR" altLang="en-US" dirty="0"/>
              <a:t>객체의 </a:t>
            </a:r>
            <a:r>
              <a:rPr lang="en-US" altLang="ko-KR" dirty="0"/>
              <a:t>type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146430" y="4299032"/>
            <a:ext cx="6563639" cy="36933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div</a:t>
            </a:r>
            <a:r>
              <a:rPr lang="en-US" altLang="ko-KR" dirty="0">
                <a:solidFill>
                  <a:srgbClr val="DE5971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 err="1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onClick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=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{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E0AF68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e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r>
              <a:rPr lang="en-US" altLang="ko-KR" dirty="0">
                <a:solidFill>
                  <a:srgbClr val="DE5971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BB9A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=&gt;</a:t>
            </a:r>
            <a:r>
              <a:rPr lang="en-US" altLang="ko-KR" dirty="0">
                <a:solidFill>
                  <a:srgbClr val="DE5971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 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console</a:t>
            </a:r>
            <a:r>
              <a:rPr lang="en-US" altLang="ko-KR" dirty="0">
                <a:solidFill>
                  <a:srgbClr val="89DD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.</a:t>
            </a:r>
            <a:r>
              <a:rPr lang="en-US" altLang="ko-KR" dirty="0">
                <a:solidFill>
                  <a:srgbClr val="7AA2F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log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(</a:t>
            </a:r>
            <a:r>
              <a:rPr lang="en-US" altLang="ko-KR" dirty="0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e</a:t>
            </a:r>
            <a:r>
              <a:rPr lang="en-US" altLang="ko-KR" dirty="0">
                <a:solidFill>
                  <a:srgbClr val="9ABD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)</a:t>
            </a:r>
            <a:r>
              <a:rPr lang="en-US" altLang="ko-KR" dirty="0">
                <a:solidFill>
                  <a:srgbClr val="7DCFFF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}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r>
              <a:rPr lang="en-US" altLang="ko-KR" dirty="0" err="1">
                <a:solidFill>
                  <a:srgbClr val="C0CAF5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onClick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&lt;/</a:t>
            </a:r>
            <a:r>
              <a:rPr lang="en-US" altLang="ko-KR" dirty="0">
                <a:solidFill>
                  <a:srgbClr val="F7768E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div</a:t>
            </a:r>
            <a:r>
              <a:rPr lang="en-US" altLang="ko-KR" dirty="0">
                <a:solidFill>
                  <a:srgbClr val="BA3C97"/>
                </a:solidFill>
                <a:latin typeface="Consolas" panose="020B0609020204030204" pitchFamily="49" charset="0"/>
                <a:ea typeface="메이플스토리" panose="02000300000000000000" pitchFamily="2" charset="-127"/>
              </a:rPr>
              <a:t>&gt;</a:t>
            </a:r>
            <a:endParaRPr lang="en-US" altLang="ko-KR" b="0" dirty="0">
              <a:solidFill>
                <a:srgbClr val="A9B1D6"/>
              </a:solidFill>
              <a:effectLst/>
              <a:latin typeface="Consolas" panose="020B0609020204030204" pitchFamily="49" charset="0"/>
              <a:ea typeface="메이플스토리" panose="02000300000000000000" pitchFamily="2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43653" y="4068199"/>
            <a:ext cx="31101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왼쪽의 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div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를 클릭하게 되면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,</a:t>
            </a:r>
          </a:p>
          <a:p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div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 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click </a:t>
            </a:r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에 대한 정보가 </a:t>
            </a:r>
            <a:r>
              <a:rPr lang="ko-KR" altLang="en-US" sz="1600" dirty="0" err="1">
                <a:latin typeface="메이플스토리" panose="02000300000000000000" pitchFamily="2" charset="-127"/>
                <a:ea typeface="메이플스토리" panose="02000300000000000000" pitchFamily="2" charset="-127"/>
              </a:rPr>
              <a:t>콘솔창에</a:t>
            </a:r>
            <a:endParaRPr lang="en-US" altLang="ko-KR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  <a:p>
            <a:r>
              <a:rPr lang="ko-KR" altLang="en-US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출력됩니다</a:t>
            </a:r>
            <a:r>
              <a:rPr lang="en-US" altLang="ko-KR" sz="1600" dirty="0">
                <a:latin typeface="메이플스토리" panose="02000300000000000000" pitchFamily="2" charset="-127"/>
                <a:ea typeface="메이플스토리" panose="02000300000000000000" pitchFamily="2" charset="-127"/>
              </a:rPr>
              <a:t>.</a:t>
            </a:r>
            <a:endParaRPr lang="ko-KR" altLang="en-US" sz="1600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7818300" y="4391365"/>
            <a:ext cx="358609" cy="184666"/>
          </a:xfrm>
          <a:prstGeom prst="rightArrow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메이플스토리" panose="02000300000000000000" pitchFamily="2" charset="-127"/>
              <a:ea typeface="메이플스토리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054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err="1"/>
              <a:t>onClick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onDrag</a:t>
            </a:r>
            <a:r>
              <a:rPr lang="en-US" altLang="ko-KR" sz="2400" dirty="0"/>
              <a:t>, .. (click </a:t>
            </a:r>
            <a:r>
              <a:rPr lang="ko-KR" altLang="en-US" sz="2400" dirty="0"/>
              <a:t>과 관련된 </a:t>
            </a:r>
            <a:r>
              <a:rPr lang="en-US" altLang="ko-KR" sz="2400" dirty="0"/>
              <a:t>event </a:t>
            </a:r>
            <a:r>
              <a:rPr lang="ko-KR" altLang="en-US" sz="2400" dirty="0"/>
              <a:t>객체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sz="2000" dirty="0"/>
              <a:t> </a:t>
            </a:r>
            <a:r>
              <a:rPr lang="en-US" altLang="ko-KR" sz="2000" dirty="0" err="1">
                <a:solidFill>
                  <a:srgbClr val="00CC66"/>
                </a:solidFill>
              </a:rPr>
              <a:t>React.MouseEvent</a:t>
            </a:r>
            <a:r>
              <a:rPr lang="en-US" altLang="ko-KR" sz="2000" dirty="0">
                <a:solidFill>
                  <a:srgbClr val="00CC66"/>
                </a:solidFill>
              </a:rPr>
              <a:t>&lt;</a:t>
            </a:r>
            <a:r>
              <a:rPr lang="en-US" altLang="ko-KR" sz="2000" dirty="0" err="1">
                <a:solidFill>
                  <a:srgbClr val="00CC66"/>
                </a:solidFill>
              </a:rPr>
              <a:t>HTMLElement</a:t>
            </a:r>
            <a:r>
              <a:rPr lang="en-US" altLang="ko-KR" sz="2000" dirty="0">
                <a:solidFill>
                  <a:srgbClr val="00CC66"/>
                </a:solidFill>
              </a:rPr>
              <a:t>&gt;</a:t>
            </a:r>
          </a:p>
          <a:p>
            <a:pPr lvl="1"/>
            <a:endParaRPr lang="en-US" altLang="ko-KR" sz="2000" dirty="0">
              <a:solidFill>
                <a:srgbClr val="00CC66"/>
              </a:solidFill>
            </a:endParaRPr>
          </a:p>
          <a:p>
            <a:r>
              <a:rPr lang="en-US" altLang="ko-KR" sz="2400" dirty="0" err="1"/>
              <a:t>onChange</a:t>
            </a:r>
            <a:endParaRPr lang="en-US" altLang="ko-KR" sz="2400" dirty="0"/>
          </a:p>
          <a:p>
            <a:pPr lvl="1"/>
            <a:r>
              <a:rPr lang="en-US" altLang="ko-KR" sz="2000" dirty="0"/>
              <a:t> </a:t>
            </a:r>
            <a:r>
              <a:rPr lang="en-US" altLang="ko-KR" sz="2000" dirty="0" err="1">
                <a:solidFill>
                  <a:srgbClr val="00CC66"/>
                </a:solidFill>
              </a:rPr>
              <a:t>React.ChangeEvent</a:t>
            </a:r>
            <a:r>
              <a:rPr lang="en-US" altLang="ko-KR" sz="2000" dirty="0">
                <a:solidFill>
                  <a:srgbClr val="00CC66"/>
                </a:solidFill>
              </a:rPr>
              <a:t>&lt;</a:t>
            </a:r>
            <a:r>
              <a:rPr lang="en-US" altLang="ko-KR" sz="2000" dirty="0" err="1">
                <a:solidFill>
                  <a:srgbClr val="00CC66"/>
                </a:solidFill>
              </a:rPr>
              <a:t>HTMLInputElement</a:t>
            </a:r>
            <a:r>
              <a:rPr lang="en-US" altLang="ko-KR" sz="2000" dirty="0">
                <a:solidFill>
                  <a:srgbClr val="00CC66"/>
                </a:solidFill>
              </a:rPr>
              <a:t>&gt;</a:t>
            </a:r>
          </a:p>
          <a:p>
            <a:pPr lvl="1"/>
            <a:endParaRPr lang="en-US" altLang="ko-KR" sz="2000" dirty="0">
              <a:solidFill>
                <a:srgbClr val="00CC66"/>
              </a:solidFill>
            </a:endParaRPr>
          </a:p>
          <a:p>
            <a:r>
              <a:rPr lang="en-US" altLang="ko-KR" sz="2400" dirty="0" err="1"/>
              <a:t>onKeydown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onKeyup</a:t>
            </a:r>
            <a:r>
              <a:rPr lang="en-US" altLang="ko-KR" sz="2400" dirty="0"/>
              <a:t>, .. (keyboard </a:t>
            </a:r>
            <a:r>
              <a:rPr lang="ko-KR" altLang="en-US" sz="2400" dirty="0"/>
              <a:t>이벤트와 관련된 </a:t>
            </a:r>
            <a:r>
              <a:rPr lang="en-US" altLang="ko-KR" sz="2400" dirty="0"/>
              <a:t>event </a:t>
            </a:r>
            <a:r>
              <a:rPr lang="ko-KR" altLang="en-US" sz="2400" dirty="0"/>
              <a:t>객체</a:t>
            </a:r>
            <a:r>
              <a:rPr lang="en-US" altLang="ko-KR" sz="2400" dirty="0"/>
              <a:t>)</a:t>
            </a:r>
          </a:p>
          <a:p>
            <a:pPr lvl="1"/>
            <a:r>
              <a:rPr lang="en-US" altLang="ko-KR" sz="2000" dirty="0"/>
              <a:t> </a:t>
            </a:r>
            <a:r>
              <a:rPr lang="en-US" altLang="ko-KR" sz="2000" dirty="0" err="1">
                <a:solidFill>
                  <a:srgbClr val="00CC66"/>
                </a:solidFill>
              </a:rPr>
              <a:t>React.KeyboardEvent</a:t>
            </a:r>
            <a:r>
              <a:rPr lang="en-US" altLang="ko-KR" sz="2000" dirty="0">
                <a:solidFill>
                  <a:srgbClr val="00CC66"/>
                </a:solidFill>
              </a:rPr>
              <a:t>&lt;</a:t>
            </a:r>
            <a:r>
              <a:rPr lang="en-US" altLang="ko-KR" sz="2000" dirty="0" err="1">
                <a:solidFill>
                  <a:srgbClr val="00CC66"/>
                </a:solidFill>
              </a:rPr>
              <a:t>HTMLInputElement</a:t>
            </a:r>
            <a:r>
              <a:rPr lang="en-US" altLang="ko-KR" sz="2000" dirty="0">
                <a:solidFill>
                  <a:srgbClr val="00CC66"/>
                </a:solidFill>
              </a:rPr>
              <a:t>&gt;</a:t>
            </a:r>
          </a:p>
          <a:p>
            <a:pPr marL="0" indent="0">
              <a:buNone/>
            </a:pPr>
            <a:endParaRPr lang="ko-KR" altLang="en-US" sz="24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event </a:t>
            </a:r>
            <a:r>
              <a:rPr lang="ko-KR" altLang="en-US" dirty="0"/>
              <a:t>객체의 </a:t>
            </a:r>
            <a:r>
              <a:rPr lang="en-US" altLang="ko-KR" dirty="0"/>
              <a:t>type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8631197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코딩온_새싹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EC173"/>
      </a:accent1>
      <a:accent2>
        <a:srgbClr val="B4D56D"/>
      </a:accent2>
      <a:accent3>
        <a:srgbClr val="F99F2C"/>
      </a:accent3>
      <a:accent4>
        <a:srgbClr val="FFDB83"/>
      </a:accent4>
      <a:accent5>
        <a:srgbClr val="2894FF"/>
      </a:accent5>
      <a:accent6>
        <a:srgbClr val="A5A5A5"/>
      </a:accent6>
      <a:hlink>
        <a:srgbClr val="2894FF"/>
      </a:hlink>
      <a:folHlink>
        <a:srgbClr val="954F72"/>
      </a:folHlink>
    </a:clrScheme>
    <a:fontScheme name="코딩온">
      <a:majorFont>
        <a:latin typeface="메이플스토리"/>
        <a:ea typeface="메이플스토리"/>
        <a:cs typeface=""/>
      </a:majorFont>
      <a:minorFont>
        <a:latin typeface="메이플스토리"/>
        <a:ea typeface="메이플스토리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1332</TotalTime>
  <Words>598</Words>
  <Application>Microsoft Office PowerPoint</Application>
  <PresentationFormat>와이드스크린</PresentationFormat>
  <Paragraphs>112</Paragraphs>
  <Slides>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Consolas</vt:lpstr>
      <vt:lpstr>메이플스토리</vt:lpstr>
      <vt:lpstr>Cascadia Code SemiLight</vt:lpstr>
      <vt:lpstr>Arial</vt:lpstr>
      <vt:lpstr>2_Office 테마</vt:lpstr>
      <vt:lpstr>웹 개발자 부트캠프 과정</vt:lpstr>
      <vt:lpstr>React with TypeScript</vt:lpstr>
      <vt:lpstr>React with Typescript</vt:lpstr>
      <vt:lpstr>props와 interface</vt:lpstr>
      <vt:lpstr>props와 interface</vt:lpstr>
      <vt:lpstr>useState generic &lt;T&gt;</vt:lpstr>
      <vt:lpstr>useRef generic &lt;T&gt;</vt:lpstr>
      <vt:lpstr>event 객체의 type</vt:lpstr>
      <vt:lpstr>event 객체의 type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Typescript</dc:title>
  <dc:creator>진형 유</dc:creator>
  <cp:lastModifiedBy>On Coding</cp:lastModifiedBy>
  <cp:revision>43</cp:revision>
  <dcterms:created xsi:type="dcterms:W3CDTF">2023-09-18T07:41:25Z</dcterms:created>
  <dcterms:modified xsi:type="dcterms:W3CDTF">2023-10-19T05:35:56Z</dcterms:modified>
</cp:coreProperties>
</file>