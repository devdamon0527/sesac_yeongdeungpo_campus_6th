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0"/>
  </p:notesMasterIdLst>
  <p:sldIdLst>
    <p:sldId id="377" r:id="rId2"/>
    <p:sldId id="378" r:id="rId3"/>
    <p:sldId id="258" r:id="rId4"/>
    <p:sldId id="383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384" r:id="rId14"/>
    <p:sldId id="375" r:id="rId15"/>
    <p:sldId id="379" r:id="rId16"/>
    <p:sldId id="380" r:id="rId17"/>
    <p:sldId id="381" r:id="rId18"/>
    <p:sldId id="382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3" autoAdjust="0"/>
    <p:restoredTop sz="67634" autoAdjust="0"/>
  </p:normalViewPr>
  <p:slideViewPr>
    <p:cSldViewPr snapToGrid="0">
      <p:cViewPr varScale="1">
        <p:scale>
          <a:sx n="74" d="100"/>
          <a:sy n="74" d="100"/>
        </p:scale>
        <p:origin x="12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34" charset="-127"/>
                <a:ea typeface="Kim jung chul Gothic Regular" panose="020B0503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34" charset="-127"/>
                <a:ea typeface="Kim jung chul Gothic Regular" panose="020B0503000000000000" pitchFamily="34" charset="-127"/>
              </a:defRPr>
            </a:lvl1pPr>
          </a:lstStyle>
          <a:p>
            <a:fld id="{6CF29A9B-32B2-49A0-9A50-441B26F8BC3C}" type="datetimeFigureOut">
              <a:rPr lang="ko-KR" altLang="en-US" smtClean="0"/>
              <a:pPr/>
              <a:t>2024-05-28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34" charset="-127"/>
                <a:ea typeface="Kim jung chul Gothic Regular" panose="020B0503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34" charset="-127"/>
                <a:ea typeface="Kim jung chul Gothic Regular" panose="020B0503000000000000" pitchFamily="34" charset="-127"/>
              </a:defRPr>
            </a:lvl1pPr>
          </a:lstStyle>
          <a:p>
            <a:fld id="{F2BFBB73-69DE-466F-AF4C-EFF91731AC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363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34" charset="-127"/>
        <a:ea typeface="Kim jung chul Gothic Regular" panose="020B0503000000000000" pitchFamily="34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34" charset="-127"/>
        <a:ea typeface="Kim jung chul Gothic Regular" panose="020B0503000000000000" pitchFamily="34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34" charset="-127"/>
        <a:ea typeface="Kim jung chul Gothic Regular" panose="020B0503000000000000" pitchFamily="34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34" charset="-127"/>
        <a:ea typeface="Kim jung chul Gothic Regular" panose="020B0503000000000000" pitchFamily="34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34" charset="-127"/>
        <a:ea typeface="Kim jung chul Gothic Regular" panose="020B0503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929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1738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반응형 웹 </a:t>
            </a:r>
            <a:r>
              <a:rPr lang="en-US" altLang="ko-KR" dirty="0"/>
              <a:t>: </a:t>
            </a:r>
            <a:r>
              <a:rPr lang="ko-KR" altLang="en-US" dirty="0"/>
              <a:t>다양한 기기와 화면 크기에 적응하여 웹 페이지의 레이아웃이 유동적으로 변하는 웹 디자인 방식을 말한다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주요 목표 </a:t>
            </a:r>
            <a:r>
              <a:rPr lang="en-US" altLang="ko-KR" dirty="0"/>
              <a:t>: </a:t>
            </a:r>
            <a:r>
              <a:rPr lang="ko-KR" altLang="en-US" dirty="0"/>
              <a:t>사용자 경험 </a:t>
            </a:r>
            <a:r>
              <a:rPr lang="en-US" altLang="ko-KR" dirty="0"/>
              <a:t>(UX)</a:t>
            </a:r>
            <a:r>
              <a:rPr lang="ko-KR" altLang="en-US" dirty="0"/>
              <a:t>을 최적화 하는 것</a:t>
            </a:r>
            <a:r>
              <a:rPr lang="en-US" altLang="ko-KR" dirty="0"/>
              <a:t>. </a:t>
            </a:r>
            <a:r>
              <a:rPr lang="ko-KR" altLang="en-US" dirty="0"/>
              <a:t>다양한 기기에서 일관된 사용성을 제공하는 것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사용자는 어떤 </a:t>
            </a:r>
            <a:r>
              <a:rPr lang="ko-KR" altLang="en-US" dirty="0" err="1"/>
              <a:t>기기에서든지</a:t>
            </a:r>
            <a:r>
              <a:rPr lang="ko-KR" altLang="en-US" dirty="0"/>
              <a:t> 최적화된 화면을 경험 할 수 있으며</a:t>
            </a:r>
            <a:r>
              <a:rPr lang="en-US" altLang="ko-KR" dirty="0"/>
              <a:t>, </a:t>
            </a:r>
            <a:r>
              <a:rPr lang="ko-KR" altLang="en-US" dirty="0"/>
              <a:t>이는 웹사이트의 접근성과 사용자 만족도를 높이는 데 큰 도움이 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적응형 웹 </a:t>
            </a:r>
            <a:r>
              <a:rPr lang="en-US" altLang="ko-KR" dirty="0"/>
              <a:t>– </a:t>
            </a:r>
            <a:r>
              <a:rPr lang="ko-KR" altLang="en-US" dirty="0"/>
              <a:t>사전에 정의된 여러 레이아웃을 사용하여 다양한 화면 크기에 맞추는 방식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각기 다른 디바이스에 대해 특정 레이아웃을 준비 해두고</a:t>
            </a:r>
            <a:r>
              <a:rPr lang="en-US" altLang="ko-KR" dirty="0"/>
              <a:t>, </a:t>
            </a:r>
            <a:r>
              <a:rPr lang="ko-KR" altLang="en-US" dirty="0"/>
              <a:t>사용자의 기기 화면 크기에 맞춰 적합한 레이아웃을 적용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고정된 레이아웃을 통해 각기 다른 디바이스에 최적화된 사용자 경험을 제공하는 방식으로</a:t>
            </a:r>
            <a:r>
              <a:rPr lang="en-US" altLang="ko-KR" dirty="0"/>
              <a:t>, </a:t>
            </a:r>
            <a:r>
              <a:rPr lang="ko-KR" altLang="en-US" dirty="0"/>
              <a:t>특히 성능과 속도가 중요한 프로젝트에서 유용하게 사용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반응형 웹 과 적응형 웹의 차이점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유연성 </a:t>
            </a:r>
            <a:r>
              <a:rPr lang="en-US" altLang="ko-KR" dirty="0"/>
              <a:t>: </a:t>
            </a:r>
            <a:r>
              <a:rPr lang="ko-KR" altLang="en-US" dirty="0"/>
              <a:t>반응형 웹은 유동적이고 적응형 웹은 고정된 레이아웃을 사용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설계 및 유지보수 </a:t>
            </a:r>
            <a:r>
              <a:rPr lang="en-US" altLang="ko-KR" dirty="0"/>
              <a:t>: </a:t>
            </a:r>
            <a:r>
              <a:rPr lang="ko-KR" altLang="en-US" dirty="0"/>
              <a:t>반응형 </a:t>
            </a:r>
            <a:r>
              <a:rPr lang="en-US" altLang="ko-KR" dirty="0"/>
              <a:t>– </a:t>
            </a:r>
            <a:r>
              <a:rPr lang="ko-KR" altLang="en-US" dirty="0"/>
              <a:t>하나의 코드 베이스로 여러 기기에 대응할 수 있어 유지보수 쉬움 </a:t>
            </a:r>
            <a:r>
              <a:rPr lang="en-US" altLang="ko-KR" dirty="0"/>
              <a:t>/ </a:t>
            </a:r>
            <a:r>
              <a:rPr lang="ko-KR" altLang="en-US" dirty="0"/>
              <a:t>적응형 웹은 여러 개의 레이아웃을 설계하고 </a:t>
            </a:r>
            <a:r>
              <a:rPr lang="ko-KR" altLang="en-US" dirty="0" err="1"/>
              <a:t>관리해야함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사용자 경험 </a:t>
            </a:r>
            <a:r>
              <a:rPr lang="en-US" altLang="ko-KR" dirty="0"/>
              <a:t>: </a:t>
            </a:r>
            <a:r>
              <a:rPr lang="ko-KR" altLang="en-US" dirty="0"/>
              <a:t>적응형 </a:t>
            </a:r>
            <a:r>
              <a:rPr lang="en-US" altLang="ko-KR" dirty="0"/>
              <a:t>– </a:t>
            </a:r>
            <a:r>
              <a:rPr lang="ko-KR" altLang="en-US" dirty="0"/>
              <a:t>특정 기기에 최적화된 경험을 제공할 수 있어 더욱 정밀한 사용자 경험을 제공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3043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다양한 기기와 화면 크기에서 일관된 사용자 경험을 제공하고</a:t>
            </a:r>
            <a:r>
              <a:rPr lang="en-US" altLang="ko-KR" dirty="0"/>
              <a:t>, </a:t>
            </a:r>
            <a:r>
              <a:rPr lang="ko-KR" altLang="en-US" dirty="0"/>
              <a:t>웹사이트의 접근성을 높이며</a:t>
            </a:r>
            <a:r>
              <a:rPr lang="en-US" altLang="ko-KR" dirty="0"/>
              <a:t>, </a:t>
            </a:r>
            <a:r>
              <a:rPr lang="ko-KR" altLang="en-US" dirty="0"/>
              <a:t>검색엔진최적화를 개선하기 위해서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dirty="0"/>
              <a:t>다양한 기기와 화면 크기 대응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향상된 사용자 경험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관리와 유지보수의 효율성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검색엔진최적화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높은 접근성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1687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앱 대신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반응형을</a:t>
            </a:r>
            <a:r>
              <a:rPr lang="ko-KR" altLang="en-US" baseline="0" dirty="0"/>
              <a:t> 이용한 웹이 앞으로 앱을 대체할 것이다라는 내용인데</a:t>
            </a:r>
            <a:r>
              <a:rPr lang="en-US" altLang="ko-KR" baseline="0" dirty="0"/>
              <a:t>,</a:t>
            </a:r>
          </a:p>
          <a:p>
            <a:r>
              <a:rPr lang="ko-KR" altLang="en-US" baseline="0" dirty="0"/>
              <a:t>한 번 </a:t>
            </a:r>
            <a:r>
              <a:rPr lang="ko-KR" altLang="en-US" baseline="0" dirty="0" err="1"/>
              <a:t>보시는것도</a:t>
            </a:r>
            <a:r>
              <a:rPr lang="ko-KR" altLang="en-US" baseline="0" dirty="0"/>
              <a:t> 나쁘지 않을 것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웹사이트가 앞으로 보다 강력해질 것이라는 내용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188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Html</a:t>
            </a:r>
            <a:r>
              <a:rPr lang="ko-KR" altLang="en-US" dirty="0"/>
              <a:t> 기본 코드를 생성해 보세요</a:t>
            </a:r>
            <a:r>
              <a:rPr lang="en-US" altLang="ko-KR" dirty="0"/>
              <a:t>! Meta </a:t>
            </a:r>
            <a:r>
              <a:rPr lang="ko-KR" altLang="en-US" dirty="0"/>
              <a:t>태그가 보이나요</a:t>
            </a:r>
            <a:r>
              <a:rPr lang="en-US" altLang="ko-KR" dirty="0"/>
              <a:t>?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</a:rPr>
              <a:t>width=device-width, initial-scale=1.0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00A67D"/>
              </a:solidFill>
              <a:effectLst/>
              <a:highlight>
                <a:srgbClr val="0D0D0D"/>
              </a:highlight>
              <a:latin typeface="ui-monospace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Width: </a:t>
            </a:r>
            <a:r>
              <a:rPr lang="ko-KR" altLang="en-US" dirty="0" err="1"/>
              <a:t>뷰포트의</a:t>
            </a:r>
            <a:r>
              <a:rPr lang="ko-KR" altLang="en-US" dirty="0"/>
              <a:t> 너비 설정 </a:t>
            </a:r>
            <a:r>
              <a:rPr lang="en-US" altLang="ko-KR" dirty="0"/>
              <a:t>– device-width : </a:t>
            </a:r>
            <a:r>
              <a:rPr lang="ko-KR" altLang="en-US" dirty="0"/>
              <a:t>기기의 화면 너비에 맞게 설정</a:t>
            </a:r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</a:rPr>
              <a:t>initial-scale: </a:t>
            </a:r>
            <a:r>
              <a:rPr lang="ko-KR" altLang="en-US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</a:rPr>
              <a:t>페이지 로드 시의 초기 확대 비율을 설정 </a:t>
            </a:r>
            <a:endParaRPr lang="en-US" altLang="ko-KR" b="0" i="0" dirty="0">
              <a:solidFill>
                <a:srgbClr val="00A67D"/>
              </a:solidFill>
              <a:effectLst/>
              <a:highlight>
                <a:srgbClr val="0D0D0D"/>
              </a:highlight>
              <a:latin typeface="ui-monospace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00A67D"/>
              </a:solidFill>
              <a:effectLst/>
              <a:highlight>
                <a:srgbClr val="0D0D0D"/>
              </a:highlight>
              <a:latin typeface="ui-monospace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</a:rPr>
              <a:t>==</a:t>
            </a: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 </a:t>
            </a:r>
            <a:r>
              <a:rPr lang="ko-KR" altLang="en-US" b="0" i="0" dirty="0" err="1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뷰포트를</a:t>
            </a:r>
            <a:r>
              <a:rPr lang="ko-KR" altLang="en-US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 기기의 너비에 맞추고</a:t>
            </a: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, </a:t>
            </a:r>
            <a:r>
              <a:rPr lang="ko-KR" altLang="en-US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초기 확대 비율을 </a:t>
            </a: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1</a:t>
            </a:r>
            <a:r>
              <a:rPr lang="ko-KR" altLang="en-US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로 설정하여 사용자가 페이지를 처음 볼 때 확대</a:t>
            </a: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/</a:t>
            </a:r>
            <a:r>
              <a:rPr lang="ko-KR" altLang="en-US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축소 되지 않도록 합니다</a:t>
            </a: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웹 브라우저에서 웹 페이지가 표시되는 영역을 의미 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431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99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뷰포트는</a:t>
            </a:r>
            <a:r>
              <a:rPr lang="ko-KR" altLang="en-US" dirty="0"/>
              <a:t> 기기 마다 모두 다름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383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웹 페이지가 다양한 기기와 화면 크기에서 적절한 스타일을 적용할 수 있도록 </a:t>
            </a:r>
            <a:r>
              <a:rPr lang="ko-KR" altLang="en-US" dirty="0" err="1"/>
              <a:t>도와줌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특정 조건에 따라 다른 </a:t>
            </a:r>
            <a:r>
              <a:rPr lang="en-US" altLang="ko-KR" dirty="0"/>
              <a:t>CSS</a:t>
            </a:r>
            <a:r>
              <a:rPr lang="ko-KR" altLang="en-US" dirty="0"/>
              <a:t> 스타일을 적용 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@media </a:t>
            </a:r>
            <a:r>
              <a:rPr lang="ko-KR" altLang="en-US" dirty="0"/>
              <a:t>규칙을 사용하여 작성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587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ALL – </a:t>
            </a:r>
            <a:r>
              <a:rPr lang="ko-KR" altLang="en-US" dirty="0"/>
              <a:t>모든 디바이스에서 공통으로 적용되는 스타일 지정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Print – </a:t>
            </a:r>
            <a:r>
              <a:rPr lang="ko-KR" altLang="en-US" dirty="0"/>
              <a:t>프린터와 같은 인쇄매체에서 적용되는 스타일 지정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Screen – </a:t>
            </a:r>
            <a:r>
              <a:rPr lang="ko-KR" altLang="en-US" dirty="0"/>
              <a:t>모니터</a:t>
            </a:r>
            <a:r>
              <a:rPr lang="en-US" altLang="ko-KR" dirty="0"/>
              <a:t>, </a:t>
            </a:r>
            <a:r>
              <a:rPr lang="ko-KR" altLang="en-US" dirty="0"/>
              <a:t>태블릿</a:t>
            </a:r>
            <a:r>
              <a:rPr lang="en-US" altLang="ko-KR" dirty="0"/>
              <a:t>, </a:t>
            </a:r>
            <a:r>
              <a:rPr lang="ko-KR" altLang="en-US" dirty="0"/>
              <a:t>스마트폰 등 화면에서 표시될 때 적용 되는 스타일 지정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꼭 넓이는 아니어도 됨 </a:t>
            </a:r>
            <a:endParaRPr lang="en-US" altLang="ko-KR" dirty="0"/>
          </a:p>
          <a:p>
            <a:r>
              <a:rPr lang="ko-KR" altLang="en-US" dirty="0"/>
              <a:t>높이도 되고 방향도 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0615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3213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Mediaquery</a:t>
            </a:r>
            <a:r>
              <a:rPr lang="ko-KR" altLang="en-US" dirty="0"/>
              <a:t>를 중구난방으로 사용하면</a:t>
            </a:r>
            <a:r>
              <a:rPr lang="en-US" altLang="ko-KR" dirty="0"/>
              <a:t>?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dirty="0"/>
              <a:t>각 디바이스 화면 크기에 맞게 디자인이 적용되지 않을 수 있다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dirty="0"/>
              <a:t>반응형 웹 디자인에서 사용되는 </a:t>
            </a:r>
            <a:r>
              <a:rPr lang="en-US" altLang="ko-KR" dirty="0"/>
              <a:t>“</a:t>
            </a:r>
            <a:r>
              <a:rPr lang="ko-KR" altLang="en-US" dirty="0"/>
              <a:t>약속</a:t>
            </a:r>
            <a:r>
              <a:rPr lang="en-US" altLang="ko-KR" dirty="0"/>
              <a:t>“ </a:t>
            </a:r>
            <a:r>
              <a:rPr lang="ko-KR" altLang="en-US" dirty="0"/>
              <a:t>개념</a:t>
            </a: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dirty="0"/>
              <a:t>웹 사이트의 어떤 지점에서 레이아웃이 변경되어야 하는지에 대한 합의</a:t>
            </a:r>
            <a:r>
              <a:rPr lang="en-US" altLang="ko-KR" dirty="0"/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dirty="0"/>
              <a:t>주로 화면의 크기나 해상도를 기준으로 삼는다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7589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Orientation : </a:t>
            </a:r>
            <a:r>
              <a:rPr lang="ko-KR" altLang="en-US" dirty="0"/>
              <a:t>화면의 방향 </a:t>
            </a:r>
            <a:r>
              <a:rPr lang="en-US" altLang="ko-KR" dirty="0"/>
              <a:t>(</a:t>
            </a:r>
            <a:r>
              <a:rPr lang="ko-KR" altLang="en-US" dirty="0"/>
              <a:t>가로 </a:t>
            </a:r>
            <a:r>
              <a:rPr lang="en-US" altLang="ko-KR" dirty="0"/>
              <a:t>or </a:t>
            </a:r>
            <a:r>
              <a:rPr lang="ko-KR" altLang="en-US" dirty="0"/>
              <a:t>세로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Ex) </a:t>
            </a:r>
            <a:r>
              <a:rPr lang="ko-KR" altLang="en-US" dirty="0"/>
              <a:t>화면이 가로 방향일 때는 네비게이션 메뉴를 가로로 배치</a:t>
            </a:r>
            <a:r>
              <a:rPr lang="en-US" altLang="ko-KR" dirty="0"/>
              <a:t>, </a:t>
            </a:r>
            <a:r>
              <a:rPr lang="ko-KR" altLang="en-US" dirty="0"/>
              <a:t>세로일 땐 세로로 배치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코드 치러 </a:t>
            </a:r>
            <a:r>
              <a:rPr lang="ko-KR" altLang="en-US" dirty="0" err="1"/>
              <a:t>ㄱㄱ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13692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7057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5946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8366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766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238716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1542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46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425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695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70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118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249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575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63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730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11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kaomobility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m.naver.com/" TargetMode="External"/><Relationship Id="rId4" Type="http://schemas.openxmlformats.org/officeDocument/2006/relationships/hyperlink" Target="https://news.samsung.com/kr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aver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m.naver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bdWnD6VqLA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SeSAC</a:t>
            </a:r>
            <a:r>
              <a:rPr lang="en-US" altLang="ko-KR" dirty="0"/>
              <a:t> x </a:t>
            </a:r>
            <a:r>
              <a:rPr lang="en-US" altLang="ko-KR" dirty="0" err="1"/>
              <a:t>CODINGOn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Responsive Web</a:t>
            </a:r>
            <a:br>
              <a:rPr lang="en-US" altLang="ko-KR" sz="8000" dirty="0"/>
            </a:br>
            <a:r>
              <a:rPr lang="ko-KR" altLang="en-US" sz="8000" dirty="0" err="1"/>
              <a:t>반응형</a:t>
            </a:r>
            <a:r>
              <a:rPr lang="ko-KR" altLang="en-US" sz="8000" dirty="0"/>
              <a:t> 웹</a:t>
            </a:r>
          </a:p>
        </p:txBody>
      </p:sp>
    </p:spTree>
    <p:extLst>
      <p:ext uri="{BB962C8B-B14F-4D97-AF65-F5344CB8AC3E}">
        <p14:creationId xmlns:p14="http://schemas.microsoft.com/office/powerpoint/2010/main" val="3144412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F9BADB0-63D6-5561-D721-CAE4A6419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653436"/>
            <a:ext cx="10830017" cy="45668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카카오 </a:t>
            </a:r>
            <a:r>
              <a:rPr lang="ko-KR" altLang="en-US" dirty="0" err="1"/>
              <a:t>모빌리티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>
                <a:hlinkClick r:id="rId3"/>
              </a:rPr>
              <a:t>https://www.kakaomobility.com/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삼성 뉴스 룸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>
                <a:hlinkClick r:id="rId4"/>
              </a:rPr>
              <a:t>https://news.samsung.com/kr/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워드 프레스 사용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네이버 </a:t>
            </a:r>
            <a:r>
              <a:rPr lang="en-US" altLang="ko-KR" dirty="0"/>
              <a:t>(</a:t>
            </a:r>
            <a:r>
              <a:rPr lang="ko-KR" altLang="en-US" dirty="0" err="1"/>
              <a:t>적응형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hlinkClick r:id="rId5"/>
              </a:rPr>
              <a:t>https://m.naver.com/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>
                <a:hlinkClick r:id="rId5"/>
              </a:rPr>
              <a:t>https://naver.com/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47A3F5A-5F4D-B0A7-A80F-FE6D0571A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반응형 웹 </a:t>
            </a:r>
            <a:r>
              <a:rPr lang="ko-KR" altLang="en-US" dirty="0"/>
              <a:t>디자인 예시들</a:t>
            </a:r>
          </a:p>
        </p:txBody>
      </p:sp>
    </p:spTree>
    <p:extLst>
      <p:ext uri="{BB962C8B-B14F-4D97-AF65-F5344CB8AC3E}">
        <p14:creationId xmlns:p14="http://schemas.microsoft.com/office/powerpoint/2010/main" val="2253820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49292" y="1565213"/>
            <a:ext cx="11293415" cy="4351338"/>
          </a:xfrm>
        </p:spPr>
        <p:txBody>
          <a:bodyPr/>
          <a:lstStyle/>
          <a:p>
            <a:r>
              <a:rPr lang="ko-KR" altLang="en-US" dirty="0" err="1"/>
              <a:t>반응형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chemeClr val="accent1"/>
                </a:solidFill>
              </a:rPr>
              <a:t>동일한 페이지를 </a:t>
            </a:r>
            <a:r>
              <a:rPr lang="ko-KR" altLang="en-US" dirty="0"/>
              <a:t>보여주나 </a:t>
            </a:r>
            <a:r>
              <a:rPr lang="ko-KR" altLang="en-US" dirty="0">
                <a:solidFill>
                  <a:schemeClr val="accent1"/>
                </a:solidFill>
              </a:rPr>
              <a:t>디바이스 크기에 따라 레이아웃을 다르게 </a:t>
            </a:r>
            <a:r>
              <a:rPr lang="ko-KR" altLang="en-US" dirty="0"/>
              <a:t>보여줌</a:t>
            </a:r>
            <a:endParaRPr lang="en-US" altLang="ko-KR" dirty="0"/>
          </a:p>
          <a:p>
            <a:pPr lvl="1"/>
            <a:r>
              <a:rPr lang="ko-KR" altLang="en-US" dirty="0"/>
              <a:t>모바일로 웹 사이트를 접속하는 경우가 많으므로 </a:t>
            </a:r>
            <a:r>
              <a:rPr lang="ko-KR" altLang="en-US" dirty="0" err="1"/>
              <a:t>반응형은</a:t>
            </a:r>
            <a:r>
              <a:rPr lang="ko-KR" altLang="en-US" dirty="0"/>
              <a:t> 매우 중요한 </a:t>
            </a:r>
            <a:r>
              <a:rPr lang="ko-KR" altLang="en-US" dirty="0" err="1"/>
              <a:t>기술임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적응형</a:t>
            </a:r>
            <a:endParaRPr lang="en-US" altLang="ko-KR" dirty="0"/>
          </a:p>
          <a:p>
            <a:pPr lvl="1"/>
            <a:r>
              <a:rPr lang="ko-KR" altLang="en-US" dirty="0"/>
              <a:t>사용자가 모바일 환경인지</a:t>
            </a:r>
            <a:r>
              <a:rPr lang="en-US" altLang="ko-KR" dirty="0"/>
              <a:t>, PC </a:t>
            </a:r>
            <a:r>
              <a:rPr lang="ko-KR" altLang="en-US" dirty="0" err="1"/>
              <a:t>환경인지에</a:t>
            </a:r>
            <a:r>
              <a:rPr lang="ko-KR" altLang="en-US" dirty="0"/>
              <a:t> 따라 다른 페이지를 보여줌</a:t>
            </a:r>
            <a:endParaRPr lang="en-US" altLang="ko-KR" dirty="0"/>
          </a:p>
          <a:p>
            <a:pPr lvl="1"/>
            <a:r>
              <a:rPr lang="en-US" altLang="ko-KR" dirty="0"/>
              <a:t>PC: </a:t>
            </a:r>
            <a:r>
              <a:rPr lang="en-US" altLang="ko-KR" dirty="0">
                <a:hlinkClick r:id="rId3"/>
              </a:rPr>
              <a:t>https://naver.com</a:t>
            </a:r>
            <a:endParaRPr lang="en-US" altLang="ko-KR" dirty="0"/>
          </a:p>
          <a:p>
            <a:pPr lvl="1"/>
            <a:r>
              <a:rPr lang="en-US" altLang="ko-KR" dirty="0"/>
              <a:t>Mobile: </a:t>
            </a:r>
            <a:r>
              <a:rPr lang="en-US" altLang="ko-KR" dirty="0">
                <a:hlinkClick r:id="rId4"/>
              </a:rPr>
              <a:t>https://m.naver.com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반응형</a:t>
            </a:r>
            <a:r>
              <a:rPr lang="ko-KR" altLang="en-US" dirty="0"/>
              <a:t> </a:t>
            </a:r>
            <a:r>
              <a:rPr lang="en-US" altLang="ko-KR" dirty="0"/>
              <a:t>vs. </a:t>
            </a:r>
            <a:r>
              <a:rPr lang="ko-KR" altLang="en-US" dirty="0" err="1"/>
              <a:t>적응형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1660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47A3F5A-5F4D-B0A7-A80F-FE6D0571A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</a:t>
            </a:r>
            <a:r>
              <a:rPr lang="en-US" altLang="ko-KR" dirty="0"/>
              <a:t>? </a:t>
            </a:r>
            <a:r>
              <a:rPr lang="ko-KR" altLang="en-US" dirty="0">
                <a:solidFill>
                  <a:schemeClr val="accent1"/>
                </a:solidFill>
              </a:rPr>
              <a:t>반응형</a:t>
            </a:r>
            <a:r>
              <a:rPr lang="ko-KR" altLang="en-US" dirty="0"/>
              <a:t>이 필요할까요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1026" name="Picture 2" descr="LG PC 모니터 | 27MP400 | LG전자">
            <a:extLst>
              <a:ext uri="{FF2B5EF4-FFF2-40B4-BE49-F238E27FC236}">
                <a16:creationId xmlns:a16="http://schemas.microsoft.com/office/drawing/2014/main" id="{9DA663E5-2FDF-44D9-F3E2-5EF61EEB0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11" b="16034"/>
          <a:stretch/>
        </p:blipFill>
        <p:spPr bwMode="auto">
          <a:xfrm>
            <a:off x="1085541" y="3898477"/>
            <a:ext cx="3234145" cy="211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RT부터 OLED까지 디스플레이의 역사와 미래">
            <a:extLst>
              <a:ext uri="{FF2B5EF4-FFF2-40B4-BE49-F238E27FC236}">
                <a16:creationId xmlns:a16="http://schemas.microsoft.com/office/drawing/2014/main" id="{2125D7E2-4CEF-689E-7529-910EC22CF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420" y="1745687"/>
            <a:ext cx="2154389" cy="192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reat Benefits of Responsive Web Design | iExperto">
            <a:extLst>
              <a:ext uri="{FF2B5EF4-FFF2-40B4-BE49-F238E27FC236}">
                <a16:creationId xmlns:a16="http://schemas.microsoft.com/office/drawing/2014/main" id="{8A990697-DBF5-E15F-97A1-8AA4362AF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271" y="1968268"/>
            <a:ext cx="5490369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247033C0-E14D-E3BF-F7E3-A58FD12DE56E}"/>
              </a:ext>
            </a:extLst>
          </p:cNvPr>
          <p:cNvSpPr/>
          <p:nvPr/>
        </p:nvSpPr>
        <p:spPr>
          <a:xfrm rot="16200000" flipV="1">
            <a:off x="4282426" y="3370344"/>
            <a:ext cx="1965635" cy="64284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im jung chul Gothic Regular" panose="020B0503000000000000" pitchFamily="34" charset="-127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660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E274D7-D744-B6F3-6E02-2CEFCAE5CB55}"/>
              </a:ext>
            </a:extLst>
          </p:cNvPr>
          <p:cNvSpPr txBox="1"/>
          <p:nvPr/>
        </p:nvSpPr>
        <p:spPr>
          <a:xfrm>
            <a:off x="0" y="2625209"/>
            <a:ext cx="12191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400" dirty="0">
                <a:latin typeface="+mj-lt"/>
                <a:ea typeface="Kim jung chul Gothic Bold" panose="020B0803000000000000" pitchFamily="50" charset="-127"/>
                <a:hlinkClick r:id="rId3"/>
              </a:rPr>
              <a:t>https://youtu.be/bdWnD6VqLAs</a:t>
            </a:r>
            <a:endParaRPr lang="ko-KR" altLang="en-US" sz="5400" dirty="0">
              <a:latin typeface="+mj-lt"/>
              <a:ea typeface="Kim jung chul Gothic Bold" panose="020B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3451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E2DCD33-A0F4-C2FB-E7DE-43AFD52A0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420426"/>
            <a:ext cx="11022454" cy="5437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그래서</a:t>
            </a:r>
            <a:r>
              <a:rPr lang="en-US" altLang="ko-KR" dirty="0"/>
              <a:t> </a:t>
            </a:r>
            <a:r>
              <a:rPr lang="ko-KR" altLang="en-US" dirty="0"/>
              <a:t>탄생</a:t>
            </a:r>
            <a:r>
              <a:rPr lang="en-US" altLang="ko-KR" dirty="0"/>
              <a:t>! Viewport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기기마다 화면 사이즈가 다르기 때문에 기기에 맞춰 디자인을 하기 위한 크기 요소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디바이스 화면 크기를 고려하여 사용자에게 최적화 된 웹페이지 제공 가능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728775-8340-D4E6-07B6-39966DBA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Viewport!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267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viewport란?">
            <a:extLst>
              <a:ext uri="{FF2B5EF4-FFF2-40B4-BE49-F238E27FC236}">
                <a16:creationId xmlns:a16="http://schemas.microsoft.com/office/drawing/2014/main" id="{3386E71D-E386-3B53-1156-FDA2B5A32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701" y="1293019"/>
            <a:ext cx="6414597" cy="427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628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obile] ViewPort란?">
            <a:extLst>
              <a:ext uri="{FF2B5EF4-FFF2-40B4-BE49-F238E27FC236}">
                <a16:creationId xmlns:a16="http://schemas.microsoft.com/office/drawing/2014/main" id="{9915EB1D-2A14-8C9B-64B7-07BBE29A6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460" y="1288735"/>
            <a:ext cx="2730438" cy="428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ML/CSS] 화면크기와 viewport(뷰포트) : 네이버 블로그">
            <a:extLst>
              <a:ext uri="{FF2B5EF4-FFF2-40B4-BE49-F238E27FC236}">
                <a16:creationId xmlns:a16="http://schemas.microsoft.com/office/drawing/2014/main" id="{5AC6F6C7-CDC9-A845-4F9F-82A60E886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018" y="1645444"/>
            <a:ext cx="5743655" cy="356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26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E2DCD33-A0F4-C2FB-E7DE-43AFD52A0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420426"/>
            <a:ext cx="10830017" cy="5437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서로 다른 미디어 타입</a:t>
            </a:r>
            <a:r>
              <a:rPr lang="en-US" altLang="ko-KR" dirty="0"/>
              <a:t>(</a:t>
            </a:r>
            <a:r>
              <a:rPr lang="ko-KR" altLang="en-US" dirty="0"/>
              <a:t>디바이스 화면</a:t>
            </a:r>
            <a:r>
              <a:rPr lang="en-US" altLang="ko-KR" dirty="0"/>
              <a:t>)</a:t>
            </a:r>
            <a:r>
              <a:rPr lang="ko-KR" altLang="en-US" dirty="0"/>
              <a:t>에 따라 별도의 </a:t>
            </a:r>
            <a:r>
              <a:rPr lang="en-US" altLang="ko-KR" dirty="0"/>
              <a:t>CSS</a:t>
            </a:r>
            <a:r>
              <a:rPr lang="ko-KR" altLang="en-US" dirty="0"/>
              <a:t>를 지정하게 하는 기술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728775-8340-D4E6-07B6-39966DBA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@media </a:t>
            </a:r>
            <a:r>
              <a:rPr lang="en-US" altLang="ko-KR" dirty="0"/>
              <a:t>(</a:t>
            </a:r>
            <a:r>
              <a:rPr lang="ko-KR" altLang="en-US" dirty="0"/>
              <a:t>미디어 쿼리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033" y="2892979"/>
            <a:ext cx="6645934" cy="314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86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806AA1-6D59-9C9A-4CFF-D628507A96E9}"/>
              </a:ext>
            </a:extLst>
          </p:cNvPr>
          <p:cNvSpPr txBox="1"/>
          <p:nvPr/>
        </p:nvSpPr>
        <p:spPr>
          <a:xfrm>
            <a:off x="1246752" y="2274197"/>
            <a:ext cx="94083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latin typeface="+mn-ea"/>
              </a:rPr>
              <a:t>@media </a:t>
            </a:r>
            <a:r>
              <a:rPr lang="ko-KR" altLang="en-US" sz="4800" b="1" dirty="0">
                <a:solidFill>
                  <a:schemeClr val="accent1"/>
                </a:solidFill>
                <a:latin typeface="+mn-ea"/>
              </a:rPr>
              <a:t>미디어유형</a:t>
            </a:r>
            <a:r>
              <a:rPr lang="ko-KR" altLang="en-US" sz="4800" b="1" dirty="0">
                <a:latin typeface="+mn-ea"/>
              </a:rPr>
              <a:t> </a:t>
            </a:r>
            <a:r>
              <a:rPr lang="en-US" altLang="ko-KR" sz="4800" b="1" dirty="0">
                <a:latin typeface="+mn-ea"/>
              </a:rPr>
              <a:t>and </a:t>
            </a:r>
            <a:r>
              <a:rPr lang="en-US" altLang="ko-KR" sz="48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4800" b="1" dirty="0">
                <a:solidFill>
                  <a:schemeClr val="accent1"/>
                </a:solidFill>
                <a:latin typeface="+mn-ea"/>
              </a:rPr>
              <a:t>크기 규칙</a:t>
            </a:r>
            <a:r>
              <a:rPr lang="en-US" altLang="ko-KR" sz="4800" b="1" dirty="0">
                <a:solidFill>
                  <a:schemeClr val="accent1"/>
                </a:solidFill>
                <a:latin typeface="+mn-ea"/>
              </a:rPr>
              <a:t>)</a:t>
            </a:r>
            <a:endParaRPr lang="ko-KR" altLang="en-US" sz="48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855B15-E4DE-1AF2-C697-89387C54DBC7}"/>
              </a:ext>
            </a:extLst>
          </p:cNvPr>
          <p:cNvSpPr txBox="1"/>
          <p:nvPr/>
        </p:nvSpPr>
        <p:spPr>
          <a:xfrm>
            <a:off x="3872474" y="1438450"/>
            <a:ext cx="4047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accent1"/>
                </a:solidFill>
                <a:latin typeface="+mn-ea"/>
              </a:rPr>
              <a:t>화면 크기에 </a:t>
            </a:r>
            <a:r>
              <a:rPr lang="ko-KR" altLang="en-US" sz="2800" dirty="0">
                <a:latin typeface="+mn-ea"/>
              </a:rPr>
              <a:t>따른 </a:t>
            </a:r>
            <a:r>
              <a:rPr lang="en-US" altLang="ko-KR" sz="2800" dirty="0">
                <a:latin typeface="+mn-ea"/>
              </a:rPr>
              <a:t>CSS </a:t>
            </a:r>
            <a:r>
              <a:rPr lang="ko-KR" altLang="en-US" sz="2800" dirty="0">
                <a:latin typeface="+mn-ea"/>
              </a:rPr>
              <a:t>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950F4-F1E8-59FA-AC02-C65A75304B71}"/>
              </a:ext>
            </a:extLst>
          </p:cNvPr>
          <p:cNvSpPr txBox="1"/>
          <p:nvPr/>
        </p:nvSpPr>
        <p:spPr>
          <a:xfrm>
            <a:off x="1883147" y="4191175"/>
            <a:ext cx="6726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미디어 유형 </a:t>
            </a:r>
            <a:r>
              <a:rPr lang="en-US" altLang="ko-KR" sz="2400" dirty="0">
                <a:latin typeface="+mn-ea"/>
              </a:rPr>
              <a:t>: All(</a:t>
            </a:r>
            <a:r>
              <a:rPr lang="ko-KR" altLang="en-US" sz="2400" dirty="0">
                <a:latin typeface="+mn-ea"/>
              </a:rPr>
              <a:t>전부</a:t>
            </a:r>
            <a:r>
              <a:rPr lang="en-US" altLang="ko-KR" sz="2400" dirty="0">
                <a:latin typeface="+mn-ea"/>
              </a:rPr>
              <a:t>) / Print(</a:t>
            </a:r>
            <a:r>
              <a:rPr lang="ko-KR" altLang="en-US" sz="2400" dirty="0">
                <a:latin typeface="+mn-ea"/>
              </a:rPr>
              <a:t>인쇄</a:t>
            </a:r>
            <a:r>
              <a:rPr lang="en-US" altLang="ko-KR" sz="2400" dirty="0">
                <a:latin typeface="+mn-ea"/>
              </a:rPr>
              <a:t>) / Screen(</a:t>
            </a:r>
            <a:r>
              <a:rPr lang="ko-KR" altLang="en-US" sz="2400" dirty="0">
                <a:latin typeface="+mn-ea"/>
              </a:rPr>
              <a:t>전부</a:t>
            </a:r>
            <a:r>
              <a:rPr lang="en-US" altLang="ko-KR" sz="2400" dirty="0">
                <a:latin typeface="+mn-ea"/>
              </a:rPr>
              <a:t>)</a:t>
            </a:r>
            <a:endParaRPr lang="ko-KR" altLang="en-US" sz="24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8AE27B-B204-026A-8394-BF14825886C9}"/>
              </a:ext>
            </a:extLst>
          </p:cNvPr>
          <p:cNvSpPr txBox="1"/>
          <p:nvPr/>
        </p:nvSpPr>
        <p:spPr>
          <a:xfrm>
            <a:off x="1883147" y="4777477"/>
            <a:ext cx="9217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크기 규칙</a:t>
            </a:r>
            <a:r>
              <a:rPr lang="en-US" altLang="ko-KR" sz="2400" dirty="0">
                <a:latin typeface="+mn-ea"/>
              </a:rPr>
              <a:t>: min(</a:t>
            </a:r>
            <a:r>
              <a:rPr lang="ko-KR" altLang="en-US" sz="2400" dirty="0">
                <a:latin typeface="+mn-ea"/>
              </a:rPr>
              <a:t>최소 </a:t>
            </a:r>
            <a:r>
              <a:rPr lang="ko-KR" altLang="en-US" sz="2400" dirty="0" err="1">
                <a:latin typeface="+mn-ea"/>
              </a:rPr>
              <a:t>뷰포트</a:t>
            </a:r>
            <a:r>
              <a:rPr lang="ko-KR" altLang="en-US" sz="2400" dirty="0">
                <a:latin typeface="+mn-ea"/>
              </a:rPr>
              <a:t> 넓이 설정</a:t>
            </a:r>
            <a:r>
              <a:rPr lang="en-US" altLang="ko-KR" sz="2400" dirty="0">
                <a:latin typeface="+mn-ea"/>
              </a:rPr>
              <a:t>) / max(</a:t>
            </a:r>
            <a:r>
              <a:rPr lang="ko-KR" altLang="en-US" sz="2400" dirty="0">
                <a:latin typeface="+mn-ea"/>
              </a:rPr>
              <a:t>최대 </a:t>
            </a:r>
            <a:r>
              <a:rPr lang="ko-KR" altLang="en-US" sz="2400" dirty="0" err="1">
                <a:latin typeface="+mn-ea"/>
              </a:rPr>
              <a:t>뷰포트</a:t>
            </a:r>
            <a:r>
              <a:rPr lang="ko-KR" altLang="en-US" sz="2400" dirty="0">
                <a:latin typeface="+mn-ea"/>
              </a:rPr>
              <a:t> 넓이 설정</a:t>
            </a:r>
            <a:r>
              <a:rPr lang="en-US" altLang="ko-KR" sz="2400" dirty="0">
                <a:latin typeface="+mn-ea"/>
              </a:rPr>
              <a:t>)</a:t>
            </a:r>
            <a:endParaRPr lang="ko-KR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66954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806AA1-6D59-9C9A-4CFF-D628507A96E9}"/>
              </a:ext>
            </a:extLst>
          </p:cNvPr>
          <p:cNvSpPr txBox="1"/>
          <p:nvPr/>
        </p:nvSpPr>
        <p:spPr>
          <a:xfrm>
            <a:off x="388348" y="1158059"/>
            <a:ext cx="114153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latin typeface="+mn-ea"/>
              </a:rPr>
              <a:t>@media </a:t>
            </a:r>
            <a:r>
              <a:rPr lang="en-US" altLang="ko-KR" sz="4400" b="1" dirty="0">
                <a:solidFill>
                  <a:schemeClr val="accent1"/>
                </a:solidFill>
                <a:latin typeface="+mn-ea"/>
              </a:rPr>
              <a:t>screen</a:t>
            </a:r>
            <a:r>
              <a:rPr lang="ko-KR" altLang="en-US" sz="4400" b="1" dirty="0">
                <a:latin typeface="+mn-ea"/>
              </a:rPr>
              <a:t> </a:t>
            </a:r>
            <a:r>
              <a:rPr lang="en-US" altLang="ko-KR" sz="4400" b="1" dirty="0">
                <a:latin typeface="+mn-ea"/>
              </a:rPr>
              <a:t>and </a:t>
            </a:r>
            <a:r>
              <a:rPr lang="en-US" altLang="ko-KR" sz="4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en-US" altLang="ko-KR" sz="4400" b="1" dirty="0">
                <a:solidFill>
                  <a:schemeClr val="accent5"/>
                </a:solidFill>
                <a:latin typeface="+mn-ea"/>
              </a:rPr>
              <a:t>max</a:t>
            </a:r>
            <a:r>
              <a:rPr lang="en-US" altLang="ko-KR" sz="4400" b="1" dirty="0">
                <a:solidFill>
                  <a:schemeClr val="accent1"/>
                </a:solidFill>
                <a:latin typeface="+mn-ea"/>
              </a:rPr>
              <a:t>-width: 480px)</a:t>
            </a:r>
            <a:endParaRPr lang="ko-KR" altLang="en-US" sz="4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812729-D36C-6B39-B078-7E65ACDD5E7B}"/>
              </a:ext>
            </a:extLst>
          </p:cNvPr>
          <p:cNvSpPr txBox="1"/>
          <p:nvPr/>
        </p:nvSpPr>
        <p:spPr>
          <a:xfrm>
            <a:off x="388348" y="3842633"/>
            <a:ext cx="102494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latin typeface="+mn-ea"/>
              </a:rPr>
              <a:t>@media </a:t>
            </a:r>
            <a:r>
              <a:rPr lang="en-US" altLang="ko-KR" sz="4400" b="1" dirty="0">
                <a:solidFill>
                  <a:schemeClr val="accent1"/>
                </a:solidFill>
                <a:latin typeface="+mn-ea"/>
              </a:rPr>
              <a:t>print</a:t>
            </a:r>
            <a:r>
              <a:rPr lang="ko-KR" altLang="en-US" sz="4400" b="1" dirty="0">
                <a:latin typeface="+mn-ea"/>
              </a:rPr>
              <a:t> </a:t>
            </a:r>
            <a:r>
              <a:rPr lang="en-US" altLang="ko-KR" sz="4400" b="1" dirty="0">
                <a:latin typeface="+mn-ea"/>
              </a:rPr>
              <a:t>and </a:t>
            </a:r>
            <a:r>
              <a:rPr lang="en-US" altLang="ko-KR" sz="4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en-US" altLang="ko-KR" sz="4400" b="1" dirty="0">
                <a:solidFill>
                  <a:schemeClr val="accent3"/>
                </a:solidFill>
                <a:latin typeface="+mn-ea"/>
              </a:rPr>
              <a:t>min</a:t>
            </a:r>
            <a:r>
              <a:rPr lang="en-US" altLang="ko-KR" sz="4400" b="1" dirty="0">
                <a:solidFill>
                  <a:schemeClr val="accent1"/>
                </a:solidFill>
                <a:latin typeface="+mn-ea"/>
              </a:rPr>
              <a:t>-width: 481px)</a:t>
            </a:r>
            <a:endParaRPr lang="ko-KR" altLang="en-US" sz="4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70FE7-5A10-1C2F-8169-68555F456900}"/>
              </a:ext>
            </a:extLst>
          </p:cNvPr>
          <p:cNvSpPr txBox="1"/>
          <p:nvPr/>
        </p:nvSpPr>
        <p:spPr>
          <a:xfrm>
            <a:off x="1182634" y="2259610"/>
            <a:ext cx="91839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3600" dirty="0">
                <a:latin typeface="+mn-ea"/>
                <a:sym typeface="Wingdings" panose="05000000000000000000" pitchFamily="2" charset="2"/>
              </a:rPr>
              <a:t>화면 넓이가 </a:t>
            </a:r>
            <a:r>
              <a:rPr lang="en-US" altLang="ko-KR" sz="3600" dirty="0">
                <a:latin typeface="+mn-ea"/>
                <a:sym typeface="Wingdings" panose="05000000000000000000" pitchFamily="2" charset="2"/>
              </a:rPr>
              <a:t>480px </a:t>
            </a:r>
            <a:r>
              <a:rPr lang="ko-KR" altLang="en-US" sz="3600" dirty="0">
                <a:solidFill>
                  <a:schemeClr val="accent5"/>
                </a:solidFill>
                <a:latin typeface="+mn-ea"/>
                <a:sym typeface="Wingdings" panose="05000000000000000000" pitchFamily="2" charset="2"/>
              </a:rPr>
              <a:t>이하</a:t>
            </a:r>
            <a:r>
              <a:rPr lang="ko-KR" altLang="en-US" sz="3600" dirty="0">
                <a:latin typeface="+mn-ea"/>
                <a:sym typeface="Wingdings" panose="05000000000000000000" pitchFamily="2" charset="2"/>
              </a:rPr>
              <a:t>일 경우 화면에 적용</a:t>
            </a:r>
            <a:endParaRPr lang="ko-KR" altLang="en-US" sz="3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476A45-E461-EB59-A155-ACAFB4C2FFCB}"/>
              </a:ext>
            </a:extLst>
          </p:cNvPr>
          <p:cNvSpPr txBox="1"/>
          <p:nvPr/>
        </p:nvSpPr>
        <p:spPr>
          <a:xfrm>
            <a:off x="1182634" y="4930295"/>
            <a:ext cx="91839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3600" dirty="0">
                <a:latin typeface="+mn-ea"/>
                <a:sym typeface="Wingdings" panose="05000000000000000000" pitchFamily="2" charset="2"/>
              </a:rPr>
              <a:t>화면 넓이가 </a:t>
            </a:r>
            <a:r>
              <a:rPr lang="en-US" altLang="ko-KR" sz="3600" dirty="0">
                <a:latin typeface="+mn-ea"/>
                <a:sym typeface="Wingdings" panose="05000000000000000000" pitchFamily="2" charset="2"/>
              </a:rPr>
              <a:t>480px </a:t>
            </a:r>
            <a:r>
              <a:rPr lang="ko-KR" altLang="en-US" sz="3600" dirty="0">
                <a:solidFill>
                  <a:schemeClr val="accent3"/>
                </a:solidFill>
                <a:latin typeface="+mn-ea"/>
                <a:sym typeface="Wingdings" panose="05000000000000000000" pitchFamily="2" charset="2"/>
              </a:rPr>
              <a:t>이상</a:t>
            </a:r>
            <a:r>
              <a:rPr lang="ko-KR" altLang="en-US" sz="3600" dirty="0">
                <a:latin typeface="+mn-ea"/>
                <a:sym typeface="Wingdings" panose="05000000000000000000" pitchFamily="2" charset="2"/>
              </a:rPr>
              <a:t>일 경우 인쇄에 적용</a:t>
            </a:r>
            <a:endParaRPr lang="ko-KR" altLang="en-US" sz="3600" dirty="0">
              <a:solidFill>
                <a:schemeClr val="accent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76817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media query </a:t>
            </a:r>
            <a:r>
              <a:rPr lang="ko-KR" altLang="en-US" dirty="0"/>
              <a:t>가 적용될 지점</a:t>
            </a:r>
            <a:endParaRPr lang="en-US" altLang="ko-KR" dirty="0"/>
          </a:p>
          <a:p>
            <a:r>
              <a:rPr lang="ko-KR" altLang="en-US" dirty="0"/>
              <a:t>규칙없이 중구난방으로 사용할 경우</a:t>
            </a:r>
            <a:r>
              <a:rPr lang="en-US" altLang="ko-KR" dirty="0"/>
              <a:t>, </a:t>
            </a:r>
            <a:r>
              <a:rPr lang="ko-KR" altLang="en-US" dirty="0" err="1"/>
              <a:t>프론트엔드</a:t>
            </a:r>
            <a:r>
              <a:rPr lang="ko-KR" altLang="en-US" dirty="0"/>
              <a:t> 개발자가 고생한다</a:t>
            </a:r>
            <a:r>
              <a:rPr lang="en-US" altLang="ko-KR" dirty="0"/>
              <a:t>..</a:t>
            </a:r>
            <a:r>
              <a:rPr lang="ko-KR" altLang="en-US" dirty="0"/>
              <a:t>😱</a:t>
            </a:r>
            <a:endParaRPr lang="en-US" altLang="ko-KR" dirty="0"/>
          </a:p>
          <a:p>
            <a:r>
              <a:rPr lang="ko-KR" altLang="en-US" dirty="0"/>
              <a:t>현업에서는 </a:t>
            </a:r>
            <a:r>
              <a:rPr lang="en-US" altLang="ko-KR" dirty="0"/>
              <a:t>Breakpoint</a:t>
            </a:r>
            <a:r>
              <a:rPr lang="ko-KR" altLang="en-US" dirty="0"/>
              <a:t>을 정하고</a:t>
            </a:r>
            <a:r>
              <a:rPr lang="en-US" altLang="ko-KR" dirty="0"/>
              <a:t>, </a:t>
            </a:r>
            <a:r>
              <a:rPr lang="en-US" altLang="ko-KR" b="1" dirty="0">
                <a:solidFill>
                  <a:schemeClr val="accent1"/>
                </a:solidFill>
              </a:rPr>
              <a:t>breakpoint </a:t>
            </a:r>
            <a:r>
              <a:rPr lang="ko-KR" altLang="en-US" b="1" dirty="0">
                <a:solidFill>
                  <a:schemeClr val="accent1"/>
                </a:solidFill>
              </a:rPr>
              <a:t>마다 </a:t>
            </a:r>
            <a:r>
              <a:rPr lang="en-US" altLang="ko-KR" b="1" dirty="0">
                <a:solidFill>
                  <a:schemeClr val="accent1"/>
                </a:solidFill>
              </a:rPr>
              <a:t>layout</a:t>
            </a:r>
            <a:r>
              <a:rPr lang="ko-KR" altLang="en-US" b="1" dirty="0">
                <a:solidFill>
                  <a:schemeClr val="accent1"/>
                </a:solidFill>
              </a:rPr>
              <a:t>을 변경</a:t>
            </a:r>
            <a:r>
              <a:rPr lang="ko-KR" altLang="en-US" dirty="0"/>
              <a:t>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Ex. </a:t>
            </a:r>
            <a:r>
              <a:rPr lang="ko-KR" altLang="en-US" dirty="0"/>
              <a:t>프로젝트마다 </a:t>
            </a:r>
            <a:r>
              <a:rPr lang="en-US" altLang="ko-KR" dirty="0"/>
              <a:t>breakpoint </a:t>
            </a:r>
            <a:r>
              <a:rPr lang="ko-KR" altLang="en-US" dirty="0"/>
              <a:t>는 정하기 나름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Mobile &lt;= 480px, </a:t>
            </a:r>
          </a:p>
          <a:p>
            <a:pPr lvl="1"/>
            <a:r>
              <a:rPr lang="en-US" altLang="ko-KR" dirty="0"/>
              <a:t>768px &lt;= tablet &lt;= 1024px</a:t>
            </a:r>
          </a:p>
          <a:p>
            <a:pPr lvl="1"/>
            <a:r>
              <a:rPr lang="en-US" altLang="ko-KR" dirty="0"/>
              <a:t>1600px &lt;= laptop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Breakpoint</a:t>
            </a:r>
            <a:r>
              <a:rPr lang="en-US" altLang="ko-KR" dirty="0"/>
              <a:t> (</a:t>
            </a:r>
            <a:r>
              <a:rPr lang="ko-KR" altLang="en-US" dirty="0"/>
              <a:t>중단점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0657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B5747-541B-5195-5E3C-51C041CF5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참고</a:t>
            </a:r>
            <a:r>
              <a:rPr lang="en-US" altLang="ko-KR" dirty="0">
                <a:solidFill>
                  <a:schemeClr val="accent1"/>
                </a:solidFill>
              </a:rPr>
              <a:t>! </a:t>
            </a:r>
            <a:r>
              <a:rPr lang="ko-KR" altLang="en-US" dirty="0"/>
              <a:t>가로</a:t>
            </a:r>
            <a:r>
              <a:rPr lang="en-US" altLang="ko-KR" dirty="0"/>
              <a:t>, </a:t>
            </a:r>
            <a:r>
              <a:rPr lang="ko-KR" altLang="en-US" dirty="0"/>
              <a:t>세로 모드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114016-0109-47F4-DDF2-82ABA5155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474" y="1522642"/>
            <a:ext cx="6627052" cy="465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0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1C25C5B-04FD-BA97-5B13-BBE6F1B85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&lt;p&gt;</a:t>
            </a:r>
            <a:r>
              <a:rPr lang="ko-KR" altLang="en-US" dirty="0">
                <a:solidFill>
                  <a:schemeClr val="accent1"/>
                </a:solidFill>
              </a:rPr>
              <a:t>미디어 쿼리 실습</a:t>
            </a:r>
            <a:r>
              <a:rPr lang="en-US" altLang="ko-KR" dirty="0">
                <a:solidFill>
                  <a:schemeClr val="accent1"/>
                </a:solidFill>
              </a:rPr>
              <a:t>&lt;/p&gt;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ko-KR" altLang="en-US" dirty="0"/>
              <a:t>태그 삽입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화면 넓이가 </a:t>
            </a:r>
            <a:r>
              <a:rPr lang="en-US" altLang="ko-KR" dirty="0"/>
              <a:t>500px </a:t>
            </a:r>
            <a:r>
              <a:rPr lang="ko-KR" altLang="en-US" dirty="0"/>
              <a:t>이상일 경우 </a:t>
            </a:r>
            <a:r>
              <a:rPr lang="en-US" altLang="ko-KR" dirty="0"/>
              <a:t>&lt;body&gt; </a:t>
            </a:r>
            <a:r>
              <a:rPr lang="ko-KR" altLang="en-US" dirty="0"/>
              <a:t>태그의 배경색이 하늘색</a:t>
            </a:r>
            <a:r>
              <a:rPr lang="en-US" altLang="ko-KR" dirty="0"/>
              <a:t>, 300px </a:t>
            </a:r>
            <a:r>
              <a:rPr lang="ko-KR" altLang="en-US" dirty="0"/>
              <a:t>이하일 경우 배경색이 오렌지</a:t>
            </a:r>
            <a:r>
              <a:rPr lang="en-US" altLang="ko-KR" dirty="0"/>
              <a:t>. 300~500px</a:t>
            </a:r>
            <a:r>
              <a:rPr lang="ko-KR" altLang="en-US" dirty="0"/>
              <a:t> 사이는 배경색</a:t>
            </a:r>
            <a:r>
              <a:rPr lang="en-US" altLang="ko-KR" dirty="0"/>
              <a:t> </a:t>
            </a:r>
            <a:r>
              <a:rPr lang="ko-KR" altLang="en-US" dirty="0"/>
              <a:t>없음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화면 높이가 </a:t>
            </a:r>
            <a:r>
              <a:rPr lang="en-US" altLang="ko-KR" dirty="0"/>
              <a:t>300px </a:t>
            </a:r>
            <a:r>
              <a:rPr lang="ko-KR" altLang="en-US" dirty="0"/>
              <a:t>이하일 경우 </a:t>
            </a:r>
            <a:r>
              <a:rPr lang="en-US" altLang="ko-KR" dirty="0"/>
              <a:t>&lt;p&gt; </a:t>
            </a:r>
            <a:r>
              <a:rPr lang="ko-KR" altLang="en-US" dirty="0"/>
              <a:t>태그의 폰트를 변경 하고</a:t>
            </a:r>
            <a:r>
              <a:rPr lang="en-US" altLang="ko-KR" dirty="0"/>
              <a:t>, 500px </a:t>
            </a:r>
            <a:r>
              <a:rPr lang="ko-KR" altLang="en-US" dirty="0"/>
              <a:t>이상일 경우 배경색이 초록색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다음 실행영상 참고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DBD5AA-7E57-080F-098A-B36D4BBE9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CF7908-BB40-7F7E-6083-5136A3F8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ECBAC55-9413-9E1F-80C2-E2224F93F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/>
              <a:t>미디어 쿼리 사용하기</a:t>
            </a:r>
          </a:p>
        </p:txBody>
      </p:sp>
    </p:spTree>
    <p:extLst>
      <p:ext uri="{BB962C8B-B14F-4D97-AF65-F5344CB8AC3E}">
        <p14:creationId xmlns:p14="http://schemas.microsoft.com/office/powerpoint/2010/main" val="3282231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BF6B91D-B14E-DF6C-35CD-9418AC2CC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 영상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57C4CF-4600-D73A-1BAD-FED30B5DC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3909C0-4408-A8F2-9B00-154F4693C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53547F7-EEED-500A-BA9D-3B4AE974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/>
              <a:t>미디어 쿼리 사용하기</a:t>
            </a:r>
          </a:p>
        </p:txBody>
      </p:sp>
      <p:pic>
        <p:nvPicPr>
          <p:cNvPr id="6" name="녹음 2023-07-14 114046">
            <a:hlinkClick r:id="" action="ppaction://media"/>
            <a:extLst>
              <a:ext uri="{FF2B5EF4-FFF2-40B4-BE49-F238E27FC236}">
                <a16:creationId xmlns:a16="http://schemas.microsoft.com/office/drawing/2014/main" id="{A91B6DFD-23BB-DFEA-4B0A-07F58DFD00D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19487" y="1825625"/>
            <a:ext cx="51530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2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0C6593C-BD73-26FB-BCA3-FEFAD99B4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0026E6-F561-FE83-D119-96C0944A7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AAA499-7668-CC85-DC13-BDB50B2F7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AAAA83C4-AA71-EEDF-5823-FF035FFA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ko-KR" altLang="en-US" dirty="0"/>
              <a:t>크기에 따라 자리 바꾸기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8F1E26-EC18-3014-A2F7-0619DA033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2674"/>
            <a:ext cx="5185548" cy="33415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5C5ACF-1F3C-B49F-C3C6-8F1074D66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282" y="991842"/>
            <a:ext cx="3805615" cy="4874315"/>
          </a:xfrm>
          <a:prstGeom prst="rect">
            <a:avLst/>
          </a:prstGeom>
        </p:spPr>
      </p:pic>
      <p:sp>
        <p:nvSpPr>
          <p:cNvPr id="8" name="오른쪽 화살표 5">
            <a:extLst>
              <a:ext uri="{FF2B5EF4-FFF2-40B4-BE49-F238E27FC236}">
                <a16:creationId xmlns:a16="http://schemas.microsoft.com/office/drawing/2014/main" id="{D9BA76EC-D2CF-30D3-60AC-F9870E194218}"/>
              </a:ext>
            </a:extLst>
          </p:cNvPr>
          <p:cNvSpPr/>
          <p:nvPr/>
        </p:nvSpPr>
        <p:spPr>
          <a:xfrm>
            <a:off x="6023748" y="3410869"/>
            <a:ext cx="901337" cy="5747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91893-2AB1-E309-B86F-0D7B67B50965}"/>
              </a:ext>
            </a:extLst>
          </p:cNvPr>
          <p:cNvSpPr txBox="1"/>
          <p:nvPr/>
        </p:nvSpPr>
        <p:spPr>
          <a:xfrm>
            <a:off x="1780603" y="3653131"/>
            <a:ext cx="3781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브라우저 넓이가 </a:t>
            </a:r>
            <a:r>
              <a:rPr lang="en-US" altLang="ko-KR" b="1" dirty="0"/>
              <a:t>700px </a:t>
            </a:r>
            <a:r>
              <a:rPr lang="ko-KR" altLang="en-US" b="1" dirty="0"/>
              <a:t>초과일 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2AF7A-8E8C-217A-ECDA-87B3564B6585}"/>
              </a:ext>
            </a:extLst>
          </p:cNvPr>
          <p:cNvSpPr txBox="1"/>
          <p:nvPr/>
        </p:nvSpPr>
        <p:spPr>
          <a:xfrm>
            <a:off x="7369753" y="5757237"/>
            <a:ext cx="3714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브라우저 넓이가 </a:t>
            </a:r>
            <a:r>
              <a:rPr lang="en-US" altLang="ko-KR" b="1" dirty="0"/>
              <a:t>700px </a:t>
            </a:r>
            <a:r>
              <a:rPr lang="ko-KR" altLang="en-US" b="1" dirty="0"/>
              <a:t>이하일 때</a:t>
            </a:r>
          </a:p>
        </p:txBody>
      </p:sp>
    </p:spTree>
    <p:extLst>
      <p:ext uri="{BB962C8B-B14F-4D97-AF65-F5344CB8AC3E}">
        <p14:creationId xmlns:p14="http://schemas.microsoft.com/office/powerpoint/2010/main" val="2667442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465A180-FF78-205D-AD1F-69CDF7A52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A7D4D6-F926-C7D1-4BA5-F22412846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27F32B-E9B9-CDCD-3353-430EB3BE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8634FD9-1767-0A2E-F5C3-523A7F67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en-US" altLang="ko-KR" dirty="0"/>
              <a:t>header </a:t>
            </a:r>
            <a:r>
              <a:rPr lang="ko-KR" altLang="en-US" dirty="0"/>
              <a:t>만들기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2B0AB9-EE90-EB56-4550-E7CE0CADB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943" y="1491646"/>
            <a:ext cx="10257921" cy="1392147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DB53F1-88EB-55A1-5CD9-5760EE9F3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595" y="2987778"/>
            <a:ext cx="5689742" cy="322258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CED5C2-9E22-2926-15B5-3D3F57A5A8FA}"/>
              </a:ext>
            </a:extLst>
          </p:cNvPr>
          <p:cNvSpPr txBox="1"/>
          <p:nvPr/>
        </p:nvSpPr>
        <p:spPr>
          <a:xfrm>
            <a:off x="717182" y="3821958"/>
            <a:ext cx="4480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브라우저의 </a:t>
            </a:r>
            <a:r>
              <a:rPr lang="ko-KR" altLang="en-US" dirty="0" err="1"/>
              <a:t>가로넓이가</a:t>
            </a:r>
            <a:r>
              <a:rPr lang="ko-KR" altLang="en-US" dirty="0"/>
              <a:t> </a:t>
            </a:r>
            <a:r>
              <a:rPr lang="en-US" altLang="ko-KR" dirty="0"/>
              <a:t>768px </a:t>
            </a:r>
            <a:r>
              <a:rPr lang="ko-KR" altLang="en-US" dirty="0"/>
              <a:t>이하일 때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사진 </a:t>
            </a:r>
            <a:r>
              <a:rPr lang="en-US" altLang="ko-KR" dirty="0"/>
              <a:t>1</a:t>
            </a:r>
            <a:r>
              <a:rPr lang="en-US" altLang="ko-KR" dirty="0">
                <a:sym typeface="Wingdings" panose="05000000000000000000" pitchFamily="2" charset="2"/>
              </a:rPr>
              <a:t> 2</a:t>
            </a:r>
            <a:r>
              <a:rPr lang="ko-KR" altLang="en-US" dirty="0">
                <a:sym typeface="Wingdings" panose="05000000000000000000" pitchFamily="2" charset="2"/>
              </a:rPr>
              <a:t>로 변경되게끔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미디어쿼리를 이용해서 만들어보기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1070ED-3A30-06C2-E433-0731B56CB2D1}"/>
              </a:ext>
            </a:extLst>
          </p:cNvPr>
          <p:cNvSpPr txBox="1"/>
          <p:nvPr/>
        </p:nvSpPr>
        <p:spPr>
          <a:xfrm>
            <a:off x="751040" y="5438244"/>
            <a:ext cx="9623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헤더 안쪽에서 가로로 정렬 되어있던 메뉴들을 헤더 아래에 세로로 나열되게</a:t>
            </a:r>
            <a:r>
              <a:rPr lang="en-US" altLang="ko-KR" dirty="0"/>
              <a:t>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Header </a:t>
            </a:r>
            <a:r>
              <a:rPr lang="ko-KR" altLang="en-US" dirty="0"/>
              <a:t>높이 </a:t>
            </a:r>
            <a:r>
              <a:rPr lang="en-US" altLang="ko-KR" dirty="0"/>
              <a:t>768</a:t>
            </a:r>
            <a:r>
              <a:rPr lang="ko-KR" altLang="en-US" dirty="0"/>
              <a:t>보다 </a:t>
            </a:r>
            <a:r>
              <a:rPr lang="ko-KR" altLang="en-US" dirty="0" err="1"/>
              <a:t>클때는</a:t>
            </a:r>
            <a:r>
              <a:rPr lang="ko-KR" altLang="en-US" dirty="0"/>
              <a:t> </a:t>
            </a:r>
            <a:r>
              <a:rPr lang="en-US" altLang="ko-KR" dirty="0"/>
              <a:t>100px, 768px</a:t>
            </a:r>
            <a:r>
              <a:rPr lang="ko-KR" altLang="en-US" dirty="0"/>
              <a:t>이하일 때는 </a:t>
            </a:r>
            <a:r>
              <a:rPr lang="en-US" altLang="ko-KR" dirty="0"/>
              <a:t>60px</a:t>
            </a:r>
          </a:p>
        </p:txBody>
      </p:sp>
    </p:spTree>
    <p:extLst>
      <p:ext uri="{BB962C8B-B14F-4D97-AF65-F5344CB8AC3E}">
        <p14:creationId xmlns:p14="http://schemas.microsoft.com/office/powerpoint/2010/main" val="242489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705</TotalTime>
  <Words>910</Words>
  <Application>Microsoft Office PowerPoint</Application>
  <PresentationFormat>와이드스크린</PresentationFormat>
  <Paragraphs>156</Paragraphs>
  <Slides>18</Slides>
  <Notes>16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Kim jung chul Gothic Regular</vt:lpstr>
      <vt:lpstr>PretendardGOV</vt:lpstr>
      <vt:lpstr>ui-monospace</vt:lpstr>
      <vt:lpstr>Arial</vt:lpstr>
      <vt:lpstr>Wingdings</vt:lpstr>
      <vt:lpstr>3_Office 테마</vt:lpstr>
      <vt:lpstr>웹 개발자 부트캠프 과정</vt:lpstr>
      <vt:lpstr>Responsive Web 반응형 웹</vt:lpstr>
      <vt:lpstr>반응형 웹 디자인 예시들</vt:lpstr>
      <vt:lpstr>반응형 vs. 적응형</vt:lpstr>
      <vt:lpstr>왜? 반응형이 필요할까요?</vt:lpstr>
      <vt:lpstr>PowerPoint 프레젠테이션</vt:lpstr>
      <vt:lpstr>Viewport!</vt:lpstr>
      <vt:lpstr>PowerPoint 프레젠테이션</vt:lpstr>
      <vt:lpstr>PowerPoint 프레젠테이션</vt:lpstr>
      <vt:lpstr>@media (미디어 쿼리)</vt:lpstr>
      <vt:lpstr>PowerPoint 프레젠테이션</vt:lpstr>
      <vt:lpstr>PowerPoint 프레젠테이션</vt:lpstr>
      <vt:lpstr>Breakpoint (중단점)</vt:lpstr>
      <vt:lpstr>참고! 가로, 세로 모드 </vt:lpstr>
      <vt:lpstr>실습. 미디어 쿼리 사용하기</vt:lpstr>
      <vt:lpstr>실습. 미디어 쿼리 사용하기</vt:lpstr>
      <vt:lpstr>실습. 크기에 따라 자리 바꾸기</vt:lpstr>
      <vt:lpstr>실습. header 만들기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Allie</dc:creator>
  <cp:lastModifiedBy>On Coding</cp:lastModifiedBy>
  <cp:revision>40</cp:revision>
  <dcterms:created xsi:type="dcterms:W3CDTF">2022-10-14T09:20:50Z</dcterms:created>
  <dcterms:modified xsi:type="dcterms:W3CDTF">2024-05-28T08:57:30Z</dcterms:modified>
</cp:coreProperties>
</file>