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12" r:id="rId1"/>
  </p:sldMasterIdLst>
  <p:notesMasterIdLst>
    <p:notesMasterId r:id="rId38"/>
  </p:notesMasterIdLst>
  <p:handoutMasterIdLst>
    <p:handoutMasterId r:id="rId39"/>
  </p:handoutMasterIdLst>
  <p:sldIdLst>
    <p:sldId id="675" r:id="rId2"/>
    <p:sldId id="258" r:id="rId3"/>
    <p:sldId id="295" r:id="rId4"/>
    <p:sldId id="688" r:id="rId5"/>
    <p:sldId id="275" r:id="rId6"/>
    <p:sldId id="276" r:id="rId7"/>
    <p:sldId id="678" r:id="rId8"/>
    <p:sldId id="672" r:id="rId9"/>
    <p:sldId id="673" r:id="rId10"/>
    <p:sldId id="689" r:id="rId11"/>
    <p:sldId id="260" r:id="rId12"/>
    <p:sldId id="687" r:id="rId13"/>
    <p:sldId id="303" r:id="rId14"/>
    <p:sldId id="679" r:id="rId15"/>
    <p:sldId id="665" r:id="rId16"/>
    <p:sldId id="291" r:id="rId17"/>
    <p:sldId id="281" r:id="rId18"/>
    <p:sldId id="686" r:id="rId19"/>
    <p:sldId id="674" r:id="rId20"/>
    <p:sldId id="676" r:id="rId21"/>
    <p:sldId id="269" r:id="rId22"/>
    <p:sldId id="262" r:id="rId23"/>
    <p:sldId id="664" r:id="rId24"/>
    <p:sldId id="283" r:id="rId25"/>
    <p:sldId id="271" r:id="rId26"/>
    <p:sldId id="683" r:id="rId27"/>
    <p:sldId id="682" r:id="rId28"/>
    <p:sldId id="270" r:id="rId29"/>
    <p:sldId id="284" r:id="rId30"/>
    <p:sldId id="263" r:id="rId31"/>
    <p:sldId id="684" r:id="rId32"/>
    <p:sldId id="677" r:id="rId33"/>
    <p:sldId id="685" r:id="rId34"/>
    <p:sldId id="670" r:id="rId35"/>
    <p:sldId id="671" r:id="rId36"/>
    <p:sldId id="268" r:id="rId3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4C82F"/>
    <a:srgbClr val="6EC173"/>
    <a:srgbClr val="F9A130"/>
    <a:srgbClr val="F99F2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3799" autoAdjust="0"/>
    <p:restoredTop sz="92900" autoAdjust="0"/>
  </p:normalViewPr>
  <p:slideViewPr>
    <p:cSldViewPr snapToGrid="0">
      <p:cViewPr varScale="1">
        <p:scale>
          <a:sx n="103" d="100"/>
          <a:sy n="103" d="100"/>
        </p:scale>
        <p:origin x="312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0" d="100"/>
          <a:sy n="90" d="100"/>
        </p:scale>
        <p:origin x="3774" y="1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handoutMaster" Target="handoutMasters/handout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>
            <a:extLst>
              <a:ext uri="{FF2B5EF4-FFF2-40B4-BE49-F238E27FC236}">
                <a16:creationId xmlns:a16="http://schemas.microsoft.com/office/drawing/2014/main" id="{67BE8A5B-F9B0-440D-E792-14078644625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40F67C43-E62E-9E13-2501-DD63FCBB1469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D4C2981-5314-425A-941B-9AEDC9FC9FEE}" type="datetimeFigureOut">
              <a:rPr lang="ko-KR" altLang="en-US" smtClean="0"/>
              <a:t>2024-05-08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D264F6B-8B73-1321-E957-EFD3A7B90ED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251CFB6-E57B-5AC7-8DA6-5498D7C7B5A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FBD4269-A6C2-4CF5-8B32-532C143F6B0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8971308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EF3F159-7250-4DD4-91C2-13B35D56E1AF}" type="datetimeFigureOut">
              <a:rPr lang="ko-KR" altLang="en-US" smtClean="0"/>
              <a:t>2024-05-08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09E5BFC-1559-42F1-8940-AB342D56BF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304593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7559835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939750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None/>
            </a:pPr>
            <a:r>
              <a:rPr lang="ko-KR" altLang="en-US" dirty="0"/>
              <a:t>이렇게 일단은 계획 중</a:t>
            </a:r>
            <a:r>
              <a:rPr lang="en-US" altLang="ko-KR" dirty="0"/>
              <a:t>~</a:t>
            </a:r>
          </a:p>
          <a:p>
            <a:pPr>
              <a:buFont typeface="Arial" panose="020B0604020202020204" pitchFamily="34" charset="0"/>
              <a:buNone/>
            </a:pPr>
            <a:endParaRPr lang="en-US" altLang="ko-KR" dirty="0"/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dirty="0"/>
              <a:t>1</a:t>
            </a:r>
            <a:r>
              <a:rPr lang="ko-KR" altLang="en-US" dirty="0"/>
              <a:t>대 </a:t>
            </a:r>
            <a:r>
              <a:rPr lang="en-US" altLang="ko-KR" dirty="0"/>
              <a:t>1 </a:t>
            </a:r>
            <a:r>
              <a:rPr lang="ko-KR" altLang="en-US" dirty="0"/>
              <a:t>개별 컨설팅이나 취업 연계를 통해 여러분들이 모두 취</a:t>
            </a:r>
            <a:r>
              <a:rPr lang="en-US" altLang="ko-KR" dirty="0"/>
              <a:t>/</a:t>
            </a:r>
            <a:r>
              <a:rPr lang="ko-KR" altLang="en-US" dirty="0"/>
              <a:t>창업에 성공할 수 있도록 도움을 드릴 것이다</a:t>
            </a:r>
            <a:r>
              <a:rPr lang="en-US" altLang="ko-KR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dirty="0"/>
              <a:t>교육 기간 동안 백과 프론트 등의 것이 확정되는데</a:t>
            </a:r>
            <a:r>
              <a:rPr lang="en-US" altLang="ko-KR" dirty="0"/>
              <a:t>, </a:t>
            </a:r>
            <a:r>
              <a:rPr lang="ko-KR" altLang="en-US" dirty="0"/>
              <a:t>이때는 최대한 의견을 반영할 것이다</a:t>
            </a:r>
            <a:r>
              <a:rPr lang="en-US" altLang="ko-KR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dirty="0"/>
              <a:t>이를 위해 수업은 커리큘럼대로 초반에는 진행되겠지만 </a:t>
            </a:r>
            <a:r>
              <a:rPr lang="ko-KR" altLang="en-US" b="1" dirty="0"/>
              <a:t>상황을 최대한 반영해 유동적으로 진행될 </a:t>
            </a:r>
            <a:r>
              <a:rPr lang="ko-KR" altLang="en-US" dirty="0"/>
              <a:t>것이며</a:t>
            </a:r>
            <a:r>
              <a:rPr lang="en-US" altLang="ko-KR" dirty="0"/>
              <a:t>, </a:t>
            </a:r>
            <a:r>
              <a:rPr lang="ko-KR" altLang="en-US" b="1" dirty="0"/>
              <a:t>이런 유동성이 앞서 말한 성과를 달성하는 데 도움이 된 큰 요인 중 하나</a:t>
            </a:r>
            <a:r>
              <a:rPr lang="ko-KR" altLang="en-US" dirty="0"/>
              <a:t>였다</a:t>
            </a:r>
            <a:r>
              <a:rPr lang="en-US" altLang="ko-KR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endParaRPr lang="en-US" altLang="ko-KR" dirty="0"/>
          </a:p>
          <a:p>
            <a:pPr>
              <a:buFont typeface="Arial" panose="020B0604020202020204" pitchFamily="34" charset="0"/>
              <a:buChar char="•"/>
            </a:pPr>
            <a:endParaRPr lang="en-US" altLang="ko-KR" dirty="0"/>
          </a:p>
          <a:p>
            <a:r>
              <a:rPr lang="ko-KR" altLang="en-US" b="1" dirty="0"/>
              <a:t>💡 </a:t>
            </a:r>
            <a:r>
              <a:rPr lang="ko-KR" altLang="en-US" b="1" dirty="0" err="1"/>
              <a:t>버퍼링</a:t>
            </a:r>
            <a:r>
              <a:rPr lang="ko-KR" altLang="en-US" b="1" dirty="0"/>
              <a:t> 수업</a:t>
            </a:r>
          </a:p>
          <a:p>
            <a:r>
              <a:rPr lang="ko-KR" altLang="en-US" dirty="0" err="1"/>
              <a:t>버퍼링</a:t>
            </a:r>
            <a:r>
              <a:rPr lang="ko-KR" altLang="en-US" dirty="0"/>
              <a:t> 수업이란</a:t>
            </a:r>
            <a:r>
              <a:rPr lang="en-US" altLang="ko-KR" dirty="0"/>
              <a:t>?</a:t>
            </a:r>
          </a:p>
          <a:p>
            <a:r>
              <a:rPr lang="ko-KR" altLang="en-US" dirty="0"/>
              <a:t>교육생들의 기본 지식이 다를 수 있으니 </a:t>
            </a:r>
            <a:r>
              <a:rPr lang="en-US" altLang="ko-KR" dirty="0"/>
              <a:t>1~2</a:t>
            </a:r>
            <a:r>
              <a:rPr lang="ko-KR" altLang="en-US" dirty="0"/>
              <a:t>주간 사전 지식을 서로 평탄하게 맞추기 위해 필요한 작업</a:t>
            </a:r>
          </a:p>
          <a:p>
            <a:r>
              <a:rPr lang="en-US" altLang="ko-KR" dirty="0"/>
              <a:t>1~2</a:t>
            </a:r>
            <a:r>
              <a:rPr lang="ko-KR" altLang="en-US" dirty="0"/>
              <a:t>주간 </a:t>
            </a:r>
            <a:r>
              <a:rPr lang="en-US" altLang="ko-KR" dirty="0"/>
              <a:t>000</a:t>
            </a:r>
            <a:r>
              <a:rPr lang="ko-KR" altLang="en-US" dirty="0"/>
              <a:t>를 수업할 건데</a:t>
            </a:r>
            <a:r>
              <a:rPr lang="en-US" altLang="ko-KR" dirty="0"/>
              <a:t>, </a:t>
            </a:r>
            <a:r>
              <a:rPr lang="ko-KR" altLang="en-US" dirty="0"/>
              <a:t>미리 알고 있는 분들은 과제만 해결하면 빨리 집에 가도 된다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처음 </a:t>
            </a:r>
            <a:r>
              <a:rPr lang="en-US" altLang="ko-KR" dirty="0"/>
              <a:t>1~2</a:t>
            </a:r>
            <a:r>
              <a:rPr lang="ko-KR" altLang="en-US" dirty="0"/>
              <a:t>주 간은 </a:t>
            </a:r>
            <a:r>
              <a:rPr lang="ko-KR" altLang="en-US" dirty="0" err="1"/>
              <a:t>버퍼링</a:t>
            </a:r>
            <a:r>
              <a:rPr lang="ko-KR" altLang="en-US" dirty="0"/>
              <a:t> 수업을 할 것이기 때문에 사전 지식이 많으면 지루하게 느껴질 수 있고</a:t>
            </a:r>
            <a:r>
              <a:rPr lang="en-US" altLang="ko-KR" dirty="0"/>
              <a:t>, </a:t>
            </a:r>
            <a:r>
              <a:rPr lang="ko-KR" altLang="en-US" dirty="0"/>
              <a:t>사전 지식이 부족하면 </a:t>
            </a:r>
            <a:r>
              <a:rPr lang="ko-KR" altLang="en-US" dirty="0" err="1"/>
              <a:t>빡세게</a:t>
            </a:r>
            <a:r>
              <a:rPr lang="ko-KR" altLang="en-US" dirty="0"/>
              <a:t> 느껴질 수 있다</a:t>
            </a:r>
            <a:r>
              <a:rPr lang="en-US" altLang="ko-KR" dirty="0"/>
              <a:t>. </a:t>
            </a:r>
            <a:r>
              <a:rPr lang="ko-KR" altLang="en-US" dirty="0"/>
              <a:t>이런 현상은 모두 자연스러운 것이고</a:t>
            </a:r>
            <a:r>
              <a:rPr lang="en-US" altLang="ko-KR" dirty="0"/>
              <a:t>, 3</a:t>
            </a:r>
            <a:r>
              <a:rPr lang="ko-KR" altLang="en-US" dirty="0"/>
              <a:t>주가 되었을 때는 모두 적응이 되었을 것이다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그때까지 모두 힘내시고 어려운 게 있으면 여기 상주 운영 선생님이 도움을 주실 것이다</a:t>
            </a:r>
            <a:r>
              <a:rPr lang="en-US" altLang="ko-KR" dirty="0"/>
              <a:t>.</a:t>
            </a:r>
          </a:p>
          <a:p>
            <a:endParaRPr lang="ko-KR" altLang="en-US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3458475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846366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ko-KR" altLang="en-US" dirty="0"/>
              <a:t>맞춤 수업</a:t>
            </a:r>
            <a:endParaRPr lang="en-US" altLang="ko-KR" dirty="0"/>
          </a:p>
          <a:p>
            <a:pPr marL="171450" indent="-171450">
              <a:buFontTx/>
              <a:buChar char="-"/>
            </a:pPr>
            <a:r>
              <a:rPr lang="en-US" altLang="ko-KR" dirty="0"/>
              <a:t>1</a:t>
            </a:r>
            <a:r>
              <a:rPr lang="ko-KR" altLang="en-US" dirty="0"/>
              <a:t>대 </a:t>
            </a:r>
            <a:r>
              <a:rPr lang="en-US" altLang="ko-KR" dirty="0"/>
              <a:t>1 </a:t>
            </a:r>
            <a:r>
              <a:rPr lang="ko-KR" altLang="en-US" dirty="0"/>
              <a:t>개별 컨설팅이나 취업 연계를 통해 여러분들이 모두 취</a:t>
            </a:r>
            <a:r>
              <a:rPr lang="en-US" altLang="ko-KR" dirty="0"/>
              <a:t>/</a:t>
            </a:r>
            <a:r>
              <a:rPr lang="ko-KR" altLang="en-US" dirty="0"/>
              <a:t>창업에 성공할 수 있도록 도움을 드릴 것이다</a:t>
            </a:r>
            <a:r>
              <a:rPr lang="en-US" altLang="ko-KR" dirty="0"/>
              <a:t>.</a:t>
            </a:r>
          </a:p>
          <a:p>
            <a:pPr marL="171450" indent="-171450">
              <a:buFontTx/>
              <a:buChar char="-"/>
            </a:pPr>
            <a:r>
              <a:rPr lang="en-US" altLang="ko-KR" dirty="0"/>
              <a:t>6</a:t>
            </a:r>
            <a:r>
              <a:rPr lang="ko-KR" altLang="en-US" dirty="0"/>
              <a:t>개월 교육이 끝나기 전에 백과 프론트에 대한 것들이 확정이 된다</a:t>
            </a:r>
            <a:r>
              <a:rPr lang="en-US" altLang="ko-KR" dirty="0"/>
              <a:t>. </a:t>
            </a:r>
            <a:r>
              <a:rPr lang="ko-KR" altLang="en-US" dirty="0"/>
              <a:t>이때 최대한 여러분들의 의견을 반영해 수업을 </a:t>
            </a:r>
            <a:r>
              <a:rPr lang="ko-KR" altLang="en-US" dirty="0" err="1"/>
              <a:t>진행해나가고</a:t>
            </a:r>
            <a:r>
              <a:rPr lang="ko-KR" altLang="en-US" dirty="0"/>
              <a:t> 도움을 드릴 것이다</a:t>
            </a:r>
            <a:r>
              <a:rPr lang="en-US" altLang="ko-KR" dirty="0"/>
              <a:t>.</a:t>
            </a:r>
          </a:p>
          <a:p>
            <a:pPr marL="171450" indent="-171450">
              <a:buFontTx/>
              <a:buChar char="-"/>
            </a:pPr>
            <a:r>
              <a:rPr lang="ko-KR" altLang="en-US" dirty="0"/>
              <a:t>이를 위해 수업의 커리큘럼은 초반에는 그대로 진행해 나가겠지만</a:t>
            </a:r>
            <a:r>
              <a:rPr lang="en-US" altLang="ko-KR" dirty="0"/>
              <a:t>, </a:t>
            </a:r>
            <a:r>
              <a:rPr lang="ko-KR" altLang="en-US" dirty="0"/>
              <a:t>상황을 최대한 반영해 유동적으로 진행될 것이다</a:t>
            </a:r>
            <a:r>
              <a:rPr lang="en-US" altLang="ko-KR" dirty="0"/>
              <a:t>. </a:t>
            </a:r>
            <a:r>
              <a:rPr lang="ko-KR" altLang="en-US" dirty="0"/>
              <a:t>이런 유동성이 앞서 말한 성과를 달성하는데 도움이 된 큰 요인 중 하나였다</a:t>
            </a:r>
            <a:r>
              <a:rPr lang="en-US" altLang="ko-KR" dirty="0"/>
              <a:t>.</a:t>
            </a:r>
          </a:p>
          <a:p>
            <a:pPr marL="171450" indent="-171450">
              <a:buFontTx/>
              <a:buChar char="-"/>
            </a:pPr>
            <a:endParaRPr lang="en-US" altLang="ko-KR" dirty="0"/>
          </a:p>
          <a:p>
            <a:pPr marL="228600" indent="-228600">
              <a:buAutoNum type="arabicPeriod"/>
            </a:pPr>
            <a:r>
              <a:rPr lang="ko-KR" altLang="en-US" dirty="0" err="1"/>
              <a:t>버퍼링</a:t>
            </a:r>
            <a:r>
              <a:rPr lang="ko-KR" altLang="en-US" dirty="0"/>
              <a:t> 수업</a:t>
            </a:r>
            <a:endParaRPr lang="en-US" altLang="ko-KR" dirty="0"/>
          </a:p>
          <a:p>
            <a:pPr marL="171450" indent="-171450">
              <a:buFontTx/>
              <a:buChar char="-"/>
            </a:pPr>
            <a:r>
              <a:rPr lang="ko-KR" altLang="en-US" dirty="0"/>
              <a:t>짧게는 </a:t>
            </a:r>
            <a:r>
              <a:rPr lang="en-US" altLang="ko-KR" dirty="0"/>
              <a:t>2</a:t>
            </a:r>
            <a:r>
              <a:rPr lang="ko-KR" altLang="en-US" dirty="0"/>
              <a:t>주</a:t>
            </a:r>
            <a:r>
              <a:rPr lang="en-US" altLang="ko-KR" dirty="0"/>
              <a:t>, </a:t>
            </a:r>
            <a:r>
              <a:rPr lang="ko-KR" altLang="en-US" dirty="0"/>
              <a:t>길게는 한 달 간은 </a:t>
            </a:r>
            <a:r>
              <a:rPr lang="ko-KR" altLang="en-US" dirty="0" err="1"/>
              <a:t>버퍼링</a:t>
            </a:r>
            <a:r>
              <a:rPr lang="ko-KR" altLang="en-US" dirty="0"/>
              <a:t> 수업 형태로 수업을 진행할 것이다</a:t>
            </a:r>
            <a:r>
              <a:rPr lang="en-US" altLang="ko-KR" dirty="0"/>
              <a:t>.</a:t>
            </a:r>
          </a:p>
          <a:p>
            <a:pPr marL="171450" indent="-171450">
              <a:buFontTx/>
              <a:buChar char="-"/>
            </a:pPr>
            <a:r>
              <a:rPr lang="ko-KR" altLang="en-US" dirty="0"/>
              <a:t>교육생분들의 기본 지식이 모두 다를 수 있으니</a:t>
            </a:r>
            <a:r>
              <a:rPr lang="en-US" altLang="ko-KR" dirty="0"/>
              <a:t>, </a:t>
            </a:r>
            <a:r>
              <a:rPr lang="ko-KR" altLang="en-US" dirty="0"/>
              <a:t>그 사전 지식을 서로 평탄하게 맞추기 위해 필요한 작업이 </a:t>
            </a:r>
            <a:r>
              <a:rPr lang="ko-KR" altLang="en-US" dirty="0" err="1"/>
              <a:t>버펄이</a:t>
            </a:r>
            <a:r>
              <a:rPr lang="ko-KR" altLang="en-US" dirty="0"/>
              <a:t> 수업이다</a:t>
            </a:r>
            <a:r>
              <a:rPr lang="en-US" altLang="ko-KR" dirty="0"/>
              <a:t>.</a:t>
            </a:r>
          </a:p>
          <a:p>
            <a:pPr marL="171450" indent="-171450">
              <a:buFontTx/>
              <a:buChar char="-"/>
            </a:pPr>
            <a:r>
              <a:rPr lang="ko-KR" altLang="en-US" dirty="0" err="1"/>
              <a:t>버퍼링</a:t>
            </a:r>
            <a:r>
              <a:rPr lang="ko-KR" altLang="en-US" dirty="0"/>
              <a:t> 수업 도중에는 사전 지식이 많은 분들은 지루하게 느껴질 수 있고</a:t>
            </a:r>
            <a:r>
              <a:rPr lang="en-US" altLang="ko-KR" dirty="0"/>
              <a:t>, </a:t>
            </a:r>
            <a:r>
              <a:rPr lang="ko-KR" altLang="en-US" dirty="0"/>
              <a:t>사전 지식이 부족하신 분들은 힘들게 느껴질 수 있다</a:t>
            </a:r>
            <a:r>
              <a:rPr lang="en-US" altLang="ko-KR" dirty="0"/>
              <a:t>. </a:t>
            </a:r>
            <a:r>
              <a:rPr lang="ko-KR" altLang="en-US" dirty="0"/>
              <a:t>이런 현상은 모두 자연스러운 것이고</a:t>
            </a:r>
            <a:r>
              <a:rPr lang="en-US" altLang="ko-KR" dirty="0"/>
              <a:t>, </a:t>
            </a:r>
            <a:r>
              <a:rPr lang="ko-KR" altLang="en-US" dirty="0"/>
              <a:t>한 달 뒤 </a:t>
            </a:r>
            <a:r>
              <a:rPr lang="ko-KR" altLang="en-US" dirty="0" err="1"/>
              <a:t>버퍼링</a:t>
            </a:r>
            <a:r>
              <a:rPr lang="ko-KR" altLang="en-US" dirty="0"/>
              <a:t> 수업이 모두 끝나셨을 때는 모두 적응이 되었을 것이다</a:t>
            </a:r>
            <a:r>
              <a:rPr lang="en-US" altLang="ko-KR" dirty="0"/>
              <a:t>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947722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ko-KR" altLang="en-US" dirty="0"/>
              <a:t>공부를 하시면 가장 힘든 시기가 처음 한달</a:t>
            </a:r>
            <a:r>
              <a:rPr lang="en-US" altLang="ko-KR" dirty="0"/>
              <a:t>, 3</a:t>
            </a:r>
            <a:r>
              <a:rPr lang="ko-KR" altLang="en-US" dirty="0"/>
              <a:t>달이 되는 시점</a:t>
            </a:r>
            <a:r>
              <a:rPr lang="en-US" altLang="ko-KR" dirty="0"/>
              <a:t>(50%), 80%</a:t>
            </a:r>
            <a:r>
              <a:rPr lang="ko-KR" altLang="en-US" dirty="0"/>
              <a:t>가 되는 시점이 가장 힘드실 거다</a:t>
            </a:r>
            <a:r>
              <a:rPr lang="en-US" altLang="ko-KR" dirty="0"/>
              <a:t>. </a:t>
            </a:r>
          </a:p>
          <a:p>
            <a:pPr marL="171450" indent="-171450">
              <a:buFontTx/>
              <a:buChar char="-"/>
            </a:pPr>
            <a:r>
              <a:rPr lang="ko-KR" altLang="en-US" dirty="0"/>
              <a:t>처음 한 달 동안 왜 나만 못하지</a:t>
            </a:r>
            <a:r>
              <a:rPr lang="en-US" altLang="ko-KR" dirty="0"/>
              <a:t>? </a:t>
            </a:r>
            <a:r>
              <a:rPr lang="ko-KR" altLang="en-US" dirty="0"/>
              <a:t>나는 이 길이 잘 안 맞는가</a:t>
            </a:r>
            <a:r>
              <a:rPr lang="en-US" altLang="ko-KR" dirty="0"/>
              <a:t>? </a:t>
            </a:r>
            <a:r>
              <a:rPr lang="ko-KR" altLang="en-US" dirty="0"/>
              <a:t>라는 생각이 분명히 드실 것이다</a:t>
            </a:r>
            <a:r>
              <a:rPr lang="en-US" altLang="ko-KR" dirty="0"/>
              <a:t>. </a:t>
            </a:r>
            <a:r>
              <a:rPr lang="ko-KR" altLang="en-US" dirty="0"/>
              <a:t>하지만</a:t>
            </a:r>
            <a:r>
              <a:rPr lang="en-US" altLang="ko-KR" dirty="0"/>
              <a:t>, </a:t>
            </a:r>
            <a:r>
              <a:rPr lang="ko-KR" altLang="en-US" dirty="0"/>
              <a:t>이 모든 것들은 자연스러운 현상으로 힘든 기간을 참고 견디시면 분명 길이 보이실 겁니다</a:t>
            </a:r>
            <a:r>
              <a:rPr lang="en-US" altLang="ko-KR" dirty="0"/>
              <a:t>.</a:t>
            </a:r>
          </a:p>
          <a:p>
            <a:pPr marL="171450" indent="-171450">
              <a:buFontTx/>
              <a:buChar char="-"/>
            </a:pPr>
            <a:r>
              <a:rPr lang="ko-KR" altLang="en-US" dirty="0"/>
              <a:t>다른 모든 직무</a:t>
            </a:r>
            <a:r>
              <a:rPr lang="en-US" altLang="ko-KR" dirty="0"/>
              <a:t>, </a:t>
            </a:r>
            <a:r>
              <a:rPr lang="ko-KR" altLang="en-US" dirty="0"/>
              <a:t>지식들이 마찬가지겠지만 개발영역은 특히 더 계단식으로 성장합니다</a:t>
            </a:r>
            <a:r>
              <a:rPr lang="en-US" altLang="ko-KR" dirty="0"/>
              <a:t>. </a:t>
            </a:r>
            <a:r>
              <a:rPr lang="ko-KR" altLang="en-US" dirty="0"/>
              <a:t>내가 왜 안 바뀌지 라고 </a:t>
            </a:r>
            <a:r>
              <a:rPr lang="ko-KR" altLang="en-US" dirty="0" err="1"/>
              <a:t>게속</a:t>
            </a:r>
            <a:r>
              <a:rPr lang="ko-KR" altLang="en-US" dirty="0"/>
              <a:t> 가는 것처럼 </a:t>
            </a:r>
            <a:r>
              <a:rPr lang="ko-KR" altLang="en-US" dirty="0" err="1"/>
              <a:t>보이겟지만</a:t>
            </a:r>
            <a:r>
              <a:rPr lang="en-US" altLang="ko-KR" dirty="0"/>
              <a:t>, </a:t>
            </a:r>
            <a:r>
              <a:rPr lang="ko-KR" altLang="en-US" dirty="0"/>
              <a:t>어느 순간 깨달음을 얻는 것처럼 역량이 확 늘어날 것입니다</a:t>
            </a:r>
            <a:r>
              <a:rPr lang="en-US" altLang="ko-KR" dirty="0"/>
              <a:t>.</a:t>
            </a:r>
          </a:p>
          <a:p>
            <a:pPr marL="171450" indent="-171450">
              <a:buFontTx/>
              <a:buChar char="-"/>
            </a:pPr>
            <a:r>
              <a:rPr lang="ko-KR" altLang="en-US" dirty="0"/>
              <a:t>정체기 기간 동안 힘드시겠지만 저와 함께 포기하지 말고 꾸준히 노력하면서 얻고자 하는 것을 </a:t>
            </a:r>
            <a:r>
              <a:rPr lang="ko-KR" altLang="en-US" dirty="0" err="1"/>
              <a:t>얻어내봅시다</a:t>
            </a:r>
            <a:r>
              <a:rPr lang="en-US" altLang="ko-KR" dirty="0"/>
              <a:t>. </a:t>
            </a:r>
          </a:p>
          <a:p>
            <a:pPr marL="171450" indent="-171450">
              <a:buFontTx/>
              <a:buChar char="-"/>
            </a:pPr>
            <a:r>
              <a:rPr lang="en-US" altLang="ko-KR" dirty="0"/>
              <a:t>3</a:t>
            </a:r>
            <a:r>
              <a:rPr lang="ko-KR" altLang="en-US" dirty="0"/>
              <a:t>개월 시점에는 성장의 폭이 줄어들었다고 느끼실 수 있는데 그것 또한 당연한 수순이겠죠</a:t>
            </a:r>
            <a:r>
              <a:rPr lang="en-US" altLang="ko-KR" dirty="0"/>
              <a:t>? 3</a:t>
            </a:r>
            <a:r>
              <a:rPr lang="ko-KR" altLang="en-US" dirty="0"/>
              <a:t>개월 동안 실력이 향상했으니</a:t>
            </a:r>
            <a:r>
              <a:rPr lang="en-US" altLang="ko-KR" dirty="0"/>
              <a:t>, </a:t>
            </a:r>
            <a:r>
              <a:rPr lang="ko-KR" altLang="en-US" dirty="0"/>
              <a:t>배우는 것이 어려워질 것이고 그와 연관되어 이해가 어렵고 응용이 어려운 건 당연해지는 것입니다</a:t>
            </a:r>
            <a:r>
              <a:rPr lang="en-US" altLang="ko-KR" dirty="0"/>
              <a:t>.</a:t>
            </a:r>
          </a:p>
          <a:p>
            <a:pPr marL="171450" indent="-171450">
              <a:buFontTx/>
              <a:buChar char="-"/>
            </a:pPr>
            <a:r>
              <a:rPr lang="ko-KR" altLang="en-US" dirty="0"/>
              <a:t>이 모든 어려움을 저와 함께 </a:t>
            </a:r>
            <a:r>
              <a:rPr lang="ko-KR" altLang="en-US" dirty="0" err="1"/>
              <a:t>해결해나가봅시다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3435182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웬만하면 빠지지 말자</a:t>
            </a:r>
            <a:r>
              <a:rPr lang="en-US" altLang="ko-KR" dirty="0"/>
              <a:t>! </a:t>
            </a:r>
          </a:p>
          <a:p>
            <a:r>
              <a:rPr lang="ko-KR" altLang="en-US" b="0" i="0" dirty="0">
                <a:solidFill>
                  <a:srgbClr val="212529"/>
                </a:solidFill>
                <a:effectLst/>
                <a:highlight>
                  <a:srgbClr val="FFFFFF"/>
                </a:highlight>
                <a:latin typeface="-apple-system"/>
              </a:rPr>
              <a:t>기본적으로 주 </a:t>
            </a:r>
            <a:r>
              <a:rPr lang="en-US" altLang="ko-KR" b="0" i="0" dirty="0">
                <a:solidFill>
                  <a:srgbClr val="212529"/>
                </a:solidFill>
                <a:effectLst/>
                <a:highlight>
                  <a:srgbClr val="FFFFFF"/>
                </a:highlight>
                <a:latin typeface="-apple-system"/>
              </a:rPr>
              <a:t>3</a:t>
            </a:r>
            <a:r>
              <a:rPr lang="ko-KR" altLang="en-US" b="0" i="0" dirty="0">
                <a:solidFill>
                  <a:srgbClr val="212529"/>
                </a:solidFill>
                <a:effectLst/>
                <a:highlight>
                  <a:srgbClr val="FFFFFF"/>
                </a:highlight>
                <a:latin typeface="-apple-system"/>
              </a:rPr>
              <a:t>일 과정이기에 하루에 나가는 진도가 굉장히 타이트 한 편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740036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9412000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9504986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889837-5033-E8CC-A215-EF02DE0D48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BA24305-7705-D76E-7641-5985CBEB82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B348CC1-237A-6D67-9854-8DD2CFF599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FA454ED-AA18-8AA3-0D45-94405B3EE49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31A1BA-5463-484A-B77A-5C292E222CA2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8192432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선생님</a:t>
            </a:r>
            <a:r>
              <a:rPr lang="en-US" altLang="ko-KR" dirty="0"/>
              <a:t>, </a:t>
            </a:r>
            <a:r>
              <a:rPr lang="ko-KR" altLang="en-US" dirty="0"/>
              <a:t>강사님 불러도 안가요</a:t>
            </a:r>
            <a:r>
              <a:rPr lang="en-US" altLang="ko-KR" dirty="0"/>
              <a:t>~~ </a:t>
            </a:r>
            <a:r>
              <a:rPr lang="ko-KR" altLang="en-US" dirty="0" err="1"/>
              <a:t>크루리더</a:t>
            </a:r>
            <a:r>
              <a:rPr lang="en-US" altLang="ko-KR" dirty="0"/>
              <a:t>!!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0086406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50FCFC-DEF0-4809-AB35-5DCCCC68A436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4275181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50FCFC-DEF0-4809-AB35-5DCCCC68A436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4485857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err="1"/>
              <a:t>코딩오울</a:t>
            </a:r>
            <a:r>
              <a:rPr lang="ko-KR" altLang="en-US" dirty="0"/>
              <a:t> 소개 </a:t>
            </a:r>
            <a:endParaRPr lang="en-US" altLang="ko-KR" dirty="0"/>
          </a:p>
          <a:p>
            <a:pPr marL="171450" indent="-171450">
              <a:buFont typeface="Wingdings" panose="05000000000000000000" pitchFamily="2" charset="2"/>
              <a:buChar char="è"/>
            </a:pPr>
            <a:r>
              <a:rPr lang="ko-KR" altLang="en-US" dirty="0" err="1"/>
              <a:t>마니또</a:t>
            </a:r>
            <a:r>
              <a:rPr lang="ko-KR" altLang="en-US" dirty="0"/>
              <a:t> 설명 및 종이 배부</a:t>
            </a:r>
            <a:endParaRPr lang="en-US" altLang="ko-KR" dirty="0"/>
          </a:p>
          <a:p>
            <a:pPr marL="171450" indent="-171450">
              <a:buFont typeface="Wingdings" panose="05000000000000000000" pitchFamily="2" charset="2"/>
              <a:buChar char="è"/>
            </a:pPr>
            <a:r>
              <a:rPr lang="ko-KR" altLang="en-US" dirty="0"/>
              <a:t>크루 자기소개</a:t>
            </a:r>
            <a:endParaRPr lang="en-US" altLang="ko-KR" dirty="0"/>
          </a:p>
          <a:p>
            <a:pPr marL="171450" indent="-171450">
              <a:buFont typeface="Wingdings" panose="05000000000000000000" pitchFamily="2" charset="2"/>
              <a:buChar char="è"/>
            </a:pPr>
            <a:r>
              <a:rPr lang="ko-KR" altLang="en-US" dirty="0"/>
              <a:t>빙고 게임 </a:t>
            </a:r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31A1BA-5463-484A-B77A-5C292E222CA2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3810520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한 명 지목 후 크루가 타 크루 랜덤 지목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50FCFC-DEF0-4809-AB35-5DCCCC68A436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4816638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B97F51-7D82-7162-AC66-A851208351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3BB068F-23F9-F369-25E9-468B3E755FC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9A66899-F11C-3F6C-106C-11075B899A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C46DC53-3E4E-915D-AB6D-DA1E3ECADE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31A1BA-5463-484A-B77A-5C292E222CA2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8381674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6711752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5628887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2117652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4569347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38862A-0E0D-3A28-40BB-D548036C91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FE665DB-81BE-4C1D-9F40-920BE9EA980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FC76334-8B44-0604-EE6F-F49FDA50C7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>
                <a:solidFill>
                  <a:schemeClr val="accent1"/>
                </a:solidFill>
              </a:rPr>
              <a:t>git config --global </a:t>
            </a:r>
            <a:r>
              <a:rPr lang="en-US" altLang="ko-KR" dirty="0" err="1">
                <a:solidFill>
                  <a:schemeClr val="accent1"/>
                </a:solidFill>
              </a:rPr>
              <a:t>core.ignorecase</a:t>
            </a:r>
            <a:r>
              <a:rPr lang="en-US" altLang="ko-KR" dirty="0">
                <a:solidFill>
                  <a:schemeClr val="accent1"/>
                </a:solidFill>
              </a:rPr>
              <a:t> false:</a:t>
            </a:r>
            <a:r>
              <a:rPr lang="ko-KR" altLang="en-US" dirty="0">
                <a:solidFill>
                  <a:schemeClr val="accent1"/>
                </a:solidFill>
              </a:rPr>
              <a:t> 대소문자 구분해달라는 설정</a:t>
            </a:r>
            <a:endParaRPr lang="en-US" altLang="ko-KR" dirty="0">
              <a:solidFill>
                <a:schemeClr val="accent1"/>
              </a:solidFill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E7AD3D0-3A43-6344-A47F-92A948EE397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048133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215786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2817987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7853676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6020145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3808984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009D0C-0730-3FA7-D006-7345AAB817A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1080511"/>
            <a:ext cx="9144000" cy="2387600"/>
          </a:xfrm>
        </p:spPr>
        <p:txBody>
          <a:bodyPr anchor="b"/>
          <a:lstStyle>
            <a:lvl1pPr algn="ctr">
              <a:defRPr sz="6000" b="1">
                <a:solidFill>
                  <a:srgbClr val="6EC173"/>
                </a:solidFill>
              </a:defRPr>
            </a:lvl1pPr>
          </a:lstStyle>
          <a:p>
            <a:r>
              <a:rPr lang="ko-KR" altLang="en-US" sz="6000" dirty="0" err="1"/>
              <a:t>과정명</a:t>
            </a:r>
            <a:endParaRPr lang="ko-KR" altLang="en-US" sz="60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BBAF2A3-6AB5-1035-43BF-2D5011F42D6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3741092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dirty="0"/>
              <a:t>부제목</a:t>
            </a:r>
          </a:p>
        </p:txBody>
      </p:sp>
      <p:sp>
        <p:nvSpPr>
          <p:cNvPr id="11" name="날짜 개체 틀 10">
            <a:extLst>
              <a:ext uri="{FF2B5EF4-FFF2-40B4-BE49-F238E27FC236}">
                <a16:creationId xmlns:a16="http://schemas.microsoft.com/office/drawing/2014/main" id="{AAFCC098-95A8-6767-4379-8DD4626B9D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12" name="바닥글 개체 틀 11">
            <a:extLst>
              <a:ext uri="{FF2B5EF4-FFF2-40B4-BE49-F238E27FC236}">
                <a16:creationId xmlns:a16="http://schemas.microsoft.com/office/drawing/2014/main" id="{51CCB6AA-ECDD-5B10-7505-0EFEAC9C64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13" name="슬라이드 번호 개체 틀 12">
            <a:extLst>
              <a:ext uri="{FF2B5EF4-FFF2-40B4-BE49-F238E27FC236}">
                <a16:creationId xmlns:a16="http://schemas.microsoft.com/office/drawing/2014/main" id="{38B667F6-930A-7162-796D-3A16CE2AF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4" name="제목 1">
            <a:extLst>
              <a:ext uri="{FF2B5EF4-FFF2-40B4-BE49-F238E27FC236}">
                <a16:creationId xmlns:a16="http://schemas.microsoft.com/office/drawing/2014/main" id="{92A323E6-E95B-6EB2-7753-649DE78B1653}"/>
              </a:ext>
            </a:extLst>
          </p:cNvPr>
          <p:cNvSpPr txBox="1">
            <a:spLocks/>
          </p:cNvSpPr>
          <p:nvPr userDrawn="1"/>
        </p:nvSpPr>
        <p:spPr>
          <a:xfrm>
            <a:off x="6096000" y="2203895"/>
            <a:ext cx="3287846" cy="45852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altLang="ko-KR" sz="2400" dirty="0">
              <a:solidFill>
                <a:srgbClr val="6EC173"/>
              </a:solidFill>
            </a:endParaRPr>
          </a:p>
        </p:txBody>
      </p:sp>
      <p:pic>
        <p:nvPicPr>
          <p:cNvPr id="5" name="그림 4" descr="그래픽, 그래픽 디자인, 클립아트, 다채로움이(가) 표시된 사진&#10;&#10;자동 생성된 설명">
            <a:extLst>
              <a:ext uri="{FF2B5EF4-FFF2-40B4-BE49-F238E27FC236}">
                <a16:creationId xmlns:a16="http://schemas.microsoft.com/office/drawing/2014/main" id="{BE5A577B-81A7-2FA6-9E57-9DCEC5BF71F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96000" y="1461146"/>
            <a:ext cx="3600000" cy="36521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60403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파트제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날짜 개체 틀 10">
            <a:extLst>
              <a:ext uri="{FF2B5EF4-FFF2-40B4-BE49-F238E27FC236}">
                <a16:creationId xmlns:a16="http://schemas.microsoft.com/office/drawing/2014/main" id="{AAFCC098-95A8-6767-4379-8DD4626B9D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12" name="바닥글 개체 틀 11">
            <a:extLst>
              <a:ext uri="{FF2B5EF4-FFF2-40B4-BE49-F238E27FC236}">
                <a16:creationId xmlns:a16="http://schemas.microsoft.com/office/drawing/2014/main" id="{51CCB6AA-ECDD-5B10-7505-0EFEAC9C64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13" name="슬라이드 번호 개체 틀 12">
            <a:extLst>
              <a:ext uri="{FF2B5EF4-FFF2-40B4-BE49-F238E27FC236}">
                <a16:creationId xmlns:a16="http://schemas.microsoft.com/office/drawing/2014/main" id="{38B667F6-930A-7162-796D-3A16CE2AF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4" name="제목 1">
            <a:extLst>
              <a:ext uri="{FF2B5EF4-FFF2-40B4-BE49-F238E27FC236}">
                <a16:creationId xmlns:a16="http://schemas.microsoft.com/office/drawing/2014/main" id="{92A323E6-E95B-6EB2-7753-649DE78B1653}"/>
              </a:ext>
            </a:extLst>
          </p:cNvPr>
          <p:cNvSpPr txBox="1">
            <a:spLocks/>
          </p:cNvSpPr>
          <p:nvPr userDrawn="1"/>
        </p:nvSpPr>
        <p:spPr>
          <a:xfrm>
            <a:off x="6096000" y="2203895"/>
            <a:ext cx="3287846" cy="45852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altLang="ko-KR" sz="2400" dirty="0">
              <a:solidFill>
                <a:srgbClr val="6EC173"/>
              </a:solidFill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838200" y="2598269"/>
            <a:ext cx="10515600" cy="1325563"/>
          </a:xfrm>
        </p:spPr>
        <p:txBody>
          <a:bodyPr>
            <a:noAutofit/>
          </a:bodyPr>
          <a:lstStyle>
            <a:lvl1pPr algn="ctr">
              <a:defRPr sz="8000" b="1">
                <a:solidFill>
                  <a:srgbClr val="6EC173"/>
                </a:solidFill>
              </a:defRPr>
            </a:lvl1pPr>
          </a:lstStyle>
          <a:p>
            <a:r>
              <a:rPr lang="ko-KR" altLang="en-US" dirty="0"/>
              <a:t>파트 제목</a:t>
            </a:r>
          </a:p>
        </p:txBody>
      </p:sp>
    </p:spTree>
    <p:extLst>
      <p:ext uri="{BB962C8B-B14F-4D97-AF65-F5344CB8AC3E}">
        <p14:creationId xmlns:p14="http://schemas.microsoft.com/office/powerpoint/2010/main" val="771448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8757714-0D4F-E274-0B81-4198785050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784D0C3-D33B-7107-AB80-D9F33099C3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9897DBF-398C-9DB6-E916-35AB4FE2F4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155B8D2-7CD5-9B15-8E13-87FF760EC8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7" name="제목 개체 틀 1">
            <a:extLst>
              <a:ext uri="{FF2B5EF4-FFF2-40B4-BE49-F238E27FC236}">
                <a16:creationId xmlns:a16="http://schemas.microsoft.com/office/drawing/2014/main" id="{964962A2-A4D4-9231-66A1-E1F593E604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23965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1721357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14601C5-2723-67A2-7D21-9F39D14C7C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4B1E75F-8FF2-A69A-E094-650EAEFD04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331FDEF-673D-E199-7B54-FFD44BA29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5A7087-D460-46DD-B430-F8D9B9677D08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6E7B47C-D16B-1F66-3165-B941B9C612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6F13A5C-BE81-C46F-5191-E33C5F066F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285542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D69A2ED-4026-CEC5-0F77-74287163EC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95CA756-D15D-464E-966E-2DF9AA9796A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FDC8A21-839F-87B3-9ABB-E0DA07E88E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B268EA5-E313-8CB5-4A12-914620F474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81BA25-D675-4234-A003-8449BDEEF18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2797BB-0DAF-A25A-8AC2-46D61F5D6C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48752A1-1625-10E7-A4F0-2E13719E44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14418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B7AE7F-26ED-35B6-1BBA-A08CB8ECE2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588D8DD-7148-8B19-6172-B0A169CFC3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38CD1D6-87C8-BD82-7711-368227F17A5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EA208518-1B3C-A417-C6AC-99F9C66D122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D843F92-B722-06A6-9A56-0A03BE26CFC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3532A15-9ECF-C043-5CC2-911757B5AC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155C29-A87F-46F0-A24C-6C9F0A4BF6AA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79998F67-77F3-1632-EC3C-114B75C5A3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8AB6C1BB-6866-2A3B-A1F3-28B5D93C14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311712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899283-9B12-5339-3042-B6B67884BD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D97E34E6-ECFD-E5F2-081F-39427DA947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2EDD62-8757-43DB-BAE0-460422B548EA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AE04029-E47F-F52E-AF1E-D31E2D400E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3665754-DE22-245A-A4D5-FE78A35B0D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745469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35E82391-47AE-B4C0-C4C4-22E5D96331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6A871B-4800-495F-AC75-93D44C7DEBA5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B69BF5EA-4922-4594-BC0D-A1D7F17A9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67BF1BF-296A-E655-349A-1877369A8C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788324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5094360-95AE-5B28-BF6B-212680601E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6D97E12-A7FB-C81A-18C2-34781A0686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739CAA1-90A7-601C-BD90-A0DC6A391D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E885FF0-6BE8-F11D-CDAC-7E7B63F396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605888-30A6-49BB-95E2-DEAE4E5B09E9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3A67A35-AF67-BDC9-86E1-D6EE283B8D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8C23707-35CC-08DC-8C13-06293DE525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698824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0BD7A00-094E-C3F9-1A07-8FD90B7C99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DFE9F136-9A64-0D06-F721-734E1E22447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5C3BE40-4202-4B4A-C8A7-24945AC6EE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DD21BA2-CA17-A4B0-BBDD-B3995CC85A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A39A32-5728-48B8-9F9C-437D214CCAF1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E5E2437-D7E8-6CA8-856B-7C81E4CF80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000DA3E-B239-6A01-347D-5321CBE953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76453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8DC3B4-86CF-2498-CC6E-A256E4AA68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1E0FE57-EEBD-DC2E-5AAA-A425A6D59E3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C0A4B4C-46E0-9C94-5EAC-7237CB6A9F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ECC8BA-EBCB-4BF9-8E87-970CE0138376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816647A-6FF5-9F90-2812-CADD484055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F6AE80C-7F7A-130E-8BD8-5BA97658E5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5325618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E58AC244-4A84-09D3-50FB-F934F9F4796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B03D64C9-D76D-C43E-C82B-A315CE73F3E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40D0D7C-1A4D-433C-79F6-2C0633D1E9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69FA6E-4699-4AC6-B2CB-4E60A58ED7A8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C3F9A77-28DF-C409-13B2-D20C80BB4A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C466F88-F4F1-E00D-DC2A-8DBEA27072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765875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0FFFA81-23D3-040A-78B0-48B808FA70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23965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9EC21FE-078C-940B-0151-04DDA663F5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57DE65-2350-3072-3D26-AE091FE7230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0" y="6479713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91C14A-5735-4A8B-B68B-DEC1DC2A3813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960F7DA-0F14-8211-C3E8-B6E466EE492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C8DDAAB-9487-BAAF-7209-B8E704131B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448800" y="6479714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114AD115-409A-442E-434C-D90831860530}"/>
              </a:ext>
            </a:extLst>
          </p:cNvPr>
          <p:cNvSpPr/>
          <p:nvPr userDrawn="1"/>
        </p:nvSpPr>
        <p:spPr>
          <a:xfrm>
            <a:off x="0" y="6415344"/>
            <a:ext cx="12192000" cy="45719"/>
          </a:xfrm>
          <a:prstGeom prst="rect">
            <a:avLst/>
          </a:prstGeom>
          <a:solidFill>
            <a:srgbClr val="6EC173"/>
          </a:solidFill>
          <a:ln>
            <a:solidFill>
              <a:srgbClr val="6EC17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4" name="그림 13" descr="그래픽, 그래픽 디자인, 폰트, 원이(가) 표시된 사진&#10;&#10;자동 생성된 설명">
            <a:extLst>
              <a:ext uri="{FF2B5EF4-FFF2-40B4-BE49-F238E27FC236}">
                <a16:creationId xmlns:a16="http://schemas.microsoft.com/office/drawing/2014/main" id="{0EB71D7B-83F1-1414-954A-8C79751B7793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35681" y="96056"/>
            <a:ext cx="1260000" cy="270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21838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3" r:id="rId1"/>
    <p:sldLayoutId id="2147483714" r:id="rId2"/>
    <p:sldLayoutId id="2147483715" r:id="rId3"/>
    <p:sldLayoutId id="2147483716" r:id="rId4"/>
    <p:sldLayoutId id="2147483717" r:id="rId5"/>
    <p:sldLayoutId id="2147483718" r:id="rId6"/>
    <p:sldLayoutId id="2147483719" r:id="rId7"/>
    <p:sldLayoutId id="2147483720" r:id="rId8"/>
    <p:sldLayoutId id="2147483721" r:id="rId9"/>
    <p:sldLayoutId id="2147483722" r:id="rId10"/>
    <p:sldLayoutId id="2147483723" r:id="rId11"/>
    <p:sldLayoutId id="2147483724" r:id="rId12"/>
  </p:sldLayoutIdLst>
  <p:hf hdr="0" ftr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6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hyperlink" Target="https://join.slack.com/t/slack-zfd4180/shared_invite/zt-2ihd0ol41-Gp53lC2FtLVwjYkia0FP8g" TargetMode="External"/><Relationship Id="rId3" Type="http://schemas.openxmlformats.org/officeDocument/2006/relationships/hyperlink" Target="https://open.kakao.com/o/gNET8Kme" TargetMode="External"/><Relationship Id="rId7" Type="http://schemas.openxmlformats.org/officeDocument/2006/relationships/hyperlink" Target="https://sesac4.slack.com/join/shared_invite/zt-1brcukxa8-qS57wMPHdJyNtbkrKqBbyQ#/shared-invite/email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hyperlink" Target="https://open.kakao.com/o/glc3ilqg" TargetMode="External"/><Relationship Id="rId9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6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gif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e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" TargetMode="Externa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4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code.visualstudio.com/download" TargetMode="Externa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6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8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hyperlink" Target="https://git-scm.com/" TargetMode="External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png"/><Relationship Id="rId3" Type="http://schemas.openxmlformats.org/officeDocument/2006/relationships/hyperlink" Target="https://velog.io/" TargetMode="External"/><Relationship Id="rId7" Type="http://schemas.openxmlformats.org/officeDocument/2006/relationships/image" Target="../media/image38.png"/><Relationship Id="rId2" Type="http://schemas.openxmlformats.org/officeDocument/2006/relationships/hyperlink" Target="https://www.tistory.com/" TargetMode="Externa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hyperlink" Target="https://rb.gy/ij9td" TargetMode="External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0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322363" y="1041400"/>
            <a:ext cx="9547274" cy="2387600"/>
          </a:xfrm>
        </p:spPr>
        <p:txBody>
          <a:bodyPr/>
          <a:lstStyle/>
          <a:p>
            <a:r>
              <a:rPr lang="ko-KR" altLang="en-US" dirty="0"/>
              <a:t>웹 개발자 부트캠프 과정 </a:t>
            </a:r>
            <a:r>
              <a:rPr lang="en-US" altLang="ko-KR" dirty="0"/>
              <a:t>OT</a:t>
            </a:r>
            <a:endParaRPr lang="ko-KR" altLang="en-US" dirty="0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 err="1"/>
              <a:t>CodingOn</a:t>
            </a:r>
            <a:endParaRPr lang="ko-KR" altLang="en-US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837902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DFF73B3-5C26-5E16-9BDE-BCFF4F85C1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45547"/>
            <a:ext cx="10515600" cy="4351338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ko-KR" altLang="en-US" dirty="0" err="1"/>
              <a:t>과정명</a:t>
            </a:r>
            <a:r>
              <a:rPr lang="ko-KR" altLang="en-US" dirty="0"/>
              <a:t> </a:t>
            </a:r>
            <a:r>
              <a:rPr lang="en-US" altLang="ko-KR" dirty="0"/>
              <a:t>: </a:t>
            </a:r>
            <a:r>
              <a:rPr lang="en-US" altLang="ko-KR" sz="2400" b="1" dirty="0" err="1">
                <a:solidFill>
                  <a:srgbClr val="6EC173"/>
                </a:solidFill>
              </a:rPr>
              <a:t>SeSAC</a:t>
            </a:r>
            <a:r>
              <a:rPr lang="en-US" altLang="ko-KR" sz="2400" b="1" dirty="0">
                <a:solidFill>
                  <a:srgbClr val="6EC173"/>
                </a:solidFill>
              </a:rPr>
              <a:t> </a:t>
            </a:r>
            <a:r>
              <a:rPr lang="ko-KR" altLang="en-US" sz="2400" b="1" dirty="0">
                <a:solidFill>
                  <a:srgbClr val="6EC173"/>
                </a:solidFill>
              </a:rPr>
              <a:t>영등포캠퍼스 </a:t>
            </a:r>
            <a:r>
              <a:rPr lang="en-US" altLang="ko-KR" sz="2400" b="1" dirty="0">
                <a:solidFill>
                  <a:srgbClr val="6EC173"/>
                </a:solidFill>
              </a:rPr>
              <a:t>6</a:t>
            </a:r>
            <a:r>
              <a:rPr lang="ko-KR" altLang="en-US" sz="2400" b="1" dirty="0">
                <a:solidFill>
                  <a:srgbClr val="6EC173"/>
                </a:solidFill>
              </a:rPr>
              <a:t>기 입문자도 가능한 웹 개발자 부트캠프</a:t>
            </a:r>
            <a:endParaRPr lang="en-US" altLang="ko-KR" b="1" dirty="0">
              <a:solidFill>
                <a:srgbClr val="6EC173"/>
              </a:solidFill>
            </a:endParaRPr>
          </a:p>
          <a:p>
            <a:pPr>
              <a:lnSpc>
                <a:spcPct val="100000"/>
              </a:lnSpc>
            </a:pPr>
            <a:r>
              <a:rPr lang="ko-KR" altLang="en-US" dirty="0"/>
              <a:t>일정</a:t>
            </a:r>
            <a:endParaRPr lang="en-US" altLang="ko-KR" dirty="0"/>
          </a:p>
          <a:p>
            <a:pPr lvl="1">
              <a:lnSpc>
                <a:spcPct val="100000"/>
              </a:lnSpc>
            </a:pPr>
            <a:r>
              <a:rPr lang="en-US" altLang="ko-KR" dirty="0"/>
              <a:t>2024.05.13(</a:t>
            </a:r>
            <a:r>
              <a:rPr lang="ko-KR" altLang="en-US" dirty="0"/>
              <a:t>월</a:t>
            </a:r>
            <a:r>
              <a:rPr lang="en-US" altLang="ko-KR" dirty="0"/>
              <a:t>) ~ 2024.11.15(</a:t>
            </a:r>
            <a:r>
              <a:rPr lang="ko-KR" altLang="en-US" dirty="0"/>
              <a:t>금</a:t>
            </a:r>
            <a:r>
              <a:rPr lang="en-US" altLang="ko-KR" dirty="0"/>
              <a:t>) </a:t>
            </a:r>
          </a:p>
          <a:p>
            <a:pPr lvl="1">
              <a:lnSpc>
                <a:spcPct val="100000"/>
              </a:lnSpc>
            </a:pPr>
            <a:r>
              <a:rPr lang="ko-KR" altLang="en-US" dirty="0"/>
              <a:t>매주 월</a:t>
            </a:r>
            <a:r>
              <a:rPr lang="en-US" altLang="ko-KR" dirty="0"/>
              <a:t>, </a:t>
            </a:r>
            <a:r>
              <a:rPr lang="ko-KR" altLang="en-US" dirty="0"/>
              <a:t>수</a:t>
            </a:r>
            <a:r>
              <a:rPr lang="en-US" altLang="ko-KR" dirty="0"/>
              <a:t>, </a:t>
            </a:r>
            <a:r>
              <a:rPr lang="ko-KR" altLang="en-US" dirty="0"/>
              <a:t>금 </a:t>
            </a:r>
            <a:r>
              <a:rPr lang="en-US" altLang="ko-KR" dirty="0"/>
              <a:t>13:00 ~ 19:00</a:t>
            </a:r>
          </a:p>
          <a:p>
            <a:pPr>
              <a:lnSpc>
                <a:spcPct val="150000"/>
              </a:lnSpc>
            </a:pPr>
            <a:r>
              <a:rPr lang="ko-KR" altLang="en-US" dirty="0"/>
              <a:t>장소</a:t>
            </a:r>
            <a:endParaRPr lang="en-US" altLang="ko-KR" dirty="0"/>
          </a:p>
          <a:p>
            <a:pPr lvl="1"/>
            <a:r>
              <a:rPr lang="en-US" altLang="ko-KR" dirty="0" err="1"/>
              <a:t>SeSAC</a:t>
            </a:r>
            <a:r>
              <a:rPr lang="en-US" altLang="ko-KR" dirty="0"/>
              <a:t> </a:t>
            </a:r>
            <a:r>
              <a:rPr lang="ko-KR" altLang="en-US" dirty="0"/>
              <a:t>영등포캠퍼스 </a:t>
            </a:r>
            <a:r>
              <a:rPr lang="en-US" altLang="ko-KR" dirty="0"/>
              <a:t>2</a:t>
            </a:r>
            <a:r>
              <a:rPr lang="ko-KR" altLang="en-US" dirty="0"/>
              <a:t>층 클래스</a:t>
            </a:r>
            <a:r>
              <a:rPr lang="en-US" altLang="ko-KR" dirty="0"/>
              <a:t>4</a:t>
            </a:r>
            <a:r>
              <a:rPr lang="ko-KR" altLang="en-US" dirty="0"/>
              <a:t> </a:t>
            </a:r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5297765-B987-FA4F-C411-BA22375C65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C40739-C760-4828-B24F-429363A89B3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A7866ED4-0F74-48BC-84C6-42485677A1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28CF676A-C128-F5C3-54C9-26BA3F2F96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과정 설명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B36AC6EF-DC8C-61E2-36BC-C563A40DE552}"/>
              </a:ext>
            </a:extLst>
          </p:cNvPr>
          <p:cNvSpPr/>
          <p:nvPr/>
        </p:nvSpPr>
        <p:spPr>
          <a:xfrm>
            <a:off x="7693572" y="5281448"/>
            <a:ext cx="1087821" cy="99177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880697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EFEEF68-3BF6-EF45-0154-00BB91AFD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커리큘럼</a:t>
            </a:r>
          </a:p>
        </p:txBody>
      </p:sp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65050DE8-20B8-115C-553F-0315E19D8D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331743"/>
            <a:ext cx="10515600" cy="798626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 altLang="ko-KR" sz="1400" b="0" i="0" dirty="0">
                <a:solidFill>
                  <a:srgbClr val="5FC32A"/>
                </a:solidFill>
                <a:effectLst/>
                <a:highlight>
                  <a:srgbClr val="FFFFFF"/>
                </a:highlight>
                <a:latin typeface="Pretendard" panose="02000503000000020004" pitchFamily="50" charset="-127"/>
                <a:ea typeface="Pretendard" panose="02000503000000020004" pitchFamily="50" charset="-127"/>
              </a:rPr>
              <a:t>※ </a:t>
            </a:r>
            <a:r>
              <a:rPr lang="ko-KR" altLang="en-US" sz="1400" b="0" i="0" dirty="0">
                <a:solidFill>
                  <a:srgbClr val="5FC32A"/>
                </a:solidFill>
                <a:effectLst/>
                <a:highlight>
                  <a:srgbClr val="FFFFFF"/>
                </a:highlight>
                <a:latin typeface="Pretendard" panose="02000503000000020004" pitchFamily="50" charset="-127"/>
                <a:ea typeface="Pretendard" panose="02000503000000020004" pitchFamily="50" charset="-127"/>
              </a:rPr>
              <a:t>커리큘럼 및 수업 진도는 크루들의 요청 또는 기타 사유로 인하여 속도 조절 및 내용이 변경 될 수 있습니다</a:t>
            </a:r>
            <a:r>
              <a:rPr lang="en-US" altLang="ko-KR" sz="1400" b="0" i="0" dirty="0">
                <a:solidFill>
                  <a:srgbClr val="5FC32A"/>
                </a:solidFill>
                <a:effectLst/>
                <a:highlight>
                  <a:srgbClr val="FFFFFF"/>
                </a:highlight>
                <a:latin typeface="Pretendard" panose="02000503000000020004" pitchFamily="50" charset="-127"/>
                <a:ea typeface="Pretendard" panose="02000503000000020004" pitchFamily="50" charset="-127"/>
              </a:rPr>
              <a:t>.</a:t>
            </a:r>
            <a:br>
              <a:rPr lang="ko-KR" altLang="en-US" sz="1400" dirty="0"/>
            </a:br>
            <a:r>
              <a:rPr lang="en-US" altLang="ko-KR" sz="1400" b="0" i="0" dirty="0">
                <a:solidFill>
                  <a:srgbClr val="5FC32A"/>
                </a:solidFill>
                <a:effectLst/>
                <a:highlight>
                  <a:srgbClr val="FFFFFF"/>
                </a:highlight>
                <a:latin typeface="Pretendard" panose="02000503000000020004" pitchFamily="50" charset="-127"/>
                <a:ea typeface="Pretendard" panose="02000503000000020004" pitchFamily="50" charset="-127"/>
              </a:rPr>
              <a:t>※ </a:t>
            </a:r>
            <a:r>
              <a:rPr lang="ko-KR" altLang="en-US" sz="1400" b="0" i="0" dirty="0" err="1">
                <a:solidFill>
                  <a:srgbClr val="5FC32A"/>
                </a:solidFill>
                <a:effectLst/>
                <a:highlight>
                  <a:srgbClr val="FFFFFF"/>
                </a:highlight>
                <a:latin typeface="Pretendard" panose="02000503000000020004" pitchFamily="50" charset="-127"/>
                <a:ea typeface="Pretendard" panose="02000503000000020004" pitchFamily="50" charset="-127"/>
              </a:rPr>
              <a:t>프론트엔드를</a:t>
            </a:r>
            <a:r>
              <a:rPr lang="ko-KR" altLang="en-US" sz="1400" b="0" i="0" dirty="0">
                <a:solidFill>
                  <a:srgbClr val="5FC32A"/>
                </a:solidFill>
                <a:effectLst/>
                <a:highlight>
                  <a:srgbClr val="FFFFFF"/>
                </a:highlight>
                <a:latin typeface="Pretendard" panose="02000503000000020004" pitchFamily="50" charset="-127"/>
                <a:ea typeface="Pretendard" panose="02000503000000020004" pitchFamily="50" charset="-127"/>
              </a:rPr>
              <a:t> 목표로 하는 크루는 </a:t>
            </a:r>
            <a:r>
              <a:rPr lang="ko-KR" altLang="en-US" sz="1400" b="0" i="0" dirty="0" err="1">
                <a:solidFill>
                  <a:srgbClr val="5FC32A"/>
                </a:solidFill>
                <a:effectLst/>
                <a:highlight>
                  <a:srgbClr val="FFFFFF"/>
                </a:highlight>
                <a:latin typeface="Pretendard" panose="02000503000000020004" pitchFamily="50" charset="-127"/>
                <a:ea typeface="Pretendard" panose="02000503000000020004" pitchFamily="50" charset="-127"/>
              </a:rPr>
              <a:t>프론트엔드</a:t>
            </a:r>
            <a:r>
              <a:rPr lang="ko-KR" altLang="en-US" sz="1400" b="0" i="0" dirty="0">
                <a:solidFill>
                  <a:srgbClr val="5FC32A"/>
                </a:solidFill>
                <a:effectLst/>
                <a:highlight>
                  <a:srgbClr val="FFFFFF"/>
                </a:highlight>
                <a:latin typeface="Pretendard" panose="02000503000000020004" pitchFamily="50" charset="-127"/>
                <a:ea typeface="Pretendard" panose="02000503000000020004" pitchFamily="50" charset="-127"/>
              </a:rPr>
              <a:t> 과정 종료 후 조기 취업 연계</a:t>
            </a:r>
            <a:r>
              <a:rPr lang="en-US" altLang="ko-KR" sz="1400" b="0" i="0" dirty="0">
                <a:solidFill>
                  <a:srgbClr val="5FC32A"/>
                </a:solidFill>
                <a:effectLst/>
                <a:highlight>
                  <a:srgbClr val="FFFFFF"/>
                </a:highlight>
                <a:latin typeface="Pretendard" panose="02000503000000020004" pitchFamily="50" charset="-127"/>
                <a:ea typeface="Pretendard" panose="02000503000000020004" pitchFamily="50" charset="-127"/>
              </a:rPr>
              <a:t>/1:1 </a:t>
            </a:r>
            <a:r>
              <a:rPr lang="ko-KR" altLang="en-US" sz="1400" b="0" i="0" dirty="0">
                <a:solidFill>
                  <a:srgbClr val="5FC32A"/>
                </a:solidFill>
                <a:effectLst/>
                <a:highlight>
                  <a:srgbClr val="FFFFFF"/>
                </a:highlight>
                <a:latin typeface="Pretendard" panose="02000503000000020004" pitchFamily="50" charset="-127"/>
                <a:ea typeface="Pretendard" panose="02000503000000020004" pitchFamily="50" charset="-127"/>
              </a:rPr>
              <a:t>맞춤 취업 컨설팅을 받으실 수 있습니다</a:t>
            </a:r>
            <a:r>
              <a:rPr lang="en-US" altLang="ko-KR" sz="1400" b="0" i="0" dirty="0">
                <a:solidFill>
                  <a:srgbClr val="5FC32A"/>
                </a:solidFill>
                <a:effectLst/>
                <a:highlight>
                  <a:srgbClr val="FFFFFF"/>
                </a:highlight>
                <a:latin typeface="Pretendard" panose="02000503000000020004" pitchFamily="50" charset="-127"/>
                <a:ea typeface="Pretendard" panose="02000503000000020004" pitchFamily="50" charset="-127"/>
              </a:rPr>
              <a:t>.</a:t>
            </a:r>
            <a:endParaRPr lang="ko-KR" altLang="en-US" sz="2000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274CAE6-9D4F-D463-C895-6AA134533C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340B0DF-C886-35CB-84E8-3A37F925C9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</a:t>
            </a:fld>
            <a:endParaRPr lang="ko-KR" altLang="en-US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E1E332B1-2398-F5BB-20D3-344BABEAB1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4788" y="2018857"/>
            <a:ext cx="10322423" cy="37841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50471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EFEEF68-3BF6-EF45-0154-00BB91AFD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코딩온</a:t>
            </a:r>
            <a:r>
              <a:rPr lang="ko-KR" altLang="en-US" dirty="0"/>
              <a:t> 과정 특징</a:t>
            </a:r>
          </a:p>
        </p:txBody>
      </p:sp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65050DE8-20B8-115C-553F-0315E19D8D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331743"/>
            <a:ext cx="10515600" cy="798626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ko-KR" altLang="en-US" sz="1800" b="0" i="0" dirty="0">
                <a:solidFill>
                  <a:srgbClr val="000000"/>
                </a:solidFill>
                <a:effectLst/>
                <a:latin typeface="Pretendard" panose="02000503000000020004" pitchFamily="50" charset="-127"/>
                <a:ea typeface="Pretendard" panose="02000503000000020004" pitchFamily="50" charset="-127"/>
              </a:rPr>
              <a:t>기획부터 배포까지 협업프로젝트로 완성하는 </a:t>
            </a:r>
            <a:r>
              <a:rPr lang="ko-KR" altLang="en-US" sz="1800" b="0" i="0" dirty="0" err="1">
                <a:solidFill>
                  <a:srgbClr val="000000"/>
                </a:solidFill>
                <a:effectLst/>
                <a:latin typeface="Pretendard" panose="02000503000000020004" pitchFamily="50" charset="-127"/>
                <a:ea typeface="Pretendard" panose="02000503000000020004" pitchFamily="50" charset="-127"/>
              </a:rPr>
              <a:t>풀스택</a:t>
            </a:r>
            <a:r>
              <a:rPr lang="ko-KR" altLang="en-US" sz="1800" b="0" i="0" dirty="0">
                <a:solidFill>
                  <a:srgbClr val="000000"/>
                </a:solidFill>
                <a:effectLst/>
                <a:latin typeface="Pretendard" panose="02000503000000020004" pitchFamily="50" charset="-127"/>
                <a:ea typeface="Pretendard" panose="02000503000000020004" pitchFamily="50" charset="-127"/>
              </a:rPr>
              <a:t> 웹 개발자 취업 부트캠프</a:t>
            </a:r>
            <a:r>
              <a:rPr lang="en-US" altLang="ko-KR" sz="1800" b="0" i="0" dirty="0">
                <a:solidFill>
                  <a:srgbClr val="000000"/>
                </a:solidFill>
                <a:effectLst/>
                <a:latin typeface="Pretendard" panose="02000503000000020004" pitchFamily="50" charset="-127"/>
                <a:ea typeface="Pretendard" panose="02000503000000020004" pitchFamily="50" charset="-127"/>
              </a:rPr>
              <a:t>!</a:t>
            </a:r>
            <a:r>
              <a:rPr lang="ko-KR" altLang="en-US" sz="1800" b="0" i="0" dirty="0">
                <a:solidFill>
                  <a:srgbClr val="000000"/>
                </a:solidFill>
                <a:effectLst/>
                <a:latin typeface="Pretendard" panose="02000503000000020004" pitchFamily="50" charset="-127"/>
                <a:ea typeface="Pretendard" panose="02000503000000020004" pitchFamily="50" charset="-127"/>
              </a:rPr>
              <a:t> </a:t>
            </a:r>
            <a:endParaRPr lang="en-US" altLang="ko-KR" sz="1800" b="0" i="0" dirty="0">
              <a:solidFill>
                <a:srgbClr val="000000"/>
              </a:solidFill>
              <a:effectLst/>
              <a:latin typeface="Pretendard" panose="02000503000000020004" pitchFamily="50" charset="-127"/>
              <a:ea typeface="Pretendard" panose="02000503000000020004" pitchFamily="50" charset="-127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ko-KR" altLang="en-US" sz="1800" b="1" i="0" dirty="0">
                <a:solidFill>
                  <a:srgbClr val="000000"/>
                </a:solidFill>
                <a:effectLst/>
                <a:latin typeface="Pretendard" panose="02000503000000020004" pitchFamily="50" charset="-127"/>
                <a:ea typeface="Pretendard" panose="02000503000000020004" pitchFamily="50" charset="-127"/>
              </a:rPr>
              <a:t>코딩을 처음 시작하는 입문자도 프로 웹 개발자가 될 수 있습니다</a:t>
            </a:r>
            <a:r>
              <a:rPr lang="en-US" altLang="ko-KR" sz="1800" b="1" i="0" dirty="0">
                <a:solidFill>
                  <a:srgbClr val="000000"/>
                </a:solidFill>
                <a:effectLst/>
                <a:latin typeface="Pretendard" panose="02000503000000020004" pitchFamily="50" charset="-127"/>
                <a:ea typeface="Pretendard" panose="02000503000000020004" pitchFamily="50" charset="-127"/>
              </a:rPr>
              <a:t>!</a:t>
            </a:r>
            <a:endParaRPr lang="ko-KR" altLang="en-US" sz="1800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274CAE6-9D4F-D463-C895-6AA134533C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340B0DF-C886-35CB-84E8-3A37F925C9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</a:t>
            </a:fld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AA471F79-19D3-130D-8A6A-7FFC5F7665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43975" y="2208428"/>
            <a:ext cx="7304049" cy="40025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786151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44C950B9-4BBE-BD19-B2FD-9EDB951062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77406" y="1042704"/>
            <a:ext cx="7542529" cy="2512420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altLang="ko-KR" sz="3500" b="1" dirty="0">
                <a:solidFill>
                  <a:srgbClr val="6EC173"/>
                </a:solidFill>
              </a:rPr>
              <a:t>1. </a:t>
            </a:r>
            <a:r>
              <a:rPr lang="ko-KR" altLang="en-US" sz="3500" b="1" dirty="0" err="1">
                <a:solidFill>
                  <a:srgbClr val="6EC173"/>
                </a:solidFill>
              </a:rPr>
              <a:t>버퍼링</a:t>
            </a:r>
            <a:r>
              <a:rPr lang="ko-KR" altLang="en-US" sz="3500" b="1" dirty="0">
                <a:solidFill>
                  <a:srgbClr val="6EC173"/>
                </a:solidFill>
              </a:rPr>
              <a:t> 수업</a:t>
            </a:r>
            <a:endParaRPr lang="en-US" altLang="ko-KR" sz="3500" b="1" dirty="0">
              <a:solidFill>
                <a:srgbClr val="6EC173"/>
              </a:solidFill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사전 지식을 서로 평탄하게 맞추기 위한 수업</a:t>
            </a:r>
            <a:endParaRPr lang="en-US" altLang="ko-KR" dirty="0"/>
          </a:p>
          <a:p>
            <a:pPr marL="0" indent="0">
              <a:lnSpc>
                <a:spcPct val="150000"/>
              </a:lnSpc>
              <a:buNone/>
            </a:pP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6479163-CD24-16A0-6953-E1368AD285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74A69541-BCCC-043B-4836-056FF9FDB4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</a:t>
            </a:fld>
            <a:endParaRPr lang="ko-KR" altLang="en-US" dirty="0"/>
          </a:p>
        </p:txBody>
      </p:sp>
      <p:pic>
        <p:nvPicPr>
          <p:cNvPr id="2050" name="Picture 2" descr="아프리카TV OGQ 마켓">
            <a:extLst>
              <a:ext uri="{FF2B5EF4-FFF2-40B4-BE49-F238E27FC236}">
                <a16:creationId xmlns:a16="http://schemas.microsoft.com/office/drawing/2014/main" id="{AA441FC9-2EBF-3EC0-A887-5FBA50E379B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69276" y="664670"/>
            <a:ext cx="2191407" cy="21914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초소형 테트리스 만들기">
            <a:extLst>
              <a:ext uri="{FF2B5EF4-FFF2-40B4-BE49-F238E27FC236}">
                <a16:creationId xmlns:a16="http://schemas.microsoft.com/office/drawing/2014/main" id="{412EDF1A-10BF-18C4-6161-398F2C979E6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420" t="57395" r="33723"/>
          <a:stretch/>
        </p:blipFill>
        <p:spPr bwMode="auto">
          <a:xfrm>
            <a:off x="996794" y="3809201"/>
            <a:ext cx="2743200" cy="2000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내용 개체 틀 2">
            <a:extLst>
              <a:ext uri="{FF2B5EF4-FFF2-40B4-BE49-F238E27FC236}">
                <a16:creationId xmlns:a16="http://schemas.microsoft.com/office/drawing/2014/main" id="{096A8525-E745-5CD7-290E-8B5ACC1A207C}"/>
              </a:ext>
            </a:extLst>
          </p:cNvPr>
          <p:cNvSpPr txBox="1">
            <a:spLocks/>
          </p:cNvSpPr>
          <p:nvPr/>
        </p:nvSpPr>
        <p:spPr>
          <a:xfrm>
            <a:off x="4477405" y="3555124"/>
            <a:ext cx="7542529" cy="251242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en-US" altLang="ko-KR" sz="3500" b="1" dirty="0">
                <a:solidFill>
                  <a:srgbClr val="6EC173"/>
                </a:solidFill>
              </a:rPr>
              <a:t>2. </a:t>
            </a:r>
            <a:r>
              <a:rPr lang="ko-KR" altLang="en-US" sz="3500" b="1" dirty="0">
                <a:solidFill>
                  <a:srgbClr val="6EC173"/>
                </a:solidFill>
              </a:rPr>
              <a:t>맞춤 수업</a:t>
            </a:r>
            <a:endParaRPr lang="en-US" altLang="ko-KR" sz="3500" b="1" dirty="0">
              <a:solidFill>
                <a:srgbClr val="6EC173"/>
              </a:solidFill>
            </a:endParaRPr>
          </a:p>
          <a:p>
            <a:pPr marL="0" indent="0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ko-KR" altLang="en-US" dirty="0"/>
              <a:t>교육생 의견을 반영한 맞춤 수업 진행</a:t>
            </a:r>
          </a:p>
        </p:txBody>
      </p:sp>
    </p:spTree>
    <p:extLst>
      <p:ext uri="{BB962C8B-B14F-4D97-AF65-F5344CB8AC3E}">
        <p14:creationId xmlns:p14="http://schemas.microsoft.com/office/powerpoint/2010/main" val="2034231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5CF2FC7-70C5-E821-C1DD-35BBEBD50A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3402C30-9276-EDB7-5777-8456571772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6</a:t>
            </a:fld>
            <a:endParaRPr lang="ko-KR" altLang="en-US"/>
          </a:p>
        </p:txBody>
      </p:sp>
      <p:pic>
        <p:nvPicPr>
          <p:cNvPr id="3074" name="Picture 2" descr="계단식 성장의 중요성 : 네이버 블로그">
            <a:extLst>
              <a:ext uri="{FF2B5EF4-FFF2-40B4-BE49-F238E27FC236}">
                <a16:creationId xmlns:a16="http://schemas.microsoft.com/office/drawing/2014/main" id="{D279DED3-A2F0-0154-AB54-91F8E8B4CB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49185" y="728663"/>
            <a:ext cx="7620000" cy="54006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299453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DFF73B3-5C26-5E16-9BDE-BCFF4F85C1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45547"/>
            <a:ext cx="10515600" cy="4351338"/>
          </a:xfrm>
        </p:spPr>
        <p:txBody>
          <a:bodyPr>
            <a:normAutofit lnSpcReduction="10000"/>
          </a:bodyPr>
          <a:lstStyle/>
          <a:p>
            <a:pPr>
              <a:lnSpc>
                <a:spcPct val="150000"/>
              </a:lnSpc>
            </a:pPr>
            <a:r>
              <a:rPr lang="ko-KR" altLang="en-US" sz="2400" dirty="0"/>
              <a:t>출석 체크 방법</a:t>
            </a:r>
            <a:endParaRPr lang="en-US" altLang="ko-KR" sz="2400" dirty="0"/>
          </a:p>
          <a:p>
            <a:pPr lvl="1">
              <a:lnSpc>
                <a:spcPct val="150000"/>
              </a:lnSpc>
            </a:pPr>
            <a:r>
              <a:rPr lang="en-US" altLang="ko-KR" sz="2000" dirty="0"/>
              <a:t>13:00 ~ 13:15 </a:t>
            </a:r>
            <a:r>
              <a:rPr lang="ko-KR" altLang="en-US" sz="2000" dirty="0"/>
              <a:t>까지 강의실 모니터의 </a:t>
            </a:r>
            <a:r>
              <a:rPr lang="en-US" altLang="ko-KR" sz="2000" dirty="0">
                <a:solidFill>
                  <a:schemeClr val="accent1"/>
                </a:solidFill>
              </a:rPr>
              <a:t>QR </a:t>
            </a:r>
            <a:r>
              <a:rPr lang="ko-KR" altLang="en-US" sz="2000" dirty="0">
                <a:solidFill>
                  <a:schemeClr val="accent1"/>
                </a:solidFill>
              </a:rPr>
              <a:t>코드</a:t>
            </a:r>
            <a:r>
              <a:rPr lang="ko-KR" altLang="en-US" sz="2000" dirty="0"/>
              <a:t>를 통해 출석 </a:t>
            </a:r>
            <a:endParaRPr lang="en-US" altLang="ko-KR" sz="2000" dirty="0"/>
          </a:p>
          <a:p>
            <a:pPr>
              <a:lnSpc>
                <a:spcPct val="150000"/>
              </a:lnSpc>
            </a:pPr>
            <a:r>
              <a:rPr lang="ko-KR" altLang="en-US" sz="2400" dirty="0"/>
              <a:t>지각</a:t>
            </a:r>
            <a:r>
              <a:rPr lang="en-US" altLang="ko-KR" sz="2400" dirty="0"/>
              <a:t>/</a:t>
            </a:r>
            <a:r>
              <a:rPr lang="ko-KR" altLang="en-US" sz="2400" dirty="0"/>
              <a:t>결석 기준</a:t>
            </a:r>
            <a:endParaRPr lang="en-US" altLang="ko-KR" sz="2400" dirty="0"/>
          </a:p>
          <a:p>
            <a:pPr lvl="1">
              <a:lnSpc>
                <a:spcPct val="150000"/>
              </a:lnSpc>
            </a:pPr>
            <a:r>
              <a:rPr lang="ko-KR" altLang="en-US" sz="2000" dirty="0"/>
              <a:t>지각</a:t>
            </a:r>
            <a:r>
              <a:rPr lang="en-US" altLang="ko-KR" sz="2000" dirty="0"/>
              <a:t>:</a:t>
            </a:r>
            <a:r>
              <a:rPr lang="ko-KR" altLang="en-US" sz="2000" dirty="0"/>
              <a:t> </a:t>
            </a:r>
            <a:r>
              <a:rPr lang="en-US" altLang="ko-KR" sz="2000" dirty="0"/>
              <a:t>13:15</a:t>
            </a:r>
            <a:r>
              <a:rPr lang="ko-KR" altLang="en-US" sz="2000" dirty="0"/>
              <a:t>분 이후</a:t>
            </a:r>
            <a:endParaRPr lang="en-US" altLang="ko-KR" sz="2000" dirty="0"/>
          </a:p>
          <a:p>
            <a:pPr lvl="1">
              <a:lnSpc>
                <a:spcPct val="150000"/>
              </a:lnSpc>
            </a:pPr>
            <a:r>
              <a:rPr lang="ko-KR" altLang="en-US" sz="2000" dirty="0"/>
              <a:t>결석</a:t>
            </a:r>
            <a:r>
              <a:rPr lang="en-US" altLang="ko-KR" sz="2000" dirty="0"/>
              <a:t>: </a:t>
            </a:r>
            <a:r>
              <a:rPr lang="ko-KR" altLang="en-US" sz="2000" dirty="0"/>
              <a:t>당일 수업의 </a:t>
            </a:r>
            <a:r>
              <a:rPr lang="en-US" altLang="ko-KR" sz="2000" dirty="0"/>
              <a:t>50% </a:t>
            </a:r>
            <a:r>
              <a:rPr lang="ko-KR" altLang="en-US" sz="2000" dirty="0"/>
              <a:t>미만 수강 시 </a:t>
            </a:r>
            <a:r>
              <a:rPr lang="en-US" altLang="ko-KR" sz="2000" dirty="0"/>
              <a:t>(6</a:t>
            </a:r>
            <a:r>
              <a:rPr lang="ko-KR" altLang="en-US" sz="2000" dirty="0"/>
              <a:t>시간 기준 </a:t>
            </a:r>
            <a:r>
              <a:rPr lang="en-US" altLang="ko-KR" sz="2000" dirty="0"/>
              <a:t>3</a:t>
            </a:r>
            <a:r>
              <a:rPr lang="ko-KR" altLang="en-US" sz="2000" dirty="0"/>
              <a:t>시간 미만 수강 시 결석과 동일</a:t>
            </a:r>
            <a:r>
              <a:rPr lang="en-US" altLang="ko-KR" sz="2000" dirty="0"/>
              <a:t>)</a:t>
            </a:r>
          </a:p>
          <a:p>
            <a:pPr>
              <a:lnSpc>
                <a:spcPct val="150000"/>
              </a:lnSpc>
            </a:pPr>
            <a:r>
              <a:rPr lang="ko-KR" altLang="en-US" sz="2400" dirty="0"/>
              <a:t>출석 인정</a:t>
            </a:r>
            <a:endParaRPr lang="en-US" altLang="ko-KR" sz="2400" dirty="0"/>
          </a:p>
          <a:p>
            <a:pPr lvl="1">
              <a:lnSpc>
                <a:spcPct val="150000"/>
              </a:lnSpc>
            </a:pPr>
            <a:r>
              <a:rPr lang="ko-KR" altLang="en-US" sz="2000" dirty="0"/>
              <a:t>기업 면접 및 코딩 테스트</a:t>
            </a:r>
            <a:r>
              <a:rPr lang="en-US" altLang="ko-KR" sz="2000" dirty="0"/>
              <a:t>, </a:t>
            </a:r>
            <a:r>
              <a:rPr lang="ko-KR" altLang="en-US" sz="2000" dirty="0"/>
              <a:t>예비군 훈련 등 </a:t>
            </a:r>
            <a:endParaRPr lang="en-US" altLang="ko-KR" sz="2000" dirty="0"/>
          </a:p>
          <a:p>
            <a:pPr lvl="1">
              <a:lnSpc>
                <a:spcPct val="150000"/>
              </a:lnSpc>
            </a:pPr>
            <a:r>
              <a:rPr lang="ko-KR" altLang="en-US" sz="2000" dirty="0"/>
              <a:t>증빙 서류 필요 </a:t>
            </a:r>
            <a:endParaRPr lang="en-US" altLang="ko-KR" sz="2000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5297765-B987-FA4F-C411-BA22375C65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C40739-C760-4828-B24F-429363A89B3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A7866ED4-0F74-48BC-84C6-42485677A1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7</a:t>
            </a:fld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28CF676A-C128-F5C3-54C9-26BA3F2F96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출결 안내 및 기준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11BDAFB-9AD0-7CA6-507F-7A33A017FCC6}"/>
              </a:ext>
            </a:extLst>
          </p:cNvPr>
          <p:cNvSpPr txBox="1"/>
          <p:nvPr/>
        </p:nvSpPr>
        <p:spPr>
          <a:xfrm>
            <a:off x="4917688" y="5816684"/>
            <a:ext cx="717183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ko-KR" altLang="en-US" sz="1400" b="1" dirty="0"/>
              <a:t>참고</a:t>
            </a:r>
            <a:r>
              <a:rPr lang="en-US" altLang="ko-KR" sz="1400" b="1" dirty="0"/>
              <a:t>. </a:t>
            </a:r>
            <a:r>
              <a:rPr lang="ko-KR" altLang="en-US" sz="1400" b="1" dirty="0"/>
              <a:t>과정별 </a:t>
            </a:r>
            <a:r>
              <a:rPr lang="ko-KR" altLang="en-US" sz="1400" b="1" dirty="0" err="1"/>
              <a:t>진도율</a:t>
            </a:r>
            <a:r>
              <a:rPr lang="ko-KR" altLang="en-US" sz="1400" b="1" dirty="0"/>
              <a:t> 30~50%에 중간평가를 진행(</a:t>
            </a:r>
            <a:r>
              <a:rPr lang="ko-KR" altLang="en-US" sz="1400" b="1" dirty="0" err="1"/>
              <a:t>역량평가+취업의지</a:t>
            </a:r>
            <a:r>
              <a:rPr lang="ko-KR" altLang="en-US" sz="1400" b="1" dirty="0"/>
              <a:t>/학습태도 평가)하여 과정 적합도가 현저히 낮은 교육생은 수강중단 될 수 있음(본 경우에는 예치금 반환)</a:t>
            </a:r>
          </a:p>
        </p:txBody>
      </p:sp>
    </p:spTree>
    <p:extLst>
      <p:ext uri="{BB962C8B-B14F-4D97-AF65-F5344CB8AC3E}">
        <p14:creationId xmlns:p14="http://schemas.microsoft.com/office/powerpoint/2010/main" val="33503843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5C4046B-DF46-F3CF-89AE-FACD827801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30888" y="529897"/>
            <a:ext cx="7789452" cy="257455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b="1" dirty="0">
                <a:solidFill>
                  <a:srgbClr val="6EC173"/>
                </a:solidFill>
              </a:rPr>
              <a:t>카카오톡</a:t>
            </a:r>
            <a:endParaRPr lang="en-US" altLang="ko-KR" b="1" dirty="0">
              <a:solidFill>
                <a:srgbClr val="6EC173"/>
              </a:solidFill>
            </a:endParaRPr>
          </a:p>
          <a:p>
            <a:pPr>
              <a:buFontTx/>
              <a:buChar char="-"/>
            </a:pPr>
            <a:r>
              <a:rPr lang="ko-KR" altLang="en-US" sz="2000" dirty="0"/>
              <a:t>목적</a:t>
            </a:r>
            <a:r>
              <a:rPr lang="en-US" altLang="ko-KR" sz="2000" dirty="0"/>
              <a:t>: </a:t>
            </a:r>
            <a:r>
              <a:rPr lang="ko-KR" altLang="en-US" sz="2000" dirty="0"/>
              <a:t>수업 이외의 시간 </a:t>
            </a:r>
            <a:r>
              <a:rPr lang="en-US" altLang="ko-KR" sz="2000" dirty="0"/>
              <a:t>(</a:t>
            </a:r>
            <a:r>
              <a:rPr lang="ko-KR" altLang="en-US" sz="2000" dirty="0"/>
              <a:t>월</a:t>
            </a:r>
            <a:r>
              <a:rPr lang="en-US" altLang="ko-KR" sz="2000" dirty="0"/>
              <a:t>, </a:t>
            </a:r>
            <a:r>
              <a:rPr lang="ko-KR" altLang="en-US" sz="2000" dirty="0"/>
              <a:t>수</a:t>
            </a:r>
            <a:r>
              <a:rPr lang="en-US" altLang="ko-KR" sz="2000" dirty="0"/>
              <a:t>, </a:t>
            </a:r>
            <a:r>
              <a:rPr lang="ko-KR" altLang="en-US" sz="2000" dirty="0"/>
              <a:t>금 제외</a:t>
            </a:r>
            <a:r>
              <a:rPr lang="en-US" altLang="ko-KR" sz="2000" dirty="0"/>
              <a:t>) </a:t>
            </a:r>
            <a:r>
              <a:rPr lang="ko-KR" altLang="en-US" sz="2000" dirty="0"/>
              <a:t>공지 및 정보 공유 </a:t>
            </a:r>
            <a:endParaRPr lang="en-US" altLang="ko-KR" sz="2000" dirty="0">
              <a:hlinkClick r:id="rId3"/>
            </a:endParaRPr>
          </a:p>
          <a:p>
            <a:pPr>
              <a:buFontTx/>
              <a:buChar char="-"/>
            </a:pPr>
            <a:r>
              <a:rPr lang="en-US" altLang="ko-KR" sz="2000" dirty="0">
                <a:hlinkClick r:id="rId4"/>
              </a:rPr>
              <a:t>https://open.kakao.com/o/glc3ilqg</a:t>
            </a:r>
            <a:endParaRPr lang="en-US" altLang="ko-KR" sz="2000" dirty="0"/>
          </a:p>
          <a:p>
            <a:pPr>
              <a:buFontTx/>
              <a:buChar char="-"/>
            </a:pPr>
            <a:r>
              <a:rPr lang="en-US" altLang="ko-KR" sz="2000" dirty="0"/>
              <a:t>#</a:t>
            </a:r>
            <a:r>
              <a:rPr lang="ko-KR" altLang="en-US" sz="2000" dirty="0" err="1"/>
              <a:t>코딩온</a:t>
            </a:r>
            <a:r>
              <a:rPr lang="ko-KR" altLang="en-US" sz="2000" dirty="0"/>
              <a:t> </a:t>
            </a:r>
            <a:r>
              <a:rPr lang="en-US" altLang="ko-KR" sz="2000" dirty="0"/>
              <a:t>#CodingOn #SeSAC</a:t>
            </a:r>
            <a:r>
              <a:rPr lang="ko-KR" altLang="en-US" sz="2000" dirty="0"/>
              <a:t>영등포 </a:t>
            </a:r>
            <a:r>
              <a:rPr lang="en-US" altLang="ko-KR" sz="2000" dirty="0"/>
              <a:t>#</a:t>
            </a:r>
            <a:r>
              <a:rPr lang="ko-KR" altLang="en-US" sz="2000" dirty="0" err="1"/>
              <a:t>웹풀스택</a:t>
            </a:r>
            <a:endParaRPr lang="en-US" altLang="ko-KR" sz="2000" dirty="0"/>
          </a:p>
          <a:p>
            <a:pPr>
              <a:buFontTx/>
              <a:buChar char="-"/>
            </a:pPr>
            <a:r>
              <a:rPr lang="ko-KR" altLang="en-US" sz="2000" dirty="0"/>
              <a:t>암호</a:t>
            </a:r>
            <a:r>
              <a:rPr lang="en-US" altLang="ko-KR" sz="2000" dirty="0"/>
              <a:t>: CSYDP6</a:t>
            </a:r>
          </a:p>
          <a:p>
            <a:pPr>
              <a:buFontTx/>
              <a:buChar char="-"/>
            </a:pPr>
            <a:r>
              <a:rPr lang="ko-KR" altLang="en-US" sz="2000" dirty="0"/>
              <a:t>닉네임</a:t>
            </a:r>
            <a:r>
              <a:rPr lang="en-US" altLang="ko-KR" sz="2000" dirty="0"/>
              <a:t>: </a:t>
            </a:r>
            <a:r>
              <a:rPr lang="ko-KR" altLang="en-US" sz="2000" b="1" dirty="0"/>
              <a:t>본명 </a:t>
            </a:r>
            <a:r>
              <a:rPr lang="en-US" altLang="ko-KR" sz="2000" b="1" dirty="0"/>
              <a:t>(ex. </a:t>
            </a:r>
            <a:r>
              <a:rPr lang="ko-KR" altLang="en-US" sz="2000" b="1" dirty="0"/>
              <a:t>홍길동</a:t>
            </a:r>
            <a:r>
              <a:rPr lang="en-US" altLang="ko-KR" sz="2000" b="1" dirty="0"/>
              <a:t>)</a:t>
            </a:r>
            <a:endParaRPr lang="ko-KR" altLang="en-US" sz="2000" b="1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6AC93F6-5BE3-6FA0-9A26-5501F1C752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BDD63F-9D56-45F3-85D7-711EA7F065F8}" type="datetime6">
              <a:rPr lang="ko-KR" altLang="en-US" smtClean="0"/>
              <a:t>2024년 5월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AE2158E-403C-A98E-AC81-E4A319CF37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8</a:t>
            </a:fld>
            <a:endParaRPr lang="ko-KR" altLang="en-US"/>
          </a:p>
        </p:txBody>
      </p:sp>
      <p:pic>
        <p:nvPicPr>
          <p:cNvPr id="3074" name="Picture 2" descr="카카오톡 - 나무위키">
            <a:extLst>
              <a:ext uri="{FF2B5EF4-FFF2-40B4-BE49-F238E27FC236}">
                <a16:creationId xmlns:a16="http://schemas.microsoft.com/office/drawing/2014/main" id="{EC673AFA-4801-17A7-6EA6-CE85DC692A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0075" y="529897"/>
            <a:ext cx="1243473" cy="12434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 descr="슬랙이 카카오톡보다 좋은 이유. 주로 IT기업과 스타트업들을 중심으로, 기업용 메신저 서비스인 슬랙… | by 진민규의 마케팅/Tech  이야기 | Medium">
            <a:extLst>
              <a:ext uri="{FF2B5EF4-FFF2-40B4-BE49-F238E27FC236}">
                <a16:creationId xmlns:a16="http://schemas.microsoft.com/office/drawing/2014/main" id="{E572D70F-131F-29B8-7969-96253BC8AD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0075" y="3249359"/>
            <a:ext cx="2975760" cy="12434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내용 개체 틀 2">
            <a:extLst>
              <a:ext uri="{FF2B5EF4-FFF2-40B4-BE49-F238E27FC236}">
                <a16:creationId xmlns:a16="http://schemas.microsoft.com/office/drawing/2014/main" id="{1FC8EF8F-BAED-BC90-22CA-C6F655C3EC37}"/>
              </a:ext>
            </a:extLst>
          </p:cNvPr>
          <p:cNvSpPr txBox="1">
            <a:spLocks/>
          </p:cNvSpPr>
          <p:nvPr/>
        </p:nvSpPr>
        <p:spPr>
          <a:xfrm>
            <a:off x="3575836" y="3395463"/>
            <a:ext cx="8355609" cy="287287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ko-KR" b="1" dirty="0">
                <a:solidFill>
                  <a:srgbClr val="6EC173"/>
                </a:solidFill>
              </a:rPr>
              <a:t>Slack</a:t>
            </a:r>
          </a:p>
          <a:p>
            <a:pPr>
              <a:buFontTx/>
              <a:buChar char="-"/>
            </a:pPr>
            <a:r>
              <a:rPr lang="ko-KR" altLang="en-US" sz="2000" dirty="0"/>
              <a:t>목적 </a:t>
            </a:r>
            <a:r>
              <a:rPr lang="en-US" altLang="ko-KR" sz="2000" dirty="0"/>
              <a:t>1: </a:t>
            </a:r>
            <a:r>
              <a:rPr lang="ko-KR" altLang="en-US" sz="2000" dirty="0"/>
              <a:t>수업 중 링크</a:t>
            </a:r>
            <a:r>
              <a:rPr lang="en-US" altLang="ko-KR" sz="2000" dirty="0"/>
              <a:t>, </a:t>
            </a:r>
            <a:r>
              <a:rPr lang="ko-KR" altLang="en-US" sz="2000" dirty="0"/>
              <a:t>이미지</a:t>
            </a:r>
            <a:r>
              <a:rPr lang="en-US" altLang="ko-KR" sz="2000" dirty="0"/>
              <a:t>, </a:t>
            </a:r>
            <a:r>
              <a:rPr lang="ko-KR" altLang="en-US" sz="2000" dirty="0"/>
              <a:t>코드 공유 목적 </a:t>
            </a:r>
            <a:endParaRPr lang="en-US" altLang="ko-KR" sz="2000" dirty="0"/>
          </a:p>
          <a:p>
            <a:pPr>
              <a:buFontTx/>
              <a:buChar char="-"/>
            </a:pPr>
            <a:r>
              <a:rPr lang="ko-KR" altLang="en-US" sz="2000" dirty="0"/>
              <a:t>목적 </a:t>
            </a:r>
            <a:r>
              <a:rPr lang="en-US" altLang="ko-KR" sz="2000" dirty="0"/>
              <a:t>2: </a:t>
            </a:r>
            <a:r>
              <a:rPr lang="ko-KR" altLang="en-US" sz="2000" dirty="0"/>
              <a:t>과제 제출</a:t>
            </a:r>
            <a:endParaRPr lang="en-US" altLang="ko-KR" sz="2000" dirty="0">
              <a:hlinkClick r:id="rId7"/>
            </a:endParaRPr>
          </a:p>
          <a:p>
            <a:pPr>
              <a:buFontTx/>
              <a:buChar char="-"/>
            </a:pPr>
            <a:r>
              <a:rPr lang="en-US" altLang="ko-KR" sz="2000" dirty="0">
                <a:hlinkClick r:id="rId8"/>
              </a:rPr>
              <a:t>https://join.slack.com/t/slack-zfd4180/shared_invite/zt-2ihd0ol41-Gp53lC2FtLVwjYkia0FP8g</a:t>
            </a:r>
            <a:endParaRPr lang="en-US" altLang="ko-KR" sz="2000" dirty="0"/>
          </a:p>
          <a:p>
            <a:pPr>
              <a:buFontTx/>
              <a:buChar char="-"/>
            </a:pPr>
            <a:r>
              <a:rPr lang="ko-KR" altLang="en-US" sz="2000" dirty="0"/>
              <a:t>오픈채팅방 공지의 </a:t>
            </a:r>
            <a:r>
              <a:rPr lang="ko-KR" altLang="en-US" sz="2000" dirty="0" err="1"/>
              <a:t>슬랙</a:t>
            </a:r>
            <a:r>
              <a:rPr lang="ko-KR" altLang="en-US" sz="2000" dirty="0"/>
              <a:t> 링크 이용하기</a:t>
            </a:r>
            <a:endParaRPr lang="en-US" altLang="ko-KR" sz="2000" dirty="0"/>
          </a:p>
          <a:p>
            <a:pPr>
              <a:buFontTx/>
              <a:buChar char="-"/>
            </a:pPr>
            <a:r>
              <a:rPr lang="ko-KR" altLang="en-US" sz="2000" dirty="0"/>
              <a:t>닉네임 </a:t>
            </a:r>
            <a:r>
              <a:rPr lang="en-US" altLang="ko-KR" sz="2000" dirty="0"/>
              <a:t>: </a:t>
            </a:r>
            <a:r>
              <a:rPr lang="en-US" altLang="ko-KR" sz="2000" b="1" dirty="0"/>
              <a:t>SeSAC_6YDP_</a:t>
            </a:r>
            <a:r>
              <a:rPr lang="ko-KR" altLang="en-US" sz="2000" b="1" dirty="0"/>
              <a:t>본명 </a:t>
            </a:r>
            <a:r>
              <a:rPr lang="en-US" altLang="ko-KR" sz="2000" b="1" dirty="0"/>
              <a:t>(ex. SeSAC_6YDP_</a:t>
            </a:r>
            <a:r>
              <a:rPr lang="ko-KR" altLang="en-US" sz="2000" b="1" dirty="0"/>
              <a:t>홍길동</a:t>
            </a:r>
            <a:r>
              <a:rPr lang="en-US" altLang="ko-KR" sz="2000" b="1" dirty="0"/>
              <a:t>)</a:t>
            </a:r>
            <a:endParaRPr lang="ko-KR" altLang="en-US" sz="2000" b="1" dirty="0"/>
          </a:p>
        </p:txBody>
      </p:sp>
      <p:sp>
        <p:nvSpPr>
          <p:cNvPr id="8" name="내용 개체 틀 2">
            <a:extLst>
              <a:ext uri="{FF2B5EF4-FFF2-40B4-BE49-F238E27FC236}">
                <a16:creationId xmlns:a16="http://schemas.microsoft.com/office/drawing/2014/main" id="{3F9ED3E5-A219-97C8-062A-00AB8DE418A5}"/>
              </a:ext>
            </a:extLst>
          </p:cNvPr>
          <p:cNvSpPr txBox="1">
            <a:spLocks/>
          </p:cNvSpPr>
          <p:nvPr/>
        </p:nvSpPr>
        <p:spPr>
          <a:xfrm>
            <a:off x="6320790" y="3475094"/>
            <a:ext cx="5271135" cy="365125"/>
          </a:xfrm>
          <a:prstGeom prst="rect">
            <a:avLst/>
          </a:prstGeom>
        </p:spPr>
        <p:txBody>
          <a:bodyPr vert="horz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Font typeface="Arial" panose="020B0604020202020204" pitchFamily="34" charset="0"/>
              <a:buNone/>
            </a:pPr>
            <a:r>
              <a:rPr lang="en-US" altLang="ko-KR" sz="2000" dirty="0">
                <a:solidFill>
                  <a:srgbClr val="6EC173"/>
                </a:solidFill>
              </a:rPr>
              <a:t>*Slack </a:t>
            </a:r>
            <a:r>
              <a:rPr lang="ko-KR" altLang="en-US" sz="2000" dirty="0">
                <a:solidFill>
                  <a:srgbClr val="6EC173"/>
                </a:solidFill>
              </a:rPr>
              <a:t>초대 링크는 오픈채팅방 공지에서 확인해주세요</a:t>
            </a:r>
            <a:r>
              <a:rPr lang="en-US" altLang="ko-KR" sz="2000" dirty="0">
                <a:solidFill>
                  <a:srgbClr val="6EC173"/>
                </a:solidFill>
              </a:rPr>
              <a:t>!</a:t>
            </a:r>
            <a:endParaRPr lang="ko-KR" altLang="en-US" sz="2000" dirty="0">
              <a:solidFill>
                <a:srgbClr val="6EC173"/>
              </a:solidFill>
            </a:endParaRPr>
          </a:p>
        </p:txBody>
      </p:sp>
      <p:pic>
        <p:nvPicPr>
          <p:cNvPr id="6" name="그림 5" descr="스크린샷, 그래픽, 패턴, 디자인이(가) 표시된 사진&#10;&#10;자동 생성된 설명">
            <a:extLst>
              <a:ext uri="{FF2B5EF4-FFF2-40B4-BE49-F238E27FC236}">
                <a16:creationId xmlns:a16="http://schemas.microsoft.com/office/drawing/2014/main" id="{86876CD6-94CE-536B-2377-4544B877889D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26757" y="446209"/>
            <a:ext cx="2365168" cy="23651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836909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78DA50E-46BE-CF53-0A8C-618613D632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27253" y="862072"/>
            <a:ext cx="7620000" cy="206795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sz="3200" dirty="0"/>
              <a:t>나눠드린 서류 작성 및 사인 후 </a:t>
            </a:r>
            <a:endParaRPr lang="en-US" altLang="ko-KR" sz="3200" dirty="0">
              <a:highlight>
                <a:srgbClr val="FFFF00"/>
              </a:highlight>
            </a:endParaRPr>
          </a:p>
          <a:p>
            <a:pPr marL="0" indent="0">
              <a:buNone/>
            </a:pPr>
            <a:r>
              <a:rPr lang="ko-KR" altLang="en-US" sz="3200" dirty="0">
                <a:highlight>
                  <a:srgbClr val="FFFF00"/>
                </a:highlight>
              </a:rPr>
              <a:t>주민등록등본</a:t>
            </a:r>
            <a:r>
              <a:rPr lang="ko-KR" altLang="en-US" sz="3200" dirty="0"/>
              <a:t>과 함께 앞으로 나와주세요</a:t>
            </a:r>
            <a:r>
              <a:rPr lang="en-US" altLang="ko-KR" sz="3200" dirty="0"/>
              <a:t>.</a:t>
            </a:r>
            <a:endParaRPr lang="ko-KR" altLang="en-US" sz="3200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E26331B-CABB-6017-2C21-C0F1C619A7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EE404C-78DB-4A99-8F6C-3F4C63B60495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A3ED05A6-B83A-CBAB-2B32-CC051A92A7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9</a:t>
            </a:fld>
            <a:endParaRPr lang="ko-KR" altLang="en-US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63E9ED84-E3B3-51AF-ED77-58388293AA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6506" y="579937"/>
            <a:ext cx="3086367" cy="4130398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E053626D-FA33-B101-68F5-6B3E6A6A0B3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2419804"/>
            <a:ext cx="2462689" cy="3580620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86C85464-27FC-34E2-0B31-9C2D88905E0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09171" y="2645136"/>
            <a:ext cx="2605840" cy="35988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866666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2ADE279D-187D-FFC8-1BCF-39ED103948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65620E2-371F-92B9-8FFF-EEF653C308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6CE51FDC-3006-5D10-684A-6BF0416804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확약서 및 체크리스트 작성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020B9F45-0BCE-4FFF-D576-1A68CF8A4E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6673" y="1539241"/>
            <a:ext cx="3257805" cy="4526687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19362997-968B-2B22-074F-738C5AC281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27195" y="1206765"/>
            <a:ext cx="3425520" cy="4859163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AEC3B96B-E4B6-CA84-920F-DA215628233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26351" y="1539554"/>
            <a:ext cx="3175791" cy="45266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184499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C4F7519B-60EE-E574-917E-11D77FC5B5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43351" y="2934932"/>
            <a:ext cx="3033252" cy="89965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sz="5000" b="1" dirty="0">
                <a:solidFill>
                  <a:srgbClr val="6EC173"/>
                </a:solidFill>
              </a:rPr>
              <a:t>휴식 </a:t>
            </a:r>
            <a:r>
              <a:rPr lang="en-US" altLang="ko-KR" sz="5000" b="1" dirty="0">
                <a:solidFill>
                  <a:srgbClr val="6EC173"/>
                </a:solidFill>
              </a:rPr>
              <a:t>Time</a:t>
            </a:r>
            <a:endParaRPr lang="ko-KR" altLang="en-US" sz="5000" b="1" dirty="0">
              <a:solidFill>
                <a:srgbClr val="6EC173"/>
              </a:solidFill>
            </a:endParaRP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E263DFF-9BB9-D8A0-9B23-08F2727B67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B3B0AF-12E4-4E46-9E45-3FA033AAD3CB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5DFD145-2786-3632-BC8A-7B6D36588D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11</a:t>
            </a:fld>
            <a:endParaRPr lang="ko-KR" altLang="en-US"/>
          </a:p>
        </p:txBody>
      </p:sp>
      <p:pic>
        <p:nvPicPr>
          <p:cNvPr id="1026" name="Picture 2" descr="휴식하면 생기는 우리 몸의 변화들 &lt; 건강 &lt; 기사본문 - 마음건강 길">
            <a:extLst>
              <a:ext uri="{FF2B5EF4-FFF2-40B4-BE49-F238E27FC236}">
                <a16:creationId xmlns:a16="http://schemas.microsoft.com/office/drawing/2014/main" id="{18418F7F-A468-D6C9-2551-45A9F25642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46765" y="1953160"/>
            <a:ext cx="4427520" cy="29516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73D511F8-7CF7-8410-E155-E09D29394D3A}"/>
              </a:ext>
            </a:extLst>
          </p:cNvPr>
          <p:cNvSpPr>
            <a:spLocks noGrp="1"/>
          </p:cNvSpPr>
          <p:nvPr/>
        </p:nvSpPr>
        <p:spPr>
          <a:xfrm>
            <a:off x="6302477" y="3567794"/>
            <a:ext cx="5715000" cy="1110901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ko-KR" altLang="en-US" sz="2000" dirty="0"/>
              <a:t>휴식 이후 자기소개 할 예정이니 준비해주세요 </a:t>
            </a:r>
            <a:r>
              <a:rPr lang="en-US" altLang="ko-KR" sz="2000" dirty="0">
                <a:sym typeface="Wingdings" panose="05000000000000000000" pitchFamily="2" charset="2"/>
              </a:rPr>
              <a:t></a:t>
            </a:r>
            <a:endParaRPr lang="en-US" altLang="ko-KR" sz="2000" dirty="0"/>
          </a:p>
        </p:txBody>
      </p:sp>
    </p:spTree>
    <p:extLst>
      <p:ext uri="{BB962C8B-B14F-4D97-AF65-F5344CB8AC3E}">
        <p14:creationId xmlns:p14="http://schemas.microsoft.com/office/powerpoint/2010/main" val="284174181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086F13-2195-8D0E-D6A3-98C83B7A6B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3509AA9-CAC2-DE98-C83D-D4737B9956D9}"/>
              </a:ext>
            </a:extLst>
          </p:cNvPr>
          <p:cNvSpPr>
            <a:spLocks noGrp="1"/>
          </p:cNvSpPr>
          <p:nvPr/>
        </p:nvSpPr>
        <p:spPr>
          <a:xfrm>
            <a:off x="4358478" y="1806765"/>
            <a:ext cx="7004806" cy="29991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ko-KR" sz="8800" b="1" dirty="0">
                <a:solidFill>
                  <a:schemeClr val="accent1"/>
                </a:solidFill>
              </a:rPr>
              <a:t>BREAK TIME!!</a:t>
            </a:r>
          </a:p>
        </p:txBody>
      </p:sp>
      <p:pic>
        <p:nvPicPr>
          <p:cNvPr id="3" name="Picture 2" descr="휴식하면 생기는 우리 몸의 변화들 &lt; 건강 &lt; 기사본문 - 마음건강 길">
            <a:extLst>
              <a:ext uri="{FF2B5EF4-FFF2-40B4-BE49-F238E27FC236}">
                <a16:creationId xmlns:a16="http://schemas.microsoft.com/office/drawing/2014/main" id="{9F17459D-6F7B-6896-B8F4-F7C6F766FA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96416" y="2583593"/>
            <a:ext cx="2741843" cy="18278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제목 1">
            <a:extLst>
              <a:ext uri="{FF2B5EF4-FFF2-40B4-BE49-F238E27FC236}">
                <a16:creationId xmlns:a16="http://schemas.microsoft.com/office/drawing/2014/main" id="{CB7B3A94-2EA2-5E54-5FB0-7291FA08CED7}"/>
              </a:ext>
            </a:extLst>
          </p:cNvPr>
          <p:cNvSpPr>
            <a:spLocks noGrp="1"/>
          </p:cNvSpPr>
          <p:nvPr/>
        </p:nvSpPr>
        <p:spPr>
          <a:xfrm>
            <a:off x="5003381" y="3567794"/>
            <a:ext cx="5715000" cy="1110901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ko-KR" altLang="en-US" sz="2000" b="1" dirty="0"/>
              <a:t>휴식 이후 자기소개 할 예정이니 준비해주세요 </a:t>
            </a:r>
            <a:r>
              <a:rPr lang="en-US" altLang="ko-KR" sz="2000" b="1" dirty="0">
                <a:sym typeface="Wingdings" panose="05000000000000000000" pitchFamily="2" charset="2"/>
              </a:rPr>
              <a:t></a:t>
            </a:r>
            <a:endParaRPr lang="en-US" altLang="ko-KR" sz="2000" b="1" dirty="0"/>
          </a:p>
        </p:txBody>
      </p:sp>
    </p:spTree>
    <p:extLst>
      <p:ext uri="{BB962C8B-B14F-4D97-AF65-F5344CB8AC3E}">
        <p14:creationId xmlns:p14="http://schemas.microsoft.com/office/powerpoint/2010/main" val="7123557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5BB94A53-7EB2-9249-2AA7-ADA76A47ACE2}"/>
              </a:ext>
            </a:extLst>
          </p:cNvPr>
          <p:cNvSpPr/>
          <p:nvPr/>
        </p:nvSpPr>
        <p:spPr>
          <a:xfrm>
            <a:off x="1254034" y="2063931"/>
            <a:ext cx="9666515" cy="2730137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7" name="내용 개체 틀 6">
            <a:extLst>
              <a:ext uri="{FF2B5EF4-FFF2-40B4-BE49-F238E27FC236}">
                <a16:creationId xmlns:a16="http://schemas.microsoft.com/office/drawing/2014/main" id="{D8A1035E-C3E6-CAB4-CB53-77285607414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88803" y="2298642"/>
            <a:ext cx="9614394" cy="2260716"/>
          </a:xfrm>
        </p:spPr>
      </p:pic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62E0B53-E0E0-F605-AE5D-CBC41626BB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07E3F96-E9FB-A7CD-5BE4-ECB3A6952C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13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DBCF21E7-CA19-7543-C877-324BE0E543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5404792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692A623-1E1A-7CB9-1FC7-84129EFA1C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FBFBFA-EBC3-4288-86D0-55A69B340430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A828EB3-DD5D-5147-DB5C-6EBF4140E7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8" name="슬라이드 번호 개체 틀 4">
            <a:extLst>
              <a:ext uri="{FF2B5EF4-FFF2-40B4-BE49-F238E27FC236}">
                <a16:creationId xmlns:a16="http://schemas.microsoft.com/office/drawing/2014/main" id="{A7866ED4-0F74-48BC-84C6-42485677A1A4}"/>
              </a:ext>
            </a:extLst>
          </p:cNvPr>
          <p:cNvSpPr>
            <a:spLocks noGrp="1"/>
          </p:cNvSpPr>
          <p:nvPr/>
        </p:nvSpPr>
        <p:spPr>
          <a:xfrm>
            <a:off x="9029700" y="630373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83A2CE0-18CD-4102-B738-4ACFF9E68BA4}" type="slidenum">
              <a:rPr lang="ko-KR" altLang="en-US" smtClean="0"/>
              <a:pPr/>
              <a:t>14</a:t>
            </a:fld>
            <a:endParaRPr lang="ko-KR" altLang="en-US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43054EBB-F401-BE68-C4D1-B1DC2AE0520E}"/>
              </a:ext>
            </a:extLst>
          </p:cNvPr>
          <p:cNvSpPr>
            <a:spLocks noGrp="1"/>
          </p:cNvSpPr>
          <p:nvPr/>
        </p:nvSpPr>
        <p:spPr>
          <a:xfrm>
            <a:off x="1265413" y="1649845"/>
            <a:ext cx="10023122" cy="29991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ko-KR" altLang="en-US" sz="8800" b="1" dirty="0"/>
              <a:t>션</a:t>
            </a:r>
            <a:r>
              <a:rPr lang="en-US" altLang="ko-KR" sz="8800" b="1" dirty="0"/>
              <a:t> </a:t>
            </a:r>
            <a:r>
              <a:rPr lang="ko-KR" altLang="en-US" sz="8800" b="1" dirty="0"/>
              <a:t>리더님</a:t>
            </a:r>
            <a:endParaRPr lang="en-US" altLang="ko-KR" sz="3200" b="1" dirty="0"/>
          </a:p>
        </p:txBody>
      </p:sp>
    </p:spTree>
    <p:extLst>
      <p:ext uri="{BB962C8B-B14F-4D97-AF65-F5344CB8AC3E}">
        <p14:creationId xmlns:p14="http://schemas.microsoft.com/office/powerpoint/2010/main" val="202094354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692A623-1E1A-7CB9-1FC7-84129EFA1C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FBFBFA-EBC3-4288-86D0-55A69B340430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A828EB3-DD5D-5147-DB5C-6EBF4140E7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8" name="슬라이드 번호 개체 틀 4">
            <a:extLst>
              <a:ext uri="{FF2B5EF4-FFF2-40B4-BE49-F238E27FC236}">
                <a16:creationId xmlns:a16="http://schemas.microsoft.com/office/drawing/2014/main" id="{A7866ED4-0F74-48BC-84C6-42485677A1A4}"/>
              </a:ext>
            </a:extLst>
          </p:cNvPr>
          <p:cNvSpPr>
            <a:spLocks noGrp="1"/>
          </p:cNvSpPr>
          <p:nvPr/>
        </p:nvSpPr>
        <p:spPr>
          <a:xfrm>
            <a:off x="9029700" y="630373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83A2CE0-18CD-4102-B738-4ACFF9E68BA4}" type="slidenum">
              <a:rPr lang="ko-KR" altLang="en-US" smtClean="0"/>
              <a:pPr/>
              <a:t>15</a:t>
            </a:fld>
            <a:endParaRPr lang="ko-KR" altLang="en-US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43054EBB-F401-BE68-C4D1-B1DC2AE0520E}"/>
              </a:ext>
            </a:extLst>
          </p:cNvPr>
          <p:cNvSpPr>
            <a:spLocks noGrp="1"/>
          </p:cNvSpPr>
          <p:nvPr/>
        </p:nvSpPr>
        <p:spPr>
          <a:xfrm>
            <a:off x="1265413" y="1649845"/>
            <a:ext cx="10023122" cy="29991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ko-KR" altLang="en-US" sz="8800" b="1" dirty="0" err="1"/>
              <a:t>데이먼</a:t>
            </a:r>
            <a:r>
              <a:rPr lang="en-US" altLang="ko-KR" sz="8800" b="1" dirty="0"/>
              <a:t> </a:t>
            </a:r>
            <a:r>
              <a:rPr lang="ko-KR" altLang="en-US" sz="8800" b="1" dirty="0"/>
              <a:t>리더님</a:t>
            </a:r>
            <a:endParaRPr lang="en-US" altLang="ko-KR" sz="3200" b="1" dirty="0"/>
          </a:p>
        </p:txBody>
      </p:sp>
    </p:spTree>
    <p:extLst>
      <p:ext uri="{BB962C8B-B14F-4D97-AF65-F5344CB8AC3E}">
        <p14:creationId xmlns:p14="http://schemas.microsoft.com/office/powerpoint/2010/main" val="220139832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클립아트, 만화 영화이(가) 표시된 사진&#10;&#10;자동 생성된 설명">
            <a:extLst>
              <a:ext uri="{FF2B5EF4-FFF2-40B4-BE49-F238E27FC236}">
                <a16:creationId xmlns:a16="http://schemas.microsoft.com/office/drawing/2014/main" id="{F84E9C0F-29FA-AD8D-7B4A-48C9A47B81D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553833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692A623-1E1A-7CB9-1FC7-84129EFA1C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FBFBFA-EBC3-4288-86D0-55A69B340430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A828EB3-DD5D-5147-DB5C-6EBF4140E7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8" name="슬라이드 번호 개체 틀 4">
            <a:extLst>
              <a:ext uri="{FF2B5EF4-FFF2-40B4-BE49-F238E27FC236}">
                <a16:creationId xmlns:a16="http://schemas.microsoft.com/office/drawing/2014/main" id="{A7866ED4-0F74-48BC-84C6-42485677A1A4}"/>
              </a:ext>
            </a:extLst>
          </p:cNvPr>
          <p:cNvSpPr>
            <a:spLocks noGrp="1"/>
          </p:cNvSpPr>
          <p:nvPr/>
        </p:nvSpPr>
        <p:spPr>
          <a:xfrm>
            <a:off x="9029700" y="630373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83A2CE0-18CD-4102-B738-4ACFF9E68BA4}" type="slidenum">
              <a:rPr lang="ko-KR" altLang="en-US" smtClean="0"/>
              <a:pPr/>
              <a:t>17</a:t>
            </a:fld>
            <a:endParaRPr lang="ko-KR" altLang="en-US"/>
          </a:p>
        </p:txBody>
      </p:sp>
      <p:pic>
        <p:nvPicPr>
          <p:cNvPr id="4100" name="Picture 4" descr="kakaoemoticon 비즈샵">
            <a:extLst>
              <a:ext uri="{FF2B5EF4-FFF2-40B4-BE49-F238E27FC236}">
                <a16:creationId xmlns:a16="http://schemas.microsoft.com/office/drawing/2014/main" id="{3DA42F57-2E7E-7083-29B1-5719CDC220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0334" y="3970288"/>
            <a:ext cx="2009373" cy="20093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BA620116-56A8-CF98-70BA-563063813E37}"/>
              </a:ext>
            </a:extLst>
          </p:cNvPr>
          <p:cNvSpPr>
            <a:spLocks noGrp="1"/>
          </p:cNvSpPr>
          <p:nvPr/>
        </p:nvSpPr>
        <p:spPr>
          <a:xfrm>
            <a:off x="3514372" y="3994032"/>
            <a:ext cx="5695889" cy="76198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ko-KR" altLang="en-US" sz="4000" dirty="0"/>
              <a:t>여러분을 소개해주세요</a:t>
            </a:r>
            <a:r>
              <a:rPr lang="en-US" altLang="ko-KR" sz="4000" dirty="0"/>
              <a:t>!</a:t>
            </a: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1D6D4F54-D863-3399-6179-A58E0CC16E3F}"/>
              </a:ext>
            </a:extLst>
          </p:cNvPr>
          <p:cNvSpPr>
            <a:spLocks noGrp="1"/>
          </p:cNvSpPr>
          <p:nvPr/>
        </p:nvSpPr>
        <p:spPr>
          <a:xfrm>
            <a:off x="1265413" y="971147"/>
            <a:ext cx="10023122" cy="29991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ko-KR" altLang="en-US" sz="8800" b="1" dirty="0"/>
              <a:t>크루 자기소개 </a:t>
            </a:r>
            <a:r>
              <a:rPr lang="en-US" altLang="ko-KR" sz="8800" b="1" dirty="0"/>
              <a:t>Time</a:t>
            </a:r>
          </a:p>
          <a:p>
            <a:pPr algn="ctr"/>
            <a:endParaRPr lang="en-US" altLang="ko-KR" sz="2000" dirty="0"/>
          </a:p>
          <a:p>
            <a:pPr algn="ctr"/>
            <a:r>
              <a:rPr lang="en-US" altLang="ko-KR" sz="3200" dirty="0"/>
              <a:t>feat. MBTI, </a:t>
            </a:r>
            <a:r>
              <a:rPr lang="ko-KR" altLang="en-US" sz="3200" dirty="0"/>
              <a:t>취미</a:t>
            </a:r>
            <a:r>
              <a:rPr lang="en-US" altLang="ko-KR" sz="3200" dirty="0"/>
              <a:t>, </a:t>
            </a:r>
            <a:r>
              <a:rPr lang="ko-KR" altLang="en-US" sz="3200" dirty="0"/>
              <a:t>프론트</a:t>
            </a:r>
            <a:r>
              <a:rPr lang="en-US" altLang="ko-KR" sz="3200" dirty="0"/>
              <a:t>/</a:t>
            </a:r>
            <a:r>
              <a:rPr lang="ko-KR" altLang="en-US" sz="3200" dirty="0"/>
              <a:t>백</a:t>
            </a:r>
            <a:r>
              <a:rPr lang="en-US" altLang="ko-KR" sz="3200" dirty="0"/>
              <a:t>, </a:t>
            </a:r>
            <a:r>
              <a:rPr lang="ko-KR" altLang="en-US" sz="3200" dirty="0"/>
              <a:t>취</a:t>
            </a:r>
            <a:r>
              <a:rPr lang="en-US" altLang="ko-KR" sz="3200" dirty="0"/>
              <a:t>/</a:t>
            </a:r>
            <a:r>
              <a:rPr lang="ko-KR" altLang="en-US" sz="3200" dirty="0"/>
              <a:t>창업</a:t>
            </a:r>
            <a:r>
              <a:rPr lang="en-US" altLang="ko-KR" sz="3200" dirty="0"/>
              <a:t>, </a:t>
            </a:r>
            <a:r>
              <a:rPr lang="ko-KR" altLang="en-US" sz="3200" dirty="0"/>
              <a:t>목표</a:t>
            </a:r>
            <a:r>
              <a:rPr lang="en-US" altLang="ko-KR" sz="3200" dirty="0"/>
              <a:t>… </a:t>
            </a:r>
            <a:r>
              <a:rPr lang="ko-KR" altLang="en-US" sz="3200" dirty="0"/>
              <a:t>등등</a:t>
            </a:r>
            <a:endParaRPr lang="en-US" altLang="ko-KR" sz="3200" dirty="0"/>
          </a:p>
        </p:txBody>
      </p:sp>
    </p:spTree>
    <p:extLst>
      <p:ext uri="{BB962C8B-B14F-4D97-AF65-F5344CB8AC3E}">
        <p14:creationId xmlns:p14="http://schemas.microsoft.com/office/powerpoint/2010/main" val="75384106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B949CD-21F1-47FF-328F-B6EC988919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17F0FEB-93E9-6EAF-F2D7-D1821FF9BD24}"/>
              </a:ext>
            </a:extLst>
          </p:cNvPr>
          <p:cNvSpPr>
            <a:spLocks noGrp="1"/>
          </p:cNvSpPr>
          <p:nvPr/>
        </p:nvSpPr>
        <p:spPr>
          <a:xfrm>
            <a:off x="3824868" y="2146609"/>
            <a:ext cx="7304048" cy="29991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ko-KR" sz="8800" b="1" dirty="0">
                <a:solidFill>
                  <a:schemeClr val="accent1"/>
                </a:solidFill>
              </a:rPr>
              <a:t>GAME TIME!!</a:t>
            </a:r>
          </a:p>
        </p:txBody>
      </p:sp>
      <p:pic>
        <p:nvPicPr>
          <p:cNvPr id="3" name="그림 2" descr="텍스트, 클립아트, 만화 영화이(가) 표시된 사진&#10;&#10;자동 생성된 설명">
            <a:extLst>
              <a:ext uri="{FF2B5EF4-FFF2-40B4-BE49-F238E27FC236}">
                <a16:creationId xmlns:a16="http://schemas.microsoft.com/office/drawing/2014/main" id="{05BF51D3-B53D-8D11-68C4-87D36D4BE1F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3141" t="22277" r="5335"/>
          <a:stretch/>
        </p:blipFill>
        <p:spPr>
          <a:xfrm>
            <a:off x="1237786" y="2146609"/>
            <a:ext cx="2436006" cy="2564781"/>
          </a:xfrm>
          <a:prstGeom prst="rect">
            <a:avLst/>
          </a:prstGeom>
        </p:spPr>
      </p:pic>
      <p:sp>
        <p:nvSpPr>
          <p:cNvPr id="4" name="제목 1">
            <a:extLst>
              <a:ext uri="{FF2B5EF4-FFF2-40B4-BE49-F238E27FC236}">
                <a16:creationId xmlns:a16="http://schemas.microsoft.com/office/drawing/2014/main" id="{F2C750BE-9850-DECE-CF7E-B5C5EA8C5D97}"/>
              </a:ext>
            </a:extLst>
          </p:cNvPr>
          <p:cNvSpPr>
            <a:spLocks noGrp="1"/>
          </p:cNvSpPr>
          <p:nvPr/>
        </p:nvSpPr>
        <p:spPr>
          <a:xfrm>
            <a:off x="4619392" y="2302949"/>
            <a:ext cx="5715000" cy="1110901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ko-KR" altLang="en-US" sz="2000" b="1" dirty="0" err="1"/>
              <a:t>코딩오울과</a:t>
            </a:r>
            <a:r>
              <a:rPr lang="ko-KR" altLang="en-US" sz="2000" b="1" dirty="0"/>
              <a:t> 함께하는</a:t>
            </a:r>
            <a:endParaRPr lang="en-US" altLang="ko-KR" sz="2000" b="1" dirty="0"/>
          </a:p>
        </p:txBody>
      </p:sp>
    </p:spTree>
    <p:extLst>
      <p:ext uri="{BB962C8B-B14F-4D97-AF65-F5344CB8AC3E}">
        <p14:creationId xmlns:p14="http://schemas.microsoft.com/office/powerpoint/2010/main" val="179730001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C4F7519B-60EE-E574-917E-11D77FC5B5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43351" y="2934932"/>
            <a:ext cx="3033252" cy="89965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sz="5000" b="1" dirty="0">
                <a:solidFill>
                  <a:srgbClr val="6EC173"/>
                </a:solidFill>
              </a:rPr>
              <a:t>휴식 </a:t>
            </a:r>
            <a:r>
              <a:rPr lang="en-US" altLang="ko-KR" sz="5000" b="1" dirty="0">
                <a:solidFill>
                  <a:srgbClr val="6EC173"/>
                </a:solidFill>
              </a:rPr>
              <a:t>Time</a:t>
            </a:r>
            <a:endParaRPr lang="ko-KR" altLang="en-US" sz="5000" b="1" dirty="0">
              <a:solidFill>
                <a:srgbClr val="6EC173"/>
              </a:solidFill>
            </a:endParaRP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E263DFF-9BB9-D8A0-9B23-08F2727B67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B3B0AF-12E4-4E46-9E45-3FA033AAD3CB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5DFD145-2786-3632-BC8A-7B6D36588D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19</a:t>
            </a:fld>
            <a:endParaRPr lang="ko-KR" altLang="en-US"/>
          </a:p>
        </p:txBody>
      </p:sp>
      <p:pic>
        <p:nvPicPr>
          <p:cNvPr id="1026" name="Picture 2" descr="휴식하면 생기는 우리 몸의 변화들 &lt; 건강 &lt; 기사본문 - 마음건강 길">
            <a:extLst>
              <a:ext uri="{FF2B5EF4-FFF2-40B4-BE49-F238E27FC236}">
                <a16:creationId xmlns:a16="http://schemas.microsoft.com/office/drawing/2014/main" id="{18418F7F-A468-D6C9-2551-45A9F25642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46765" y="1953160"/>
            <a:ext cx="4427520" cy="29516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2405362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20</a:t>
            </a:fld>
            <a:endParaRPr lang="ko-KR" altLang="en-US"/>
          </a:p>
        </p:txBody>
      </p:sp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Git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8375681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84930C1-3800-3283-7676-67E65B80E7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037577-ED6E-4A9A-BE84-A36FE19DAF55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3BA4E39-F813-5D2B-7587-E29FCBC826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21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2734CB21-9153-185C-018C-D40EE0325E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포트폴리오</a:t>
            </a:r>
            <a:r>
              <a:rPr lang="en-US" altLang="ko-KR" dirty="0"/>
              <a:t>?</a:t>
            </a:r>
            <a:endParaRPr lang="ko-KR" altLang="en-US" dirty="0"/>
          </a:p>
        </p:txBody>
      </p:sp>
      <p:pic>
        <p:nvPicPr>
          <p:cNvPr id="2052" name="Picture 4" descr="개발자 이력서 작성하기 (feat. 이력서 공개) | Wonny Log">
            <a:extLst>
              <a:ext uri="{FF2B5EF4-FFF2-40B4-BE49-F238E27FC236}">
                <a16:creationId xmlns:a16="http://schemas.microsoft.com/office/drawing/2014/main" id="{9A1B6276-E204-7797-6B8C-3218CC40F9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21595" y="1690688"/>
            <a:ext cx="5898221" cy="41318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0" name="Picture 2" descr="나를 구원해줄 그 분은 바로 git. 그리고 github">
            <a:extLst>
              <a:ext uri="{FF2B5EF4-FFF2-40B4-BE49-F238E27FC236}">
                <a16:creationId xmlns:a16="http://schemas.microsoft.com/office/drawing/2014/main" id="{4F196619-D61F-85F9-D9CA-B99257E4E8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0998" y="1690155"/>
            <a:ext cx="5257800" cy="14563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6949675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44D8E3F-3E15-CA55-DE78-C9E8135D7D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2CA0A7-0190-4FAD-B925-425179F7F418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DB29F7D-CB9C-794A-3A35-FAD82167AF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22</a:t>
            </a:fld>
            <a:endParaRPr lang="ko-KR" altLang="en-US"/>
          </a:p>
        </p:txBody>
      </p:sp>
      <p:pic>
        <p:nvPicPr>
          <p:cNvPr id="4098" name="Picture 2" descr="시작하기 | Git / GitHub 안내서">
            <a:extLst>
              <a:ext uri="{FF2B5EF4-FFF2-40B4-BE49-F238E27FC236}">
                <a16:creationId xmlns:a16="http://schemas.microsoft.com/office/drawing/2014/main" id="{734FB0B1-DFE8-E05D-B8D6-E471B0B8E8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99777" y="1409915"/>
            <a:ext cx="3126658" cy="13027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 descr="GitHub README.me에서 소스코드를 링크하는 방법">
            <a:extLst>
              <a:ext uri="{FF2B5EF4-FFF2-40B4-BE49-F238E27FC236}">
                <a16:creationId xmlns:a16="http://schemas.microsoft.com/office/drawing/2014/main" id="{784E6640-6DF9-E5D2-7549-7E3F6443F15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49656" y="3214392"/>
            <a:ext cx="4343694" cy="24324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2" name="Picture 6" descr="React, Vue 개발자를 위한 VSCode Extension. VSCode를 사용하는 웹 개발자를 위한 Extension 추천 |  by Bora Lee | Medium | Medium">
            <a:extLst>
              <a:ext uri="{FF2B5EF4-FFF2-40B4-BE49-F238E27FC236}">
                <a16:creationId xmlns:a16="http://schemas.microsoft.com/office/drawing/2014/main" id="{A24E52C0-B965-8877-0D3D-544095483FA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1477872"/>
            <a:ext cx="5248734" cy="26243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2624780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A492C02-0419-7C8D-8F70-9EAD19B9BF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6486D8F-3DFA-088C-30BB-98572100AF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23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7E93C594-AF29-4C79-505A-FD82602828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Github</a:t>
            </a:r>
            <a:r>
              <a:rPr lang="ko-KR" altLang="en-US" dirty="0"/>
              <a:t> 회원가입</a:t>
            </a:r>
            <a:r>
              <a:rPr lang="en-US" altLang="ko-KR" dirty="0"/>
              <a:t>/</a:t>
            </a:r>
            <a:r>
              <a:rPr lang="ko-KR" altLang="en-US" dirty="0"/>
              <a:t>로그인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0F7D830-B9D4-9D0A-6994-18E2CD9C9915}"/>
              </a:ext>
            </a:extLst>
          </p:cNvPr>
          <p:cNvSpPr txBox="1"/>
          <p:nvPr/>
        </p:nvSpPr>
        <p:spPr>
          <a:xfrm>
            <a:off x="846667" y="1794933"/>
            <a:ext cx="774417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dirty="0">
                <a:hlinkClick r:id="rId3"/>
              </a:rPr>
              <a:t>https://github.com/</a:t>
            </a:r>
            <a:r>
              <a:rPr lang="en-US" altLang="ko-KR" sz="2400" dirty="0"/>
              <a:t> </a:t>
            </a:r>
          </a:p>
          <a:p>
            <a:endParaRPr lang="ko-KR" altLang="en-US" sz="2400" dirty="0"/>
          </a:p>
        </p:txBody>
      </p:sp>
      <p:pic>
        <p:nvPicPr>
          <p:cNvPr id="3" name="Picture 4" descr="GitHub README.me에서 소스코드를 링크하는 방법">
            <a:extLst>
              <a:ext uri="{FF2B5EF4-FFF2-40B4-BE49-F238E27FC236}">
                <a16:creationId xmlns:a16="http://schemas.microsoft.com/office/drawing/2014/main" id="{92CC8123-1C3E-FCDA-140B-837F8597911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43355" y="2038926"/>
            <a:ext cx="7308120" cy="40925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5871687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A492C02-0419-7C8D-8F70-9EAD19B9BF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6486D8F-3DFA-088C-30BB-98572100AF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24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7E93C594-AF29-4C79-505A-FD82602828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VS Code </a:t>
            </a:r>
            <a:r>
              <a:rPr lang="ko-KR" altLang="en-US" dirty="0"/>
              <a:t>설치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0F7D830-B9D4-9D0A-6994-18E2CD9C9915}"/>
              </a:ext>
            </a:extLst>
          </p:cNvPr>
          <p:cNvSpPr txBox="1"/>
          <p:nvPr/>
        </p:nvSpPr>
        <p:spPr>
          <a:xfrm>
            <a:off x="846667" y="1794933"/>
            <a:ext cx="774417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dirty="0">
                <a:hlinkClick r:id="rId3"/>
              </a:rPr>
              <a:t>https://code.visualstudio.com/download</a:t>
            </a:r>
            <a:endParaRPr lang="en-US" altLang="ko-KR" sz="2400" dirty="0"/>
          </a:p>
          <a:p>
            <a:endParaRPr lang="ko-KR" altLang="en-US" sz="2400" dirty="0"/>
          </a:p>
        </p:txBody>
      </p:sp>
      <p:pic>
        <p:nvPicPr>
          <p:cNvPr id="7" name="Picture 2" descr="Visual Studio Code 설치하기">
            <a:extLst>
              <a:ext uri="{FF2B5EF4-FFF2-40B4-BE49-F238E27FC236}">
                <a16:creationId xmlns:a16="http://schemas.microsoft.com/office/drawing/2014/main" id="{B586C346-761E-B570-4747-559D7D55EA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80177" y="2683429"/>
            <a:ext cx="7374486" cy="30972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1007858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989FCA7-10AB-8AF6-D2BD-97B935935D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EE1A94-AFBA-455D-AB49-E75A31A49424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05A27B9-F560-8DFB-9CAE-3888D18048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25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253C5ED1-1C3E-3B3F-C109-37B7E4D5D0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VSCode</a:t>
            </a:r>
            <a:r>
              <a:rPr lang="en-US" altLang="ko-KR" dirty="0"/>
              <a:t> </a:t>
            </a:r>
            <a:r>
              <a:rPr lang="ko-KR" altLang="en-US" dirty="0"/>
              <a:t>확장 프로그램 설치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C0DDEE6F-3BF0-606E-71FA-BC7481C73F2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7343"/>
          <a:stretch/>
        </p:blipFill>
        <p:spPr>
          <a:xfrm>
            <a:off x="301357" y="3729759"/>
            <a:ext cx="11654851" cy="1117663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04E6D413-2C6E-3292-04C2-989AB7E35A6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1357" y="2388688"/>
            <a:ext cx="11654851" cy="10982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882683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A46613B6-15C2-4EB9-DA32-C88012E820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sz="2400" dirty="0">
                <a:hlinkClick r:id="rId2"/>
              </a:rPr>
              <a:t>https://git-scm.com/</a:t>
            </a:r>
            <a:endParaRPr lang="en-US" altLang="ko-KR" sz="2400" dirty="0"/>
          </a:p>
          <a:p>
            <a:pPr marL="0" indent="0">
              <a:buNone/>
            </a:pPr>
            <a:endParaRPr lang="en-US" altLang="ko-KR" sz="2400" dirty="0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4B72CC4-9130-8ED0-BB89-300F68F778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3E01B46-8CCE-8767-6D70-E051FA428E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26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D1B88E44-6FA1-EEEF-AC8F-4ADA1ABFFA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Git </a:t>
            </a:r>
            <a:r>
              <a:rPr lang="ko-KR" altLang="en-US" dirty="0"/>
              <a:t>설치하기 </a:t>
            </a:r>
            <a:r>
              <a:rPr lang="en-US" altLang="ko-KR" dirty="0"/>
              <a:t>(Windows)</a:t>
            </a:r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F98EF807-A747-F665-B95E-B2936849B9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59728" y="1703543"/>
            <a:ext cx="5960672" cy="44734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142422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D1F332-0F14-C520-5592-EDE8B8D55D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내용 개체 틀 7">
            <a:extLst>
              <a:ext uri="{FF2B5EF4-FFF2-40B4-BE49-F238E27FC236}">
                <a16:creationId xmlns:a16="http://schemas.microsoft.com/office/drawing/2014/main" id="{711D7082-A1D8-2822-544F-2D664F4C1A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7709" y="1572126"/>
            <a:ext cx="10515600" cy="3857582"/>
          </a:xfrm>
        </p:spPr>
        <p:txBody>
          <a:bodyPr>
            <a:normAutofit lnSpcReduction="10000"/>
          </a:bodyPr>
          <a:lstStyle/>
          <a:p>
            <a:r>
              <a:rPr lang="en-US" altLang="ko-KR" dirty="0">
                <a:solidFill>
                  <a:srgbClr val="0070C0"/>
                </a:solidFill>
              </a:rPr>
              <a:t>cd Desktop</a:t>
            </a:r>
          </a:p>
          <a:p>
            <a:r>
              <a:rPr lang="en-US" altLang="ko-KR" dirty="0" err="1">
                <a:solidFill>
                  <a:srgbClr val="0070C0"/>
                </a:solidFill>
              </a:rPr>
              <a:t>mkdir</a:t>
            </a:r>
            <a:r>
              <a:rPr lang="en-US" altLang="ko-KR" dirty="0">
                <a:solidFill>
                  <a:srgbClr val="0070C0"/>
                </a:solidFill>
              </a:rPr>
              <a:t> </a:t>
            </a:r>
            <a:r>
              <a:rPr lang="en-US" altLang="ko-KR" dirty="0" err="1">
                <a:solidFill>
                  <a:srgbClr val="0070C0"/>
                </a:solidFill>
              </a:rPr>
              <a:t>github</a:t>
            </a:r>
            <a:endParaRPr lang="en-US" altLang="ko-KR" dirty="0">
              <a:solidFill>
                <a:srgbClr val="0070C0"/>
              </a:solidFill>
            </a:endParaRPr>
          </a:p>
          <a:p>
            <a:r>
              <a:rPr lang="en-US" altLang="ko-KR" dirty="0">
                <a:solidFill>
                  <a:srgbClr val="0070C0"/>
                </a:solidFill>
              </a:rPr>
              <a:t>cd </a:t>
            </a:r>
            <a:r>
              <a:rPr lang="en-US" altLang="ko-KR" dirty="0" err="1">
                <a:solidFill>
                  <a:srgbClr val="0070C0"/>
                </a:solidFill>
              </a:rPr>
              <a:t>github</a:t>
            </a:r>
            <a:r>
              <a:rPr lang="en-US" altLang="ko-KR" dirty="0">
                <a:solidFill>
                  <a:srgbClr val="0070C0"/>
                </a:solidFill>
              </a:rPr>
              <a:t> </a:t>
            </a:r>
          </a:p>
          <a:p>
            <a:r>
              <a:rPr lang="en-US" altLang="ko-KR" dirty="0">
                <a:solidFill>
                  <a:srgbClr val="0070C0"/>
                </a:solidFill>
              </a:rPr>
              <a:t>git config --global </a:t>
            </a:r>
            <a:r>
              <a:rPr lang="en-US" altLang="ko-KR" dirty="0" err="1">
                <a:solidFill>
                  <a:srgbClr val="0070C0"/>
                </a:solidFill>
              </a:rPr>
              <a:t>init.defaultBranch</a:t>
            </a:r>
            <a:r>
              <a:rPr lang="en-US" altLang="ko-KR" dirty="0">
                <a:solidFill>
                  <a:srgbClr val="0070C0"/>
                </a:solidFill>
              </a:rPr>
              <a:t> main</a:t>
            </a:r>
          </a:p>
          <a:p>
            <a:r>
              <a:rPr lang="en-US" altLang="ko-KR" dirty="0">
                <a:solidFill>
                  <a:srgbClr val="0070C0"/>
                </a:solidFill>
              </a:rPr>
              <a:t>git config --global </a:t>
            </a:r>
            <a:r>
              <a:rPr lang="en-US" altLang="ko-KR" dirty="0" err="1">
                <a:solidFill>
                  <a:srgbClr val="0070C0"/>
                </a:solidFill>
              </a:rPr>
              <a:t>core.ignorecase</a:t>
            </a:r>
            <a:r>
              <a:rPr lang="en-US" altLang="ko-KR" dirty="0">
                <a:solidFill>
                  <a:srgbClr val="0070C0"/>
                </a:solidFill>
              </a:rPr>
              <a:t> false</a:t>
            </a:r>
          </a:p>
          <a:p>
            <a:r>
              <a:rPr lang="en-US" altLang="ko-KR" dirty="0">
                <a:solidFill>
                  <a:srgbClr val="0070C0"/>
                </a:solidFill>
              </a:rPr>
              <a:t>git config --global user.name </a:t>
            </a:r>
            <a:r>
              <a:rPr lang="en-US" altLang="ko-KR" dirty="0">
                <a:solidFill>
                  <a:srgbClr val="00B050"/>
                </a:solidFill>
              </a:rPr>
              <a:t>“GitHub </a:t>
            </a:r>
            <a:r>
              <a:rPr lang="ko-KR" altLang="en-US" dirty="0">
                <a:solidFill>
                  <a:srgbClr val="00B050"/>
                </a:solidFill>
              </a:rPr>
              <a:t>프로필 이름</a:t>
            </a:r>
            <a:r>
              <a:rPr lang="en-US" altLang="ko-KR" dirty="0">
                <a:solidFill>
                  <a:srgbClr val="00B050"/>
                </a:solidFill>
              </a:rPr>
              <a:t>”</a:t>
            </a:r>
          </a:p>
          <a:p>
            <a:r>
              <a:rPr lang="en-US" altLang="ko-KR" dirty="0">
                <a:solidFill>
                  <a:srgbClr val="0070C0"/>
                </a:solidFill>
              </a:rPr>
              <a:t>git config --global </a:t>
            </a:r>
            <a:r>
              <a:rPr lang="en-US" altLang="ko-KR" dirty="0" err="1">
                <a:solidFill>
                  <a:srgbClr val="0070C0"/>
                </a:solidFill>
              </a:rPr>
              <a:t>user.email</a:t>
            </a:r>
            <a:r>
              <a:rPr lang="en-US" altLang="ko-KR" dirty="0">
                <a:solidFill>
                  <a:srgbClr val="0070C0"/>
                </a:solidFill>
              </a:rPr>
              <a:t> </a:t>
            </a:r>
            <a:r>
              <a:rPr lang="en-US" altLang="ko-KR" dirty="0">
                <a:solidFill>
                  <a:srgbClr val="00B050"/>
                </a:solidFill>
              </a:rPr>
              <a:t>“GitHub </a:t>
            </a:r>
            <a:r>
              <a:rPr lang="ko-KR" altLang="en-US" dirty="0">
                <a:solidFill>
                  <a:srgbClr val="00B050"/>
                </a:solidFill>
              </a:rPr>
              <a:t>이메일 주소</a:t>
            </a:r>
            <a:r>
              <a:rPr lang="en-US" altLang="ko-KR" dirty="0">
                <a:solidFill>
                  <a:srgbClr val="00B050"/>
                </a:solidFill>
              </a:rPr>
              <a:t>”</a:t>
            </a:r>
          </a:p>
          <a:p>
            <a:r>
              <a:rPr lang="en-US" altLang="ko-KR" dirty="0">
                <a:solidFill>
                  <a:srgbClr val="0070C0"/>
                </a:solidFill>
              </a:rPr>
              <a:t>git config --global --list</a:t>
            </a:r>
          </a:p>
          <a:p>
            <a:pPr lvl="1"/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71B5AF6-6EB5-632B-59CC-C3F550E1C5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DE71ED9-518E-3DE7-9778-BBB9B70FDD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27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96CF3739-A788-3A58-8AAA-C4EC3DB894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       Git</a:t>
            </a:r>
            <a:r>
              <a:rPr lang="ko-KR" altLang="en-US" dirty="0"/>
              <a:t> </a:t>
            </a:r>
            <a:r>
              <a:rPr lang="en-US" altLang="ko-KR" dirty="0"/>
              <a:t>Bash</a:t>
            </a:r>
            <a:r>
              <a:rPr lang="ko-KR" altLang="en-US" dirty="0"/>
              <a:t>에서 아래 명령어 입력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5307AB4E-D6A8-D992-80C3-680C7F5A67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4555" y="566697"/>
            <a:ext cx="686308" cy="6714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091652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4" descr="GitHub README.me에서 소스코드를 링크하는 방법">
            <a:extLst>
              <a:ext uri="{FF2B5EF4-FFF2-40B4-BE49-F238E27FC236}">
                <a16:creationId xmlns:a16="http://schemas.microsoft.com/office/drawing/2014/main" id="{A081BE86-F2B1-2EA7-EDF3-467AA257CE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6011" y="2113585"/>
            <a:ext cx="4697911" cy="26308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E1BB560-7802-EC16-9EA1-588CF0DCC3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470E82-21E3-488C-BCDC-EB030ADC6AB3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69C63C6-3084-0440-9B2F-05EF01964B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28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8BB05630-D2A3-34FF-344E-51F0482969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Gihub</a:t>
            </a:r>
            <a:r>
              <a:rPr lang="ko-KR" altLang="en-US" dirty="0"/>
              <a:t>에서 </a:t>
            </a:r>
            <a:r>
              <a:rPr lang="en-US" altLang="ko-KR" dirty="0"/>
              <a:t>Repository </a:t>
            </a:r>
            <a:r>
              <a:rPr lang="ko-KR" altLang="en-US" dirty="0"/>
              <a:t>만들고 가져오기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08F6FC75-A4CC-2A84-2D92-ECA3E591C1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04271" y="1690688"/>
            <a:ext cx="4697911" cy="43667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884153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FD6EA9F-DA55-0267-4767-DDD52EAAEB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996B495F-B7A5-D638-EFBA-9BD7BFB9FE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29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6673BC75-489B-AFC6-B053-1EB07B1309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Repository </a:t>
            </a:r>
            <a:r>
              <a:rPr lang="ko-KR" altLang="en-US" dirty="0"/>
              <a:t>가져오기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842ED6C3-9809-44B6-225F-5FB91E9E27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684134"/>
            <a:ext cx="9322843" cy="601888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280B6FD4-6F8E-35FB-3DD0-838EEB0CB8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5148" y="2286022"/>
            <a:ext cx="9322843" cy="29928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556274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1EDE14B-F590-5390-4ED0-85934CA648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6F6B89-4082-49DC-A306-910E461DCB41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4661428-D3BF-F776-8121-361B8C4DBA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30</a:t>
            </a:fld>
            <a:endParaRPr lang="ko-KR" altLang="en-US"/>
          </a:p>
        </p:txBody>
      </p:sp>
      <p:pic>
        <p:nvPicPr>
          <p:cNvPr id="8" name="그림 7" descr="텍스트, 표지판이(가) 표시된 사진&#10;&#10;자동 생성된 설명">
            <a:extLst>
              <a:ext uri="{FF2B5EF4-FFF2-40B4-BE49-F238E27FC236}">
                <a16:creationId xmlns:a16="http://schemas.microsoft.com/office/drawing/2014/main" id="{81459821-95CF-3555-EA73-B302A2E8328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34018" y="1374470"/>
            <a:ext cx="9723963" cy="41090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070992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1C847C42-5B19-643E-6060-D9D2F849F1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n-US" altLang="ko-KR" sz="2400" dirty="0">
                <a:solidFill>
                  <a:srgbClr val="0070C0"/>
                </a:solidFill>
                <a:ea typeface="강한공군체 Medium" panose="020B0600000101010101" pitchFamily="34" charset="-127"/>
              </a:rPr>
              <a:t>git status</a:t>
            </a:r>
            <a:r>
              <a:rPr lang="en-US" altLang="ko-KR" sz="2400" dirty="0">
                <a:ea typeface="강한공군체 Medium" panose="020B0600000101010101" pitchFamily="34" charset="-127"/>
              </a:rPr>
              <a:t> : </a:t>
            </a:r>
            <a:r>
              <a:rPr lang="ko-KR" altLang="en-US" sz="2400" dirty="0">
                <a:ea typeface="강한공군체 Medium" panose="020B0600000101010101" pitchFamily="34" charset="-127"/>
              </a:rPr>
              <a:t>현재 디렉토리 상태 보기</a:t>
            </a:r>
            <a:endParaRPr lang="en-US" altLang="ko-KR" sz="2400" dirty="0">
              <a:ea typeface="강한공군체 Medium" panose="020B0600000101010101" pitchFamily="34" charset="-127"/>
            </a:endParaRPr>
          </a:p>
          <a:p>
            <a:pPr>
              <a:lnSpc>
                <a:spcPct val="100000"/>
              </a:lnSpc>
            </a:pPr>
            <a:r>
              <a:rPr lang="en-US" altLang="ko-KR" sz="2400" dirty="0">
                <a:solidFill>
                  <a:srgbClr val="0070C0"/>
                </a:solidFill>
                <a:ea typeface="강한공군체 Medium" panose="020B0600000101010101" pitchFamily="34" charset="-127"/>
              </a:rPr>
              <a:t>git add</a:t>
            </a:r>
            <a:r>
              <a:rPr lang="ko-KR" altLang="en-US" sz="2400" dirty="0">
                <a:solidFill>
                  <a:srgbClr val="0070C0"/>
                </a:solidFill>
                <a:ea typeface="강한공군체 Medium" panose="020B0600000101010101" pitchFamily="34" charset="-127"/>
              </a:rPr>
              <a:t> </a:t>
            </a:r>
            <a:r>
              <a:rPr lang="en-US" altLang="ko-KR" sz="2400" dirty="0">
                <a:solidFill>
                  <a:srgbClr val="0070C0"/>
                </a:solidFill>
                <a:ea typeface="강한공군체 Medium" panose="020B0600000101010101" pitchFamily="34" charset="-127"/>
              </a:rPr>
              <a:t>. </a:t>
            </a:r>
            <a:r>
              <a:rPr lang="en-US" altLang="ko-KR" sz="2400" dirty="0">
                <a:ea typeface="강한공군체 Medium" panose="020B0600000101010101" pitchFamily="34" charset="-127"/>
              </a:rPr>
              <a:t>: </a:t>
            </a:r>
            <a:r>
              <a:rPr lang="ko-KR" altLang="en-US" sz="2400" dirty="0">
                <a:ea typeface="강한공군체 Medium" panose="020B0600000101010101" pitchFamily="34" charset="-127"/>
              </a:rPr>
              <a:t>현재 디렉토리의 모든 변경 사항을 </a:t>
            </a:r>
            <a:r>
              <a:rPr lang="ko-KR" altLang="en-US" sz="2400" dirty="0" err="1">
                <a:ea typeface="강한공군체 Medium" panose="020B0600000101010101" pitchFamily="34" charset="-127"/>
              </a:rPr>
              <a:t>스테이징</a:t>
            </a:r>
            <a:r>
              <a:rPr lang="ko-KR" altLang="en-US" sz="2400" dirty="0">
                <a:ea typeface="강한공군체 Medium" panose="020B0600000101010101" pitchFamily="34" charset="-127"/>
              </a:rPr>
              <a:t> 영역에 추가 </a:t>
            </a:r>
            <a:endParaRPr lang="en-US" altLang="ko-KR" sz="2400" dirty="0">
              <a:ea typeface="강한공군체 Medium" panose="020B0600000101010101" pitchFamily="34" charset="-127"/>
            </a:endParaRPr>
          </a:p>
          <a:p>
            <a:pPr>
              <a:lnSpc>
                <a:spcPct val="100000"/>
              </a:lnSpc>
            </a:pPr>
            <a:r>
              <a:rPr lang="en-US" altLang="ko-KR" sz="2400" dirty="0">
                <a:solidFill>
                  <a:srgbClr val="0070C0"/>
                </a:solidFill>
                <a:ea typeface="강한공군체 Medium" panose="020B0600000101010101" pitchFamily="34" charset="-127"/>
              </a:rPr>
              <a:t>git status </a:t>
            </a:r>
            <a:r>
              <a:rPr lang="en-US" altLang="ko-KR" sz="2400" dirty="0">
                <a:ea typeface="강한공군체 Medium" panose="020B0600000101010101" pitchFamily="34" charset="-127"/>
              </a:rPr>
              <a:t>: </a:t>
            </a:r>
            <a:r>
              <a:rPr lang="ko-KR" altLang="en-US" sz="2400" dirty="0">
                <a:ea typeface="강한공군체 Medium" panose="020B0600000101010101" pitchFamily="34" charset="-127"/>
              </a:rPr>
              <a:t>현재 디렉토리 상태 보기 </a:t>
            </a:r>
            <a:r>
              <a:rPr lang="en-US" altLang="ko-KR" sz="2400" dirty="0">
                <a:ea typeface="강한공군체 Medium" panose="020B0600000101010101" pitchFamily="34" charset="-127"/>
              </a:rPr>
              <a:t>(</a:t>
            </a:r>
            <a:r>
              <a:rPr lang="ko-KR" altLang="en-US" sz="2400" dirty="0">
                <a:ea typeface="강한공군체 Medium" panose="020B0600000101010101" pitchFamily="34" charset="-127"/>
              </a:rPr>
              <a:t>상태 변경 확인</a:t>
            </a:r>
            <a:r>
              <a:rPr lang="en-US" altLang="ko-KR" sz="2400" dirty="0">
                <a:ea typeface="강한공군체 Medium" panose="020B0600000101010101" pitchFamily="34" charset="-127"/>
              </a:rPr>
              <a:t>)</a:t>
            </a:r>
          </a:p>
          <a:p>
            <a:pPr>
              <a:lnSpc>
                <a:spcPct val="100000"/>
              </a:lnSpc>
            </a:pPr>
            <a:r>
              <a:rPr lang="en-US" altLang="ko-KR" sz="2400" dirty="0">
                <a:solidFill>
                  <a:srgbClr val="0070C0"/>
                </a:solidFill>
                <a:ea typeface="강한공군체 Medium" panose="020B0600000101010101" pitchFamily="34" charset="-127"/>
              </a:rPr>
              <a:t>git</a:t>
            </a:r>
            <a:r>
              <a:rPr lang="ko-KR" altLang="en-US" sz="2400" dirty="0">
                <a:solidFill>
                  <a:srgbClr val="0070C0"/>
                </a:solidFill>
                <a:ea typeface="강한공군체 Medium" panose="020B0600000101010101" pitchFamily="34" charset="-127"/>
              </a:rPr>
              <a:t> </a:t>
            </a:r>
            <a:r>
              <a:rPr lang="en-US" altLang="ko-KR" sz="2400" dirty="0">
                <a:solidFill>
                  <a:srgbClr val="0070C0"/>
                </a:solidFill>
                <a:ea typeface="강한공군체 Medium" panose="020B0600000101010101" pitchFamily="34" charset="-127"/>
              </a:rPr>
              <a:t>commit -m “study: first commit” </a:t>
            </a:r>
            <a:r>
              <a:rPr lang="en-US" altLang="ko-KR" sz="2400" dirty="0">
                <a:ea typeface="강한공군체 Medium" panose="020B0600000101010101" pitchFamily="34" charset="-127"/>
              </a:rPr>
              <a:t>: </a:t>
            </a:r>
            <a:r>
              <a:rPr lang="ko-KR" altLang="en-US" sz="2400" dirty="0" err="1">
                <a:ea typeface="강한공군체 Medium" panose="020B0600000101010101" pitchFamily="34" charset="-127"/>
              </a:rPr>
              <a:t>스테이징</a:t>
            </a:r>
            <a:r>
              <a:rPr lang="ko-KR" altLang="en-US" sz="2400" dirty="0">
                <a:ea typeface="강한공군체 Medium" panose="020B0600000101010101" pitchFamily="34" charset="-127"/>
              </a:rPr>
              <a:t> 영역의 파일을 커밋하여 저장소의 히스토리에 기록</a:t>
            </a:r>
            <a:endParaRPr lang="en-US" altLang="ko-KR" sz="2400" dirty="0">
              <a:ea typeface="강한공군체 Medium" panose="020B0600000101010101" pitchFamily="34" charset="-127"/>
            </a:endParaRPr>
          </a:p>
          <a:p>
            <a:pPr>
              <a:lnSpc>
                <a:spcPct val="100000"/>
              </a:lnSpc>
            </a:pPr>
            <a:r>
              <a:rPr lang="en-US" altLang="ko-KR" sz="2400" dirty="0">
                <a:solidFill>
                  <a:srgbClr val="0070C0"/>
                </a:solidFill>
                <a:ea typeface="강한공군체 Medium" panose="020B0600000101010101" pitchFamily="34" charset="-127"/>
              </a:rPr>
              <a:t>git log </a:t>
            </a:r>
            <a:r>
              <a:rPr lang="en-US" altLang="ko-KR" sz="2400" dirty="0">
                <a:ea typeface="강한공군체 Medium" panose="020B0600000101010101" pitchFamily="34" charset="-127"/>
              </a:rPr>
              <a:t>: </a:t>
            </a:r>
            <a:r>
              <a:rPr lang="ko-KR" altLang="en-US" sz="2400" dirty="0">
                <a:ea typeface="강한공군체 Medium" panose="020B0600000101010101" pitchFamily="34" charset="-127"/>
              </a:rPr>
              <a:t>저장소의 </a:t>
            </a:r>
            <a:r>
              <a:rPr lang="ko-KR" altLang="en-US" sz="2400" dirty="0" err="1">
                <a:ea typeface="강한공군체 Medium" panose="020B0600000101010101" pitchFamily="34" charset="-127"/>
              </a:rPr>
              <a:t>커밋</a:t>
            </a:r>
            <a:r>
              <a:rPr lang="ko-KR" altLang="en-US" sz="2400" dirty="0">
                <a:ea typeface="강한공군체 Medium" panose="020B0600000101010101" pitchFamily="34" charset="-127"/>
              </a:rPr>
              <a:t> 히스토리 확인</a:t>
            </a:r>
            <a:endParaRPr lang="en-US" altLang="ko-KR" sz="2400" dirty="0">
              <a:ea typeface="강한공군체 Medium" panose="020B0600000101010101" pitchFamily="34" charset="-127"/>
            </a:endParaRPr>
          </a:p>
          <a:p>
            <a:pPr>
              <a:lnSpc>
                <a:spcPct val="100000"/>
              </a:lnSpc>
            </a:pPr>
            <a:r>
              <a:rPr lang="en-US" altLang="ko-KR" sz="2400" dirty="0">
                <a:solidFill>
                  <a:srgbClr val="0070C0"/>
                </a:solidFill>
                <a:ea typeface="강한공군체 Medium" panose="020B0600000101010101" pitchFamily="34" charset="-127"/>
              </a:rPr>
              <a:t>git</a:t>
            </a:r>
            <a:r>
              <a:rPr lang="ko-KR" altLang="en-US" sz="2400" dirty="0">
                <a:solidFill>
                  <a:srgbClr val="0070C0"/>
                </a:solidFill>
                <a:ea typeface="강한공군체 Medium" panose="020B0600000101010101" pitchFamily="34" charset="-127"/>
              </a:rPr>
              <a:t> </a:t>
            </a:r>
            <a:r>
              <a:rPr lang="en-US" altLang="ko-KR" sz="2400" dirty="0">
                <a:solidFill>
                  <a:srgbClr val="0070C0"/>
                </a:solidFill>
                <a:ea typeface="강한공군체 Medium" panose="020B0600000101010101" pitchFamily="34" charset="-127"/>
              </a:rPr>
              <a:t>push –u origin main </a:t>
            </a:r>
            <a:r>
              <a:rPr lang="en-US" altLang="ko-KR" sz="2400" dirty="0">
                <a:ea typeface="강한공군체 Medium" panose="020B0600000101010101" pitchFamily="34" charset="-127"/>
              </a:rPr>
              <a:t>: </a:t>
            </a:r>
            <a:r>
              <a:rPr lang="ko-KR" altLang="en-US" sz="2400" dirty="0">
                <a:ea typeface="강한공군체 Medium" panose="020B0600000101010101" pitchFamily="34" charset="-127"/>
              </a:rPr>
              <a:t>로컬 저장소의 변경 사항을 원격 저장소로 푸시</a:t>
            </a:r>
            <a:endParaRPr lang="en-US" altLang="ko-KR" sz="2400" dirty="0">
              <a:ea typeface="강한공군체 Medium" panose="020B0600000101010101" pitchFamily="34" charset="-127"/>
            </a:endParaRPr>
          </a:p>
          <a:p>
            <a:endParaRPr lang="ko-KR" altLang="en-US" sz="2400" dirty="0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A9D7B475-9B14-ED2B-6D54-DB49F38418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32B312E-2FAB-7276-F2BF-2F6DBC9DD0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31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1DD2F534-EE96-0891-B750-CA1FFA363E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Git </a:t>
            </a:r>
            <a:r>
              <a:rPr lang="ko-KR" altLang="en-US" dirty="0"/>
              <a:t>명령어</a:t>
            </a:r>
          </a:p>
        </p:txBody>
      </p:sp>
    </p:spTree>
    <p:extLst>
      <p:ext uri="{BB962C8B-B14F-4D97-AF65-F5344CB8AC3E}">
        <p14:creationId xmlns:p14="http://schemas.microsoft.com/office/powerpoint/2010/main" val="65645314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32</a:t>
            </a:fld>
            <a:endParaRPr lang="ko-KR" altLang="en-US"/>
          </a:p>
        </p:txBody>
      </p:sp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블로깅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755270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3F048C50-6513-7049-7DEB-7C192C7238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E67EFCB-9C02-BB06-0788-FAD7988F68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33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B573B403-D124-A1D8-387D-52A548D8A2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>
                <a:cs typeface="Calibri"/>
                <a:sym typeface="Calibri"/>
              </a:rPr>
              <a:t>블로깅</a:t>
            </a:r>
            <a:r>
              <a:rPr lang="ko-KR" altLang="ko-KR" dirty="0">
                <a:cs typeface="Calibri"/>
                <a:sym typeface="Calibri"/>
              </a:rPr>
              <a:t> </a:t>
            </a:r>
            <a:r>
              <a:rPr lang="ko-KR" altLang="ko-KR" sz="4800" dirty="0">
                <a:cs typeface="Calibri"/>
                <a:sym typeface="Calibri"/>
              </a:rPr>
              <a:t>Tool</a:t>
            </a:r>
            <a:endParaRPr lang="ko-KR" altLang="en-US" dirty="0"/>
          </a:p>
        </p:txBody>
      </p:sp>
      <p:sp>
        <p:nvSpPr>
          <p:cNvPr id="6" name="Google Shape;202;g1c6ff2b8c7b_1_21">
            <a:extLst>
              <a:ext uri="{FF2B5EF4-FFF2-40B4-BE49-F238E27FC236}">
                <a16:creationId xmlns:a16="http://schemas.microsoft.com/office/drawing/2014/main" id="{1C4EC31F-60CA-1792-19AC-A55216424A9C}"/>
              </a:ext>
            </a:extLst>
          </p:cNvPr>
          <p:cNvSpPr txBox="1">
            <a:spLocks/>
          </p:cNvSpPr>
          <p:nvPr/>
        </p:nvSpPr>
        <p:spPr>
          <a:xfrm>
            <a:off x="2323050" y="1919600"/>
            <a:ext cx="3772950" cy="1509400"/>
          </a:xfrm>
          <a:prstGeom prst="rect">
            <a:avLst/>
          </a:prstGeom>
        </p:spPr>
        <p:txBody>
          <a:bodyPr spcFirstLastPara="1" vert="horz" wrap="square" lIns="91425" tIns="45700" rIns="91425" bIns="45700" rtlCol="0" anchor="t" anchorCtr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>
                <a:cs typeface="Calibri"/>
                <a:sym typeface="Calibri"/>
              </a:rPr>
              <a:t>Tistory</a:t>
            </a:r>
          </a:p>
          <a:p>
            <a:pPr marL="79375" indent="0">
              <a:lnSpc>
                <a:spcPct val="115000"/>
              </a:lnSpc>
              <a:buSzPts val="2350"/>
              <a:buFont typeface="Arial" panose="020B0604020202020204" pitchFamily="34" charset="0"/>
              <a:buNone/>
            </a:pPr>
            <a:r>
              <a:rPr lang="en-US" altLang="ko-KR" sz="2000">
                <a:cs typeface="Calibri"/>
                <a:sym typeface="Calibri"/>
                <a:hlinkClick r:id="rId2"/>
              </a:rPr>
              <a:t>https://www.tistory.com/</a:t>
            </a:r>
            <a:r>
              <a:rPr lang="en-US" altLang="ko-KR" sz="2000">
                <a:cs typeface="Calibri"/>
                <a:sym typeface="Calibri"/>
              </a:rPr>
              <a:t> </a:t>
            </a:r>
            <a:endParaRPr lang="en-US" sz="2000" dirty="0">
              <a:cs typeface="Calibri"/>
              <a:sym typeface="Calibri"/>
            </a:endParaRPr>
          </a:p>
        </p:txBody>
      </p:sp>
      <p:sp>
        <p:nvSpPr>
          <p:cNvPr id="7" name="Google Shape;206;g1c6ff2b8c7b_1_21">
            <a:extLst>
              <a:ext uri="{FF2B5EF4-FFF2-40B4-BE49-F238E27FC236}">
                <a16:creationId xmlns:a16="http://schemas.microsoft.com/office/drawing/2014/main" id="{E8FB726D-8855-D321-0386-A722A9B56BE4}"/>
              </a:ext>
            </a:extLst>
          </p:cNvPr>
          <p:cNvSpPr txBox="1">
            <a:spLocks/>
          </p:cNvSpPr>
          <p:nvPr/>
        </p:nvSpPr>
        <p:spPr>
          <a:xfrm>
            <a:off x="2406139" y="3733169"/>
            <a:ext cx="2959946" cy="1274808"/>
          </a:xfrm>
          <a:prstGeom prst="rect">
            <a:avLst/>
          </a:prstGeom>
        </p:spPr>
        <p:txBody>
          <a:bodyPr spcFirstLastPara="1" vert="horz" wrap="square" lIns="91425" tIns="45700" rIns="91425" bIns="45700" rtlCol="0" anchor="t" anchorCtr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ko-KR">
                <a:cs typeface="Calibri"/>
                <a:sym typeface="Calibri"/>
              </a:rPr>
              <a:t>Velog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ko-KR" sz="2000" u="sng">
                <a:solidFill>
                  <a:schemeClr val="hlink"/>
                </a:solidFill>
                <a:cs typeface="Calibri"/>
                <a:sym typeface="Calibri"/>
                <a:hlinkClick r:id="rId3"/>
              </a:rPr>
              <a:t>https://velog.io/</a:t>
            </a:r>
            <a:endParaRPr lang="en-US" sz="2000" dirty="0">
              <a:cs typeface="Calibri"/>
              <a:sym typeface="Calibri"/>
            </a:endParaRPr>
          </a:p>
        </p:txBody>
      </p:sp>
      <p:pic>
        <p:nvPicPr>
          <p:cNvPr id="8" name="Google Shape;205;g1c6ff2b8c7b_1_21">
            <a:extLst>
              <a:ext uri="{FF2B5EF4-FFF2-40B4-BE49-F238E27FC236}">
                <a16:creationId xmlns:a16="http://schemas.microsoft.com/office/drawing/2014/main" id="{F43E631B-06DD-8F39-6F2C-5F55DD9C4F82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131450" y="3815807"/>
            <a:ext cx="1000800" cy="1000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" name="Picture 2" descr="티스토리 - TISTORY – Apps on Google Play">
            <a:extLst>
              <a:ext uri="{FF2B5EF4-FFF2-40B4-BE49-F238E27FC236}">
                <a16:creationId xmlns:a16="http://schemas.microsoft.com/office/drawing/2014/main" id="{F37CBDD9-B000-2A0F-983A-98D7A4C6BC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2675" y="1778600"/>
            <a:ext cx="1258350" cy="12583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4" descr="네이버 블로그 종합 가이드 [ 수익, 부업, 구조, 분석 ] : 네이버 블로그">
            <a:extLst>
              <a:ext uri="{FF2B5EF4-FFF2-40B4-BE49-F238E27FC236}">
                <a16:creationId xmlns:a16="http://schemas.microsoft.com/office/drawing/2014/main" id="{3E132744-13F1-BFFC-3DE9-3203162C0DF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91703" y="2466143"/>
            <a:ext cx="1270102" cy="11367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6" descr="워드 프레스 - 무료 소셜 미디어개 아이콘">
            <a:extLst>
              <a:ext uri="{FF2B5EF4-FFF2-40B4-BE49-F238E27FC236}">
                <a16:creationId xmlns:a16="http://schemas.microsoft.com/office/drawing/2014/main" id="{7D8F5D57-96D6-DE56-9084-AFFD002450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35693" y="2840817"/>
            <a:ext cx="929000" cy="929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8" descr="로그인 - 포블로그 : 블로그 체험단 마케팅 서비스">
            <a:extLst>
              <a:ext uri="{FF2B5EF4-FFF2-40B4-BE49-F238E27FC236}">
                <a16:creationId xmlns:a16="http://schemas.microsoft.com/office/drawing/2014/main" id="{B7689260-1B7D-899F-AD4A-3F3674041F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28974" y="3769817"/>
            <a:ext cx="665661" cy="6656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3380688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48E373E-4A6F-3DAF-FFA9-1C87175CE2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 sz="2400" dirty="0">
                <a:hlinkClick r:id="rId3"/>
              </a:rPr>
              <a:t>https://rb.gy/ij9td</a:t>
            </a:r>
            <a:r>
              <a:rPr lang="en-US" altLang="ko-KR" sz="2400" dirty="0"/>
              <a:t> </a:t>
            </a:r>
            <a:endParaRPr lang="ko-KR" altLang="en-US" sz="2400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13F145A-51BC-57C6-435B-A95F1916BD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BB95329-B585-0642-B798-29BBEBE92D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34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07BCF03-A98D-E9EC-D2A0-221698B1F9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블로깅</a:t>
            </a:r>
            <a:r>
              <a:rPr lang="ko-KR" altLang="en-US" dirty="0"/>
              <a:t> 가이드 확인하기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6C80DFF7-EE45-5B20-20F3-E28EAAF5EE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8825" y="516914"/>
            <a:ext cx="5131077" cy="54362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523813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3F3F641-8BE2-2645-56B6-2BBD5CD1EF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제목</a:t>
            </a:r>
            <a:endParaRPr lang="en-US" altLang="ko-KR" dirty="0"/>
          </a:p>
          <a:p>
            <a:pPr marL="457200" lvl="1" indent="0">
              <a:buNone/>
            </a:pPr>
            <a:r>
              <a:rPr lang="en-US" altLang="ko-KR" b="1" dirty="0">
                <a:solidFill>
                  <a:srgbClr val="6EC173"/>
                </a:solidFill>
              </a:rPr>
              <a:t>[</a:t>
            </a:r>
            <a:r>
              <a:rPr lang="ko-KR" altLang="en-US" b="1" dirty="0">
                <a:solidFill>
                  <a:srgbClr val="6EC173"/>
                </a:solidFill>
              </a:rPr>
              <a:t>새싹</a:t>
            </a:r>
            <a:r>
              <a:rPr lang="en-US" altLang="ko-KR" b="1" dirty="0">
                <a:solidFill>
                  <a:srgbClr val="6EC173"/>
                </a:solidFill>
              </a:rPr>
              <a:t>x</a:t>
            </a:r>
            <a:r>
              <a:rPr lang="ko-KR" altLang="en-US" b="1" dirty="0" err="1">
                <a:solidFill>
                  <a:srgbClr val="6EC173"/>
                </a:solidFill>
              </a:rPr>
              <a:t>코딩온</a:t>
            </a:r>
            <a:r>
              <a:rPr lang="en-US" altLang="ko-KR" b="1" dirty="0">
                <a:solidFill>
                  <a:srgbClr val="6EC173"/>
                </a:solidFill>
              </a:rPr>
              <a:t>] + </a:t>
            </a:r>
            <a:r>
              <a:rPr lang="ko-KR" altLang="en-US" b="1" dirty="0" err="1">
                <a:solidFill>
                  <a:srgbClr val="6EC173"/>
                </a:solidFill>
              </a:rPr>
              <a:t>과정명</a:t>
            </a:r>
            <a:r>
              <a:rPr lang="ko-KR" altLang="en-US" b="1" dirty="0">
                <a:solidFill>
                  <a:srgbClr val="6EC173"/>
                </a:solidFill>
              </a:rPr>
              <a:t> </a:t>
            </a:r>
            <a:r>
              <a:rPr lang="en-US" altLang="ko-KR" b="1" dirty="0">
                <a:solidFill>
                  <a:srgbClr val="6EC173"/>
                </a:solidFill>
              </a:rPr>
              <a:t>+ </a:t>
            </a:r>
            <a:r>
              <a:rPr lang="ko-KR" altLang="en-US" b="1" dirty="0">
                <a:solidFill>
                  <a:srgbClr val="6EC173"/>
                </a:solidFill>
              </a:rPr>
              <a:t>주차 </a:t>
            </a:r>
            <a:r>
              <a:rPr lang="en-US" altLang="ko-KR" b="1" dirty="0">
                <a:solidFill>
                  <a:srgbClr val="6EC173"/>
                </a:solidFill>
              </a:rPr>
              <a:t>+ ‘</a:t>
            </a:r>
            <a:r>
              <a:rPr lang="ko-KR" altLang="en-US" b="1" dirty="0">
                <a:solidFill>
                  <a:srgbClr val="6EC173"/>
                </a:solidFill>
              </a:rPr>
              <a:t>회고’ </a:t>
            </a:r>
            <a:r>
              <a:rPr lang="en-US" altLang="ko-KR" b="1" dirty="0">
                <a:solidFill>
                  <a:srgbClr val="6EC173"/>
                </a:solidFill>
              </a:rPr>
              <a:t>+ </a:t>
            </a:r>
            <a:r>
              <a:rPr lang="ko-KR" altLang="en-US" b="1" dirty="0" err="1">
                <a:solidFill>
                  <a:srgbClr val="6EC173"/>
                </a:solidFill>
              </a:rPr>
              <a:t>블로깅</a:t>
            </a:r>
            <a:r>
              <a:rPr lang="ko-KR" altLang="en-US" b="1" dirty="0">
                <a:solidFill>
                  <a:srgbClr val="6EC173"/>
                </a:solidFill>
              </a:rPr>
              <a:t> 주제 </a:t>
            </a:r>
            <a:endParaRPr lang="en-US" altLang="ko-KR" b="1" dirty="0">
              <a:solidFill>
                <a:srgbClr val="6EC173"/>
              </a:solidFill>
            </a:endParaRPr>
          </a:p>
          <a:p>
            <a:pPr marL="457200" lvl="1" indent="0">
              <a:buNone/>
            </a:pPr>
            <a:r>
              <a:rPr lang="en-US" altLang="ko-KR" dirty="0"/>
              <a:t>Ex) [</a:t>
            </a:r>
            <a:r>
              <a:rPr lang="ko-KR" altLang="en-US" dirty="0"/>
              <a:t>새싹</a:t>
            </a:r>
            <a:r>
              <a:rPr lang="en-US" altLang="ko-KR" dirty="0"/>
              <a:t>x</a:t>
            </a:r>
            <a:r>
              <a:rPr lang="ko-KR" altLang="en-US" dirty="0" err="1"/>
              <a:t>코딩온</a:t>
            </a:r>
            <a:r>
              <a:rPr lang="en-US" altLang="ko-KR" dirty="0"/>
              <a:t>] </a:t>
            </a:r>
            <a:r>
              <a:rPr lang="ko-KR" altLang="en-US" dirty="0"/>
              <a:t>웹 개발자 부트캠프 과정 </a:t>
            </a:r>
            <a:r>
              <a:rPr lang="en-US" altLang="ko-KR" dirty="0"/>
              <a:t>1</a:t>
            </a:r>
            <a:r>
              <a:rPr lang="ko-KR" altLang="en-US" dirty="0"/>
              <a:t>주차 회고 </a:t>
            </a:r>
            <a:r>
              <a:rPr lang="en-US" altLang="ko-KR" dirty="0"/>
              <a:t>| HTML </a:t>
            </a:r>
            <a:r>
              <a:rPr lang="ko-KR" altLang="en-US" dirty="0"/>
              <a:t>태그 </a:t>
            </a:r>
            <a:endParaRPr lang="en-US" altLang="ko-KR" dirty="0"/>
          </a:p>
          <a:p>
            <a:r>
              <a:rPr lang="ko-KR" altLang="en-US" dirty="0"/>
              <a:t>내용</a:t>
            </a:r>
            <a:endParaRPr lang="en-US" altLang="ko-KR" dirty="0"/>
          </a:p>
          <a:p>
            <a:pPr marL="457200" lvl="1" indent="0">
              <a:buNone/>
            </a:pPr>
            <a:r>
              <a:rPr lang="ko-KR" altLang="en-US" dirty="0"/>
              <a:t>서론 → 본론 → 결론</a:t>
            </a:r>
            <a:r>
              <a:rPr lang="en-US" altLang="ko-KR" dirty="0"/>
              <a:t>(</a:t>
            </a:r>
            <a:r>
              <a:rPr lang="ko-KR" altLang="en-US" dirty="0"/>
              <a:t>회고</a:t>
            </a:r>
            <a:r>
              <a:rPr lang="en-US" altLang="ko-KR" dirty="0"/>
              <a:t>)</a:t>
            </a:r>
          </a:p>
          <a:p>
            <a:r>
              <a:rPr lang="ko-KR" altLang="en-US" dirty="0"/>
              <a:t>주기</a:t>
            </a:r>
            <a:endParaRPr lang="en-US" altLang="ko-KR" dirty="0"/>
          </a:p>
          <a:p>
            <a:pPr marL="457200" lvl="1" indent="0">
              <a:buNone/>
            </a:pPr>
            <a:r>
              <a:rPr lang="ko-KR" altLang="en-US" dirty="0"/>
              <a:t>일주일에 </a:t>
            </a:r>
            <a:r>
              <a:rPr lang="ko-KR" altLang="en-US" b="1" dirty="0">
                <a:solidFill>
                  <a:srgbClr val="6EC173"/>
                </a:solidFill>
              </a:rPr>
              <a:t>최소 </a:t>
            </a:r>
            <a:r>
              <a:rPr lang="en-US" altLang="ko-KR" b="1" dirty="0">
                <a:solidFill>
                  <a:srgbClr val="6EC173"/>
                </a:solidFill>
              </a:rPr>
              <a:t>2</a:t>
            </a:r>
            <a:r>
              <a:rPr lang="ko-KR" altLang="en-US" b="1" dirty="0">
                <a:solidFill>
                  <a:srgbClr val="6EC173"/>
                </a:solidFill>
              </a:rPr>
              <a:t>번</a:t>
            </a:r>
            <a:r>
              <a:rPr lang="en-US" altLang="ko-KR" dirty="0"/>
              <a:t>!</a:t>
            </a:r>
          </a:p>
          <a:p>
            <a:pPr marL="457200" lvl="1" indent="0">
              <a:buNone/>
            </a:pPr>
            <a:r>
              <a:rPr lang="en-US" altLang="ko-KR" dirty="0"/>
              <a:t>1</a:t>
            </a:r>
            <a:r>
              <a:rPr lang="ko-KR" altLang="en-US" dirty="0"/>
              <a:t>개의 프로젝트당 </a:t>
            </a:r>
            <a:r>
              <a:rPr lang="en-US" altLang="ko-KR" b="1" dirty="0">
                <a:solidFill>
                  <a:srgbClr val="6EC173"/>
                </a:solidFill>
              </a:rPr>
              <a:t>1</a:t>
            </a:r>
            <a:r>
              <a:rPr lang="ko-KR" altLang="en-US" b="1" dirty="0">
                <a:solidFill>
                  <a:srgbClr val="6EC173"/>
                </a:solidFill>
              </a:rPr>
              <a:t>개의 회고록</a:t>
            </a:r>
            <a:r>
              <a:rPr lang="en-US" altLang="ko-KR" dirty="0"/>
              <a:t>!</a:t>
            </a:r>
          </a:p>
          <a:p>
            <a:pPr marL="457200" lvl="1" indent="0">
              <a:buNone/>
            </a:pPr>
            <a:r>
              <a:rPr lang="ko-KR" altLang="en-US" dirty="0"/>
              <a:t>매주 링크를 </a:t>
            </a:r>
            <a:r>
              <a:rPr lang="en-US" altLang="ko-KR" b="1" dirty="0">
                <a:solidFill>
                  <a:srgbClr val="6EC173"/>
                </a:solidFill>
              </a:rPr>
              <a:t>Slack #</a:t>
            </a:r>
            <a:r>
              <a:rPr lang="ko-KR" altLang="en-US" b="1" dirty="0" err="1">
                <a:solidFill>
                  <a:srgbClr val="6EC173"/>
                </a:solidFill>
              </a:rPr>
              <a:t>블로깅</a:t>
            </a:r>
            <a:r>
              <a:rPr lang="ko-KR" altLang="en-US" b="1" dirty="0">
                <a:solidFill>
                  <a:srgbClr val="6EC173"/>
                </a:solidFill>
              </a:rPr>
              <a:t> 채널</a:t>
            </a:r>
            <a:r>
              <a:rPr lang="ko-KR" altLang="en-US" dirty="0"/>
              <a:t>에 댓글로 올리고 </a:t>
            </a:r>
            <a:r>
              <a:rPr lang="ko-KR" altLang="en-US" dirty="0" err="1"/>
              <a:t>크루리더에게</a:t>
            </a:r>
            <a:r>
              <a:rPr lang="ko-KR" altLang="en-US" dirty="0"/>
              <a:t> 피드백 받기</a:t>
            </a:r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5DDCAEA-3EB0-37C5-77AB-7F4D96A080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3497721-578F-2307-C807-79E2C407B0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35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307D3343-188B-9577-C815-93C366B5DF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블로그 작성법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43B10B3D-D6A7-89DE-3D04-375C765429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54757" y="3007293"/>
            <a:ext cx="3447161" cy="22140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231834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27C26C2-F30B-D886-0F39-161B6A3B62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BF8140-662B-4C70-8D54-95183800525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5E76AA2F-B8E7-A2EF-0578-8EF88B0653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36</a:t>
            </a:fld>
            <a:endParaRPr lang="ko-KR" altLang="en-US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9252EA24-2D13-56F8-F480-D4CE1C25B7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9785" y="1124252"/>
            <a:ext cx="9312430" cy="46094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5744154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테마">
  <a:themeElements>
    <a:clrScheme name="코딩온_새싹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6EC173"/>
      </a:accent1>
      <a:accent2>
        <a:srgbClr val="B4D56D"/>
      </a:accent2>
      <a:accent3>
        <a:srgbClr val="F99F2C"/>
      </a:accent3>
      <a:accent4>
        <a:srgbClr val="FFDB83"/>
      </a:accent4>
      <a:accent5>
        <a:srgbClr val="2894FF"/>
      </a:accent5>
      <a:accent6>
        <a:srgbClr val="A5A5A5"/>
      </a:accent6>
      <a:hlink>
        <a:srgbClr val="2894FF"/>
      </a:hlink>
      <a:folHlink>
        <a:srgbClr val="954F72"/>
      </a:folHlink>
    </a:clrScheme>
    <a:fontScheme name="PretendardGOV">
      <a:majorFont>
        <a:latin typeface="PretendardGOV"/>
        <a:ea typeface="PretendardGOV"/>
        <a:cs typeface=""/>
      </a:majorFont>
      <a:minorFont>
        <a:latin typeface="PretendardGOV"/>
        <a:ea typeface="PretendardGOV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1169</TotalTime>
  <Words>1296</Words>
  <Application>Microsoft Office PowerPoint</Application>
  <PresentationFormat>와이드스크린</PresentationFormat>
  <Paragraphs>234</Paragraphs>
  <Slides>36</Slides>
  <Notes>26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36</vt:i4>
      </vt:variant>
    </vt:vector>
  </HeadingPairs>
  <TitlesOfParts>
    <vt:vector size="45" baseType="lpstr">
      <vt:lpstr>-apple-system</vt:lpstr>
      <vt:lpstr>Pretendard</vt:lpstr>
      <vt:lpstr>PretendardGOV</vt:lpstr>
      <vt:lpstr>강한공군체 Medium</vt:lpstr>
      <vt:lpstr>맑은 고딕</vt:lpstr>
      <vt:lpstr>Arial</vt:lpstr>
      <vt:lpstr>Calibri</vt:lpstr>
      <vt:lpstr>Wingdings</vt:lpstr>
      <vt:lpstr>1_Office 테마</vt:lpstr>
      <vt:lpstr>웹 개발자 부트캠프 과정 OT</vt:lpstr>
      <vt:lpstr>과정 설명</vt:lpstr>
      <vt:lpstr>커리큘럼</vt:lpstr>
      <vt:lpstr>코딩온 과정 특징</vt:lpstr>
      <vt:lpstr>PowerPoint 프레젠테이션</vt:lpstr>
      <vt:lpstr>PowerPoint 프레젠테이션</vt:lpstr>
      <vt:lpstr>출결 안내 및 기준</vt:lpstr>
      <vt:lpstr>PowerPoint 프레젠테이션</vt:lpstr>
      <vt:lpstr>PowerPoint 프레젠테이션</vt:lpstr>
      <vt:lpstr>확약서 및 체크리스트 작성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Git</vt:lpstr>
      <vt:lpstr>포트폴리오?</vt:lpstr>
      <vt:lpstr>PowerPoint 프레젠테이션</vt:lpstr>
      <vt:lpstr>Github 회원가입/로그인</vt:lpstr>
      <vt:lpstr>VS Code 설치 </vt:lpstr>
      <vt:lpstr>VSCode 확장 프로그램 설치</vt:lpstr>
      <vt:lpstr>Git 설치하기 (Windows)</vt:lpstr>
      <vt:lpstr>       Git Bash에서 아래 명령어 입력</vt:lpstr>
      <vt:lpstr>Gihub에서 Repository 만들고 가져오기</vt:lpstr>
      <vt:lpstr>Repository 가져오기</vt:lpstr>
      <vt:lpstr>PowerPoint 프레젠테이션</vt:lpstr>
      <vt:lpstr>Git 명령어</vt:lpstr>
      <vt:lpstr>블로깅</vt:lpstr>
      <vt:lpstr>블로깅 Tool</vt:lpstr>
      <vt:lpstr>블로깅 가이드 확인하기</vt:lpstr>
      <vt:lpstr>블로그 작성법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김규리</dc:creator>
  <cp:lastModifiedBy>On Coding</cp:lastModifiedBy>
  <cp:revision>157</cp:revision>
  <dcterms:created xsi:type="dcterms:W3CDTF">2022-06-26T11:10:22Z</dcterms:created>
  <dcterms:modified xsi:type="dcterms:W3CDTF">2024-05-08T00:31:15Z</dcterms:modified>
</cp:coreProperties>
</file>