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notesMasterIdLst>
    <p:notesMasterId r:id="rId36"/>
  </p:notesMasterIdLst>
  <p:handoutMasterIdLst>
    <p:handoutMasterId r:id="rId37"/>
  </p:handoutMasterIdLst>
  <p:sldIdLst>
    <p:sldId id="675" r:id="rId2"/>
    <p:sldId id="258" r:id="rId3"/>
    <p:sldId id="690" r:id="rId4"/>
    <p:sldId id="688" r:id="rId5"/>
    <p:sldId id="295" r:id="rId6"/>
    <p:sldId id="275" r:id="rId7"/>
    <p:sldId id="678" r:id="rId8"/>
    <p:sldId id="691" r:id="rId9"/>
    <p:sldId id="694" r:id="rId10"/>
    <p:sldId id="689" r:id="rId11"/>
    <p:sldId id="687" r:id="rId12"/>
    <p:sldId id="303" r:id="rId13"/>
    <p:sldId id="679" r:id="rId14"/>
    <p:sldId id="665" r:id="rId15"/>
    <p:sldId id="291" r:id="rId16"/>
    <p:sldId id="281" r:id="rId17"/>
    <p:sldId id="686" r:id="rId18"/>
    <p:sldId id="676" r:id="rId19"/>
    <p:sldId id="269" r:id="rId20"/>
    <p:sldId id="262" r:id="rId21"/>
    <p:sldId id="664" r:id="rId22"/>
    <p:sldId id="283" r:id="rId23"/>
    <p:sldId id="271" r:id="rId24"/>
    <p:sldId id="683" r:id="rId25"/>
    <p:sldId id="682" r:id="rId26"/>
    <p:sldId id="270" r:id="rId27"/>
    <p:sldId id="284" r:id="rId28"/>
    <p:sldId id="263" r:id="rId29"/>
    <p:sldId id="684" r:id="rId30"/>
    <p:sldId id="677" r:id="rId31"/>
    <p:sldId id="685" r:id="rId32"/>
    <p:sldId id="670" r:id="rId33"/>
    <p:sldId id="671" r:id="rId34"/>
    <p:sldId id="693" r:id="rId3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C82F"/>
    <a:srgbClr val="6EC173"/>
    <a:srgbClr val="F9A130"/>
    <a:srgbClr val="F99F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799" autoAdjust="0"/>
    <p:restoredTop sz="78853" autoAdjust="0"/>
  </p:normalViewPr>
  <p:slideViewPr>
    <p:cSldViewPr snapToGrid="0">
      <p:cViewPr varScale="1">
        <p:scale>
          <a:sx n="93" d="100"/>
          <a:sy n="93" d="100"/>
        </p:scale>
        <p:origin x="1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377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67BE8A5B-F9B0-440D-E792-14078644625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0F67C43-E62E-9E13-2501-DD63FCBB146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C2981-5314-425A-941B-9AEDC9FC9FEE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D264F6B-8B73-1321-E957-EFD3A7B90ED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251CFB6-E57B-5AC7-8DA6-5498D7C7B5A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BD4269-A6C2-4CF5-8B32-532C143F6B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971308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598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과정 소개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3975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후기 보셨나요</a:t>
            </a:r>
            <a:r>
              <a:rPr lang="en-US" altLang="ko-KR" dirty="0"/>
              <a:t>? </a:t>
            </a:r>
            <a:r>
              <a:rPr lang="ko-KR" altLang="en-US" dirty="0"/>
              <a:t>왜 좋을까요</a:t>
            </a:r>
            <a:r>
              <a:rPr lang="en-US" altLang="ko-KR" dirty="0"/>
              <a:t>?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24534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후기 보셨나요</a:t>
            </a:r>
            <a:r>
              <a:rPr lang="en-US" altLang="ko-KR" dirty="0"/>
              <a:t>? </a:t>
            </a:r>
            <a:r>
              <a:rPr lang="ko-KR" altLang="en-US" dirty="0"/>
              <a:t>왜 좋을까요</a:t>
            </a:r>
            <a:r>
              <a:rPr lang="en-US" altLang="ko-KR" dirty="0"/>
              <a:t>?</a:t>
            </a:r>
            <a:r>
              <a:rPr lang="ko-KR" altLang="en-US" dirty="0"/>
              <a:t> 이렇기 때문이죠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4636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None/>
            </a:pPr>
            <a:r>
              <a:rPr lang="ko-KR" altLang="en-US" dirty="0"/>
              <a:t>이렇게 일단은 계획 중</a:t>
            </a:r>
            <a:r>
              <a:rPr lang="en-US" altLang="ko-KR" dirty="0"/>
              <a:t>~</a:t>
            </a:r>
          </a:p>
          <a:p>
            <a:pPr>
              <a:buFont typeface="Arial" panose="020B0604020202020204" pitchFamily="34" charset="0"/>
              <a:buNone/>
            </a:pPr>
            <a:endParaRPr lang="en-US" altLang="ko-KR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1</a:t>
            </a:r>
            <a:r>
              <a:rPr lang="ko-KR" altLang="en-US" dirty="0"/>
              <a:t>대 </a:t>
            </a:r>
            <a:r>
              <a:rPr lang="en-US" altLang="ko-KR" dirty="0"/>
              <a:t>1 </a:t>
            </a:r>
            <a:r>
              <a:rPr lang="ko-KR" altLang="en-US" dirty="0"/>
              <a:t>개별 컨설팅이나 취업 연계를 통해 여러분들이 모두 취</a:t>
            </a:r>
            <a:r>
              <a:rPr lang="en-US" altLang="ko-KR" dirty="0"/>
              <a:t>/</a:t>
            </a:r>
            <a:r>
              <a:rPr lang="ko-KR" altLang="en-US" dirty="0"/>
              <a:t>창업에 성공할 수 있도록 도움을 드릴 것이다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교육 기간 동안 백과 프론트 등의 것이 확정되는데</a:t>
            </a:r>
            <a:r>
              <a:rPr lang="en-US" altLang="ko-KR" dirty="0"/>
              <a:t>, </a:t>
            </a:r>
            <a:r>
              <a:rPr lang="ko-KR" altLang="en-US" dirty="0"/>
              <a:t>이때는 최대한 의견을 반영할 것이다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이를 위해 수업은 커리큘럼대로 초반에는 진행되겠지만 </a:t>
            </a:r>
            <a:r>
              <a:rPr lang="ko-KR" altLang="en-US" b="1" dirty="0"/>
              <a:t>상황을 최대한 반영해 유동적으로 진행될 </a:t>
            </a:r>
            <a:r>
              <a:rPr lang="ko-KR" altLang="en-US" dirty="0"/>
              <a:t>것이며</a:t>
            </a:r>
            <a:r>
              <a:rPr lang="en-US" altLang="ko-KR" dirty="0"/>
              <a:t>, </a:t>
            </a:r>
            <a:r>
              <a:rPr lang="ko-KR" altLang="en-US" b="1" dirty="0"/>
              <a:t>이런 유동성이 앞서 말한 성과를 달성하는 데 도움이 된 큰 요인 중 하나</a:t>
            </a:r>
            <a:r>
              <a:rPr lang="ko-KR" altLang="en-US" dirty="0"/>
              <a:t>였다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45847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맞춤 수업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en-US" altLang="ko-KR" dirty="0"/>
              <a:t>1</a:t>
            </a:r>
            <a:r>
              <a:rPr lang="ko-KR" altLang="en-US" dirty="0"/>
              <a:t>대 </a:t>
            </a:r>
            <a:r>
              <a:rPr lang="en-US" altLang="ko-KR" dirty="0"/>
              <a:t>1 </a:t>
            </a:r>
            <a:r>
              <a:rPr lang="ko-KR" altLang="en-US" dirty="0"/>
              <a:t>개별 컨설팅이나 취업 연계를 통해 여러분들이 모두 취</a:t>
            </a:r>
            <a:r>
              <a:rPr lang="en-US" altLang="ko-KR" dirty="0"/>
              <a:t>/</a:t>
            </a:r>
            <a:r>
              <a:rPr lang="ko-KR" altLang="en-US" dirty="0"/>
              <a:t>창업에 성공할 수 있도록 도움을 드릴 것이다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en-US" altLang="ko-KR" dirty="0"/>
              <a:t>6</a:t>
            </a:r>
            <a:r>
              <a:rPr lang="ko-KR" altLang="en-US" dirty="0"/>
              <a:t>개월 교육이 끝나기 전에 백과 프론트에 대한 것들이 확정이 된다</a:t>
            </a:r>
            <a:r>
              <a:rPr lang="en-US" altLang="ko-KR" dirty="0"/>
              <a:t>. </a:t>
            </a:r>
            <a:r>
              <a:rPr lang="ko-KR" altLang="en-US" dirty="0"/>
              <a:t>이때 최대한 여러분들의 의견을 반영해 수업을 </a:t>
            </a:r>
            <a:r>
              <a:rPr lang="ko-KR" altLang="en-US" dirty="0" err="1"/>
              <a:t>진행해나가고</a:t>
            </a:r>
            <a:r>
              <a:rPr lang="ko-KR" altLang="en-US" dirty="0"/>
              <a:t> 도움을 드릴 것이다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이를 위해 수업의 커리큘럼은 초반에는 그대로 진행해 나가겠지만</a:t>
            </a:r>
            <a:r>
              <a:rPr lang="en-US" altLang="ko-KR" dirty="0"/>
              <a:t>, </a:t>
            </a:r>
            <a:r>
              <a:rPr lang="ko-KR" altLang="en-US" dirty="0"/>
              <a:t>상황을 최대한 반영해 유동적으로 진행될 것이다</a:t>
            </a:r>
            <a:r>
              <a:rPr lang="en-US" altLang="ko-KR" dirty="0"/>
              <a:t>. </a:t>
            </a:r>
            <a:r>
              <a:rPr lang="ko-KR" altLang="en-US" dirty="0"/>
              <a:t>이런 유동성이 앞서 말한 성과를 달성하는데 도움이 된 큰 요인 중 하나였다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 err="1"/>
              <a:t>버퍼링</a:t>
            </a:r>
            <a:r>
              <a:rPr lang="ko-KR" altLang="en-US" dirty="0"/>
              <a:t> 수업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짧게는 </a:t>
            </a:r>
            <a:r>
              <a:rPr lang="en-US" altLang="ko-KR" dirty="0"/>
              <a:t>2</a:t>
            </a:r>
            <a:r>
              <a:rPr lang="ko-KR" altLang="en-US" dirty="0"/>
              <a:t>주</a:t>
            </a:r>
            <a:r>
              <a:rPr lang="en-US" altLang="ko-KR" dirty="0"/>
              <a:t>, </a:t>
            </a:r>
            <a:r>
              <a:rPr lang="ko-KR" altLang="en-US" dirty="0"/>
              <a:t>길게는 한 달 간은 </a:t>
            </a:r>
            <a:r>
              <a:rPr lang="ko-KR" altLang="en-US" dirty="0" err="1"/>
              <a:t>버퍼링</a:t>
            </a:r>
            <a:r>
              <a:rPr lang="ko-KR" altLang="en-US" dirty="0"/>
              <a:t> 수업 형태로 수업을 진행할 것이다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교육생분들의 기본 지식이 모두 다를 수 있으니</a:t>
            </a:r>
            <a:r>
              <a:rPr lang="en-US" altLang="ko-KR" dirty="0"/>
              <a:t>, </a:t>
            </a:r>
            <a:r>
              <a:rPr lang="ko-KR" altLang="en-US" dirty="0"/>
              <a:t>그 사전 지식을 서로 평탄하게 맞추기 위해 필요한 작업이 </a:t>
            </a:r>
            <a:r>
              <a:rPr lang="ko-KR" altLang="en-US" dirty="0" err="1"/>
              <a:t>버펄이</a:t>
            </a:r>
            <a:r>
              <a:rPr lang="ko-KR" altLang="en-US" dirty="0"/>
              <a:t> 수업이다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 err="1"/>
              <a:t>버퍼링</a:t>
            </a:r>
            <a:r>
              <a:rPr lang="ko-KR" altLang="en-US" dirty="0"/>
              <a:t> 수업 도중에는 사전 지식이 많은 분들은 지루하게 느껴질 수 있고</a:t>
            </a:r>
            <a:r>
              <a:rPr lang="en-US" altLang="ko-KR" dirty="0"/>
              <a:t>, </a:t>
            </a:r>
            <a:r>
              <a:rPr lang="ko-KR" altLang="en-US" dirty="0"/>
              <a:t>사전 지식이 부족하신 분들은 힘들게 느껴질 수 있다</a:t>
            </a:r>
            <a:r>
              <a:rPr lang="en-US" altLang="ko-KR" dirty="0"/>
              <a:t>. </a:t>
            </a:r>
            <a:r>
              <a:rPr lang="ko-KR" altLang="en-US" dirty="0"/>
              <a:t>이런 현상은 모두 자연스러운 것이고</a:t>
            </a:r>
            <a:r>
              <a:rPr lang="en-US" altLang="ko-KR" dirty="0"/>
              <a:t>, </a:t>
            </a:r>
            <a:r>
              <a:rPr lang="ko-KR" altLang="en-US" dirty="0"/>
              <a:t>한 달 뒤 </a:t>
            </a:r>
            <a:r>
              <a:rPr lang="ko-KR" altLang="en-US" dirty="0" err="1"/>
              <a:t>버퍼링</a:t>
            </a:r>
            <a:r>
              <a:rPr lang="ko-KR" altLang="en-US" dirty="0"/>
              <a:t> 수업이 모두 끝나셨을 때는 모두 적응이 되었을 것이다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94772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웬만하면 빠지지 말자</a:t>
            </a:r>
            <a:r>
              <a:rPr lang="en-US" altLang="ko-KR" dirty="0"/>
              <a:t>! </a:t>
            </a:r>
          </a:p>
          <a:p>
            <a:r>
              <a:rPr lang="ko-KR" altLang="en-US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기본적으로 주 </a:t>
            </a:r>
            <a:r>
              <a:rPr lang="en-US" altLang="ko-KR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3</a:t>
            </a:r>
            <a:r>
              <a:rPr lang="ko-KR" altLang="en-US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일 과정이기에 하루에 나가는 진도가 굉장히 타이트 한 편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003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핑 안내</a:t>
            </a:r>
            <a:r>
              <a:rPr lang="en-US" altLang="ko-KR" dirty="0"/>
              <a:t>!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87880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18846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33820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89837-5033-E8CC-A215-EF02DE0D4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BA24305-7705-D76E-7641-5985CBEB82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B348CC1-237A-6D67-9854-8DD2CFF599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A454ED-AA18-8AA3-0D45-94405B3EE4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31A1BA-5463-484A-B77A-5C292E222CA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19243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선생님</a:t>
            </a:r>
            <a:r>
              <a:rPr lang="en-US" altLang="ko-KR" dirty="0"/>
              <a:t>, </a:t>
            </a:r>
            <a:r>
              <a:rPr lang="ko-KR" altLang="en-US" dirty="0"/>
              <a:t>강사님 불러도 안가요</a:t>
            </a:r>
            <a:r>
              <a:rPr lang="en-US" altLang="ko-KR" dirty="0"/>
              <a:t>~~ </a:t>
            </a:r>
            <a:r>
              <a:rPr lang="ko-KR" altLang="en-US" dirty="0" err="1"/>
              <a:t>크루리더</a:t>
            </a:r>
            <a:r>
              <a:rPr lang="en-US" altLang="ko-KR" dirty="0"/>
              <a:t>!!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08640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0FCFC-DEF0-4809-AB35-5DCCCC68A436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27518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0FCFC-DEF0-4809-AB35-5DCCCC68A436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48585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코딩오울</a:t>
            </a:r>
            <a:r>
              <a:rPr lang="ko-KR" altLang="en-US" dirty="0"/>
              <a:t> 소개 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ko-KR" altLang="en-US" dirty="0" err="1"/>
              <a:t>마니또</a:t>
            </a:r>
            <a:r>
              <a:rPr lang="ko-KR" altLang="en-US" dirty="0"/>
              <a:t> 설명 및 종이 배부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ko-KR" altLang="en-US" dirty="0"/>
              <a:t>크루 자기소개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ko-KR" altLang="en-US" dirty="0"/>
              <a:t>빙고 게임 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31A1BA-5463-484A-B77A-5C292E222CA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81052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한 명 지목 후 크루가 타 크루 랜덤 지목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0FCFC-DEF0-4809-AB35-5DCCCC68A436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816638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97F51-7D82-7162-AC66-A85120835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BB068F-23F9-F369-25E9-468B3E755F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A66899-F11C-3F6C-106C-11075B899A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46DC53-3E4E-915D-AB6D-DA1E3ECADE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31A1BA-5463-484A-B77A-5C292E222CA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38167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71175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2888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11765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69347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8862A-0E0D-3A28-40BB-D548036C9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FE665DB-81BE-4C1D-9F40-920BE9EA98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FC76334-8B44-0604-EE6F-F49FDA50C7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schemeClr val="accent1"/>
                </a:solidFill>
              </a:rPr>
              <a:t>git config --global </a:t>
            </a:r>
            <a:r>
              <a:rPr lang="en-US" altLang="ko-KR" dirty="0" err="1">
                <a:solidFill>
                  <a:schemeClr val="accent1"/>
                </a:solidFill>
              </a:rPr>
              <a:t>core.ignorecase</a:t>
            </a:r>
            <a:r>
              <a:rPr lang="en-US" altLang="ko-KR" dirty="0">
                <a:solidFill>
                  <a:schemeClr val="accent1"/>
                </a:solidFill>
              </a:rPr>
              <a:t> false:</a:t>
            </a:r>
            <a:r>
              <a:rPr lang="ko-KR" altLang="en-US" dirty="0">
                <a:solidFill>
                  <a:schemeClr val="accent1"/>
                </a:solidFill>
              </a:rPr>
              <a:t> 대소문자 구분해달라는 설정</a:t>
            </a:r>
            <a:endParaRPr lang="en-US" altLang="ko-KR" dirty="0">
              <a:solidFill>
                <a:schemeClr val="accent1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7AD3D0-3A43-6344-A47F-92A948EE39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048133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15786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817987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853676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02014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04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77144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1721357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8554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418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1171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45469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88324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98824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76453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32561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6587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183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odingon.co.kr/partner/sesac_ydp_6th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gi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wnload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git-scm.com/" TargetMode="Externa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hyperlink" Target="https://velog.io/" TargetMode="External"/><Relationship Id="rId7" Type="http://schemas.openxmlformats.org/officeDocument/2006/relationships/image" Target="../media/image38.png"/><Relationship Id="rId2" Type="http://schemas.openxmlformats.org/officeDocument/2006/relationships/hyperlink" Target="https://www.tistory.com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wAE0oE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322363" y="1041400"/>
            <a:ext cx="9547274" cy="2387600"/>
          </a:xfrm>
        </p:spPr>
        <p:txBody>
          <a:bodyPr/>
          <a:lstStyle/>
          <a:p>
            <a:r>
              <a:rPr lang="ko-KR" altLang="en-US" dirty="0"/>
              <a:t>웹 개발자 부트캠프 과정 </a:t>
            </a:r>
            <a:r>
              <a:rPr lang="en-US" altLang="ko-KR" dirty="0"/>
              <a:t>OT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790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DFF73B3-5C26-5E16-9BDE-BCFF4F85C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547"/>
            <a:ext cx="10515600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 err="1"/>
              <a:t>과정명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en-US" altLang="ko-KR" sz="2400" b="1" dirty="0" err="1">
                <a:solidFill>
                  <a:srgbClr val="6EC173"/>
                </a:solidFill>
              </a:rPr>
              <a:t>SeSAC</a:t>
            </a:r>
            <a:r>
              <a:rPr lang="en-US" altLang="ko-KR" sz="2400" b="1" dirty="0">
                <a:solidFill>
                  <a:srgbClr val="6EC173"/>
                </a:solidFill>
              </a:rPr>
              <a:t> </a:t>
            </a:r>
            <a:r>
              <a:rPr lang="ko-KR" altLang="en-US" sz="2400" b="1" dirty="0">
                <a:solidFill>
                  <a:srgbClr val="6EC173"/>
                </a:solidFill>
              </a:rPr>
              <a:t>영등포캠퍼스 </a:t>
            </a:r>
            <a:r>
              <a:rPr lang="en-US" altLang="ko-KR" sz="2400" b="1" dirty="0">
                <a:solidFill>
                  <a:srgbClr val="6EC173"/>
                </a:solidFill>
              </a:rPr>
              <a:t>6</a:t>
            </a:r>
            <a:r>
              <a:rPr lang="ko-KR" altLang="en-US" sz="2400" b="1" dirty="0">
                <a:solidFill>
                  <a:srgbClr val="6EC173"/>
                </a:solidFill>
              </a:rPr>
              <a:t>기 입문자도 가능한 웹 개발자 부트캠프</a:t>
            </a:r>
            <a:endParaRPr lang="en-US" altLang="ko-KR" b="1" dirty="0">
              <a:solidFill>
                <a:srgbClr val="6EC173"/>
              </a:solidFill>
            </a:endParaRPr>
          </a:p>
          <a:p>
            <a:pPr>
              <a:lnSpc>
                <a:spcPct val="100000"/>
              </a:lnSpc>
            </a:pPr>
            <a:r>
              <a:rPr lang="ko-KR" altLang="en-US" dirty="0"/>
              <a:t>일정</a:t>
            </a:r>
            <a:endParaRPr lang="en-US" altLang="ko-KR" dirty="0"/>
          </a:p>
          <a:p>
            <a:pPr lvl="1">
              <a:lnSpc>
                <a:spcPct val="100000"/>
              </a:lnSpc>
            </a:pPr>
            <a:r>
              <a:rPr lang="en-US" altLang="ko-KR" dirty="0"/>
              <a:t>2024.05.13(</a:t>
            </a:r>
            <a:r>
              <a:rPr lang="ko-KR" altLang="en-US" dirty="0"/>
              <a:t>월</a:t>
            </a:r>
            <a:r>
              <a:rPr lang="en-US" altLang="ko-KR" dirty="0"/>
              <a:t>) ~ 2024.11.15(</a:t>
            </a:r>
            <a:r>
              <a:rPr lang="ko-KR" altLang="en-US" dirty="0"/>
              <a:t>금</a:t>
            </a:r>
            <a:r>
              <a:rPr lang="en-US" altLang="ko-KR" dirty="0"/>
              <a:t>) </a:t>
            </a:r>
          </a:p>
          <a:p>
            <a:pPr lvl="1">
              <a:lnSpc>
                <a:spcPct val="100000"/>
              </a:lnSpc>
            </a:pPr>
            <a:r>
              <a:rPr lang="ko-KR" altLang="en-US" dirty="0"/>
              <a:t>매주 월</a:t>
            </a:r>
            <a:r>
              <a:rPr lang="en-US" altLang="ko-KR" dirty="0"/>
              <a:t>, </a:t>
            </a:r>
            <a:r>
              <a:rPr lang="ko-KR" altLang="en-US" dirty="0"/>
              <a:t>수</a:t>
            </a:r>
            <a:r>
              <a:rPr lang="en-US" altLang="ko-KR" dirty="0"/>
              <a:t>, </a:t>
            </a:r>
            <a:r>
              <a:rPr lang="ko-KR" altLang="en-US" dirty="0"/>
              <a:t>금 </a:t>
            </a:r>
            <a:r>
              <a:rPr lang="en-US" altLang="ko-KR" dirty="0"/>
              <a:t>13:00 ~ 19:00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장소</a:t>
            </a:r>
            <a:endParaRPr lang="en-US" altLang="ko-KR" dirty="0"/>
          </a:p>
          <a:p>
            <a:pPr lvl="1"/>
            <a:r>
              <a:rPr lang="en-US" altLang="ko-KR" dirty="0" err="1"/>
              <a:t>SeSAC</a:t>
            </a:r>
            <a:r>
              <a:rPr lang="en-US" altLang="ko-KR" dirty="0"/>
              <a:t> </a:t>
            </a:r>
            <a:r>
              <a:rPr lang="ko-KR" altLang="en-US" dirty="0"/>
              <a:t>영등포캠퍼스 </a:t>
            </a:r>
            <a:r>
              <a:rPr lang="en-US" altLang="ko-KR" dirty="0"/>
              <a:t>2</a:t>
            </a:r>
            <a:r>
              <a:rPr lang="ko-KR" altLang="en-US" dirty="0"/>
              <a:t>층 클래스</a:t>
            </a:r>
            <a:r>
              <a:rPr lang="en-US" altLang="ko-KR" dirty="0"/>
              <a:t>4</a:t>
            </a:r>
            <a:r>
              <a:rPr lang="ko-KR" altLang="en-US" dirty="0"/>
              <a:t> 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297765-B987-FA4F-C411-BA22375C6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40739-C760-4828-B24F-429363A89B3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7866ED4-0F74-48BC-84C6-42485677A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8CF676A-C128-F5C3-54C9-26BA3F2F9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과정 설명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36AC6EF-DC8C-61E2-36BC-C563A40DE552}"/>
              </a:ext>
            </a:extLst>
          </p:cNvPr>
          <p:cNvSpPr/>
          <p:nvPr/>
        </p:nvSpPr>
        <p:spPr>
          <a:xfrm>
            <a:off x="7693572" y="5281448"/>
            <a:ext cx="1087821" cy="99177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80697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93247895-EA98-AEFB-FF6A-D36072B72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400" dirty="0"/>
              <a:t>5</a:t>
            </a:r>
            <a:r>
              <a:rPr lang="ko-KR" altLang="en-US" sz="2400" dirty="0"/>
              <a:t>기 수강 만족도 </a:t>
            </a:r>
            <a:r>
              <a:rPr lang="en-US" altLang="ko-KR" sz="2400" b="1" dirty="0">
                <a:solidFill>
                  <a:schemeClr val="accent1"/>
                </a:solidFill>
              </a:rPr>
              <a:t>94.7%</a:t>
            </a:r>
          </a:p>
          <a:p>
            <a:r>
              <a:rPr lang="ko-KR" altLang="en-US" sz="2400" dirty="0"/>
              <a:t>이전 기수 후기</a:t>
            </a:r>
            <a:endParaRPr lang="en-US" altLang="ko-KR" sz="24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026B0A2-6B1A-872C-3604-6958EDC7F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913C3C-5339-6B33-2A46-19CB8B825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769FF13-D11F-9166-86C9-4CFB8A973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과정 후기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78EFA61-86D8-DFA8-6DF3-4755F855DE1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472"/>
          <a:stretch/>
        </p:blipFill>
        <p:spPr>
          <a:xfrm>
            <a:off x="1499196" y="2892367"/>
            <a:ext cx="9206476" cy="2715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112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EEF68-3BF6-EF45-0154-00BB91AFD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코딩온</a:t>
            </a:r>
            <a:r>
              <a:rPr lang="ko-KR" altLang="en-US" dirty="0"/>
              <a:t> 과정 특징</a:t>
            </a:r>
          </a:p>
        </p:txBody>
      </p: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65050DE8-20B8-115C-553F-0315E19D8D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331743"/>
            <a:ext cx="10515600" cy="798626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1800" b="0" i="0" dirty="0">
                <a:solidFill>
                  <a:srgbClr val="000000"/>
                </a:solidFill>
                <a:effectLst/>
                <a:latin typeface="Pretendard" panose="02000503000000020004" pitchFamily="50" charset="-127"/>
                <a:ea typeface="Pretendard" panose="02000503000000020004" pitchFamily="50" charset="-127"/>
              </a:rPr>
              <a:t>기획부터 배포까지 협업프로젝트로 완성하는 </a:t>
            </a:r>
            <a:r>
              <a:rPr lang="ko-KR" altLang="en-US" sz="1800" b="0" i="0" dirty="0" err="1">
                <a:solidFill>
                  <a:srgbClr val="000000"/>
                </a:solidFill>
                <a:effectLst/>
                <a:latin typeface="Pretendard" panose="02000503000000020004" pitchFamily="50" charset="-127"/>
                <a:ea typeface="Pretendard" panose="02000503000000020004" pitchFamily="50" charset="-127"/>
              </a:rPr>
              <a:t>풀스택</a:t>
            </a:r>
            <a:r>
              <a:rPr lang="ko-KR" altLang="en-US" sz="1800" b="0" i="0" dirty="0">
                <a:solidFill>
                  <a:srgbClr val="000000"/>
                </a:solidFill>
                <a:effectLst/>
                <a:latin typeface="Pretendard" panose="02000503000000020004" pitchFamily="50" charset="-127"/>
                <a:ea typeface="Pretendard" panose="02000503000000020004" pitchFamily="50" charset="-127"/>
              </a:rPr>
              <a:t> 웹 개발자 취업 부트캠프</a:t>
            </a:r>
            <a:r>
              <a:rPr lang="en-US" altLang="ko-KR" sz="1800" b="0" i="0" dirty="0">
                <a:solidFill>
                  <a:srgbClr val="000000"/>
                </a:solidFill>
                <a:effectLst/>
                <a:latin typeface="Pretendard" panose="02000503000000020004" pitchFamily="50" charset="-127"/>
                <a:ea typeface="Pretendard" panose="02000503000000020004" pitchFamily="50" charset="-127"/>
              </a:rPr>
              <a:t>!</a:t>
            </a:r>
            <a:r>
              <a:rPr lang="ko-KR" altLang="en-US" sz="1800" b="0" i="0" dirty="0">
                <a:solidFill>
                  <a:srgbClr val="000000"/>
                </a:solidFill>
                <a:effectLst/>
                <a:latin typeface="Pretendard" panose="02000503000000020004" pitchFamily="50" charset="-127"/>
                <a:ea typeface="Pretendard" panose="02000503000000020004" pitchFamily="50" charset="-127"/>
              </a:rPr>
              <a:t> </a:t>
            </a:r>
            <a:endParaRPr lang="en-US" altLang="ko-KR" sz="1800" b="0" i="0" dirty="0">
              <a:solidFill>
                <a:srgbClr val="000000"/>
              </a:solidFill>
              <a:effectLst/>
              <a:latin typeface="Pretendard" panose="02000503000000020004" pitchFamily="50" charset="-127"/>
              <a:ea typeface="Pretendard" panose="02000503000000020004" pitchFamily="50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800" b="1" i="0" dirty="0">
                <a:solidFill>
                  <a:srgbClr val="000000"/>
                </a:solidFill>
                <a:effectLst/>
                <a:latin typeface="Pretendard" panose="02000503000000020004" pitchFamily="50" charset="-127"/>
                <a:ea typeface="Pretendard" panose="02000503000000020004" pitchFamily="50" charset="-127"/>
              </a:rPr>
              <a:t>코딩을 처음 시작하는 입문자도 프로 웹 개발자가 될 수 있습니다</a:t>
            </a:r>
            <a:r>
              <a:rPr lang="en-US" altLang="ko-KR" sz="1800" b="1" i="0" dirty="0">
                <a:solidFill>
                  <a:srgbClr val="000000"/>
                </a:solidFill>
                <a:effectLst/>
                <a:latin typeface="Pretendard" panose="02000503000000020004" pitchFamily="50" charset="-127"/>
                <a:ea typeface="Pretendard" panose="02000503000000020004" pitchFamily="50" charset="-127"/>
              </a:rPr>
              <a:t>!</a:t>
            </a:r>
            <a:endParaRPr lang="ko-KR" altLang="en-US" sz="18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74CAE6-9D4F-D463-C895-6AA134533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340B0DF-C886-35CB-84E8-3A37F925C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A471F79-19D3-130D-8A6A-7FFC5F7665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3975" y="2208428"/>
            <a:ext cx="7304049" cy="4002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8615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EEF68-3BF6-EF45-0154-00BB91AFD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커리큘럼</a:t>
            </a:r>
          </a:p>
        </p:txBody>
      </p: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65050DE8-20B8-115C-553F-0315E19D8D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331743"/>
            <a:ext cx="10515600" cy="798626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altLang="ko-KR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※ </a:t>
            </a:r>
            <a:r>
              <a:rPr lang="ko-KR" altLang="en-US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커리큘럼 및 수업 진도는 크루들의 요청 또는 기타 사유로 인하여 속도 조절 및 내용이 변경 될 수 있습니다</a:t>
            </a:r>
            <a:r>
              <a:rPr lang="en-US" altLang="ko-KR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.</a:t>
            </a:r>
            <a:br>
              <a:rPr lang="ko-KR" altLang="en-US" sz="1400" dirty="0"/>
            </a:br>
            <a:r>
              <a:rPr lang="en-US" altLang="ko-KR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※ </a:t>
            </a:r>
            <a:r>
              <a:rPr lang="ko-KR" altLang="en-US" sz="1400" b="0" i="0" dirty="0" err="1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프론트엔드를</a:t>
            </a:r>
            <a:r>
              <a:rPr lang="ko-KR" altLang="en-US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 목표로 하는 크루는 </a:t>
            </a:r>
            <a:r>
              <a:rPr lang="ko-KR" altLang="en-US" sz="1400" b="0" i="0" dirty="0" err="1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프론트엔드</a:t>
            </a:r>
            <a:r>
              <a:rPr lang="ko-KR" altLang="en-US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 과정 종료 후 조기 취업 연계</a:t>
            </a:r>
            <a:r>
              <a:rPr lang="en-US" altLang="ko-KR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/1:1 </a:t>
            </a:r>
            <a:r>
              <a:rPr lang="ko-KR" altLang="en-US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맞춤 취업 컨설팅을 받으실 수 있습니다</a:t>
            </a:r>
            <a:r>
              <a:rPr lang="en-US" altLang="ko-KR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.</a:t>
            </a:r>
            <a:endParaRPr lang="ko-KR" altLang="en-US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74CAE6-9D4F-D463-C895-6AA134533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340B0DF-C886-35CB-84E8-3A37F925C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1E332B1-2398-F5BB-20D3-344BABEAB1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788" y="2018857"/>
            <a:ext cx="10322423" cy="3784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50471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4C950B9-4BBE-BD19-B2FD-9EDB951062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77406" y="1042704"/>
            <a:ext cx="7542529" cy="2512420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3500" b="1" dirty="0">
                <a:solidFill>
                  <a:srgbClr val="6EC173"/>
                </a:solidFill>
              </a:rPr>
              <a:t>1. </a:t>
            </a:r>
            <a:r>
              <a:rPr lang="ko-KR" altLang="en-US" sz="3500" b="1" dirty="0" err="1">
                <a:solidFill>
                  <a:srgbClr val="6EC173"/>
                </a:solidFill>
              </a:rPr>
              <a:t>버퍼링</a:t>
            </a:r>
            <a:r>
              <a:rPr lang="ko-KR" altLang="en-US" sz="3500" b="1" dirty="0">
                <a:solidFill>
                  <a:srgbClr val="6EC173"/>
                </a:solidFill>
              </a:rPr>
              <a:t> 수업</a:t>
            </a:r>
            <a:endParaRPr lang="en-US" altLang="ko-KR" sz="3500" b="1" dirty="0">
              <a:solidFill>
                <a:srgbClr val="6EC173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사전 지식을 서로 평탄하게 맞추기 위한 수업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479163-CD24-16A0-6953-E1368AD28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4A69541-BCCC-043B-4836-056FF9FDB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 dirty="0"/>
          </a:p>
        </p:txBody>
      </p:sp>
      <p:pic>
        <p:nvPicPr>
          <p:cNvPr id="2050" name="Picture 2" descr="아프리카TV OGQ 마켓">
            <a:extLst>
              <a:ext uri="{FF2B5EF4-FFF2-40B4-BE49-F238E27FC236}">
                <a16:creationId xmlns:a16="http://schemas.microsoft.com/office/drawing/2014/main" id="{AA441FC9-2EBF-3EC0-A887-5FBA50E379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9276" y="664670"/>
            <a:ext cx="2191407" cy="2191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초소형 테트리스 만들기">
            <a:extLst>
              <a:ext uri="{FF2B5EF4-FFF2-40B4-BE49-F238E27FC236}">
                <a16:creationId xmlns:a16="http://schemas.microsoft.com/office/drawing/2014/main" id="{412EDF1A-10BF-18C4-6161-398F2C979E6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420" t="57395" r="33723"/>
          <a:stretch/>
        </p:blipFill>
        <p:spPr bwMode="auto">
          <a:xfrm>
            <a:off x="996794" y="3809201"/>
            <a:ext cx="2743200" cy="2000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096A8525-E745-5CD7-290E-8B5ACC1A207C}"/>
              </a:ext>
            </a:extLst>
          </p:cNvPr>
          <p:cNvSpPr txBox="1">
            <a:spLocks/>
          </p:cNvSpPr>
          <p:nvPr/>
        </p:nvSpPr>
        <p:spPr>
          <a:xfrm>
            <a:off x="4477405" y="3555124"/>
            <a:ext cx="7542529" cy="25124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3500" b="1" dirty="0">
                <a:solidFill>
                  <a:srgbClr val="6EC173"/>
                </a:solidFill>
              </a:rPr>
              <a:t>2. </a:t>
            </a:r>
            <a:r>
              <a:rPr lang="ko-KR" altLang="en-US" sz="3500" b="1" dirty="0">
                <a:solidFill>
                  <a:srgbClr val="6EC173"/>
                </a:solidFill>
              </a:rPr>
              <a:t>맞춤 수업</a:t>
            </a:r>
            <a:endParaRPr lang="en-US" altLang="ko-KR" sz="3500" b="1" dirty="0">
              <a:solidFill>
                <a:srgbClr val="6EC173"/>
              </a:solidFill>
            </a:endParaRPr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dirty="0"/>
              <a:t>교육생 의견을 반영한 맞춤 수업 진행</a:t>
            </a:r>
          </a:p>
        </p:txBody>
      </p:sp>
    </p:spTree>
    <p:extLst>
      <p:ext uri="{BB962C8B-B14F-4D97-AF65-F5344CB8AC3E}">
        <p14:creationId xmlns:p14="http://schemas.microsoft.com/office/powerpoint/2010/main" val="203423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DFF73B3-5C26-5E16-9BDE-BCFF4F85C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547"/>
            <a:ext cx="10515600" cy="4351338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출석 체크 방법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13:00 ~ 13:15 </a:t>
            </a:r>
            <a:r>
              <a:rPr lang="ko-KR" altLang="en-US" sz="2000" dirty="0"/>
              <a:t>까지 강의실 모니터의 </a:t>
            </a:r>
            <a:r>
              <a:rPr lang="en-US" altLang="ko-KR" sz="2000" dirty="0">
                <a:solidFill>
                  <a:schemeClr val="accent1"/>
                </a:solidFill>
              </a:rPr>
              <a:t>QR </a:t>
            </a:r>
            <a:r>
              <a:rPr lang="ko-KR" altLang="en-US" sz="2000" dirty="0">
                <a:solidFill>
                  <a:schemeClr val="accent1"/>
                </a:solidFill>
              </a:rPr>
              <a:t>코드</a:t>
            </a:r>
            <a:r>
              <a:rPr lang="ko-KR" altLang="en-US" sz="2000" dirty="0"/>
              <a:t>를 통해 출석 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400" dirty="0"/>
              <a:t>지각</a:t>
            </a:r>
            <a:r>
              <a:rPr lang="en-US" altLang="ko-KR" sz="2400" dirty="0"/>
              <a:t>/</a:t>
            </a:r>
            <a:r>
              <a:rPr lang="ko-KR" altLang="en-US" sz="2400" dirty="0"/>
              <a:t>결석 기준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지각</a:t>
            </a:r>
            <a:r>
              <a:rPr lang="en-US" altLang="ko-KR" sz="2000" dirty="0"/>
              <a:t>:</a:t>
            </a:r>
            <a:r>
              <a:rPr lang="ko-KR" altLang="en-US" sz="2000" dirty="0"/>
              <a:t> </a:t>
            </a:r>
            <a:r>
              <a:rPr lang="en-US" altLang="ko-KR" sz="2000" dirty="0"/>
              <a:t>13:15</a:t>
            </a:r>
            <a:r>
              <a:rPr lang="ko-KR" altLang="en-US" sz="2000" dirty="0"/>
              <a:t>분 이후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결석</a:t>
            </a:r>
            <a:r>
              <a:rPr lang="en-US" altLang="ko-KR" sz="2000" dirty="0"/>
              <a:t>: </a:t>
            </a:r>
            <a:r>
              <a:rPr lang="ko-KR" altLang="en-US" sz="2000" dirty="0"/>
              <a:t>당일 수업의 </a:t>
            </a:r>
            <a:r>
              <a:rPr lang="en-US" altLang="ko-KR" sz="2000" dirty="0"/>
              <a:t>50% </a:t>
            </a:r>
            <a:r>
              <a:rPr lang="ko-KR" altLang="en-US" sz="2000" dirty="0"/>
              <a:t>미만 수강 시 </a:t>
            </a:r>
            <a:r>
              <a:rPr lang="en-US" altLang="ko-KR" sz="2000" dirty="0"/>
              <a:t>(6</a:t>
            </a:r>
            <a:r>
              <a:rPr lang="ko-KR" altLang="en-US" sz="2000" dirty="0"/>
              <a:t>시간 기준 </a:t>
            </a:r>
            <a:r>
              <a:rPr lang="en-US" altLang="ko-KR" sz="2000" dirty="0"/>
              <a:t>3</a:t>
            </a:r>
            <a:r>
              <a:rPr lang="ko-KR" altLang="en-US" sz="2000" dirty="0"/>
              <a:t>시간 미만 수강 시 결석과 동일</a:t>
            </a:r>
            <a:r>
              <a:rPr lang="en-US" altLang="ko-KR" sz="20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출석 인정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기업 면접 및 코딩 테스트</a:t>
            </a:r>
            <a:r>
              <a:rPr lang="en-US" altLang="ko-KR" sz="2000" dirty="0"/>
              <a:t>, </a:t>
            </a:r>
            <a:r>
              <a:rPr lang="ko-KR" altLang="en-US" sz="2000" dirty="0"/>
              <a:t>예비군 훈련 등 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증빙 서류 필요 </a:t>
            </a:r>
            <a:endParaRPr lang="en-US" altLang="ko-KR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297765-B987-FA4F-C411-BA22375C6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40739-C760-4828-B24F-429363A89B3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7866ED4-0F74-48BC-84C6-42485677A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8CF676A-C128-F5C3-54C9-26BA3F2F9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출결 안내 및 기준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1BDAFB-9AD0-7CA6-507F-7A33A017FCC6}"/>
              </a:ext>
            </a:extLst>
          </p:cNvPr>
          <p:cNvSpPr txBox="1"/>
          <p:nvPr/>
        </p:nvSpPr>
        <p:spPr>
          <a:xfrm>
            <a:off x="4917688" y="5816684"/>
            <a:ext cx="717183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1400" dirty="0">
                <a:solidFill>
                  <a:schemeClr val="accent5"/>
                </a:solidFill>
              </a:rPr>
              <a:t>참고</a:t>
            </a:r>
            <a:r>
              <a:rPr lang="en-US" altLang="ko-KR" sz="1400" dirty="0">
                <a:solidFill>
                  <a:schemeClr val="accent5"/>
                </a:solidFill>
              </a:rPr>
              <a:t>. </a:t>
            </a:r>
            <a:r>
              <a:rPr lang="ko-KR" altLang="en-US" sz="1400" b="1" dirty="0">
                <a:solidFill>
                  <a:schemeClr val="accent5"/>
                </a:solidFill>
              </a:rPr>
              <a:t>과정 </a:t>
            </a:r>
            <a:r>
              <a:rPr lang="ko-KR" altLang="en-US" sz="1400" b="1" dirty="0" err="1">
                <a:solidFill>
                  <a:schemeClr val="accent5"/>
                </a:solidFill>
              </a:rPr>
              <a:t>진도율</a:t>
            </a:r>
            <a:r>
              <a:rPr lang="ko-KR" altLang="en-US" sz="1400" b="1" dirty="0">
                <a:solidFill>
                  <a:schemeClr val="accent5"/>
                </a:solidFill>
              </a:rPr>
              <a:t> 30~50%에 중간평가</a:t>
            </a:r>
            <a:r>
              <a:rPr lang="ko-KR" altLang="en-US" sz="1400" dirty="0">
                <a:solidFill>
                  <a:schemeClr val="accent5"/>
                </a:solidFill>
              </a:rPr>
              <a:t>를 진행(</a:t>
            </a:r>
            <a:r>
              <a:rPr lang="ko-KR" altLang="en-US" sz="1400" dirty="0" err="1">
                <a:solidFill>
                  <a:schemeClr val="accent5"/>
                </a:solidFill>
              </a:rPr>
              <a:t>역량평가+취업의지</a:t>
            </a:r>
            <a:r>
              <a:rPr lang="ko-KR" altLang="en-US" sz="1400" dirty="0">
                <a:solidFill>
                  <a:schemeClr val="accent5"/>
                </a:solidFill>
              </a:rPr>
              <a:t>/학습태도 평가)하여</a:t>
            </a:r>
            <a:endParaRPr lang="en-US" altLang="ko-KR" sz="1400" dirty="0">
              <a:solidFill>
                <a:schemeClr val="accent5"/>
              </a:solidFill>
            </a:endParaRPr>
          </a:p>
          <a:p>
            <a:pPr algn="r"/>
            <a:r>
              <a:rPr lang="ko-KR" altLang="en-US" sz="1400" b="1" dirty="0">
                <a:solidFill>
                  <a:schemeClr val="accent5"/>
                </a:solidFill>
              </a:rPr>
              <a:t>과정 적합도가 현저히 낮은 교육생은 수강중단</a:t>
            </a:r>
            <a:r>
              <a:rPr lang="ko-KR" altLang="en-US" sz="1400" dirty="0">
                <a:solidFill>
                  <a:schemeClr val="accent5"/>
                </a:solidFill>
              </a:rPr>
              <a:t> 될 수 있음(본 경우에는 예치금 반환)</a:t>
            </a:r>
          </a:p>
        </p:txBody>
      </p:sp>
    </p:spTree>
    <p:extLst>
      <p:ext uri="{BB962C8B-B14F-4D97-AF65-F5344CB8AC3E}">
        <p14:creationId xmlns:p14="http://schemas.microsoft.com/office/powerpoint/2010/main" val="33503843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77A16AF-C0AC-0C40-8054-A9A4337638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400" b="1" dirty="0">
                <a:solidFill>
                  <a:schemeClr val="accent1"/>
                </a:solidFill>
              </a:rPr>
              <a:t>카카오톡 오픈채팅방</a:t>
            </a:r>
            <a:endParaRPr lang="en-US" altLang="ko-KR" sz="2400" b="1" dirty="0">
              <a:solidFill>
                <a:schemeClr val="accent1"/>
              </a:solidFill>
            </a:endParaRPr>
          </a:p>
          <a:p>
            <a:pPr lvl="1"/>
            <a:r>
              <a:rPr lang="ko-KR" altLang="en-US" sz="1800" dirty="0"/>
              <a:t>수업 이외의 시간에 공지 및 정보 공유</a:t>
            </a:r>
            <a:endParaRPr lang="en-US" altLang="ko-KR" sz="1800" dirty="0"/>
          </a:p>
          <a:p>
            <a:pPr lvl="1"/>
            <a:r>
              <a:rPr lang="ko-KR" altLang="en-US" sz="1800" dirty="0"/>
              <a:t>해시 태그</a:t>
            </a:r>
            <a:r>
              <a:rPr lang="en-US" altLang="ko-KR" sz="1800" dirty="0"/>
              <a:t>: #</a:t>
            </a:r>
            <a:r>
              <a:rPr lang="ko-KR" altLang="en-US" sz="1800" dirty="0" err="1"/>
              <a:t>코딩온</a:t>
            </a:r>
            <a:r>
              <a:rPr lang="ko-KR" altLang="en-US" sz="1800" dirty="0"/>
              <a:t> </a:t>
            </a:r>
            <a:r>
              <a:rPr lang="en-US" altLang="ko-KR" sz="1800" dirty="0"/>
              <a:t>#CodingOn #SeSAC</a:t>
            </a:r>
            <a:r>
              <a:rPr lang="ko-KR" altLang="en-US" sz="1800" dirty="0"/>
              <a:t>영등포 </a:t>
            </a:r>
            <a:r>
              <a:rPr lang="en-US" altLang="ko-KR" sz="1800" dirty="0"/>
              <a:t>#</a:t>
            </a:r>
            <a:r>
              <a:rPr lang="ko-KR" altLang="en-US" sz="1800" dirty="0" err="1"/>
              <a:t>웹풀스택</a:t>
            </a:r>
            <a:endParaRPr lang="en-US" altLang="ko-KR" sz="1800" dirty="0"/>
          </a:p>
          <a:p>
            <a:pPr lvl="1"/>
            <a:r>
              <a:rPr lang="ko-KR" altLang="en-US" sz="1800" dirty="0"/>
              <a:t>입장 코드</a:t>
            </a:r>
            <a:r>
              <a:rPr lang="en-US" altLang="ko-KR" sz="1800" dirty="0"/>
              <a:t>: </a:t>
            </a:r>
            <a:r>
              <a:rPr lang="en-US" altLang="ko-KR" sz="1800" b="1" dirty="0"/>
              <a:t>CSYDP6</a:t>
            </a:r>
          </a:p>
          <a:p>
            <a:pPr lvl="1"/>
            <a:r>
              <a:rPr lang="ko-KR" altLang="en-US" sz="1800" dirty="0"/>
              <a:t>이름 양식</a:t>
            </a:r>
            <a:r>
              <a:rPr lang="en-US" altLang="ko-KR" sz="1800" dirty="0"/>
              <a:t>: </a:t>
            </a:r>
            <a:r>
              <a:rPr lang="ko-KR" altLang="en-US" sz="1800" b="1" dirty="0"/>
              <a:t>본명 </a:t>
            </a:r>
            <a:r>
              <a:rPr lang="en-US" altLang="ko-KR" sz="1800" b="1" dirty="0"/>
              <a:t>(ex. </a:t>
            </a:r>
            <a:r>
              <a:rPr lang="ko-KR" altLang="en-US" sz="1800" b="1" dirty="0"/>
              <a:t>홍길동</a:t>
            </a:r>
            <a:r>
              <a:rPr lang="en-US" altLang="ko-KR" sz="1800" b="1" dirty="0"/>
              <a:t>)</a:t>
            </a:r>
          </a:p>
          <a:p>
            <a:pPr lvl="1"/>
            <a:endParaRPr lang="en-US" altLang="ko-KR" sz="2400" dirty="0"/>
          </a:p>
          <a:p>
            <a:r>
              <a:rPr lang="en-US" altLang="ko-KR" sz="2400" b="1" dirty="0">
                <a:solidFill>
                  <a:schemeClr val="accent1"/>
                </a:solidFill>
              </a:rPr>
              <a:t>Slack</a:t>
            </a:r>
            <a:r>
              <a:rPr lang="en-US" altLang="ko-KR" sz="2400" dirty="0"/>
              <a:t> </a:t>
            </a:r>
          </a:p>
          <a:p>
            <a:pPr lvl="1"/>
            <a:r>
              <a:rPr lang="ko-KR" altLang="en-US" sz="1800" dirty="0"/>
              <a:t>수업 관련 소스</a:t>
            </a:r>
            <a:r>
              <a:rPr lang="en-US" altLang="ko-KR" sz="1800" dirty="0"/>
              <a:t>(</a:t>
            </a:r>
            <a:r>
              <a:rPr lang="ko-KR" altLang="en-US" sz="1800" dirty="0"/>
              <a:t>링크</a:t>
            </a:r>
            <a:r>
              <a:rPr lang="en-US" altLang="ko-KR" sz="1800" dirty="0"/>
              <a:t>, </a:t>
            </a:r>
            <a:r>
              <a:rPr lang="ko-KR" altLang="en-US" sz="1800" dirty="0"/>
              <a:t>이미지</a:t>
            </a:r>
            <a:r>
              <a:rPr lang="en-US" altLang="ko-KR" sz="1800" dirty="0"/>
              <a:t>, </a:t>
            </a:r>
            <a:r>
              <a:rPr lang="ko-KR" altLang="en-US" sz="1800" dirty="0"/>
              <a:t>코드 등</a:t>
            </a:r>
            <a:r>
              <a:rPr lang="en-US" altLang="ko-KR" sz="1800" dirty="0"/>
              <a:t>) </a:t>
            </a:r>
            <a:r>
              <a:rPr lang="ko-KR" altLang="en-US" sz="1800" dirty="0"/>
              <a:t>공유</a:t>
            </a:r>
            <a:endParaRPr lang="en-US" altLang="ko-KR" sz="1800" dirty="0"/>
          </a:p>
          <a:p>
            <a:pPr lvl="1"/>
            <a:r>
              <a:rPr lang="ko-KR" altLang="en-US" sz="1800" dirty="0"/>
              <a:t>과제 및 블로그 제출</a:t>
            </a:r>
            <a:endParaRPr lang="en-US" altLang="ko-KR" sz="1800" dirty="0"/>
          </a:p>
          <a:p>
            <a:pPr lvl="1"/>
            <a:r>
              <a:rPr lang="en-US" altLang="ko-KR" sz="1800" dirty="0"/>
              <a:t>Slack </a:t>
            </a:r>
            <a:r>
              <a:rPr lang="ko-KR" altLang="en-US" sz="1800" dirty="0"/>
              <a:t>초대 링크는 카카오톡 오픈채팅방 공지에서 확인 가능</a:t>
            </a:r>
            <a:endParaRPr lang="en-US" altLang="ko-KR" sz="1800" dirty="0"/>
          </a:p>
          <a:p>
            <a:pPr lvl="1"/>
            <a:r>
              <a:rPr lang="ko-KR" altLang="en-US" sz="1800" dirty="0"/>
              <a:t>이름 양식</a:t>
            </a:r>
            <a:r>
              <a:rPr lang="en-US" altLang="ko-KR" sz="1800" dirty="0"/>
              <a:t>: </a:t>
            </a:r>
            <a:r>
              <a:rPr lang="en-US" altLang="ko-KR" sz="1800" b="1" dirty="0"/>
              <a:t>SeSAC_6YDP_</a:t>
            </a:r>
            <a:r>
              <a:rPr lang="ko-KR" altLang="en-US" sz="1800" b="1" dirty="0"/>
              <a:t>본명 </a:t>
            </a:r>
            <a:r>
              <a:rPr lang="en-US" altLang="ko-KR" sz="1800" b="1" dirty="0"/>
              <a:t>(ex. SeSAC_6YDP_</a:t>
            </a:r>
            <a:r>
              <a:rPr lang="ko-KR" altLang="en-US" sz="1800" b="1" dirty="0"/>
              <a:t>홍길동</a:t>
            </a:r>
            <a:r>
              <a:rPr lang="en-US" altLang="ko-KR" sz="1800" b="1" dirty="0"/>
              <a:t>)</a:t>
            </a:r>
            <a:endParaRPr lang="ko-KR" altLang="en-US" sz="1800" b="1" dirty="0"/>
          </a:p>
          <a:p>
            <a:pPr lvl="1"/>
            <a:endParaRPr lang="ko-KR" altLang="en-US" sz="20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DF91455-F0A2-CD93-98D9-C12DFCC1B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717698-EC93-DB48-F232-38FCE5193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155F3A2E-0D16-CB9F-DCFE-10DDB13F4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커뮤니티 안내</a:t>
            </a:r>
          </a:p>
        </p:txBody>
      </p:sp>
      <p:pic>
        <p:nvPicPr>
          <p:cNvPr id="6" name="그림 5" descr="스크린샷, 그래픽, 패턴, 디자인이(가) 표시된 사진&#10;&#10;자동 생성된 설명">
            <a:extLst>
              <a:ext uri="{FF2B5EF4-FFF2-40B4-BE49-F238E27FC236}">
                <a16:creationId xmlns:a16="http://schemas.microsoft.com/office/drawing/2014/main" id="{D8352459-9BFD-83A0-465B-6CBBA18444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6174" y="2037779"/>
            <a:ext cx="3097626" cy="3097626"/>
          </a:xfrm>
          <a:prstGeom prst="rect">
            <a:avLst/>
          </a:prstGeom>
        </p:spPr>
      </p:pic>
      <p:pic>
        <p:nvPicPr>
          <p:cNvPr id="7" name="Picture 2" descr="카카오톡 - 나무위키">
            <a:extLst>
              <a:ext uri="{FF2B5EF4-FFF2-40B4-BE49-F238E27FC236}">
                <a16:creationId xmlns:a16="http://schemas.microsoft.com/office/drawing/2014/main" id="{44B1E52C-E960-8C77-9CD0-02796D5B9D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7452" y="1846436"/>
            <a:ext cx="288000" cy="28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Logo | Slack brand center">
            <a:extLst>
              <a:ext uri="{FF2B5EF4-FFF2-40B4-BE49-F238E27FC236}">
                <a16:creationId xmlns:a16="http://schemas.microsoft.com/office/drawing/2014/main" id="{82443895-FA81-D07B-F308-9D30FF05208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63" t="20971" r="18500" b="20258"/>
          <a:stretch/>
        </p:blipFill>
        <p:spPr bwMode="auto">
          <a:xfrm>
            <a:off x="1920124" y="3962234"/>
            <a:ext cx="295676" cy="28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4022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C650068-969C-82B4-E3F9-AC97B3A7A9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000" b="0" i="0" u="none" strike="noStrike" dirty="0">
                <a:solidFill>
                  <a:srgbClr val="273144"/>
                </a:solidFill>
                <a:effectLst/>
                <a:highlight>
                  <a:srgbClr val="FFFFFF"/>
                </a:highlight>
                <a:latin typeface="proxima nova"/>
                <a:hlinkClick r:id="rId3"/>
              </a:rPr>
              <a:t>https://codingon.co.kr/partner/sesac_ydp_6th</a:t>
            </a:r>
            <a:endParaRPr lang="en-US" altLang="ko-KR" sz="2000" dirty="0"/>
          </a:p>
          <a:p>
            <a:r>
              <a:rPr lang="ko-KR" altLang="en-US" sz="2000" dirty="0"/>
              <a:t>무료 온라인 강의 제공 및 실습 문제 강의 제공</a:t>
            </a:r>
            <a:endParaRPr lang="en-US" altLang="ko-KR" sz="2000" dirty="0"/>
          </a:p>
          <a:p>
            <a:r>
              <a:rPr lang="ko-KR" altLang="en-US" sz="2000" dirty="0"/>
              <a:t>이메일</a:t>
            </a:r>
            <a:r>
              <a:rPr lang="en-US" altLang="ko-KR" sz="2000" dirty="0"/>
              <a:t>: </a:t>
            </a:r>
            <a:r>
              <a:rPr lang="ko-KR" altLang="en-US" sz="2000" dirty="0"/>
              <a:t>새싹 지원 시 입력한 이메일</a:t>
            </a:r>
            <a:endParaRPr lang="en-US" altLang="ko-KR" sz="2000" dirty="0"/>
          </a:p>
          <a:p>
            <a:pPr lvl="1"/>
            <a:r>
              <a:rPr lang="ko-KR" altLang="en-US" sz="1600" dirty="0">
                <a:solidFill>
                  <a:schemeClr val="accent6"/>
                </a:solidFill>
              </a:rPr>
              <a:t>잊어버린 경우</a:t>
            </a:r>
            <a:r>
              <a:rPr lang="en-US" altLang="ko-KR" sz="1600" dirty="0">
                <a:solidFill>
                  <a:schemeClr val="accent6"/>
                </a:solidFill>
              </a:rPr>
              <a:t> </a:t>
            </a:r>
            <a:r>
              <a:rPr lang="ko-KR" altLang="en-US" sz="1600" dirty="0">
                <a:solidFill>
                  <a:schemeClr val="accent6"/>
                </a:solidFill>
              </a:rPr>
              <a:t>크루 리더에게 문의해주세요</a:t>
            </a:r>
            <a:endParaRPr lang="en-US" altLang="ko-KR" sz="1600" dirty="0">
              <a:solidFill>
                <a:schemeClr val="accent6"/>
              </a:solidFill>
            </a:endParaRPr>
          </a:p>
          <a:p>
            <a:r>
              <a:rPr lang="ko-KR" altLang="en-US" sz="2000" dirty="0"/>
              <a:t>초기 비밀번호</a:t>
            </a:r>
            <a:r>
              <a:rPr lang="en-US" altLang="ko-KR" sz="2000" dirty="0"/>
              <a:t>: 1234</a:t>
            </a:r>
            <a:r>
              <a:rPr lang="ko-KR" altLang="en-US" sz="2000" dirty="0"/>
              <a:t> 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7FC0C01-D0A1-5714-14D0-D6CD65F45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E53921-6764-6F73-A8D6-35A3A91B7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CFCC5E3-C862-D44C-CA75-5E5A0986A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코딩온</a:t>
            </a:r>
            <a:r>
              <a:rPr lang="ko-KR" altLang="en-US" dirty="0"/>
              <a:t> 온라인 </a:t>
            </a:r>
            <a:r>
              <a:rPr lang="en-US" altLang="ko-KR" dirty="0"/>
              <a:t>LMS </a:t>
            </a:r>
            <a:r>
              <a:rPr lang="ko-KR" altLang="en-US" dirty="0"/>
              <a:t>안내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FA9E42B-4E21-370A-9DC7-F9A8FBE75C3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1198" t="7362" r="9714" b="8773"/>
          <a:stretch/>
        </p:blipFill>
        <p:spPr>
          <a:xfrm>
            <a:off x="8895651" y="2392423"/>
            <a:ext cx="3143949" cy="3784540"/>
          </a:xfrm>
          <a:prstGeom prst="rect">
            <a:avLst/>
          </a:prstGeom>
        </p:spPr>
      </p:pic>
      <p:pic>
        <p:nvPicPr>
          <p:cNvPr id="9" name="그림 8" descr="패턴, 픽셀, 디자인이(가) 표시된 사진&#10;&#10;자동 생성된 설명">
            <a:extLst>
              <a:ext uri="{FF2B5EF4-FFF2-40B4-BE49-F238E27FC236}">
                <a16:creationId xmlns:a16="http://schemas.microsoft.com/office/drawing/2014/main" id="{7A77014D-2B00-9268-A221-FAA7FCE52A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6203" y="1011691"/>
            <a:ext cx="2165957" cy="2165957"/>
          </a:xfrm>
          <a:prstGeom prst="rect">
            <a:avLst/>
          </a:prstGeom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B4C682D1-15CA-2587-00D2-8CFC50B8A419}"/>
              </a:ext>
            </a:extLst>
          </p:cNvPr>
          <p:cNvGrpSpPr/>
          <p:nvPr/>
        </p:nvGrpSpPr>
        <p:grpSpPr>
          <a:xfrm>
            <a:off x="5943770" y="4789466"/>
            <a:ext cx="3373445" cy="307777"/>
            <a:chOff x="5943770" y="4789466"/>
            <a:chExt cx="3373445" cy="307777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D7D08AF-C4A8-1D5A-4227-E188F3507C46}"/>
                </a:ext>
              </a:extLst>
            </p:cNvPr>
            <p:cNvSpPr txBox="1"/>
            <p:nvPr/>
          </p:nvSpPr>
          <p:spPr>
            <a:xfrm>
              <a:off x="5943770" y="4789466"/>
              <a:ext cx="309571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>
                  <a:solidFill>
                    <a:schemeClr val="accent5"/>
                  </a:solidFill>
                </a:rPr>
                <a:t>로그인 화면 일치하는지 반드시 확인</a:t>
              </a:r>
              <a:r>
                <a:rPr lang="en-US" altLang="ko-KR" sz="1400" b="1" dirty="0">
                  <a:solidFill>
                    <a:schemeClr val="accent5"/>
                  </a:solidFill>
                </a:rPr>
                <a:t>!</a:t>
              </a:r>
              <a:endParaRPr lang="ko-KR" altLang="en-US" sz="1400" b="1" dirty="0">
                <a:solidFill>
                  <a:schemeClr val="accent5"/>
                </a:solidFill>
              </a:endParaRPr>
            </a:p>
          </p:txBody>
        </p:sp>
        <p:sp>
          <p:nvSpPr>
            <p:cNvPr id="11" name="화살표: 오른쪽 10">
              <a:extLst>
                <a:ext uri="{FF2B5EF4-FFF2-40B4-BE49-F238E27FC236}">
                  <a16:creationId xmlns:a16="http://schemas.microsoft.com/office/drawing/2014/main" id="{F0C631AE-9F29-7FB8-9318-F8E01CDE2CA1}"/>
                </a:ext>
              </a:extLst>
            </p:cNvPr>
            <p:cNvSpPr/>
            <p:nvPr/>
          </p:nvSpPr>
          <p:spPr>
            <a:xfrm>
              <a:off x="9019264" y="4835476"/>
              <a:ext cx="297951" cy="215758"/>
            </a:xfrm>
            <a:prstGeom prst="rightArrow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5"/>
                </a:solidFill>
              </a:endParaRPr>
            </a:p>
          </p:txBody>
        </p:sp>
      </p:grpSp>
      <p:pic>
        <p:nvPicPr>
          <p:cNvPr id="13" name="그림 12">
            <a:extLst>
              <a:ext uri="{FF2B5EF4-FFF2-40B4-BE49-F238E27FC236}">
                <a16:creationId xmlns:a16="http://schemas.microsoft.com/office/drawing/2014/main" id="{4055E03E-03C7-B605-B68F-3E6DE78E1E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3991" y="3924847"/>
            <a:ext cx="3804484" cy="2234028"/>
          </a:xfrm>
          <a:prstGeom prst="rect">
            <a:avLst/>
          </a:prstGeom>
        </p:spPr>
      </p:pic>
      <p:sp>
        <p:nvSpPr>
          <p:cNvPr id="14" name="곱하기 기호 13">
            <a:extLst>
              <a:ext uri="{FF2B5EF4-FFF2-40B4-BE49-F238E27FC236}">
                <a16:creationId xmlns:a16="http://schemas.microsoft.com/office/drawing/2014/main" id="{5C3B1A90-3906-E6A0-8806-BC5E41C1A7DA}"/>
              </a:ext>
            </a:extLst>
          </p:cNvPr>
          <p:cNvSpPr/>
          <p:nvPr/>
        </p:nvSpPr>
        <p:spPr>
          <a:xfrm>
            <a:off x="-46646" y="3261810"/>
            <a:ext cx="6188467" cy="3560101"/>
          </a:xfrm>
          <a:prstGeom prst="mathMultiply">
            <a:avLst>
              <a:gd name="adj1" fmla="val 3265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B9FC0603-68E0-9508-9639-75B0F325985F}"/>
              </a:ext>
            </a:extLst>
          </p:cNvPr>
          <p:cNvSpPr/>
          <p:nvPr/>
        </p:nvSpPr>
        <p:spPr>
          <a:xfrm>
            <a:off x="6492550" y="1867513"/>
            <a:ext cx="425025" cy="307777"/>
          </a:xfrm>
          <a:prstGeom prst="rightArrow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4940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ADE279D-187D-FFC8-1BCF-39ED103948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5620E2-371F-92B9-8FFF-EEF653C30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CE51FDC-3006-5D10-684A-6BF041680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확약서 서명 및 체크리스트 작성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20B9F45-0BCE-4FFF-D576-1A68CF8A4E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2797" y="2219907"/>
            <a:ext cx="2767937" cy="384602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9362997-968B-2B22-074F-738C5AC281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4413" y="1972830"/>
            <a:ext cx="2904790" cy="412049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EC3B96B-E4B6-CA84-920F-DA21562823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4587" y="2280348"/>
            <a:ext cx="2693026" cy="38385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8BC5BD-6B75-2582-0591-10683FD60FC2}"/>
              </a:ext>
            </a:extLst>
          </p:cNvPr>
          <p:cNvSpPr txBox="1"/>
          <p:nvPr/>
        </p:nvSpPr>
        <p:spPr>
          <a:xfrm>
            <a:off x="1173819" y="1449739"/>
            <a:ext cx="98443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chemeClr val="accent1"/>
                </a:solidFill>
              </a:rPr>
              <a:t>작성 완료하신 분은 화재보험 가입을 위한 주민번호 기입을 위해 서류와 함께 앞으로 나와주세요</a:t>
            </a:r>
            <a:r>
              <a:rPr lang="en-US" altLang="ko-KR" b="1" dirty="0">
                <a:solidFill>
                  <a:schemeClr val="accent1"/>
                </a:solidFill>
              </a:rPr>
              <a:t>!</a:t>
            </a:r>
            <a:endParaRPr lang="ko-KR" altLang="en-US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18449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86F13-2195-8D0E-D6A3-98C83B7A6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509AA9-CAC2-DE98-C83D-D4737B9956D9}"/>
              </a:ext>
            </a:extLst>
          </p:cNvPr>
          <p:cNvSpPr>
            <a:spLocks noGrp="1"/>
          </p:cNvSpPr>
          <p:nvPr/>
        </p:nvSpPr>
        <p:spPr>
          <a:xfrm>
            <a:off x="4358478" y="1806765"/>
            <a:ext cx="7004806" cy="29991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8800" b="1" dirty="0">
                <a:solidFill>
                  <a:schemeClr val="accent1"/>
                </a:solidFill>
              </a:rPr>
              <a:t>BREAK TIME!!</a:t>
            </a:r>
          </a:p>
        </p:txBody>
      </p:sp>
      <p:pic>
        <p:nvPicPr>
          <p:cNvPr id="3" name="Picture 2" descr="휴식하면 생기는 우리 몸의 변화들 &lt; 건강 &lt; 기사본문 - 마음건강 길">
            <a:extLst>
              <a:ext uri="{FF2B5EF4-FFF2-40B4-BE49-F238E27FC236}">
                <a16:creationId xmlns:a16="http://schemas.microsoft.com/office/drawing/2014/main" id="{9F17459D-6F7B-6896-B8F4-F7C6F766FA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6416" y="2583593"/>
            <a:ext cx="2741843" cy="1827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CB7B3A94-2EA2-5E54-5FB0-7291FA08CED7}"/>
              </a:ext>
            </a:extLst>
          </p:cNvPr>
          <p:cNvSpPr>
            <a:spLocks noGrp="1"/>
          </p:cNvSpPr>
          <p:nvPr/>
        </p:nvSpPr>
        <p:spPr>
          <a:xfrm>
            <a:off x="5003381" y="3567794"/>
            <a:ext cx="5715000" cy="11109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000" b="1" dirty="0"/>
              <a:t>휴식 이후 자기소개 할 예정이니 준비해주세요 </a:t>
            </a:r>
            <a:r>
              <a:rPr lang="en-US" altLang="ko-KR" sz="2000" b="1" dirty="0">
                <a:sym typeface="Wingdings" panose="05000000000000000000" pitchFamily="2" charset="2"/>
              </a:rPr>
              <a:t></a:t>
            </a:r>
            <a:endParaRPr lang="en-US" altLang="ko-KR" sz="2000" b="1" dirty="0"/>
          </a:p>
        </p:txBody>
      </p:sp>
    </p:spTree>
    <p:extLst>
      <p:ext uri="{BB962C8B-B14F-4D97-AF65-F5344CB8AC3E}">
        <p14:creationId xmlns:p14="http://schemas.microsoft.com/office/powerpoint/2010/main" val="712355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5BB94A53-7EB2-9249-2AA7-ADA76A47ACE2}"/>
              </a:ext>
            </a:extLst>
          </p:cNvPr>
          <p:cNvSpPr/>
          <p:nvPr/>
        </p:nvSpPr>
        <p:spPr>
          <a:xfrm>
            <a:off x="874507" y="2027200"/>
            <a:ext cx="10515600" cy="326267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D8A1035E-C3E6-CAB4-CB53-7728560741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8803" y="2528177"/>
            <a:ext cx="9614394" cy="2260716"/>
          </a:xfr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2E0B53-E0E0-F605-AE5D-CBC41626B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07E3F96-E9FB-A7CD-5BE4-ECB3A6952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BCF21E7-CA19-7543-C877-324BE0E54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코딩온에서는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540479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92A623-1E1A-7CB9-1FC7-84129EFA1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BFA-EBC3-4288-86D0-55A69B340430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A828EB3-DD5D-5147-DB5C-6EBF4140E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8" name="슬라이드 번호 개체 틀 4">
            <a:extLst>
              <a:ext uri="{FF2B5EF4-FFF2-40B4-BE49-F238E27FC236}">
                <a16:creationId xmlns:a16="http://schemas.microsoft.com/office/drawing/2014/main" id="{A7866ED4-0F74-48BC-84C6-42485677A1A4}"/>
              </a:ext>
            </a:extLst>
          </p:cNvPr>
          <p:cNvSpPr>
            <a:spLocks noGrp="1"/>
          </p:cNvSpPr>
          <p:nvPr/>
        </p:nvSpPr>
        <p:spPr>
          <a:xfrm>
            <a:off x="9029700" y="630373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3A2CE0-18CD-4102-B738-4ACFF9E68BA4}" type="slidenum">
              <a:rPr lang="ko-KR" altLang="en-US" smtClean="0"/>
              <a:pPr/>
              <a:t>13</a:t>
            </a:fld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054EBB-F401-BE68-C4D1-B1DC2AE0520E}"/>
              </a:ext>
            </a:extLst>
          </p:cNvPr>
          <p:cNvSpPr>
            <a:spLocks noGrp="1"/>
          </p:cNvSpPr>
          <p:nvPr/>
        </p:nvSpPr>
        <p:spPr>
          <a:xfrm>
            <a:off x="1265413" y="1649845"/>
            <a:ext cx="10023122" cy="29991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8800" b="1" dirty="0"/>
              <a:t>션</a:t>
            </a:r>
            <a:r>
              <a:rPr lang="en-US" altLang="ko-KR" sz="8800" b="1" dirty="0"/>
              <a:t> </a:t>
            </a:r>
            <a:r>
              <a:rPr lang="ko-KR" altLang="en-US" sz="8800" b="1" dirty="0"/>
              <a:t>리더님</a:t>
            </a:r>
            <a:endParaRPr lang="en-US" altLang="ko-KR" sz="3200" b="1" dirty="0"/>
          </a:p>
        </p:txBody>
      </p:sp>
    </p:spTree>
    <p:extLst>
      <p:ext uri="{BB962C8B-B14F-4D97-AF65-F5344CB8AC3E}">
        <p14:creationId xmlns:p14="http://schemas.microsoft.com/office/powerpoint/2010/main" val="20209435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92A623-1E1A-7CB9-1FC7-84129EFA1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BFA-EBC3-4288-86D0-55A69B340430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A828EB3-DD5D-5147-DB5C-6EBF4140E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8" name="슬라이드 번호 개체 틀 4">
            <a:extLst>
              <a:ext uri="{FF2B5EF4-FFF2-40B4-BE49-F238E27FC236}">
                <a16:creationId xmlns:a16="http://schemas.microsoft.com/office/drawing/2014/main" id="{A7866ED4-0F74-48BC-84C6-42485677A1A4}"/>
              </a:ext>
            </a:extLst>
          </p:cNvPr>
          <p:cNvSpPr>
            <a:spLocks noGrp="1"/>
          </p:cNvSpPr>
          <p:nvPr/>
        </p:nvSpPr>
        <p:spPr>
          <a:xfrm>
            <a:off x="9029700" y="630373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3A2CE0-18CD-4102-B738-4ACFF9E68BA4}" type="slidenum">
              <a:rPr lang="ko-KR" altLang="en-US" smtClean="0"/>
              <a:pPr/>
              <a:t>14</a:t>
            </a:fld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054EBB-F401-BE68-C4D1-B1DC2AE0520E}"/>
              </a:ext>
            </a:extLst>
          </p:cNvPr>
          <p:cNvSpPr>
            <a:spLocks noGrp="1"/>
          </p:cNvSpPr>
          <p:nvPr/>
        </p:nvSpPr>
        <p:spPr>
          <a:xfrm>
            <a:off x="1265413" y="1649845"/>
            <a:ext cx="10023122" cy="29991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8800" b="1" dirty="0" err="1"/>
              <a:t>데이먼</a:t>
            </a:r>
            <a:r>
              <a:rPr lang="en-US" altLang="ko-KR" sz="8800" b="1" dirty="0"/>
              <a:t> </a:t>
            </a:r>
            <a:r>
              <a:rPr lang="ko-KR" altLang="en-US" sz="8800" b="1" dirty="0"/>
              <a:t>리더님</a:t>
            </a:r>
            <a:endParaRPr lang="en-US" altLang="ko-KR" sz="3200" b="1" dirty="0"/>
          </a:p>
        </p:txBody>
      </p:sp>
    </p:spTree>
    <p:extLst>
      <p:ext uri="{BB962C8B-B14F-4D97-AF65-F5344CB8AC3E}">
        <p14:creationId xmlns:p14="http://schemas.microsoft.com/office/powerpoint/2010/main" val="22013983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클립아트, 만화 영화이(가) 표시된 사진&#10;&#10;자동 생성된 설명">
            <a:extLst>
              <a:ext uri="{FF2B5EF4-FFF2-40B4-BE49-F238E27FC236}">
                <a16:creationId xmlns:a16="http://schemas.microsoft.com/office/drawing/2014/main" id="{F84E9C0F-29FA-AD8D-7B4A-48C9A47B81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5383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92A623-1E1A-7CB9-1FC7-84129EFA1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BFA-EBC3-4288-86D0-55A69B340430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A828EB3-DD5D-5147-DB5C-6EBF4140E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8" name="슬라이드 번호 개체 틀 4">
            <a:extLst>
              <a:ext uri="{FF2B5EF4-FFF2-40B4-BE49-F238E27FC236}">
                <a16:creationId xmlns:a16="http://schemas.microsoft.com/office/drawing/2014/main" id="{A7866ED4-0F74-48BC-84C6-42485677A1A4}"/>
              </a:ext>
            </a:extLst>
          </p:cNvPr>
          <p:cNvSpPr>
            <a:spLocks noGrp="1"/>
          </p:cNvSpPr>
          <p:nvPr/>
        </p:nvSpPr>
        <p:spPr>
          <a:xfrm>
            <a:off x="9029700" y="630373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3A2CE0-18CD-4102-B738-4ACFF9E68BA4}" type="slidenum">
              <a:rPr lang="ko-KR" altLang="en-US" smtClean="0"/>
              <a:pPr/>
              <a:t>16</a:t>
            </a:fld>
            <a:endParaRPr lang="ko-KR" altLang="en-US"/>
          </a:p>
        </p:txBody>
      </p:sp>
      <p:pic>
        <p:nvPicPr>
          <p:cNvPr id="4100" name="Picture 4" descr="kakaoemoticon 비즈샵">
            <a:extLst>
              <a:ext uri="{FF2B5EF4-FFF2-40B4-BE49-F238E27FC236}">
                <a16:creationId xmlns:a16="http://schemas.microsoft.com/office/drawing/2014/main" id="{3DA42F57-2E7E-7083-29B1-5719CDC220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334" y="3970288"/>
            <a:ext cx="2009373" cy="20093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A620116-56A8-CF98-70BA-563063813E37}"/>
              </a:ext>
            </a:extLst>
          </p:cNvPr>
          <p:cNvSpPr>
            <a:spLocks noGrp="1"/>
          </p:cNvSpPr>
          <p:nvPr/>
        </p:nvSpPr>
        <p:spPr>
          <a:xfrm>
            <a:off x="3514372" y="3994032"/>
            <a:ext cx="5695889" cy="76198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4000" dirty="0"/>
              <a:t>여러분을 소개해주세요</a:t>
            </a:r>
            <a:r>
              <a:rPr lang="en-US" altLang="ko-KR" sz="4000" dirty="0"/>
              <a:t>!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1D6D4F54-D863-3399-6179-A58E0CC16E3F}"/>
              </a:ext>
            </a:extLst>
          </p:cNvPr>
          <p:cNvSpPr>
            <a:spLocks noGrp="1"/>
          </p:cNvSpPr>
          <p:nvPr/>
        </p:nvSpPr>
        <p:spPr>
          <a:xfrm>
            <a:off x="1350755" y="1218574"/>
            <a:ext cx="10023122" cy="29991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8800" b="1" dirty="0"/>
              <a:t>크루 자기소개 </a:t>
            </a:r>
            <a:r>
              <a:rPr lang="en-US" altLang="ko-KR" sz="8800" b="1" dirty="0"/>
              <a:t>Time</a:t>
            </a:r>
          </a:p>
          <a:p>
            <a:pPr algn="ctr"/>
            <a:endParaRPr lang="en-US" altLang="ko-KR" sz="2000" dirty="0"/>
          </a:p>
          <a:p>
            <a:pPr algn="ctr"/>
            <a:r>
              <a:rPr lang="en-US" altLang="ko-KR" sz="2400" dirty="0"/>
              <a:t>feat. MBTI, </a:t>
            </a:r>
            <a:r>
              <a:rPr lang="ko-KR" altLang="en-US" sz="2400" dirty="0"/>
              <a:t>취미</a:t>
            </a:r>
            <a:r>
              <a:rPr lang="en-US" altLang="ko-KR" sz="2400" dirty="0"/>
              <a:t>, </a:t>
            </a:r>
            <a:r>
              <a:rPr lang="ko-KR" altLang="en-US" sz="2400" dirty="0"/>
              <a:t>프론트</a:t>
            </a:r>
            <a:r>
              <a:rPr lang="en-US" altLang="ko-KR" sz="2400" dirty="0"/>
              <a:t>/</a:t>
            </a:r>
            <a:r>
              <a:rPr lang="ko-KR" altLang="en-US" sz="2400" dirty="0"/>
              <a:t>백</a:t>
            </a:r>
            <a:r>
              <a:rPr lang="en-US" altLang="ko-KR" sz="2400" dirty="0"/>
              <a:t>, </a:t>
            </a:r>
            <a:r>
              <a:rPr lang="ko-KR" altLang="en-US" sz="2400" dirty="0"/>
              <a:t>취</a:t>
            </a:r>
            <a:r>
              <a:rPr lang="en-US" altLang="ko-KR" sz="2400" dirty="0"/>
              <a:t>/</a:t>
            </a:r>
            <a:r>
              <a:rPr lang="ko-KR" altLang="en-US" sz="2400" dirty="0"/>
              <a:t>창업</a:t>
            </a:r>
            <a:r>
              <a:rPr lang="en-US" altLang="ko-KR" sz="2400" dirty="0"/>
              <a:t>, </a:t>
            </a:r>
            <a:r>
              <a:rPr lang="ko-KR" altLang="en-US" sz="2400" dirty="0"/>
              <a:t>목표</a:t>
            </a:r>
            <a:r>
              <a:rPr lang="en-US" altLang="ko-KR" sz="2400" dirty="0"/>
              <a:t>… </a:t>
            </a:r>
            <a:r>
              <a:rPr lang="ko-KR" altLang="en-US" sz="2400" dirty="0"/>
              <a:t>등등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7538410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949CD-21F1-47FF-328F-B6EC98891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7F0FEB-93E9-6EAF-F2D7-D1821FF9BD24}"/>
              </a:ext>
            </a:extLst>
          </p:cNvPr>
          <p:cNvSpPr>
            <a:spLocks noGrp="1"/>
          </p:cNvSpPr>
          <p:nvPr/>
        </p:nvSpPr>
        <p:spPr>
          <a:xfrm>
            <a:off x="3824868" y="2146609"/>
            <a:ext cx="7304048" cy="29991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8800" b="1" dirty="0">
                <a:solidFill>
                  <a:schemeClr val="accent1"/>
                </a:solidFill>
              </a:rPr>
              <a:t>GAME TIME!!</a:t>
            </a:r>
          </a:p>
        </p:txBody>
      </p:sp>
      <p:pic>
        <p:nvPicPr>
          <p:cNvPr id="3" name="그림 2" descr="텍스트, 클립아트, 만화 영화이(가) 표시된 사진&#10;&#10;자동 생성된 설명">
            <a:extLst>
              <a:ext uri="{FF2B5EF4-FFF2-40B4-BE49-F238E27FC236}">
                <a16:creationId xmlns:a16="http://schemas.microsoft.com/office/drawing/2014/main" id="{05BF51D3-B53D-8D11-68C4-87D36D4BE1F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41" t="22277" r="5335"/>
          <a:stretch/>
        </p:blipFill>
        <p:spPr>
          <a:xfrm>
            <a:off x="1237786" y="2146609"/>
            <a:ext cx="2436006" cy="2564781"/>
          </a:xfrm>
          <a:prstGeom prst="rect">
            <a:avLst/>
          </a:prstGeom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F2C750BE-9850-DECE-CF7E-B5C5EA8C5D97}"/>
              </a:ext>
            </a:extLst>
          </p:cNvPr>
          <p:cNvSpPr>
            <a:spLocks noGrp="1"/>
          </p:cNvSpPr>
          <p:nvPr/>
        </p:nvSpPr>
        <p:spPr>
          <a:xfrm>
            <a:off x="4619392" y="2302949"/>
            <a:ext cx="5715000" cy="11109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000" b="1" dirty="0" err="1"/>
              <a:t>오울이와</a:t>
            </a:r>
            <a:r>
              <a:rPr lang="ko-KR" altLang="en-US" sz="2000" b="1" dirty="0"/>
              <a:t> 함께하는</a:t>
            </a:r>
            <a:endParaRPr lang="en-US" altLang="ko-KR" sz="2000" b="1" dirty="0"/>
          </a:p>
        </p:txBody>
      </p:sp>
    </p:spTree>
    <p:extLst>
      <p:ext uri="{BB962C8B-B14F-4D97-AF65-F5344CB8AC3E}">
        <p14:creationId xmlns:p14="http://schemas.microsoft.com/office/powerpoint/2010/main" val="17973000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Git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7568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4930C1-3800-3283-7676-67E65B80E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37577-ED6E-4A9A-BE84-A36FE19DAF55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BA4E39-F813-5D2B-7587-E29FCBC82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734CB21-9153-185C-018C-D40EE0325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좋은 포트폴리오를 가꿔보자</a:t>
            </a:r>
            <a:r>
              <a:rPr lang="en-US" altLang="ko-KR" dirty="0"/>
              <a:t>!</a:t>
            </a:r>
            <a:endParaRPr lang="ko-KR" altLang="en-US" dirty="0"/>
          </a:p>
        </p:txBody>
      </p:sp>
      <p:pic>
        <p:nvPicPr>
          <p:cNvPr id="2052" name="Picture 4" descr="개발자 이력서 작성하기 (feat. 이력서 공개) | Wonny Log">
            <a:extLst>
              <a:ext uri="{FF2B5EF4-FFF2-40B4-BE49-F238E27FC236}">
                <a16:creationId xmlns:a16="http://schemas.microsoft.com/office/drawing/2014/main" id="{9A1B6276-E204-7797-6B8C-3218CC40F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0535" y="1735075"/>
            <a:ext cx="5898221" cy="4131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1일 1커밋의 목표를 가지고 있다면? - Bitbar Github 플러그인 설정하기 | Fernando 기술 블로그">
            <a:extLst>
              <a:ext uri="{FF2B5EF4-FFF2-40B4-BE49-F238E27FC236}">
                <a16:creationId xmlns:a16="http://schemas.microsoft.com/office/drawing/2014/main" id="{2C642476-CCB6-28F2-C01B-E6AA8A634F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9776" y="2695209"/>
            <a:ext cx="4454449" cy="1833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BB5351B-8B66-EAAB-14E6-629AA921514C}"/>
              </a:ext>
            </a:extLst>
          </p:cNvPr>
          <p:cNvSpPr txBox="1"/>
          <p:nvPr/>
        </p:nvSpPr>
        <p:spPr>
          <a:xfrm>
            <a:off x="1875686" y="4678729"/>
            <a:ext cx="19303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solidFill>
                  <a:schemeClr val="accent6"/>
                </a:solidFill>
              </a:rPr>
              <a:t>GitHub </a:t>
            </a:r>
            <a:r>
              <a:rPr lang="ko-KR" altLang="en-US" sz="1600" b="1" dirty="0" err="1">
                <a:solidFill>
                  <a:schemeClr val="accent6"/>
                </a:solidFill>
              </a:rPr>
              <a:t>잔디심기</a:t>
            </a:r>
            <a:r>
              <a:rPr lang="ko-KR" altLang="en-US" sz="1600" b="1" dirty="0">
                <a:solidFill>
                  <a:schemeClr val="accent6"/>
                </a:solidFill>
              </a:rPr>
              <a:t>🌱</a:t>
            </a:r>
          </a:p>
        </p:txBody>
      </p:sp>
    </p:spTree>
    <p:extLst>
      <p:ext uri="{BB962C8B-B14F-4D97-AF65-F5344CB8AC3E}">
        <p14:creationId xmlns:p14="http://schemas.microsoft.com/office/powerpoint/2010/main" val="19694967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4D8E3F-3E15-CA55-DE78-C9E8135D7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CA0A7-0190-4FAD-B925-425179F7F41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DB29F7D-CB9C-794A-3A35-FAD82167A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pic>
        <p:nvPicPr>
          <p:cNvPr id="4098" name="Picture 2" descr="시작하기 | Git / GitHub 안내서">
            <a:extLst>
              <a:ext uri="{FF2B5EF4-FFF2-40B4-BE49-F238E27FC236}">
                <a16:creationId xmlns:a16="http://schemas.microsoft.com/office/drawing/2014/main" id="{734FB0B1-DFE8-E05D-B8D6-E471B0B8E8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9777" y="1409915"/>
            <a:ext cx="3126658" cy="1302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VSCode 익스텐션 추천 리스트 | Lazy Ren">
            <a:extLst>
              <a:ext uri="{FF2B5EF4-FFF2-40B4-BE49-F238E27FC236}">
                <a16:creationId xmlns:a16="http://schemas.microsoft.com/office/drawing/2014/main" id="{BBD46098-9A9A-2A88-67DF-22BB9F2125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7387" y="2061977"/>
            <a:ext cx="4572000" cy="228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GitHub — A Beginner's Introduction | by Thiago Marsal Farias | Medium">
            <a:extLst>
              <a:ext uri="{FF2B5EF4-FFF2-40B4-BE49-F238E27FC236}">
                <a16:creationId xmlns:a16="http://schemas.microsoft.com/office/drawing/2014/main" id="{05048B77-090B-D782-5A02-11C42B8CC5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5386" y="3469287"/>
            <a:ext cx="4572001" cy="1694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262478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492C02-0419-7C8D-8F70-9EAD19B9B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6486D8F-3DFA-088C-30BB-98572100A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E93C594-AF29-4C79-505A-FD8260282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Github</a:t>
            </a:r>
            <a:r>
              <a:rPr lang="ko-KR" altLang="en-US" dirty="0"/>
              <a:t> 회원가입</a:t>
            </a:r>
            <a:r>
              <a:rPr lang="en-US" altLang="ko-KR" dirty="0"/>
              <a:t>/</a:t>
            </a:r>
            <a:r>
              <a:rPr lang="ko-KR" altLang="en-US" dirty="0"/>
              <a:t>로그인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7D830-B9D4-9D0A-6994-18E2CD9C9915}"/>
              </a:ext>
            </a:extLst>
          </p:cNvPr>
          <p:cNvSpPr txBox="1"/>
          <p:nvPr/>
        </p:nvSpPr>
        <p:spPr>
          <a:xfrm>
            <a:off x="846667" y="1794933"/>
            <a:ext cx="77441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hlinkClick r:id="rId3"/>
              </a:rPr>
              <a:t>https://github.com/</a:t>
            </a:r>
            <a:r>
              <a:rPr lang="en-US" altLang="ko-KR" sz="2400" dirty="0"/>
              <a:t> </a:t>
            </a:r>
          </a:p>
          <a:p>
            <a:endParaRPr lang="ko-KR" altLang="en-US" sz="2400" dirty="0"/>
          </a:p>
        </p:txBody>
      </p:sp>
      <p:pic>
        <p:nvPicPr>
          <p:cNvPr id="7" name="Picture 4" descr="GitHub — A Beginner's Introduction | by Thiago Marsal Farias | Medium">
            <a:extLst>
              <a:ext uri="{FF2B5EF4-FFF2-40B4-BE49-F238E27FC236}">
                <a16:creationId xmlns:a16="http://schemas.microsoft.com/office/drawing/2014/main" id="{B89A765A-9124-E194-8F39-31B0543012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4580" y="3053919"/>
            <a:ext cx="7057782" cy="2616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87168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492C02-0419-7C8D-8F70-9EAD19B9B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6486D8F-3DFA-088C-30BB-98572100A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E93C594-AF29-4C79-505A-FD8260282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VS Code </a:t>
            </a:r>
            <a:r>
              <a:rPr lang="ko-KR" altLang="en-US" dirty="0"/>
              <a:t>설치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7D830-B9D4-9D0A-6994-18E2CD9C9915}"/>
              </a:ext>
            </a:extLst>
          </p:cNvPr>
          <p:cNvSpPr txBox="1"/>
          <p:nvPr/>
        </p:nvSpPr>
        <p:spPr>
          <a:xfrm>
            <a:off x="846667" y="1794933"/>
            <a:ext cx="77441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hlinkClick r:id="rId3"/>
              </a:rPr>
              <a:t>https://code.visualstudio.com/download</a:t>
            </a:r>
            <a:endParaRPr lang="en-US" altLang="ko-KR" sz="2400" dirty="0"/>
          </a:p>
          <a:p>
            <a:endParaRPr lang="ko-KR" altLang="en-US" sz="2400" dirty="0"/>
          </a:p>
        </p:txBody>
      </p:sp>
      <p:pic>
        <p:nvPicPr>
          <p:cNvPr id="3" name="Picture 2" descr="VSCode 익스텐션 추천 리스트 | Lazy Ren">
            <a:extLst>
              <a:ext uri="{FF2B5EF4-FFF2-40B4-BE49-F238E27FC236}">
                <a16:creationId xmlns:a16="http://schemas.microsoft.com/office/drawing/2014/main" id="{627B062B-9462-19DE-55BB-9FC514848C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8756" y="2518438"/>
            <a:ext cx="6446668" cy="3223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00785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89FCA7-10AB-8AF6-D2BD-97B935935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EE1A94-AFBA-455D-AB49-E75A31A49424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5A27B9-F560-8DFB-9CAE-3888D1804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53C5ED1-1C3E-3B3F-C109-37B7E4D5D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VSCode</a:t>
            </a:r>
            <a:r>
              <a:rPr lang="en-US" altLang="ko-KR" dirty="0"/>
              <a:t> </a:t>
            </a:r>
            <a:r>
              <a:rPr lang="ko-KR" altLang="en-US" dirty="0"/>
              <a:t>확장 프로그램 설치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0DDEE6F-3BF0-606E-71FA-BC7481C73F2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343"/>
          <a:stretch/>
        </p:blipFill>
        <p:spPr>
          <a:xfrm>
            <a:off x="301357" y="3729759"/>
            <a:ext cx="11654851" cy="111766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4E6D413-2C6E-3292-04C2-989AB7E35A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357" y="2388688"/>
            <a:ext cx="11654851" cy="1098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88268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46613B6-15C2-4EB9-DA32-C88012E820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>
                <a:hlinkClick r:id="rId2"/>
              </a:rPr>
              <a:t>https://git-scm.com/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4B72CC4-9130-8ED0-BB89-300F68F77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E01B46-8CCE-8767-6D70-E051FA428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D1B88E44-6FA1-EEEF-AC8F-4ADA1ABFFA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ko-KR" altLang="en-US" dirty="0"/>
              <a:t>설치하기 </a:t>
            </a:r>
            <a:r>
              <a:rPr lang="en-US" altLang="ko-KR" dirty="0"/>
              <a:t>(Windows)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98EF807-A747-F665-B95E-B2936849B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9728" y="1703543"/>
            <a:ext cx="5960672" cy="4473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4242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1F332-0F14-C520-5592-EDE8B8D55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7">
            <a:extLst>
              <a:ext uri="{FF2B5EF4-FFF2-40B4-BE49-F238E27FC236}">
                <a16:creationId xmlns:a16="http://schemas.microsoft.com/office/drawing/2014/main" id="{711D7082-A1D8-2822-544F-2D664F4C1A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7709" y="1572126"/>
            <a:ext cx="10515600" cy="3857582"/>
          </a:xfrm>
        </p:spPr>
        <p:txBody>
          <a:bodyPr>
            <a:normAutofit lnSpcReduction="10000"/>
          </a:bodyPr>
          <a:lstStyle/>
          <a:p>
            <a:r>
              <a:rPr lang="en-US" altLang="ko-KR" dirty="0">
                <a:solidFill>
                  <a:srgbClr val="0070C0"/>
                </a:solidFill>
              </a:rPr>
              <a:t>cd Desktop</a:t>
            </a:r>
          </a:p>
          <a:p>
            <a:r>
              <a:rPr lang="en-US" altLang="ko-KR" dirty="0" err="1">
                <a:solidFill>
                  <a:srgbClr val="0070C0"/>
                </a:solidFill>
              </a:rPr>
              <a:t>mkdir</a:t>
            </a:r>
            <a:r>
              <a:rPr lang="en-US" altLang="ko-KR" dirty="0">
                <a:solidFill>
                  <a:srgbClr val="0070C0"/>
                </a:solidFill>
              </a:rPr>
              <a:t> </a:t>
            </a:r>
            <a:r>
              <a:rPr lang="en-US" altLang="ko-KR" dirty="0" err="1">
                <a:solidFill>
                  <a:srgbClr val="0070C0"/>
                </a:solidFill>
              </a:rPr>
              <a:t>github</a:t>
            </a:r>
            <a:endParaRPr lang="en-US" altLang="ko-KR" dirty="0">
              <a:solidFill>
                <a:srgbClr val="0070C0"/>
              </a:solidFill>
            </a:endParaRPr>
          </a:p>
          <a:p>
            <a:r>
              <a:rPr lang="en-US" altLang="ko-KR" dirty="0">
                <a:solidFill>
                  <a:srgbClr val="0070C0"/>
                </a:solidFill>
              </a:rPr>
              <a:t>cd </a:t>
            </a:r>
            <a:r>
              <a:rPr lang="en-US" altLang="ko-KR" dirty="0" err="1">
                <a:solidFill>
                  <a:srgbClr val="0070C0"/>
                </a:solidFill>
              </a:rPr>
              <a:t>github</a:t>
            </a:r>
            <a:r>
              <a:rPr lang="en-US" altLang="ko-KR" dirty="0">
                <a:solidFill>
                  <a:srgbClr val="0070C0"/>
                </a:solidFill>
              </a:rPr>
              <a:t> </a:t>
            </a:r>
          </a:p>
          <a:p>
            <a:r>
              <a:rPr lang="en-US" altLang="ko-KR" dirty="0">
                <a:solidFill>
                  <a:srgbClr val="0070C0"/>
                </a:solidFill>
              </a:rPr>
              <a:t>git config --global </a:t>
            </a:r>
            <a:r>
              <a:rPr lang="en-US" altLang="ko-KR" dirty="0" err="1">
                <a:solidFill>
                  <a:srgbClr val="0070C0"/>
                </a:solidFill>
              </a:rPr>
              <a:t>init.defaultBranch</a:t>
            </a:r>
            <a:r>
              <a:rPr lang="en-US" altLang="ko-KR" dirty="0">
                <a:solidFill>
                  <a:srgbClr val="0070C0"/>
                </a:solidFill>
              </a:rPr>
              <a:t> main</a:t>
            </a:r>
          </a:p>
          <a:p>
            <a:r>
              <a:rPr lang="en-US" altLang="ko-KR" dirty="0">
                <a:solidFill>
                  <a:srgbClr val="0070C0"/>
                </a:solidFill>
              </a:rPr>
              <a:t>git config --global </a:t>
            </a:r>
            <a:r>
              <a:rPr lang="en-US" altLang="ko-KR" dirty="0" err="1">
                <a:solidFill>
                  <a:srgbClr val="0070C0"/>
                </a:solidFill>
              </a:rPr>
              <a:t>core.ignorecase</a:t>
            </a:r>
            <a:r>
              <a:rPr lang="en-US" altLang="ko-KR" dirty="0">
                <a:solidFill>
                  <a:srgbClr val="0070C0"/>
                </a:solidFill>
              </a:rPr>
              <a:t> false</a:t>
            </a:r>
          </a:p>
          <a:p>
            <a:r>
              <a:rPr lang="en-US" altLang="ko-KR" dirty="0">
                <a:solidFill>
                  <a:srgbClr val="0070C0"/>
                </a:solidFill>
              </a:rPr>
              <a:t>git config --global user.name </a:t>
            </a:r>
            <a:r>
              <a:rPr lang="en-US" altLang="ko-KR" dirty="0">
                <a:solidFill>
                  <a:srgbClr val="00B050"/>
                </a:solidFill>
              </a:rPr>
              <a:t>“GitHub </a:t>
            </a:r>
            <a:r>
              <a:rPr lang="ko-KR" altLang="en-US" dirty="0">
                <a:solidFill>
                  <a:srgbClr val="00B050"/>
                </a:solidFill>
              </a:rPr>
              <a:t>프로필 이름</a:t>
            </a:r>
            <a:r>
              <a:rPr lang="en-US" altLang="ko-KR" dirty="0">
                <a:solidFill>
                  <a:srgbClr val="00B050"/>
                </a:solidFill>
              </a:rPr>
              <a:t>”</a:t>
            </a:r>
          </a:p>
          <a:p>
            <a:r>
              <a:rPr lang="en-US" altLang="ko-KR" dirty="0">
                <a:solidFill>
                  <a:srgbClr val="0070C0"/>
                </a:solidFill>
              </a:rPr>
              <a:t>git config --global </a:t>
            </a:r>
            <a:r>
              <a:rPr lang="en-US" altLang="ko-KR" dirty="0" err="1">
                <a:solidFill>
                  <a:srgbClr val="0070C0"/>
                </a:solidFill>
              </a:rPr>
              <a:t>user.email</a:t>
            </a:r>
            <a:r>
              <a:rPr lang="en-US" altLang="ko-KR" dirty="0">
                <a:solidFill>
                  <a:srgbClr val="0070C0"/>
                </a:solidFill>
              </a:rPr>
              <a:t> </a:t>
            </a:r>
            <a:r>
              <a:rPr lang="en-US" altLang="ko-KR" dirty="0">
                <a:solidFill>
                  <a:srgbClr val="00B050"/>
                </a:solidFill>
              </a:rPr>
              <a:t>“GitHub </a:t>
            </a:r>
            <a:r>
              <a:rPr lang="ko-KR" altLang="en-US" dirty="0">
                <a:solidFill>
                  <a:srgbClr val="00B050"/>
                </a:solidFill>
              </a:rPr>
              <a:t>이메일 주소</a:t>
            </a:r>
            <a:r>
              <a:rPr lang="en-US" altLang="ko-KR" dirty="0">
                <a:solidFill>
                  <a:srgbClr val="00B050"/>
                </a:solidFill>
              </a:rPr>
              <a:t>”</a:t>
            </a:r>
          </a:p>
          <a:p>
            <a:r>
              <a:rPr lang="en-US" altLang="ko-KR" dirty="0">
                <a:solidFill>
                  <a:srgbClr val="0070C0"/>
                </a:solidFill>
              </a:rPr>
              <a:t>git config --global --list</a:t>
            </a:r>
          </a:p>
          <a:p>
            <a:pPr lvl="1"/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1B5AF6-6EB5-632B-59CC-C3F550E1C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DE71ED9-518E-3DE7-9778-BBB9B70FD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6CF3739-A788-3A58-8AAA-C4EC3DB89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     Git</a:t>
            </a:r>
            <a:r>
              <a:rPr lang="ko-KR" altLang="en-US" dirty="0"/>
              <a:t> </a:t>
            </a:r>
            <a:r>
              <a:rPr lang="en-US" altLang="ko-KR" dirty="0"/>
              <a:t>Bash</a:t>
            </a:r>
            <a:r>
              <a:rPr lang="ko-KR" altLang="en-US" dirty="0"/>
              <a:t>에서 아래 명령어 입력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307AB4E-D6A8-D992-80C3-680C7F5A67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555" y="566697"/>
            <a:ext cx="686308" cy="671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9165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4" descr="GitHub README.me에서 소스코드를 링크하는 방법">
            <a:extLst>
              <a:ext uri="{FF2B5EF4-FFF2-40B4-BE49-F238E27FC236}">
                <a16:creationId xmlns:a16="http://schemas.microsoft.com/office/drawing/2014/main" id="{A081BE86-F2B1-2EA7-EDF3-467AA257CE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011" y="2113585"/>
            <a:ext cx="4697911" cy="2630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1BB560-7802-EC16-9EA1-588CF0DCC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470E82-21E3-488C-BCDC-EB030ADC6AB3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69C63C6-3084-0440-9B2F-05EF01964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BB05630-D2A3-34FF-344E-51F048296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Gihub</a:t>
            </a:r>
            <a:r>
              <a:rPr lang="ko-KR" altLang="en-US" dirty="0"/>
              <a:t>에서 </a:t>
            </a:r>
            <a:r>
              <a:rPr lang="en-US" altLang="ko-KR" dirty="0"/>
              <a:t>Repository </a:t>
            </a:r>
            <a:r>
              <a:rPr lang="ko-KR" altLang="en-US" dirty="0"/>
              <a:t>만들고 가져오기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8F6FC75-A4CC-2A84-2D92-ECA3E591C1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4271" y="1690688"/>
            <a:ext cx="4697911" cy="4366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8415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D6EA9F-DA55-0267-4767-DDD52EAAE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96B495F-B7A5-D638-EFBA-9BD7BFB9F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73BC75-489B-AFC6-B053-1EB07B130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Repository </a:t>
            </a:r>
            <a:r>
              <a:rPr lang="ko-KR" altLang="en-US" dirty="0"/>
              <a:t>가져오기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42ED6C3-9809-44B6-225F-5FB91E9E27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84134"/>
            <a:ext cx="9322843" cy="60188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0B6FD4-6F8E-35FB-3DD0-838EEB0CB8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148" y="2286022"/>
            <a:ext cx="9322843" cy="2992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5627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EDE14B-F590-5390-4ED0-85934CA648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F6B89-4082-49DC-A306-910E461DCB41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4661428-D3BF-F776-8121-361B8C4DB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pic>
        <p:nvPicPr>
          <p:cNvPr id="8" name="그림 7" descr="텍스트, 표지판이(가) 표시된 사진&#10;&#10;자동 생성된 설명">
            <a:extLst>
              <a:ext uri="{FF2B5EF4-FFF2-40B4-BE49-F238E27FC236}">
                <a16:creationId xmlns:a16="http://schemas.microsoft.com/office/drawing/2014/main" id="{81459821-95CF-3555-EA73-B302A2E832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4018" y="1374470"/>
            <a:ext cx="9723963" cy="41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7099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C847C42-5B19-643E-6060-D9D2F849F1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git status</a:t>
            </a:r>
            <a:r>
              <a:rPr lang="en-US" altLang="ko-KR" sz="2400" dirty="0">
                <a:ea typeface="강한공군체 Medium" panose="020B0600000101010101" pitchFamily="34" charset="-127"/>
              </a:rPr>
              <a:t> : </a:t>
            </a:r>
            <a:r>
              <a:rPr lang="ko-KR" altLang="en-US" sz="2400" dirty="0">
                <a:ea typeface="강한공군체 Medium" panose="020B0600000101010101" pitchFamily="34" charset="-127"/>
              </a:rPr>
              <a:t>현재 디렉토리 상태 보기</a:t>
            </a:r>
            <a:endParaRPr lang="en-US" altLang="ko-KR" sz="2400" dirty="0">
              <a:ea typeface="강한공군체 Medium" panose="020B0600000101010101" pitchFamily="34" charset="-127"/>
            </a:endParaRPr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git add</a:t>
            </a:r>
            <a:r>
              <a:rPr lang="ko-KR" altLang="en-US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 </a:t>
            </a: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. </a:t>
            </a:r>
            <a:r>
              <a:rPr lang="en-US" altLang="ko-KR" sz="2400" dirty="0">
                <a:ea typeface="강한공군체 Medium" panose="020B0600000101010101" pitchFamily="34" charset="-127"/>
              </a:rPr>
              <a:t>: </a:t>
            </a:r>
            <a:r>
              <a:rPr lang="ko-KR" altLang="en-US" sz="2400" dirty="0">
                <a:ea typeface="강한공군체 Medium" panose="020B0600000101010101" pitchFamily="34" charset="-127"/>
              </a:rPr>
              <a:t>현재 디렉토리의 모든 변경 사항을 </a:t>
            </a:r>
            <a:r>
              <a:rPr lang="ko-KR" altLang="en-US" sz="2400" dirty="0" err="1">
                <a:ea typeface="강한공군체 Medium" panose="020B0600000101010101" pitchFamily="34" charset="-127"/>
              </a:rPr>
              <a:t>스테이징</a:t>
            </a:r>
            <a:r>
              <a:rPr lang="ko-KR" altLang="en-US" sz="2400" dirty="0">
                <a:ea typeface="강한공군체 Medium" panose="020B0600000101010101" pitchFamily="34" charset="-127"/>
              </a:rPr>
              <a:t> 영역에 추가 </a:t>
            </a:r>
            <a:endParaRPr lang="en-US" altLang="ko-KR" sz="2400" dirty="0">
              <a:ea typeface="강한공군체 Medium" panose="020B0600000101010101" pitchFamily="34" charset="-127"/>
            </a:endParaRPr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git status </a:t>
            </a:r>
            <a:r>
              <a:rPr lang="en-US" altLang="ko-KR" sz="2400" dirty="0">
                <a:ea typeface="강한공군체 Medium" panose="020B0600000101010101" pitchFamily="34" charset="-127"/>
              </a:rPr>
              <a:t>: </a:t>
            </a:r>
            <a:r>
              <a:rPr lang="ko-KR" altLang="en-US" sz="2400" dirty="0">
                <a:ea typeface="강한공군체 Medium" panose="020B0600000101010101" pitchFamily="34" charset="-127"/>
              </a:rPr>
              <a:t>현재 디렉토리 상태 보기 </a:t>
            </a:r>
            <a:r>
              <a:rPr lang="en-US" altLang="ko-KR" sz="2400" dirty="0">
                <a:ea typeface="강한공군체 Medium" panose="020B0600000101010101" pitchFamily="34" charset="-127"/>
              </a:rPr>
              <a:t>(</a:t>
            </a:r>
            <a:r>
              <a:rPr lang="ko-KR" altLang="en-US" sz="2400" dirty="0">
                <a:ea typeface="강한공군체 Medium" panose="020B0600000101010101" pitchFamily="34" charset="-127"/>
              </a:rPr>
              <a:t>상태 변경 확인</a:t>
            </a:r>
            <a:r>
              <a:rPr lang="en-US" altLang="ko-KR" sz="2400" dirty="0">
                <a:ea typeface="강한공군체 Medium" panose="020B0600000101010101" pitchFamily="34" charset="-127"/>
              </a:rPr>
              <a:t>)</a:t>
            </a:r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git</a:t>
            </a:r>
            <a:r>
              <a:rPr lang="ko-KR" altLang="en-US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 </a:t>
            </a: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commit -m “study: first commit” </a:t>
            </a:r>
            <a:r>
              <a:rPr lang="en-US" altLang="ko-KR" sz="2400" dirty="0">
                <a:ea typeface="강한공군체 Medium" panose="020B0600000101010101" pitchFamily="34" charset="-127"/>
              </a:rPr>
              <a:t>: </a:t>
            </a:r>
            <a:r>
              <a:rPr lang="ko-KR" altLang="en-US" sz="2400" dirty="0" err="1">
                <a:ea typeface="강한공군체 Medium" panose="020B0600000101010101" pitchFamily="34" charset="-127"/>
              </a:rPr>
              <a:t>스테이징</a:t>
            </a:r>
            <a:r>
              <a:rPr lang="ko-KR" altLang="en-US" sz="2400" dirty="0">
                <a:ea typeface="강한공군체 Medium" panose="020B0600000101010101" pitchFamily="34" charset="-127"/>
              </a:rPr>
              <a:t> 영역의 파일을 커밋하여 저장소의 히스토리에 기록</a:t>
            </a:r>
            <a:endParaRPr lang="en-US" altLang="ko-KR" sz="2400" dirty="0">
              <a:ea typeface="강한공군체 Medium" panose="020B0600000101010101" pitchFamily="34" charset="-127"/>
            </a:endParaRPr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git log </a:t>
            </a:r>
            <a:r>
              <a:rPr lang="en-US" altLang="ko-KR" sz="2400" dirty="0">
                <a:ea typeface="강한공군체 Medium" panose="020B0600000101010101" pitchFamily="34" charset="-127"/>
              </a:rPr>
              <a:t>: </a:t>
            </a:r>
            <a:r>
              <a:rPr lang="ko-KR" altLang="en-US" sz="2400" dirty="0">
                <a:ea typeface="강한공군체 Medium" panose="020B0600000101010101" pitchFamily="34" charset="-127"/>
              </a:rPr>
              <a:t>저장소의 </a:t>
            </a:r>
            <a:r>
              <a:rPr lang="ko-KR" altLang="en-US" sz="2400" dirty="0" err="1">
                <a:ea typeface="강한공군체 Medium" panose="020B0600000101010101" pitchFamily="34" charset="-127"/>
              </a:rPr>
              <a:t>커밋</a:t>
            </a:r>
            <a:r>
              <a:rPr lang="ko-KR" altLang="en-US" sz="2400" dirty="0">
                <a:ea typeface="강한공군체 Medium" panose="020B0600000101010101" pitchFamily="34" charset="-127"/>
              </a:rPr>
              <a:t> 히스토리 확인</a:t>
            </a:r>
            <a:endParaRPr lang="en-US" altLang="ko-KR" sz="2400" dirty="0">
              <a:ea typeface="강한공군체 Medium" panose="020B0600000101010101" pitchFamily="34" charset="-127"/>
            </a:endParaRPr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git</a:t>
            </a:r>
            <a:r>
              <a:rPr lang="ko-KR" altLang="en-US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 </a:t>
            </a: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push –u origin main </a:t>
            </a:r>
            <a:r>
              <a:rPr lang="en-US" altLang="ko-KR" sz="2400" dirty="0">
                <a:ea typeface="강한공군체 Medium" panose="020B0600000101010101" pitchFamily="34" charset="-127"/>
              </a:rPr>
              <a:t>: </a:t>
            </a:r>
            <a:r>
              <a:rPr lang="ko-KR" altLang="en-US" sz="2400" dirty="0">
                <a:ea typeface="강한공군체 Medium" panose="020B0600000101010101" pitchFamily="34" charset="-127"/>
              </a:rPr>
              <a:t>로컬 저장소의 변경 사항을 원격 저장소로 푸시</a:t>
            </a:r>
            <a:endParaRPr lang="en-US" altLang="ko-KR" sz="2400" dirty="0">
              <a:ea typeface="강한공군체 Medium" panose="020B0600000101010101" pitchFamily="34" charset="-127"/>
            </a:endParaRPr>
          </a:p>
          <a:p>
            <a:endParaRPr lang="ko-KR" altLang="en-US" sz="24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9D7B475-9B14-ED2B-6D54-DB49F3841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2B312E-2FAB-7276-F2BF-2F6DBC9D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1DD2F534-EE96-0891-B750-CA1FFA363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ko-KR" altLang="en-US" dirty="0"/>
              <a:t>명령어</a:t>
            </a:r>
          </a:p>
        </p:txBody>
      </p:sp>
    </p:spTree>
    <p:extLst>
      <p:ext uri="{BB962C8B-B14F-4D97-AF65-F5344CB8AC3E}">
        <p14:creationId xmlns:p14="http://schemas.microsoft.com/office/powerpoint/2010/main" val="6564531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블로깅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5527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F048C50-6513-7049-7DEB-7C192C723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67EFCB-9C02-BB06-0788-FAD7988F6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B573B403-D124-A1D8-387D-52A548D8A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>
                <a:cs typeface="Calibri"/>
                <a:sym typeface="Calibri"/>
              </a:rPr>
              <a:t>블로깅</a:t>
            </a:r>
            <a:r>
              <a:rPr lang="ko-KR" altLang="ko-KR" dirty="0">
                <a:cs typeface="Calibri"/>
                <a:sym typeface="Calibri"/>
              </a:rPr>
              <a:t> </a:t>
            </a:r>
            <a:r>
              <a:rPr lang="ko-KR" altLang="ko-KR" sz="4800" dirty="0">
                <a:cs typeface="Calibri"/>
                <a:sym typeface="Calibri"/>
              </a:rPr>
              <a:t>Tool</a:t>
            </a:r>
            <a:endParaRPr lang="ko-KR" altLang="en-US" dirty="0"/>
          </a:p>
        </p:txBody>
      </p:sp>
      <p:sp>
        <p:nvSpPr>
          <p:cNvPr id="6" name="Google Shape;202;g1c6ff2b8c7b_1_21">
            <a:extLst>
              <a:ext uri="{FF2B5EF4-FFF2-40B4-BE49-F238E27FC236}">
                <a16:creationId xmlns:a16="http://schemas.microsoft.com/office/drawing/2014/main" id="{1C4EC31F-60CA-1792-19AC-A55216424A9C}"/>
              </a:ext>
            </a:extLst>
          </p:cNvPr>
          <p:cNvSpPr txBox="1">
            <a:spLocks/>
          </p:cNvSpPr>
          <p:nvPr/>
        </p:nvSpPr>
        <p:spPr>
          <a:xfrm>
            <a:off x="2323050" y="1919600"/>
            <a:ext cx="3772950" cy="1509400"/>
          </a:xfrm>
          <a:prstGeom prst="rect">
            <a:avLst/>
          </a:prstGeom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cs typeface="Calibri"/>
                <a:sym typeface="Calibri"/>
              </a:rPr>
              <a:t>Tistory</a:t>
            </a:r>
          </a:p>
          <a:p>
            <a:pPr marL="79375" indent="0">
              <a:lnSpc>
                <a:spcPct val="115000"/>
              </a:lnSpc>
              <a:buSzPts val="2350"/>
              <a:buFont typeface="Arial" panose="020B0604020202020204" pitchFamily="34" charset="0"/>
              <a:buNone/>
            </a:pPr>
            <a:r>
              <a:rPr lang="en-US" altLang="ko-KR" sz="2000">
                <a:cs typeface="Calibri"/>
                <a:sym typeface="Calibri"/>
                <a:hlinkClick r:id="rId2"/>
              </a:rPr>
              <a:t>https://www.tistory.com/</a:t>
            </a:r>
            <a:r>
              <a:rPr lang="en-US" altLang="ko-KR" sz="2000">
                <a:cs typeface="Calibri"/>
                <a:sym typeface="Calibri"/>
              </a:rPr>
              <a:t> </a:t>
            </a:r>
            <a:endParaRPr lang="en-US" sz="2000" dirty="0">
              <a:cs typeface="Calibri"/>
              <a:sym typeface="Calibri"/>
            </a:endParaRPr>
          </a:p>
        </p:txBody>
      </p:sp>
      <p:sp>
        <p:nvSpPr>
          <p:cNvPr id="7" name="Google Shape;206;g1c6ff2b8c7b_1_21">
            <a:extLst>
              <a:ext uri="{FF2B5EF4-FFF2-40B4-BE49-F238E27FC236}">
                <a16:creationId xmlns:a16="http://schemas.microsoft.com/office/drawing/2014/main" id="{E8FB726D-8855-D321-0386-A722A9B56BE4}"/>
              </a:ext>
            </a:extLst>
          </p:cNvPr>
          <p:cNvSpPr txBox="1">
            <a:spLocks/>
          </p:cNvSpPr>
          <p:nvPr/>
        </p:nvSpPr>
        <p:spPr>
          <a:xfrm>
            <a:off x="2406139" y="3733169"/>
            <a:ext cx="2959946" cy="1274808"/>
          </a:xfrm>
          <a:prstGeom prst="rect">
            <a:avLst/>
          </a:prstGeom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>
                <a:cs typeface="Calibri"/>
                <a:sym typeface="Calibri"/>
              </a:rPr>
              <a:t>Velog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000" u="sng">
                <a:solidFill>
                  <a:schemeClr val="hlink"/>
                </a:solidFill>
                <a:cs typeface="Calibri"/>
                <a:sym typeface="Calibri"/>
                <a:hlinkClick r:id="rId3"/>
              </a:rPr>
              <a:t>https://velog.io/</a:t>
            </a:r>
            <a:endParaRPr lang="en-US" sz="2000" dirty="0">
              <a:cs typeface="Calibri"/>
              <a:sym typeface="Calibri"/>
            </a:endParaRPr>
          </a:p>
        </p:txBody>
      </p:sp>
      <p:pic>
        <p:nvPicPr>
          <p:cNvPr id="8" name="Google Shape;205;g1c6ff2b8c7b_1_21">
            <a:extLst>
              <a:ext uri="{FF2B5EF4-FFF2-40B4-BE49-F238E27FC236}">
                <a16:creationId xmlns:a16="http://schemas.microsoft.com/office/drawing/2014/main" id="{F43E631B-06DD-8F39-6F2C-5F55DD9C4F8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31450" y="3815807"/>
            <a:ext cx="1000800" cy="1000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2" descr="티스토리 - TISTORY – Apps on Google Play">
            <a:extLst>
              <a:ext uri="{FF2B5EF4-FFF2-40B4-BE49-F238E27FC236}">
                <a16:creationId xmlns:a16="http://schemas.microsoft.com/office/drawing/2014/main" id="{F37CBDD9-B000-2A0F-983A-98D7A4C6BC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2675" y="1778600"/>
            <a:ext cx="1258350" cy="1258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6" descr="워드 프레스 - 무료 소셜 미디어개 아이콘">
            <a:extLst>
              <a:ext uri="{FF2B5EF4-FFF2-40B4-BE49-F238E27FC236}">
                <a16:creationId xmlns:a16="http://schemas.microsoft.com/office/drawing/2014/main" id="{7D8F5D57-96D6-DE56-9084-AFFD002450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87902" y="2505219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8" descr="로그인 - 포블로그 : 블로그 체험단 마케팅 서비스">
            <a:extLst>
              <a:ext uri="{FF2B5EF4-FFF2-40B4-BE49-F238E27FC236}">
                <a16:creationId xmlns:a16="http://schemas.microsoft.com/office/drawing/2014/main" id="{B7689260-1B7D-899F-AD4A-3F3674041F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3779" y="3585219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네이버 블로그 - Naver Blog 4.1.41 APK Download by NAVER Corp. - APKMirror">
            <a:extLst>
              <a:ext uri="{FF2B5EF4-FFF2-40B4-BE49-F238E27FC236}">
                <a16:creationId xmlns:a16="http://schemas.microsoft.com/office/drawing/2014/main" id="{94BDB6B8-492C-0217-7AB8-5DEE82830D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3779" y="2349000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38068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48E373E-4A6F-3DAF-FFA9-1C87175CE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2400" dirty="0">
                <a:hlinkClick r:id="rId3"/>
              </a:rPr>
              <a:t>https://bit.ly/3wAE0oE</a:t>
            </a:r>
            <a:endParaRPr lang="en-US" altLang="ko-KR" sz="2400" b="1" dirty="0"/>
          </a:p>
          <a:p>
            <a:pPr marL="0" indent="0">
              <a:buNone/>
            </a:pPr>
            <a:r>
              <a:rPr lang="en-US" altLang="ko-KR" sz="2400" dirty="0"/>
              <a:t> </a:t>
            </a:r>
            <a:endParaRPr lang="ko-KR" altLang="en-US" sz="24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3F145A-51BC-57C6-435B-A95F1916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BB95329-B585-0642-B798-29BBEBE92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07BCF03-A98D-E9EC-D2A0-221698B1F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블로깅</a:t>
            </a:r>
            <a:r>
              <a:rPr lang="ko-KR" altLang="en-US" dirty="0"/>
              <a:t> 가이드 확인하기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9973E04-4F51-87BA-B101-90CD43CAA8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6557" y="782606"/>
            <a:ext cx="4273076" cy="5292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2381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F3F641-8BE2-2645-56B6-2BBD5CD1EF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제목</a:t>
            </a:r>
            <a:endParaRPr lang="en-US" altLang="ko-KR" sz="2400" dirty="0"/>
          </a:p>
          <a:p>
            <a:pPr marL="457200" lvl="1" indent="0">
              <a:buNone/>
            </a:pPr>
            <a:r>
              <a:rPr lang="en-US" altLang="ko-KR" sz="2000" b="1" dirty="0">
                <a:solidFill>
                  <a:srgbClr val="6EC173"/>
                </a:solidFill>
              </a:rPr>
              <a:t>[</a:t>
            </a:r>
            <a:r>
              <a:rPr lang="ko-KR" altLang="en-US" sz="2000" b="1" dirty="0">
                <a:solidFill>
                  <a:srgbClr val="6EC173"/>
                </a:solidFill>
              </a:rPr>
              <a:t>새싹</a:t>
            </a:r>
            <a:r>
              <a:rPr lang="en-US" altLang="ko-KR" sz="2000" b="1" dirty="0">
                <a:solidFill>
                  <a:srgbClr val="6EC173"/>
                </a:solidFill>
              </a:rPr>
              <a:t>x</a:t>
            </a:r>
            <a:r>
              <a:rPr lang="ko-KR" altLang="en-US" sz="2000" b="1" dirty="0" err="1">
                <a:solidFill>
                  <a:srgbClr val="6EC173"/>
                </a:solidFill>
              </a:rPr>
              <a:t>코딩온</a:t>
            </a:r>
            <a:r>
              <a:rPr lang="en-US" altLang="ko-KR" sz="2000" b="1" dirty="0">
                <a:solidFill>
                  <a:srgbClr val="6EC173"/>
                </a:solidFill>
              </a:rPr>
              <a:t>] + </a:t>
            </a:r>
            <a:r>
              <a:rPr lang="ko-KR" altLang="en-US" sz="2000" b="1" dirty="0" err="1">
                <a:solidFill>
                  <a:srgbClr val="6EC173"/>
                </a:solidFill>
              </a:rPr>
              <a:t>과정명</a:t>
            </a:r>
            <a:r>
              <a:rPr lang="ko-KR" altLang="en-US" sz="2000" b="1" dirty="0">
                <a:solidFill>
                  <a:srgbClr val="6EC173"/>
                </a:solidFill>
              </a:rPr>
              <a:t> </a:t>
            </a:r>
            <a:r>
              <a:rPr lang="en-US" altLang="ko-KR" sz="2000" b="1" dirty="0">
                <a:solidFill>
                  <a:srgbClr val="6EC173"/>
                </a:solidFill>
              </a:rPr>
              <a:t>+ </a:t>
            </a:r>
            <a:r>
              <a:rPr lang="ko-KR" altLang="en-US" sz="2000" b="1" dirty="0">
                <a:solidFill>
                  <a:srgbClr val="6EC173"/>
                </a:solidFill>
              </a:rPr>
              <a:t>주차 </a:t>
            </a:r>
            <a:r>
              <a:rPr lang="en-US" altLang="ko-KR" sz="2000" b="1" dirty="0">
                <a:solidFill>
                  <a:srgbClr val="6EC173"/>
                </a:solidFill>
              </a:rPr>
              <a:t>+ ‘</a:t>
            </a:r>
            <a:r>
              <a:rPr lang="ko-KR" altLang="en-US" sz="2000" b="1" dirty="0">
                <a:solidFill>
                  <a:srgbClr val="6EC173"/>
                </a:solidFill>
              </a:rPr>
              <a:t>회고’ </a:t>
            </a:r>
            <a:r>
              <a:rPr lang="en-US" altLang="ko-KR" sz="2000" b="1" dirty="0">
                <a:solidFill>
                  <a:srgbClr val="6EC173"/>
                </a:solidFill>
              </a:rPr>
              <a:t>+ </a:t>
            </a:r>
            <a:r>
              <a:rPr lang="ko-KR" altLang="en-US" sz="2000" b="1" dirty="0" err="1">
                <a:solidFill>
                  <a:srgbClr val="6EC173"/>
                </a:solidFill>
              </a:rPr>
              <a:t>블로깅</a:t>
            </a:r>
            <a:r>
              <a:rPr lang="ko-KR" altLang="en-US" sz="2000" b="1" dirty="0">
                <a:solidFill>
                  <a:srgbClr val="6EC173"/>
                </a:solidFill>
              </a:rPr>
              <a:t> 주제 </a:t>
            </a:r>
            <a:endParaRPr lang="en-US" altLang="ko-KR" sz="2000" b="1" dirty="0">
              <a:solidFill>
                <a:srgbClr val="6EC173"/>
              </a:solidFill>
            </a:endParaRPr>
          </a:p>
          <a:p>
            <a:pPr marL="457200" lvl="1" indent="0">
              <a:buNone/>
            </a:pPr>
            <a:r>
              <a:rPr lang="en-US" altLang="ko-KR" sz="2000" dirty="0"/>
              <a:t>Ex) [</a:t>
            </a:r>
            <a:r>
              <a:rPr lang="ko-KR" altLang="en-US" sz="2000" dirty="0"/>
              <a:t>새싹</a:t>
            </a:r>
            <a:r>
              <a:rPr lang="en-US" altLang="ko-KR" sz="2000" dirty="0"/>
              <a:t>x</a:t>
            </a:r>
            <a:r>
              <a:rPr lang="ko-KR" altLang="en-US" sz="2000" dirty="0" err="1"/>
              <a:t>코딩온</a:t>
            </a:r>
            <a:r>
              <a:rPr lang="en-US" altLang="ko-KR" sz="2000" dirty="0"/>
              <a:t>] </a:t>
            </a:r>
            <a:r>
              <a:rPr lang="ko-KR" altLang="en-US" sz="2000" dirty="0"/>
              <a:t>웹 개발자 부트캠프 과정 </a:t>
            </a:r>
            <a:r>
              <a:rPr lang="en-US" altLang="ko-KR" sz="2000" dirty="0"/>
              <a:t>1</a:t>
            </a:r>
            <a:r>
              <a:rPr lang="ko-KR" altLang="en-US" sz="2000" dirty="0"/>
              <a:t>주차 회고 </a:t>
            </a:r>
            <a:r>
              <a:rPr lang="en-US" altLang="ko-KR" sz="2000" dirty="0"/>
              <a:t>| HTML </a:t>
            </a:r>
            <a:r>
              <a:rPr lang="ko-KR" altLang="en-US" sz="2000" dirty="0"/>
              <a:t>태그 </a:t>
            </a:r>
            <a:endParaRPr lang="en-US" altLang="ko-KR" sz="2000" dirty="0"/>
          </a:p>
          <a:p>
            <a:pPr marL="457200" lvl="1" indent="0">
              <a:buNone/>
            </a:pPr>
            <a:endParaRPr lang="en-US" altLang="ko-KR" sz="2000" dirty="0"/>
          </a:p>
          <a:p>
            <a:r>
              <a:rPr lang="ko-KR" altLang="en-US" sz="2400" dirty="0"/>
              <a:t>내용</a:t>
            </a:r>
            <a:endParaRPr lang="en-US" altLang="ko-KR" sz="2400" dirty="0"/>
          </a:p>
          <a:p>
            <a:pPr marL="457200" lvl="1" indent="0">
              <a:buNone/>
            </a:pPr>
            <a:r>
              <a:rPr lang="ko-KR" altLang="en-US" sz="2000" dirty="0"/>
              <a:t>서론 → 본론 → 결론</a:t>
            </a:r>
            <a:r>
              <a:rPr lang="en-US" altLang="ko-KR" sz="2000" dirty="0"/>
              <a:t>(</a:t>
            </a:r>
            <a:r>
              <a:rPr lang="ko-KR" altLang="en-US" sz="2000" dirty="0"/>
              <a:t>회고</a:t>
            </a:r>
            <a:r>
              <a:rPr lang="en-US" altLang="ko-KR" sz="2000" dirty="0"/>
              <a:t>)</a:t>
            </a:r>
          </a:p>
          <a:p>
            <a:pPr marL="457200" lvl="1" indent="0">
              <a:buNone/>
            </a:pPr>
            <a:endParaRPr lang="en-US" altLang="ko-KR" sz="2000" dirty="0"/>
          </a:p>
          <a:p>
            <a:r>
              <a:rPr lang="ko-KR" altLang="en-US" sz="2400" dirty="0"/>
              <a:t>주기</a:t>
            </a:r>
            <a:endParaRPr lang="en-US" altLang="ko-KR" sz="2400" dirty="0"/>
          </a:p>
          <a:p>
            <a:pPr marL="457200" lvl="1" indent="0">
              <a:buNone/>
            </a:pPr>
            <a:r>
              <a:rPr lang="ko-KR" altLang="en-US" sz="2000" dirty="0"/>
              <a:t>일주일에 </a:t>
            </a:r>
            <a:r>
              <a:rPr lang="ko-KR" altLang="en-US" sz="2000" b="1" dirty="0">
                <a:solidFill>
                  <a:srgbClr val="6EC173"/>
                </a:solidFill>
              </a:rPr>
              <a:t>최소 </a:t>
            </a:r>
            <a:r>
              <a:rPr lang="en-US" altLang="ko-KR" sz="2000" b="1" dirty="0">
                <a:solidFill>
                  <a:srgbClr val="6EC173"/>
                </a:solidFill>
              </a:rPr>
              <a:t>2</a:t>
            </a:r>
            <a:r>
              <a:rPr lang="ko-KR" altLang="en-US" sz="2000" b="1" dirty="0">
                <a:solidFill>
                  <a:srgbClr val="6EC173"/>
                </a:solidFill>
              </a:rPr>
              <a:t>번</a:t>
            </a:r>
            <a:r>
              <a:rPr lang="en-US" altLang="ko-KR" sz="2000" dirty="0"/>
              <a:t>!</a:t>
            </a:r>
          </a:p>
          <a:p>
            <a:pPr marL="457200" lvl="1" indent="0">
              <a:buNone/>
            </a:pPr>
            <a:r>
              <a:rPr lang="en-US" altLang="ko-KR" sz="2000" dirty="0"/>
              <a:t>1</a:t>
            </a:r>
            <a:r>
              <a:rPr lang="ko-KR" altLang="en-US" sz="2000" dirty="0"/>
              <a:t>개의 프로젝트당 </a:t>
            </a:r>
            <a:r>
              <a:rPr lang="en-US" altLang="ko-KR" sz="2000" b="1" dirty="0">
                <a:solidFill>
                  <a:srgbClr val="6EC173"/>
                </a:solidFill>
              </a:rPr>
              <a:t>1</a:t>
            </a:r>
            <a:r>
              <a:rPr lang="ko-KR" altLang="en-US" sz="2000" b="1" dirty="0">
                <a:solidFill>
                  <a:srgbClr val="6EC173"/>
                </a:solidFill>
              </a:rPr>
              <a:t>개의 회고록</a:t>
            </a:r>
            <a:r>
              <a:rPr lang="en-US" altLang="ko-KR" sz="2000" dirty="0"/>
              <a:t>!</a:t>
            </a:r>
          </a:p>
          <a:p>
            <a:pPr marL="457200" lvl="1" indent="0">
              <a:buNone/>
            </a:pPr>
            <a:r>
              <a:rPr lang="ko-KR" altLang="en-US" sz="2000" dirty="0"/>
              <a:t>매주 링크를 </a:t>
            </a:r>
            <a:r>
              <a:rPr lang="en-US" altLang="ko-KR" sz="2000" b="1" dirty="0">
                <a:solidFill>
                  <a:srgbClr val="6EC173"/>
                </a:solidFill>
              </a:rPr>
              <a:t>Slack #</a:t>
            </a:r>
            <a:r>
              <a:rPr lang="ko-KR" altLang="en-US" sz="2000" b="1" dirty="0" err="1">
                <a:solidFill>
                  <a:srgbClr val="6EC173"/>
                </a:solidFill>
              </a:rPr>
              <a:t>블로깅</a:t>
            </a:r>
            <a:r>
              <a:rPr lang="ko-KR" altLang="en-US" sz="2000" b="1" dirty="0">
                <a:solidFill>
                  <a:srgbClr val="6EC173"/>
                </a:solidFill>
              </a:rPr>
              <a:t> 채널</a:t>
            </a:r>
            <a:r>
              <a:rPr lang="ko-KR" altLang="en-US" sz="2000" dirty="0"/>
              <a:t>에 댓글로 올리고 크루 리더에게 피드백 받기</a:t>
            </a:r>
            <a:endParaRPr lang="en-US" altLang="ko-KR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5DDCAEA-3EB0-37C5-77AB-7F4D96A08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497721-578F-2307-C807-79E2C407B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7D3343-188B-9577-C815-93C366B5D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블로그 작성법</a:t>
            </a:r>
          </a:p>
        </p:txBody>
      </p:sp>
      <p:pic>
        <p:nvPicPr>
          <p:cNvPr id="12" name="그림 11" descr="텍스트, 스크린샷, 폰트이(가) 표시된 사진&#10;&#10;자동 생성된 설명">
            <a:extLst>
              <a:ext uri="{FF2B5EF4-FFF2-40B4-BE49-F238E27FC236}">
                <a16:creationId xmlns:a16="http://schemas.microsoft.com/office/drawing/2014/main" id="{4C914F33-A7EA-A7BC-22F9-4EFF0EBDDD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3941" y="3429000"/>
            <a:ext cx="4916866" cy="1397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3183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69E91DF-D512-819C-5446-3F1A6A134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12DA4CF-5E21-549B-FEA6-AF5F91B20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34</a:t>
            </a:fld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17D207A-32E2-37E2-5A5A-16ED5EB740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9785" y="1124252"/>
            <a:ext cx="9312430" cy="4609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755205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1296</TotalTime>
  <Words>1094</Words>
  <Application>Microsoft Office PowerPoint</Application>
  <PresentationFormat>와이드스크린</PresentationFormat>
  <Paragraphs>231</Paragraphs>
  <Slides>34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44" baseType="lpstr">
      <vt:lpstr>-apple-system</vt:lpstr>
      <vt:lpstr>Pretendard</vt:lpstr>
      <vt:lpstr>PretendardGOV</vt:lpstr>
      <vt:lpstr>proxima nova</vt:lpstr>
      <vt:lpstr>강한공군체 Medium</vt:lpstr>
      <vt:lpstr>맑은 고딕</vt:lpstr>
      <vt:lpstr>Arial</vt:lpstr>
      <vt:lpstr>Calibri</vt:lpstr>
      <vt:lpstr>Wingdings</vt:lpstr>
      <vt:lpstr>1_Office 테마</vt:lpstr>
      <vt:lpstr>웹 개발자 부트캠프 과정 OT</vt:lpstr>
      <vt:lpstr>과정 설명</vt:lpstr>
      <vt:lpstr>과정 후기</vt:lpstr>
      <vt:lpstr>코딩온 과정 특징</vt:lpstr>
      <vt:lpstr>커리큘럼</vt:lpstr>
      <vt:lpstr>PowerPoint 프레젠테이션</vt:lpstr>
      <vt:lpstr>출결 안내 및 기준</vt:lpstr>
      <vt:lpstr>커뮤니티 안내</vt:lpstr>
      <vt:lpstr>코딩온 온라인 LMS 안내</vt:lpstr>
      <vt:lpstr>확약서 서명 및 체크리스트 작성</vt:lpstr>
      <vt:lpstr>PowerPoint 프레젠테이션</vt:lpstr>
      <vt:lpstr>코딩온에서는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Git</vt:lpstr>
      <vt:lpstr>좋은 포트폴리오를 가꿔보자!</vt:lpstr>
      <vt:lpstr>PowerPoint 프레젠테이션</vt:lpstr>
      <vt:lpstr>Github 회원가입/로그인</vt:lpstr>
      <vt:lpstr>VS Code 설치 </vt:lpstr>
      <vt:lpstr>VSCode 확장 프로그램 설치</vt:lpstr>
      <vt:lpstr>Git 설치하기 (Windows)</vt:lpstr>
      <vt:lpstr>       Git Bash에서 아래 명령어 입력</vt:lpstr>
      <vt:lpstr>Gihub에서 Repository 만들고 가져오기</vt:lpstr>
      <vt:lpstr>Repository 가져오기</vt:lpstr>
      <vt:lpstr>PowerPoint 프레젠테이션</vt:lpstr>
      <vt:lpstr>Git 명령어</vt:lpstr>
      <vt:lpstr>블로깅</vt:lpstr>
      <vt:lpstr>블로깅 Tool</vt:lpstr>
      <vt:lpstr>블로깅 가이드 확인하기</vt:lpstr>
      <vt:lpstr>블로그 작성법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165</cp:revision>
  <dcterms:created xsi:type="dcterms:W3CDTF">2022-06-26T11:10:22Z</dcterms:created>
  <dcterms:modified xsi:type="dcterms:W3CDTF">2024-05-10T02:52:25Z</dcterms:modified>
</cp:coreProperties>
</file>