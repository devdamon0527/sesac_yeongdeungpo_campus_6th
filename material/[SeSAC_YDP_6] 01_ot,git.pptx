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7"/>
  </p:notesMasterIdLst>
  <p:handoutMasterIdLst>
    <p:handoutMasterId r:id="rId38"/>
  </p:handoutMasterIdLst>
  <p:sldIdLst>
    <p:sldId id="675" r:id="rId2"/>
    <p:sldId id="258" r:id="rId3"/>
    <p:sldId id="295" r:id="rId4"/>
    <p:sldId id="688" r:id="rId5"/>
    <p:sldId id="275" r:id="rId6"/>
    <p:sldId id="276" r:id="rId7"/>
    <p:sldId id="678" r:id="rId8"/>
    <p:sldId id="672" r:id="rId9"/>
    <p:sldId id="673" r:id="rId10"/>
    <p:sldId id="260" r:id="rId11"/>
    <p:sldId id="687" r:id="rId12"/>
    <p:sldId id="303" r:id="rId13"/>
    <p:sldId id="679" r:id="rId14"/>
    <p:sldId id="665" r:id="rId15"/>
    <p:sldId id="291" r:id="rId16"/>
    <p:sldId id="281" r:id="rId17"/>
    <p:sldId id="686" r:id="rId18"/>
    <p:sldId id="674" r:id="rId19"/>
    <p:sldId id="676" r:id="rId20"/>
    <p:sldId id="269" r:id="rId21"/>
    <p:sldId id="262" r:id="rId22"/>
    <p:sldId id="664" r:id="rId23"/>
    <p:sldId id="283" r:id="rId24"/>
    <p:sldId id="271" r:id="rId25"/>
    <p:sldId id="683" r:id="rId26"/>
    <p:sldId id="682" r:id="rId27"/>
    <p:sldId id="270" r:id="rId28"/>
    <p:sldId id="284" r:id="rId29"/>
    <p:sldId id="263" r:id="rId30"/>
    <p:sldId id="684" r:id="rId31"/>
    <p:sldId id="677" r:id="rId32"/>
    <p:sldId id="685" r:id="rId33"/>
    <p:sldId id="670" r:id="rId34"/>
    <p:sldId id="671" r:id="rId35"/>
    <p:sldId id="268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C82F"/>
    <a:srgbClr val="6EC173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72443" autoAdjust="0"/>
  </p:normalViewPr>
  <p:slideViewPr>
    <p:cSldViewPr snapToGrid="0">
      <p:cViewPr varScale="1">
        <p:scale>
          <a:sx n="86" d="100"/>
          <a:sy n="86" d="100"/>
        </p:scale>
        <p:origin x="7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7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7BE8A5B-F9B0-440D-E792-1407864462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F67C43-E62E-9E13-2501-DD63FCBB14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C2981-5314-425A-941B-9AEDC9FC9FEE}" type="datetimeFigureOut">
              <a:rPr lang="ko-KR" altLang="en-US" smtClean="0"/>
              <a:t>2024-05-07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264F6B-8B73-1321-E957-EFD3A7B90E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51CFB6-E57B-5AC7-8DA6-5498D7C7B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D4269-A6C2-4CF5-8B32-532C143F6B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7130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97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이렇게 일단은 계획 중</a:t>
            </a:r>
            <a:r>
              <a:rPr lang="en-US" altLang="ko-KR" dirty="0"/>
              <a:t>~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1</a:t>
            </a:r>
            <a:r>
              <a:rPr lang="ko-KR" altLang="en-US" dirty="0"/>
              <a:t>대 </a:t>
            </a:r>
            <a:r>
              <a:rPr lang="en-US" altLang="ko-KR" dirty="0"/>
              <a:t>1 </a:t>
            </a:r>
            <a:r>
              <a:rPr lang="ko-KR" altLang="en-US" dirty="0"/>
              <a:t>개별 컨설팅이나 취업 연계를 통해 여러분들이 모두 취</a:t>
            </a:r>
            <a:r>
              <a:rPr lang="en-US" altLang="ko-KR" dirty="0"/>
              <a:t>/</a:t>
            </a:r>
            <a:r>
              <a:rPr lang="ko-KR" altLang="en-US" dirty="0"/>
              <a:t>창업에 성공할 수 있도록 도움을 드릴 것이다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교육 기간 동안 백과 프론트 등의 것이 확정되는데</a:t>
            </a:r>
            <a:r>
              <a:rPr lang="en-US" altLang="ko-KR" dirty="0"/>
              <a:t>, </a:t>
            </a:r>
            <a:r>
              <a:rPr lang="ko-KR" altLang="en-US" dirty="0"/>
              <a:t>이때는 최대한 의견을 반영할 것이다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이를 위해 수업은 커리큘럼대로 초반에는 진행되겠지만 </a:t>
            </a:r>
            <a:r>
              <a:rPr lang="ko-KR" altLang="en-US" b="1" dirty="0"/>
              <a:t>상황을 최대한 반영해 유동적으로 진행될 </a:t>
            </a:r>
            <a:r>
              <a:rPr lang="ko-KR" altLang="en-US" dirty="0"/>
              <a:t>것이며</a:t>
            </a:r>
            <a:r>
              <a:rPr lang="en-US" altLang="ko-KR" dirty="0"/>
              <a:t>, </a:t>
            </a:r>
            <a:r>
              <a:rPr lang="ko-KR" altLang="en-US" b="1" dirty="0"/>
              <a:t>이런 유동성이 앞서 말한 성과를 달성하는 데 도움이 된 큰 요인 중 하나</a:t>
            </a:r>
            <a:r>
              <a:rPr lang="ko-KR" altLang="en-US" dirty="0"/>
              <a:t>였다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ko-KR" altLang="en-US" b="1" dirty="0"/>
              <a:t>💡 </a:t>
            </a:r>
            <a:r>
              <a:rPr lang="ko-KR" altLang="en-US" b="1" dirty="0" err="1"/>
              <a:t>버퍼링</a:t>
            </a:r>
            <a:r>
              <a:rPr lang="ko-KR" altLang="en-US" b="1" dirty="0"/>
              <a:t> 수업</a:t>
            </a:r>
          </a:p>
          <a:p>
            <a:r>
              <a:rPr lang="ko-KR" altLang="en-US" dirty="0" err="1"/>
              <a:t>버퍼링</a:t>
            </a:r>
            <a:r>
              <a:rPr lang="ko-KR" altLang="en-US" dirty="0"/>
              <a:t> 수업이란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교육생들의 기본 지식이 다를 수 있으니 </a:t>
            </a:r>
            <a:r>
              <a:rPr lang="en-US" altLang="ko-KR" dirty="0"/>
              <a:t>1~2</a:t>
            </a:r>
            <a:r>
              <a:rPr lang="ko-KR" altLang="en-US" dirty="0"/>
              <a:t>주간 사전 지식을 서로 평탄하게 맞추기 위해 필요한 작업</a:t>
            </a:r>
          </a:p>
          <a:p>
            <a:r>
              <a:rPr lang="en-US" altLang="ko-KR" dirty="0"/>
              <a:t>1~2</a:t>
            </a:r>
            <a:r>
              <a:rPr lang="ko-KR" altLang="en-US" dirty="0"/>
              <a:t>주간 </a:t>
            </a:r>
            <a:r>
              <a:rPr lang="en-US" altLang="ko-KR" dirty="0"/>
              <a:t>000</a:t>
            </a:r>
            <a:r>
              <a:rPr lang="ko-KR" altLang="en-US" dirty="0"/>
              <a:t>를 수업할 건데</a:t>
            </a:r>
            <a:r>
              <a:rPr lang="en-US" altLang="ko-KR" dirty="0"/>
              <a:t>, </a:t>
            </a:r>
            <a:r>
              <a:rPr lang="ko-KR" altLang="en-US" dirty="0"/>
              <a:t>미리 알고 있는 분들은 과제만 해결하면 빨리 집에 가도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처음 </a:t>
            </a:r>
            <a:r>
              <a:rPr lang="en-US" altLang="ko-KR" dirty="0"/>
              <a:t>1~2</a:t>
            </a:r>
            <a:r>
              <a:rPr lang="ko-KR" altLang="en-US" dirty="0"/>
              <a:t>주 간은 </a:t>
            </a:r>
            <a:r>
              <a:rPr lang="ko-KR" altLang="en-US" dirty="0" err="1"/>
              <a:t>버퍼링</a:t>
            </a:r>
            <a:r>
              <a:rPr lang="ko-KR" altLang="en-US" dirty="0"/>
              <a:t> 수업을 할 것이기 때문에 사전 지식이 많으면 지루하게 느껴질 수 있고</a:t>
            </a:r>
            <a:r>
              <a:rPr lang="en-US" altLang="ko-KR" dirty="0"/>
              <a:t>, </a:t>
            </a:r>
            <a:r>
              <a:rPr lang="ko-KR" altLang="en-US" dirty="0"/>
              <a:t>사전 지식이 부족하면 </a:t>
            </a:r>
            <a:r>
              <a:rPr lang="ko-KR" altLang="en-US" dirty="0" err="1"/>
              <a:t>빡세게</a:t>
            </a:r>
            <a:r>
              <a:rPr lang="ko-KR" altLang="en-US" dirty="0"/>
              <a:t> 느껴질 수 있다</a:t>
            </a:r>
            <a:r>
              <a:rPr lang="en-US" altLang="ko-KR" dirty="0"/>
              <a:t>. </a:t>
            </a:r>
            <a:r>
              <a:rPr lang="ko-KR" altLang="en-US" dirty="0"/>
              <a:t>이런 현상은 모두 자연스러운 것이고</a:t>
            </a:r>
            <a:r>
              <a:rPr lang="en-US" altLang="ko-KR" dirty="0"/>
              <a:t>, 3</a:t>
            </a:r>
            <a:r>
              <a:rPr lang="ko-KR" altLang="en-US" dirty="0"/>
              <a:t>주가 되었을 때는 모두 적응이 되었을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그때까지 모두 힘내시고 어려운 게 있으면 여기 상주 운영 선생님이 도움을 주실 것이다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584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63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맞춤 수업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1</a:t>
            </a:r>
            <a:r>
              <a:rPr lang="ko-KR" altLang="en-US" dirty="0"/>
              <a:t>대 </a:t>
            </a:r>
            <a:r>
              <a:rPr lang="en-US" altLang="ko-KR" dirty="0"/>
              <a:t>1 </a:t>
            </a:r>
            <a:r>
              <a:rPr lang="ko-KR" altLang="en-US" dirty="0"/>
              <a:t>개별 컨설팅이나 취업 연계를 통해 여러분들이 모두 취</a:t>
            </a:r>
            <a:r>
              <a:rPr lang="en-US" altLang="ko-KR" dirty="0"/>
              <a:t>/</a:t>
            </a:r>
            <a:r>
              <a:rPr lang="ko-KR" altLang="en-US" dirty="0"/>
              <a:t>창업에 성공할 수 있도록 도움을 드릴 것이다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6</a:t>
            </a:r>
            <a:r>
              <a:rPr lang="ko-KR" altLang="en-US" dirty="0"/>
              <a:t>개월 교육이 끝나기 전에 백과 프론트에 대한 것들이 확정이 된다</a:t>
            </a:r>
            <a:r>
              <a:rPr lang="en-US" altLang="ko-KR" dirty="0"/>
              <a:t>. </a:t>
            </a:r>
            <a:r>
              <a:rPr lang="ko-KR" altLang="en-US" dirty="0"/>
              <a:t>이때 최대한 여러분들의 의견을 반영해 수업을 </a:t>
            </a:r>
            <a:r>
              <a:rPr lang="ko-KR" altLang="en-US" dirty="0" err="1"/>
              <a:t>진행해나가고</a:t>
            </a:r>
            <a:r>
              <a:rPr lang="ko-KR" altLang="en-US" dirty="0"/>
              <a:t> 도움을 드릴 것이다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이를 위해 수업의 커리큘럼은 초반에는 그대로 진행해 나가겠지만</a:t>
            </a:r>
            <a:r>
              <a:rPr lang="en-US" altLang="ko-KR" dirty="0"/>
              <a:t>, </a:t>
            </a:r>
            <a:r>
              <a:rPr lang="ko-KR" altLang="en-US" dirty="0"/>
              <a:t>상황을 최대한 반영해 유동적으로 진행될 것이다</a:t>
            </a:r>
            <a:r>
              <a:rPr lang="en-US" altLang="ko-KR" dirty="0"/>
              <a:t>. </a:t>
            </a:r>
            <a:r>
              <a:rPr lang="ko-KR" altLang="en-US" dirty="0"/>
              <a:t>이런 유동성이 앞서 말한 성과를 달성하는데 도움이 된 큰 요인 중 하나였다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버퍼링</a:t>
            </a:r>
            <a:r>
              <a:rPr lang="ko-KR" altLang="en-US" dirty="0"/>
              <a:t> 수업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짧게는 </a:t>
            </a:r>
            <a:r>
              <a:rPr lang="en-US" altLang="ko-KR" dirty="0"/>
              <a:t>2</a:t>
            </a:r>
            <a:r>
              <a:rPr lang="ko-KR" altLang="en-US" dirty="0"/>
              <a:t>주</a:t>
            </a:r>
            <a:r>
              <a:rPr lang="en-US" altLang="ko-KR" dirty="0"/>
              <a:t>, </a:t>
            </a:r>
            <a:r>
              <a:rPr lang="ko-KR" altLang="en-US" dirty="0"/>
              <a:t>길게는 한 달 간은 </a:t>
            </a:r>
            <a:r>
              <a:rPr lang="ko-KR" altLang="en-US" dirty="0" err="1"/>
              <a:t>버퍼링</a:t>
            </a:r>
            <a:r>
              <a:rPr lang="ko-KR" altLang="en-US" dirty="0"/>
              <a:t> 수업 형태로 수업을 진행할 것이다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교육생분들의 기본 지식이 모두 다를 수 있으니</a:t>
            </a:r>
            <a:r>
              <a:rPr lang="en-US" altLang="ko-KR" dirty="0"/>
              <a:t>, </a:t>
            </a:r>
            <a:r>
              <a:rPr lang="ko-KR" altLang="en-US" dirty="0"/>
              <a:t>그 사전 지식을 서로 평탄하게 맞추기 위해 필요한 작업이 </a:t>
            </a:r>
            <a:r>
              <a:rPr lang="ko-KR" altLang="en-US" dirty="0" err="1"/>
              <a:t>버펄이</a:t>
            </a:r>
            <a:r>
              <a:rPr lang="ko-KR" altLang="en-US" dirty="0"/>
              <a:t> 수업이다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 err="1"/>
              <a:t>버퍼링</a:t>
            </a:r>
            <a:r>
              <a:rPr lang="ko-KR" altLang="en-US" dirty="0"/>
              <a:t> 수업 도중에는 사전 지식이 많은 분들은 지루하게 느껴질 수 있고</a:t>
            </a:r>
            <a:r>
              <a:rPr lang="en-US" altLang="ko-KR" dirty="0"/>
              <a:t>, </a:t>
            </a:r>
            <a:r>
              <a:rPr lang="ko-KR" altLang="en-US" dirty="0"/>
              <a:t>사전 지식이 부족하신 분들은 힘들게 느껴질 수 있다</a:t>
            </a:r>
            <a:r>
              <a:rPr lang="en-US" altLang="ko-KR" dirty="0"/>
              <a:t>. </a:t>
            </a:r>
            <a:r>
              <a:rPr lang="ko-KR" altLang="en-US" dirty="0"/>
              <a:t>이런 현상은 모두 자연스러운 것이고</a:t>
            </a:r>
            <a:r>
              <a:rPr lang="en-US" altLang="ko-KR" dirty="0"/>
              <a:t>, </a:t>
            </a:r>
            <a:r>
              <a:rPr lang="ko-KR" altLang="en-US" dirty="0"/>
              <a:t>한 달 뒤 </a:t>
            </a:r>
            <a:r>
              <a:rPr lang="ko-KR" altLang="en-US" dirty="0" err="1"/>
              <a:t>버퍼링</a:t>
            </a:r>
            <a:r>
              <a:rPr lang="ko-KR" altLang="en-US" dirty="0"/>
              <a:t> 수업이 모두 끝나셨을 때는 모두 적응이 되었을 것이다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477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공부를 하시면 가장 힘든 시기가 처음 한달</a:t>
            </a:r>
            <a:r>
              <a:rPr lang="en-US" altLang="ko-KR" dirty="0"/>
              <a:t>, 3</a:t>
            </a:r>
            <a:r>
              <a:rPr lang="ko-KR" altLang="en-US" dirty="0"/>
              <a:t>달이 되는 시점</a:t>
            </a:r>
            <a:r>
              <a:rPr lang="en-US" altLang="ko-KR" dirty="0"/>
              <a:t>(50%), 80%</a:t>
            </a:r>
            <a:r>
              <a:rPr lang="ko-KR" altLang="en-US" dirty="0"/>
              <a:t>가 되는 시점이 가장 힘드실 거다</a:t>
            </a:r>
            <a:r>
              <a:rPr lang="en-US" altLang="ko-KR" dirty="0"/>
              <a:t>. 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처음 한 달 동안 왜 나만 못하지</a:t>
            </a:r>
            <a:r>
              <a:rPr lang="en-US" altLang="ko-KR" dirty="0"/>
              <a:t>? </a:t>
            </a:r>
            <a:r>
              <a:rPr lang="ko-KR" altLang="en-US" dirty="0"/>
              <a:t>나는 이 길이 잘 안 맞는가</a:t>
            </a:r>
            <a:r>
              <a:rPr lang="en-US" altLang="ko-KR" dirty="0"/>
              <a:t>? </a:t>
            </a:r>
            <a:r>
              <a:rPr lang="ko-KR" altLang="en-US" dirty="0"/>
              <a:t>라는 생각이 분명히 드실 것이다</a:t>
            </a:r>
            <a:r>
              <a:rPr lang="en-US" altLang="ko-KR" dirty="0"/>
              <a:t>. </a:t>
            </a: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이 모든 것들은 자연스러운 현상으로 힘든 기간을 참고 견디시면 분명 길이 보이실 겁니다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다른 모든 직무</a:t>
            </a:r>
            <a:r>
              <a:rPr lang="en-US" altLang="ko-KR" dirty="0"/>
              <a:t>, </a:t>
            </a:r>
            <a:r>
              <a:rPr lang="ko-KR" altLang="en-US" dirty="0"/>
              <a:t>지식들이 마찬가지겠지만 개발영역은 특히 더 계단식으로 성장합니다</a:t>
            </a:r>
            <a:r>
              <a:rPr lang="en-US" altLang="ko-KR" dirty="0"/>
              <a:t>. </a:t>
            </a:r>
            <a:r>
              <a:rPr lang="ko-KR" altLang="en-US" dirty="0"/>
              <a:t>내가 왜 안 바뀌지 라고 </a:t>
            </a:r>
            <a:r>
              <a:rPr lang="ko-KR" altLang="en-US" dirty="0" err="1"/>
              <a:t>게속</a:t>
            </a:r>
            <a:r>
              <a:rPr lang="ko-KR" altLang="en-US" dirty="0"/>
              <a:t> 가는 것처럼 </a:t>
            </a:r>
            <a:r>
              <a:rPr lang="ko-KR" altLang="en-US" dirty="0" err="1"/>
              <a:t>보이겟지만</a:t>
            </a:r>
            <a:r>
              <a:rPr lang="en-US" altLang="ko-KR" dirty="0"/>
              <a:t>, </a:t>
            </a:r>
            <a:r>
              <a:rPr lang="ko-KR" altLang="en-US" dirty="0"/>
              <a:t>어느 순간 깨달음을 얻는 것처럼 역량이 확 늘어날 것입니다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정체기 기간 동안 힘드시겠지만 저와 함께 포기하지 말고 꾸준히 노력하면서 얻고자 하는 것을 </a:t>
            </a:r>
            <a:r>
              <a:rPr lang="ko-KR" altLang="en-US" dirty="0" err="1"/>
              <a:t>얻어내봅시다</a:t>
            </a:r>
            <a:r>
              <a:rPr lang="en-US" altLang="ko-KR" dirty="0"/>
              <a:t>. 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3</a:t>
            </a:r>
            <a:r>
              <a:rPr lang="ko-KR" altLang="en-US" dirty="0"/>
              <a:t>개월 시점에는 성장의 폭이 줄어들었다고 느끼실 수 있는데 그것 또한 당연한 수순이겠죠</a:t>
            </a:r>
            <a:r>
              <a:rPr lang="en-US" altLang="ko-KR" dirty="0"/>
              <a:t>? 3</a:t>
            </a:r>
            <a:r>
              <a:rPr lang="ko-KR" altLang="en-US" dirty="0"/>
              <a:t>개월 동안 실력이 향상했으니</a:t>
            </a:r>
            <a:r>
              <a:rPr lang="en-US" altLang="ko-KR" dirty="0"/>
              <a:t>, </a:t>
            </a:r>
            <a:r>
              <a:rPr lang="ko-KR" altLang="en-US" dirty="0"/>
              <a:t>배우는 것이 어려워질 것이고 그와 연관되어 이해가 어렵고 응용이 어려운 건 당연해지는 것입니다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이 모든 어려움을 저와 함께 </a:t>
            </a:r>
            <a:r>
              <a:rPr lang="ko-KR" altLang="en-US" dirty="0" err="1"/>
              <a:t>해결해나가봅시다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351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웬만하면 빠지지 말자</a:t>
            </a:r>
            <a:r>
              <a:rPr lang="en-US" altLang="ko-KR" dirty="0"/>
              <a:t>! </a:t>
            </a:r>
          </a:p>
          <a:p>
            <a:r>
              <a:rPr lang="ko-KR" altLang="en-US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기본적으로 주 </a:t>
            </a:r>
            <a:r>
              <a:rPr lang="en-US" altLang="ko-KR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3</a:t>
            </a:r>
            <a:r>
              <a:rPr lang="ko-KR" altLang="en-US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-apple-system"/>
              </a:rPr>
              <a:t>일 과정이기에 하루에 나가는 진도가 굉장히 타이트 한 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00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20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049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9837-5033-E8CC-A215-EF02DE0D4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A24305-7705-D76E-7641-5985CBEB8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48CC1-237A-6D67-9854-8DD2CFF59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A454ED-AA18-8AA3-0D45-94405B3EE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924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선생님</a:t>
            </a:r>
            <a:r>
              <a:rPr lang="en-US" altLang="ko-KR" dirty="0"/>
              <a:t>, </a:t>
            </a:r>
            <a:r>
              <a:rPr lang="ko-KR" altLang="en-US" dirty="0"/>
              <a:t>강사님 불러도 안가요</a:t>
            </a:r>
            <a:r>
              <a:rPr lang="en-US" altLang="ko-KR" dirty="0"/>
              <a:t>~~ </a:t>
            </a:r>
            <a:r>
              <a:rPr lang="ko-KR" altLang="en-US" dirty="0" err="1"/>
              <a:t>크루리더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864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0FCFC-DEF0-4809-AB35-5DCCCC68A43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751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0FCFC-DEF0-4809-AB35-5DCCCC68A43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858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코딩오울</a:t>
            </a:r>
            <a:r>
              <a:rPr lang="ko-KR" altLang="en-US" dirty="0"/>
              <a:t> 소개 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 err="1"/>
              <a:t>마니또</a:t>
            </a:r>
            <a:r>
              <a:rPr lang="ko-KR" altLang="en-US" dirty="0"/>
              <a:t> 설명 및 종이 배부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크루 자기소개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빙고 게임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105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 명 지목 후 크루가 타 크루 랜덤 지목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0FCFC-DEF0-4809-AB35-5DCCCC68A43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1663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7F51-7D82-7162-AC66-A8512083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BB068F-23F9-F369-25E9-468B3E755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A66899-F11C-3F6C-106C-11075B899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46DC53-3E4E-915D-AB6D-DA1E3ECAD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1A1BA-5463-484A-B77A-5C292E222CA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816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117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288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176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693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862A-0E0D-3A28-40BB-D548036C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E665DB-81BE-4C1D-9F40-920BE9EA9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76334-8B44-0604-EE6F-F49FDA50C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chemeClr val="accent1"/>
                </a:solidFill>
              </a:rPr>
              <a:t>git config --global </a:t>
            </a:r>
            <a:r>
              <a:rPr lang="en-US" altLang="ko-KR" dirty="0" err="1">
                <a:solidFill>
                  <a:schemeClr val="accent1"/>
                </a:solidFill>
              </a:rPr>
              <a:t>core.ignorecase</a:t>
            </a:r>
            <a:r>
              <a:rPr lang="en-US" altLang="ko-KR" dirty="0">
                <a:solidFill>
                  <a:schemeClr val="accent1"/>
                </a:solidFill>
              </a:rPr>
              <a:t> false:</a:t>
            </a:r>
            <a:r>
              <a:rPr lang="ko-KR" altLang="en-US" dirty="0">
                <a:solidFill>
                  <a:schemeClr val="accent1"/>
                </a:solidFill>
              </a:rPr>
              <a:t> 대소문자 구분해달라는 설정</a:t>
            </a:r>
            <a:endParaRPr lang="en-US" altLang="ko-KR" dirty="0">
              <a:solidFill>
                <a:schemeClr val="accent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7AD3D0-3A43-6344-A47F-92A948EE3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481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578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1798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5367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2014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08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4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7714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7213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55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41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7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54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83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882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64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256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58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8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join.slack.com/t/slack-zfd4180/shared_invite/zt-2ihd0ol41-Gp53lC2FtLVwjYkia0FP8g" TargetMode="External"/><Relationship Id="rId3" Type="http://schemas.openxmlformats.org/officeDocument/2006/relationships/hyperlink" Target="https://open.kakao.com/o/gNET8Kme" TargetMode="External"/><Relationship Id="rId7" Type="http://schemas.openxmlformats.org/officeDocument/2006/relationships/hyperlink" Target="https://sesac4.slack.com/join/shared_invite/zt-1brcukxa8-qS57wMPHdJyNtbkrKqBbyQ#/shared-invite/emai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open.kakao.com/o/glc3ilqg" TargetMode="Externa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s://velog.io/" TargetMode="External"/><Relationship Id="rId7" Type="http://schemas.openxmlformats.org/officeDocument/2006/relationships/image" Target="../media/image35.png"/><Relationship Id="rId2" Type="http://schemas.openxmlformats.org/officeDocument/2006/relationships/hyperlink" Target="https://www.tistory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rb.gy/ij9td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22363" y="1041400"/>
            <a:ext cx="9547274" cy="2387600"/>
          </a:xfrm>
        </p:spPr>
        <p:txBody>
          <a:bodyPr/>
          <a:lstStyle/>
          <a:p>
            <a:r>
              <a:rPr lang="ko-KR" altLang="en-US" dirty="0"/>
              <a:t>웹 개발자 부트캠프 과정 </a:t>
            </a:r>
            <a:r>
              <a:rPr lang="en-US" altLang="ko-KR" dirty="0"/>
              <a:t>OT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FF73B3-5C26-5E16-9BDE-BCFF4F85C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547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과정명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b="1" dirty="0" err="1">
                <a:solidFill>
                  <a:srgbClr val="6EC173"/>
                </a:solidFill>
              </a:rPr>
              <a:t>SeSAC</a:t>
            </a:r>
            <a:r>
              <a:rPr lang="en-US" altLang="ko-KR" b="1" dirty="0">
                <a:solidFill>
                  <a:srgbClr val="6EC173"/>
                </a:solidFill>
              </a:rPr>
              <a:t> </a:t>
            </a:r>
            <a:r>
              <a:rPr lang="ko-KR" altLang="en-US" b="1" dirty="0">
                <a:solidFill>
                  <a:srgbClr val="6EC173"/>
                </a:solidFill>
              </a:rPr>
              <a:t>영등포캠퍼스 </a:t>
            </a:r>
            <a:r>
              <a:rPr lang="en-US" altLang="ko-KR" b="1" dirty="0">
                <a:solidFill>
                  <a:srgbClr val="6EC173"/>
                </a:solidFill>
              </a:rPr>
              <a:t>6</a:t>
            </a:r>
            <a:r>
              <a:rPr lang="ko-KR" altLang="en-US" b="1" dirty="0">
                <a:solidFill>
                  <a:srgbClr val="6EC173"/>
                </a:solidFill>
              </a:rPr>
              <a:t>기 웹 개발자 부트캠프</a:t>
            </a:r>
            <a:endParaRPr lang="en-US" altLang="ko-KR" b="1" dirty="0">
              <a:solidFill>
                <a:srgbClr val="6EC173"/>
              </a:solidFill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일정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2024.05.13(</a:t>
            </a:r>
            <a:r>
              <a:rPr lang="ko-KR" altLang="en-US" dirty="0"/>
              <a:t>월</a:t>
            </a:r>
            <a:r>
              <a:rPr lang="en-US" altLang="ko-KR" dirty="0"/>
              <a:t>) ~ 2024.11.15(</a:t>
            </a:r>
            <a:r>
              <a:rPr lang="ko-KR" altLang="en-US" dirty="0"/>
              <a:t>금</a:t>
            </a:r>
            <a:r>
              <a:rPr lang="en-US" altLang="ko-KR" dirty="0"/>
              <a:t>) 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매주 월</a:t>
            </a:r>
            <a:r>
              <a:rPr lang="en-US" altLang="ko-KR" dirty="0"/>
              <a:t>, </a:t>
            </a:r>
            <a:r>
              <a:rPr lang="ko-KR" altLang="en-US" dirty="0"/>
              <a:t>수</a:t>
            </a:r>
            <a:r>
              <a:rPr lang="en-US" altLang="ko-KR" dirty="0"/>
              <a:t>, </a:t>
            </a:r>
            <a:r>
              <a:rPr lang="ko-KR" altLang="en-US" dirty="0"/>
              <a:t>금 </a:t>
            </a:r>
            <a:r>
              <a:rPr lang="en-US" altLang="ko-KR" dirty="0"/>
              <a:t>13:00 ~ 19:00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장소</a:t>
            </a:r>
            <a:endParaRPr lang="en-US" altLang="ko-KR" dirty="0"/>
          </a:p>
          <a:p>
            <a:pPr lvl="1"/>
            <a:r>
              <a:rPr lang="en-US" altLang="ko-KR" dirty="0" err="1"/>
              <a:t>SeSAC</a:t>
            </a:r>
            <a:r>
              <a:rPr lang="en-US" altLang="ko-KR" dirty="0"/>
              <a:t> </a:t>
            </a:r>
            <a:r>
              <a:rPr lang="ko-KR" altLang="en-US" dirty="0"/>
              <a:t>영등포캠퍼스 </a:t>
            </a:r>
            <a:r>
              <a:rPr lang="en-US" altLang="ko-KR" dirty="0"/>
              <a:t>2</a:t>
            </a:r>
            <a:r>
              <a:rPr lang="ko-KR" altLang="en-US" dirty="0"/>
              <a:t>층 클래스</a:t>
            </a:r>
            <a:r>
              <a:rPr lang="en-US" altLang="ko-KR" dirty="0"/>
              <a:t>4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297765-B987-FA4F-C411-BA22375C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40739-C760-4828-B24F-429363A89B3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866ED4-0F74-48BC-84C6-4248567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CF676A-C128-F5C3-54C9-26BA3F2F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과정 설명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6AC6EF-DC8C-61E2-36BC-C563A40DE552}"/>
              </a:ext>
            </a:extLst>
          </p:cNvPr>
          <p:cNvSpPr/>
          <p:nvPr/>
        </p:nvSpPr>
        <p:spPr>
          <a:xfrm>
            <a:off x="7693572" y="5281448"/>
            <a:ext cx="1087821" cy="991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069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EEF68-3BF6-EF45-0154-00BB91AF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커리큘럼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5050DE8-20B8-115C-553F-0315E19D8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31743"/>
            <a:ext cx="10515600" cy="7986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※ </a:t>
            </a:r>
            <a:r>
              <a:rPr lang="ko-KR" altLang="en-US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커리큘럼 및 수업 진도는 크루들의 요청 또는 기타 사유로 인하여 속도 조절 및 내용이 변경 될 수 있습니다</a:t>
            </a:r>
            <a:r>
              <a:rPr lang="en-US" altLang="ko-KR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br>
              <a:rPr lang="ko-KR" altLang="en-US" sz="1400" dirty="0"/>
            </a:br>
            <a:r>
              <a:rPr lang="en-US" altLang="ko-KR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※ </a:t>
            </a:r>
            <a:r>
              <a:rPr lang="ko-KR" altLang="en-US" sz="1400" b="0" i="0" dirty="0" err="1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프론트엔드를</a:t>
            </a:r>
            <a:r>
              <a:rPr lang="ko-KR" altLang="en-US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목표로 하는 크루는 </a:t>
            </a:r>
            <a:r>
              <a:rPr lang="ko-KR" altLang="en-US" sz="1400" b="0" i="0" dirty="0" err="1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프론트엔드</a:t>
            </a:r>
            <a:r>
              <a:rPr lang="ko-KR" altLang="en-US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과정 종료 후 조기 취업 연계</a:t>
            </a:r>
            <a:r>
              <a:rPr lang="en-US" altLang="ko-KR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/1:1 </a:t>
            </a:r>
            <a:r>
              <a:rPr lang="ko-KR" altLang="en-US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맞춤 취업 컨설팅을 받으실 수 있습니다</a:t>
            </a:r>
            <a:r>
              <a:rPr lang="en-US" altLang="ko-KR" sz="1400" b="0" i="0" dirty="0">
                <a:solidFill>
                  <a:srgbClr val="5FC32A"/>
                </a:solidFill>
                <a:effectLst/>
                <a:highlight>
                  <a:srgbClr val="FFFFFF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74CAE6-9D4F-D463-C895-6AA13453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40B0DF-C886-35CB-84E8-3A37F925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1E332B1-2398-F5BB-20D3-344BABEAB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88" y="2018857"/>
            <a:ext cx="10322423" cy="378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47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EEF68-3BF6-EF45-0154-00BB91AF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코딩온</a:t>
            </a:r>
            <a:r>
              <a:rPr lang="ko-KR" altLang="en-US" dirty="0"/>
              <a:t> 과정 특징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5050DE8-20B8-115C-553F-0315E19D8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31743"/>
            <a:ext cx="10515600" cy="7986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800" b="0" i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>기획부터 배포까지 협업프로젝트로 완성하는 </a:t>
            </a:r>
            <a:r>
              <a:rPr lang="ko-KR" altLang="en-US" sz="1800" b="0" i="0" dirty="0" err="1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>풀스택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> 웹 개발자 취업 부트캠프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>!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endParaRPr lang="en-US" altLang="ko-KR" sz="1800" b="0" i="0" dirty="0">
              <a:solidFill>
                <a:srgbClr val="000000"/>
              </a:solidFill>
              <a:effectLst/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b="1" i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>코딩을 처음 시작하는 입문자도 프로 웹 개발자가 될 수 있습니다</a:t>
            </a:r>
            <a:r>
              <a:rPr lang="en-US" altLang="ko-KR" sz="1800" b="1" i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>!</a:t>
            </a:r>
            <a:endParaRPr lang="ko-KR" altLang="en-US" sz="18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74CAE6-9D4F-D463-C895-6AA13453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40B0DF-C886-35CB-84E8-3A37F925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471F79-19D3-130D-8A6A-7FFC5F766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975" y="2208428"/>
            <a:ext cx="7304049" cy="400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6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4C950B9-4BBE-BD19-B2FD-9EDB95106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7406" y="1042704"/>
            <a:ext cx="7542529" cy="251242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3500" b="1" dirty="0">
                <a:solidFill>
                  <a:srgbClr val="6EC173"/>
                </a:solidFill>
              </a:rPr>
              <a:t>1. </a:t>
            </a:r>
            <a:r>
              <a:rPr lang="ko-KR" altLang="en-US" sz="3500" b="1" dirty="0" err="1">
                <a:solidFill>
                  <a:srgbClr val="6EC173"/>
                </a:solidFill>
              </a:rPr>
              <a:t>버퍼링</a:t>
            </a:r>
            <a:r>
              <a:rPr lang="ko-KR" altLang="en-US" sz="3500" b="1" dirty="0">
                <a:solidFill>
                  <a:srgbClr val="6EC173"/>
                </a:solidFill>
              </a:rPr>
              <a:t> 수업</a:t>
            </a:r>
            <a:endParaRPr lang="en-US" altLang="ko-KR" sz="3500" b="1" dirty="0">
              <a:solidFill>
                <a:srgbClr val="6EC173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사전 지식을 서로 평탄하게 맞추기 위한 수업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479163-CD24-16A0-6953-E1368AD2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A69541-BCCC-043B-4836-056FF9FD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2050" name="Picture 2" descr="아프리카TV OGQ 마켓">
            <a:extLst>
              <a:ext uri="{FF2B5EF4-FFF2-40B4-BE49-F238E27FC236}">
                <a16:creationId xmlns:a16="http://schemas.microsoft.com/office/drawing/2014/main" id="{AA441FC9-2EBF-3EC0-A887-5FBA50E37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76" y="664670"/>
            <a:ext cx="2191407" cy="219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초소형 테트리스 만들기">
            <a:extLst>
              <a:ext uri="{FF2B5EF4-FFF2-40B4-BE49-F238E27FC236}">
                <a16:creationId xmlns:a16="http://schemas.microsoft.com/office/drawing/2014/main" id="{412EDF1A-10BF-18C4-6161-398F2C979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20" t="57395" r="33723"/>
          <a:stretch/>
        </p:blipFill>
        <p:spPr bwMode="auto">
          <a:xfrm>
            <a:off x="996794" y="3809201"/>
            <a:ext cx="2743200" cy="20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96A8525-E745-5CD7-290E-8B5ACC1A207C}"/>
              </a:ext>
            </a:extLst>
          </p:cNvPr>
          <p:cNvSpPr txBox="1">
            <a:spLocks/>
          </p:cNvSpPr>
          <p:nvPr/>
        </p:nvSpPr>
        <p:spPr>
          <a:xfrm>
            <a:off x="4477405" y="3555124"/>
            <a:ext cx="7542529" cy="251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3500" b="1" dirty="0">
                <a:solidFill>
                  <a:srgbClr val="6EC173"/>
                </a:solidFill>
              </a:rPr>
              <a:t>2. </a:t>
            </a:r>
            <a:r>
              <a:rPr lang="ko-KR" altLang="en-US" sz="3500" b="1" dirty="0">
                <a:solidFill>
                  <a:srgbClr val="6EC173"/>
                </a:solidFill>
              </a:rPr>
              <a:t>맞춤 수업</a:t>
            </a:r>
            <a:endParaRPr lang="en-US" altLang="ko-KR" sz="3500" b="1" dirty="0">
              <a:solidFill>
                <a:srgbClr val="6EC173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교육생 의견을 반영한 맞춤 수업 진행</a:t>
            </a:r>
          </a:p>
        </p:txBody>
      </p:sp>
    </p:spTree>
    <p:extLst>
      <p:ext uri="{BB962C8B-B14F-4D97-AF65-F5344CB8AC3E}">
        <p14:creationId xmlns:p14="http://schemas.microsoft.com/office/powerpoint/2010/main" val="203423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CF2FC7-70C5-E821-C1DD-35BBEBD5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402C30-9276-EDB7-5777-84565717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074" name="Picture 2" descr="계단식 성장의 중요성 : 네이버 블로그">
            <a:extLst>
              <a:ext uri="{FF2B5EF4-FFF2-40B4-BE49-F238E27FC236}">
                <a16:creationId xmlns:a16="http://schemas.microsoft.com/office/drawing/2014/main" id="{D279DED3-A2F0-0154-AB54-91F8E8B4C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185" y="728663"/>
            <a:ext cx="7620000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94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FF73B3-5C26-5E16-9BDE-BCFF4F85C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547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출석 체크 방법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13:00 ~ 13:15 </a:t>
            </a:r>
            <a:r>
              <a:rPr lang="ko-KR" altLang="en-US" sz="2000" dirty="0"/>
              <a:t>까지 강의실 모니터의 </a:t>
            </a:r>
            <a:r>
              <a:rPr lang="en-US" altLang="ko-KR" sz="2000" dirty="0">
                <a:solidFill>
                  <a:schemeClr val="accent1"/>
                </a:solidFill>
              </a:rPr>
              <a:t>QR </a:t>
            </a:r>
            <a:r>
              <a:rPr lang="ko-KR" altLang="en-US" sz="2000" dirty="0">
                <a:solidFill>
                  <a:schemeClr val="accent1"/>
                </a:solidFill>
              </a:rPr>
              <a:t>코드</a:t>
            </a:r>
            <a:r>
              <a:rPr lang="ko-KR" altLang="en-US" sz="2000" dirty="0"/>
              <a:t>를 통해 출석 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지각</a:t>
            </a:r>
            <a:r>
              <a:rPr lang="en-US" altLang="ko-KR" sz="2400" dirty="0"/>
              <a:t>/</a:t>
            </a:r>
            <a:r>
              <a:rPr lang="ko-KR" altLang="en-US" sz="2400" dirty="0"/>
              <a:t>결석 기준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지각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13:15</a:t>
            </a:r>
            <a:r>
              <a:rPr lang="ko-KR" altLang="en-US" sz="2000" dirty="0"/>
              <a:t>분 이후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결석</a:t>
            </a:r>
            <a:r>
              <a:rPr lang="en-US" altLang="ko-KR" sz="2000" dirty="0"/>
              <a:t>: </a:t>
            </a:r>
            <a:r>
              <a:rPr lang="ko-KR" altLang="en-US" sz="2000" dirty="0"/>
              <a:t>당일 수업의 </a:t>
            </a:r>
            <a:r>
              <a:rPr lang="en-US" altLang="ko-KR" sz="2000" dirty="0"/>
              <a:t>50% </a:t>
            </a:r>
            <a:r>
              <a:rPr lang="ko-KR" altLang="en-US" sz="2000" dirty="0"/>
              <a:t>미만 수강 시 </a:t>
            </a:r>
            <a:r>
              <a:rPr lang="en-US" altLang="ko-KR" sz="2000" dirty="0"/>
              <a:t>(6</a:t>
            </a:r>
            <a:r>
              <a:rPr lang="ko-KR" altLang="en-US" sz="2000" dirty="0"/>
              <a:t>시간 기준 </a:t>
            </a:r>
            <a:r>
              <a:rPr lang="en-US" altLang="ko-KR" sz="2000" dirty="0"/>
              <a:t>3</a:t>
            </a:r>
            <a:r>
              <a:rPr lang="ko-KR" altLang="en-US" sz="2000" dirty="0"/>
              <a:t>시간 미만 수강 시 결석과 동일</a:t>
            </a:r>
            <a:r>
              <a:rPr lang="en-US" altLang="ko-K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출석 인정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기업 면접 및 코딩 테스트</a:t>
            </a:r>
            <a:r>
              <a:rPr lang="en-US" altLang="ko-KR" sz="2000" dirty="0"/>
              <a:t>, </a:t>
            </a:r>
            <a:r>
              <a:rPr lang="ko-KR" altLang="en-US" sz="2000" dirty="0"/>
              <a:t>예비군 훈련 등 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증빙 서류 필요 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297765-B987-FA4F-C411-BA22375C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40739-C760-4828-B24F-429363A89B3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866ED4-0F74-48BC-84C6-4248567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CF676A-C128-F5C3-54C9-26BA3F2F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출결 안내 및 기준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BDAFB-9AD0-7CA6-507F-7A33A017FCC6}"/>
              </a:ext>
            </a:extLst>
          </p:cNvPr>
          <p:cNvSpPr txBox="1"/>
          <p:nvPr/>
        </p:nvSpPr>
        <p:spPr>
          <a:xfrm>
            <a:off x="4917688" y="5816684"/>
            <a:ext cx="7171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400" b="1" dirty="0"/>
              <a:t>참고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과정별 </a:t>
            </a:r>
            <a:r>
              <a:rPr lang="ko-KR" altLang="en-US" sz="1400" b="1" dirty="0" err="1"/>
              <a:t>진도율</a:t>
            </a:r>
            <a:r>
              <a:rPr lang="ko-KR" altLang="en-US" sz="1400" b="1" dirty="0"/>
              <a:t> 30~50%에 중간평가를 진행(</a:t>
            </a:r>
            <a:r>
              <a:rPr lang="ko-KR" altLang="en-US" sz="1400" b="1" dirty="0" err="1"/>
              <a:t>역량평가+취업의지</a:t>
            </a:r>
            <a:r>
              <a:rPr lang="ko-KR" altLang="en-US" sz="1400" b="1" dirty="0"/>
              <a:t>/학습태도 평가)하여 과정 적합도가 현저히 낮은 교육생은 수강중단 될 수 있음(본 경우에는 예치금 반환)</a:t>
            </a:r>
          </a:p>
        </p:txBody>
      </p:sp>
    </p:spTree>
    <p:extLst>
      <p:ext uri="{BB962C8B-B14F-4D97-AF65-F5344CB8AC3E}">
        <p14:creationId xmlns:p14="http://schemas.microsoft.com/office/powerpoint/2010/main" val="335038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C4046B-DF46-F3CF-89AE-FACD82780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888" y="529897"/>
            <a:ext cx="7789452" cy="2574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rgbClr val="6EC173"/>
                </a:solidFill>
              </a:rPr>
              <a:t>카카오톡</a:t>
            </a:r>
            <a:endParaRPr lang="en-US" altLang="ko-KR" b="1" dirty="0">
              <a:solidFill>
                <a:srgbClr val="6EC173"/>
              </a:solidFill>
            </a:endParaRPr>
          </a:p>
          <a:p>
            <a:pPr>
              <a:buFontTx/>
              <a:buChar char="-"/>
            </a:pPr>
            <a:r>
              <a:rPr lang="ko-KR" altLang="en-US" sz="2000" dirty="0"/>
              <a:t>목적</a:t>
            </a:r>
            <a:r>
              <a:rPr lang="en-US" altLang="ko-KR" sz="2000" dirty="0"/>
              <a:t>: </a:t>
            </a:r>
            <a:r>
              <a:rPr lang="ko-KR" altLang="en-US" sz="2000" dirty="0"/>
              <a:t>수업 이외의 시간 </a:t>
            </a:r>
            <a:r>
              <a:rPr lang="en-US" altLang="ko-KR" sz="2000" dirty="0"/>
              <a:t>(</a:t>
            </a:r>
            <a:r>
              <a:rPr lang="ko-KR" altLang="en-US" sz="2000" dirty="0"/>
              <a:t>월</a:t>
            </a:r>
            <a:r>
              <a:rPr lang="en-US" altLang="ko-KR" sz="2000" dirty="0"/>
              <a:t>, </a:t>
            </a:r>
            <a:r>
              <a:rPr lang="ko-KR" altLang="en-US" sz="2000" dirty="0"/>
              <a:t>수</a:t>
            </a:r>
            <a:r>
              <a:rPr lang="en-US" altLang="ko-KR" sz="2000" dirty="0"/>
              <a:t>, </a:t>
            </a:r>
            <a:r>
              <a:rPr lang="ko-KR" altLang="en-US" sz="2000" dirty="0"/>
              <a:t>금 제외</a:t>
            </a:r>
            <a:r>
              <a:rPr lang="en-US" altLang="ko-KR" sz="2000" dirty="0"/>
              <a:t>) </a:t>
            </a:r>
            <a:r>
              <a:rPr lang="ko-KR" altLang="en-US" sz="2000" dirty="0"/>
              <a:t>공지 및 정보 공유 </a:t>
            </a:r>
            <a:endParaRPr lang="en-US" altLang="ko-KR" sz="2000" dirty="0">
              <a:hlinkClick r:id="rId3"/>
            </a:endParaRPr>
          </a:p>
          <a:p>
            <a:pPr>
              <a:buFontTx/>
              <a:buChar char="-"/>
            </a:pPr>
            <a:r>
              <a:rPr lang="en-US" altLang="ko-KR" sz="2000" dirty="0">
                <a:hlinkClick r:id="rId4"/>
              </a:rPr>
              <a:t>https://open.kakao.com/o/glc3ilqg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en-US" altLang="ko-KR" sz="2000" dirty="0"/>
              <a:t>#</a:t>
            </a:r>
            <a:r>
              <a:rPr lang="ko-KR" altLang="en-US" sz="2000" dirty="0" err="1"/>
              <a:t>코딩온</a:t>
            </a:r>
            <a:r>
              <a:rPr lang="ko-KR" altLang="en-US" sz="2000" dirty="0"/>
              <a:t> </a:t>
            </a:r>
            <a:r>
              <a:rPr lang="en-US" altLang="ko-KR" sz="2000" dirty="0"/>
              <a:t>#CodingOn #SeSAC</a:t>
            </a:r>
            <a:r>
              <a:rPr lang="ko-KR" altLang="en-US" sz="2000" dirty="0"/>
              <a:t>영등포 </a:t>
            </a:r>
            <a:r>
              <a:rPr lang="en-US" altLang="ko-KR" sz="2000" dirty="0"/>
              <a:t>#</a:t>
            </a:r>
            <a:r>
              <a:rPr lang="ko-KR" altLang="en-US" sz="2000" dirty="0" err="1"/>
              <a:t>웹풀스택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암호</a:t>
            </a:r>
            <a:r>
              <a:rPr lang="en-US" altLang="ko-KR" sz="2000" dirty="0"/>
              <a:t>: CSYDP6</a:t>
            </a:r>
          </a:p>
          <a:p>
            <a:pPr>
              <a:buFontTx/>
              <a:buChar char="-"/>
            </a:pPr>
            <a:r>
              <a:rPr lang="ko-KR" altLang="en-US" sz="2000" dirty="0"/>
              <a:t>닉네임</a:t>
            </a:r>
            <a:r>
              <a:rPr lang="en-US" altLang="ko-KR" sz="2000" dirty="0"/>
              <a:t>: </a:t>
            </a:r>
            <a:r>
              <a:rPr lang="ko-KR" altLang="en-US" sz="2000" b="1" dirty="0"/>
              <a:t>본명 </a:t>
            </a:r>
            <a:r>
              <a:rPr lang="en-US" altLang="ko-KR" sz="2000" b="1" dirty="0"/>
              <a:t>(ex. </a:t>
            </a:r>
            <a:r>
              <a:rPr lang="ko-KR" altLang="en-US" sz="2000" b="1" dirty="0"/>
              <a:t>홍길동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C93F6-5BE3-6FA0-9A26-5501F1C7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DD63F-9D56-45F3-85D7-711EA7F065F8}" type="datetime6">
              <a:rPr lang="ko-KR" altLang="en-US" smtClean="0"/>
              <a:t>2024년 5월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E2158E-403C-A98E-AC81-E4A319CF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3074" name="Picture 2" descr="카카오톡 - 나무위키">
            <a:extLst>
              <a:ext uri="{FF2B5EF4-FFF2-40B4-BE49-F238E27FC236}">
                <a16:creationId xmlns:a16="http://schemas.microsoft.com/office/drawing/2014/main" id="{EC673AFA-4801-17A7-6EA6-CE85DC692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529897"/>
            <a:ext cx="1243473" cy="124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슬랙이 카카오톡보다 좋은 이유. 주로 IT기업과 스타트업들을 중심으로, 기업용 메신저 서비스인 슬랙… | by 진민규의 마케팅/Tech  이야기 | Medium">
            <a:extLst>
              <a:ext uri="{FF2B5EF4-FFF2-40B4-BE49-F238E27FC236}">
                <a16:creationId xmlns:a16="http://schemas.microsoft.com/office/drawing/2014/main" id="{E572D70F-131F-29B8-7969-96253BC8A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3249359"/>
            <a:ext cx="2975760" cy="124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C8EF8F-BAED-BC90-22CA-C6F655C3EC37}"/>
              </a:ext>
            </a:extLst>
          </p:cNvPr>
          <p:cNvSpPr txBox="1">
            <a:spLocks/>
          </p:cNvSpPr>
          <p:nvPr/>
        </p:nvSpPr>
        <p:spPr>
          <a:xfrm>
            <a:off x="3575836" y="3395463"/>
            <a:ext cx="8355609" cy="2872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solidFill>
                  <a:srgbClr val="6EC173"/>
                </a:solidFill>
              </a:rPr>
              <a:t>Slack</a:t>
            </a:r>
          </a:p>
          <a:p>
            <a:pPr>
              <a:buFontTx/>
              <a:buChar char="-"/>
            </a:pPr>
            <a:r>
              <a:rPr lang="ko-KR" altLang="en-US" sz="2000" dirty="0"/>
              <a:t>목적 </a:t>
            </a:r>
            <a:r>
              <a:rPr lang="en-US" altLang="ko-KR" sz="2000" dirty="0"/>
              <a:t>1: </a:t>
            </a:r>
            <a:r>
              <a:rPr lang="ko-KR" altLang="en-US" sz="2000" dirty="0"/>
              <a:t>수업 중 링크</a:t>
            </a:r>
            <a:r>
              <a:rPr lang="en-US" altLang="ko-KR" sz="2000" dirty="0"/>
              <a:t>, </a:t>
            </a:r>
            <a:r>
              <a:rPr lang="ko-KR" altLang="en-US" sz="2000" dirty="0"/>
              <a:t>이미지</a:t>
            </a:r>
            <a:r>
              <a:rPr lang="en-US" altLang="ko-KR" sz="2000" dirty="0"/>
              <a:t>, </a:t>
            </a:r>
            <a:r>
              <a:rPr lang="ko-KR" altLang="en-US" sz="2000" dirty="0"/>
              <a:t>코드 공유 목적 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목적 </a:t>
            </a:r>
            <a:r>
              <a:rPr lang="en-US" altLang="ko-KR" sz="2000" dirty="0"/>
              <a:t>2: </a:t>
            </a:r>
            <a:r>
              <a:rPr lang="ko-KR" altLang="en-US" sz="2000" dirty="0"/>
              <a:t>과제 제출</a:t>
            </a:r>
            <a:endParaRPr lang="en-US" altLang="ko-KR" sz="2000" dirty="0">
              <a:hlinkClick r:id="rId7"/>
            </a:endParaRPr>
          </a:p>
          <a:p>
            <a:pPr>
              <a:buFontTx/>
              <a:buChar char="-"/>
            </a:pPr>
            <a:r>
              <a:rPr lang="en-US" altLang="ko-KR" sz="2000" dirty="0">
                <a:hlinkClick r:id="rId8"/>
              </a:rPr>
              <a:t>https://join.slack.com/t/slack-zfd4180/shared_invite/zt-2ihd0ol41-Gp53lC2FtLVwjYkia0FP8g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오픈채팅방 공지의 </a:t>
            </a:r>
            <a:r>
              <a:rPr lang="ko-KR" altLang="en-US" sz="2000" dirty="0" err="1"/>
              <a:t>슬랙</a:t>
            </a:r>
            <a:r>
              <a:rPr lang="ko-KR" altLang="en-US" sz="2000" dirty="0"/>
              <a:t> 링크 이용하기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닉네임 </a:t>
            </a:r>
            <a:r>
              <a:rPr lang="en-US" altLang="ko-KR" sz="2000" dirty="0"/>
              <a:t>: </a:t>
            </a:r>
            <a:r>
              <a:rPr lang="en-US" altLang="ko-KR" sz="2000" b="1" dirty="0"/>
              <a:t>SeSAC_6YDP_</a:t>
            </a:r>
            <a:r>
              <a:rPr lang="ko-KR" altLang="en-US" sz="2000" b="1" dirty="0"/>
              <a:t>본명 </a:t>
            </a:r>
            <a:r>
              <a:rPr lang="en-US" altLang="ko-KR" sz="2000" b="1" dirty="0"/>
              <a:t>(ex. SeSAC_6YDP_</a:t>
            </a:r>
            <a:r>
              <a:rPr lang="ko-KR" altLang="en-US" sz="2000" b="1" dirty="0"/>
              <a:t>홍길동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F9ED3E5-A219-97C8-062A-00AB8DE418A5}"/>
              </a:ext>
            </a:extLst>
          </p:cNvPr>
          <p:cNvSpPr txBox="1">
            <a:spLocks/>
          </p:cNvSpPr>
          <p:nvPr/>
        </p:nvSpPr>
        <p:spPr>
          <a:xfrm>
            <a:off x="6320790" y="3475094"/>
            <a:ext cx="5271135" cy="365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ko-KR" sz="2000" dirty="0">
                <a:solidFill>
                  <a:srgbClr val="6EC173"/>
                </a:solidFill>
              </a:rPr>
              <a:t>*Slack </a:t>
            </a:r>
            <a:r>
              <a:rPr lang="ko-KR" altLang="en-US" sz="2000" dirty="0">
                <a:solidFill>
                  <a:srgbClr val="6EC173"/>
                </a:solidFill>
              </a:rPr>
              <a:t>초대 링크는 오픈채팅방 공지에서 확인해주세요</a:t>
            </a:r>
            <a:r>
              <a:rPr lang="en-US" altLang="ko-KR" sz="2000" dirty="0">
                <a:solidFill>
                  <a:srgbClr val="6EC173"/>
                </a:solidFill>
              </a:rPr>
              <a:t>!</a:t>
            </a:r>
            <a:endParaRPr lang="ko-KR" altLang="en-US" sz="2000" dirty="0">
              <a:solidFill>
                <a:srgbClr val="6EC173"/>
              </a:solidFill>
            </a:endParaRPr>
          </a:p>
        </p:txBody>
      </p:sp>
      <p:pic>
        <p:nvPicPr>
          <p:cNvPr id="6" name="그림 5" descr="스크린샷, 그래픽, 패턴, 디자인이(가) 표시된 사진&#10;&#10;자동 생성된 설명">
            <a:extLst>
              <a:ext uri="{FF2B5EF4-FFF2-40B4-BE49-F238E27FC236}">
                <a16:creationId xmlns:a16="http://schemas.microsoft.com/office/drawing/2014/main" id="{86876CD6-94CE-536B-2377-4544B87788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757" y="446209"/>
            <a:ext cx="2365168" cy="236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6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8DA50E-46BE-CF53-0A8C-618613D63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253" y="862072"/>
            <a:ext cx="7620000" cy="2067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200" dirty="0"/>
              <a:t>나눠드린 서류 작성 및 사인 후 </a:t>
            </a:r>
            <a:endParaRPr lang="en-US" altLang="ko-KR" sz="32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ko-KR" altLang="en-US" sz="3200" dirty="0">
                <a:highlight>
                  <a:srgbClr val="FFFF00"/>
                </a:highlight>
              </a:rPr>
              <a:t>주민등록등본</a:t>
            </a:r>
            <a:r>
              <a:rPr lang="ko-KR" altLang="en-US" sz="3200" dirty="0"/>
              <a:t>과 함께 앞으로 나와주세요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26331B-CABB-6017-2C21-C0F1C619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E404C-78DB-4A99-8F6C-3F4C63B6049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ED05A6-B83A-CBAB-2B32-CC051A92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E9ED84-E3B3-51AF-ED77-58388293A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06" y="579937"/>
            <a:ext cx="3086367" cy="413039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053626D-FA33-B101-68F5-6B3E6A6A0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19804"/>
            <a:ext cx="2462689" cy="35806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C85464-27FC-34E2-0B31-9C2D88905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9171" y="2645136"/>
            <a:ext cx="2605840" cy="359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6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4F7519B-60EE-E574-917E-11D77FC5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351" y="2934932"/>
            <a:ext cx="3033252" cy="899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5000" b="1" dirty="0">
                <a:solidFill>
                  <a:srgbClr val="6EC173"/>
                </a:solidFill>
              </a:rPr>
              <a:t>휴식 </a:t>
            </a:r>
            <a:r>
              <a:rPr lang="en-US" altLang="ko-KR" sz="5000" b="1" dirty="0">
                <a:solidFill>
                  <a:srgbClr val="6EC173"/>
                </a:solidFill>
              </a:rPr>
              <a:t>Time</a:t>
            </a:r>
            <a:endParaRPr lang="ko-KR" altLang="en-US" sz="5000" b="1" dirty="0">
              <a:solidFill>
                <a:srgbClr val="6EC173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263DFF-9BB9-D8A0-9B23-08F2727B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B0AF-12E4-4E46-9E45-3FA033AAD3CB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DFD145-2786-3632-BC8A-7B6D3658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26" name="Picture 2" descr="휴식하면 생기는 우리 몸의 변화들 &lt; 건강 &lt; 기사본문 - 마음건강 길">
            <a:extLst>
              <a:ext uri="{FF2B5EF4-FFF2-40B4-BE49-F238E27FC236}">
                <a16:creationId xmlns:a16="http://schemas.microsoft.com/office/drawing/2014/main" id="{18418F7F-A468-D6C9-2551-45A9F2564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765" y="1953160"/>
            <a:ext cx="4427520" cy="295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3D511F8-7CF7-8410-E155-E09D29394D3A}"/>
              </a:ext>
            </a:extLst>
          </p:cNvPr>
          <p:cNvSpPr>
            <a:spLocks noGrp="1"/>
          </p:cNvSpPr>
          <p:nvPr/>
        </p:nvSpPr>
        <p:spPr>
          <a:xfrm>
            <a:off x="6302477" y="3567794"/>
            <a:ext cx="5715000" cy="11109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000" dirty="0"/>
              <a:t>휴식 이후 자기소개 할 예정이니 준비해주세요 </a:t>
            </a:r>
            <a:r>
              <a:rPr lang="en-US" altLang="ko-KR" sz="2000" dirty="0">
                <a:sym typeface="Wingdings" panose="05000000000000000000" pitchFamily="2" charset="2"/>
              </a:rPr>
              <a:t>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41741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6F13-2195-8D0E-D6A3-98C83B7A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09AA9-CAC2-DE98-C83D-D4737B9956D9}"/>
              </a:ext>
            </a:extLst>
          </p:cNvPr>
          <p:cNvSpPr>
            <a:spLocks noGrp="1"/>
          </p:cNvSpPr>
          <p:nvPr/>
        </p:nvSpPr>
        <p:spPr>
          <a:xfrm>
            <a:off x="4358478" y="1806765"/>
            <a:ext cx="7004806" cy="2999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8800" b="1" dirty="0">
                <a:solidFill>
                  <a:schemeClr val="accent1"/>
                </a:solidFill>
              </a:rPr>
              <a:t>BREAK TIME!!</a:t>
            </a:r>
          </a:p>
        </p:txBody>
      </p:sp>
      <p:pic>
        <p:nvPicPr>
          <p:cNvPr id="3" name="Picture 2" descr="휴식하면 생기는 우리 몸의 변화들 &lt; 건강 &lt; 기사본문 - 마음건강 길">
            <a:extLst>
              <a:ext uri="{FF2B5EF4-FFF2-40B4-BE49-F238E27FC236}">
                <a16:creationId xmlns:a16="http://schemas.microsoft.com/office/drawing/2014/main" id="{9F17459D-6F7B-6896-B8F4-F7C6F766F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416" y="2583593"/>
            <a:ext cx="2741843" cy="182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B7B3A94-2EA2-5E54-5FB0-7291FA08CED7}"/>
              </a:ext>
            </a:extLst>
          </p:cNvPr>
          <p:cNvSpPr>
            <a:spLocks noGrp="1"/>
          </p:cNvSpPr>
          <p:nvPr/>
        </p:nvSpPr>
        <p:spPr>
          <a:xfrm>
            <a:off x="5003381" y="3567794"/>
            <a:ext cx="5715000" cy="11109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000" b="1" dirty="0"/>
              <a:t>휴식 이후 자기소개 할 예정이니 준비해주세요 </a:t>
            </a:r>
            <a:r>
              <a:rPr lang="en-US" altLang="ko-KR" sz="2000" b="1" dirty="0">
                <a:sym typeface="Wingdings" panose="05000000000000000000" pitchFamily="2" charset="2"/>
              </a:rPr>
              <a:t>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71235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BB94A53-7EB2-9249-2AA7-ADA76A47ACE2}"/>
              </a:ext>
            </a:extLst>
          </p:cNvPr>
          <p:cNvSpPr/>
          <p:nvPr/>
        </p:nvSpPr>
        <p:spPr>
          <a:xfrm>
            <a:off x="1254034" y="2063931"/>
            <a:ext cx="9666515" cy="2730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8A1035E-C3E6-CAB4-CB53-772856074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803" y="2298642"/>
            <a:ext cx="9614394" cy="2260716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2E0B53-E0E0-F605-AE5D-CBC41626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7E3F96-E9FB-A7CD-5BE4-ECB3A695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CF21E7-CA19-7543-C877-324BE0E5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4047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2A623-1E1A-7CB9-1FC7-84129EFA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28EB3-DD5D-5147-DB5C-6EBF4140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A7866ED4-0F74-48BC-84C6-42485677A1A4}"/>
              </a:ext>
            </a:extLst>
          </p:cNvPr>
          <p:cNvSpPr>
            <a:spLocks noGrp="1"/>
          </p:cNvSpPr>
          <p:nvPr/>
        </p:nvSpPr>
        <p:spPr>
          <a:xfrm>
            <a:off x="9029700" y="63037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3A2CE0-18CD-4102-B738-4ACFF9E68BA4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3054EBB-F401-BE68-C4D1-B1DC2AE0520E}"/>
              </a:ext>
            </a:extLst>
          </p:cNvPr>
          <p:cNvSpPr>
            <a:spLocks noGrp="1"/>
          </p:cNvSpPr>
          <p:nvPr/>
        </p:nvSpPr>
        <p:spPr>
          <a:xfrm>
            <a:off x="1265413" y="1649845"/>
            <a:ext cx="10023122" cy="2999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8800" dirty="0"/>
              <a:t>션</a:t>
            </a:r>
            <a:r>
              <a:rPr lang="en-US" altLang="ko-KR" sz="8800" dirty="0"/>
              <a:t> </a:t>
            </a:r>
            <a:r>
              <a:rPr lang="ko-KR" altLang="en-US" sz="8800" dirty="0"/>
              <a:t>리더님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020943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2A623-1E1A-7CB9-1FC7-84129EFA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28EB3-DD5D-5147-DB5C-6EBF4140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A7866ED4-0F74-48BC-84C6-42485677A1A4}"/>
              </a:ext>
            </a:extLst>
          </p:cNvPr>
          <p:cNvSpPr>
            <a:spLocks noGrp="1"/>
          </p:cNvSpPr>
          <p:nvPr/>
        </p:nvSpPr>
        <p:spPr>
          <a:xfrm>
            <a:off x="9029700" y="63037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3A2CE0-18CD-4102-B738-4ACFF9E68BA4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3054EBB-F401-BE68-C4D1-B1DC2AE0520E}"/>
              </a:ext>
            </a:extLst>
          </p:cNvPr>
          <p:cNvSpPr>
            <a:spLocks noGrp="1"/>
          </p:cNvSpPr>
          <p:nvPr/>
        </p:nvSpPr>
        <p:spPr>
          <a:xfrm>
            <a:off x="1265413" y="1649845"/>
            <a:ext cx="10023122" cy="2999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8800" dirty="0" err="1"/>
              <a:t>데이먼</a:t>
            </a:r>
            <a:r>
              <a:rPr lang="en-US" altLang="ko-KR" sz="8800" dirty="0"/>
              <a:t> </a:t>
            </a:r>
            <a:r>
              <a:rPr lang="ko-KR" altLang="en-US" sz="8800" dirty="0"/>
              <a:t>리더님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201398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F84E9C0F-29FA-AD8D-7B4A-48C9A47B8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38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2A623-1E1A-7CB9-1FC7-84129EFA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28EB3-DD5D-5147-DB5C-6EBF4140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A7866ED4-0F74-48BC-84C6-42485677A1A4}"/>
              </a:ext>
            </a:extLst>
          </p:cNvPr>
          <p:cNvSpPr>
            <a:spLocks noGrp="1"/>
          </p:cNvSpPr>
          <p:nvPr/>
        </p:nvSpPr>
        <p:spPr>
          <a:xfrm>
            <a:off x="9029700" y="63037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3A2CE0-18CD-4102-B738-4ACFF9E68BA4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4100" name="Picture 4" descr="kakaoemoticon 비즈샵">
            <a:extLst>
              <a:ext uri="{FF2B5EF4-FFF2-40B4-BE49-F238E27FC236}">
                <a16:creationId xmlns:a16="http://schemas.microsoft.com/office/drawing/2014/main" id="{3DA42F57-2E7E-7083-29B1-5719CDC22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34" y="3970288"/>
            <a:ext cx="2009373" cy="200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A620116-56A8-CF98-70BA-563063813E37}"/>
              </a:ext>
            </a:extLst>
          </p:cNvPr>
          <p:cNvSpPr>
            <a:spLocks noGrp="1"/>
          </p:cNvSpPr>
          <p:nvPr/>
        </p:nvSpPr>
        <p:spPr>
          <a:xfrm>
            <a:off x="3514372" y="3994032"/>
            <a:ext cx="5695889" cy="761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4000" dirty="0"/>
              <a:t>여러분을 소개해주세요</a:t>
            </a:r>
            <a:r>
              <a:rPr lang="en-US" altLang="ko-KR" sz="4000" dirty="0"/>
              <a:t>!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D6D4F54-D863-3399-6179-A58E0CC16E3F}"/>
              </a:ext>
            </a:extLst>
          </p:cNvPr>
          <p:cNvSpPr>
            <a:spLocks noGrp="1"/>
          </p:cNvSpPr>
          <p:nvPr/>
        </p:nvSpPr>
        <p:spPr>
          <a:xfrm>
            <a:off x="1265413" y="971147"/>
            <a:ext cx="10023122" cy="2999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8800" b="1" dirty="0"/>
              <a:t>크루 자기소개 </a:t>
            </a:r>
            <a:r>
              <a:rPr lang="en-US" altLang="ko-KR" sz="8800" b="1" dirty="0"/>
              <a:t>Time</a:t>
            </a:r>
          </a:p>
          <a:p>
            <a:pPr algn="ctr"/>
            <a:endParaRPr lang="en-US" altLang="ko-KR" sz="2000" dirty="0"/>
          </a:p>
          <a:p>
            <a:pPr algn="ctr"/>
            <a:r>
              <a:rPr lang="en-US" altLang="ko-KR" sz="3200" dirty="0"/>
              <a:t>feat. MBTI, </a:t>
            </a:r>
            <a:r>
              <a:rPr lang="ko-KR" altLang="en-US" sz="3200" dirty="0"/>
              <a:t>취미</a:t>
            </a:r>
            <a:r>
              <a:rPr lang="en-US" altLang="ko-KR" sz="3200" dirty="0"/>
              <a:t>, </a:t>
            </a:r>
            <a:r>
              <a:rPr lang="ko-KR" altLang="en-US" sz="3200" dirty="0"/>
              <a:t>프론트</a:t>
            </a:r>
            <a:r>
              <a:rPr lang="en-US" altLang="ko-KR" sz="3200" dirty="0"/>
              <a:t>/</a:t>
            </a:r>
            <a:r>
              <a:rPr lang="ko-KR" altLang="en-US" sz="3200" dirty="0"/>
              <a:t>백</a:t>
            </a:r>
            <a:r>
              <a:rPr lang="en-US" altLang="ko-KR" sz="3200" dirty="0"/>
              <a:t>, </a:t>
            </a:r>
            <a:r>
              <a:rPr lang="ko-KR" altLang="en-US" sz="3200" dirty="0"/>
              <a:t>취</a:t>
            </a:r>
            <a:r>
              <a:rPr lang="en-US" altLang="ko-KR" sz="3200" dirty="0"/>
              <a:t>/</a:t>
            </a:r>
            <a:r>
              <a:rPr lang="ko-KR" altLang="en-US" sz="3200" dirty="0"/>
              <a:t>창업</a:t>
            </a:r>
            <a:r>
              <a:rPr lang="en-US" altLang="ko-KR" sz="3200" dirty="0"/>
              <a:t>, </a:t>
            </a:r>
            <a:r>
              <a:rPr lang="ko-KR" altLang="en-US" sz="3200" dirty="0"/>
              <a:t>목표</a:t>
            </a:r>
            <a:r>
              <a:rPr lang="en-US" altLang="ko-KR" sz="3200" dirty="0"/>
              <a:t>… </a:t>
            </a:r>
            <a:r>
              <a:rPr lang="ko-KR" altLang="en-US" sz="3200" dirty="0"/>
              <a:t>등등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753841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949CD-21F1-47FF-328F-B6EC9889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F0FEB-93E9-6EAF-F2D7-D1821FF9BD24}"/>
              </a:ext>
            </a:extLst>
          </p:cNvPr>
          <p:cNvSpPr>
            <a:spLocks noGrp="1"/>
          </p:cNvSpPr>
          <p:nvPr/>
        </p:nvSpPr>
        <p:spPr>
          <a:xfrm>
            <a:off x="3824868" y="2146609"/>
            <a:ext cx="7304048" cy="2999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8800" b="1" dirty="0">
                <a:solidFill>
                  <a:schemeClr val="accent1"/>
                </a:solidFill>
              </a:rPr>
              <a:t>GAME TIME!!</a:t>
            </a:r>
          </a:p>
        </p:txBody>
      </p:sp>
      <p:pic>
        <p:nvPicPr>
          <p:cNvPr id="3" name="그림 2" descr="텍스트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05BF51D3-B53D-8D11-68C4-87D36D4BE1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41" t="22277" r="5335"/>
          <a:stretch/>
        </p:blipFill>
        <p:spPr>
          <a:xfrm>
            <a:off x="1237786" y="2146609"/>
            <a:ext cx="2436006" cy="2564781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F2C750BE-9850-DECE-CF7E-B5C5EA8C5D97}"/>
              </a:ext>
            </a:extLst>
          </p:cNvPr>
          <p:cNvSpPr>
            <a:spLocks noGrp="1"/>
          </p:cNvSpPr>
          <p:nvPr/>
        </p:nvSpPr>
        <p:spPr>
          <a:xfrm>
            <a:off x="4619392" y="2302949"/>
            <a:ext cx="5715000" cy="11109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000" b="1" dirty="0" err="1"/>
              <a:t>코딩오울과</a:t>
            </a:r>
            <a:r>
              <a:rPr lang="ko-KR" altLang="en-US" sz="2000" b="1" dirty="0"/>
              <a:t> 함께하는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797300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4F7519B-60EE-E574-917E-11D77FC5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351" y="2934932"/>
            <a:ext cx="3033252" cy="899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5000" b="1" dirty="0">
                <a:solidFill>
                  <a:srgbClr val="6EC173"/>
                </a:solidFill>
              </a:rPr>
              <a:t>휴식 </a:t>
            </a:r>
            <a:r>
              <a:rPr lang="en-US" altLang="ko-KR" sz="5000" b="1" dirty="0">
                <a:solidFill>
                  <a:srgbClr val="6EC173"/>
                </a:solidFill>
              </a:rPr>
              <a:t>Time</a:t>
            </a:r>
            <a:endParaRPr lang="ko-KR" altLang="en-US" sz="5000" b="1" dirty="0">
              <a:solidFill>
                <a:srgbClr val="6EC173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263DFF-9BB9-D8A0-9B23-08F2727B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B0AF-12E4-4E46-9E45-3FA033AAD3CB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DFD145-2786-3632-BC8A-7B6D3658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026" name="Picture 2" descr="휴식하면 생기는 우리 몸의 변화들 &lt; 건강 &lt; 기사본문 - 마음건강 길">
            <a:extLst>
              <a:ext uri="{FF2B5EF4-FFF2-40B4-BE49-F238E27FC236}">
                <a16:creationId xmlns:a16="http://schemas.microsoft.com/office/drawing/2014/main" id="{18418F7F-A468-D6C9-2551-45A9F2564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765" y="1953160"/>
            <a:ext cx="4427520" cy="295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053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3756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930C1-3800-3283-7676-67E65B80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37577-ED6E-4A9A-BE84-A36FE19DAF5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BA4E39-F813-5D2B-7587-E29FCBC8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34CB21-9153-185C-018C-D40EE0325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포트폴리오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2052" name="Picture 4" descr="개발자 이력서 작성하기 (feat. 이력서 공개) | Wonny Log">
            <a:extLst>
              <a:ext uri="{FF2B5EF4-FFF2-40B4-BE49-F238E27FC236}">
                <a16:creationId xmlns:a16="http://schemas.microsoft.com/office/drawing/2014/main" id="{9A1B6276-E204-7797-6B8C-3218CC40F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595" y="1690688"/>
            <a:ext cx="5898221" cy="413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나를 구원해줄 그 분은 바로 git. 그리고 github">
            <a:extLst>
              <a:ext uri="{FF2B5EF4-FFF2-40B4-BE49-F238E27FC236}">
                <a16:creationId xmlns:a16="http://schemas.microsoft.com/office/drawing/2014/main" id="{4F196619-D61F-85F9-D9CA-B99257E4E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98" y="1690155"/>
            <a:ext cx="5257800" cy="14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496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4D8E3F-3E15-CA55-DE78-C9E8135D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A0A7-0190-4FAD-B925-425179F7F41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B29F7D-CB9C-794A-3A35-FAD82167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4098" name="Picture 2" descr="시작하기 | Git / GitHub 안내서">
            <a:extLst>
              <a:ext uri="{FF2B5EF4-FFF2-40B4-BE49-F238E27FC236}">
                <a16:creationId xmlns:a16="http://schemas.microsoft.com/office/drawing/2014/main" id="{734FB0B1-DFE8-E05D-B8D6-E471B0B8E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777" y="1409915"/>
            <a:ext cx="3126658" cy="130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itHub README.me에서 소스코드를 링크하는 방법">
            <a:extLst>
              <a:ext uri="{FF2B5EF4-FFF2-40B4-BE49-F238E27FC236}">
                <a16:creationId xmlns:a16="http://schemas.microsoft.com/office/drawing/2014/main" id="{784E6640-6DF9-E5D2-7549-7E3F6443F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656" y="3214392"/>
            <a:ext cx="4343694" cy="243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act, Vue 개발자를 위한 VSCode Extension. VSCode를 사용하는 웹 개발자를 위한 Extension 추천 |  by Bora Lee | Medium | Medium">
            <a:extLst>
              <a:ext uri="{FF2B5EF4-FFF2-40B4-BE49-F238E27FC236}">
                <a16:creationId xmlns:a16="http://schemas.microsoft.com/office/drawing/2014/main" id="{A24E52C0-B965-8877-0D3D-544095483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77872"/>
            <a:ext cx="5248734" cy="262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247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92C02-0419-7C8D-8F70-9EAD19B9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486D8F-3DFA-088C-30BB-98572100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93C594-AF29-4C79-505A-FD826028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Github</a:t>
            </a:r>
            <a:r>
              <a:rPr lang="ko-KR" altLang="en-US" dirty="0"/>
              <a:t> 회원가입</a:t>
            </a:r>
            <a:r>
              <a:rPr lang="en-US" altLang="ko-KR" dirty="0"/>
              <a:t>/</a:t>
            </a:r>
            <a:r>
              <a:rPr lang="ko-KR" altLang="en-US" dirty="0"/>
              <a:t>로그인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7D830-B9D4-9D0A-6994-18E2CD9C9915}"/>
              </a:ext>
            </a:extLst>
          </p:cNvPr>
          <p:cNvSpPr txBox="1"/>
          <p:nvPr/>
        </p:nvSpPr>
        <p:spPr>
          <a:xfrm>
            <a:off x="846667" y="1794933"/>
            <a:ext cx="7744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hlinkClick r:id="rId3"/>
              </a:rPr>
              <a:t>https://github.com/</a:t>
            </a:r>
            <a:r>
              <a:rPr lang="en-US" altLang="ko-KR" sz="2400" dirty="0"/>
              <a:t> </a:t>
            </a:r>
          </a:p>
          <a:p>
            <a:endParaRPr lang="ko-KR" altLang="en-US" sz="2400" dirty="0"/>
          </a:p>
        </p:txBody>
      </p:sp>
      <p:pic>
        <p:nvPicPr>
          <p:cNvPr id="3" name="Picture 4" descr="GitHub README.me에서 소스코드를 링크하는 방법">
            <a:extLst>
              <a:ext uri="{FF2B5EF4-FFF2-40B4-BE49-F238E27FC236}">
                <a16:creationId xmlns:a16="http://schemas.microsoft.com/office/drawing/2014/main" id="{92CC8123-1C3E-FCDA-140B-837F85979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5" y="2038926"/>
            <a:ext cx="7308120" cy="4092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716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92C02-0419-7C8D-8F70-9EAD19B9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486D8F-3DFA-088C-30BB-98572100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93C594-AF29-4C79-505A-FD826028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VS Code </a:t>
            </a:r>
            <a:r>
              <a:rPr lang="ko-KR" altLang="en-US" dirty="0"/>
              <a:t>설치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7D830-B9D4-9D0A-6994-18E2CD9C9915}"/>
              </a:ext>
            </a:extLst>
          </p:cNvPr>
          <p:cNvSpPr txBox="1"/>
          <p:nvPr/>
        </p:nvSpPr>
        <p:spPr>
          <a:xfrm>
            <a:off x="846667" y="1794933"/>
            <a:ext cx="7744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hlinkClick r:id="rId3"/>
              </a:rPr>
              <a:t>https://code.visualstudio.com/download</a:t>
            </a:r>
            <a:endParaRPr lang="en-US" altLang="ko-KR" sz="2400" dirty="0"/>
          </a:p>
          <a:p>
            <a:endParaRPr lang="ko-KR" altLang="en-US" sz="2400" dirty="0"/>
          </a:p>
        </p:txBody>
      </p:sp>
      <p:pic>
        <p:nvPicPr>
          <p:cNvPr id="7" name="Picture 2" descr="Visual Studio Code 설치하기">
            <a:extLst>
              <a:ext uri="{FF2B5EF4-FFF2-40B4-BE49-F238E27FC236}">
                <a16:creationId xmlns:a16="http://schemas.microsoft.com/office/drawing/2014/main" id="{B586C346-761E-B570-4747-559D7D55E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177" y="2683429"/>
            <a:ext cx="7374486" cy="309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078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9FCA7-10AB-8AF6-D2BD-97B935935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1A94-AFBA-455D-AB49-E75A31A49424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5A27B9-F560-8DFB-9CAE-3888D180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53C5ED1-1C3E-3B3F-C109-37B7E4D5D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r>
              <a:rPr lang="en-US" altLang="ko-KR" dirty="0"/>
              <a:t> </a:t>
            </a:r>
            <a:r>
              <a:rPr lang="ko-KR" altLang="en-US" dirty="0"/>
              <a:t>확장 프로그램 설치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DDEE6F-3BF0-606E-71FA-BC7481C73F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43"/>
          <a:stretch/>
        </p:blipFill>
        <p:spPr>
          <a:xfrm>
            <a:off x="301357" y="3729759"/>
            <a:ext cx="11654851" cy="11176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4E6D413-2C6E-3292-04C2-989AB7E35A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57" y="2388688"/>
            <a:ext cx="11654851" cy="10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26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6613B6-15C2-4EB9-DA32-C88012E82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>
                <a:hlinkClick r:id="rId2"/>
              </a:rPr>
              <a:t>https://git-scm.com/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B72CC4-9130-8ED0-BB89-300F68F7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01B46-8CCE-8767-6D70-E051FA42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1B88E44-6FA1-EEEF-AC8F-4ADA1ABFF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설치하기 </a:t>
            </a:r>
            <a:r>
              <a:rPr lang="en-US" altLang="ko-KR" dirty="0"/>
              <a:t>(Windows)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8EF807-A747-F665-B95E-B2936849B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728" y="1703543"/>
            <a:ext cx="5960672" cy="447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24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F332-0F14-C520-5592-EDE8B8D5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711D7082-A1D8-2822-544F-2D664F4C1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09" y="1572126"/>
            <a:ext cx="10515600" cy="3857582"/>
          </a:xfrm>
        </p:spPr>
        <p:txBody>
          <a:bodyPr>
            <a:normAutofit lnSpcReduction="10000"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cd Desktop</a:t>
            </a:r>
          </a:p>
          <a:p>
            <a:r>
              <a:rPr lang="en-US" altLang="ko-KR" dirty="0" err="1">
                <a:solidFill>
                  <a:srgbClr val="0070C0"/>
                </a:solidFill>
              </a:rPr>
              <a:t>mkdir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dirty="0" err="1">
                <a:solidFill>
                  <a:srgbClr val="0070C0"/>
                </a:solidFill>
              </a:rPr>
              <a:t>github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>
                <a:solidFill>
                  <a:srgbClr val="0070C0"/>
                </a:solidFill>
              </a:rPr>
              <a:t>cd </a:t>
            </a:r>
            <a:r>
              <a:rPr lang="en-US" altLang="ko-KR" dirty="0" err="1">
                <a:solidFill>
                  <a:srgbClr val="0070C0"/>
                </a:solidFill>
              </a:rPr>
              <a:t>github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git config --global </a:t>
            </a:r>
            <a:r>
              <a:rPr lang="en-US" altLang="ko-KR" dirty="0" err="1">
                <a:solidFill>
                  <a:srgbClr val="0070C0"/>
                </a:solidFill>
              </a:rPr>
              <a:t>init.defaultBranch</a:t>
            </a:r>
            <a:r>
              <a:rPr lang="en-US" altLang="ko-KR" dirty="0">
                <a:solidFill>
                  <a:srgbClr val="0070C0"/>
                </a:solidFill>
              </a:rPr>
              <a:t> main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git config --global </a:t>
            </a:r>
            <a:r>
              <a:rPr lang="en-US" altLang="ko-KR" dirty="0" err="1">
                <a:solidFill>
                  <a:srgbClr val="0070C0"/>
                </a:solidFill>
              </a:rPr>
              <a:t>core.ignorecase</a:t>
            </a:r>
            <a:r>
              <a:rPr lang="en-US" altLang="ko-KR" dirty="0">
                <a:solidFill>
                  <a:srgbClr val="0070C0"/>
                </a:solidFill>
              </a:rPr>
              <a:t> false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git config --global user.name </a:t>
            </a:r>
            <a:r>
              <a:rPr lang="en-US" altLang="ko-KR" dirty="0">
                <a:solidFill>
                  <a:srgbClr val="00B050"/>
                </a:solidFill>
              </a:rPr>
              <a:t>“GitHub </a:t>
            </a:r>
            <a:r>
              <a:rPr lang="ko-KR" altLang="en-US" dirty="0">
                <a:solidFill>
                  <a:srgbClr val="00B050"/>
                </a:solidFill>
              </a:rPr>
              <a:t>프로필 이름</a:t>
            </a:r>
            <a:r>
              <a:rPr lang="en-US" altLang="ko-KR" dirty="0">
                <a:solidFill>
                  <a:srgbClr val="00B050"/>
                </a:solidFill>
              </a:rPr>
              <a:t>”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git config --global </a:t>
            </a:r>
            <a:r>
              <a:rPr lang="en-US" altLang="ko-KR" dirty="0" err="1">
                <a:solidFill>
                  <a:srgbClr val="0070C0"/>
                </a:solidFill>
              </a:rPr>
              <a:t>user.email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B050"/>
                </a:solidFill>
              </a:rPr>
              <a:t>“GitHub </a:t>
            </a:r>
            <a:r>
              <a:rPr lang="ko-KR" altLang="en-US" dirty="0">
                <a:solidFill>
                  <a:srgbClr val="00B050"/>
                </a:solidFill>
              </a:rPr>
              <a:t>이메일 주소</a:t>
            </a:r>
            <a:r>
              <a:rPr lang="en-US" altLang="ko-KR" dirty="0">
                <a:solidFill>
                  <a:srgbClr val="00B050"/>
                </a:solidFill>
              </a:rPr>
              <a:t>”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git config --global --list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1B5AF6-6EB5-632B-59CC-C3F550E1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E71ED9-518E-3DE7-9778-BBB9B70F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CF3739-A788-3A58-8AAA-C4EC3DB89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     Git</a:t>
            </a:r>
            <a:r>
              <a:rPr lang="ko-KR" altLang="en-US" dirty="0"/>
              <a:t> </a:t>
            </a:r>
            <a:r>
              <a:rPr lang="en-US" altLang="ko-KR" dirty="0"/>
              <a:t>Bash</a:t>
            </a:r>
            <a:r>
              <a:rPr lang="ko-KR" altLang="en-US" dirty="0"/>
              <a:t>에서 아래 명령어 입력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07AB4E-D6A8-D992-80C3-680C7F5A6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55" y="566697"/>
            <a:ext cx="686308" cy="67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16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GitHub README.me에서 소스코드를 링크하는 방법">
            <a:extLst>
              <a:ext uri="{FF2B5EF4-FFF2-40B4-BE49-F238E27FC236}">
                <a16:creationId xmlns:a16="http://schemas.microsoft.com/office/drawing/2014/main" id="{A081BE86-F2B1-2EA7-EDF3-467AA257C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11" y="2113585"/>
            <a:ext cx="4697911" cy="263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BB560-7802-EC16-9EA1-588CF0DC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0E82-21E3-488C-BCDC-EB030ADC6AB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9C63C6-3084-0440-9B2F-05EF0196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BB05630-D2A3-34FF-344E-51F04829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Gihub</a:t>
            </a:r>
            <a:r>
              <a:rPr lang="ko-KR" altLang="en-US" dirty="0"/>
              <a:t>에서 </a:t>
            </a:r>
            <a:r>
              <a:rPr lang="en-US" altLang="ko-KR" dirty="0"/>
              <a:t>Repository </a:t>
            </a:r>
            <a:r>
              <a:rPr lang="ko-KR" altLang="en-US" dirty="0"/>
              <a:t>만들고 가져오기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F6FC75-A4CC-2A84-2D92-ECA3E591C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271" y="1690688"/>
            <a:ext cx="4697911" cy="436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41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6EA9F-DA55-0267-4767-DDD52EAAE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6B495F-B7A5-D638-EFBA-9BD7BFB9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73BC75-489B-AFC6-B053-1EB07B130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Repository </a:t>
            </a:r>
            <a:r>
              <a:rPr lang="ko-KR" altLang="en-US" dirty="0"/>
              <a:t>가져오기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2ED6C3-9809-44B6-225F-5FB91E9E2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4134"/>
            <a:ext cx="9322843" cy="6018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0B6FD4-6F8E-35FB-3DD0-838EEB0CB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48" y="2286022"/>
            <a:ext cx="9322843" cy="299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62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DE14B-F590-5390-4ED0-85934CA6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F6B89-4082-49DC-A306-910E461DCB4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661428-D3BF-F776-8121-361B8C4D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8" name="그림 7" descr="텍스트, 표지판이(가) 표시된 사진&#10;&#10;자동 생성된 설명">
            <a:extLst>
              <a:ext uri="{FF2B5EF4-FFF2-40B4-BE49-F238E27FC236}">
                <a16:creationId xmlns:a16="http://schemas.microsoft.com/office/drawing/2014/main" id="{81459821-95CF-3555-EA73-B302A2E83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018" y="1374470"/>
            <a:ext cx="9723963" cy="41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09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847C42-5B19-643E-6060-D9D2F849F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git status</a:t>
            </a:r>
            <a:r>
              <a:rPr lang="en-US" altLang="ko-KR" sz="2400" dirty="0">
                <a:ea typeface="강한공군체 Medium" panose="020B0600000101010101" pitchFamily="34" charset="-127"/>
              </a:rPr>
              <a:t> : </a:t>
            </a:r>
            <a:r>
              <a:rPr lang="ko-KR" altLang="en-US" sz="2400" dirty="0">
                <a:ea typeface="강한공군체 Medium" panose="020B0600000101010101" pitchFamily="34" charset="-127"/>
              </a:rPr>
              <a:t>현재 디렉토리 상태 보기</a:t>
            </a:r>
            <a:endParaRPr lang="en-US" altLang="ko-KR" sz="2400" dirty="0">
              <a:ea typeface="강한공군체 Medium" panose="020B0600000101010101" pitchFamily="34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git add</a:t>
            </a:r>
            <a:r>
              <a:rPr lang="ko-KR" altLang="en-US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. </a:t>
            </a:r>
            <a:r>
              <a:rPr lang="en-US" altLang="ko-KR" sz="2400" dirty="0">
                <a:ea typeface="강한공군체 Medium" panose="020B0600000101010101" pitchFamily="34" charset="-127"/>
              </a:rPr>
              <a:t>: </a:t>
            </a:r>
            <a:r>
              <a:rPr lang="ko-KR" altLang="en-US" sz="2400" dirty="0">
                <a:ea typeface="강한공군체 Medium" panose="020B0600000101010101" pitchFamily="34" charset="-127"/>
              </a:rPr>
              <a:t>현재 디렉토리의 모든 변경 사항을 </a:t>
            </a:r>
            <a:r>
              <a:rPr lang="ko-KR" altLang="en-US" sz="2400" dirty="0" err="1">
                <a:ea typeface="강한공군체 Medium" panose="020B0600000101010101" pitchFamily="34" charset="-127"/>
              </a:rPr>
              <a:t>스테이징</a:t>
            </a:r>
            <a:r>
              <a:rPr lang="ko-KR" altLang="en-US" sz="2400" dirty="0">
                <a:ea typeface="강한공군체 Medium" panose="020B0600000101010101" pitchFamily="34" charset="-127"/>
              </a:rPr>
              <a:t> 영역에 추가 </a:t>
            </a:r>
            <a:endParaRPr lang="en-US" altLang="ko-KR" sz="2400" dirty="0">
              <a:ea typeface="강한공군체 Medium" panose="020B0600000101010101" pitchFamily="34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git status </a:t>
            </a:r>
            <a:r>
              <a:rPr lang="en-US" altLang="ko-KR" sz="2400" dirty="0">
                <a:ea typeface="강한공군체 Medium" panose="020B0600000101010101" pitchFamily="34" charset="-127"/>
              </a:rPr>
              <a:t>: </a:t>
            </a:r>
            <a:r>
              <a:rPr lang="ko-KR" altLang="en-US" sz="2400" dirty="0">
                <a:ea typeface="강한공군체 Medium" panose="020B0600000101010101" pitchFamily="34" charset="-127"/>
              </a:rPr>
              <a:t>현재 디렉토리 상태 보기 </a:t>
            </a:r>
            <a:r>
              <a:rPr lang="en-US" altLang="ko-KR" sz="2400" dirty="0">
                <a:ea typeface="강한공군체 Medium" panose="020B0600000101010101" pitchFamily="34" charset="-127"/>
              </a:rPr>
              <a:t>(</a:t>
            </a:r>
            <a:r>
              <a:rPr lang="ko-KR" altLang="en-US" sz="2400" dirty="0">
                <a:ea typeface="강한공군체 Medium" panose="020B0600000101010101" pitchFamily="34" charset="-127"/>
              </a:rPr>
              <a:t>상태 변경 확인</a:t>
            </a:r>
            <a:r>
              <a:rPr lang="en-US" altLang="ko-KR" sz="2400" dirty="0">
                <a:ea typeface="강한공군체 Medium" panose="020B0600000101010101" pitchFamily="34" charset="-127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git</a:t>
            </a:r>
            <a:r>
              <a:rPr lang="ko-KR" altLang="en-US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commit -m “study: first commit” </a:t>
            </a:r>
            <a:r>
              <a:rPr lang="en-US" altLang="ko-KR" sz="2400" dirty="0">
                <a:ea typeface="강한공군체 Medium" panose="020B0600000101010101" pitchFamily="34" charset="-127"/>
              </a:rPr>
              <a:t>: </a:t>
            </a:r>
            <a:r>
              <a:rPr lang="ko-KR" altLang="en-US" sz="2400" dirty="0" err="1">
                <a:ea typeface="강한공군체 Medium" panose="020B0600000101010101" pitchFamily="34" charset="-127"/>
              </a:rPr>
              <a:t>스테이징</a:t>
            </a:r>
            <a:r>
              <a:rPr lang="ko-KR" altLang="en-US" sz="2400" dirty="0">
                <a:ea typeface="강한공군체 Medium" panose="020B0600000101010101" pitchFamily="34" charset="-127"/>
              </a:rPr>
              <a:t> 영역의 파일을 커밋하여 저장소의 히스토리에 기록</a:t>
            </a:r>
            <a:endParaRPr lang="en-US" altLang="ko-KR" sz="2400" dirty="0">
              <a:ea typeface="강한공군체 Medium" panose="020B0600000101010101" pitchFamily="34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git log </a:t>
            </a:r>
            <a:r>
              <a:rPr lang="en-US" altLang="ko-KR" sz="2400" dirty="0">
                <a:ea typeface="강한공군체 Medium" panose="020B0600000101010101" pitchFamily="34" charset="-127"/>
              </a:rPr>
              <a:t>: </a:t>
            </a:r>
            <a:r>
              <a:rPr lang="ko-KR" altLang="en-US" sz="2400" dirty="0">
                <a:ea typeface="강한공군체 Medium" panose="020B0600000101010101" pitchFamily="34" charset="-127"/>
              </a:rPr>
              <a:t>저장소의 </a:t>
            </a:r>
            <a:r>
              <a:rPr lang="ko-KR" altLang="en-US" sz="2400" dirty="0" err="1">
                <a:ea typeface="강한공군체 Medium" panose="020B0600000101010101" pitchFamily="34" charset="-127"/>
              </a:rPr>
              <a:t>커밋</a:t>
            </a:r>
            <a:r>
              <a:rPr lang="ko-KR" altLang="en-US" sz="2400" dirty="0">
                <a:ea typeface="강한공군체 Medium" panose="020B0600000101010101" pitchFamily="34" charset="-127"/>
              </a:rPr>
              <a:t> 히스토리 확인</a:t>
            </a:r>
            <a:endParaRPr lang="en-US" altLang="ko-KR" sz="2400" dirty="0">
              <a:ea typeface="강한공군체 Medium" panose="020B0600000101010101" pitchFamily="34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git</a:t>
            </a:r>
            <a:r>
              <a:rPr lang="ko-KR" altLang="en-US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ea typeface="강한공군체 Medium" panose="020B0600000101010101" pitchFamily="34" charset="-127"/>
              </a:rPr>
              <a:t>push –u origin main </a:t>
            </a:r>
            <a:r>
              <a:rPr lang="en-US" altLang="ko-KR" sz="2400" dirty="0">
                <a:ea typeface="강한공군체 Medium" panose="020B0600000101010101" pitchFamily="34" charset="-127"/>
              </a:rPr>
              <a:t>: </a:t>
            </a:r>
            <a:r>
              <a:rPr lang="ko-KR" altLang="en-US" sz="2400" dirty="0">
                <a:ea typeface="강한공군체 Medium" panose="020B0600000101010101" pitchFamily="34" charset="-127"/>
              </a:rPr>
              <a:t>로컬 저장소의 변경 사항을 원격 저장소로 푸시</a:t>
            </a:r>
            <a:endParaRPr lang="en-US" altLang="ko-KR" sz="2400" dirty="0">
              <a:ea typeface="강한공군체 Medium" panose="020B0600000101010101" pitchFamily="34" charset="-127"/>
            </a:endParaRPr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D7B475-9B14-ED2B-6D54-DB49F384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2B312E-2FAB-7276-F2BF-2F6DBC9D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DD2F534-EE96-0891-B750-CA1FFA36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/>
              <a:t>명령어</a:t>
            </a:r>
          </a:p>
        </p:txBody>
      </p:sp>
    </p:spTree>
    <p:extLst>
      <p:ext uri="{BB962C8B-B14F-4D97-AF65-F5344CB8AC3E}">
        <p14:creationId xmlns:p14="http://schemas.microsoft.com/office/powerpoint/2010/main" val="656453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블로깅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52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048C50-6513-7049-7DEB-7C192C72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67EFCB-9C02-BB06-0788-FAD7988F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573B403-D124-A1D8-387D-52A548D8A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cs typeface="Calibri"/>
                <a:sym typeface="Calibri"/>
              </a:rPr>
              <a:t>블로깅</a:t>
            </a:r>
            <a:r>
              <a:rPr lang="ko-KR" altLang="ko-KR" dirty="0">
                <a:cs typeface="Calibri"/>
                <a:sym typeface="Calibri"/>
              </a:rPr>
              <a:t> </a:t>
            </a:r>
            <a:r>
              <a:rPr lang="ko-KR" altLang="ko-KR" sz="4800" dirty="0">
                <a:cs typeface="Calibri"/>
                <a:sym typeface="Calibri"/>
              </a:rPr>
              <a:t>Tool</a:t>
            </a:r>
            <a:endParaRPr lang="ko-KR" altLang="en-US" dirty="0"/>
          </a:p>
        </p:txBody>
      </p:sp>
      <p:sp>
        <p:nvSpPr>
          <p:cNvPr id="6" name="Google Shape;202;g1c6ff2b8c7b_1_21">
            <a:extLst>
              <a:ext uri="{FF2B5EF4-FFF2-40B4-BE49-F238E27FC236}">
                <a16:creationId xmlns:a16="http://schemas.microsoft.com/office/drawing/2014/main" id="{1C4EC31F-60CA-1792-19AC-A55216424A9C}"/>
              </a:ext>
            </a:extLst>
          </p:cNvPr>
          <p:cNvSpPr txBox="1">
            <a:spLocks/>
          </p:cNvSpPr>
          <p:nvPr/>
        </p:nvSpPr>
        <p:spPr>
          <a:xfrm>
            <a:off x="2323050" y="1919600"/>
            <a:ext cx="3772950" cy="15094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cs typeface="Calibri"/>
                <a:sym typeface="Calibri"/>
              </a:rPr>
              <a:t>Tistory</a:t>
            </a:r>
          </a:p>
          <a:p>
            <a:pPr marL="79375" indent="0">
              <a:lnSpc>
                <a:spcPct val="115000"/>
              </a:lnSpc>
              <a:buSzPts val="2350"/>
              <a:buFont typeface="Arial" panose="020B0604020202020204" pitchFamily="34" charset="0"/>
              <a:buNone/>
            </a:pPr>
            <a:r>
              <a:rPr lang="en-US" altLang="ko-KR" sz="2000">
                <a:cs typeface="Calibri"/>
                <a:sym typeface="Calibri"/>
                <a:hlinkClick r:id="rId2"/>
              </a:rPr>
              <a:t>https://www.tistory.com/</a:t>
            </a:r>
            <a:r>
              <a:rPr lang="en-US" altLang="ko-KR" sz="2000">
                <a:cs typeface="Calibri"/>
                <a:sym typeface="Calibri"/>
              </a:rPr>
              <a:t> </a:t>
            </a:r>
            <a:endParaRPr lang="en-US" sz="2000" dirty="0">
              <a:cs typeface="Calibri"/>
              <a:sym typeface="Calibri"/>
            </a:endParaRPr>
          </a:p>
        </p:txBody>
      </p:sp>
      <p:sp>
        <p:nvSpPr>
          <p:cNvPr id="7" name="Google Shape;206;g1c6ff2b8c7b_1_21">
            <a:extLst>
              <a:ext uri="{FF2B5EF4-FFF2-40B4-BE49-F238E27FC236}">
                <a16:creationId xmlns:a16="http://schemas.microsoft.com/office/drawing/2014/main" id="{E8FB726D-8855-D321-0386-A722A9B56BE4}"/>
              </a:ext>
            </a:extLst>
          </p:cNvPr>
          <p:cNvSpPr txBox="1">
            <a:spLocks/>
          </p:cNvSpPr>
          <p:nvPr/>
        </p:nvSpPr>
        <p:spPr>
          <a:xfrm>
            <a:off x="2406139" y="3733169"/>
            <a:ext cx="2959946" cy="127480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>
                <a:cs typeface="Calibri"/>
                <a:sym typeface="Calibri"/>
              </a:rPr>
              <a:t>Velog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u="sng">
                <a:solidFill>
                  <a:schemeClr val="hlink"/>
                </a:solidFill>
                <a:cs typeface="Calibri"/>
                <a:sym typeface="Calibri"/>
                <a:hlinkClick r:id="rId3"/>
              </a:rPr>
              <a:t>https://velog.io/</a:t>
            </a:r>
            <a:endParaRPr lang="en-US" sz="2000" dirty="0">
              <a:cs typeface="Calibri"/>
              <a:sym typeface="Calibri"/>
            </a:endParaRPr>
          </a:p>
        </p:txBody>
      </p:sp>
      <p:pic>
        <p:nvPicPr>
          <p:cNvPr id="8" name="Google Shape;205;g1c6ff2b8c7b_1_21">
            <a:extLst>
              <a:ext uri="{FF2B5EF4-FFF2-40B4-BE49-F238E27FC236}">
                <a16:creationId xmlns:a16="http://schemas.microsoft.com/office/drawing/2014/main" id="{F43E631B-06DD-8F39-6F2C-5F55DD9C4F8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1450" y="3815807"/>
            <a:ext cx="1000800" cy="10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티스토리 - TISTORY – Apps on Google Play">
            <a:extLst>
              <a:ext uri="{FF2B5EF4-FFF2-40B4-BE49-F238E27FC236}">
                <a16:creationId xmlns:a16="http://schemas.microsoft.com/office/drawing/2014/main" id="{F37CBDD9-B000-2A0F-983A-98D7A4C6B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675" y="1778600"/>
            <a:ext cx="1258350" cy="125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네이버 블로그 종합 가이드 [ 수익, 부업, 구조, 분석 ] : 네이버 블로그">
            <a:extLst>
              <a:ext uri="{FF2B5EF4-FFF2-40B4-BE49-F238E27FC236}">
                <a16:creationId xmlns:a16="http://schemas.microsoft.com/office/drawing/2014/main" id="{3E132744-13F1-BFFC-3DE9-3203162C0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703" y="2466143"/>
            <a:ext cx="1270102" cy="113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워드 프레스 - 무료 소셜 미디어개 아이콘">
            <a:extLst>
              <a:ext uri="{FF2B5EF4-FFF2-40B4-BE49-F238E27FC236}">
                <a16:creationId xmlns:a16="http://schemas.microsoft.com/office/drawing/2014/main" id="{7D8F5D57-96D6-DE56-9084-AFFD00245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693" y="2840817"/>
            <a:ext cx="929000" cy="9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로그인 - 포블로그 : 블로그 체험단 마케팅 서비스">
            <a:extLst>
              <a:ext uri="{FF2B5EF4-FFF2-40B4-BE49-F238E27FC236}">
                <a16:creationId xmlns:a16="http://schemas.microsoft.com/office/drawing/2014/main" id="{B7689260-1B7D-899F-AD4A-3F3674041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974" y="3769817"/>
            <a:ext cx="665661" cy="66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806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8E373E-4A6F-3DAF-FFA9-1C87175C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>
                <a:hlinkClick r:id="rId3"/>
              </a:rPr>
              <a:t>https://rb.gy/ij9td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3F145A-51BC-57C6-435B-A95F1916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B95329-B585-0642-B798-29BBEBE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7BCF03-A98D-E9EC-D2A0-221698B1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블로깅</a:t>
            </a:r>
            <a:r>
              <a:rPr lang="ko-KR" altLang="en-US" dirty="0"/>
              <a:t> 가이드 확인하기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80DFF7-EE45-5B20-20F3-E28EAAF5E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825" y="516914"/>
            <a:ext cx="5131077" cy="543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38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3F641-8BE2-2645-56B6-2BBD5CD1E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제목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b="1" dirty="0">
                <a:solidFill>
                  <a:srgbClr val="6EC173"/>
                </a:solidFill>
              </a:rPr>
              <a:t>[</a:t>
            </a:r>
            <a:r>
              <a:rPr lang="ko-KR" altLang="en-US" b="1" dirty="0">
                <a:solidFill>
                  <a:srgbClr val="6EC173"/>
                </a:solidFill>
              </a:rPr>
              <a:t>새싹</a:t>
            </a:r>
            <a:r>
              <a:rPr lang="en-US" altLang="ko-KR" b="1" dirty="0">
                <a:solidFill>
                  <a:srgbClr val="6EC173"/>
                </a:solidFill>
              </a:rPr>
              <a:t>x</a:t>
            </a:r>
            <a:r>
              <a:rPr lang="ko-KR" altLang="en-US" b="1" dirty="0" err="1">
                <a:solidFill>
                  <a:srgbClr val="6EC173"/>
                </a:solidFill>
              </a:rPr>
              <a:t>코딩온</a:t>
            </a:r>
            <a:r>
              <a:rPr lang="en-US" altLang="ko-KR" b="1" dirty="0">
                <a:solidFill>
                  <a:srgbClr val="6EC173"/>
                </a:solidFill>
              </a:rPr>
              <a:t>] + </a:t>
            </a:r>
            <a:r>
              <a:rPr lang="ko-KR" altLang="en-US" b="1" dirty="0" err="1">
                <a:solidFill>
                  <a:srgbClr val="6EC173"/>
                </a:solidFill>
              </a:rPr>
              <a:t>과정명</a:t>
            </a:r>
            <a:r>
              <a:rPr lang="ko-KR" altLang="en-US" b="1" dirty="0">
                <a:solidFill>
                  <a:srgbClr val="6EC173"/>
                </a:solidFill>
              </a:rPr>
              <a:t> </a:t>
            </a:r>
            <a:r>
              <a:rPr lang="en-US" altLang="ko-KR" b="1" dirty="0">
                <a:solidFill>
                  <a:srgbClr val="6EC173"/>
                </a:solidFill>
              </a:rPr>
              <a:t>+ </a:t>
            </a:r>
            <a:r>
              <a:rPr lang="ko-KR" altLang="en-US" b="1" dirty="0">
                <a:solidFill>
                  <a:srgbClr val="6EC173"/>
                </a:solidFill>
              </a:rPr>
              <a:t>주차 </a:t>
            </a:r>
            <a:r>
              <a:rPr lang="en-US" altLang="ko-KR" b="1" dirty="0">
                <a:solidFill>
                  <a:srgbClr val="6EC173"/>
                </a:solidFill>
              </a:rPr>
              <a:t>+ ‘</a:t>
            </a:r>
            <a:r>
              <a:rPr lang="ko-KR" altLang="en-US" b="1" dirty="0">
                <a:solidFill>
                  <a:srgbClr val="6EC173"/>
                </a:solidFill>
              </a:rPr>
              <a:t>회고’ </a:t>
            </a:r>
            <a:r>
              <a:rPr lang="en-US" altLang="ko-KR" b="1" dirty="0">
                <a:solidFill>
                  <a:srgbClr val="6EC173"/>
                </a:solidFill>
              </a:rPr>
              <a:t>+ </a:t>
            </a:r>
            <a:r>
              <a:rPr lang="ko-KR" altLang="en-US" b="1" dirty="0" err="1">
                <a:solidFill>
                  <a:srgbClr val="6EC173"/>
                </a:solidFill>
              </a:rPr>
              <a:t>블로깅</a:t>
            </a:r>
            <a:r>
              <a:rPr lang="ko-KR" altLang="en-US" b="1" dirty="0">
                <a:solidFill>
                  <a:srgbClr val="6EC173"/>
                </a:solidFill>
              </a:rPr>
              <a:t> 주제 </a:t>
            </a:r>
            <a:endParaRPr lang="en-US" altLang="ko-KR" b="1" dirty="0">
              <a:solidFill>
                <a:srgbClr val="6EC173"/>
              </a:solidFill>
            </a:endParaRPr>
          </a:p>
          <a:p>
            <a:pPr marL="457200" lvl="1" indent="0">
              <a:buNone/>
            </a:pPr>
            <a:r>
              <a:rPr lang="en-US" altLang="ko-KR" dirty="0"/>
              <a:t>Ex) [</a:t>
            </a:r>
            <a:r>
              <a:rPr lang="ko-KR" altLang="en-US" dirty="0"/>
              <a:t>새싹</a:t>
            </a:r>
            <a:r>
              <a:rPr lang="en-US" altLang="ko-KR" dirty="0"/>
              <a:t>x</a:t>
            </a:r>
            <a:r>
              <a:rPr lang="ko-KR" altLang="en-US" dirty="0" err="1"/>
              <a:t>코딩온</a:t>
            </a:r>
            <a:r>
              <a:rPr lang="en-US" altLang="ko-KR" dirty="0"/>
              <a:t>] </a:t>
            </a:r>
            <a:r>
              <a:rPr lang="ko-KR" altLang="en-US" dirty="0"/>
              <a:t>웹 개발자 부트캠프 과정 </a:t>
            </a:r>
            <a:r>
              <a:rPr lang="en-US" altLang="ko-KR" dirty="0"/>
              <a:t>1</a:t>
            </a:r>
            <a:r>
              <a:rPr lang="ko-KR" altLang="en-US" dirty="0"/>
              <a:t>주차 회고 </a:t>
            </a:r>
            <a:r>
              <a:rPr lang="en-US" altLang="ko-KR" dirty="0"/>
              <a:t>| HTML </a:t>
            </a:r>
            <a:r>
              <a:rPr lang="ko-KR" altLang="en-US" dirty="0"/>
              <a:t>태그 </a:t>
            </a:r>
            <a:endParaRPr lang="en-US" altLang="ko-KR" dirty="0"/>
          </a:p>
          <a:p>
            <a:r>
              <a:rPr lang="ko-KR" altLang="en-US" dirty="0"/>
              <a:t>내용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서론 → 본론 → 결론</a:t>
            </a:r>
            <a:r>
              <a:rPr lang="en-US" altLang="ko-KR" dirty="0"/>
              <a:t>(</a:t>
            </a:r>
            <a:r>
              <a:rPr lang="ko-KR" altLang="en-US" dirty="0"/>
              <a:t>회고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주기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일주일에 </a:t>
            </a:r>
            <a:r>
              <a:rPr lang="ko-KR" altLang="en-US" b="1" dirty="0">
                <a:solidFill>
                  <a:srgbClr val="6EC173"/>
                </a:solidFill>
              </a:rPr>
              <a:t>최소 </a:t>
            </a:r>
            <a:r>
              <a:rPr lang="en-US" altLang="ko-KR" b="1" dirty="0">
                <a:solidFill>
                  <a:srgbClr val="6EC173"/>
                </a:solidFill>
              </a:rPr>
              <a:t>2</a:t>
            </a:r>
            <a:r>
              <a:rPr lang="ko-KR" altLang="en-US" b="1" dirty="0">
                <a:solidFill>
                  <a:srgbClr val="6EC173"/>
                </a:solidFill>
              </a:rPr>
              <a:t>번</a:t>
            </a:r>
            <a:r>
              <a:rPr lang="en-US" altLang="ko-KR" dirty="0"/>
              <a:t>!</a:t>
            </a:r>
          </a:p>
          <a:p>
            <a:pPr marL="457200" lvl="1" indent="0">
              <a:buNone/>
            </a:pPr>
            <a:r>
              <a:rPr lang="en-US" altLang="ko-KR" dirty="0"/>
              <a:t>1</a:t>
            </a:r>
            <a:r>
              <a:rPr lang="ko-KR" altLang="en-US" dirty="0"/>
              <a:t>개의 프로젝트당 </a:t>
            </a:r>
            <a:r>
              <a:rPr lang="en-US" altLang="ko-KR" b="1" dirty="0">
                <a:solidFill>
                  <a:srgbClr val="6EC173"/>
                </a:solidFill>
              </a:rPr>
              <a:t>1</a:t>
            </a:r>
            <a:r>
              <a:rPr lang="ko-KR" altLang="en-US" b="1" dirty="0">
                <a:solidFill>
                  <a:srgbClr val="6EC173"/>
                </a:solidFill>
              </a:rPr>
              <a:t>개의 회고록</a:t>
            </a:r>
            <a:r>
              <a:rPr lang="en-US" altLang="ko-KR" dirty="0"/>
              <a:t>!</a:t>
            </a:r>
          </a:p>
          <a:p>
            <a:pPr marL="457200" lvl="1" indent="0">
              <a:buNone/>
            </a:pPr>
            <a:r>
              <a:rPr lang="ko-KR" altLang="en-US" dirty="0"/>
              <a:t>매주 링크를 </a:t>
            </a:r>
            <a:r>
              <a:rPr lang="en-US" altLang="ko-KR" b="1" dirty="0">
                <a:solidFill>
                  <a:srgbClr val="6EC173"/>
                </a:solidFill>
              </a:rPr>
              <a:t>Slack #</a:t>
            </a:r>
            <a:r>
              <a:rPr lang="ko-KR" altLang="en-US" b="1" dirty="0" err="1">
                <a:solidFill>
                  <a:srgbClr val="6EC173"/>
                </a:solidFill>
              </a:rPr>
              <a:t>블로깅</a:t>
            </a:r>
            <a:r>
              <a:rPr lang="ko-KR" altLang="en-US" b="1" dirty="0">
                <a:solidFill>
                  <a:srgbClr val="6EC173"/>
                </a:solidFill>
              </a:rPr>
              <a:t> 채널</a:t>
            </a:r>
            <a:r>
              <a:rPr lang="ko-KR" altLang="en-US" dirty="0"/>
              <a:t>에 댓글로 올리고 </a:t>
            </a:r>
            <a:r>
              <a:rPr lang="ko-KR" altLang="en-US" dirty="0" err="1"/>
              <a:t>크루리더에게</a:t>
            </a:r>
            <a:r>
              <a:rPr lang="ko-KR" altLang="en-US" dirty="0"/>
              <a:t> 피드백 받기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DCAEA-3EB0-37C5-77AB-7F4D96A08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97721-578F-2307-C807-79E2C407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7D3343-188B-9577-C815-93C366B5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블로그 작성법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B10B3D-D6A7-89DE-3D04-375C76542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4757" y="3007293"/>
            <a:ext cx="3447161" cy="221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18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8140-662B-4C70-8D54-95183800525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76AA2F-B8E7-A2EF-0578-8EF88B06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52EA24-2D13-56F8-F480-D4CE1C25B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785" y="1124252"/>
            <a:ext cx="9312430" cy="460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441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</TotalTime>
  <Words>1288</Words>
  <Application>Microsoft Office PowerPoint</Application>
  <PresentationFormat>와이드스크린</PresentationFormat>
  <Paragraphs>231</Paragraphs>
  <Slides>35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4" baseType="lpstr">
      <vt:lpstr>-apple-system</vt:lpstr>
      <vt:lpstr>Pretendard</vt:lpstr>
      <vt:lpstr>PretendardGOV</vt:lpstr>
      <vt:lpstr>강한공군체 Medium</vt:lpstr>
      <vt:lpstr>맑은 고딕</vt:lpstr>
      <vt:lpstr>Arial</vt:lpstr>
      <vt:lpstr>Calibri</vt:lpstr>
      <vt:lpstr>Wingdings</vt:lpstr>
      <vt:lpstr>1_Office 테마</vt:lpstr>
      <vt:lpstr>웹 개발자 부트캠프 과정 OT</vt:lpstr>
      <vt:lpstr>과정 설명</vt:lpstr>
      <vt:lpstr>커리큘럼</vt:lpstr>
      <vt:lpstr>코딩온 과정 특징</vt:lpstr>
      <vt:lpstr>PowerPoint 프레젠테이션</vt:lpstr>
      <vt:lpstr>PowerPoint 프레젠테이션</vt:lpstr>
      <vt:lpstr>출결 안내 및 기준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Git</vt:lpstr>
      <vt:lpstr>포트폴리오?</vt:lpstr>
      <vt:lpstr>PowerPoint 프레젠테이션</vt:lpstr>
      <vt:lpstr>Github 회원가입/로그인</vt:lpstr>
      <vt:lpstr>VS Code 설치 </vt:lpstr>
      <vt:lpstr>VSCode 확장 프로그램 설치</vt:lpstr>
      <vt:lpstr>Git 설치하기 (Windows)</vt:lpstr>
      <vt:lpstr>       Git Bash에서 아래 명령어 입력</vt:lpstr>
      <vt:lpstr>Gihub에서 Repository 만들고 가져오기</vt:lpstr>
      <vt:lpstr>Repository 가져오기</vt:lpstr>
      <vt:lpstr>PowerPoint 프레젠테이션</vt:lpstr>
      <vt:lpstr>Git 명령어</vt:lpstr>
      <vt:lpstr>블로깅</vt:lpstr>
      <vt:lpstr>블로깅 Tool</vt:lpstr>
      <vt:lpstr>블로깅 가이드 확인하기</vt:lpstr>
      <vt:lpstr>블로그 작성법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155</cp:revision>
  <dcterms:created xsi:type="dcterms:W3CDTF">2022-06-26T11:10:22Z</dcterms:created>
  <dcterms:modified xsi:type="dcterms:W3CDTF">2024-05-07T09:08:09Z</dcterms:modified>
</cp:coreProperties>
</file>