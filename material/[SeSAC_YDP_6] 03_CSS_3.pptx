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1"/>
  </p:sldMasterIdLst>
  <p:notesMasterIdLst>
    <p:notesMasterId r:id="rId27"/>
  </p:notesMasterIdLst>
  <p:sldIdLst>
    <p:sldId id="342" r:id="rId2"/>
    <p:sldId id="689" r:id="rId3"/>
    <p:sldId id="312" r:id="rId4"/>
    <p:sldId id="339" r:id="rId5"/>
    <p:sldId id="315" r:id="rId6"/>
    <p:sldId id="690" r:id="rId7"/>
    <p:sldId id="688" r:id="rId8"/>
    <p:sldId id="322" r:id="rId9"/>
    <p:sldId id="324" r:id="rId10"/>
    <p:sldId id="323" r:id="rId11"/>
    <p:sldId id="691" r:id="rId12"/>
    <p:sldId id="692" r:id="rId13"/>
    <p:sldId id="373" r:id="rId14"/>
    <p:sldId id="316" r:id="rId15"/>
    <p:sldId id="687" r:id="rId16"/>
    <p:sldId id="693" r:id="rId17"/>
    <p:sldId id="314" r:id="rId18"/>
    <p:sldId id="398" r:id="rId19"/>
    <p:sldId id="317" r:id="rId20"/>
    <p:sldId id="374" r:id="rId21"/>
    <p:sldId id="375" r:id="rId22"/>
    <p:sldId id="376" r:id="rId23"/>
    <p:sldId id="330" r:id="rId24"/>
    <p:sldId id="318" r:id="rId25"/>
    <p:sldId id="319" r:id="rId2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897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272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524019-D21D-4F04-AF43-2AEEE922364E}" type="datetimeFigureOut">
              <a:rPr lang="ko-KR" altLang="en-US" smtClean="0"/>
              <a:t>2024-05-17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A70C596-B40F-4F83-8FE4-5CF99F6F672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21921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22728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index6.html &amp; </a:t>
            </a:r>
            <a:r>
              <a:rPr lang="en-US" altLang="ko-KR" dirty="0" err="1"/>
              <a:t>css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 err="1"/>
              <a:t>ㄴ</a:t>
            </a:r>
            <a:r>
              <a:rPr lang="ko-KR" altLang="en-US" dirty="0"/>
              <a:t> </a:t>
            </a:r>
            <a:r>
              <a:rPr lang="en-US" altLang="ko-KR" dirty="0"/>
              <a:t>position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Index7.html &amp; </a:t>
            </a:r>
            <a:r>
              <a:rPr lang="en-US" altLang="ko-KR" dirty="0" err="1"/>
              <a:t>css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 err="1"/>
              <a:t>ㄴ</a:t>
            </a:r>
            <a:r>
              <a:rPr lang="ko-KR" altLang="en-US" dirty="0"/>
              <a:t> </a:t>
            </a:r>
            <a:r>
              <a:rPr lang="en-US" altLang="ko-KR" dirty="0"/>
              <a:t>z-index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Index8.html &amp; </a:t>
            </a:r>
            <a:r>
              <a:rPr lang="en-US" altLang="ko-KR" dirty="0" err="1"/>
              <a:t>css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 err="1"/>
              <a:t>ㄴ</a:t>
            </a:r>
            <a:r>
              <a:rPr lang="ko-KR" altLang="en-US" dirty="0"/>
              <a:t> </a:t>
            </a:r>
            <a:r>
              <a:rPr lang="en-US" altLang="ko-KR" dirty="0"/>
              <a:t>overflow</a:t>
            </a:r>
          </a:p>
          <a:p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33349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LMS </a:t>
            </a:r>
            <a:r>
              <a:rPr lang="ko-KR" altLang="en-US" dirty="0"/>
              <a:t>실습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34231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266201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kdt3rd-workspace/03_css/</a:t>
            </a:r>
            <a:r>
              <a:rPr lang="en-US" altLang="ko-KR" b="1" dirty="0"/>
              <a:t>index8.html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kdt3rd-workspace/03_css/</a:t>
            </a:r>
            <a:r>
              <a:rPr lang="en-US" altLang="ko-KR" b="1" dirty="0"/>
              <a:t>index8.css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950316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kdt3rd-workspace/03_css/</a:t>
            </a:r>
            <a:r>
              <a:rPr lang="en-US" altLang="ko-KR" b="1" dirty="0"/>
              <a:t>index8.html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kdt3rd-workspace/03_css/</a:t>
            </a:r>
            <a:r>
              <a:rPr lang="en-US" altLang="ko-KR" b="1" dirty="0"/>
              <a:t>index8.css</a:t>
            </a:r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740541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kdt3rd-workspace/03_css/</a:t>
            </a:r>
            <a:r>
              <a:rPr lang="en-US" altLang="ko-KR" b="1" dirty="0"/>
              <a:t>index8.html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kdt3rd-workspace/03_css/</a:t>
            </a:r>
            <a:r>
              <a:rPr lang="en-US" altLang="ko-KR" b="1" dirty="0"/>
              <a:t>index8.css</a:t>
            </a:r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25674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023796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buFont typeface="+mj-lt"/>
              <a:buAutoNum type="arabicPeriod"/>
            </a:pPr>
            <a:r>
              <a:rPr lang="en-US" altLang="ko-KR" b="1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transition-property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: 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애니메이션 효과를 줄 속성 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(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여기서는 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transform).</a:t>
            </a:r>
          </a:p>
          <a:p>
            <a:pPr algn="l">
              <a:buFont typeface="+mj-lt"/>
              <a:buAutoNum type="arabicPeriod"/>
            </a:pPr>
            <a:r>
              <a:rPr lang="en-US" altLang="ko-KR" b="1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transition-duration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: 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애니메이션이 완료되는 시간 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(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여기서는 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1s).</a:t>
            </a:r>
          </a:p>
          <a:p>
            <a:pPr algn="l">
              <a:buFont typeface="+mj-lt"/>
              <a:buAutoNum type="arabicPeriod"/>
            </a:pPr>
            <a:r>
              <a:rPr lang="en-US" altLang="ko-KR" b="1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transition-timing-function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 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(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선택 사항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): 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애니메이션 속도의 변화를 정의 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(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기본값은 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ease). – </a:t>
            </a:r>
            <a:r>
              <a:rPr lang="ko-KR" altLang="en-US" b="0" i="0" dirty="0" err="1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느렸다가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 빨라지게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, 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빨라졌다 느려지게</a:t>
            </a:r>
            <a:endParaRPr lang="en-US" altLang="ko-KR" b="0" i="0" dirty="0">
              <a:solidFill>
                <a:srgbClr val="0D0D0D"/>
              </a:solidFill>
              <a:effectLst/>
              <a:highlight>
                <a:srgbClr val="FFFFFF"/>
              </a:highlight>
              <a:latin typeface="Söhne"/>
            </a:endParaRPr>
          </a:p>
          <a:p>
            <a:pPr algn="l">
              <a:buFont typeface="+mj-lt"/>
              <a:buAutoNum type="arabicPeriod"/>
            </a:pPr>
            <a:r>
              <a:rPr lang="en-US" altLang="ko-KR" b="1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transition-delay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 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(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선택 사항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): 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애니메이션이 시작되기 전의 지연 시간 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(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기본값은 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0s).</a:t>
            </a:r>
          </a:p>
          <a:p>
            <a:pPr algn="l">
              <a:buFont typeface="+mj-lt"/>
              <a:buAutoNum type="arabicPeriod"/>
            </a:pPr>
            <a:endParaRPr lang="en-US" altLang="ko-KR" b="0" i="0" dirty="0">
              <a:solidFill>
                <a:srgbClr val="0D0D0D"/>
              </a:solidFill>
              <a:effectLst/>
              <a:highlight>
                <a:srgbClr val="FFFFFF"/>
              </a:highlight>
              <a:latin typeface="Söhne"/>
            </a:endParaRPr>
          </a:p>
          <a:p>
            <a:pPr algn="l">
              <a:buFont typeface="+mj-lt"/>
              <a:buAutoNum type="arabicPeriod"/>
            </a:pP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https://developer.mozilla.org/en-US/docs/Web/CSS/transition-timing-function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063809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3466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071184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실습 풀이 있음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019658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89942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grid</a:t>
            </a:r>
            <a:r>
              <a:rPr lang="ko-KR" altLang="en-US" dirty="0"/>
              <a:t> 는 지금 배우기에 너무 어지러우니 나중에 다시 만나요</a:t>
            </a:r>
            <a:r>
              <a:rPr lang="en-US" altLang="ko-KR" dirty="0"/>
              <a:t>!!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537747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요거는 수업 끝나고 만들어 볼 것</a:t>
            </a:r>
            <a:r>
              <a:rPr lang="en-US" altLang="ko-KR" dirty="0"/>
              <a:t>. </a:t>
            </a:r>
          </a:p>
          <a:p>
            <a:r>
              <a:rPr lang="ko-KR" altLang="en-US" dirty="0"/>
              <a:t>윤곽이 잡혀있는 </a:t>
            </a:r>
            <a:r>
              <a:rPr lang="en-US" altLang="ko-KR" dirty="0"/>
              <a:t>html</a:t>
            </a:r>
            <a:r>
              <a:rPr lang="ko-KR" altLang="en-US" dirty="0"/>
              <a:t>파일과  </a:t>
            </a:r>
            <a:r>
              <a:rPr lang="en-US" altLang="ko-KR" dirty="0" err="1"/>
              <a:t>css</a:t>
            </a:r>
            <a:r>
              <a:rPr lang="ko-KR" altLang="en-US" dirty="0"/>
              <a:t>파일을 드릴 것이니 미리 풀지 말라</a:t>
            </a:r>
            <a:r>
              <a:rPr lang="en-US" altLang="ko-KR" dirty="0"/>
              <a:t>~~~~~~</a:t>
            </a:r>
          </a:p>
          <a:p>
            <a:endParaRPr lang="en-US" altLang="ko-KR" dirty="0"/>
          </a:p>
          <a:p>
            <a:r>
              <a:rPr lang="ko-KR" altLang="en-US" dirty="0"/>
              <a:t>수업준비</a:t>
            </a:r>
            <a:r>
              <a:rPr lang="en-US" altLang="ko-KR" dirty="0"/>
              <a:t>/230705/practice/header.html </a:t>
            </a:r>
            <a:r>
              <a:rPr lang="ko-KR" altLang="en-US" dirty="0"/>
              <a:t>과 </a:t>
            </a:r>
            <a:r>
              <a:rPr lang="en-US" altLang="ko-KR" dirty="0"/>
              <a:t>header.css </a:t>
            </a:r>
            <a:r>
              <a:rPr lang="ko-KR" altLang="en-US" dirty="0"/>
              <a:t>전달하기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5743F5-9E7E-4395-8C78-F5A3CC3D6840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6491278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192412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우리가 만들어주는 이름</a:t>
            </a:r>
            <a:endParaRPr lang="en-US" altLang="ko-KR" dirty="0"/>
          </a:p>
          <a:p>
            <a:r>
              <a:rPr lang="ko-KR" altLang="en-US" dirty="0"/>
              <a:t>지속시간 </a:t>
            </a:r>
            <a:r>
              <a:rPr lang="en-US" altLang="ko-KR" dirty="0"/>
              <a:t>~s</a:t>
            </a:r>
            <a:r>
              <a:rPr lang="en-US" altLang="ko-KR" baseline="0" dirty="0"/>
              <a:t> </a:t>
            </a:r>
            <a:r>
              <a:rPr lang="ko-KR" altLang="en-US" baseline="0" dirty="0"/>
              <a:t>의 몇 초 형태</a:t>
            </a:r>
            <a:endParaRPr lang="en-US" altLang="ko-KR" baseline="0" dirty="0"/>
          </a:p>
          <a:p>
            <a:r>
              <a:rPr lang="ko-KR" altLang="en-US" baseline="0" dirty="0"/>
              <a:t>진행 형태 </a:t>
            </a:r>
            <a:r>
              <a:rPr lang="en-US" altLang="ko-KR" baseline="0" dirty="0"/>
              <a:t>: </a:t>
            </a:r>
            <a:r>
              <a:rPr lang="ko-KR" altLang="en-US" baseline="0" dirty="0"/>
              <a:t>시간 함수</a:t>
            </a:r>
            <a:r>
              <a:rPr lang="en-US" altLang="ko-KR" baseline="0" dirty="0"/>
              <a:t>, transition </a:t>
            </a:r>
            <a:r>
              <a:rPr lang="ko-KR" altLang="en-US" baseline="0" dirty="0"/>
              <a:t>의 </a:t>
            </a:r>
            <a:r>
              <a:rPr lang="en-US" altLang="ko-KR" baseline="0" dirty="0"/>
              <a:t>timing-function</a:t>
            </a:r>
            <a:r>
              <a:rPr lang="ko-KR" altLang="en-US" baseline="0" dirty="0"/>
              <a:t>과 동일</a:t>
            </a:r>
            <a:r>
              <a:rPr lang="en-US" altLang="ko-KR" baseline="0" dirty="0"/>
              <a:t>. </a:t>
            </a:r>
            <a:r>
              <a:rPr lang="en-US" altLang="ko-KR" baseline="0" dirty="0" err="1"/>
              <a:t>animatio</a:t>
            </a:r>
            <a:r>
              <a:rPr lang="ko-KR" altLang="en-US" baseline="0" dirty="0"/>
              <a:t>의 길이는 </a:t>
            </a:r>
            <a:r>
              <a:rPr lang="en-US" altLang="ko-KR" baseline="0" dirty="0" err="1"/>
              <a:t>transitio</a:t>
            </a:r>
            <a:r>
              <a:rPr lang="ko-KR" altLang="en-US" baseline="0" dirty="0"/>
              <a:t>과 다르게 지속 시간이 긴 경우가 많기 때문에 움직임이 </a:t>
            </a:r>
            <a:r>
              <a:rPr lang="en-US" altLang="ko-KR" baseline="0" dirty="0"/>
              <a:t>timing </a:t>
            </a:r>
            <a:r>
              <a:rPr lang="en-US" altLang="ko-KR" baseline="0" dirty="0" err="1"/>
              <a:t>functio</a:t>
            </a:r>
            <a:r>
              <a:rPr lang="ko-KR" altLang="en-US" baseline="0" dirty="0"/>
              <a:t>에 따라서 바뀐다</a:t>
            </a:r>
            <a:r>
              <a:rPr lang="en-US" altLang="ko-KR" baseline="0" dirty="0"/>
              <a:t>. </a:t>
            </a:r>
            <a:r>
              <a:rPr lang="en-US" altLang="ko-KR" baseline="0" dirty="0" err="1"/>
              <a:t>animaitio</a:t>
            </a:r>
            <a:r>
              <a:rPr lang="ko-KR" altLang="en-US" baseline="0" dirty="0"/>
              <a:t>에서의 </a:t>
            </a:r>
            <a:r>
              <a:rPr lang="en-US" altLang="ko-KR" baseline="0" dirty="0"/>
              <a:t>ease linear </a:t>
            </a:r>
            <a:r>
              <a:rPr lang="ko-KR" altLang="en-US" baseline="0" dirty="0"/>
              <a:t>등의 시간 함수는 꽤 중요한 역할을 함</a:t>
            </a:r>
            <a:endParaRPr lang="en-US" altLang="ko-KR" baseline="0" dirty="0"/>
          </a:p>
          <a:p>
            <a:r>
              <a:rPr lang="ko-KR" altLang="en-US" dirty="0" err="1"/>
              <a:t>반복횟수</a:t>
            </a:r>
            <a:r>
              <a:rPr lang="ko-KR" altLang="en-US" dirty="0"/>
              <a:t> </a:t>
            </a:r>
            <a:r>
              <a:rPr lang="en-US" altLang="ko-KR" dirty="0"/>
              <a:t>(iteration-count)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4FAD15D-3FC6-4EBB-8A1D-F20C53EB7780}" type="slidenum">
              <a:rPr lang="ko-KR" altLang="en-US" smtClean="0"/>
              <a:pPr/>
              <a:t>21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3801795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파란글씨</a:t>
            </a:r>
            <a:r>
              <a:rPr lang="ko-KR" altLang="en-US" dirty="0"/>
              <a:t> 필수 속성 </a:t>
            </a:r>
            <a:endParaRPr lang="en-US" altLang="ko-KR" dirty="0"/>
          </a:p>
          <a:p>
            <a:r>
              <a:rPr lang="ko-KR" altLang="en-US" dirty="0"/>
              <a:t>까만 글씨 생략 가능 </a:t>
            </a:r>
            <a:endParaRPr lang="en-US" altLang="ko-KR" dirty="0"/>
          </a:p>
          <a:p>
            <a:r>
              <a:rPr lang="en-US" altLang="ko-KR" dirty="0"/>
              <a:t>Timing-</a:t>
            </a:r>
            <a:r>
              <a:rPr lang="en-US" altLang="ko-KR" dirty="0" err="1"/>
              <a:t>funciton</a:t>
            </a:r>
            <a:r>
              <a:rPr lang="ko-KR" altLang="en-US" dirty="0"/>
              <a:t>은 보통 써주지만 </a:t>
            </a:r>
            <a:r>
              <a:rPr lang="en-US" altLang="ko-KR" dirty="0"/>
              <a:t>delay</a:t>
            </a:r>
            <a:r>
              <a:rPr lang="ko-KR" altLang="en-US" dirty="0"/>
              <a:t>랑 </a:t>
            </a:r>
            <a:r>
              <a:rPr lang="en-US" altLang="ko-KR" dirty="0"/>
              <a:t>direction</a:t>
            </a:r>
            <a:r>
              <a:rPr lang="ko-KR" altLang="en-US" dirty="0"/>
              <a:t>은 안써주는 경우가 </a:t>
            </a:r>
            <a:r>
              <a:rPr lang="ko-KR" altLang="en-US" dirty="0" err="1"/>
              <a:t>만타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4FAD15D-3FC6-4EBB-8A1D-F20C53EB7780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705439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kdt3rd-workspace/03_css/</a:t>
            </a:r>
            <a:r>
              <a:rPr lang="en-US" altLang="ko-KR" b="1" dirty="0"/>
              <a:t>index10.html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kdt3rd-workspace/03_css/</a:t>
            </a:r>
            <a:r>
              <a:rPr lang="en-US" altLang="ko-KR" b="1" dirty="0"/>
              <a:t>index10.css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b="1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b="1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1" dirty="0"/>
              <a:t>=============================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b="1" dirty="0"/>
              <a:t>다음 페이지 </a:t>
            </a:r>
            <a:r>
              <a:rPr lang="en-US" altLang="ko-KR" b="1" dirty="0"/>
              <a:t>&gt; </a:t>
            </a:r>
            <a:r>
              <a:rPr lang="ko-KR" altLang="en-US" b="1" dirty="0"/>
              <a:t>실습 </a:t>
            </a:r>
            <a:r>
              <a:rPr lang="en-US" altLang="ko-KR" b="1" dirty="0"/>
              <a:t>10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kdt3rd-workspace/03_css/</a:t>
            </a:r>
            <a:r>
              <a:rPr lang="en-US" altLang="ko-KR" b="1" dirty="0"/>
              <a:t>practice10.html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kdt3rd-workspace/03_css/</a:t>
            </a:r>
            <a:r>
              <a:rPr lang="en-US" altLang="ko-KR" b="1" dirty="0"/>
              <a:t>practice10.css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b="1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1" dirty="0"/>
              <a:t>=============================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b="1" dirty="0"/>
              <a:t>다음 페이지 </a:t>
            </a:r>
            <a:r>
              <a:rPr lang="en-US" altLang="ko-KR" b="1" dirty="0"/>
              <a:t>&gt; </a:t>
            </a:r>
            <a:r>
              <a:rPr lang="ko-KR" altLang="en-US" b="1" dirty="0"/>
              <a:t>실습 </a:t>
            </a:r>
            <a:r>
              <a:rPr lang="en-US" altLang="ko-KR" b="1" dirty="0"/>
              <a:t>11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kdt3rd-workspace/03_css/</a:t>
            </a:r>
            <a:r>
              <a:rPr lang="en-US" altLang="ko-KR" b="1" dirty="0"/>
              <a:t>practice11.html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kdt3rd-workspace/03_css</a:t>
            </a:r>
            <a:r>
              <a:rPr lang="en-US" altLang="ko-KR"/>
              <a:t>/</a:t>
            </a:r>
            <a:r>
              <a:rPr lang="en-US" altLang="ko-KR" b="1"/>
              <a:t>practice11.</a:t>
            </a:r>
            <a:r>
              <a:rPr lang="en-US" altLang="ko-KR" b="1" dirty="0"/>
              <a:t>css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endParaRPr lang="ko-KR" altLang="en-US" dirty="0"/>
          </a:p>
          <a:p>
            <a:endParaRPr lang="ko-KR" altLang="en-US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endParaRPr lang="ko-KR" altLang="en-US" dirty="0"/>
          </a:p>
          <a:p>
            <a:endParaRPr lang="ko-KR" altLang="en-US" dirty="0"/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461073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"As I relax on the sofa and gaze around a room a thought hits me: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  this is exactly the place I've been looking for all my life.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  A little hideaway in some sinkhole somewhere.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  I'd always thought of it as a secret, imaginary place, and can barely believe that it actually exists.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  I close my eyes and take a breath, and wonder of it all settles over me like a gentle cloud."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dirty="0"/>
              <a:t>&lt;p&gt;</a:t>
            </a:r>
            <a:r>
              <a:rPr lang="ko-KR" altLang="en-US" dirty="0"/>
              <a:t>태그 내용 전달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83015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080511"/>
            <a:ext cx="9144000" cy="2387600"/>
          </a:xfrm>
        </p:spPr>
        <p:txBody>
          <a:bodyPr anchor="b"/>
          <a:lstStyle>
            <a:lvl1pPr algn="ctr">
              <a:defRPr sz="6000" b="1">
                <a:solidFill>
                  <a:srgbClr val="6EC173"/>
                </a:solidFill>
              </a:defRPr>
            </a:lvl1pPr>
          </a:lstStyle>
          <a:p>
            <a:r>
              <a:rPr lang="ko-KR" altLang="en-US" sz="6000" dirty="0" err="1"/>
              <a:t>과정명</a:t>
            </a:r>
            <a:endParaRPr lang="ko-KR" altLang="en-US" sz="60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741092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부제목</a:t>
            </a:r>
          </a:p>
        </p:txBody>
      </p:sp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pic>
        <p:nvPicPr>
          <p:cNvPr id="5" name="그림 4" descr="그래픽, 그래픽 디자인, 클립아트, 다채로움이(가) 표시된 사진&#10;&#10;자동 생성된 설명">
            <a:extLst>
              <a:ext uri="{FF2B5EF4-FFF2-40B4-BE49-F238E27FC236}">
                <a16:creationId xmlns:a16="http://schemas.microsoft.com/office/drawing/2014/main" id="{BE5A577B-81A7-2FA6-9E57-9DCEC5BF71F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6000" y="1461146"/>
            <a:ext cx="3600000" cy="3652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35129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파트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838200" y="2598269"/>
            <a:ext cx="10515600" cy="1325563"/>
          </a:xfrm>
        </p:spPr>
        <p:txBody>
          <a:bodyPr>
            <a:noAutofit/>
          </a:bodyPr>
          <a:lstStyle>
            <a:lvl1pPr algn="ctr">
              <a:defRPr sz="8000" b="1">
                <a:solidFill>
                  <a:srgbClr val="6EC173"/>
                </a:solidFill>
              </a:defRPr>
            </a:lvl1pPr>
          </a:lstStyle>
          <a:p>
            <a:r>
              <a:rPr lang="ko-KR" altLang="en-US" dirty="0"/>
              <a:t>파트 제목</a:t>
            </a:r>
          </a:p>
        </p:txBody>
      </p:sp>
    </p:spTree>
    <p:extLst>
      <p:ext uri="{BB962C8B-B14F-4D97-AF65-F5344CB8AC3E}">
        <p14:creationId xmlns:p14="http://schemas.microsoft.com/office/powerpoint/2010/main" val="11776874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84D0C3-D33B-7107-AB80-D9F33099C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897DBF-398C-9DB6-E916-35AB4FE2F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55B8D2-7CD5-9B15-8E13-87FF760EC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제목 개체 틀 1">
            <a:extLst>
              <a:ext uri="{FF2B5EF4-FFF2-40B4-BE49-F238E27FC236}">
                <a16:creationId xmlns:a16="http://schemas.microsoft.com/office/drawing/2014/main" id="{964962A2-A4D4-9231-66A1-E1F593E60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6813055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4601C5-2723-67A2-7D21-9F39D14C7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4B1E75F-8FF2-A69A-E094-650EAEFD04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31FDEF-673D-E199-7B54-FFD44BA2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A7087-D460-46DD-B430-F8D9B9677D08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E7B47C-D16B-1F66-3165-B941B9C61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6F13A5C-BE81-C46F-5191-E33C5F066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12124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69A2ED-4026-CEC5-0F77-74287163E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5CA756-D15D-464E-966E-2DF9AA9796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DC8A21-839F-87B3-9ABB-E0DA07E88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268EA5-E313-8CB5-4A12-914620F47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1BA25-D675-4234-A003-8449BDEEF18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2797BB-0DAF-A25A-8AC2-46D61F5D6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48752A1-1625-10E7-A4F0-2E13719E4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54315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B7AE7F-26ED-35B6-1BBA-A08CB8ECE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588D8DD-7148-8B19-6172-B0A169CFC3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38CD1D6-87C8-BD82-7711-368227F17A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A208518-1B3C-A417-C6AC-99F9C66D12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843F92-B722-06A6-9A56-0A03BE26CF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3532A15-9ECF-C043-5CC2-911757B5A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55C29-A87F-46F0-A24C-6C9F0A4BF6AA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9998F67-77F3-1632-EC3C-114B75C5A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AB6C1BB-6866-2A3B-A1F3-28B5D93C1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41080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899283-9B12-5339-3042-B6B67884B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97E34E6-ECFD-E5F2-081F-39427DA94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EDD62-8757-43DB-BAE0-460422B548EA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AE04029-E47F-F52E-AF1E-D31E2D400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3665754-DE22-245A-A4D5-FE78A35B0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38555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E82391-47AE-B4C0-C4C4-22E5D9633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A871B-4800-495F-AC75-93D44C7DEBA5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69BF5EA-4922-4594-BC0D-A1D7F17A9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7BF1BF-296A-E655-349A-1877369A8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421403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094360-95AE-5B28-BF6B-212680601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D97E12-A7FB-C81A-18C2-34781A068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739CAA1-90A7-601C-BD90-A0DC6A391D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885FF0-6BE8-F11D-CDAC-7E7B63F396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605888-30A6-49BB-95E2-DEAE4E5B09E9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3A67A35-AF67-BDC9-86E1-D6EE283B8D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C23707-35CC-08DC-8C13-06293DE52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2995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BD7A00-094E-C3F9-1A07-8FD90B7C9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FE9F136-9A64-0D06-F721-734E1E2244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5C3BE40-4202-4B4A-C8A7-24945AC6EE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D21BA2-CA17-A4B0-BBDD-B3995CC85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A39A32-5728-48B8-9F9C-437D214CCAF1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E5E2437-D7E8-6CA8-856B-7C81E4CF8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000DA3E-B239-6A01-347D-5321CBE95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3116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8DC3B4-86CF-2498-CC6E-A256E4AA6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E0FE57-EEBD-DC2E-5AAA-A425A6D59E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C0A4B4C-46E0-9C94-5EAC-7237CB6A9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CC8BA-EBCB-4BF9-8E87-970CE0138376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16647A-6FF5-9F90-2812-CADD48405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6AE80C-7F7A-130E-8BD8-5BA97658E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05733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58AC244-4A84-09D3-50FB-F934F9F479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03D64C9-D76D-C43E-C82B-A315CE73F3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0D0D7C-1A4D-433C-79F6-2C0633D1E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9FA6E-4699-4AC6-B2CB-4E60A58ED7A8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3F9A77-28DF-C409-13B2-D20C80BB4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466F88-F4F1-E00D-DC2A-8DBEA2707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9013139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파트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838200" y="2598269"/>
            <a:ext cx="10515600" cy="1325563"/>
          </a:xfrm>
        </p:spPr>
        <p:txBody>
          <a:bodyPr>
            <a:noAutofit/>
          </a:bodyPr>
          <a:lstStyle>
            <a:lvl1pPr algn="ctr">
              <a:defRPr sz="8000" b="1">
                <a:solidFill>
                  <a:srgbClr val="6EC173"/>
                </a:solidFill>
              </a:defRPr>
            </a:lvl1pPr>
          </a:lstStyle>
          <a:p>
            <a:r>
              <a:rPr lang="ko-KR" altLang="en-US" dirty="0"/>
              <a:t>파트 제목</a:t>
            </a:r>
          </a:p>
        </p:txBody>
      </p:sp>
    </p:spTree>
    <p:extLst>
      <p:ext uri="{BB962C8B-B14F-4D97-AF65-F5344CB8AC3E}">
        <p14:creationId xmlns:p14="http://schemas.microsoft.com/office/powerpoint/2010/main" val="28181351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57DE65-2350-3072-3D26-AE091FE723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47971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91C14A-5735-4A8B-B68B-DEC1DC2A3813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960F7DA-0F14-8211-C3E8-B6E466EE49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8DDAAB-9487-BAAF-7209-B8E704131B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47971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 userDrawn="1"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6EC173"/>
          </a:solidFill>
          <a:ln>
            <a:solidFill>
              <a:srgbClr val="6EC17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4" name="그림 13" descr="그래픽, 그래픽 디자인, 폰트, 원이(가) 표시된 사진&#10;&#10;자동 생성된 설명">
            <a:extLst>
              <a:ext uri="{FF2B5EF4-FFF2-40B4-BE49-F238E27FC236}">
                <a16:creationId xmlns:a16="http://schemas.microsoft.com/office/drawing/2014/main" id="{0EB71D7B-83F1-1414-954A-8C79751B7793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5681" y="96056"/>
            <a:ext cx="1260000" cy="270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75499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  <p:sldLayoutId id="2147483660" r:id="rId13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gi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d2iwdqgro8i2ew.cloudfront.net/lesson/script/53006-1.html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8000" dirty="0"/>
              <a:t>CSS </a:t>
            </a:r>
            <a:r>
              <a:rPr lang="ko-KR" altLang="en-US" sz="8000" dirty="0"/>
              <a:t>복잡한 속성</a:t>
            </a:r>
          </a:p>
        </p:txBody>
      </p:sp>
    </p:spTree>
    <p:extLst>
      <p:ext uri="{BB962C8B-B14F-4D97-AF65-F5344CB8AC3E}">
        <p14:creationId xmlns:p14="http://schemas.microsoft.com/office/powerpoint/2010/main" val="22904818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5BDFA10-ECF7-38FE-C364-618B7085F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EAC1192-3240-5090-C940-3FE8EE2E7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45DC42BC-3382-7592-84ED-A0A40D69B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11500" dirty="0"/>
              <a:t>position</a:t>
            </a:r>
            <a:endParaRPr lang="ko-KR" altLang="en-US" sz="11500" dirty="0"/>
          </a:p>
        </p:txBody>
      </p:sp>
    </p:spTree>
    <p:extLst>
      <p:ext uri="{BB962C8B-B14F-4D97-AF65-F5344CB8AC3E}">
        <p14:creationId xmlns:p14="http://schemas.microsoft.com/office/powerpoint/2010/main" val="6967981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7654206-EECB-4A13-81A8-6C5D73A492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80292"/>
            <a:ext cx="10515600" cy="4351338"/>
          </a:xfrm>
        </p:spPr>
        <p:txBody>
          <a:bodyPr>
            <a:normAutofit/>
          </a:bodyPr>
          <a:lstStyle/>
          <a:p>
            <a:pPr algn="ctr"/>
            <a:r>
              <a:rPr lang="en-US" altLang="ko-KR" sz="3200" dirty="0"/>
              <a:t>static : </a:t>
            </a:r>
            <a:r>
              <a:rPr lang="ko-KR" altLang="en-US" sz="3200" dirty="0"/>
              <a:t>정적 위치 지정 방식</a:t>
            </a:r>
            <a:endParaRPr lang="en-US" altLang="ko-KR" sz="3200" dirty="0"/>
          </a:p>
          <a:p>
            <a:pPr algn="ctr"/>
            <a:endParaRPr lang="en-US" altLang="ko-KR" sz="3200" dirty="0"/>
          </a:p>
          <a:p>
            <a:pPr algn="ctr"/>
            <a:r>
              <a:rPr lang="en-US" altLang="ko-KR" sz="3200" dirty="0"/>
              <a:t>relative : </a:t>
            </a:r>
            <a:r>
              <a:rPr lang="ko-KR" altLang="en-US" sz="3200" dirty="0"/>
              <a:t>상대 위치 지정 방식</a:t>
            </a:r>
            <a:endParaRPr lang="en-US" altLang="ko-KR" sz="3200" dirty="0"/>
          </a:p>
          <a:p>
            <a:pPr algn="ctr"/>
            <a:endParaRPr lang="en-US" altLang="ko-KR" sz="3200" dirty="0"/>
          </a:p>
          <a:p>
            <a:pPr algn="ctr"/>
            <a:r>
              <a:rPr lang="en-US" altLang="ko-KR" sz="3200" dirty="0"/>
              <a:t>absolute : </a:t>
            </a:r>
            <a:r>
              <a:rPr lang="ko-KR" altLang="en-US" sz="3200" dirty="0"/>
              <a:t>절대 위치 지정 방식</a:t>
            </a:r>
            <a:endParaRPr lang="en-US" altLang="ko-KR" sz="3200" dirty="0"/>
          </a:p>
          <a:p>
            <a:pPr algn="ctr"/>
            <a:endParaRPr lang="en-US" altLang="ko-KR" sz="3200" dirty="0"/>
          </a:p>
          <a:p>
            <a:pPr algn="ctr"/>
            <a:r>
              <a:rPr lang="en-US" altLang="ko-KR" sz="3200" dirty="0"/>
              <a:t>fixed : </a:t>
            </a:r>
            <a:r>
              <a:rPr lang="ko-KR" altLang="en-US" sz="3200" dirty="0"/>
              <a:t>고정 위치 지정 방식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1630AAA-9B55-18D3-332D-AFBF264CC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2024-05-17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309EF4C-6CBF-F353-816C-0A042A4279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E711374-53F0-4A81-B742-9C03D3E374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</a:t>
            </a:r>
            <a:r>
              <a:rPr lang="ko-KR" altLang="en-US" dirty="0"/>
              <a:t> 복잡한 속성 </a:t>
            </a:r>
            <a:r>
              <a:rPr lang="en-US" altLang="ko-KR" dirty="0"/>
              <a:t>- position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590477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날짜 개체 틀 3">
            <a:extLst>
              <a:ext uri="{FF2B5EF4-FFF2-40B4-BE49-F238E27FC236}">
                <a16:creationId xmlns:a16="http://schemas.microsoft.com/office/drawing/2014/main" id="{A1630AAA-9B55-18D3-332D-AFBF264CC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2024-05-17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309EF4C-6CBF-F353-816C-0A042A4279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E711374-53F0-4A81-B742-9C03D3E374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</a:t>
            </a:r>
            <a:r>
              <a:rPr lang="ko-KR" altLang="en-US" dirty="0"/>
              <a:t> 복잡한 속성 </a:t>
            </a:r>
            <a:r>
              <a:rPr lang="en-US" altLang="ko-KR" dirty="0"/>
              <a:t>- position</a:t>
            </a:r>
            <a:endParaRPr lang="ko-KR" alt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6BE774DD-197D-1358-70BB-D8083937BAB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39124"/>
          <a:stretch/>
        </p:blipFill>
        <p:spPr>
          <a:xfrm>
            <a:off x="262111" y="1687846"/>
            <a:ext cx="11667777" cy="375699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D366E32-AFEE-FA0A-86E5-672CF3F8B2E8}"/>
              </a:ext>
            </a:extLst>
          </p:cNvPr>
          <p:cNvSpPr txBox="1"/>
          <p:nvPr/>
        </p:nvSpPr>
        <p:spPr>
          <a:xfrm>
            <a:off x="7576151" y="4563466"/>
            <a:ext cx="398280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>
                <a:solidFill>
                  <a:schemeClr val="accent1"/>
                </a:solidFill>
              </a:rPr>
              <a:t>(</a:t>
            </a:r>
            <a:r>
              <a:rPr lang="ko-KR" altLang="en-US" sz="2400" dirty="0">
                <a:solidFill>
                  <a:schemeClr val="accent1"/>
                </a:solidFill>
              </a:rPr>
              <a:t>잊지 말자</a:t>
            </a:r>
            <a:r>
              <a:rPr lang="en-US" altLang="ko-KR" sz="2400" dirty="0">
                <a:solidFill>
                  <a:schemeClr val="accent1"/>
                </a:solidFill>
              </a:rPr>
              <a:t>!) position</a:t>
            </a:r>
            <a:r>
              <a:rPr lang="ko-KR" altLang="en-US" sz="2400" dirty="0">
                <a:solidFill>
                  <a:schemeClr val="accent1"/>
                </a:solidFill>
              </a:rPr>
              <a:t> 속성이 정의되어 있어야 사용 가능</a:t>
            </a:r>
            <a:r>
              <a:rPr lang="en-US" altLang="ko-KR" sz="2400" dirty="0">
                <a:solidFill>
                  <a:schemeClr val="accent1"/>
                </a:solidFill>
              </a:rPr>
              <a:t>!</a:t>
            </a:r>
            <a:endParaRPr lang="ko-KR" altLang="en-US" sz="2400" dirty="0">
              <a:solidFill>
                <a:schemeClr val="accent1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3AA1E90-982B-CDBC-CB90-CE977273B8C1}"/>
              </a:ext>
            </a:extLst>
          </p:cNvPr>
          <p:cNvSpPr/>
          <p:nvPr/>
        </p:nvSpPr>
        <p:spPr>
          <a:xfrm>
            <a:off x="633047" y="3088982"/>
            <a:ext cx="1500554" cy="2344080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813297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r>
              <a:rPr lang="ko-KR" altLang="en-US" dirty="0"/>
              <a:t>다양한 </a:t>
            </a:r>
            <a:r>
              <a:rPr lang="en-US" altLang="ko-KR" dirty="0"/>
              <a:t>position </a:t>
            </a:r>
            <a:r>
              <a:rPr lang="ko-KR" altLang="en-US" dirty="0"/>
              <a:t>속성을 이용해 애벌레 만들기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2024-05-17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</a:t>
            </a:r>
            <a:r>
              <a:rPr lang="ko-KR" altLang="en-US" dirty="0"/>
              <a:t>애벌레 만들기</a:t>
            </a:r>
          </a:p>
        </p:txBody>
      </p:sp>
      <p:pic>
        <p:nvPicPr>
          <p:cNvPr id="10242" name="Picture 2">
            <a:extLst>
              <a:ext uri="{FF2B5EF4-FFF2-40B4-BE49-F238E27FC236}">
                <a16:creationId xmlns:a16="http://schemas.microsoft.com/office/drawing/2014/main" id="{457C8AF9-7159-A8A3-8025-2FA5009BE89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81" t="25847" r="23279" b="21953"/>
          <a:stretch/>
        </p:blipFill>
        <p:spPr bwMode="auto">
          <a:xfrm>
            <a:off x="794355" y="2301501"/>
            <a:ext cx="5725795" cy="39226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4" name="Picture 4">
            <a:extLst>
              <a:ext uri="{FF2B5EF4-FFF2-40B4-BE49-F238E27FC236}">
                <a16:creationId xmlns:a16="http://schemas.microsoft.com/office/drawing/2014/main" id="{57CA7A7A-0F6F-2872-5EE5-BCE435232A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10928" y="2725114"/>
            <a:ext cx="5225912" cy="29662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타원 2">
            <a:extLst>
              <a:ext uri="{FF2B5EF4-FFF2-40B4-BE49-F238E27FC236}">
                <a16:creationId xmlns:a16="http://schemas.microsoft.com/office/drawing/2014/main" id="{9BD111C2-A304-C6DE-223B-24FB5067FA7F}"/>
              </a:ext>
            </a:extLst>
          </p:cNvPr>
          <p:cNvSpPr/>
          <p:nvPr/>
        </p:nvSpPr>
        <p:spPr>
          <a:xfrm>
            <a:off x="445938" y="2540040"/>
            <a:ext cx="649356" cy="648000"/>
          </a:xfrm>
          <a:prstGeom prst="ellipse">
            <a:avLst/>
          </a:prstGeom>
          <a:solidFill>
            <a:schemeClr val="accent1"/>
          </a:solidFill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/>
              <a:t>1</a:t>
            </a:r>
            <a:endParaRPr lang="ko-KR" altLang="en-US" sz="3200" dirty="0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5901BDFB-F109-F541-D80A-87DACC4FE43A}"/>
              </a:ext>
            </a:extLst>
          </p:cNvPr>
          <p:cNvSpPr/>
          <p:nvPr/>
        </p:nvSpPr>
        <p:spPr>
          <a:xfrm>
            <a:off x="5892729" y="2530709"/>
            <a:ext cx="649356" cy="648000"/>
          </a:xfrm>
          <a:prstGeom prst="ellipse">
            <a:avLst/>
          </a:prstGeom>
          <a:solidFill>
            <a:schemeClr val="accent1"/>
          </a:solidFill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/>
              <a:t>2</a:t>
            </a:r>
            <a:endParaRPr lang="ko-KR" altLang="en-US" sz="3200" dirty="0"/>
          </a:p>
        </p:txBody>
      </p:sp>
    </p:spTree>
    <p:extLst>
      <p:ext uri="{BB962C8B-B14F-4D97-AF65-F5344CB8AC3E}">
        <p14:creationId xmlns:p14="http://schemas.microsoft.com/office/powerpoint/2010/main" val="33055112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5BDFA10-ECF7-38FE-C364-618B7085F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EAC1192-3240-5090-C940-3FE8EE2E7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45DC42BC-3382-7592-84ED-A0A40D69B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11500" dirty="0"/>
              <a:t>transform</a:t>
            </a:r>
            <a:endParaRPr lang="ko-KR" altLang="en-US" sz="11500" dirty="0"/>
          </a:p>
        </p:txBody>
      </p:sp>
    </p:spTree>
    <p:extLst>
      <p:ext uri="{BB962C8B-B14F-4D97-AF65-F5344CB8AC3E}">
        <p14:creationId xmlns:p14="http://schemas.microsoft.com/office/powerpoint/2010/main" val="33367380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내용 개체 틀 6">
            <a:extLst>
              <a:ext uri="{FF2B5EF4-FFF2-40B4-BE49-F238E27FC236}">
                <a16:creationId xmlns:a16="http://schemas.microsoft.com/office/drawing/2014/main" id="{21AC2E97-18FD-4237-589C-515E36846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4947" y="2200120"/>
            <a:ext cx="6344478" cy="3644686"/>
          </a:xfrm>
        </p:spPr>
        <p:txBody>
          <a:bodyPr/>
          <a:lstStyle/>
          <a:p>
            <a:r>
              <a:rPr lang="en-US" altLang="ko-KR" b="1" dirty="0"/>
              <a:t>skew</a:t>
            </a:r>
            <a:r>
              <a:rPr lang="en-US" altLang="ko-KR" dirty="0"/>
              <a:t> : </a:t>
            </a:r>
            <a:r>
              <a:rPr lang="ko-KR" altLang="en-US" dirty="0"/>
              <a:t>기울기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b="1" dirty="0"/>
              <a:t>scale</a:t>
            </a:r>
            <a:r>
              <a:rPr lang="en-US" altLang="ko-KR" dirty="0"/>
              <a:t> : </a:t>
            </a:r>
            <a:r>
              <a:rPr lang="ko-KR" altLang="en-US" dirty="0"/>
              <a:t>확대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b="1" dirty="0"/>
              <a:t>rotate</a:t>
            </a:r>
            <a:r>
              <a:rPr lang="en-US" altLang="ko-KR" dirty="0"/>
              <a:t> : </a:t>
            </a:r>
            <a:r>
              <a:rPr lang="ko-KR" altLang="en-US" dirty="0"/>
              <a:t>회전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b="1" dirty="0"/>
              <a:t>translate</a:t>
            </a:r>
            <a:r>
              <a:rPr lang="en-US" altLang="ko-KR" dirty="0"/>
              <a:t> : </a:t>
            </a:r>
            <a:r>
              <a:rPr lang="ko-KR" altLang="en-US" dirty="0"/>
              <a:t>이동</a:t>
            </a:r>
          </a:p>
        </p:txBody>
      </p:sp>
      <p:sp>
        <p:nvSpPr>
          <p:cNvPr id="7" name="날짜 개체 틀 3">
            <a:extLst>
              <a:ext uri="{FF2B5EF4-FFF2-40B4-BE49-F238E27FC236}">
                <a16:creationId xmlns:a16="http://schemas.microsoft.com/office/drawing/2014/main" id="{6FD7CA5C-A72D-FFC1-A78B-FE0820A751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2024-05-17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299A0EE-47F7-D110-E2A1-2ACF334E1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2C53F9D-FAD3-2E9F-1E65-5F5FB3F0F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복잡한 속성 </a:t>
            </a:r>
            <a:r>
              <a:rPr lang="en-US" altLang="ko-KR" dirty="0"/>
              <a:t>- transform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D1175A-699D-3F6A-9D29-A3C0D8BFFAA6}"/>
              </a:ext>
            </a:extLst>
          </p:cNvPr>
          <p:cNvSpPr txBox="1"/>
          <p:nvPr/>
        </p:nvSpPr>
        <p:spPr>
          <a:xfrm>
            <a:off x="484909" y="1325563"/>
            <a:ext cx="1122218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0" i="0" dirty="0">
                <a:effectLst/>
              </a:rPr>
              <a:t>요소에 이동</a:t>
            </a:r>
            <a:r>
              <a:rPr lang="en-US" altLang="ko-KR" sz="2400" b="0" i="0" dirty="0">
                <a:effectLst/>
              </a:rPr>
              <a:t>(translate), </a:t>
            </a:r>
            <a:r>
              <a:rPr lang="ko-KR" altLang="en-US" sz="2400" b="0" i="0" dirty="0">
                <a:effectLst/>
              </a:rPr>
              <a:t>회전</a:t>
            </a:r>
            <a:r>
              <a:rPr lang="en-US" altLang="ko-KR" sz="2400" b="0" i="0" dirty="0">
                <a:effectLst/>
              </a:rPr>
              <a:t>(rotate), </a:t>
            </a:r>
            <a:r>
              <a:rPr lang="ko-KR" altLang="en-US" sz="2400" b="0" i="0" dirty="0">
                <a:effectLst/>
              </a:rPr>
              <a:t>확대축소</a:t>
            </a:r>
            <a:r>
              <a:rPr lang="en-US" altLang="ko-KR" sz="2400" b="0" i="0" dirty="0">
                <a:effectLst/>
              </a:rPr>
              <a:t>(scale), </a:t>
            </a:r>
            <a:r>
              <a:rPr lang="ko-KR" altLang="en-US" sz="2400" b="0" i="0" dirty="0">
                <a:effectLst/>
              </a:rPr>
              <a:t>비틀기</a:t>
            </a:r>
            <a:r>
              <a:rPr lang="en-US" altLang="ko-KR" sz="2400" b="0" i="0" dirty="0">
                <a:effectLst/>
              </a:rPr>
              <a:t>(skew) </a:t>
            </a:r>
            <a:r>
              <a:rPr lang="ko-KR" altLang="en-US" sz="2400" b="0" i="0" dirty="0">
                <a:effectLst/>
              </a:rPr>
              <a:t>효과를 부여하기 위한 함수를 제공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10524195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4A2773C-C95C-C839-F80C-240482F6D6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2064E1-7F13-44DE-8021-CDAF6015FD20}" type="datetime6">
              <a:rPr lang="ko-KR" altLang="en-US" smtClean="0"/>
              <a:t>2024년 5월</a:t>
            </a:fld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0C9C8E9-1013-83FC-78A7-FAC88BA2D4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EC54C0C-A81C-EA63-CA0A-E67C1DF70C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복잡한 속성 </a:t>
            </a:r>
            <a:r>
              <a:rPr lang="en-US" altLang="ko-KR" dirty="0"/>
              <a:t>- transform</a:t>
            </a:r>
            <a:endParaRPr lang="ko-KR" altLang="en-US" dirty="0"/>
          </a:p>
        </p:txBody>
      </p:sp>
      <p:sp>
        <p:nvSpPr>
          <p:cNvPr id="8" name="날짜 개체 틀 3">
            <a:extLst>
              <a:ext uri="{FF2B5EF4-FFF2-40B4-BE49-F238E27FC236}">
                <a16:creationId xmlns:a16="http://schemas.microsoft.com/office/drawing/2014/main" id="{6FD7CA5C-A72D-FFC1-A78B-FE0820A75160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0" y="6480175"/>
            <a:ext cx="2743200" cy="365125"/>
          </a:xfrm>
        </p:spPr>
        <p:txBody>
          <a:bodyPr/>
          <a:lstStyle/>
          <a:p>
            <a:fld id="{0F78D9C4-20C1-4B15-A116-16DC77AD9A1E}" type="datetime1">
              <a:rPr lang="ko-KR" altLang="en-US" smtClean="0"/>
              <a:t>2024-05-17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7028815-C171-2CEF-7C76-A8138A5CDC06}"/>
              </a:ext>
            </a:extLst>
          </p:cNvPr>
          <p:cNvSpPr txBox="1"/>
          <p:nvPr/>
        </p:nvSpPr>
        <p:spPr>
          <a:xfrm>
            <a:off x="578895" y="1403122"/>
            <a:ext cx="613458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2400" dirty="0"/>
              <a:t>skew : </a:t>
            </a:r>
            <a:r>
              <a:rPr lang="ko-KR" altLang="en-US" sz="2400" dirty="0"/>
              <a:t>기울기</a:t>
            </a:r>
            <a:endParaRPr lang="en-US" altLang="ko-KR" sz="240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40174F42-5A06-BBCB-2633-071872223BA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12366"/>
          <a:stretch/>
        </p:blipFill>
        <p:spPr>
          <a:xfrm>
            <a:off x="556185" y="1915517"/>
            <a:ext cx="11079630" cy="401247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1F341D5-9ECF-0D34-E40E-D274ACAD45C7}"/>
              </a:ext>
            </a:extLst>
          </p:cNvPr>
          <p:cNvSpPr txBox="1"/>
          <p:nvPr/>
        </p:nvSpPr>
        <p:spPr>
          <a:xfrm>
            <a:off x="1615440" y="6089209"/>
            <a:ext cx="1041451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en-US" sz="1200" dirty="0">
                <a:solidFill>
                  <a:schemeClr val="bg2">
                    <a:lumMod val="50000"/>
                  </a:schemeClr>
                </a:solidFill>
              </a:rPr>
              <a:t>사진 출처</a:t>
            </a:r>
            <a:r>
              <a:rPr lang="en-US" altLang="ko-KR" sz="1200" dirty="0">
                <a:solidFill>
                  <a:schemeClr val="bg2">
                    <a:lumMod val="50000"/>
                  </a:schemeClr>
                </a:solidFill>
              </a:rPr>
              <a:t>: https://dev.to/kunaal438/css-transform-complete-guide-on-css-transform-everything-you-need-for-good-developer-841</a:t>
            </a:r>
            <a:endParaRPr lang="ko-KR" altLang="en-US" sz="1200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45948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F28005D-C3B3-0345-8E72-EAC850CC55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AB730F9-1B38-77DA-37B0-877B8EE83F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588C3C44-5967-85DC-3ED4-2830FAE370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복잡한 속성 </a:t>
            </a:r>
            <a:r>
              <a:rPr lang="en-US" altLang="ko-KR" dirty="0"/>
              <a:t>- transform</a:t>
            </a:r>
            <a:endParaRPr lang="ko-KR" altLang="en-US" dirty="0"/>
          </a:p>
        </p:txBody>
      </p:sp>
      <p:sp>
        <p:nvSpPr>
          <p:cNvPr id="8" name="날짜 개체 틀 3">
            <a:extLst>
              <a:ext uri="{FF2B5EF4-FFF2-40B4-BE49-F238E27FC236}">
                <a16:creationId xmlns:a16="http://schemas.microsoft.com/office/drawing/2014/main" id="{6FD7CA5C-A72D-FFC1-A78B-FE0820A75160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0" y="6480175"/>
            <a:ext cx="2743200" cy="365125"/>
          </a:xfrm>
        </p:spPr>
        <p:txBody>
          <a:bodyPr/>
          <a:lstStyle/>
          <a:p>
            <a:fld id="{0F78D9C4-20C1-4B15-A116-16DC77AD9A1E}" type="datetime1">
              <a:rPr lang="ko-KR" altLang="en-US" smtClean="0"/>
              <a:t>2024-05-17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2B1B55B-F1C6-0A10-1027-CFD8B7D83D79}"/>
              </a:ext>
            </a:extLst>
          </p:cNvPr>
          <p:cNvSpPr txBox="1"/>
          <p:nvPr/>
        </p:nvSpPr>
        <p:spPr>
          <a:xfrm>
            <a:off x="578895" y="1403122"/>
            <a:ext cx="613458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2400" dirty="0"/>
              <a:t>rotate : </a:t>
            </a:r>
            <a:r>
              <a:rPr lang="ko-KR" altLang="en-US" sz="2400" dirty="0"/>
              <a:t>회전</a:t>
            </a:r>
            <a:endParaRPr lang="en-US" altLang="ko-KR" sz="2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43F812-1055-34ED-1764-51CA5AAD8D34}"/>
              </a:ext>
            </a:extLst>
          </p:cNvPr>
          <p:cNvSpPr txBox="1"/>
          <p:nvPr/>
        </p:nvSpPr>
        <p:spPr>
          <a:xfrm>
            <a:off x="1615440" y="6089209"/>
            <a:ext cx="1041451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en-US" sz="1200" dirty="0">
                <a:solidFill>
                  <a:schemeClr val="bg2">
                    <a:lumMod val="50000"/>
                  </a:schemeClr>
                </a:solidFill>
              </a:rPr>
              <a:t>사진 출처</a:t>
            </a:r>
            <a:r>
              <a:rPr lang="en-US" altLang="ko-KR" sz="1200" dirty="0">
                <a:solidFill>
                  <a:schemeClr val="bg2">
                    <a:lumMod val="50000"/>
                  </a:schemeClr>
                </a:solidFill>
              </a:rPr>
              <a:t>: https://dev.to/kunaal438/css-transform-complete-guide-on-css-transform-everything-you-need-for-good-developer-841</a:t>
            </a:r>
            <a:endParaRPr lang="ko-KR" altLang="en-US" sz="12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8127D8A1-0953-615B-45A2-D16B65AEB6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1326" y="1179517"/>
            <a:ext cx="7619074" cy="4714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64964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FDE02C-EB9C-E208-3F25-DE54396F0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F143398-BC25-1AF2-28F5-643094CF9C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5572E856-2744-3177-F4D6-C34F5D5B60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복잡한 속성 </a:t>
            </a:r>
            <a:r>
              <a:rPr lang="en-US" altLang="ko-KR" dirty="0"/>
              <a:t>- transform</a:t>
            </a:r>
            <a:endParaRPr lang="ko-KR" altLang="en-US" dirty="0"/>
          </a:p>
        </p:txBody>
      </p:sp>
      <p:sp>
        <p:nvSpPr>
          <p:cNvPr id="8" name="날짜 개체 틀 3">
            <a:extLst>
              <a:ext uri="{FF2B5EF4-FFF2-40B4-BE49-F238E27FC236}">
                <a16:creationId xmlns:a16="http://schemas.microsoft.com/office/drawing/2014/main" id="{A1630AAA-9B55-18D3-332D-AFBF264CC9F9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0" y="6480175"/>
            <a:ext cx="2743200" cy="365125"/>
          </a:xfrm>
        </p:spPr>
        <p:txBody>
          <a:bodyPr/>
          <a:lstStyle/>
          <a:p>
            <a:fld id="{0F78D9C4-20C1-4B15-A116-16DC77AD9A1E}" type="datetime1">
              <a:rPr lang="ko-KR" altLang="en-US" smtClean="0"/>
              <a:t>2024-05-17</a:t>
            </a:fld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AC88189-E2ED-D019-EADD-698D2508E453}"/>
              </a:ext>
            </a:extLst>
          </p:cNvPr>
          <p:cNvSpPr txBox="1"/>
          <p:nvPr/>
        </p:nvSpPr>
        <p:spPr>
          <a:xfrm>
            <a:off x="578895" y="1403122"/>
            <a:ext cx="613458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2400" dirty="0"/>
              <a:t>translate : </a:t>
            </a:r>
            <a:r>
              <a:rPr lang="ko-KR" altLang="en-US" sz="2400" dirty="0"/>
              <a:t>이동</a:t>
            </a:r>
            <a:endParaRPr lang="en-US" altLang="ko-KR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7C3B172-F768-440D-2494-7D35FCF070A5}"/>
              </a:ext>
            </a:extLst>
          </p:cNvPr>
          <p:cNvSpPr txBox="1"/>
          <p:nvPr/>
        </p:nvSpPr>
        <p:spPr>
          <a:xfrm>
            <a:off x="1615440" y="6089209"/>
            <a:ext cx="1041451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en-US" sz="1200" dirty="0">
                <a:solidFill>
                  <a:schemeClr val="bg2">
                    <a:lumMod val="50000"/>
                  </a:schemeClr>
                </a:solidFill>
              </a:rPr>
              <a:t>사진 출처</a:t>
            </a:r>
            <a:r>
              <a:rPr lang="en-US" altLang="ko-KR" sz="1200" dirty="0">
                <a:solidFill>
                  <a:schemeClr val="bg2">
                    <a:lumMod val="50000"/>
                  </a:schemeClr>
                </a:solidFill>
              </a:rPr>
              <a:t>: https://dev.to/kunaal438/css-transform-complete-guide-on-css-transform-everything-you-need-for-good-developer-841</a:t>
            </a:r>
            <a:endParaRPr lang="ko-KR" altLang="en-US" sz="12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577FC036-3A8B-5347-561B-CE6984C0B3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4100" y="1439069"/>
            <a:ext cx="7392118" cy="4536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42621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5BDFA10-ECF7-38FE-C364-618B7085F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EAC1192-3240-5090-C940-3FE8EE2E7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45DC42BC-3382-7592-84ED-A0A40D69B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11500" dirty="0"/>
              <a:t>transition</a:t>
            </a:r>
            <a:endParaRPr lang="ko-KR" altLang="en-US" sz="11500" dirty="0"/>
          </a:p>
        </p:txBody>
      </p:sp>
    </p:spTree>
    <p:extLst>
      <p:ext uri="{BB962C8B-B14F-4D97-AF65-F5344CB8AC3E}">
        <p14:creationId xmlns:p14="http://schemas.microsoft.com/office/powerpoint/2010/main" val="10344694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E267FBA-00D8-6DD1-2E1C-9E61B9811B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F7A50C0E-9399-A65E-FEBD-B5B85EE380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0FEE57-9A6F-2DB7-23D2-E8F9F0230FEE}"/>
              </a:ext>
            </a:extLst>
          </p:cNvPr>
          <p:cNvSpPr txBox="1"/>
          <p:nvPr/>
        </p:nvSpPr>
        <p:spPr>
          <a:xfrm>
            <a:off x="565868" y="2529118"/>
            <a:ext cx="1106026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/>
              <a:t>transition: </a:t>
            </a:r>
            <a:r>
              <a:rPr lang="ko-KR" altLang="en-US" sz="4000" b="1" dirty="0" err="1"/>
              <a:t>속성명</a:t>
            </a:r>
            <a:r>
              <a:rPr lang="ko-KR" altLang="en-US" sz="4000" b="1" dirty="0"/>
              <a:t> </a:t>
            </a:r>
            <a:r>
              <a:rPr lang="ko-KR" altLang="en-US" sz="4000" b="1" dirty="0">
                <a:solidFill>
                  <a:srgbClr val="6EC173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지속시간</a:t>
            </a:r>
            <a:r>
              <a:rPr lang="ko-KR" altLang="en-US" sz="4000" b="1" dirty="0"/>
              <a:t> 타이밍함수 대기시간</a:t>
            </a:r>
            <a:r>
              <a:rPr lang="en-US" altLang="ko-KR" sz="4000" b="1" dirty="0"/>
              <a:t>;</a:t>
            </a:r>
            <a:endParaRPr lang="ko-KR" altLang="en-US" sz="4000" b="1" dirty="0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1E6C8806-6AB3-2AA9-637C-A83D9C5FAA86}"/>
              </a:ext>
            </a:extLst>
          </p:cNvPr>
          <p:cNvSpPr/>
          <p:nvPr/>
        </p:nvSpPr>
        <p:spPr>
          <a:xfrm>
            <a:off x="452762" y="4270159"/>
            <a:ext cx="2379228" cy="805509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>
                <a:solidFill>
                  <a:schemeClr val="tx1"/>
                </a:solidFill>
              </a:rPr>
              <a:t>Transition-property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F1B4BBC0-FE6F-6D6D-D138-1073137A7513}"/>
              </a:ext>
            </a:extLst>
          </p:cNvPr>
          <p:cNvSpPr/>
          <p:nvPr/>
        </p:nvSpPr>
        <p:spPr>
          <a:xfrm>
            <a:off x="3186023" y="4270159"/>
            <a:ext cx="2379228" cy="805509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>
                <a:solidFill>
                  <a:srgbClr val="FF0000"/>
                </a:solidFill>
              </a:rPr>
              <a:t>Transition-duration</a:t>
            </a:r>
            <a:endParaRPr lang="ko-KR" altLang="en-US" sz="2000" b="1" dirty="0">
              <a:solidFill>
                <a:srgbClr val="FF0000"/>
              </a:solidFill>
            </a:endParaRP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E967931E-0EF2-108A-0A64-59FCC357EECC}"/>
              </a:ext>
            </a:extLst>
          </p:cNvPr>
          <p:cNvSpPr/>
          <p:nvPr/>
        </p:nvSpPr>
        <p:spPr>
          <a:xfrm>
            <a:off x="5880257" y="4278110"/>
            <a:ext cx="3200132" cy="805509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>
                <a:solidFill>
                  <a:schemeClr val="tx1"/>
                </a:solidFill>
              </a:rPr>
              <a:t>Transition-timing-function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03C91530-3247-6294-C16C-07AAF1D6C3B2}"/>
              </a:ext>
            </a:extLst>
          </p:cNvPr>
          <p:cNvSpPr/>
          <p:nvPr/>
        </p:nvSpPr>
        <p:spPr>
          <a:xfrm>
            <a:off x="9434422" y="4270159"/>
            <a:ext cx="2379228" cy="805509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>
                <a:solidFill>
                  <a:schemeClr val="tx1"/>
                </a:solidFill>
              </a:rPr>
              <a:t>Transition-delay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cxnSp>
        <p:nvCxnSpPr>
          <p:cNvPr id="13" name="연결선: 구부러짐 12">
            <a:extLst>
              <a:ext uri="{FF2B5EF4-FFF2-40B4-BE49-F238E27FC236}">
                <a16:creationId xmlns:a16="http://schemas.microsoft.com/office/drawing/2014/main" id="{CD09ECC4-B809-0866-B735-12121F83A724}"/>
              </a:ext>
            </a:extLst>
          </p:cNvPr>
          <p:cNvCxnSpPr>
            <a:cxnSpLocks/>
            <a:stCxn id="5" idx="0"/>
          </p:cNvCxnSpPr>
          <p:nvPr/>
        </p:nvCxnSpPr>
        <p:spPr>
          <a:xfrm rot="5400000" flipH="1" flipV="1">
            <a:off x="6379218" y="669858"/>
            <a:ext cx="1576042" cy="2142478"/>
          </a:xfrm>
          <a:prstGeom prst="curvedConnector2">
            <a:avLst/>
          </a:prstGeom>
          <a:ln w="57150"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7A9AC2D0-E69B-992A-B11E-B6E86C75764E}"/>
              </a:ext>
            </a:extLst>
          </p:cNvPr>
          <p:cNvSpPr txBox="1"/>
          <p:nvPr/>
        </p:nvSpPr>
        <p:spPr>
          <a:xfrm>
            <a:off x="8692525" y="580600"/>
            <a:ext cx="253013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/>
              <a:t>단축형 작성 시</a:t>
            </a:r>
            <a:r>
              <a:rPr lang="en-US" altLang="ko-KR" sz="2400" b="1" dirty="0"/>
              <a:t>, </a:t>
            </a:r>
          </a:p>
          <a:p>
            <a:r>
              <a:rPr lang="ko-KR" altLang="en-US" sz="2400" b="1" dirty="0">
                <a:solidFill>
                  <a:srgbClr val="FF0000"/>
                </a:solidFill>
              </a:rPr>
              <a:t>필수</a:t>
            </a:r>
            <a:r>
              <a:rPr lang="en-US" altLang="ko-KR" sz="2400" b="1" dirty="0">
                <a:solidFill>
                  <a:srgbClr val="FF0000"/>
                </a:solidFill>
              </a:rPr>
              <a:t> </a:t>
            </a:r>
            <a:r>
              <a:rPr lang="ko-KR" altLang="en-US" sz="2400" b="1" dirty="0">
                <a:solidFill>
                  <a:srgbClr val="FF0000"/>
                </a:solidFill>
              </a:rPr>
              <a:t>포함</a:t>
            </a:r>
            <a:r>
              <a:rPr lang="ko-KR" altLang="en-US" sz="2400" b="1" dirty="0"/>
              <a:t> 속성</a:t>
            </a:r>
          </a:p>
        </p:txBody>
      </p:sp>
    </p:spTree>
    <p:extLst>
      <p:ext uri="{BB962C8B-B14F-4D97-AF65-F5344CB8AC3E}">
        <p14:creationId xmlns:p14="http://schemas.microsoft.com/office/powerpoint/2010/main" val="20117349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r>
              <a:rPr lang="en-US" altLang="ko-KR" dirty="0"/>
              <a:t>100px, 100px div </a:t>
            </a:r>
            <a:r>
              <a:rPr lang="ko-KR" altLang="en-US" dirty="0"/>
              <a:t>만들고 배경은 검정</a:t>
            </a:r>
            <a:r>
              <a:rPr lang="en-US" altLang="ko-KR" dirty="0"/>
              <a:t>, </a:t>
            </a:r>
            <a:r>
              <a:rPr lang="ko-KR" altLang="en-US" dirty="0"/>
              <a:t>글자는 흰색으로 만들기</a:t>
            </a:r>
            <a:endParaRPr lang="en-US" altLang="ko-KR" dirty="0"/>
          </a:p>
          <a:p>
            <a:r>
              <a:rPr lang="en-US" altLang="ko-KR" dirty="0"/>
              <a:t>div </a:t>
            </a:r>
            <a:r>
              <a:rPr lang="ko-KR" altLang="en-US" dirty="0"/>
              <a:t>에 마우스를 올려놓았을 때 </a:t>
            </a:r>
            <a:r>
              <a:rPr lang="en-US" altLang="ko-KR" dirty="0"/>
              <a:t>300px, 300px</a:t>
            </a:r>
            <a:r>
              <a:rPr lang="ko-KR" altLang="en-US" dirty="0"/>
              <a:t>로 변경</a:t>
            </a:r>
            <a:endParaRPr lang="en-US" altLang="ko-KR" dirty="0"/>
          </a:p>
          <a:p>
            <a:r>
              <a:rPr lang="en-US" altLang="ko-KR" dirty="0"/>
              <a:t>transition</a:t>
            </a:r>
            <a:r>
              <a:rPr lang="ko-KR" altLang="en-US" dirty="0"/>
              <a:t>은 우측 </a:t>
            </a:r>
            <a:r>
              <a:rPr lang="en-US" altLang="ko-KR" dirty="0"/>
              <a:t>gif</a:t>
            </a:r>
            <a:r>
              <a:rPr lang="ko-KR" altLang="en-US" dirty="0"/>
              <a:t>대로 실행</a:t>
            </a:r>
            <a:endParaRPr lang="en-US" altLang="ko-KR" dirty="0"/>
          </a:p>
          <a:p>
            <a:r>
              <a:rPr lang="en-US" altLang="ko-KR" dirty="0"/>
              <a:t>( delay</a:t>
            </a:r>
            <a:r>
              <a:rPr lang="ko-KR" altLang="en-US" dirty="0"/>
              <a:t>는 </a:t>
            </a:r>
            <a:r>
              <a:rPr lang="en-US" altLang="ko-KR" dirty="0"/>
              <a:t>0.5s, </a:t>
            </a:r>
            <a:r>
              <a:rPr lang="ko-KR" altLang="en-US" dirty="0"/>
              <a:t>진행속도는 </a:t>
            </a:r>
            <a:r>
              <a:rPr lang="en-US" altLang="ko-KR" dirty="0"/>
              <a:t>1s 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2024-05-17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0988" y="179946"/>
            <a:ext cx="10515600" cy="1325563"/>
          </a:xfrm>
        </p:spPr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 </a:t>
            </a:r>
            <a:r>
              <a:rPr lang="en-US" altLang="ko-KR" dirty="0"/>
              <a:t>transition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D2C74C6-170F-58B4-9872-82945C9AF6B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66590" y="2329308"/>
            <a:ext cx="3505200" cy="39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48531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r>
              <a:rPr lang="en-US" altLang="ko-KR" dirty="0"/>
              <a:t>Transform </a:t>
            </a:r>
            <a:r>
              <a:rPr lang="ko-KR" altLang="en-US" dirty="0"/>
              <a:t>과 </a:t>
            </a:r>
            <a:r>
              <a:rPr lang="en-US" altLang="ko-KR" dirty="0"/>
              <a:t>z-index </a:t>
            </a:r>
            <a:r>
              <a:rPr lang="ko-KR" altLang="en-US" dirty="0"/>
              <a:t>를 이용해 이미지 </a:t>
            </a:r>
            <a:r>
              <a:rPr lang="en-US" altLang="ko-KR" dirty="0"/>
              <a:t>3</a:t>
            </a:r>
            <a:r>
              <a:rPr lang="ko-KR" altLang="en-US" dirty="0"/>
              <a:t>개를 연달아 나열하기</a:t>
            </a:r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2024-05-17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</a:t>
            </a:r>
            <a:r>
              <a:rPr lang="ko-KR" altLang="en-US" dirty="0"/>
              <a:t>사진 쌓기</a:t>
            </a:r>
          </a:p>
        </p:txBody>
      </p:sp>
      <p:pic>
        <p:nvPicPr>
          <p:cNvPr id="25602" name="Picture 2">
            <a:extLst>
              <a:ext uri="{FF2B5EF4-FFF2-40B4-BE49-F238E27FC236}">
                <a16:creationId xmlns:a16="http://schemas.microsoft.com/office/drawing/2014/main" id="{82D6058E-35C1-2840-5BA7-5D127CBFDA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70382" y="2000165"/>
            <a:ext cx="8706678" cy="39848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260511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B4E9619-8CE7-55C3-4AAC-F4BCB5290B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7314" y="1581917"/>
            <a:ext cx="10515600" cy="4351338"/>
          </a:xfrm>
        </p:spPr>
        <p:txBody>
          <a:bodyPr>
            <a:normAutofit/>
          </a:bodyPr>
          <a:lstStyle/>
          <a:p>
            <a:pPr algn="l" latinLnBrk="1"/>
            <a:r>
              <a:rPr lang="ko-KR" altLang="en-US" i="0" dirty="0" err="1">
                <a:solidFill>
                  <a:srgbClr val="212529"/>
                </a:solidFill>
                <a:effectLst/>
                <a:latin typeface="+mn-ea"/>
              </a:rPr>
              <a:t>코딩온</a:t>
            </a:r>
            <a:r>
              <a:rPr lang="ko-KR" altLang="en-US" i="0" dirty="0">
                <a:solidFill>
                  <a:srgbClr val="212529"/>
                </a:solidFill>
                <a:effectLst/>
                <a:latin typeface="+mn-ea"/>
              </a:rPr>
              <a:t> </a:t>
            </a:r>
            <a:r>
              <a:rPr lang="en-US" altLang="ko-KR" i="0" dirty="0">
                <a:solidFill>
                  <a:srgbClr val="212529"/>
                </a:solidFill>
                <a:effectLst/>
                <a:latin typeface="+mn-ea"/>
              </a:rPr>
              <a:t>LMS</a:t>
            </a:r>
            <a:r>
              <a:rPr lang="ko-KR" altLang="en-US" i="0" dirty="0">
                <a:solidFill>
                  <a:srgbClr val="212529"/>
                </a:solidFill>
                <a:effectLst/>
                <a:latin typeface="+mn-ea"/>
              </a:rPr>
              <a:t>에 로그인해주세요</a:t>
            </a:r>
            <a:r>
              <a:rPr lang="en-US" altLang="ko-KR" i="0" dirty="0">
                <a:solidFill>
                  <a:srgbClr val="212529"/>
                </a:solidFill>
                <a:effectLst/>
                <a:latin typeface="+mn-ea"/>
              </a:rPr>
              <a:t>. (Slack #</a:t>
            </a:r>
            <a:r>
              <a:rPr lang="ko-KR" altLang="en-US" i="0" dirty="0">
                <a:solidFill>
                  <a:srgbClr val="212529"/>
                </a:solidFill>
                <a:effectLst/>
                <a:latin typeface="+mn-ea"/>
              </a:rPr>
              <a:t>강의 채널의 책갈피 확인</a:t>
            </a:r>
            <a:r>
              <a:rPr lang="en-US" altLang="ko-KR" i="0" dirty="0">
                <a:solidFill>
                  <a:srgbClr val="212529"/>
                </a:solidFill>
                <a:effectLst/>
                <a:latin typeface="+mn-ea"/>
              </a:rPr>
              <a:t>)</a:t>
            </a:r>
          </a:p>
          <a:p>
            <a:pPr marL="457200" lvl="1" indent="0">
              <a:buNone/>
            </a:pPr>
            <a:endParaRPr lang="en-US" altLang="ko-KR" i="0" dirty="0">
              <a:solidFill>
                <a:srgbClr val="212529"/>
              </a:solidFill>
              <a:effectLst/>
              <a:latin typeface="+mn-ea"/>
            </a:endParaRPr>
          </a:p>
          <a:p>
            <a:pPr marL="457200" lvl="1" indent="0"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None/>
            </a:pPr>
            <a:endParaRPr lang="en-US" altLang="ko-KR" i="0" dirty="0">
              <a:solidFill>
                <a:srgbClr val="212529"/>
              </a:solidFill>
              <a:effectLst/>
              <a:latin typeface="+mn-ea"/>
            </a:endParaRPr>
          </a:p>
          <a:p>
            <a:pPr marL="457200" lvl="1" indent="0">
              <a:buNone/>
            </a:pPr>
            <a:endParaRPr lang="en-US" altLang="ko-KR" i="0" dirty="0">
              <a:solidFill>
                <a:srgbClr val="212529"/>
              </a:solidFill>
              <a:effectLst/>
              <a:latin typeface="+mn-ea"/>
            </a:endParaRPr>
          </a:p>
          <a:p>
            <a:pPr marL="457200" lvl="1" indent="0">
              <a:buNone/>
            </a:pPr>
            <a:endParaRPr lang="en-US" altLang="ko-KR" i="0" dirty="0">
              <a:solidFill>
                <a:srgbClr val="212529"/>
              </a:solidFill>
              <a:effectLst/>
              <a:latin typeface="+mn-ea"/>
            </a:endParaRPr>
          </a:p>
          <a:p>
            <a:pPr algn="l" latinLnBrk="1"/>
            <a:r>
              <a:rPr lang="en-US" altLang="ko-KR" b="1" i="0" dirty="0">
                <a:solidFill>
                  <a:srgbClr val="212529"/>
                </a:solidFill>
                <a:effectLst/>
                <a:latin typeface="+mn-ea"/>
              </a:rPr>
              <a:t>[</a:t>
            </a:r>
            <a:r>
              <a:rPr lang="ko-KR" altLang="en-US" b="1" i="0" dirty="0" err="1">
                <a:solidFill>
                  <a:srgbClr val="212529"/>
                </a:solidFill>
                <a:effectLst/>
                <a:latin typeface="+mn-ea"/>
              </a:rPr>
              <a:t>코딩온</a:t>
            </a:r>
            <a:r>
              <a:rPr lang="en-US" altLang="ko-KR" b="1" i="0" dirty="0">
                <a:solidFill>
                  <a:srgbClr val="212529"/>
                </a:solidFill>
                <a:effectLst/>
                <a:latin typeface="+mn-ea"/>
              </a:rPr>
              <a:t>] HTML, CSS, JS </a:t>
            </a:r>
            <a:r>
              <a:rPr lang="ko-KR" altLang="en-US" b="1" i="0" dirty="0">
                <a:solidFill>
                  <a:srgbClr val="212529"/>
                </a:solidFill>
                <a:effectLst/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[CSS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 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transition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&amp;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transform</a:t>
            </a:r>
            <a:r>
              <a:rPr lang="en-US" altLang="ko-KR" sz="2800" b="1" i="0" dirty="0">
                <a:solidFill>
                  <a:srgbClr val="212529"/>
                </a:solidFill>
                <a:effectLst/>
                <a:latin typeface="+mn-ea"/>
              </a:rPr>
              <a:t>]</a:t>
            </a:r>
            <a:r>
              <a:rPr lang="en-US" altLang="ko-KR" sz="2800" b="0" i="0" dirty="0">
                <a:solidFill>
                  <a:srgbClr val="212529"/>
                </a:solidFill>
                <a:effectLst/>
                <a:latin typeface="+mn-ea"/>
              </a:rPr>
              <a:t> </a:t>
            </a:r>
            <a:r>
              <a:rPr lang="ko-KR" altLang="en-US" sz="2800" b="0" i="0" dirty="0">
                <a:solidFill>
                  <a:srgbClr val="212529"/>
                </a:solidFill>
                <a:effectLst/>
                <a:latin typeface="+mn-ea"/>
              </a:rPr>
              <a:t>커리큘럼 클릭</a:t>
            </a:r>
            <a:endParaRPr lang="en-US" altLang="ko-KR" sz="2800" b="0" i="0" dirty="0">
              <a:solidFill>
                <a:srgbClr val="212529"/>
              </a:solidFill>
              <a:effectLst/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2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문제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실습 진행</a:t>
            </a:r>
            <a:endParaRPr lang="ko-KR" altLang="en-US" sz="2800" b="0" i="0" dirty="0">
              <a:solidFill>
                <a:srgbClr val="212529"/>
              </a:solidFill>
              <a:effectLst/>
              <a:latin typeface="+mn-ea"/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6EF5811-D0D8-2150-AB87-7041EA1C1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BF0963-57DE-1888-FEA3-214E79D93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819BF2E8-E9AD-C4F2-130A-85CEAF4F3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실습</a:t>
            </a:r>
            <a:r>
              <a:rPr lang="en-US" altLang="ko-KR" dirty="0">
                <a:solidFill>
                  <a:schemeClr val="accent1"/>
                </a:solidFill>
              </a:rPr>
              <a:t>. Transform </a:t>
            </a:r>
            <a:r>
              <a:rPr lang="ko-KR" altLang="en-US" dirty="0">
                <a:solidFill>
                  <a:schemeClr val="accent1"/>
                </a:solidFill>
              </a:rPr>
              <a:t>실습</a:t>
            </a:r>
            <a:endParaRPr lang="ko-KR" altLang="en-US" dirty="0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8BDF07E7-8604-543A-87D2-D0EA28BB3CB9}"/>
              </a:ext>
            </a:extLst>
          </p:cNvPr>
          <p:cNvGrpSpPr/>
          <p:nvPr/>
        </p:nvGrpSpPr>
        <p:grpSpPr>
          <a:xfrm>
            <a:off x="1039785" y="2251876"/>
            <a:ext cx="5783891" cy="1177124"/>
            <a:chOff x="1266093" y="2392552"/>
            <a:chExt cx="5783891" cy="1177124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2B93C4C9-FCAF-EECF-49AA-2F18211606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66093" y="2392552"/>
              <a:ext cx="5783891" cy="1177124"/>
            </a:xfrm>
            <a:prstGeom prst="rect">
              <a:avLst/>
            </a:prstGeom>
          </p:spPr>
        </p:pic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667C001B-BB1F-61F7-0D34-D697577C9DE9}"/>
                </a:ext>
              </a:extLst>
            </p:cNvPr>
            <p:cNvSpPr/>
            <p:nvPr/>
          </p:nvSpPr>
          <p:spPr>
            <a:xfrm>
              <a:off x="4478216" y="3114382"/>
              <a:ext cx="2571768" cy="455294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5A6B1FBD-24E8-DA58-4AEE-ABC7CF06D298}"/>
              </a:ext>
            </a:extLst>
          </p:cNvPr>
          <p:cNvSpPr txBox="1"/>
          <p:nvPr/>
        </p:nvSpPr>
        <p:spPr>
          <a:xfrm>
            <a:off x="4925569" y="5992297"/>
            <a:ext cx="72471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accent6"/>
                </a:solidFill>
                <a:latin typeface="+mn-ea"/>
              </a:rPr>
              <a:t>*Slack</a:t>
            </a:r>
            <a:r>
              <a:rPr lang="ko-KR" altLang="en-US" dirty="0">
                <a:solidFill>
                  <a:schemeClr val="accent6"/>
                </a:solidFill>
                <a:latin typeface="+mn-ea"/>
              </a:rPr>
              <a:t> </a:t>
            </a:r>
            <a:r>
              <a:rPr lang="en-US" altLang="ko-KR" dirty="0">
                <a:solidFill>
                  <a:schemeClr val="accent6"/>
                </a:solidFill>
                <a:latin typeface="+mn-ea"/>
              </a:rPr>
              <a:t>#</a:t>
            </a:r>
            <a:r>
              <a:rPr lang="ko-KR" altLang="en-US" dirty="0">
                <a:solidFill>
                  <a:schemeClr val="accent6"/>
                </a:solidFill>
                <a:latin typeface="+mn-ea"/>
              </a:rPr>
              <a:t>과제 채널의 스레드 댓글로 코드</a:t>
            </a:r>
            <a:r>
              <a:rPr lang="en-US" altLang="ko-KR" dirty="0">
                <a:solidFill>
                  <a:schemeClr val="accent6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chemeClr val="accent6"/>
                </a:solidFill>
                <a:latin typeface="+mn-ea"/>
              </a:rPr>
              <a:t>및 결과 캡쳐를 제출해주세요</a:t>
            </a:r>
            <a:r>
              <a:rPr lang="en-US" altLang="ko-KR" dirty="0">
                <a:solidFill>
                  <a:schemeClr val="accent6"/>
                </a:solidFill>
                <a:latin typeface="+mn-ea"/>
              </a:rPr>
              <a:t>!</a:t>
            </a:r>
            <a:endParaRPr lang="ko-KR" altLang="en-US" dirty="0">
              <a:solidFill>
                <a:schemeClr val="accent6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4768099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5BDFA10-ECF7-38FE-C364-618B7085F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EAC1192-3240-5090-C940-3FE8EE2E7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45DC42BC-3382-7592-84ED-A0A40D69B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11500" dirty="0"/>
              <a:t>display</a:t>
            </a:r>
            <a:endParaRPr lang="ko-KR" altLang="en-US" sz="11500" dirty="0"/>
          </a:p>
        </p:txBody>
      </p:sp>
    </p:spTree>
    <p:extLst>
      <p:ext uri="{BB962C8B-B14F-4D97-AF65-F5344CB8AC3E}">
        <p14:creationId xmlns:p14="http://schemas.microsoft.com/office/powerpoint/2010/main" val="15612249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내용 개체 틀 6">
            <a:extLst>
              <a:ext uri="{FF2B5EF4-FFF2-40B4-BE49-F238E27FC236}">
                <a16:creationId xmlns:a16="http://schemas.microsoft.com/office/drawing/2014/main" id="{21AC2E97-18FD-4237-589C-515E36846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21087" y="1573833"/>
            <a:ext cx="3654286" cy="4351338"/>
          </a:xfrm>
        </p:spPr>
        <p:txBody>
          <a:bodyPr>
            <a:normAutofit lnSpcReduction="10000"/>
          </a:bodyPr>
          <a:lstStyle/>
          <a:p>
            <a:r>
              <a:rPr lang="en-US" altLang="ko-KR" dirty="0"/>
              <a:t>inline / block</a:t>
            </a:r>
          </a:p>
          <a:p>
            <a:endParaRPr lang="en-US" altLang="ko-KR" dirty="0"/>
          </a:p>
          <a:p>
            <a:r>
              <a:rPr lang="en-US" altLang="ko-KR" dirty="0"/>
              <a:t>inline-block</a:t>
            </a:r>
          </a:p>
          <a:p>
            <a:endParaRPr lang="en-US" altLang="ko-KR" dirty="0"/>
          </a:p>
          <a:p>
            <a:r>
              <a:rPr lang="en-US" altLang="ko-KR" dirty="0"/>
              <a:t>flex</a:t>
            </a:r>
          </a:p>
          <a:p>
            <a:endParaRPr lang="en-US" altLang="ko-KR" dirty="0"/>
          </a:p>
          <a:p>
            <a:r>
              <a:rPr lang="en-US" altLang="ko-KR" dirty="0"/>
              <a:t>grid</a:t>
            </a:r>
          </a:p>
          <a:p>
            <a:endParaRPr lang="en-US" altLang="ko-KR" dirty="0"/>
          </a:p>
          <a:p>
            <a:r>
              <a:rPr lang="en-US" altLang="ko-KR" dirty="0"/>
              <a:t>grid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D53B6E7-C258-1708-6F45-31FFDE0808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2024-05-17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299A0EE-47F7-D110-E2A1-2ACF334E1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2C53F9D-FAD3-2E9F-1E65-5F5FB3F0F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복잡한 속성 </a:t>
            </a:r>
            <a:r>
              <a:rPr lang="en-US" altLang="ko-KR" dirty="0"/>
              <a:t>- display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295613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0261" y="1565213"/>
            <a:ext cx="10351478" cy="4548585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2281EE9B-083C-1657-437D-D3E4A1E0D0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</a:t>
            </a:r>
            <a:r>
              <a:rPr lang="ko-KR" altLang="en-US" dirty="0"/>
              <a:t>다양한 헤더 만들기 </a:t>
            </a:r>
            <a:r>
              <a:rPr lang="en-US" altLang="ko-KR" dirty="0"/>
              <a:t>(with. flex)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872443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내용 개체 틀 6">
            <a:extLst>
              <a:ext uri="{FF2B5EF4-FFF2-40B4-BE49-F238E27FC236}">
                <a16:creationId xmlns:a16="http://schemas.microsoft.com/office/drawing/2014/main" id="{21AC2E97-18FD-4237-589C-515E36846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6822" y="1608991"/>
            <a:ext cx="7805531" cy="211986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ko-KR" altLang="en-US" dirty="0" err="1"/>
              <a:t>애니매이션을</a:t>
            </a:r>
            <a:r>
              <a:rPr lang="ko-KR" altLang="en-US" dirty="0"/>
              <a:t> 나타내는 </a:t>
            </a:r>
            <a:r>
              <a:rPr lang="en-US" altLang="ko-KR" dirty="0" err="1"/>
              <a:t>css</a:t>
            </a:r>
            <a:r>
              <a:rPr lang="en-US" altLang="ko-KR" dirty="0"/>
              <a:t> </a:t>
            </a:r>
            <a:r>
              <a:rPr lang="ko-KR" altLang="en-US" dirty="0"/>
              <a:t>스타일</a:t>
            </a:r>
            <a:endParaRPr lang="en-US" altLang="ko-KR" dirty="0"/>
          </a:p>
          <a:p>
            <a:pPr marL="0" indent="0" algn="ctr">
              <a:buNone/>
            </a:pPr>
            <a:r>
              <a:rPr lang="en-US" altLang="ko-KR" sz="6000" dirty="0"/>
              <a:t>+</a:t>
            </a:r>
            <a:r>
              <a:rPr lang="en-US" altLang="ko-KR" sz="4000" dirty="0"/>
              <a:t> </a:t>
            </a:r>
          </a:p>
          <a:p>
            <a:pPr marL="0" indent="0" algn="ctr">
              <a:buNone/>
            </a:pPr>
            <a:r>
              <a:rPr lang="ko-KR" altLang="en-US" dirty="0" err="1"/>
              <a:t>애니매이션의</a:t>
            </a:r>
            <a:r>
              <a:rPr lang="ko-KR" altLang="en-US" dirty="0"/>
              <a:t> 중간 상태를 나타내는 키 프레임</a:t>
            </a:r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D53B6E7-C258-1708-6F45-31FFDE0808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2024-05-17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299A0EE-47F7-D110-E2A1-2ACF334E1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2C53F9D-FAD3-2E9F-1E65-5F5FB3F0F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복잡한 속성 </a:t>
            </a:r>
            <a:r>
              <a:rPr lang="en-US" altLang="ko-KR" dirty="0"/>
              <a:t>- animation</a:t>
            </a:r>
            <a:endParaRPr lang="ko-KR" altLang="en-US" dirty="0"/>
          </a:p>
        </p:txBody>
      </p:sp>
      <p:sp>
        <p:nvSpPr>
          <p:cNvPr id="3" name="말풍선: 모서리가 둥근 사각형 2">
            <a:extLst>
              <a:ext uri="{FF2B5EF4-FFF2-40B4-BE49-F238E27FC236}">
                <a16:creationId xmlns:a16="http://schemas.microsoft.com/office/drawing/2014/main" id="{EB05A034-2E98-E748-448B-80A28DDD596C}"/>
              </a:ext>
            </a:extLst>
          </p:cNvPr>
          <p:cNvSpPr/>
          <p:nvPr/>
        </p:nvSpPr>
        <p:spPr>
          <a:xfrm>
            <a:off x="1606822" y="4544044"/>
            <a:ext cx="8726905" cy="818146"/>
          </a:xfrm>
          <a:prstGeom prst="wedgeRoundRectCallout">
            <a:avLst>
              <a:gd name="adj1" fmla="val 20401"/>
              <a:gd name="adj2" fmla="val -166142"/>
              <a:gd name="adj3" fmla="val 16667"/>
            </a:avLst>
          </a:prstGeom>
          <a:ln w="57150">
            <a:solidFill>
              <a:schemeClr val="accent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2400" dirty="0"/>
              <a:t>@keyframes </a:t>
            </a:r>
            <a:r>
              <a:rPr lang="ko-KR" altLang="en-US" sz="2400" dirty="0"/>
              <a:t>로 설정되는 값 </a:t>
            </a:r>
            <a:r>
              <a:rPr lang="en-US" altLang="ko-KR" sz="2400" dirty="0"/>
              <a:t>( to ~ from, 0% ~ 100% )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22633183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E287412-1235-5E33-5E2D-CB2C9A1835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CSS</a:t>
            </a:r>
            <a:r>
              <a:rPr lang="ko-KR" altLang="en-US" dirty="0">
                <a:sym typeface="Wingdings" panose="05000000000000000000" pitchFamily="2" charset="2"/>
              </a:rPr>
              <a:t>의 애니메이션 효과를 개발자가 직접 지정하는 기능</a:t>
            </a:r>
            <a:endParaRPr lang="en-US" altLang="ko-KR" dirty="0">
              <a:sym typeface="Wingdings" panose="05000000000000000000" pitchFamily="2" charset="2"/>
            </a:endParaRPr>
          </a:p>
          <a:p>
            <a:r>
              <a:rPr lang="ko-KR" altLang="en-US" dirty="0">
                <a:sym typeface="Wingdings" panose="05000000000000000000" pitchFamily="2" charset="2"/>
              </a:rPr>
              <a:t>애니메이션의 중간 지점마다 </a:t>
            </a:r>
            <a:r>
              <a:rPr lang="en-US" altLang="ko-KR" dirty="0">
                <a:sym typeface="Wingdings" panose="05000000000000000000" pitchFamily="2" charset="2"/>
              </a:rPr>
              <a:t>CSS </a:t>
            </a:r>
            <a:r>
              <a:rPr lang="ko-KR" altLang="en-US" dirty="0">
                <a:sym typeface="Wingdings" panose="05000000000000000000" pitchFamily="2" charset="2"/>
              </a:rPr>
              <a:t>속성 값을 지정하여 세밀하게 애니메이션 조절하는 기능</a:t>
            </a:r>
            <a:endParaRPr lang="en-US" altLang="ko-KR" dirty="0">
              <a:sym typeface="Wingdings" panose="05000000000000000000" pitchFamily="2" charset="2"/>
            </a:endParaRPr>
          </a:p>
          <a:p>
            <a:r>
              <a:rPr lang="ko-KR" altLang="en-US" dirty="0">
                <a:sym typeface="Wingdings" panose="05000000000000000000" pitchFamily="2" charset="2"/>
              </a:rPr>
              <a:t>키프레임을 변수에 선언하고 해당 변수를 </a:t>
            </a:r>
            <a:r>
              <a:rPr lang="en-US" altLang="ko-KR" dirty="0">
                <a:sym typeface="Wingdings" panose="05000000000000000000" pitchFamily="2" charset="2"/>
              </a:rPr>
              <a:t>CSS </a:t>
            </a:r>
            <a:r>
              <a:rPr lang="ko-KR" altLang="en-US" dirty="0">
                <a:sym typeface="Wingdings" panose="05000000000000000000" pitchFamily="2" charset="2"/>
              </a:rPr>
              <a:t>에서 불러와서 사용할 수 있다</a:t>
            </a:r>
            <a:r>
              <a:rPr lang="en-US" altLang="ko-KR" dirty="0">
                <a:sym typeface="Wingdings" panose="05000000000000000000" pitchFamily="2" charset="2"/>
              </a:rPr>
              <a:t>!</a:t>
            </a:r>
          </a:p>
          <a:p>
            <a:endParaRPr lang="en-US" altLang="ko-KR" dirty="0">
              <a:sym typeface="Wingdings" panose="05000000000000000000" pitchFamily="2" charset="2"/>
            </a:endParaRPr>
          </a:p>
          <a:p>
            <a:r>
              <a:rPr lang="en-US" altLang="ko-KR" dirty="0" err="1">
                <a:sym typeface="Wingdings" panose="05000000000000000000" pitchFamily="2" charset="2"/>
              </a:rPr>
              <a:t>Keyframes</a:t>
            </a:r>
            <a:r>
              <a:rPr lang="en-US" altLang="ko-KR" dirty="0">
                <a:sym typeface="Wingdings" panose="05000000000000000000" pitchFamily="2" charset="2"/>
              </a:rPr>
              <a:t> </a:t>
            </a:r>
            <a:r>
              <a:rPr lang="ko-KR" altLang="en-US" dirty="0">
                <a:sym typeface="Wingdings" panose="05000000000000000000" pitchFamily="2" charset="2"/>
              </a:rPr>
              <a:t>로 설정되는 값</a:t>
            </a:r>
            <a:endParaRPr lang="en-US" altLang="ko-KR" dirty="0">
              <a:sym typeface="Wingdings" panose="05000000000000000000" pitchFamily="2" charset="2"/>
            </a:endParaRPr>
          </a:p>
          <a:p>
            <a:pPr lvl="1"/>
            <a:r>
              <a:rPr lang="en-US" altLang="ko-KR" dirty="0">
                <a:sym typeface="Wingdings" panose="05000000000000000000" pitchFamily="2" charset="2"/>
              </a:rPr>
              <a:t>to/from</a:t>
            </a:r>
          </a:p>
          <a:p>
            <a:pPr lvl="1"/>
            <a:r>
              <a:rPr lang="en-US" altLang="ko-KR" dirty="0">
                <a:sym typeface="Wingdings" panose="05000000000000000000" pitchFamily="2" charset="2"/>
              </a:rPr>
              <a:t>0% ~ 100%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872D8F0-548E-0B0A-DD3A-5FBD6A2B46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6EC173"/>
                </a:solidFill>
              </a:rPr>
              <a:t>@keyframes</a:t>
            </a:r>
            <a:endParaRPr lang="ko-KR" altLang="en-US" dirty="0">
              <a:solidFill>
                <a:srgbClr val="6EC17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303007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E287412-1235-5E33-5E2D-CB2C9A1835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이름 </a:t>
            </a:r>
            <a:r>
              <a:rPr lang="en-US" altLang="ko-KR" dirty="0"/>
              <a:t>: keyframes </a:t>
            </a:r>
            <a:r>
              <a:rPr lang="ko-KR" altLang="en-US" dirty="0"/>
              <a:t>로 지정한 애니메이션 이름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지속시간</a:t>
            </a:r>
            <a:r>
              <a:rPr lang="en-US" altLang="ko-KR" dirty="0"/>
              <a:t> : </a:t>
            </a:r>
            <a:r>
              <a:rPr lang="ko-KR" altLang="en-US" dirty="0"/>
              <a:t>애니메이션 지속 시간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진행형태 </a:t>
            </a:r>
            <a:r>
              <a:rPr lang="en-US" altLang="ko-KR" dirty="0"/>
              <a:t>: </a:t>
            </a:r>
            <a:r>
              <a:rPr lang="ko-KR" altLang="en-US" dirty="0"/>
              <a:t>애니메이션이 진행되는 형태</a:t>
            </a:r>
            <a:r>
              <a:rPr lang="en-US" altLang="ko-KR" dirty="0"/>
              <a:t>(</a:t>
            </a:r>
            <a:r>
              <a:rPr lang="ko-KR" altLang="en-US" dirty="0"/>
              <a:t>시간 함수</a:t>
            </a:r>
            <a:r>
              <a:rPr lang="en-US" altLang="ko-KR" dirty="0"/>
              <a:t>)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ease / linear </a:t>
            </a:r>
            <a:r>
              <a:rPr lang="ko-KR" altLang="en-US" dirty="0"/>
              <a:t>등등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반복횟수 </a:t>
            </a:r>
            <a:r>
              <a:rPr lang="en-US" altLang="ko-KR" dirty="0"/>
              <a:t>: </a:t>
            </a:r>
            <a:r>
              <a:rPr lang="ko-KR" altLang="en-US" dirty="0"/>
              <a:t>반복되는 횟수를 지정</a:t>
            </a:r>
            <a:r>
              <a:rPr lang="en-US" altLang="ko-KR" dirty="0"/>
              <a:t>, </a:t>
            </a:r>
            <a:r>
              <a:rPr lang="ko-KR" altLang="en-US" dirty="0"/>
              <a:t>소수점 가능</a:t>
            </a:r>
            <a:r>
              <a:rPr lang="en-US" altLang="ko-KR" dirty="0"/>
              <a:t>, infinite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872D8F0-548E-0B0A-DD3A-5FBD6A2B46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6EC173"/>
                </a:solidFill>
              </a:rPr>
              <a:t>Animation </a:t>
            </a:r>
            <a:r>
              <a:rPr lang="ko-KR" altLang="en-US" dirty="0"/>
              <a:t>속성</a:t>
            </a:r>
          </a:p>
        </p:txBody>
      </p:sp>
    </p:spTree>
    <p:extLst>
      <p:ext uri="{BB962C8B-B14F-4D97-AF65-F5344CB8AC3E}">
        <p14:creationId xmlns:p14="http://schemas.microsoft.com/office/powerpoint/2010/main" val="291725019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6EC173"/>
                </a:solidFill>
              </a:rPr>
              <a:t>Animation </a:t>
            </a:r>
            <a:r>
              <a:rPr lang="ko-KR" altLang="en-US" dirty="0"/>
              <a:t>속성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549" y="1690688"/>
            <a:ext cx="4888820" cy="25453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+mn-ea"/>
              </a:rPr>
              <a:t>animation-name (</a:t>
            </a:r>
            <a:r>
              <a:rPr lang="ko-KR" altLang="en-US" dirty="0">
                <a:latin typeface="+mn-ea"/>
              </a:rPr>
              <a:t>이름</a:t>
            </a:r>
            <a:r>
              <a:rPr lang="en-US" altLang="ko-KR" dirty="0">
                <a:latin typeface="+mn-ea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+mn-ea"/>
              </a:rPr>
              <a:t>animation-duration (</a:t>
            </a:r>
            <a:r>
              <a:rPr lang="ko-KR" altLang="en-US" dirty="0">
                <a:latin typeface="+mn-ea"/>
              </a:rPr>
              <a:t>지속 시간</a:t>
            </a:r>
            <a:r>
              <a:rPr lang="en-US" altLang="ko-KR" dirty="0">
                <a:latin typeface="+mn-ea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+mn-ea"/>
              </a:rPr>
              <a:t>animation-delay (</a:t>
            </a:r>
            <a:r>
              <a:rPr lang="ko-KR" altLang="en-US" dirty="0">
                <a:latin typeface="+mn-ea"/>
              </a:rPr>
              <a:t>지연 시간</a:t>
            </a:r>
            <a:r>
              <a:rPr lang="en-US" altLang="ko-KR" dirty="0">
                <a:latin typeface="+mn-ea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+mn-ea"/>
              </a:rPr>
              <a:t>animation-iteration-count (</a:t>
            </a:r>
            <a:r>
              <a:rPr lang="ko-KR" altLang="en-US" dirty="0">
                <a:latin typeface="+mn-ea"/>
              </a:rPr>
              <a:t>반복 횟수</a:t>
            </a:r>
            <a:r>
              <a:rPr lang="en-US" altLang="ko-KR" dirty="0">
                <a:latin typeface="+mn-ea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+mn-ea"/>
              </a:rPr>
              <a:t>animation-timing-function (</a:t>
            </a:r>
            <a:r>
              <a:rPr lang="ko-KR" altLang="en-US" dirty="0">
                <a:latin typeface="+mn-ea"/>
              </a:rPr>
              <a:t>반복 형태</a:t>
            </a:r>
            <a:r>
              <a:rPr lang="en-US" altLang="ko-KR" dirty="0">
                <a:latin typeface="+mn-ea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+mn-ea"/>
              </a:rPr>
              <a:t>animation-direction (</a:t>
            </a:r>
            <a:r>
              <a:rPr lang="ko-KR" altLang="en-US" dirty="0">
                <a:latin typeface="+mn-ea"/>
              </a:rPr>
              <a:t>애니메이션 방향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 rotWithShape="1">
          <a:blip r:embed="rId3"/>
          <a:srcRect r="30174"/>
          <a:stretch/>
        </p:blipFill>
        <p:spPr>
          <a:xfrm>
            <a:off x="7092206" y="3028040"/>
            <a:ext cx="3212379" cy="1333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794587" y="4790901"/>
            <a:ext cx="9565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+mn-ea"/>
              </a:rPr>
              <a:t>단축 속성 </a:t>
            </a:r>
            <a:r>
              <a:rPr lang="en-US" altLang="ko-KR" dirty="0">
                <a:latin typeface="+mn-ea"/>
              </a:rPr>
              <a:t>: </a:t>
            </a:r>
            <a:r>
              <a:rPr lang="en-US" altLang="ko-KR" dirty="0">
                <a:solidFill>
                  <a:schemeClr val="accent5"/>
                </a:solidFill>
                <a:latin typeface="+mn-ea"/>
              </a:rPr>
              <a:t>name duration </a:t>
            </a:r>
            <a:r>
              <a:rPr lang="en-US" altLang="ko-KR" dirty="0">
                <a:latin typeface="+mn-ea"/>
              </a:rPr>
              <a:t>timing-function</a:t>
            </a:r>
            <a:r>
              <a:rPr lang="en-US" altLang="ko-KR" dirty="0">
                <a:solidFill>
                  <a:schemeClr val="accent5"/>
                </a:solidFill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delay </a:t>
            </a:r>
            <a:r>
              <a:rPr lang="en-US" altLang="ko-KR" dirty="0">
                <a:solidFill>
                  <a:schemeClr val="accent5"/>
                </a:solidFill>
                <a:latin typeface="+mn-ea"/>
              </a:rPr>
              <a:t>iteration-count</a:t>
            </a:r>
            <a:r>
              <a:rPr lang="en-US" altLang="ko-KR" dirty="0">
                <a:latin typeface="+mn-ea"/>
              </a:rPr>
              <a:t> direction</a:t>
            </a:r>
            <a:endParaRPr lang="ko-KR" altLang="en-US" dirty="0">
              <a:latin typeface="+mn-ea"/>
            </a:endParaRPr>
          </a:p>
        </p:txBody>
      </p:sp>
      <p:pic>
        <p:nvPicPr>
          <p:cNvPr id="11" name="그림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4587" y="5214968"/>
            <a:ext cx="7597906" cy="429511"/>
          </a:xfrm>
          <a:prstGeom prst="rect">
            <a:avLst/>
          </a:prstGeom>
        </p:spPr>
      </p:pic>
      <p:sp>
        <p:nvSpPr>
          <p:cNvPr id="3" name="오른쪽 화살표 2"/>
          <p:cNvSpPr/>
          <p:nvPr/>
        </p:nvSpPr>
        <p:spPr>
          <a:xfrm>
            <a:off x="5609493" y="3429000"/>
            <a:ext cx="1248891" cy="351692"/>
          </a:xfrm>
          <a:prstGeom prst="rightArrow">
            <a:avLst/>
          </a:prstGeom>
          <a:solidFill>
            <a:srgbClr val="6EC17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Kim jung chul Gothic Regular" panose="020B0503000000000000" pitchFamily="34" charset="-127"/>
              <a:ea typeface="Kim jung chul Gothic Regular" panose="020B0503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5024321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날짜 개체 틀 3">
            <a:extLst>
              <a:ext uri="{FF2B5EF4-FFF2-40B4-BE49-F238E27FC236}">
                <a16:creationId xmlns:a16="http://schemas.microsoft.com/office/drawing/2014/main" id="{A1630AAA-9B55-18D3-332D-AFBF264CC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2024-05-17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C5ED8DA-072B-7FC5-E113-8C17B68B59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4C6097A-AC2A-AACF-3345-E85A4A06FE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복잡한 속성 </a:t>
            </a:r>
            <a:r>
              <a:rPr lang="en-US" altLang="ko-KR" dirty="0"/>
              <a:t>- animation</a:t>
            </a:r>
            <a:endParaRPr lang="ko-KR" altLang="en-US" dirty="0"/>
          </a:p>
        </p:txBody>
      </p:sp>
      <p:sp>
        <p:nvSpPr>
          <p:cNvPr id="6" name="내용 개체 틀 6">
            <a:extLst>
              <a:ext uri="{FF2B5EF4-FFF2-40B4-BE49-F238E27FC236}">
                <a16:creationId xmlns:a16="http://schemas.microsoft.com/office/drawing/2014/main" id="{86A9CA44-D60E-DE88-52D8-5E8743377533}"/>
              </a:ext>
            </a:extLst>
          </p:cNvPr>
          <p:cNvSpPr txBox="1">
            <a:spLocks/>
          </p:cNvSpPr>
          <p:nvPr/>
        </p:nvSpPr>
        <p:spPr>
          <a:xfrm>
            <a:off x="866274" y="1534110"/>
            <a:ext cx="5775158" cy="42192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30000"/>
              </a:lnSpc>
            </a:pPr>
            <a:r>
              <a:rPr lang="en-US" altLang="ko-KR" dirty="0"/>
              <a:t>Animation-timing-function</a:t>
            </a:r>
          </a:p>
          <a:p>
            <a:pPr marL="0" indent="0">
              <a:lnSpc>
                <a:spcPct val="130000"/>
              </a:lnSpc>
              <a:buNone/>
            </a:pPr>
            <a:endParaRPr lang="en-US" altLang="ko-KR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AC4354F2-3D8A-0128-3312-3AD029D5BCB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363152" y="2407021"/>
            <a:ext cx="11465695" cy="3230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6250338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7251" y="1614224"/>
            <a:ext cx="6274125" cy="378694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altLang="ko-KR" dirty="0"/>
              <a:t>1. </a:t>
            </a:r>
            <a:r>
              <a:rPr lang="ko-KR" altLang="en-US" dirty="0"/>
              <a:t>키프레임을 사용하세요</a:t>
            </a:r>
            <a:r>
              <a:rPr lang="en-US" altLang="ko-KR" dirty="0"/>
              <a:t>.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altLang="ko-KR" dirty="0"/>
              <a:t>2. </a:t>
            </a:r>
            <a:r>
              <a:rPr lang="ko-KR" altLang="en-US" dirty="0"/>
              <a:t>왼쪽 상단에서 시작하여 시계 방향으로 사각형을 그리는 애니메이션을 완성하세요</a:t>
            </a:r>
            <a:r>
              <a:rPr lang="en-US" altLang="ko-KR" dirty="0"/>
              <a:t>.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altLang="ko-KR" dirty="0"/>
              <a:t>3. </a:t>
            </a:r>
            <a:r>
              <a:rPr lang="ko-KR" altLang="en-US" dirty="0"/>
              <a:t>애니메이션 대상은 원입니다</a:t>
            </a:r>
            <a:r>
              <a:rPr lang="en-US" altLang="ko-KR" dirty="0"/>
              <a:t>.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altLang="ko-KR" dirty="0"/>
              <a:t>4. </a:t>
            </a:r>
            <a:r>
              <a:rPr lang="ko-KR" altLang="en-US" dirty="0"/>
              <a:t>애니메이션은 </a:t>
            </a:r>
            <a:r>
              <a:rPr lang="en-US" altLang="ko-KR" dirty="0"/>
              <a:t>3</a:t>
            </a:r>
            <a:r>
              <a:rPr lang="ko-KR" altLang="en-US" dirty="0"/>
              <a:t>초 동안 지속됩니다</a:t>
            </a:r>
            <a:r>
              <a:rPr lang="en-US" altLang="ko-KR" dirty="0"/>
              <a:t>.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altLang="ko-KR" dirty="0"/>
              <a:t>5. </a:t>
            </a:r>
            <a:r>
              <a:rPr lang="ko-KR" altLang="en-US" dirty="0"/>
              <a:t>애니메이션은 </a:t>
            </a:r>
            <a:r>
              <a:rPr lang="en-US" altLang="ko-KR" dirty="0"/>
              <a:t>6</a:t>
            </a:r>
            <a:r>
              <a:rPr lang="ko-KR" altLang="en-US" dirty="0"/>
              <a:t>번 반복됩니다</a:t>
            </a:r>
            <a:r>
              <a:rPr lang="en-US" altLang="ko-KR" dirty="0"/>
              <a:t>.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2024-05-17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</a:t>
            </a:r>
            <a:r>
              <a:rPr lang="ko-KR" altLang="en-US" dirty="0"/>
              <a:t>원 움직이기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F5E712C-996F-C78C-AAEF-7A8ED1EBE40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9022" b="60967"/>
          <a:stretch/>
        </p:blipFill>
        <p:spPr bwMode="auto">
          <a:xfrm>
            <a:off x="6944140" y="1168167"/>
            <a:ext cx="4320207" cy="45216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543130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4850" y="1645603"/>
            <a:ext cx="10713720" cy="3786948"/>
          </a:xfrm>
        </p:spPr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altLang="ko-KR" sz="2400" dirty="0">
                <a:hlinkClick r:id="rId3"/>
              </a:rPr>
              <a:t>https://d2iwdqgro8i2ew.cloudfront.net/lesson/script/53006-1.html</a:t>
            </a:r>
            <a:r>
              <a:rPr lang="en-US" altLang="ko-KR" sz="2400" dirty="0"/>
              <a:t> </a:t>
            </a:r>
            <a:r>
              <a:rPr lang="ko-KR" altLang="en-US" dirty="0"/>
              <a:t> </a:t>
            </a:r>
            <a:endParaRPr lang="en-US" altLang="ko-KR" dirty="0"/>
          </a:p>
          <a:p>
            <a:pPr marL="0" indent="0">
              <a:lnSpc>
                <a:spcPct val="120000"/>
              </a:lnSpc>
              <a:buNone/>
            </a:pPr>
            <a:r>
              <a:rPr lang="ko-KR" altLang="en-US" dirty="0"/>
              <a:t>위 링크를 클릭해 실행되는 파일처럼 동작하도록 만들어주세요</a:t>
            </a:r>
            <a:r>
              <a:rPr lang="en-US" altLang="ko-KR" dirty="0"/>
              <a:t>. 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2024-05-17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</a:t>
            </a:r>
            <a:r>
              <a:rPr lang="ko-KR" altLang="en-US" dirty="0"/>
              <a:t>글씨 애니메이션</a:t>
            </a:r>
          </a:p>
        </p:txBody>
      </p:sp>
    </p:spTree>
    <p:extLst>
      <p:ext uri="{BB962C8B-B14F-4D97-AF65-F5344CB8AC3E}">
        <p14:creationId xmlns:p14="http://schemas.microsoft.com/office/powerpoint/2010/main" val="1811042708"/>
      </p:ext>
    </p:extLst>
  </p:cSld>
  <p:clrMapOvr>
    <a:masterClrMapping/>
  </p:clrMapOvr>
</p:sld>
</file>

<file path=ppt/theme/theme1.xml><?xml version="1.0" encoding="utf-8"?>
<a:theme xmlns:a="http://schemas.openxmlformats.org/drawingml/2006/main" name="3_Office 테마">
  <a:themeElements>
    <a:clrScheme name="코딩온_새싹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6EC173"/>
      </a:accent1>
      <a:accent2>
        <a:srgbClr val="B4D56D"/>
      </a:accent2>
      <a:accent3>
        <a:srgbClr val="F99F2C"/>
      </a:accent3>
      <a:accent4>
        <a:srgbClr val="FFDB83"/>
      </a:accent4>
      <a:accent5>
        <a:srgbClr val="2894FF"/>
      </a:accent5>
      <a:accent6>
        <a:srgbClr val="A5A5A5"/>
      </a:accent6>
      <a:hlink>
        <a:srgbClr val="2894FF"/>
      </a:hlink>
      <a:folHlink>
        <a:srgbClr val="954F72"/>
      </a:folHlink>
    </a:clrScheme>
    <a:fontScheme name="PretendardGOV">
      <a:majorFont>
        <a:latin typeface="PretendardGOV"/>
        <a:ea typeface="PretendardGOV"/>
        <a:cs typeface=""/>
      </a:majorFont>
      <a:minorFont>
        <a:latin typeface="PretendardGOV"/>
        <a:ea typeface="PretendardGOV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</TotalTime>
  <Words>1035</Words>
  <Application>Microsoft Office PowerPoint</Application>
  <PresentationFormat>와이드스크린</PresentationFormat>
  <Paragraphs>235</Paragraphs>
  <Slides>25</Slides>
  <Notes>20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33" baseType="lpstr">
      <vt:lpstr>Kim jung chul Gothic Regular</vt:lpstr>
      <vt:lpstr>PretendardGOV</vt:lpstr>
      <vt:lpstr>Söhne</vt:lpstr>
      <vt:lpstr>맑은 고딕</vt:lpstr>
      <vt:lpstr>Arial</vt:lpstr>
      <vt:lpstr>Consolas</vt:lpstr>
      <vt:lpstr>Wingdings</vt:lpstr>
      <vt:lpstr>3_Office 테마</vt:lpstr>
      <vt:lpstr>CSS 복잡한 속성</vt:lpstr>
      <vt:lpstr>position</vt:lpstr>
      <vt:lpstr>CSS 복잡한 속성 - position</vt:lpstr>
      <vt:lpstr>CSS 복잡한 속성 - position</vt:lpstr>
      <vt:lpstr>실습. 애벌레 만들기</vt:lpstr>
      <vt:lpstr>transform</vt:lpstr>
      <vt:lpstr>CSS 복잡한 속성 - transform</vt:lpstr>
      <vt:lpstr>CSS 복잡한 속성 - transform</vt:lpstr>
      <vt:lpstr>CSS 복잡한 속성 - transform</vt:lpstr>
      <vt:lpstr>CSS 복잡한 속성 - transform</vt:lpstr>
      <vt:lpstr>transition</vt:lpstr>
      <vt:lpstr>PowerPoint 프레젠테이션</vt:lpstr>
      <vt:lpstr>실습.  transition</vt:lpstr>
      <vt:lpstr>실습. 사진 쌓기</vt:lpstr>
      <vt:lpstr>실습. Transform 실습</vt:lpstr>
      <vt:lpstr>display</vt:lpstr>
      <vt:lpstr>CSS 복잡한 속성 - display</vt:lpstr>
      <vt:lpstr>실습. 다양한 헤더 만들기 (with. flex)</vt:lpstr>
      <vt:lpstr>CSS 복잡한 속성 - animation</vt:lpstr>
      <vt:lpstr>@keyframes</vt:lpstr>
      <vt:lpstr>Animation 속성</vt:lpstr>
      <vt:lpstr>Animation 속성</vt:lpstr>
      <vt:lpstr>CSS 복잡한 속성 - animation</vt:lpstr>
      <vt:lpstr>실습. 원 움직이기</vt:lpstr>
      <vt:lpstr>실습. 글씨 애니메이션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CSS 복잡한 속성</dc:title>
  <dc:creator>On Coding</dc:creator>
  <cp:lastModifiedBy>On Coding</cp:lastModifiedBy>
  <cp:revision>3</cp:revision>
  <dcterms:created xsi:type="dcterms:W3CDTF">2024-05-17T01:51:38Z</dcterms:created>
  <dcterms:modified xsi:type="dcterms:W3CDTF">2024-05-17T01:57:10Z</dcterms:modified>
</cp:coreProperties>
</file>