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0"/>
  </p:notesMasterIdLst>
  <p:sldIdLst>
    <p:sldId id="675" r:id="rId2"/>
    <p:sldId id="682" r:id="rId3"/>
    <p:sldId id="291" r:id="rId4"/>
    <p:sldId id="354" r:id="rId5"/>
    <p:sldId id="288" r:id="rId6"/>
    <p:sldId id="322" r:id="rId7"/>
    <p:sldId id="379" r:id="rId8"/>
    <p:sldId id="380" r:id="rId9"/>
    <p:sldId id="381" r:id="rId10"/>
    <p:sldId id="382" r:id="rId11"/>
    <p:sldId id="383" r:id="rId12"/>
    <p:sldId id="387" r:id="rId13"/>
    <p:sldId id="385" r:id="rId14"/>
    <p:sldId id="386" r:id="rId15"/>
    <p:sldId id="286" r:id="rId16"/>
    <p:sldId id="684" r:id="rId17"/>
    <p:sldId id="685" r:id="rId18"/>
    <p:sldId id="690" r:id="rId19"/>
    <p:sldId id="693" r:id="rId20"/>
    <p:sldId id="692" r:id="rId21"/>
    <p:sldId id="691" r:id="rId22"/>
    <p:sldId id="390" r:id="rId23"/>
    <p:sldId id="391" r:id="rId24"/>
    <p:sldId id="392" r:id="rId25"/>
    <p:sldId id="393" r:id="rId26"/>
    <p:sldId id="374" r:id="rId27"/>
    <p:sldId id="292" r:id="rId28"/>
    <p:sldId id="332" r:id="rId29"/>
    <p:sldId id="333" r:id="rId30"/>
    <p:sldId id="334" r:id="rId31"/>
    <p:sldId id="355" r:id="rId32"/>
    <p:sldId id="694" r:id="rId33"/>
    <p:sldId id="695" r:id="rId34"/>
    <p:sldId id="696" r:id="rId35"/>
    <p:sldId id="697" r:id="rId36"/>
    <p:sldId id="698" r:id="rId37"/>
    <p:sldId id="699" r:id="rId38"/>
    <p:sldId id="706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6F3"/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72213" autoAdjust="0"/>
  </p:normalViewPr>
  <p:slideViewPr>
    <p:cSldViewPr snapToGrid="0">
      <p:cViewPr varScale="1">
        <p:scale>
          <a:sx n="79" d="100"/>
          <a:sy n="79" d="100"/>
        </p:scale>
        <p:origin x="1020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b="0" dirty="0"/>
              <a:t>- CSS: </a:t>
            </a:r>
            <a:r>
              <a:rPr lang="ko-KR" altLang="en-US" b="0" dirty="0"/>
              <a:t>형용사</a:t>
            </a:r>
            <a:endParaRPr lang="en-US" altLang="ko-KR" b="0" dirty="0"/>
          </a:p>
          <a:p>
            <a:r>
              <a:rPr lang="en-US" altLang="ko-KR" b="1" dirty="0"/>
              <a:t>- JS: </a:t>
            </a:r>
            <a:r>
              <a:rPr lang="ko-KR" altLang="en-US" b="1" dirty="0"/>
              <a:t>동사</a:t>
            </a:r>
            <a:br>
              <a:rPr lang="en-US" altLang="ko-KR" b="1" dirty="0"/>
            </a:b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자바스크립트는 복잡한 “</a:t>
            </a:r>
            <a:r>
              <a:rPr lang="ko-KR" altLang="en-US" dirty="0" err="1"/>
              <a:t>기능”을</a:t>
            </a:r>
            <a:r>
              <a:rPr lang="ko-KR" altLang="en-US" dirty="0"/>
              <a:t> 구현할 수 있도록 하는 </a:t>
            </a:r>
            <a:r>
              <a:rPr lang="ko-KR" altLang="en-US" b="1" dirty="0"/>
              <a:t>프로그래밍 언어</a:t>
            </a:r>
            <a:r>
              <a:rPr lang="ko-KR" altLang="en-US" dirty="0"/>
              <a:t> 입니다</a:t>
            </a:r>
            <a:r>
              <a:rPr lang="en-US" altLang="ko-KR" dirty="0"/>
              <a:t>.!</a:t>
            </a:r>
          </a:p>
          <a:p>
            <a:endParaRPr lang="en-US" altLang="ko-KR" dirty="0"/>
          </a:p>
          <a:p>
            <a:r>
              <a:rPr lang="ko-KR" altLang="en-US" dirty="0"/>
              <a:t>상호작용이 되는 행위들은 모두 </a:t>
            </a:r>
            <a:r>
              <a:rPr lang="en-US" altLang="ko-KR" dirty="0"/>
              <a:t>JS</a:t>
            </a:r>
            <a:r>
              <a:rPr lang="ko-KR" altLang="en-US" dirty="0"/>
              <a:t>의 역할이다</a:t>
            </a:r>
            <a:r>
              <a:rPr lang="en-US" altLang="ko-KR" dirty="0"/>
              <a:t>. </a:t>
            </a:r>
            <a:r>
              <a:rPr lang="ko-KR" altLang="en-US" dirty="0"/>
              <a:t>라고 이해하시면 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8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네이버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5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가지 참조 방식이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내장방식</a:t>
            </a:r>
            <a:r>
              <a:rPr lang="en-US" altLang="ko-KR" dirty="0"/>
              <a:t>, </a:t>
            </a:r>
            <a:r>
              <a:rPr lang="ko-KR" altLang="en-US" dirty="0"/>
              <a:t>링크방식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여기서 말하는 참조 방식이란 우리가 </a:t>
            </a:r>
            <a:r>
              <a:rPr lang="en-US" altLang="ko-KR" dirty="0" err="1"/>
              <a:t>css</a:t>
            </a:r>
            <a:r>
              <a:rPr lang="ko-KR" altLang="en-US" dirty="0"/>
              <a:t>를 링크나 직접 적용해서 사용하는 것처럼 </a:t>
            </a:r>
            <a:r>
              <a:rPr lang="ko-KR" altLang="en-US" dirty="0" err="1"/>
              <a:t>하는것을</a:t>
            </a:r>
            <a:r>
              <a:rPr lang="ko-KR" altLang="en-US" dirty="0"/>
              <a:t>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Js</a:t>
            </a:r>
            <a:r>
              <a:rPr lang="ko-KR" altLang="en-US" dirty="0"/>
              <a:t>도 비슷합니다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내장방식</a:t>
            </a:r>
            <a:endParaRPr lang="en-US" altLang="ko-KR" dirty="0"/>
          </a:p>
          <a:p>
            <a:r>
              <a:rPr lang="en-US" altLang="ko-KR" dirty="0"/>
              <a:t>Html </a:t>
            </a:r>
            <a:r>
              <a:rPr lang="ko-KR" altLang="en-US" dirty="0"/>
              <a:t>문서내에 </a:t>
            </a:r>
            <a:r>
              <a:rPr lang="en-US" altLang="ko-KR" dirty="0"/>
              <a:t>&lt;script&gt; </a:t>
            </a:r>
            <a:r>
              <a:rPr lang="ko-KR" altLang="en-US" dirty="0"/>
              <a:t>태그를 사용하여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코드를 직접 포함하는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위치는 어디서나 사용이 가능합니다</a:t>
            </a:r>
            <a:r>
              <a:rPr lang="en-US" altLang="ko-KR" dirty="0"/>
              <a:t>. </a:t>
            </a:r>
            <a:r>
              <a:rPr lang="ko-KR" altLang="en-US" dirty="0"/>
              <a:t>꼭 </a:t>
            </a:r>
            <a:r>
              <a:rPr lang="en-US" altLang="ko-KR" dirty="0"/>
              <a:t>&lt;script&gt; </a:t>
            </a:r>
            <a:r>
              <a:rPr lang="ko-KR" altLang="en-US" dirty="0"/>
              <a:t>태그로 감싸주시면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60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링크 방식은 </a:t>
            </a:r>
            <a:r>
              <a:rPr lang="en-US" altLang="ko-KR" dirty="0"/>
              <a:t>JS</a:t>
            </a:r>
            <a:r>
              <a:rPr lang="ko-KR" altLang="en-US" dirty="0"/>
              <a:t>파일을 따로 만들어서 링크연결을 통해 접근하는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링크방식도 마찬가지로 어디에서나 사용가능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1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각각 장단점이 존재 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6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Console.log</a:t>
            </a:r>
            <a:r>
              <a:rPr lang="ko-KR" altLang="en-US" dirty="0"/>
              <a:t>는 테스트용</a:t>
            </a:r>
            <a:r>
              <a:rPr lang="en-US" altLang="ko-KR" dirty="0"/>
              <a:t>, </a:t>
            </a:r>
            <a:r>
              <a:rPr lang="ko-KR" altLang="en-US" dirty="0"/>
              <a:t>디버깅용도로만 사용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버그를 </a:t>
            </a:r>
            <a:r>
              <a:rPr lang="ko-KR" altLang="en-US" dirty="0" err="1"/>
              <a:t>찾는데는</a:t>
            </a:r>
            <a:r>
              <a:rPr lang="ko-KR" altLang="en-US" dirty="0"/>
              <a:t> 도움이 되지만</a:t>
            </a:r>
            <a:r>
              <a:rPr lang="en-US" altLang="ko-KR" dirty="0"/>
              <a:t>, </a:t>
            </a:r>
            <a:r>
              <a:rPr lang="ko-KR" altLang="en-US" dirty="0"/>
              <a:t>코드에 대한 이해를 개선하거나 코드의 구조를 더 잘 만들거나 유지보수를 </a:t>
            </a:r>
            <a:r>
              <a:rPr lang="ko-KR" altLang="en-US" dirty="0" err="1"/>
              <a:t>하는데에는</a:t>
            </a:r>
            <a:r>
              <a:rPr lang="ko-KR" altLang="en-US" dirty="0"/>
              <a:t> 도움이 되지 않습니다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만약 서버 배포한다면 </a:t>
            </a:r>
            <a:r>
              <a:rPr lang="en-US" altLang="ko-KR" dirty="0"/>
              <a:t>console.log</a:t>
            </a:r>
            <a:r>
              <a:rPr lang="ko-KR" altLang="en-US" dirty="0"/>
              <a:t>는 모두 지워야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Return -</a:t>
            </a:r>
            <a:r>
              <a:rPr lang="ko-KR" altLang="en-US" dirty="0"/>
              <a:t> 결과가 나타내는 것을 값을 내뱉는다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 쳐보기 </a:t>
            </a:r>
            <a:endParaRPr lang="en-US" altLang="ko-KR" dirty="0"/>
          </a:p>
          <a:p>
            <a:r>
              <a:rPr lang="en-US" altLang="ko-KR" dirty="0"/>
              <a:t>Head</a:t>
            </a:r>
            <a:r>
              <a:rPr lang="ko-KR" altLang="en-US" dirty="0"/>
              <a:t>에 </a:t>
            </a:r>
            <a:r>
              <a:rPr lang="ko-KR" altLang="en-US" dirty="0" err="1"/>
              <a:t>링크걸고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Body</a:t>
            </a:r>
            <a:r>
              <a:rPr lang="ko-KR" altLang="en-US" dirty="0"/>
              <a:t>에 </a:t>
            </a:r>
            <a:r>
              <a:rPr lang="en-US" altLang="ko-KR" dirty="0"/>
              <a:t>script</a:t>
            </a:r>
            <a:r>
              <a:rPr lang="ko-KR" altLang="en-US" dirty="0"/>
              <a:t>걸어서  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6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질문하기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읽기 순서가 어떠했나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11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이게 </a:t>
            </a:r>
            <a:r>
              <a:rPr lang="en-US" altLang="ko-KR" dirty="0"/>
              <a:t>index.html . </a:t>
            </a:r>
            <a:r>
              <a:rPr lang="ko-KR" altLang="en-US" dirty="0"/>
              <a:t>같이 </a:t>
            </a:r>
            <a:r>
              <a:rPr lang="ko-KR" altLang="en-US" dirty="0" err="1"/>
              <a:t>실습했던것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순서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8016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상황에 맞게 잘 사용하면 되고</a:t>
            </a:r>
            <a:r>
              <a:rPr lang="ko-KR" altLang="en-US" baseline="0" dirty="0"/>
              <a:t> 일단 </a:t>
            </a:r>
            <a:r>
              <a:rPr lang="en-US" altLang="ko-KR" baseline="0" dirty="0"/>
              <a:t>head </a:t>
            </a:r>
            <a:r>
              <a:rPr lang="ko-KR" altLang="en-US" baseline="0" dirty="0"/>
              <a:t>에 걸자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head </a:t>
            </a:r>
            <a:r>
              <a:rPr lang="ko-KR" altLang="en-US" baseline="0" dirty="0"/>
              <a:t>태그안에는 사람들에게 직관적으로 보이지 않는 내용에 대해서 </a:t>
            </a:r>
            <a:endParaRPr lang="en-US" altLang="ko-KR" baseline="0" dirty="0"/>
          </a:p>
          <a:p>
            <a:r>
              <a:rPr lang="en-US" altLang="ko-KR" baseline="0" dirty="0"/>
              <a:t>body</a:t>
            </a:r>
            <a:r>
              <a:rPr lang="ko-KR" altLang="en-US" baseline="0" dirty="0"/>
              <a:t>태그에는 직관적으로 보이는 태그에 대해서 하는데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head tag</a:t>
            </a:r>
            <a:r>
              <a:rPr lang="ko-KR" altLang="en-US" baseline="0" dirty="0"/>
              <a:t>안에 걸었을 때</a:t>
            </a:r>
            <a:endParaRPr lang="en-US" altLang="ko-KR" baseline="0" dirty="0"/>
          </a:p>
          <a:p>
            <a:pPr marL="628650" lvl="1" indent="-171450">
              <a:buFontTx/>
              <a:buChar char="-"/>
            </a:pPr>
            <a:r>
              <a:rPr lang="en-US" altLang="ko-KR" baseline="0" dirty="0"/>
              <a:t>script</a:t>
            </a:r>
            <a:r>
              <a:rPr lang="ko-KR" altLang="en-US" baseline="0" dirty="0"/>
              <a:t>내용을 불러온 이후에 </a:t>
            </a:r>
            <a:r>
              <a:rPr lang="en-US" altLang="ko-KR" baseline="0" dirty="0"/>
              <a:t>body</a:t>
            </a:r>
            <a:r>
              <a:rPr lang="ko-KR" altLang="en-US" baseline="0" dirty="0"/>
              <a:t>를 읽기 때문에 </a:t>
            </a:r>
            <a:r>
              <a:rPr lang="en-US" altLang="ko-KR" baseline="0" dirty="0"/>
              <a:t>scrip</a:t>
            </a:r>
            <a:r>
              <a:rPr lang="ko-KR" altLang="en-US" baseline="0" dirty="0"/>
              <a:t>의 내용이 너무 길면 흰 화면이 오래 보여서 오류처럼 보일 수 있음</a:t>
            </a:r>
            <a:endParaRPr lang="en-US" altLang="ko-KR" baseline="0" dirty="0"/>
          </a:p>
          <a:p>
            <a:pPr marL="628650" lvl="1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body</a:t>
            </a:r>
            <a:r>
              <a:rPr lang="ko-KR" altLang="en-US" baseline="0" dirty="0"/>
              <a:t>태그 안에 걸었을 때</a:t>
            </a:r>
            <a:r>
              <a:rPr lang="en-US" altLang="ko-KR" baseline="0" dirty="0"/>
              <a:t>, </a:t>
            </a:r>
          </a:p>
          <a:p>
            <a:pPr marL="628650" lvl="1" indent="-171450">
              <a:buFontTx/>
              <a:buChar char="-"/>
            </a:pPr>
            <a:r>
              <a:rPr lang="ko-KR" altLang="en-US" dirty="0"/>
              <a:t>요소가 먼저 보이고 스크립트가 읽히기 전에 요소에 이벤트를 걸었을 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버튼을 눌렀을 때 버튼의 기능이 제대로 동작하지 않을 수 있다</a:t>
            </a:r>
            <a:r>
              <a:rPr lang="en-US" altLang="ko-KR" dirty="0"/>
              <a:t>.)</a:t>
            </a:r>
          </a:p>
          <a:p>
            <a:pPr marL="628650" lvl="1" indent="-171450">
              <a:buFontTx/>
              <a:buChar char="-"/>
            </a:pP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특정 위치가 더 좋다</a:t>
            </a:r>
            <a:r>
              <a:rPr lang="en-US" altLang="ko-KR" dirty="0"/>
              <a:t>! </a:t>
            </a:r>
            <a:r>
              <a:rPr lang="ko-KR" altLang="en-US" dirty="0"/>
              <a:t>고 말할 수 없음 잘 생각하고 판단해서 사용하세요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859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표기법에 대해 배워보겠습니다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문법과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일반적으로 다음과 같은 </a:t>
            </a:r>
            <a:r>
              <a:rPr lang="en-US" altLang="ko-KR" dirty="0"/>
              <a:t>4</a:t>
            </a:r>
            <a:r>
              <a:rPr lang="ko-KR" altLang="en-US" dirty="0"/>
              <a:t>개의 표기법이 있습니다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549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문장이 있습니다</a:t>
            </a:r>
            <a:r>
              <a:rPr lang="en-US" altLang="ko-KR" dirty="0"/>
              <a:t>. </a:t>
            </a:r>
            <a:r>
              <a:rPr lang="ko-KR" altLang="en-US" dirty="0"/>
              <a:t>한눈에 보기 어렵죠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247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단어 사이에 하이픈</a:t>
            </a:r>
            <a:r>
              <a:rPr lang="en-US" altLang="ko-KR" dirty="0"/>
              <a:t>(‘-’)</a:t>
            </a:r>
            <a:r>
              <a:rPr lang="ko-KR" altLang="en-US" dirty="0"/>
              <a:t>을 사용하여 단어를 구분하는 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주로 </a:t>
            </a:r>
            <a:r>
              <a:rPr lang="en-US" altLang="ko-KR" dirty="0"/>
              <a:t>html </a:t>
            </a:r>
            <a:r>
              <a:rPr lang="ko-KR" altLang="en-US" dirty="0"/>
              <a:t>속성이름</a:t>
            </a:r>
            <a:r>
              <a:rPr lang="en-US" altLang="ko-KR" dirty="0"/>
              <a:t>,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클래스이름</a:t>
            </a:r>
            <a:r>
              <a:rPr lang="en-US" altLang="ko-KR" dirty="0"/>
              <a:t>,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경로에 사용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js</a:t>
            </a:r>
            <a:r>
              <a:rPr lang="en-US" altLang="ko-KR" baseline="0" dirty="0"/>
              <a:t> </a:t>
            </a:r>
            <a:r>
              <a:rPr lang="ko-KR" altLang="en-US" baseline="0" dirty="0"/>
              <a:t>에서는 변수나 함수 이름에 </a:t>
            </a:r>
            <a:r>
              <a:rPr lang="en-US" altLang="ko-KR" baseline="0" dirty="0"/>
              <a:t>dash(</a:t>
            </a:r>
            <a:r>
              <a:rPr lang="ko-KR" altLang="en-US" baseline="0" dirty="0"/>
              <a:t>하이픈</a:t>
            </a:r>
            <a:r>
              <a:rPr lang="en-US" altLang="ko-KR" baseline="0" dirty="0"/>
              <a:t>,, </a:t>
            </a:r>
            <a:r>
              <a:rPr lang="ko-KR" altLang="en-US" baseline="0" dirty="0"/>
              <a:t>마이너스 기호</a:t>
            </a:r>
            <a:r>
              <a:rPr lang="en-US" altLang="ko-KR" baseline="0" dirty="0"/>
              <a:t>) </a:t>
            </a:r>
            <a:r>
              <a:rPr lang="ko-KR" altLang="en-US" baseline="0" dirty="0"/>
              <a:t>를 넣으면 안됨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문법적으로 안됨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나중에 뒤에서 배움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1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단어 사이에 밑줄을 사용하여 구분하는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스네이크는</a:t>
            </a:r>
            <a:r>
              <a:rPr lang="ko-KR" altLang="en-US" dirty="0"/>
              <a:t> 주로 상수나 파일 이름에 사용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84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단어의 첫 글자를 제외한 나머지 단어의 첫 글자를 대문자로 쓰는 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주로 변수나 함수의 이름을 작성할 때 사용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829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카멜 </a:t>
            </a:r>
            <a:r>
              <a:rPr lang="ko-KR" altLang="en-US" dirty="0" err="1"/>
              <a:t>케이스랑</a:t>
            </a:r>
            <a:r>
              <a:rPr lang="ko-KR" altLang="en-US" dirty="0"/>
              <a:t> 비슷하지만 맨 앞의 알파벳도 대문자로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일반적으로는 </a:t>
            </a:r>
            <a:r>
              <a:rPr lang="ko-KR" altLang="en-US" dirty="0" err="1"/>
              <a:t>카멜케이스</a:t>
            </a:r>
            <a:r>
              <a:rPr lang="ko-KR" altLang="en-US" dirty="0"/>
              <a:t> 사용하지만 특수한 경우에는 파스칼 케이스 사용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생성자 </a:t>
            </a:r>
            <a:r>
              <a:rPr lang="en-US" altLang="ko-KR" dirty="0"/>
              <a:t>-&gt; </a:t>
            </a:r>
            <a:r>
              <a:rPr lang="ko-KR" altLang="en-US" dirty="0"/>
              <a:t>생성자 언급은 </a:t>
            </a:r>
            <a:r>
              <a:rPr lang="ko-KR" altLang="en-US" dirty="0" err="1"/>
              <a:t>안하는게</a:t>
            </a:r>
            <a:r>
              <a:rPr lang="ko-KR" altLang="en-US" dirty="0"/>
              <a:t> 좋을 것 같음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생성자 함수</a:t>
            </a:r>
            <a:r>
              <a:rPr lang="en-US" altLang="ko-KR" dirty="0"/>
              <a:t>,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 이름 작성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713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 언어 및 컴퓨터 과학 분야에서 매우 흔히 사용되는 관행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0</a:t>
            </a:r>
            <a:r>
              <a:rPr lang="ko-KR" altLang="en-US" dirty="0"/>
              <a:t>부터 시작하는 것을 의미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495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사람은 </a:t>
            </a:r>
            <a:r>
              <a:rPr lang="en-US" altLang="ko-KR" dirty="0"/>
              <a:t>1</a:t>
            </a:r>
            <a:r>
              <a:rPr lang="ko-KR" altLang="en-US" dirty="0"/>
              <a:t>부터</a:t>
            </a:r>
            <a:r>
              <a:rPr lang="en-US" altLang="ko-KR" dirty="0"/>
              <a:t>~</a:t>
            </a:r>
          </a:p>
          <a:p>
            <a:r>
              <a:rPr lang="ko-KR" altLang="en-US" dirty="0"/>
              <a:t>컴퓨터는 </a:t>
            </a:r>
            <a:r>
              <a:rPr lang="en-US" altLang="ko-KR" dirty="0"/>
              <a:t>0</a:t>
            </a:r>
            <a:r>
              <a:rPr lang="ko-KR" altLang="en-US" dirty="0"/>
              <a:t>부터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038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Fruits</a:t>
            </a:r>
            <a:r>
              <a:rPr lang="ko-KR" altLang="en-US" dirty="0" err="1"/>
              <a:t>라는건</a:t>
            </a:r>
            <a:r>
              <a:rPr lang="ko-KR" altLang="en-US" dirty="0"/>
              <a:t> 배열이라는 데이터 종류</a:t>
            </a:r>
            <a:r>
              <a:rPr lang="ko-KR" altLang="en-US" baseline="0" dirty="0"/>
              <a:t> 중 </a:t>
            </a:r>
            <a:r>
              <a:rPr lang="ko-KR" altLang="en-US" baseline="0" dirty="0" err="1"/>
              <a:t>하나에요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나중에 배우게 될 것</a:t>
            </a:r>
            <a:r>
              <a:rPr lang="en-US" altLang="ko-KR" baseline="0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대괄호 안에는 </a:t>
            </a:r>
            <a:r>
              <a:rPr lang="en-US" altLang="ko-KR" dirty="0"/>
              <a:t>~ n</a:t>
            </a:r>
            <a:r>
              <a:rPr lang="ko-KR" altLang="en-US" dirty="0"/>
              <a:t>번째에 대한 수가 나오게 되는데</a:t>
            </a:r>
            <a:endParaRPr lang="en-US" altLang="ko-KR" dirty="0"/>
          </a:p>
          <a:p>
            <a:r>
              <a:rPr lang="en-US" altLang="ko-KR" dirty="0"/>
              <a:t>zero base numbering</a:t>
            </a:r>
            <a:r>
              <a:rPr lang="ko-KR" altLang="en-US" dirty="0"/>
              <a:t>이기 때문에 </a:t>
            </a:r>
            <a:endParaRPr lang="en-US" altLang="ko-KR" dirty="0"/>
          </a:p>
          <a:p>
            <a:r>
              <a:rPr lang="ko-KR" altLang="en-US" dirty="0"/>
              <a:t>우리가 생각하는 첫번째인 </a:t>
            </a:r>
            <a:r>
              <a:rPr lang="en-US" altLang="ko-KR" dirty="0"/>
              <a:t>Apple</a:t>
            </a:r>
            <a:r>
              <a:rPr lang="ko-KR" altLang="en-US" dirty="0"/>
              <a:t>을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consol</a:t>
            </a:r>
            <a:r>
              <a:rPr lang="ko-KR" altLang="en-US" baseline="0" dirty="0"/>
              <a:t>창에 띄우고 싶다면 </a:t>
            </a:r>
            <a:r>
              <a:rPr lang="en-US" altLang="ko-KR" baseline="0" dirty="0"/>
              <a:t>[0]</a:t>
            </a:r>
            <a:r>
              <a:rPr lang="ko-KR" altLang="en-US" baseline="0" dirty="0"/>
              <a:t>번째를 부르면 됨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1752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</a:t>
            </a:r>
            <a:r>
              <a:rPr lang="ko-KR" altLang="en-US" dirty="0"/>
              <a:t>에서 주석 처리 방법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같이 있다 해보면서 익히도록 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69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77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변수는 데이터를 저장하고 나중에 참조하거나 조작하는데 사용되는 식별자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(</a:t>
            </a:r>
            <a:r>
              <a:rPr lang="ko-KR" altLang="en-US" dirty="0"/>
              <a:t>실제로 데이터를 직접 저장하는 것이 아닌 데이터가 저장된 메모리 공간의 주소를 참조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변수에는 값을 할당할 수 있고</a:t>
            </a:r>
            <a:r>
              <a:rPr lang="en-US" altLang="ko-KR" dirty="0"/>
              <a:t>, </a:t>
            </a:r>
            <a:r>
              <a:rPr lang="ko-KR" altLang="en-US" dirty="0"/>
              <a:t>해당 값을 변경 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24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선언을 통해 변수를 정의하고</a:t>
            </a:r>
            <a:r>
              <a:rPr lang="en-US" altLang="ko-KR" dirty="0"/>
              <a:t>, </a:t>
            </a:r>
            <a:r>
              <a:rPr lang="ko-KR" altLang="en-US" dirty="0"/>
              <a:t>할당을 통해 변수에 값을 저장합니다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Js</a:t>
            </a:r>
            <a:r>
              <a:rPr lang="ko-KR" altLang="en-US" dirty="0"/>
              <a:t>에서는 변수를 선언할 때 </a:t>
            </a:r>
            <a:r>
              <a:rPr lang="en-US" altLang="ko-KR" dirty="0"/>
              <a:t>3</a:t>
            </a:r>
            <a:r>
              <a:rPr lang="ko-KR" altLang="en-US" dirty="0"/>
              <a:t>개의 키워드를 사용합니다</a:t>
            </a:r>
            <a:r>
              <a:rPr lang="en-US" altLang="ko-KR" dirty="0"/>
              <a:t>. (const,</a:t>
            </a:r>
            <a:r>
              <a:rPr lang="ko-KR" altLang="en-US" dirty="0"/>
              <a:t> </a:t>
            </a:r>
            <a:r>
              <a:rPr lang="en-US" altLang="ko-KR" dirty="0"/>
              <a:t>let,</a:t>
            </a:r>
            <a:r>
              <a:rPr lang="ko-KR" altLang="en-US" dirty="0"/>
              <a:t> </a:t>
            </a:r>
            <a:r>
              <a:rPr lang="en-US" altLang="ko-KR" dirty="0"/>
              <a:t>var)</a:t>
            </a:r>
          </a:p>
          <a:p>
            <a:endParaRPr lang="en-US" altLang="ko-KR" dirty="0"/>
          </a:p>
          <a:p>
            <a:r>
              <a:rPr lang="ko-KR" altLang="en-US" dirty="0"/>
              <a:t>하나씩 알아보도록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409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33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023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r>
              <a:rPr lang="ko-KR" altLang="en-US" dirty="0"/>
              <a:t>코드 치러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31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퀴즈 </a:t>
            </a:r>
            <a:r>
              <a:rPr lang="en-US" altLang="ko-KR" dirty="0"/>
              <a:t>3</a:t>
            </a:r>
            <a:r>
              <a:rPr lang="ko-KR" altLang="en-US" dirty="0"/>
              <a:t>문제 </a:t>
            </a:r>
            <a:r>
              <a:rPr lang="en-US" altLang="ko-KR" dirty="0"/>
              <a:t>-&gt; </a:t>
            </a:r>
            <a:r>
              <a:rPr lang="ko-KR" altLang="en-US" dirty="0"/>
              <a:t>풀고 핑 찍어주세요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숫자로 시작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3. $  </a:t>
            </a:r>
            <a:r>
              <a:rPr lang="ko-KR" altLang="en-US" dirty="0" err="1"/>
              <a:t>사용할순</a:t>
            </a:r>
            <a:r>
              <a:rPr lang="ko-KR" altLang="en-US" dirty="0"/>
              <a:t> 있지만 권장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4. </a:t>
            </a:r>
            <a:r>
              <a:rPr lang="ko-KR" altLang="en-US" dirty="0" err="1"/>
              <a:t>예약어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775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– </a:t>
            </a:r>
            <a:r>
              <a:rPr lang="ko-KR" altLang="en-US" dirty="0"/>
              <a:t>하이픈 </a:t>
            </a:r>
            <a:r>
              <a:rPr lang="en-US" altLang="ko-KR" dirty="0"/>
              <a:t>x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하이픈 무슨 케이스</a:t>
            </a:r>
            <a:r>
              <a:rPr lang="en-US" altLang="ko-KR" dirty="0">
                <a:sym typeface="Wingdings" panose="05000000000000000000" pitchFamily="2" charset="2"/>
              </a:rPr>
              <a:t>? =&gt; </a:t>
            </a:r>
            <a:r>
              <a:rPr lang="ko-KR" altLang="en-US" dirty="0" err="1">
                <a:sym typeface="Wingdings" panose="05000000000000000000" pitchFamily="2" charset="2"/>
              </a:rPr>
              <a:t>대쉬케이스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케밥케이스</a:t>
            </a:r>
            <a:r>
              <a:rPr lang="en-US" altLang="ko-KR" dirty="0">
                <a:sym typeface="Wingdings" panose="05000000000000000000" pitchFamily="2" charset="2"/>
              </a:rPr>
              <a:t>) -&gt; </a:t>
            </a:r>
            <a:r>
              <a:rPr lang="ko-KR" altLang="en-US" dirty="0">
                <a:sym typeface="Wingdings" panose="05000000000000000000" pitchFamily="2" charset="2"/>
              </a:rPr>
              <a:t>문법적으로 안됨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_ </a:t>
            </a:r>
            <a:r>
              <a:rPr lang="ko-KR" altLang="en-US" dirty="0"/>
              <a:t>시작 하기 때문에 가능 </a:t>
            </a:r>
            <a:r>
              <a:rPr lang="en-US" altLang="ko-KR" dirty="0"/>
              <a:t>o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숫자</a:t>
            </a:r>
            <a:r>
              <a:rPr lang="en-US" altLang="ko-KR" dirty="0"/>
              <a:t> </a:t>
            </a:r>
            <a:r>
              <a:rPr lang="ko-KR" altLang="en-US" dirty="0"/>
              <a:t>시작</a:t>
            </a:r>
            <a:r>
              <a:rPr lang="en-US" altLang="ko-KR" dirty="0"/>
              <a:t>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192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특수문자 </a:t>
            </a:r>
            <a:r>
              <a:rPr lang="en-US" altLang="ko-KR" dirty="0"/>
              <a:t>!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에약어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정답 말해주기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0818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a, b </a:t>
            </a:r>
            <a:r>
              <a:rPr lang="ko-KR" altLang="en-US" dirty="0"/>
              <a:t>보다 정확하게 파악할 수 있는 변수명이 더 좋겠죠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지금은 코드가 적어서 상관 없겠지만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나중에 프로젝트 하시다 보면 코드가 커지고 복잡 해질수록 변수명의 중요성이 커집니다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그렇게 되면 본인도 헷갈리고 팀원도 보고 이해하기 어렵습니다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변수가 쓰이는 목적과 협업을 염두해서 짓기</a:t>
            </a:r>
            <a:r>
              <a:rPr lang="en-US" altLang="ko-KR" dirty="0"/>
              <a:t>! </a:t>
            </a:r>
            <a:r>
              <a:rPr lang="ko-KR" altLang="en-US" dirty="0"/>
              <a:t>차선택으로 주석을 엄청 열심히 달기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751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Q) </a:t>
            </a:r>
            <a:r>
              <a:rPr lang="ko-KR" altLang="en-US" dirty="0" err="1"/>
              <a:t>상수란</a:t>
            </a:r>
            <a:r>
              <a:rPr lang="en-US" altLang="ko-KR" dirty="0"/>
              <a:t>?</a:t>
            </a:r>
          </a:p>
          <a:p>
            <a:pPr marL="228600" indent="-228600">
              <a:buAutoNum type="alphaUcParenR"/>
            </a:pPr>
            <a:r>
              <a:rPr lang="ko-KR" altLang="en-US" dirty="0"/>
              <a:t>프로그램이 실행되는 동안 값이 변하지 않는 데이터를 나타냅니다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한번 정의되면 프로그램 실행 중에는 변경되지 않는 값을 말합니다</a:t>
            </a:r>
            <a:r>
              <a:rPr lang="en-US" altLang="ko-KR" dirty="0"/>
              <a:t>. (</a:t>
            </a:r>
            <a:r>
              <a:rPr lang="ko-KR" altLang="en-US" dirty="0"/>
              <a:t>고정된 값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보통 대문자로 표기함</a:t>
            </a:r>
            <a:r>
              <a:rPr lang="en-US" altLang="ko-KR" dirty="0"/>
              <a:t>. (</a:t>
            </a:r>
            <a:r>
              <a:rPr lang="ko-KR" altLang="en-US" dirty="0"/>
              <a:t>개발자 커뮤니케이션내에서 약간 </a:t>
            </a:r>
            <a:r>
              <a:rPr lang="ko-KR" altLang="en-US" dirty="0" err="1"/>
              <a:t>국룰</a:t>
            </a:r>
            <a:r>
              <a:rPr lang="ko-KR" altLang="en-US" dirty="0"/>
              <a:t> 같은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6209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https://www.inflearn.com/pages/infmation-69-20240509</a:t>
            </a:r>
          </a:p>
          <a:p>
            <a:endParaRPr lang="en-US" altLang="ko-KR" dirty="0"/>
          </a:p>
          <a:p>
            <a:r>
              <a:rPr lang="ko-KR" altLang="en-US" dirty="0"/>
              <a:t>글 한번 읽어보세요</a:t>
            </a:r>
            <a:r>
              <a:rPr lang="en-US" altLang="ko-KR" dirty="0"/>
              <a:t>~ </a:t>
            </a:r>
            <a:r>
              <a:rPr lang="ko-KR" altLang="en-US" dirty="0"/>
              <a:t>나중에 </a:t>
            </a:r>
            <a:r>
              <a:rPr lang="en-US" altLang="ko-KR" dirty="0">
                <a:sym typeface="Wingdings" panose="05000000000000000000" pitchFamily="2" charset="2"/>
              </a:rPr>
              <a:t>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98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444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44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8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JavaScript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BFBFA-EBC3-4288-86D0-55A69B340430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10214802" y="290071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10161619" y="160337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10191612" y="419806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777" y="2316960"/>
            <a:ext cx="6705600" cy="622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b="1" dirty="0">
                <a:solidFill>
                  <a:schemeClr val="accent1"/>
                </a:solidFill>
              </a:rPr>
              <a:t>JavaScript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483777" y="3397925"/>
            <a:ext cx="8291880" cy="132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웹 페이지에서 </a:t>
            </a:r>
            <a:r>
              <a:rPr lang="ko-KR" altLang="en-US" dirty="0">
                <a:solidFill>
                  <a:schemeClr val="accent1"/>
                </a:solidFill>
              </a:rPr>
              <a:t>복잡한 기능</a:t>
            </a:r>
            <a:r>
              <a:rPr lang="ko-KR" altLang="en-US" dirty="0"/>
              <a:t>을 구현할 수 있도록 하는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스크립팅</a:t>
            </a:r>
            <a:r>
              <a:rPr lang="ko-KR" altLang="en-US" dirty="0"/>
              <a:t> 언어 또는 프로그래밍 언어 </a:t>
            </a:r>
          </a:p>
        </p:txBody>
      </p:sp>
      <p:pic>
        <p:nvPicPr>
          <p:cNvPr id="2050" name="Picture 2" descr="자바스크립트(JavaScript) 공부하자">
            <a:extLst>
              <a:ext uri="{FF2B5EF4-FFF2-40B4-BE49-F238E27FC236}">
                <a16:creationId xmlns:a16="http://schemas.microsoft.com/office/drawing/2014/main" id="{9A5E47C7-C122-1A09-93B5-2D1CF381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2" y="1858847"/>
            <a:ext cx="2838835" cy="283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448800" y="4831220"/>
            <a:ext cx="2010042" cy="702766"/>
          </a:xfrm>
          <a:prstGeom prst="cloudCallout">
            <a:avLst>
              <a:gd name="adj1" fmla="val -48208"/>
              <a:gd name="adj2" fmla="val -9409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</a:rPr>
              <a:t>생동감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</a:rPr>
              <a:t>!!</a:t>
            </a:r>
            <a:endParaRPr lang="ko-KR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4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2569F-CADB-A1F0-F395-2257C8F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E3EC20-9262-D020-53CC-6A2031CD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사용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B3D1F8-C0C4-0C9B-76D5-AFAA100B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28" y="1325563"/>
            <a:ext cx="7120168" cy="45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ACDD7E5-99CA-62A3-8D9D-EDB87686C78F}"/>
              </a:ext>
            </a:extLst>
          </p:cNvPr>
          <p:cNvSpPr txBox="1">
            <a:spLocks/>
          </p:cNvSpPr>
          <p:nvPr/>
        </p:nvSpPr>
        <p:spPr>
          <a:xfrm>
            <a:off x="8024189" y="1325562"/>
            <a:ext cx="2743199" cy="457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동적기능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이벤트 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슬라이드 메뉴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66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D86FD1-8A88-9437-B0F4-114B06355694}"/>
              </a:ext>
            </a:extLst>
          </p:cNvPr>
          <p:cNvSpPr/>
          <p:nvPr/>
        </p:nvSpPr>
        <p:spPr>
          <a:xfrm>
            <a:off x="3055371" y="2562514"/>
            <a:ext cx="1956318" cy="145559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내장</a:t>
            </a:r>
            <a:endParaRPr lang="en-US" altLang="ko-KR" sz="2400" dirty="0">
              <a:solidFill>
                <a:schemeClr val="accent2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방식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249A84-FC24-7685-4223-FE2C76BDC731}"/>
              </a:ext>
            </a:extLst>
          </p:cNvPr>
          <p:cNvSpPr/>
          <p:nvPr/>
        </p:nvSpPr>
        <p:spPr>
          <a:xfrm>
            <a:off x="6612988" y="2562514"/>
            <a:ext cx="1956318" cy="1455594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링크</a:t>
            </a:r>
            <a:endParaRPr lang="en-US" altLang="ko-KR" sz="2400" dirty="0">
              <a:solidFill>
                <a:srgbClr val="00B050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방식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AA04D2-0716-0EEA-AD9A-F716A4E0F75D}"/>
              </a:ext>
            </a:extLst>
          </p:cNvPr>
          <p:cNvSpPr txBox="1">
            <a:spLocks/>
          </p:cNvSpPr>
          <p:nvPr/>
        </p:nvSpPr>
        <p:spPr>
          <a:xfrm>
            <a:off x="5439823" y="2562514"/>
            <a:ext cx="670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6600" dirty="0">
                <a:latin typeface="+mn-ea"/>
                <a:ea typeface="+mn-ea"/>
              </a:rPr>
              <a:t>?</a:t>
            </a:r>
            <a:endParaRPr lang="ko-KR" altLang="en-US" sz="6600" dirty="0">
              <a:latin typeface="+mn-ea"/>
              <a:ea typeface="+mn-ea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참조 방식</a:t>
            </a:r>
          </a:p>
        </p:txBody>
      </p:sp>
    </p:spTree>
    <p:extLst>
      <p:ext uri="{BB962C8B-B14F-4D97-AF65-F5344CB8AC3E}">
        <p14:creationId xmlns:p14="http://schemas.microsoft.com/office/powerpoint/2010/main" val="257971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614778" y="3092428"/>
            <a:ext cx="10830017" cy="3258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사이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아래 등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2AAE3-17C1-F878-3741-66BF94C58A57}"/>
              </a:ext>
            </a:extLst>
          </p:cNvPr>
          <p:cNvSpPr txBox="1"/>
          <p:nvPr/>
        </p:nvSpPr>
        <p:spPr>
          <a:xfrm>
            <a:off x="614778" y="1516426"/>
            <a:ext cx="81563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ko-KR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alert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헤드 그런데 </a:t>
            </a:r>
            <a:r>
              <a:rPr lang="en-US" altLang="ko-KR" sz="2800" b="0" dirty="0" err="1">
                <a:solidFill>
                  <a:srgbClr val="A31515"/>
                </a:solidFill>
                <a:effectLst/>
                <a:latin typeface="+mn-ea"/>
              </a:rPr>
              <a:t>js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 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파일 링크 위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&lt;/script&gt;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37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ea"/>
                <a:ea typeface="+mn-ea"/>
              </a:rPr>
              <a:t>Java Script </a:t>
            </a:r>
            <a:r>
              <a:rPr lang="ko-KR" altLang="en-US" dirty="0">
                <a:latin typeface="+mn-ea"/>
                <a:ea typeface="+mn-ea"/>
              </a:rPr>
              <a:t>파일을 따로 만들어서 링크하는 방식 </a:t>
            </a:r>
            <a:r>
              <a:rPr lang="en-US" altLang="ko-KR" dirty="0">
                <a:latin typeface="+mn-ea"/>
                <a:ea typeface="+mn-ea"/>
              </a:rPr>
              <a:t>like CSS</a:t>
            </a: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사이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아래 등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993D7-F513-7DF4-E6E7-A7EA5DEE8FCB}"/>
              </a:ext>
            </a:extLst>
          </p:cNvPr>
          <p:cNvSpPr txBox="1"/>
          <p:nvPr/>
        </p:nvSpPr>
        <p:spPr>
          <a:xfrm>
            <a:off x="892025" y="2130734"/>
            <a:ext cx="8396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sz="2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src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sz="2800" b="0" dirty="0">
                <a:solidFill>
                  <a:srgbClr val="0000FF"/>
                </a:solidFill>
                <a:effectLst/>
                <a:latin typeface="+mn-ea"/>
              </a:rPr>
              <a:t>"./index.js"</a:t>
            </a:r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&gt;&lt;/script&gt;</a:t>
            </a:r>
            <a:endParaRPr lang="en-US" altLang="ko-KR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07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각각의 </a:t>
            </a:r>
            <a:r>
              <a:rPr lang="ko-KR" altLang="en-US" dirty="0">
                <a:solidFill>
                  <a:schemeClr val="accent1"/>
                </a:solidFill>
              </a:rPr>
              <a:t>장단점</a:t>
            </a:r>
            <a:r>
              <a:rPr lang="ko-KR" altLang="en-US" dirty="0"/>
              <a:t>이 존재 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내장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간단하게 만들 수 있음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특정 페이지에서만 작동하는 기능일 경우 내장 방식으로만 따로 구현 가능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링크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JS </a:t>
            </a:r>
            <a:r>
              <a:rPr lang="ko-KR" altLang="en-US" dirty="0">
                <a:latin typeface="+mn-ea"/>
                <a:ea typeface="+mn-ea"/>
              </a:rPr>
              <a:t>코드의 양이 많아지면 파일로 관리하는 편이 편함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같은 기능을 다른 페이지에서 사용하고 싶을 때 </a:t>
            </a:r>
            <a:r>
              <a:rPr lang="en-US" altLang="ko-KR" dirty="0">
                <a:latin typeface="+mn-ea"/>
                <a:ea typeface="+mn-ea"/>
              </a:rPr>
              <a:t>JS </a:t>
            </a:r>
            <a:r>
              <a:rPr lang="ko-KR" altLang="en-US" dirty="0">
                <a:latin typeface="+mn-ea"/>
                <a:ea typeface="+mn-ea"/>
              </a:rPr>
              <a:t>파일 링크만 걸어서 사용 가능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유지 보수 용이성이 편리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046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일단 해봅시다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51B1507-D26C-0164-32D8-F69EFF7A5668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ea"/>
                <a:ea typeface="+mn-ea"/>
              </a:rPr>
              <a:t>console.log(“TEXT”);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우리의 디버깅 친구</a:t>
            </a:r>
            <a:r>
              <a:rPr lang="en-US" altLang="ko-KR" dirty="0">
                <a:latin typeface="+mn-ea"/>
                <a:ea typeface="+mn-ea"/>
              </a:rPr>
              <a:t>! 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물론 이걸 쓰는 건 안 좋은 방식입니다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r>
              <a:rPr lang="en-US" altLang="ko-KR" dirty="0">
                <a:latin typeface="+mn-ea"/>
                <a:ea typeface="+mn-ea"/>
              </a:rPr>
              <a:t>alert(“TEXT”);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화면에 뭐든 떠야 재미 있으니까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ko-KR" altLang="en-US" dirty="0" err="1">
                <a:latin typeface="+mn-ea"/>
                <a:ea typeface="+mn-ea"/>
              </a:rPr>
              <a:t>자매품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confirm(“TEXT”);</a:t>
            </a:r>
          </a:p>
          <a:p>
            <a:pPr lvl="2"/>
            <a:r>
              <a:rPr lang="ko-KR" altLang="en-US" dirty="0">
                <a:latin typeface="+mn-ea"/>
                <a:ea typeface="+mn-ea"/>
              </a:rPr>
              <a:t>애는 취소 버튼이 있어요</a:t>
            </a:r>
            <a:r>
              <a:rPr lang="en-US" altLang="ko-KR" dirty="0">
                <a:latin typeface="+mn-ea"/>
                <a:ea typeface="+mn-ea"/>
              </a:rPr>
              <a:t>! </a:t>
            </a:r>
            <a:r>
              <a:rPr lang="en-US" altLang="ko-KR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ea typeface="+mn-ea"/>
                <a:sym typeface="Wingdings" panose="05000000000000000000" pitchFamily="2" charset="2"/>
              </a:rPr>
              <a:t>값을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  <a:sym typeface="Wingdings" panose="05000000000000000000" pitchFamily="2" charset="2"/>
              </a:rPr>
              <a:t>리턴</a:t>
            </a:r>
            <a:r>
              <a:rPr lang="ko-KR" altLang="en-US" dirty="0" err="1">
                <a:latin typeface="+mn-ea"/>
                <a:ea typeface="+mn-ea"/>
                <a:sym typeface="Wingdings" panose="05000000000000000000" pitchFamily="2" charset="2"/>
              </a:rPr>
              <a:t>한다</a:t>
            </a:r>
            <a:r>
              <a:rPr lang="en-US" altLang="ko-KR" dirty="0">
                <a:latin typeface="+mn-ea"/>
                <a:ea typeface="+mn-ea"/>
                <a:sym typeface="Wingdings" panose="05000000000000000000" pitchFamily="2" charset="2"/>
              </a:rPr>
              <a:t> &amp;</a:t>
            </a:r>
            <a:r>
              <a:rPr lang="en-US" altLang="ko-KR" dirty="0">
                <a:latin typeface="+mn-ea"/>
                <a:ea typeface="+mn-ea"/>
              </a:rPr>
              <a:t> IF</a:t>
            </a:r>
            <a:r>
              <a:rPr lang="ko-KR" altLang="en-US" dirty="0">
                <a:latin typeface="+mn-ea"/>
                <a:ea typeface="+mn-ea"/>
              </a:rPr>
              <a:t>문에 사용 가능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615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CSS</a:t>
            </a:r>
            <a:r>
              <a:rPr lang="ko-KR" altLang="en-US" dirty="0">
                <a:latin typeface="+mn-ea"/>
              </a:rPr>
              <a:t>의 방식 또는 선언 위치에 따라서 읽기 순서가 달라졌지요</a:t>
            </a:r>
            <a:r>
              <a:rPr lang="en-US" altLang="ko-KR" dirty="0">
                <a:latin typeface="+mn-ea"/>
              </a:rPr>
              <a:t>?</a:t>
            </a:r>
          </a:p>
          <a:p>
            <a:r>
              <a:rPr lang="en-US" altLang="ko-KR" dirty="0">
                <a:latin typeface="+mn-ea"/>
              </a:rPr>
              <a:t>JS</a:t>
            </a:r>
            <a:r>
              <a:rPr lang="ko-KR" altLang="en-US" dirty="0">
                <a:latin typeface="+mn-ea"/>
              </a:rPr>
              <a:t>는 어떤지 확인해 봅시다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읽기</a:t>
            </a:r>
            <a:r>
              <a:rPr lang="en-US" altLang="ko-KR" dirty="0"/>
              <a:t> </a:t>
            </a:r>
            <a:r>
              <a:rPr lang="ko-KR" altLang="en-US" dirty="0"/>
              <a:t>순서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864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0080E2-F2C9-6166-5A17-5E5782668B3F}"/>
              </a:ext>
            </a:extLst>
          </p:cNvPr>
          <p:cNvSpPr txBox="1"/>
          <p:nvPr/>
        </p:nvSpPr>
        <p:spPr>
          <a:xfrm>
            <a:off x="703810" y="785950"/>
            <a:ext cx="6476172" cy="5262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&lt;!DOCTYPE html&gt;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&lt;html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lang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ko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&lt;head&gt;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charset="UTF-8"&gt;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http-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equiv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="X-UA-Compatible" content="IE=edge"&gt;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name="viewport" content="width=device-width, initial-scale=1.0"&gt;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&lt;title&gt;Document&lt;/title&gt;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 그런데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링크 위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src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="./index.js"&gt;&lt;/script&gt;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 그런데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링크 아래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&lt;/head&gt;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alert("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헤드랑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바디 사이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&lt;body&gt;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&lt;h1&gt;hello,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World!&lt;/h1&gt;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바디 안쪽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&lt;/body&gt;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바디 아래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&lt;/html&gt;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97390-0195-EEBD-13E4-36CF255CAD5B}"/>
              </a:ext>
            </a:extLst>
          </p:cNvPr>
          <p:cNvSpPr txBox="1"/>
          <p:nvPr/>
        </p:nvSpPr>
        <p:spPr>
          <a:xfrm>
            <a:off x="5088958" y="5435300"/>
            <a:ext cx="1965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index.html</a:t>
            </a:r>
            <a:endParaRPr lang="ko-KR" altLang="en-US" sz="2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FC61E-8AF7-AB97-A4F8-9FD4B71D61E0}"/>
              </a:ext>
            </a:extLst>
          </p:cNvPr>
          <p:cNvSpPr txBox="1"/>
          <p:nvPr/>
        </p:nvSpPr>
        <p:spPr>
          <a:xfrm>
            <a:off x="7761792" y="785950"/>
            <a:ext cx="348342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D4D4D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alert(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링크방식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09498-2AC3-DEE1-2526-BD3DCFED4984}"/>
              </a:ext>
            </a:extLst>
          </p:cNvPr>
          <p:cNvSpPr txBox="1"/>
          <p:nvPr/>
        </p:nvSpPr>
        <p:spPr>
          <a:xfrm>
            <a:off x="7761792" y="1155282"/>
            <a:ext cx="1466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+mn-ea"/>
              </a:rPr>
              <a:t>index.js</a:t>
            </a:r>
            <a:endParaRPr lang="ko-KR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658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읽기 순서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말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그대로 읽히는 순서에 따라서 작동 합니다</a:t>
            </a:r>
            <a:r>
              <a:rPr lang="en-US" altLang="ko-KR" dirty="0">
                <a:latin typeface="+mn-ea"/>
                <a:ea typeface="+mn-ea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037025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2097525"/>
            <a:ext cx="12192000" cy="2061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chemeClr val="accent2"/>
                </a:solidFill>
                <a:latin typeface="Kim jung chul Gothic Bold" panose="020B0803000000000000" pitchFamily="50" charset="-127"/>
                <a:ea typeface="Kim jung chul Gothic Bold" panose="020B0803000000000000" pitchFamily="50" charset="-127"/>
              </a:rPr>
              <a:t>JS </a:t>
            </a:r>
            <a:r>
              <a:rPr lang="ko-KR" altLang="en-US" sz="9600" dirty="0">
                <a:solidFill>
                  <a:schemeClr val="accent2"/>
                </a:solidFill>
                <a:latin typeface="Kim jung chul Gothic Bold" panose="020B0803000000000000" pitchFamily="50" charset="-127"/>
                <a:ea typeface="Kim jung chul Gothic Bold" panose="020B0803000000000000" pitchFamily="50" charset="-127"/>
              </a:rPr>
              <a:t>기초</a:t>
            </a:r>
            <a:r>
              <a:rPr lang="en-US" altLang="ko-KR" sz="9600" dirty="0">
                <a:solidFill>
                  <a:schemeClr val="accent2"/>
                </a:solidFill>
                <a:latin typeface="Kim jung chul Gothic Bold" panose="020B0803000000000000" pitchFamily="50" charset="-127"/>
                <a:ea typeface="Kim jung chul Gothic Bold" panose="020B0803000000000000" pitchFamily="50" charset="-127"/>
              </a:rPr>
              <a:t>!</a:t>
            </a:r>
            <a:endParaRPr lang="ko-KR" altLang="en-US" sz="9600" dirty="0">
              <a:solidFill>
                <a:schemeClr val="accent2"/>
              </a:solidFill>
              <a:latin typeface="Kim jung chul Gothic Bold" panose="020B0803000000000000" pitchFamily="50" charset="-127"/>
              <a:ea typeface="Kim jung chul Gothic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137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004361"/>
            <a:ext cx="10515600" cy="1325563"/>
          </a:xfrm>
        </p:spPr>
        <p:txBody>
          <a:bodyPr/>
          <a:lstStyle/>
          <a:p>
            <a:r>
              <a:rPr lang="ko-KR" altLang="en-US" dirty="0"/>
              <a:t>표기법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C0264-2D2C-B74D-690D-09ABEE8D6A14}"/>
              </a:ext>
            </a:extLst>
          </p:cNvPr>
          <p:cNvSpPr txBox="1"/>
          <p:nvPr/>
        </p:nvSpPr>
        <p:spPr>
          <a:xfrm>
            <a:off x="1972810" y="2785145"/>
            <a:ext cx="824637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/>
              <a:t>dash-case (kebab-case)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snake_case</a:t>
            </a:r>
            <a:endParaRPr lang="en-US" altLang="ko-KR" sz="2400" dirty="0"/>
          </a:p>
          <a:p>
            <a:pPr algn="ctr">
              <a:lnSpc>
                <a:spcPct val="150000"/>
              </a:lnSpc>
            </a:pPr>
            <a:r>
              <a:rPr lang="en-US" altLang="ko-KR" sz="2400" dirty="0"/>
              <a:t>camelCase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PascalCase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700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0DB307-7949-D58B-82A2-BD9AA9B7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58EF4-F0FC-F44C-A482-6DCA246F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E86DB-D526-9EBA-3FC4-AD9F816D5DF6}"/>
              </a:ext>
            </a:extLst>
          </p:cNvPr>
          <p:cNvSpPr txBox="1"/>
          <p:nvPr/>
        </p:nvSpPr>
        <p:spPr>
          <a:xfrm>
            <a:off x="982910" y="2782669"/>
            <a:ext cx="10226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/>
              <a:t>tomakeyoufeelmyloveknowmetoowell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2145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607268" y="1479215"/>
            <a:ext cx="706180" cy="7061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dash-case(kebab-case)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to-make-you-feel-my-love-know-me-too-well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50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5914240" y="1747425"/>
            <a:ext cx="836231" cy="83623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snake_case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to_make_you_feel_my_love_know_me_too_well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17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6134942" y="1309516"/>
            <a:ext cx="920200" cy="920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camelCase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5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942826" y="1303723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8A9060B-A033-8F5B-90C2-15E54BAC7EF2}"/>
              </a:ext>
            </a:extLst>
          </p:cNvPr>
          <p:cNvSpPr/>
          <p:nvPr/>
        </p:nvSpPr>
        <p:spPr>
          <a:xfrm>
            <a:off x="6137944" y="1303722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PascalCase</a:t>
            </a:r>
            <a:endParaRPr lang="ko-KR" altLang="en-US" sz="6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94F5186B-3CC4-C6C5-0E8F-A82DC1D4EADA}"/>
              </a:ext>
            </a:extLst>
          </p:cNvPr>
          <p:cNvSpPr txBox="1">
            <a:spLocks/>
          </p:cNvSpPr>
          <p:nvPr/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6832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프로그래밍에서는 </a:t>
            </a:r>
            <a:r>
              <a:rPr lang="en-US" altLang="ko-KR" dirty="0"/>
              <a:t>0 </a:t>
            </a:r>
            <a:r>
              <a:rPr lang="ko-KR" altLang="en-US" dirty="0"/>
              <a:t>기반으로 번호를 매긴다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특수한 경우를 제외하고는 </a:t>
            </a:r>
            <a:r>
              <a:rPr lang="en-US" altLang="ko-KR" b="1" dirty="0">
                <a:solidFill>
                  <a:schemeClr val="accent1"/>
                </a:solidFill>
              </a:rPr>
              <a:t>0</a:t>
            </a:r>
            <a:r>
              <a:rPr lang="ko-KR" altLang="en-US" b="1" dirty="0">
                <a:solidFill>
                  <a:schemeClr val="accent1"/>
                </a:solidFill>
              </a:rPr>
              <a:t>부터 숫자를 시작</a:t>
            </a:r>
            <a:r>
              <a:rPr lang="ko-KR" altLang="en-US" dirty="0"/>
              <a:t>함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Zero-based Numbering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0377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전자 인간'으로 인정받은 로봇, 세금도 내야 할까? : 네이버 포스트">
            <a:extLst>
              <a:ext uri="{FF2B5EF4-FFF2-40B4-BE49-F238E27FC236}">
                <a16:creationId xmlns:a16="http://schemas.microsoft.com/office/drawing/2014/main" id="{84B4980F-7834-BF60-09E3-32D9407C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08" y="3714161"/>
            <a:ext cx="2500927" cy="250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화이팅 - 뽐뿌:짤방갤러리">
            <a:extLst>
              <a:ext uri="{FF2B5EF4-FFF2-40B4-BE49-F238E27FC236}">
                <a16:creationId xmlns:a16="http://schemas.microsoft.com/office/drawing/2014/main" id="{E6D3F84E-1B3A-FFEF-6B72-9E0EDD4CF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80"/>
          <a:stretch/>
        </p:blipFill>
        <p:spPr bwMode="auto">
          <a:xfrm>
            <a:off x="489408" y="494122"/>
            <a:ext cx="2500927" cy="21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16C226-6DF5-E7DA-7B6E-694B7A28DFF2}"/>
              </a:ext>
            </a:extLst>
          </p:cNvPr>
          <p:cNvSpPr txBox="1"/>
          <p:nvPr/>
        </p:nvSpPr>
        <p:spPr>
          <a:xfrm>
            <a:off x="4110087" y="1392716"/>
            <a:ext cx="5093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+mn-ea"/>
              </a:rPr>
              <a:t>1 2 3 4 5 6 7 8 9 10 ~</a:t>
            </a:r>
            <a:endParaRPr lang="ko-KR" altLang="en-US" sz="40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1CF2C-272B-673E-3472-3C46DC6F4D48}"/>
              </a:ext>
            </a:extLst>
          </p:cNvPr>
          <p:cNvSpPr txBox="1"/>
          <p:nvPr/>
        </p:nvSpPr>
        <p:spPr>
          <a:xfrm>
            <a:off x="4110087" y="4788771"/>
            <a:ext cx="487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+mn-ea"/>
              </a:rPr>
              <a:t>0 1 2 3 4 5 6 7 8 9 ~</a:t>
            </a:r>
            <a:endParaRPr lang="ko-KR" altLang="en-US" sz="4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517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2243137"/>
            <a:ext cx="84867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67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주석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30DBB1-02FD-B1DC-9BD9-C2F5B8DE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33" y="1433383"/>
            <a:ext cx="4295398" cy="47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76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변수</a:t>
            </a:r>
          </a:p>
        </p:txBody>
      </p:sp>
    </p:spTree>
    <p:extLst>
      <p:ext uri="{BB962C8B-B14F-4D97-AF65-F5344CB8AC3E}">
        <p14:creationId xmlns:p14="http://schemas.microsoft.com/office/powerpoint/2010/main" val="1185911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5122" name="Picture 2" descr="memory allocation">
            <a:extLst>
              <a:ext uri="{FF2B5EF4-FFF2-40B4-BE49-F238E27FC236}">
                <a16:creationId xmlns:a16="http://schemas.microsoft.com/office/drawing/2014/main" id="{A410ECD0-EE04-9BEF-CB45-F8D3C2BB4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61" y="1955131"/>
            <a:ext cx="9211678" cy="294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965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1ACAE0-6926-0ED2-47FC-8020FFD7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25621"/>
            <a:ext cx="6982643" cy="5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62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054115"/>
            <a:ext cx="8742886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선언 단계와 초기화가 동시에 이루어지며 아무것도 할당하지 않으면 자동으로 </a:t>
            </a:r>
            <a:r>
              <a:rPr lang="en-US" altLang="ko-KR" sz="2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undefined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할당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중복 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가능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 </a:t>
            </a:r>
            <a:r>
              <a:rPr lang="ko-KR" altLang="en-US" sz="2400" dirty="0" err="1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가능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var</a:t>
            </a:r>
            <a:r>
              <a:rPr lang="en-US" altLang="ko-KR" dirty="0"/>
              <a:t> &amp; let &amp; const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A85657-EF9A-6723-328E-52249A34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51" y="1843836"/>
            <a:ext cx="4050931" cy="8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384240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변수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중복 선언이 불가능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하지만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재할당 가능</a:t>
            </a:r>
            <a:endParaRPr lang="en-US" altLang="ko-KR" sz="2400" b="1" dirty="0">
              <a:highlight>
                <a:srgbClr val="FFFF00"/>
              </a:highlight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var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과 마찬가지로 선언을 하지 않으면 자동으로 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undefined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들어간다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</a:t>
            </a:r>
            <a:r>
              <a:rPr lang="en-US" altLang="ko-KR" dirty="0">
                <a:solidFill>
                  <a:schemeClr val="accent1"/>
                </a:solidFill>
              </a:rPr>
              <a:t>let</a:t>
            </a:r>
            <a:r>
              <a:rPr lang="en-US" altLang="ko-KR" dirty="0"/>
              <a:t> &amp; const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94857E-BD2B-9E54-8DD3-8E494B669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41" y="1764160"/>
            <a:ext cx="4914444" cy="11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46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429000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초반에 선언할 때 반드시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초기화를 동시에 진행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해야 한다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불가능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재할당 불가능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let &amp; </a:t>
            </a:r>
            <a:r>
              <a:rPr lang="en-US" altLang="ko-KR" dirty="0">
                <a:solidFill>
                  <a:schemeClr val="accent1"/>
                </a:solidFill>
              </a:rPr>
              <a:t>const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12EEB-DFA2-3F5A-2891-EB16D28B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45"/>
          <a:stretch/>
        </p:blipFill>
        <p:spPr>
          <a:xfrm>
            <a:off x="871537" y="2033011"/>
            <a:ext cx="6505219" cy="93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13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 퀴즈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6947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my_variable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3rd_number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$money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function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751758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user-name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_</a:t>
            </a:r>
            <a:r>
              <a:rPr lang="en-US" altLang="ko-KR" sz="4800" dirty="0" err="1"/>
              <a:t>userAge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123var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return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63548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class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my_variable_1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special!char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true_false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0178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이름은 읽기 쉽도록 센스 있게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Tip!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F36A8-B893-1C92-C474-75BA8B726D06}"/>
              </a:ext>
            </a:extLst>
          </p:cNvPr>
          <p:cNvSpPr txBox="1"/>
          <p:nvPr/>
        </p:nvSpPr>
        <p:spPr>
          <a:xfrm>
            <a:off x="838200" y="2953010"/>
            <a:ext cx="7700683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변수 이름은 읽기 쉽도록 센스 있게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15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상수는 대문자로 선언해서 다른 개발자도 알 수 있게 하기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Tip2!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26190-503F-113C-B75D-1207E3D31993}"/>
              </a:ext>
            </a:extLst>
          </p:cNvPr>
          <p:cNvSpPr txBox="1"/>
          <p:nvPr/>
        </p:nvSpPr>
        <p:spPr>
          <a:xfrm>
            <a:off x="838200" y="3050049"/>
            <a:ext cx="86106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상수는 대문자로 선언해서 다른 개발자도 알 수 있게 해주세요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WIDTH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1100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4934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96BD1A-D2D1-C9B0-C309-76BC6EE0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B49AE4-CF9D-9B58-4C5D-FFE8567E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F48B07-F707-4BCB-43BF-CC26FE628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"/>
            <a:ext cx="6268671" cy="633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5210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4382</TotalTime>
  <Words>1834</Words>
  <Application>Microsoft Office PowerPoint</Application>
  <PresentationFormat>와이드스크린</PresentationFormat>
  <Paragraphs>414</Paragraphs>
  <Slides>38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D2Coding</vt:lpstr>
      <vt:lpstr>Kim jung chul Gothic Bold</vt:lpstr>
      <vt:lpstr>PretendardGOV</vt:lpstr>
      <vt:lpstr>맑은 고딕</vt:lpstr>
      <vt:lpstr>메이플스토리</vt:lpstr>
      <vt:lpstr>Arial</vt:lpstr>
      <vt:lpstr>Consolas</vt:lpstr>
      <vt:lpstr>Wingdings</vt:lpstr>
      <vt:lpstr>2_Office 테마</vt:lpstr>
      <vt:lpstr>웹 개발자 부트캠프 과정</vt:lpstr>
      <vt:lpstr>JavaScript</vt:lpstr>
      <vt:lpstr>PowerPoint 프레젠테이션</vt:lpstr>
      <vt:lpstr>PowerPoint 프레젠테이션</vt:lpstr>
      <vt:lpstr>JavaScript</vt:lpstr>
      <vt:lpstr>JavaScript 사용</vt:lpstr>
      <vt:lpstr>JavaScript 참조 방식</vt:lpstr>
      <vt:lpstr>내장 방식!</vt:lpstr>
      <vt:lpstr>링크 방식!</vt:lpstr>
      <vt:lpstr>각각의 장단점이 존재 하겠죠?</vt:lpstr>
      <vt:lpstr>일단 해봅시다!</vt:lpstr>
      <vt:lpstr>읽기 순서?</vt:lpstr>
      <vt:lpstr>PowerPoint 프레젠테이션</vt:lpstr>
      <vt:lpstr>읽기 순서!</vt:lpstr>
      <vt:lpstr>PowerPoint 프레젠테이션</vt:lpstr>
      <vt:lpstr>표기법</vt:lpstr>
      <vt:lpstr>PowerPoint 프레젠테이션</vt:lpstr>
      <vt:lpstr>dash-case(kebab-case)</vt:lpstr>
      <vt:lpstr>snake_case</vt:lpstr>
      <vt:lpstr>camelCase</vt:lpstr>
      <vt:lpstr>PascalCase</vt:lpstr>
      <vt:lpstr>Zero-based Numbering</vt:lpstr>
      <vt:lpstr>PowerPoint 프레젠테이션</vt:lpstr>
      <vt:lpstr>PowerPoint 프레젠테이션</vt:lpstr>
      <vt:lpstr>JavaScript 주석 </vt:lpstr>
      <vt:lpstr>JavaScript 변수</vt:lpstr>
      <vt:lpstr>JavaScript 변수</vt:lpstr>
      <vt:lpstr>JavaScript 변수</vt:lpstr>
      <vt:lpstr>var &amp; let &amp; const</vt:lpstr>
      <vt:lpstr>var &amp; let &amp; const </vt:lpstr>
      <vt:lpstr>var &amp; let &amp; const</vt:lpstr>
      <vt:lpstr>잠깐 퀴즈!</vt:lpstr>
      <vt:lpstr>1. 다음 중 올바른 변수 이름은?</vt:lpstr>
      <vt:lpstr>2. 다음 중 올바른 변수 이름은?</vt:lpstr>
      <vt:lpstr>3. 다음 중 올바른 변수 이름은?</vt:lpstr>
      <vt:lpstr>변수명 Tip!</vt:lpstr>
      <vt:lpstr>변수명 Tip2!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118</cp:revision>
  <dcterms:created xsi:type="dcterms:W3CDTF">2022-06-26T11:10:22Z</dcterms:created>
  <dcterms:modified xsi:type="dcterms:W3CDTF">2024-05-28T06:21:13Z</dcterms:modified>
</cp:coreProperties>
</file>