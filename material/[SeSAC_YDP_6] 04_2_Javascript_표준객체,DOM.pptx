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34"/>
  </p:notesMasterIdLst>
  <p:sldIdLst>
    <p:sldId id="361" r:id="rId2"/>
    <p:sldId id="291" r:id="rId3"/>
    <p:sldId id="366" r:id="rId4"/>
    <p:sldId id="321" r:id="rId5"/>
    <p:sldId id="324" r:id="rId6"/>
    <p:sldId id="367" r:id="rId7"/>
    <p:sldId id="328" r:id="rId8"/>
    <p:sldId id="329" r:id="rId9"/>
    <p:sldId id="322" r:id="rId10"/>
    <p:sldId id="327" r:id="rId11"/>
    <p:sldId id="330" r:id="rId12"/>
    <p:sldId id="331" r:id="rId13"/>
    <p:sldId id="363" r:id="rId14"/>
    <p:sldId id="352" r:id="rId15"/>
    <p:sldId id="353" r:id="rId16"/>
    <p:sldId id="338" r:id="rId17"/>
    <p:sldId id="339" r:id="rId18"/>
    <p:sldId id="354" r:id="rId19"/>
    <p:sldId id="364" r:id="rId20"/>
    <p:sldId id="355" r:id="rId21"/>
    <p:sldId id="343" r:id="rId22"/>
    <p:sldId id="344" r:id="rId23"/>
    <p:sldId id="365" r:id="rId24"/>
    <p:sldId id="356" r:id="rId25"/>
    <p:sldId id="347" r:id="rId26"/>
    <p:sldId id="357" r:id="rId27"/>
    <p:sldId id="368" r:id="rId28"/>
    <p:sldId id="358" r:id="rId29"/>
    <p:sldId id="359" r:id="rId30"/>
    <p:sldId id="369" r:id="rId31"/>
    <p:sldId id="319" r:id="rId32"/>
    <p:sldId id="350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6" autoAdjust="0"/>
    <p:restoredTop sz="72154" autoAdjust="0"/>
  </p:normalViewPr>
  <p:slideViewPr>
    <p:cSldViewPr snapToGrid="0">
      <p:cViewPr varScale="1">
        <p:scale>
          <a:sx n="79" d="100"/>
          <a:sy n="79" d="100"/>
        </p:scale>
        <p:origin x="1020" y="6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17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74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객</a:t>
            </a:r>
            <a:r>
              <a:rPr lang="ko-KR" altLang="en-US" baseline="0" dirty="0"/>
              <a:t>체 복습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307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복습 해보겠습니다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JS</a:t>
            </a:r>
            <a:r>
              <a:rPr lang="ko-KR" altLang="en-US" dirty="0"/>
              <a:t> 자료형에는 </a:t>
            </a:r>
            <a:r>
              <a:rPr lang="en-US" altLang="ko-KR" dirty="0"/>
              <a:t>2</a:t>
            </a:r>
            <a:r>
              <a:rPr lang="ko-KR" altLang="en-US" dirty="0"/>
              <a:t>가지 종류가 있죠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 err="1"/>
              <a:t>Primtive</a:t>
            </a:r>
            <a:r>
              <a:rPr lang="en-US" altLang="ko-KR" dirty="0"/>
              <a:t> </a:t>
            </a:r>
            <a:r>
              <a:rPr lang="ko-KR" altLang="en-US" dirty="0"/>
              <a:t>원시형</a:t>
            </a:r>
            <a:endParaRPr lang="en-US" altLang="ko-KR" dirty="0"/>
          </a:p>
          <a:p>
            <a:r>
              <a:rPr lang="en-US" altLang="ko-KR" dirty="0"/>
              <a:t>Object </a:t>
            </a:r>
            <a:r>
              <a:rPr lang="ko-KR" altLang="en-US" dirty="0"/>
              <a:t>객체형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732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Primitive </a:t>
            </a:r>
            <a:r>
              <a:rPr lang="ko-KR" altLang="en-US" dirty="0"/>
              <a:t>원시타입에는</a:t>
            </a:r>
            <a:endParaRPr lang="en-US" altLang="ko-KR" dirty="0"/>
          </a:p>
          <a:p>
            <a:r>
              <a:rPr lang="ko-KR" altLang="en-US" dirty="0"/>
              <a:t>이렇게 </a:t>
            </a:r>
            <a:r>
              <a:rPr lang="en-US" altLang="ko-KR" dirty="0"/>
              <a:t>~ </a:t>
            </a:r>
            <a:r>
              <a:rPr lang="ko-KR" altLang="en-US" dirty="0"/>
              <a:t>있었다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190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객체 자료형은</a:t>
            </a:r>
            <a:endParaRPr lang="en-US" altLang="ko-KR" dirty="0"/>
          </a:p>
          <a:p>
            <a:r>
              <a:rPr lang="ko-KR" altLang="en-US" dirty="0"/>
              <a:t>원시 타입을 제외한 나머지 값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객체 타입</a:t>
            </a:r>
            <a:r>
              <a:rPr lang="en-US" altLang="ko-KR" dirty="0"/>
              <a:t> </a:t>
            </a:r>
            <a:r>
              <a:rPr lang="ko-KR" altLang="en-US" dirty="0"/>
              <a:t>또는</a:t>
            </a:r>
            <a:r>
              <a:rPr lang="en-US" altLang="ko-KR" dirty="0"/>
              <a:t> </a:t>
            </a:r>
            <a:r>
              <a:rPr lang="ko-KR" altLang="en-US" dirty="0"/>
              <a:t>참조타입이라고 부른다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키와 값으로 </a:t>
            </a:r>
            <a:r>
              <a:rPr lang="ko-KR" altLang="en-US" dirty="0" err="1"/>
              <a:t>구성되있습니다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메서드란</a:t>
            </a:r>
            <a:r>
              <a:rPr lang="ko-KR" altLang="en-US" dirty="0"/>
              <a:t> 일반 함수와 구분하기 위한 용어</a:t>
            </a:r>
            <a:endParaRPr lang="en-US" altLang="ko-KR" dirty="0"/>
          </a:p>
          <a:p>
            <a:r>
              <a:rPr lang="ko-KR" altLang="en-US" dirty="0"/>
              <a:t>메서드는 객체에 제한되어 있는 함수를 의미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887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933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이것을 코딩으로 바꾸면 이렇게 표현할 수 있겠죠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860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코드로 넘어가기 </a:t>
            </a:r>
            <a:r>
              <a:rPr lang="ko-KR" altLang="en-US" dirty="0" err="1"/>
              <a:t>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주소 </a:t>
            </a:r>
            <a:r>
              <a:rPr lang="ko-KR" altLang="en-US" dirty="0" err="1"/>
              <a:t>참조값</a:t>
            </a:r>
            <a:r>
              <a:rPr lang="ko-KR" altLang="en-US" dirty="0"/>
              <a:t> 이해 안되면 오른손</a:t>
            </a:r>
            <a:r>
              <a:rPr lang="en-US" altLang="ko-KR" dirty="0"/>
              <a:t>, </a:t>
            </a:r>
            <a:r>
              <a:rPr lang="ko-KR" altLang="en-US" dirty="0"/>
              <a:t>왼손으로 설명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87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객체를 생성하는 방법 중 배열 생성방법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[],</a:t>
            </a:r>
            <a:r>
              <a:rPr lang="ko-KR" altLang="en-US" dirty="0"/>
              <a:t> </a:t>
            </a:r>
            <a:r>
              <a:rPr lang="en-US" altLang="ko-KR" dirty="0" err="1"/>
              <a:t>newArray</a:t>
            </a:r>
            <a:r>
              <a:rPr lang="en-US" altLang="ko-KR" dirty="0"/>
              <a:t>() </a:t>
            </a:r>
            <a:r>
              <a:rPr lang="ko-KR" altLang="en-US" dirty="0"/>
              <a:t>사용하여 배열 생성</a:t>
            </a:r>
            <a:r>
              <a:rPr lang="en-US" altLang="ko-KR" dirty="0"/>
              <a:t> – new Array</a:t>
            </a:r>
            <a:r>
              <a:rPr lang="ko-KR" altLang="en-US" dirty="0"/>
              <a:t>는 내장 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배열 </a:t>
            </a:r>
            <a:r>
              <a:rPr lang="ko-KR" altLang="en-US" dirty="0" err="1"/>
              <a:t>리터럴</a:t>
            </a:r>
            <a:r>
              <a:rPr lang="ko-KR" altLang="en-US" dirty="0"/>
              <a:t> </a:t>
            </a:r>
            <a:r>
              <a:rPr lang="en-US" altLang="ko-KR" dirty="0"/>
              <a:t>([])</a:t>
            </a:r>
          </a:p>
          <a:p>
            <a:r>
              <a:rPr lang="en-US" altLang="ko-KR" dirty="0"/>
              <a:t>New Array() : </a:t>
            </a:r>
            <a:r>
              <a:rPr lang="ko-KR" altLang="en-US" dirty="0"/>
              <a:t>생성자 함수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788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배웠던 배열의 </a:t>
            </a:r>
            <a:r>
              <a:rPr lang="ko-KR" altLang="en-US" dirty="0" err="1"/>
              <a:t>내장메소드를</a:t>
            </a:r>
            <a:r>
              <a:rPr lang="ko-KR" altLang="en-US" dirty="0"/>
              <a:t> </a:t>
            </a:r>
            <a:r>
              <a:rPr lang="ko-KR" altLang="en-US" dirty="0" err="1"/>
              <a:t>이횽하면</a:t>
            </a:r>
            <a:r>
              <a:rPr lang="ko-KR" altLang="en-US" dirty="0"/>
              <a:t>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88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객체 </a:t>
            </a:r>
            <a:r>
              <a:rPr lang="ko-KR" altLang="en-US" dirty="0" err="1"/>
              <a:t>리터럴</a:t>
            </a:r>
            <a:r>
              <a:rPr lang="ko-KR" altLang="en-US" dirty="0"/>
              <a:t> </a:t>
            </a:r>
            <a:r>
              <a:rPr lang="en-US" altLang="ko-KR" dirty="0"/>
              <a:t>= {} </a:t>
            </a:r>
            <a:r>
              <a:rPr lang="ko-KR" altLang="en-US" dirty="0"/>
              <a:t>중괄호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딕셔너리는</a:t>
            </a:r>
            <a:r>
              <a:rPr lang="ko-KR" altLang="en-US" dirty="0"/>
              <a:t> 키와 값의 쌍으로 이루어진 데이터 구조를 의미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리터럴은</a:t>
            </a:r>
            <a:r>
              <a:rPr lang="ko-KR" altLang="en-US" dirty="0"/>
              <a:t> 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소스 코드에서 값을 생성하는 표기법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390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691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9290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911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이런게</a:t>
            </a:r>
            <a:r>
              <a:rPr lang="ko-KR" altLang="en-US" dirty="0"/>
              <a:t> 있습니다</a:t>
            </a:r>
            <a:r>
              <a:rPr lang="en-US" altLang="ko-KR" dirty="0"/>
              <a:t>. </a:t>
            </a:r>
            <a:r>
              <a:rPr lang="ko-KR" altLang="en-US" dirty="0"/>
              <a:t>눈으로 </a:t>
            </a:r>
            <a:r>
              <a:rPr lang="ko-KR" altLang="en-US" dirty="0" err="1"/>
              <a:t>보는것</a:t>
            </a:r>
            <a:r>
              <a:rPr lang="ko-KR" altLang="en-US" dirty="0"/>
              <a:t> 보다 </a:t>
            </a:r>
            <a:r>
              <a:rPr lang="ko-KR" altLang="en-US" dirty="0" err="1"/>
              <a:t>해보는게</a:t>
            </a:r>
            <a:r>
              <a:rPr lang="ko-KR" altLang="en-US" dirty="0"/>
              <a:t> 이해가 잘 되겠죠</a:t>
            </a:r>
            <a:r>
              <a:rPr lang="en-US" altLang="ko-KR" dirty="0"/>
              <a:t>? </a:t>
            </a:r>
            <a:r>
              <a:rPr lang="ko-KR" altLang="en-US" dirty="0"/>
              <a:t>이따가 같이 </a:t>
            </a:r>
            <a:r>
              <a:rPr lang="ko-KR" altLang="en-US" dirty="0" err="1"/>
              <a:t>해볼겁니다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196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797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i="0" dirty="0" err="1">
                <a:solidFill>
                  <a:srgbClr val="1B1B1B"/>
                </a:solidFill>
                <a:effectLst/>
                <a:latin typeface="Inter"/>
              </a:rPr>
              <a:t>Math.E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 속성은 자연로그의 밑 값 </a:t>
            </a:r>
            <a:r>
              <a:rPr lang="en-US" altLang="ko-KR" b="0" i="0" dirty="0">
                <a:solidFill>
                  <a:srgbClr val="1B1B1B"/>
                </a:solidFill>
                <a:effectLst/>
                <a:latin typeface="Inter"/>
              </a:rPr>
              <a:t>e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를 나타내며 약 </a:t>
            </a:r>
            <a:r>
              <a:rPr lang="en-US" altLang="ko-KR" b="0" i="0" dirty="0">
                <a:solidFill>
                  <a:srgbClr val="1B1B1B"/>
                </a:solidFill>
                <a:effectLst/>
                <a:latin typeface="Inter"/>
              </a:rPr>
              <a:t>2.718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의 값</a:t>
            </a:r>
            <a:endParaRPr lang="en-US" altLang="ko-KR" b="0" i="0" dirty="0">
              <a:solidFill>
                <a:srgbClr val="1B1B1B"/>
              </a:solidFill>
              <a:effectLst/>
              <a:latin typeface="Inter"/>
            </a:endParaRPr>
          </a:p>
          <a:p>
            <a:endParaRPr lang="en-US" altLang="ko-KR" b="0" i="0" dirty="0">
              <a:solidFill>
                <a:srgbClr val="1B1B1B"/>
              </a:solidFill>
              <a:effectLst/>
              <a:latin typeface="Inter"/>
            </a:endParaRPr>
          </a:p>
          <a:p>
            <a:r>
              <a:rPr lang="en-US" altLang="ko-KR" b="1" i="0" dirty="0" err="1">
                <a:solidFill>
                  <a:srgbClr val="1B1B1B"/>
                </a:solidFill>
                <a:effectLst/>
                <a:latin typeface="Inter"/>
              </a:rPr>
              <a:t>Math.PI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 속성은 원의 둘레와 지름의 비율</a:t>
            </a:r>
            <a:r>
              <a:rPr lang="en-US" altLang="ko-KR" b="0" i="0" dirty="0">
                <a:solidFill>
                  <a:srgbClr val="1B1B1B"/>
                </a:solidFill>
                <a:effectLst/>
                <a:latin typeface="Inter"/>
              </a:rPr>
              <a:t>, 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약 </a:t>
            </a:r>
            <a:r>
              <a:rPr lang="en-US" altLang="ko-KR" b="0" i="0" dirty="0">
                <a:solidFill>
                  <a:srgbClr val="1B1B1B"/>
                </a:solidFill>
                <a:effectLst/>
                <a:latin typeface="Inter"/>
              </a:rPr>
              <a:t>3.14159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의 값</a:t>
            </a:r>
            <a:endParaRPr lang="en-US" altLang="ko-KR" b="0" i="0" dirty="0">
              <a:solidFill>
                <a:srgbClr val="1B1B1B"/>
              </a:solidFill>
              <a:effectLst/>
              <a:latin typeface="Inter"/>
            </a:endParaRPr>
          </a:p>
          <a:p>
            <a:endParaRPr lang="en-US" altLang="ko-KR" b="0" i="0" dirty="0">
              <a:solidFill>
                <a:srgbClr val="1B1B1B"/>
              </a:solidFill>
              <a:effectLst/>
              <a:latin typeface="Inter"/>
            </a:endParaRPr>
          </a:p>
          <a:p>
            <a:endParaRPr lang="en-US" altLang="ko-KR" b="0" i="0" dirty="0">
              <a:solidFill>
                <a:srgbClr val="1B1B1B"/>
              </a:solidFill>
              <a:effectLst/>
              <a:latin typeface="Inter"/>
            </a:endParaRPr>
          </a:p>
          <a:p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코드로 </a:t>
            </a:r>
            <a:r>
              <a:rPr lang="ko-KR" altLang="en-US" b="0" i="0" dirty="0" err="1">
                <a:solidFill>
                  <a:srgbClr val="1B1B1B"/>
                </a:solidFill>
                <a:effectLst/>
                <a:latin typeface="Inter"/>
              </a:rPr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786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189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웹 문서를 프로그래밍적으로 다루는 인터페이스다</a:t>
            </a:r>
            <a:r>
              <a:rPr lang="en-US" altLang="ko-KR" dirty="0"/>
              <a:t>~</a:t>
            </a:r>
          </a:p>
          <a:p>
            <a:endParaRPr lang="en-US" altLang="ko-KR" dirty="0"/>
          </a:p>
          <a:p>
            <a:r>
              <a:rPr lang="ko-KR" altLang="en-US" dirty="0"/>
              <a:t>아직 </a:t>
            </a:r>
            <a:r>
              <a:rPr lang="ko-KR" altLang="en-US" dirty="0" err="1"/>
              <a:t>무슨말인지</a:t>
            </a:r>
            <a:r>
              <a:rPr lang="ko-KR" altLang="en-US" dirty="0"/>
              <a:t> </a:t>
            </a:r>
            <a:r>
              <a:rPr lang="ko-KR" altLang="en-US" dirty="0" err="1"/>
              <a:t>어려울수</a:t>
            </a:r>
            <a:r>
              <a:rPr lang="ko-KR" altLang="en-US" dirty="0"/>
              <a:t> 있어요</a:t>
            </a:r>
            <a:r>
              <a:rPr lang="en-US" altLang="ko-KR" dirty="0"/>
              <a:t>~ </a:t>
            </a:r>
            <a:r>
              <a:rPr lang="ko-KR" altLang="en-US" dirty="0"/>
              <a:t>차근차근 이해를 해봅시다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8645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문서의 구조를 </a:t>
            </a:r>
            <a:r>
              <a:rPr lang="ko-KR" altLang="en-US" dirty="0" err="1"/>
              <a:t>객체트리로</a:t>
            </a:r>
            <a:r>
              <a:rPr lang="ko-KR" altLang="en-US" dirty="0"/>
              <a:t> 표현하여 각 객체가 문서의 일부를 나타내게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DOM</a:t>
            </a:r>
            <a:r>
              <a:rPr lang="ko-KR" altLang="en-US" dirty="0"/>
              <a:t>을 사용해서 </a:t>
            </a:r>
            <a:r>
              <a:rPr lang="en-US" altLang="ko-KR" dirty="0"/>
              <a:t>HTML </a:t>
            </a:r>
            <a:r>
              <a:rPr lang="ko-KR" altLang="en-US" dirty="0"/>
              <a:t>문서의 구조나 내용 및 스타일을 동적으로 조작할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3515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8946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페이지의 문서를 나타내는 전역 객체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7403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ko-KR" sz="14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document.documentElement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문서의 루트 요소를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보통 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&lt;html&gt;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요소를 가리킵니다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sz="14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document.head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문서의 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&lt;head&gt;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요소를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sz="14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document.body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문서의 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&lt;body&gt;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요소를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sz="14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document.title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문서의 제목을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이 속성을 변경하면 브라우저 탭의 제목이 업데이트됩니다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document.URL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현재 문서의 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URL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을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sz="14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document.domain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현재 문서의 도메인을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ko-KR" altLang="en-US" sz="1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3343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요소에 접근한다</a:t>
            </a:r>
            <a:r>
              <a:rPr lang="en-US" altLang="ko-KR" dirty="0"/>
              <a:t>~ </a:t>
            </a:r>
            <a:r>
              <a:rPr lang="ko-KR" altLang="en-US" dirty="0"/>
              <a:t>라고도 할 수 있어요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우리가 무언가를 조작하려면 무엇인가라는 것을 </a:t>
            </a:r>
            <a:r>
              <a:rPr lang="ko-KR" altLang="en-US" dirty="0" err="1"/>
              <a:t>지칭해야되죠</a:t>
            </a:r>
            <a:r>
              <a:rPr lang="en-US" altLang="ko-KR" dirty="0"/>
              <a:t>? </a:t>
            </a:r>
            <a:r>
              <a:rPr lang="ko-KR" altLang="en-US" dirty="0"/>
              <a:t>그 과정이랍니다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8874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요소에 접근한다</a:t>
            </a:r>
            <a:r>
              <a:rPr lang="en-US" altLang="ko-KR" dirty="0"/>
              <a:t>~ </a:t>
            </a:r>
            <a:r>
              <a:rPr lang="ko-KR" altLang="en-US" dirty="0"/>
              <a:t>라고도 할 수 있어요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우리가 무언가를 조작하려면 무엇인가라는 것을 </a:t>
            </a:r>
            <a:r>
              <a:rPr lang="ko-KR" altLang="en-US" dirty="0" err="1"/>
              <a:t>지칭해야되죠</a:t>
            </a:r>
            <a:r>
              <a:rPr lang="en-US" altLang="ko-KR" dirty="0"/>
              <a:t>? </a:t>
            </a:r>
            <a:r>
              <a:rPr lang="ko-KR" altLang="en-US" dirty="0"/>
              <a:t>그 과정이랍니다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2215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kdt3rd-workspace/05_javascript_object/</a:t>
            </a:r>
            <a:r>
              <a:rPr lang="en-US" altLang="ko-KR" b="1" dirty="0"/>
              <a:t>index4.html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kdt3rd-workspace/05_javascript_object/</a:t>
            </a:r>
            <a:r>
              <a:rPr lang="en-US" altLang="ko-KR" b="1" dirty="0"/>
              <a:t>index4.js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7332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4373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8821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3015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271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3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94827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1539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116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398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79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08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55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66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36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016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47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8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SeSAC</a:t>
            </a:r>
            <a:r>
              <a:rPr lang="en-US" altLang="ko-KR" dirty="0"/>
              <a:t> x </a:t>
            </a:r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940B-EF53-4BFE-830C-F24863DE5E50}" type="datetime6">
              <a:rPr lang="ko-KR" altLang="en-US" smtClean="0"/>
              <a:t>2024년 5월</a:t>
            </a:fld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6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B8F7-56EA-4444-8715-36E88B2971A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7EE994-4906-15FA-0A97-CBA23B4A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26" name="Picture 2" descr="자바스크립트(JavaScript) 공부하자">
            <a:extLst>
              <a:ext uri="{FF2B5EF4-FFF2-40B4-BE49-F238E27FC236}">
                <a16:creationId xmlns:a16="http://schemas.microsoft.com/office/drawing/2014/main" id="{97E9C49D-06DD-7059-EB87-3E2882A18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127" y="823411"/>
            <a:ext cx="4665746" cy="466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480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</a:t>
            </a:r>
            <a:r>
              <a:rPr lang="ko-KR" altLang="en-US" sz="8000" dirty="0"/>
              <a:t>객체</a:t>
            </a:r>
          </a:p>
        </p:txBody>
      </p:sp>
    </p:spTree>
    <p:extLst>
      <p:ext uri="{BB962C8B-B14F-4D97-AF65-F5344CB8AC3E}">
        <p14:creationId xmlns:p14="http://schemas.microsoft.com/office/powerpoint/2010/main" val="307238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D00-0CDA-45A7-A8BD-749BE07CE984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자료형</a:t>
            </a: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C8ADAF6B-E2E4-3104-0C92-65F1ADDA3C45}"/>
              </a:ext>
            </a:extLst>
          </p:cNvPr>
          <p:cNvSpPr/>
          <p:nvPr/>
        </p:nvSpPr>
        <p:spPr>
          <a:xfrm>
            <a:off x="1371600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Primitive </a:t>
            </a:r>
            <a:r>
              <a:rPr lang="ko-KR" altLang="en-US" sz="3600" dirty="0"/>
              <a:t>자료형</a:t>
            </a: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9E8F4A16-A580-8598-445C-BE56538BEF63}"/>
              </a:ext>
            </a:extLst>
          </p:cNvPr>
          <p:cNvSpPr/>
          <p:nvPr/>
        </p:nvSpPr>
        <p:spPr>
          <a:xfrm>
            <a:off x="6874042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Object </a:t>
            </a:r>
            <a:r>
              <a:rPr lang="ko-KR" altLang="en-US" sz="3600" dirty="0"/>
              <a:t>자료형</a:t>
            </a:r>
          </a:p>
        </p:txBody>
      </p:sp>
    </p:spTree>
    <p:extLst>
      <p:ext uri="{BB962C8B-B14F-4D97-AF65-F5344CB8AC3E}">
        <p14:creationId xmlns:p14="http://schemas.microsoft.com/office/powerpoint/2010/main" val="861625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74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Boolean</a:t>
            </a:r>
          </a:p>
          <a:p>
            <a:pPr lvl="1"/>
            <a:r>
              <a:rPr lang="ko-KR" altLang="en-US" dirty="0"/>
              <a:t>참</a:t>
            </a:r>
            <a:r>
              <a:rPr lang="en-US" altLang="ko-KR" dirty="0"/>
              <a:t>(true), </a:t>
            </a:r>
            <a:r>
              <a:rPr lang="ko-KR" altLang="en-US" dirty="0"/>
              <a:t>거짓</a:t>
            </a:r>
            <a:r>
              <a:rPr lang="en-US" altLang="ko-KR" dirty="0"/>
              <a:t>(false) </a:t>
            </a:r>
            <a:r>
              <a:rPr lang="ko-KR" altLang="en-US" dirty="0"/>
              <a:t>둘 중 하나의 값을 갖는 요소</a:t>
            </a:r>
            <a:endParaRPr lang="en-US" altLang="ko-KR" dirty="0"/>
          </a:p>
          <a:p>
            <a:r>
              <a:rPr lang="en-US" altLang="ko-KR" dirty="0"/>
              <a:t>Number</a:t>
            </a:r>
          </a:p>
          <a:p>
            <a:pPr lvl="1"/>
            <a:r>
              <a:rPr lang="ko-KR" altLang="en-US" dirty="0" err="1"/>
              <a:t>숫자형으로</a:t>
            </a:r>
            <a:r>
              <a:rPr lang="ko-KR" altLang="en-US" dirty="0"/>
              <a:t> 정수와 부동 소수점</a:t>
            </a:r>
            <a:r>
              <a:rPr lang="en-US" altLang="ko-KR" dirty="0"/>
              <a:t>, </a:t>
            </a:r>
            <a:r>
              <a:rPr lang="ko-KR" altLang="en-US" dirty="0"/>
              <a:t>무한대 및 </a:t>
            </a:r>
            <a:r>
              <a:rPr lang="en-US" altLang="ko-KR" dirty="0" err="1"/>
              <a:t>NaN</a:t>
            </a:r>
            <a:r>
              <a:rPr lang="en-US" altLang="ko-KR" dirty="0"/>
              <a:t>(</a:t>
            </a:r>
            <a:r>
              <a:rPr lang="ko-KR" altLang="en-US" dirty="0"/>
              <a:t>숫자 아님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String</a:t>
            </a:r>
          </a:p>
          <a:p>
            <a:pPr lvl="1"/>
            <a:r>
              <a:rPr lang="ko-KR" altLang="en-US" dirty="0"/>
              <a:t>문자 데이터를 나타낼 때 사용</a:t>
            </a:r>
            <a:endParaRPr lang="en-US" altLang="ko-KR" dirty="0"/>
          </a:p>
          <a:p>
            <a:r>
              <a:rPr lang="en-US" altLang="ko-KR" dirty="0"/>
              <a:t>Null</a:t>
            </a:r>
          </a:p>
          <a:p>
            <a:pPr lvl="1"/>
            <a:r>
              <a:rPr lang="ko-KR" altLang="en-US" dirty="0"/>
              <a:t>빈 값을 뜻하는 </a:t>
            </a:r>
            <a:r>
              <a:rPr lang="en-US" altLang="ko-KR" dirty="0"/>
              <a:t>null </a:t>
            </a:r>
            <a:r>
              <a:rPr lang="ko-KR" altLang="en-US" dirty="0"/>
              <a:t>타입</a:t>
            </a:r>
            <a:endParaRPr lang="en-US" altLang="ko-KR" dirty="0"/>
          </a:p>
          <a:p>
            <a:pPr lvl="1"/>
            <a:r>
              <a:rPr lang="ko-KR" altLang="en-US" dirty="0"/>
              <a:t>타입은 존재하지만 값 존재 </a:t>
            </a:r>
            <a:r>
              <a:rPr lang="en-US" altLang="ko-KR" dirty="0"/>
              <a:t>X	</a:t>
            </a:r>
          </a:p>
          <a:p>
            <a:r>
              <a:rPr lang="en-US" altLang="ko-KR" dirty="0"/>
              <a:t>Undefined</a:t>
            </a:r>
          </a:p>
          <a:p>
            <a:pPr lvl="1"/>
            <a:r>
              <a:rPr lang="ko-KR" altLang="en-US" dirty="0"/>
              <a:t>값 </a:t>
            </a:r>
            <a:r>
              <a:rPr lang="en-US" altLang="ko-KR" dirty="0"/>
              <a:t>X </a:t>
            </a:r>
            <a:r>
              <a:rPr lang="ko-KR" altLang="en-US" dirty="0"/>
              <a:t>타입 </a:t>
            </a:r>
            <a:r>
              <a:rPr lang="en-US" altLang="ko-KR" dirty="0"/>
              <a:t>X </a:t>
            </a:r>
          </a:p>
          <a:p>
            <a:pPr lvl="1"/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BA0DC-E9D2-429C-946B-770A90481327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Primitive</a:t>
            </a:r>
            <a:r>
              <a:rPr lang="ko-KR" altLang="en-US" dirty="0"/>
              <a:t> 자료형</a:t>
            </a:r>
          </a:p>
        </p:txBody>
      </p:sp>
    </p:spTree>
    <p:extLst>
      <p:ext uri="{BB962C8B-B14F-4D97-AF65-F5344CB8AC3E}">
        <p14:creationId xmlns:p14="http://schemas.microsoft.com/office/powerpoint/2010/main" val="102224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74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자바스크립트에서 객체는 거의 모든 것을 나타냄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원시 타입을 제외한 나머지 값</a:t>
            </a:r>
            <a:r>
              <a:rPr lang="en-US" altLang="ko-KR" dirty="0"/>
              <a:t>(</a:t>
            </a:r>
            <a:r>
              <a:rPr lang="ko-KR" altLang="en-US" dirty="0"/>
              <a:t>함수</a:t>
            </a:r>
            <a:r>
              <a:rPr lang="en-US" altLang="ko-KR" dirty="0"/>
              <a:t>, </a:t>
            </a:r>
            <a:r>
              <a:rPr lang="ko-KR" altLang="en-US" dirty="0"/>
              <a:t>배열</a:t>
            </a:r>
            <a:r>
              <a:rPr lang="en-US" altLang="ko-KR" dirty="0"/>
              <a:t>, </a:t>
            </a:r>
            <a:r>
              <a:rPr lang="ko-KR" altLang="en-US" dirty="0"/>
              <a:t>클래스 등</a:t>
            </a:r>
            <a:r>
              <a:rPr lang="en-US" altLang="ko-KR" dirty="0"/>
              <a:t>)</a:t>
            </a:r>
            <a:r>
              <a:rPr lang="ko-KR" altLang="en-US" dirty="0"/>
              <a:t>은 모두 객체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객체 타입</a:t>
            </a:r>
            <a:r>
              <a:rPr lang="en-US" altLang="ko-KR" dirty="0"/>
              <a:t>(Object type)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참조 타입 </a:t>
            </a:r>
            <a:r>
              <a:rPr lang="en-US" altLang="ko-KR" dirty="0"/>
              <a:t>(Reference type)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chemeClr val="accent1"/>
                </a:solidFill>
              </a:rPr>
              <a:t>키</a:t>
            </a:r>
            <a:r>
              <a:rPr lang="en-US" altLang="ko-KR" dirty="0">
                <a:solidFill>
                  <a:schemeClr val="accent1"/>
                </a:solidFill>
              </a:rPr>
              <a:t>(key)</a:t>
            </a:r>
            <a:r>
              <a:rPr lang="ko-KR" altLang="en-US" dirty="0">
                <a:solidFill>
                  <a:schemeClr val="accent1"/>
                </a:solidFill>
              </a:rPr>
              <a:t>와 값</a:t>
            </a:r>
            <a:r>
              <a:rPr lang="en-US" altLang="ko-KR" dirty="0">
                <a:solidFill>
                  <a:schemeClr val="accent1"/>
                </a:solidFill>
              </a:rPr>
              <a:t>(value)</a:t>
            </a:r>
            <a:r>
              <a:rPr lang="ko-KR" altLang="en-US" dirty="0">
                <a:solidFill>
                  <a:schemeClr val="accent1"/>
                </a:solidFill>
              </a:rPr>
              <a:t>로 구성</a:t>
            </a:r>
            <a:r>
              <a:rPr lang="ko-KR" altLang="en-US" dirty="0"/>
              <a:t>된 </a:t>
            </a:r>
            <a:r>
              <a:rPr lang="ko-KR" altLang="en-US" dirty="0" err="1"/>
              <a:t>프로퍼티</a:t>
            </a:r>
            <a:r>
              <a:rPr lang="en-US" altLang="ko-KR" dirty="0"/>
              <a:t>(property) </a:t>
            </a:r>
            <a:r>
              <a:rPr lang="ko-KR" altLang="en-US" dirty="0"/>
              <a:t>집합</a:t>
            </a:r>
            <a:endParaRPr lang="en-US" altLang="ko-KR" dirty="0"/>
          </a:p>
          <a:p>
            <a:r>
              <a:rPr lang="ko-KR" altLang="en-US" dirty="0"/>
              <a:t>프로퍼티 값으로 함수를 포함할 수 있음</a:t>
            </a:r>
            <a:r>
              <a:rPr lang="en-US" altLang="ko-KR" dirty="0"/>
              <a:t>!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ko-KR" altLang="en-US" dirty="0" err="1"/>
              <a:t>메소드</a:t>
            </a:r>
            <a:r>
              <a:rPr lang="ko-KR" altLang="en-US" dirty="0"/>
              <a:t> </a:t>
            </a:r>
            <a:r>
              <a:rPr lang="en-US" altLang="ko-KR" dirty="0"/>
              <a:t>(method)</a:t>
            </a:r>
          </a:p>
          <a:p>
            <a:endParaRPr lang="en-US" altLang="ko-KR" dirty="0"/>
          </a:p>
          <a:p>
            <a:r>
              <a:rPr lang="ko-KR" altLang="en-US" dirty="0"/>
              <a:t>객체</a:t>
            </a:r>
            <a:endParaRPr lang="en-US" altLang="ko-KR" dirty="0"/>
          </a:p>
          <a:p>
            <a:pPr lvl="1"/>
            <a:r>
              <a:rPr lang="ko-KR" altLang="en-US" dirty="0" err="1">
                <a:solidFill>
                  <a:schemeClr val="accent1"/>
                </a:solidFill>
              </a:rPr>
              <a:t>프로퍼티</a:t>
            </a:r>
            <a:r>
              <a:rPr lang="en-US" altLang="ko-KR" dirty="0">
                <a:solidFill>
                  <a:schemeClr val="accent1"/>
                </a:solidFill>
              </a:rPr>
              <a:t>(property)</a:t>
            </a:r>
            <a:r>
              <a:rPr lang="en-US" altLang="ko-KR" dirty="0"/>
              <a:t>: </a:t>
            </a:r>
            <a:r>
              <a:rPr lang="ko-KR" altLang="en-US" dirty="0"/>
              <a:t>데이터를 의미</a:t>
            </a:r>
            <a:endParaRPr lang="en-US" altLang="ko-KR" dirty="0"/>
          </a:p>
          <a:p>
            <a:pPr lvl="1"/>
            <a:r>
              <a:rPr lang="ko-KR" altLang="en-US" dirty="0" err="1">
                <a:solidFill>
                  <a:schemeClr val="accent1"/>
                </a:solidFill>
              </a:rPr>
              <a:t>메소드</a:t>
            </a:r>
            <a:r>
              <a:rPr lang="en-US" altLang="ko-KR" dirty="0">
                <a:solidFill>
                  <a:schemeClr val="accent1"/>
                </a:solidFill>
              </a:rPr>
              <a:t>(method)</a:t>
            </a:r>
            <a:r>
              <a:rPr lang="en-US" altLang="ko-KR" dirty="0"/>
              <a:t>: </a:t>
            </a:r>
            <a:r>
              <a:rPr lang="ko-KR" altLang="en-US" dirty="0"/>
              <a:t>동작을 의미 </a:t>
            </a:r>
            <a:r>
              <a:rPr lang="en-US" altLang="ko-KR" dirty="0"/>
              <a:t>-&gt; </a:t>
            </a:r>
            <a:r>
              <a:rPr lang="ko-KR" altLang="en-US" dirty="0" err="1"/>
              <a:t>프로퍼티</a:t>
            </a:r>
            <a:r>
              <a:rPr lang="ko-KR" altLang="en-US" dirty="0"/>
              <a:t> 값이 함수 일 경우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BA0DC-E9D2-429C-946B-770A90481327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r>
              <a:rPr lang="ko-KR" altLang="en-US" dirty="0"/>
              <a:t>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584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3758B263-DC45-ACC3-990B-EE489C814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741"/>
            <a:ext cx="10515600" cy="64485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실생활에서 우리가 인식할 수 있는 사물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3061-A8C0-47A7-B70C-8C6BAF46AF2C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</a:p>
        </p:txBody>
      </p:sp>
      <p:sp>
        <p:nvSpPr>
          <p:cNvPr id="10" name="내용 개체 틀 6">
            <a:extLst>
              <a:ext uri="{FF2B5EF4-FFF2-40B4-BE49-F238E27FC236}">
                <a16:creationId xmlns:a16="http://schemas.microsoft.com/office/drawing/2014/main" id="{3380BBDF-C030-67D8-6797-453FB7984EAC}"/>
              </a:ext>
            </a:extLst>
          </p:cNvPr>
          <p:cNvSpPr txBox="1">
            <a:spLocks/>
          </p:cNvSpPr>
          <p:nvPr/>
        </p:nvSpPr>
        <p:spPr>
          <a:xfrm>
            <a:off x="6625389" y="2265446"/>
            <a:ext cx="5053264" cy="3733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객체 </a:t>
            </a:r>
            <a:r>
              <a:rPr lang="en-US" altLang="ko-KR" dirty="0"/>
              <a:t>: </a:t>
            </a:r>
            <a:r>
              <a:rPr lang="ko-KR" altLang="en-US" dirty="0"/>
              <a:t>고양이 그 자체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chemeClr val="accent3"/>
                </a:solidFill>
              </a:rPr>
              <a:t>속성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</a:t>
            </a:r>
            <a:r>
              <a:rPr lang="ko-KR" altLang="en-US" dirty="0"/>
              <a:t>이름 </a:t>
            </a:r>
            <a:r>
              <a:rPr lang="en-US" altLang="ko-KR" dirty="0"/>
              <a:t>– </a:t>
            </a:r>
            <a:r>
              <a:rPr lang="ko-KR" altLang="en-US" dirty="0"/>
              <a:t>나비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</a:t>
            </a:r>
            <a:r>
              <a:rPr lang="ko-KR" altLang="en-US" dirty="0"/>
              <a:t>나이 </a:t>
            </a:r>
            <a:r>
              <a:rPr lang="en-US" altLang="ko-KR" dirty="0"/>
              <a:t>– 1</a:t>
            </a:r>
            <a:r>
              <a:rPr lang="ko-KR" altLang="en-US" dirty="0"/>
              <a:t>살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chemeClr val="accent1"/>
                </a:solidFill>
              </a:rPr>
              <a:t>메소드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mew()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울다</a:t>
            </a:r>
            <a:endParaRPr lang="en-US" altLang="ko-K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AE22E9-AB34-4B59-17C4-617128E96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65446"/>
            <a:ext cx="56007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9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3758B263-DC45-ACC3-990B-EE489C814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741"/>
            <a:ext cx="10515600" cy="64485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실생활에서 우리가 인식할 수 있는 사물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7B7B-B510-4FB4-806A-F48FB70E79E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</a:p>
        </p:txBody>
      </p:sp>
      <p:sp>
        <p:nvSpPr>
          <p:cNvPr id="10" name="내용 개체 틀 6">
            <a:extLst>
              <a:ext uri="{FF2B5EF4-FFF2-40B4-BE49-F238E27FC236}">
                <a16:creationId xmlns:a16="http://schemas.microsoft.com/office/drawing/2014/main" id="{3380BBDF-C030-67D8-6797-453FB7984EAC}"/>
              </a:ext>
            </a:extLst>
          </p:cNvPr>
          <p:cNvSpPr txBox="1">
            <a:spLocks/>
          </p:cNvSpPr>
          <p:nvPr/>
        </p:nvSpPr>
        <p:spPr>
          <a:xfrm>
            <a:off x="6625389" y="2265446"/>
            <a:ext cx="5053264" cy="3733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 err="1"/>
              <a:t>const</a:t>
            </a:r>
            <a:r>
              <a:rPr lang="en-US" altLang="ko-KR" dirty="0"/>
              <a:t> cat =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</a:t>
            </a:r>
            <a:r>
              <a:rPr lang="en-US" altLang="ko-KR" dirty="0">
                <a:solidFill>
                  <a:schemeClr val="accent3"/>
                </a:solidFill>
              </a:rPr>
              <a:t>name</a:t>
            </a:r>
            <a:r>
              <a:rPr lang="en-US" altLang="ko-KR" dirty="0"/>
              <a:t>: “</a:t>
            </a:r>
            <a:r>
              <a:rPr lang="ko-KR" altLang="en-US" dirty="0"/>
              <a:t>나비</a:t>
            </a:r>
            <a:r>
              <a:rPr lang="en-US" altLang="ko-KR" dirty="0"/>
              <a:t>”,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</a:t>
            </a:r>
            <a:r>
              <a:rPr lang="en-US" altLang="ko-KR" dirty="0">
                <a:solidFill>
                  <a:schemeClr val="accent3"/>
                </a:solidFill>
              </a:rPr>
              <a:t>age</a:t>
            </a:r>
            <a:r>
              <a:rPr lang="en-US" altLang="ko-KR" dirty="0"/>
              <a:t> : 1,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</a:t>
            </a:r>
            <a:r>
              <a:rPr lang="en-US" altLang="ko-KR" dirty="0">
                <a:solidFill>
                  <a:schemeClr val="accent1"/>
                </a:solidFill>
              </a:rPr>
              <a:t>mew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function()</a:t>
            </a:r>
            <a:r>
              <a:rPr lang="ko-KR" altLang="en-US" dirty="0"/>
              <a:t> </a:t>
            </a:r>
            <a:r>
              <a:rPr lang="en-US" altLang="ko-KR" dirty="0"/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	return “</a:t>
            </a:r>
            <a:r>
              <a:rPr lang="ko-KR" altLang="en-US" dirty="0" err="1"/>
              <a:t>냐옹</a:t>
            </a:r>
            <a:r>
              <a:rPr lang="en-US" altLang="ko-KR" dirty="0"/>
              <a:t>”;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};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AE22E9-AB34-4B59-17C4-617128E96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65446"/>
            <a:ext cx="56007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81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기본 자료형</a:t>
            </a:r>
            <a:endParaRPr lang="en-US" altLang="ko-KR" dirty="0"/>
          </a:p>
          <a:p>
            <a:pPr lvl="1"/>
            <a:r>
              <a:rPr lang="ko-KR" altLang="en-US" dirty="0"/>
              <a:t>다른 변수에 값을 할당하거나 함수 인자를 넘길 때 </a:t>
            </a:r>
            <a:r>
              <a:rPr lang="ko-KR" altLang="en-US" dirty="0">
                <a:solidFill>
                  <a:srgbClr val="6EC173"/>
                </a:solidFill>
              </a:rPr>
              <a:t>값을 복사</a:t>
            </a:r>
            <a:r>
              <a:rPr lang="ko-KR" altLang="en-US" dirty="0"/>
              <a:t>해 전달 </a:t>
            </a:r>
            <a:endParaRPr lang="en-US" altLang="ko-KR" dirty="0"/>
          </a:p>
          <a:p>
            <a:pPr lvl="1"/>
            <a:r>
              <a:rPr lang="ko-KR" altLang="en-US" dirty="0"/>
              <a:t>➡ </a:t>
            </a:r>
            <a:r>
              <a:rPr lang="en-US" altLang="ko-KR" dirty="0"/>
              <a:t>Pass by value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객체 자료형</a:t>
            </a:r>
            <a:endParaRPr lang="en-US" altLang="ko-KR" dirty="0"/>
          </a:p>
          <a:p>
            <a:pPr lvl="1"/>
            <a:r>
              <a:rPr lang="ko-KR" altLang="en-US" dirty="0"/>
              <a:t>값을 복사해 전달하는 것이 아닌 </a:t>
            </a:r>
            <a:r>
              <a:rPr lang="ko-KR" altLang="en-US" dirty="0">
                <a:solidFill>
                  <a:srgbClr val="6EC173"/>
                </a:solidFill>
              </a:rPr>
              <a:t>메모리 주소를 </a:t>
            </a:r>
            <a:r>
              <a:rPr lang="ko-KR" altLang="en-US" dirty="0" err="1">
                <a:solidFill>
                  <a:srgbClr val="6EC173"/>
                </a:solidFill>
              </a:rPr>
              <a:t>참조값</a:t>
            </a:r>
            <a:r>
              <a:rPr lang="en-US" altLang="ko-KR" dirty="0">
                <a:solidFill>
                  <a:srgbClr val="6EC173"/>
                </a:solidFill>
              </a:rPr>
              <a:t>(address)</a:t>
            </a:r>
            <a:r>
              <a:rPr lang="ko-KR" altLang="en-US" dirty="0"/>
              <a:t>을 저장</a:t>
            </a:r>
            <a:endParaRPr lang="en-US" altLang="ko-KR" dirty="0"/>
          </a:p>
          <a:p>
            <a:pPr lvl="1"/>
            <a:r>
              <a:rPr lang="ko-KR" altLang="en-US" dirty="0"/>
              <a:t>➡ </a:t>
            </a:r>
            <a:r>
              <a:rPr lang="en-US" altLang="ko-KR" dirty="0"/>
              <a:t>Pass by reference</a:t>
            </a:r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같은 객체를 참조할 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29E6-51E5-434F-8BAA-E4A5A5BCFF40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자료형 </a:t>
            </a:r>
            <a:r>
              <a:rPr lang="en-US" altLang="ko-KR" dirty="0"/>
              <a:t>vs </a:t>
            </a:r>
            <a:r>
              <a:rPr lang="ko-KR" altLang="en-US" dirty="0"/>
              <a:t>객체 자료형</a:t>
            </a:r>
          </a:p>
        </p:txBody>
      </p:sp>
    </p:spTree>
    <p:extLst>
      <p:ext uri="{BB962C8B-B14F-4D97-AF65-F5344CB8AC3E}">
        <p14:creationId xmlns:p14="http://schemas.microsoft.com/office/powerpoint/2010/main" val="3368860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548"/>
            <a:ext cx="10515600" cy="129662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숫자형과 문자열과 마찬가지로 일반적인 스크립트와 동일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[]</a:t>
            </a:r>
            <a:r>
              <a:rPr lang="en-US" altLang="ko-KR" dirty="0"/>
              <a:t> </a:t>
            </a:r>
            <a:r>
              <a:rPr lang="ko-KR" altLang="en-US" dirty="0"/>
              <a:t>나 </a:t>
            </a:r>
            <a:r>
              <a:rPr lang="en-US" altLang="ko-KR" dirty="0">
                <a:solidFill>
                  <a:srgbClr val="FF0000"/>
                </a:solidFill>
              </a:rPr>
              <a:t>new Array()</a:t>
            </a:r>
            <a:r>
              <a:rPr lang="ko-KR" altLang="en-US" dirty="0"/>
              <a:t>를 이용해 생성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5FBF-1980-4364-9E8B-5E28EBE09C0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r>
              <a:rPr lang="ko-KR" altLang="en-US" dirty="0"/>
              <a:t> 자료형 </a:t>
            </a:r>
            <a:r>
              <a:rPr lang="en-US" altLang="ko-KR" dirty="0"/>
              <a:t>- </a:t>
            </a:r>
            <a:r>
              <a:rPr lang="ko-KR" altLang="en-US" dirty="0"/>
              <a:t>배열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45616"/>
            <a:ext cx="10383386" cy="183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1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488741"/>
            <a:ext cx="8610600" cy="466026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3"/>
                </a:solidFill>
              </a:rPr>
              <a:t>.length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1"/>
                </a:solidFill>
              </a:rPr>
              <a:t>.push(</a:t>
            </a:r>
            <a:r>
              <a:rPr lang="ko-KR" altLang="en-US" dirty="0">
                <a:solidFill>
                  <a:schemeClr val="accent1"/>
                </a:solidFill>
              </a:rPr>
              <a:t>추가할 값</a:t>
            </a:r>
            <a:r>
              <a:rPr lang="en-US" altLang="ko-KR" dirty="0">
                <a:solidFill>
                  <a:schemeClr val="accent1"/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1"/>
                </a:solidFill>
              </a:rPr>
              <a:t>.pop()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1"/>
                </a:solidFill>
              </a:rPr>
              <a:t>.unshift(</a:t>
            </a:r>
            <a:r>
              <a:rPr lang="ko-KR" altLang="en-US" dirty="0">
                <a:solidFill>
                  <a:schemeClr val="accent1"/>
                </a:solidFill>
              </a:rPr>
              <a:t>추가할 값</a:t>
            </a:r>
            <a:r>
              <a:rPr lang="en-US" altLang="ko-KR" dirty="0">
                <a:solidFill>
                  <a:schemeClr val="accent1"/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1"/>
                </a:solidFill>
              </a:rPr>
              <a:t>.shift()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 err="1">
                <a:solidFill>
                  <a:schemeClr val="accent1"/>
                </a:solidFill>
              </a:rPr>
              <a:t>indexOf</a:t>
            </a:r>
            <a:r>
              <a:rPr lang="en-US" altLang="ko-KR" dirty="0">
                <a:solidFill>
                  <a:schemeClr val="accent1"/>
                </a:solidFill>
              </a:rPr>
              <a:t>(</a:t>
            </a:r>
            <a:r>
              <a:rPr lang="ko-KR" altLang="en-US" dirty="0">
                <a:solidFill>
                  <a:schemeClr val="accent1"/>
                </a:solidFill>
              </a:rPr>
              <a:t>찾을 값</a:t>
            </a:r>
            <a:r>
              <a:rPr lang="en-US" altLang="ko-KR" dirty="0">
                <a:solidFill>
                  <a:schemeClr val="accent1"/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845D-2417-4568-8665-C368068EE0D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r>
              <a:rPr lang="ko-KR" altLang="en-US" dirty="0"/>
              <a:t> 자료형 </a:t>
            </a:r>
            <a:r>
              <a:rPr lang="en-US" altLang="ko-KR" dirty="0"/>
              <a:t>- </a:t>
            </a:r>
            <a:r>
              <a:rPr lang="ko-KR" altLang="en-US" dirty="0"/>
              <a:t>배열</a:t>
            </a:r>
          </a:p>
        </p:txBody>
      </p:sp>
    </p:spTree>
    <p:extLst>
      <p:ext uri="{BB962C8B-B14F-4D97-AF65-F5344CB8AC3E}">
        <p14:creationId xmlns:p14="http://schemas.microsoft.com/office/powerpoint/2010/main" val="167700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412" y="1790700"/>
            <a:ext cx="8340576" cy="3416300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0" y="2477398"/>
            <a:ext cx="4203700" cy="72105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키</a:t>
            </a:r>
            <a:r>
              <a:rPr lang="en-US" altLang="ko-KR" dirty="0"/>
              <a:t>-</a:t>
            </a:r>
            <a:r>
              <a:rPr lang="ko-KR" altLang="en-US" dirty="0"/>
              <a:t>값 형태로 저장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04D9-6A52-4A99-9101-80BD6AA53C94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r>
              <a:rPr lang="ko-KR" altLang="en-US" dirty="0"/>
              <a:t> 자료형 </a:t>
            </a:r>
            <a:r>
              <a:rPr lang="en-US" altLang="ko-KR" dirty="0"/>
              <a:t>- </a:t>
            </a:r>
            <a:r>
              <a:rPr lang="ko-KR" altLang="en-US" dirty="0" err="1"/>
              <a:t>딕셔너리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5178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</a:t>
            </a:r>
            <a:r>
              <a:rPr lang="ko-KR" altLang="en-US" sz="8000" dirty="0" err="1"/>
              <a:t>표준객체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1665405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자바스크립트가 </a:t>
            </a:r>
            <a:r>
              <a:rPr lang="ko-KR" altLang="en-US" b="1" dirty="0"/>
              <a:t>기본적으로 가지고 있는 객체들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/>
              <a:t>프로그래밍을 하는데 기본적으로 필요한 도구들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String, Number, Array, </a:t>
            </a:r>
            <a:r>
              <a:rPr lang="en-US" altLang="ko-KR" sz="3200" dirty="0">
                <a:solidFill>
                  <a:schemeClr val="accent1"/>
                </a:solidFill>
              </a:rPr>
              <a:t>Date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en-US" altLang="ko-KR" sz="3200" dirty="0">
                <a:solidFill>
                  <a:schemeClr val="accent1"/>
                </a:solidFill>
              </a:rPr>
              <a:t>Math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/>
              <a:t>..........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표준 객체</a:t>
            </a:r>
          </a:p>
        </p:txBody>
      </p:sp>
    </p:spTree>
    <p:extLst>
      <p:ext uri="{BB962C8B-B14F-4D97-AF65-F5344CB8AC3E}">
        <p14:creationId xmlns:p14="http://schemas.microsoft.com/office/powerpoint/2010/main" val="1189277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Javascript</a:t>
            </a:r>
            <a:r>
              <a:rPr lang="en-US" altLang="ko-KR" dirty="0"/>
              <a:t> </a:t>
            </a:r>
            <a:r>
              <a:rPr lang="ko-KR" altLang="en-US" dirty="0"/>
              <a:t>에서 매 순간 바뀌는 시간과 날짜에 관한 정보를 얻기 위해 사용하는 객체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초기화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Date </a:t>
            </a:r>
            <a:r>
              <a:rPr lang="ko-KR" altLang="en-US" dirty="0"/>
              <a:t>객체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06E2B2-0104-FD13-5570-9B2C52B0D38F}"/>
              </a:ext>
            </a:extLst>
          </p:cNvPr>
          <p:cNvGrpSpPr/>
          <p:nvPr/>
        </p:nvGrpSpPr>
        <p:grpSpPr>
          <a:xfrm>
            <a:off x="2436359" y="3356862"/>
            <a:ext cx="9272101" cy="2187260"/>
            <a:chOff x="2436359" y="3356862"/>
            <a:chExt cx="9272101" cy="218726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C24BC95-51F1-5208-5A56-83610CBD3A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4029"/>
            <a:stretch/>
          </p:blipFill>
          <p:spPr>
            <a:xfrm>
              <a:off x="2436359" y="3674076"/>
              <a:ext cx="9272101" cy="1870046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D325514-0D27-A28E-EDEA-07BD5DFD6F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88810"/>
            <a:stretch/>
          </p:blipFill>
          <p:spPr>
            <a:xfrm>
              <a:off x="2436359" y="3356862"/>
              <a:ext cx="9272101" cy="3172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9666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98984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 err="1"/>
              <a:t>Date.now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Date.prototype</a:t>
            </a:r>
            <a:r>
              <a:rPr lang="en-US" altLang="ko-KR" dirty="0"/>
              <a:t> getter </a:t>
            </a:r>
            <a:r>
              <a:rPr lang="ko-KR" altLang="en-US" dirty="0"/>
              <a:t>메소드</a:t>
            </a:r>
            <a:r>
              <a:rPr lang="en-US" altLang="ko-KR" dirty="0"/>
              <a:t> ( let date = new Date(); 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date.getFullYear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date.getDate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date.getDay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date.getTime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date.getHour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date.getMinutes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date.getSeconds</a:t>
            </a:r>
            <a:r>
              <a:rPr lang="en-US" altLang="ko-KR" dirty="0"/>
              <a:t>()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555BB-40C1-49F2-814A-FC989E48DA17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Date </a:t>
            </a:r>
            <a:r>
              <a:rPr lang="ko-KR" altLang="en-US" dirty="0"/>
              <a:t>객체 </a:t>
            </a:r>
            <a:r>
              <a:rPr lang="en-US" altLang="ko-KR" dirty="0"/>
              <a:t>- </a:t>
            </a:r>
            <a:r>
              <a:rPr lang="ko-KR" altLang="en-US" dirty="0"/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547036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수학에서 자주 사용하는 상수와 함수들을 미리 구현해 놓은 </a:t>
            </a:r>
            <a:r>
              <a:rPr lang="en-US" altLang="ko-KR" dirty="0" err="1"/>
              <a:t>Javascript</a:t>
            </a:r>
            <a:r>
              <a:rPr lang="en-US" altLang="ko-KR" dirty="0"/>
              <a:t> </a:t>
            </a:r>
            <a:r>
              <a:rPr lang="ko-KR" altLang="en-US" dirty="0"/>
              <a:t>표준 내장 객체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웹 브라우저마다 다른 결과를 얻을 가능성이 있기에 정확한 결과를 얻어야 할 경우에는 </a:t>
            </a:r>
            <a:r>
              <a:rPr lang="en-US" altLang="ko-KR" dirty="0"/>
              <a:t>Math </a:t>
            </a:r>
            <a:r>
              <a:rPr lang="ko-KR" altLang="en-US" dirty="0"/>
              <a:t>메소드를 사용하지 않는 것이 좋다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A22E-3498-4C32-970F-84BAFA956A0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 </a:t>
            </a:r>
            <a:r>
              <a:rPr lang="ko-KR" altLang="en-US" dirty="0"/>
              <a:t>객체</a:t>
            </a:r>
          </a:p>
        </p:txBody>
      </p:sp>
    </p:spTree>
    <p:extLst>
      <p:ext uri="{BB962C8B-B14F-4D97-AF65-F5344CB8AC3E}">
        <p14:creationId xmlns:p14="http://schemas.microsoft.com/office/powerpoint/2010/main" val="1156022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84" y="1619619"/>
            <a:ext cx="5803231" cy="418181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min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max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random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round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floor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ceil</a:t>
            </a:r>
            <a:r>
              <a:rPr lang="en-US" altLang="ko-KR" dirty="0"/>
              <a:t>()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 </a:t>
            </a:r>
            <a:r>
              <a:rPr lang="ko-KR" altLang="en-US" dirty="0"/>
              <a:t>객체 </a:t>
            </a:r>
            <a:r>
              <a:rPr lang="en-US" altLang="ko-KR" dirty="0"/>
              <a:t>- </a:t>
            </a:r>
            <a:r>
              <a:rPr lang="ko-KR" altLang="en-US" dirty="0"/>
              <a:t>함수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1031968-EEA9-FF7A-D8AD-2C8EC9F2C2BA}"/>
              </a:ext>
            </a:extLst>
          </p:cNvPr>
          <p:cNvSpPr txBox="1">
            <a:spLocks/>
          </p:cNvSpPr>
          <p:nvPr/>
        </p:nvSpPr>
        <p:spPr>
          <a:xfrm>
            <a:off x="1486669" y="1619619"/>
            <a:ext cx="5803231" cy="4181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PI</a:t>
            </a:r>
            <a:endParaRPr lang="en-US" altLang="ko-KR" b="1" dirty="0"/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E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76030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DOM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1438010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>
                <a:highlight>
                  <a:srgbClr val="FFFF00"/>
                </a:highlight>
              </a:rPr>
              <a:t>D</a:t>
            </a:r>
            <a:r>
              <a:rPr lang="en-US" altLang="ko-KR" sz="3200" b="1" dirty="0"/>
              <a:t>ocument </a:t>
            </a:r>
            <a:r>
              <a:rPr lang="en-US" altLang="ko-KR" sz="3200" b="1" dirty="0">
                <a:highlight>
                  <a:srgbClr val="FFFF00"/>
                </a:highlight>
              </a:rPr>
              <a:t>O</a:t>
            </a:r>
            <a:r>
              <a:rPr lang="en-US" altLang="ko-KR" sz="3200" b="1" dirty="0"/>
              <a:t>bject </a:t>
            </a:r>
            <a:r>
              <a:rPr lang="en-US" altLang="ko-KR" sz="3200" b="1" dirty="0">
                <a:highlight>
                  <a:srgbClr val="FFFF00"/>
                </a:highlight>
              </a:rPr>
              <a:t>M</a:t>
            </a:r>
            <a:r>
              <a:rPr lang="en-US" altLang="ko-KR" sz="3200" b="1" dirty="0"/>
              <a:t>odel ( </a:t>
            </a:r>
            <a:r>
              <a:rPr lang="ko-KR" altLang="en-US" sz="3200" b="1" dirty="0"/>
              <a:t>문서 객체 모델</a:t>
            </a:r>
            <a:r>
              <a:rPr lang="en-US" altLang="ko-KR" sz="3200" b="1" dirty="0"/>
              <a:t> )</a:t>
            </a:r>
          </a:p>
          <a:p>
            <a:endParaRPr lang="en-US" altLang="ko-KR" sz="3200" dirty="0"/>
          </a:p>
          <a:p>
            <a:r>
              <a:rPr lang="en-US" altLang="ko-KR" sz="3200" dirty="0"/>
              <a:t>XML </a:t>
            </a:r>
            <a:r>
              <a:rPr lang="ko-KR" altLang="en-US" sz="3200" dirty="0"/>
              <a:t>이나 </a:t>
            </a:r>
            <a:r>
              <a:rPr lang="en-US" altLang="ko-KR" sz="3200" dirty="0"/>
              <a:t>HTML </a:t>
            </a:r>
            <a:r>
              <a:rPr lang="ko-KR" altLang="en-US" sz="3200" dirty="0"/>
              <a:t>문서에 접근하기 위한 일종의 인터페이스로 문서 내의 모든 요소를 정의하고</a:t>
            </a:r>
            <a:r>
              <a:rPr lang="en-US" altLang="ko-KR" sz="3200" dirty="0"/>
              <a:t>, </a:t>
            </a:r>
            <a:r>
              <a:rPr lang="ko-KR" altLang="en-US" sz="3200" dirty="0"/>
              <a:t>각각의 요소에 접근하는 방법을 제공</a:t>
            </a:r>
            <a:endParaRPr lang="en-US" altLang="ko-KR" sz="32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7057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7C8DF42-47CD-0939-D2F4-5B1E62389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29" y="1325563"/>
            <a:ext cx="4200386" cy="4351338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F80D-3619-47B0-B506-C15A2DD33094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C2B14E1-0567-FD31-C62D-6CAF64C26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546" y="1325563"/>
            <a:ext cx="6193222" cy="292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39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100" y="1473200"/>
            <a:ext cx="10680699" cy="4842210"/>
          </a:xfrm>
        </p:spPr>
        <p:txBody>
          <a:bodyPr/>
          <a:lstStyle/>
          <a:p>
            <a:pPr marL="514350" indent="-514350">
              <a:lnSpc>
                <a:spcPct val="120000"/>
              </a:lnSpc>
              <a:buAutoNum type="arabicPeriod"/>
            </a:pPr>
            <a:r>
              <a:rPr lang="ko-KR" altLang="en-US" dirty="0"/>
              <a:t>새로운 </a:t>
            </a:r>
            <a:r>
              <a:rPr lang="en-US" altLang="ko-KR" dirty="0"/>
              <a:t>HTML </a:t>
            </a:r>
            <a:r>
              <a:rPr lang="ko-KR" altLang="en-US" dirty="0"/>
              <a:t>요소나 속성 추가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ko-KR" altLang="en-US" dirty="0"/>
              <a:t>존재하는 </a:t>
            </a:r>
            <a:r>
              <a:rPr lang="en-US" altLang="ko-KR" dirty="0"/>
              <a:t>HTML </a:t>
            </a:r>
            <a:r>
              <a:rPr lang="ko-KR" altLang="en-US" dirty="0"/>
              <a:t>요소나 속성 제거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문서의 모든 </a:t>
            </a:r>
            <a:r>
              <a:rPr lang="en-US" altLang="ko-KR" dirty="0"/>
              <a:t>HTML </a:t>
            </a:r>
            <a:r>
              <a:rPr lang="ko-KR" altLang="en-US" dirty="0"/>
              <a:t>요소 변경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문서의 모든 </a:t>
            </a:r>
            <a:r>
              <a:rPr lang="en-US" altLang="ko-KR" dirty="0"/>
              <a:t>HTML </a:t>
            </a:r>
            <a:r>
              <a:rPr lang="ko-KR" altLang="en-US" dirty="0"/>
              <a:t>속성 변경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문서의 모든 </a:t>
            </a:r>
            <a:r>
              <a:rPr lang="en-US" altLang="ko-KR" dirty="0"/>
              <a:t>CSS </a:t>
            </a:r>
            <a:r>
              <a:rPr lang="ko-KR" altLang="en-US" dirty="0"/>
              <a:t>스타일 변경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문서에 새로운 </a:t>
            </a:r>
            <a:r>
              <a:rPr lang="en-US" altLang="ko-KR" dirty="0"/>
              <a:t>HTML </a:t>
            </a:r>
            <a:r>
              <a:rPr lang="ko-KR" altLang="en-US" dirty="0"/>
              <a:t>이벤트 추가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문서의 모든 </a:t>
            </a:r>
            <a:r>
              <a:rPr lang="en-US" altLang="ko-KR" dirty="0"/>
              <a:t>HTML </a:t>
            </a:r>
            <a:r>
              <a:rPr lang="ko-KR" altLang="en-US" dirty="0"/>
              <a:t>이벤트에 반응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B4C8-8E0F-4E71-95F4-BC1A3913D5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 txBox="1">
            <a:spLocks/>
          </p:cNvSpPr>
          <p:nvPr/>
        </p:nvSpPr>
        <p:spPr>
          <a:xfrm>
            <a:off x="2190750" y="733491"/>
            <a:ext cx="4705350" cy="4730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chemeClr val="accent1"/>
                </a:solidFill>
              </a:rPr>
              <a:t>다음과 같은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일을 할 수 있음</a:t>
            </a:r>
            <a:r>
              <a:rPr lang="en-US" altLang="ko-KR" dirty="0">
                <a:solidFill>
                  <a:schemeClr val="accent1"/>
                </a:solidFill>
              </a:rPr>
              <a:t>!!!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06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7200" dirty="0"/>
              <a:t>JavaScript Document</a:t>
            </a:r>
            <a:endParaRPr lang="ko-KR" altLang="en-US" sz="7200" dirty="0"/>
          </a:p>
        </p:txBody>
      </p:sp>
    </p:spTree>
    <p:extLst>
      <p:ext uri="{BB962C8B-B14F-4D97-AF65-F5344CB8AC3E}">
        <p14:creationId xmlns:p14="http://schemas.microsoft.com/office/powerpoint/2010/main" val="423861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79"/>
            <a:ext cx="10744200" cy="400852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/>
              <a:t>웹 페이지에 존재하는 </a:t>
            </a:r>
            <a:r>
              <a:rPr lang="en-US" altLang="ko-KR" b="1" dirty="0"/>
              <a:t>HTML </a:t>
            </a:r>
            <a:r>
              <a:rPr lang="ko-KR" altLang="en-US" b="1" dirty="0"/>
              <a:t>요소에 접근</a:t>
            </a:r>
            <a:r>
              <a:rPr lang="ko-KR" altLang="en-US" dirty="0"/>
              <a:t>하여 행동을 하고자 할 때 사용하는 객체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8823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384" y="1325563"/>
            <a:ext cx="5803231" cy="480603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 err="1"/>
              <a:t>document.documentElement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document.head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document.title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document.body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document.URL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document.domain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C4A-5795-4B01-9D97-4D581D89A2E2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-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3045861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737" y="1566238"/>
            <a:ext cx="8582526" cy="4206542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.getElementById</a:t>
            </a:r>
            <a:r>
              <a:rPr lang="en-US" altLang="ko-KR" dirty="0"/>
              <a:t>(</a:t>
            </a:r>
            <a:r>
              <a:rPr lang="ko-KR" altLang="en-US" dirty="0"/>
              <a:t>아이디</a:t>
            </a:r>
            <a:r>
              <a:rPr lang="en-US" altLang="ko-KR" dirty="0"/>
              <a:t> </a:t>
            </a:r>
            <a:r>
              <a:rPr lang="ko-KR" altLang="en-US" dirty="0"/>
              <a:t>속성값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ByClassName</a:t>
            </a:r>
            <a:r>
              <a:rPr lang="en-US" altLang="ko-KR" dirty="0"/>
              <a:t>(</a:t>
            </a:r>
            <a:r>
              <a:rPr lang="ko-KR" altLang="en-US" dirty="0"/>
              <a:t>클래스 속성값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ByTagName</a:t>
            </a:r>
            <a:r>
              <a:rPr lang="en-US" altLang="ko-KR" dirty="0"/>
              <a:t>(</a:t>
            </a:r>
            <a:r>
              <a:rPr lang="ko-KR" altLang="en-US" dirty="0"/>
              <a:t>태그 이름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ByName</a:t>
            </a:r>
            <a:r>
              <a:rPr lang="en-US" altLang="ko-KR" dirty="0"/>
              <a:t>(name</a:t>
            </a:r>
            <a:r>
              <a:rPr lang="ko-KR" altLang="en-US" dirty="0"/>
              <a:t> 속성값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.querySelector</a:t>
            </a:r>
            <a:r>
              <a:rPr lang="en-US" altLang="ko-KR" dirty="0"/>
              <a:t>(CSS </a:t>
            </a:r>
            <a:r>
              <a:rPr lang="ko-KR" altLang="en-US" dirty="0" err="1"/>
              <a:t>선택자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.querySelectorAll</a:t>
            </a:r>
            <a:r>
              <a:rPr lang="en-US" altLang="ko-KR" dirty="0"/>
              <a:t>(CSS </a:t>
            </a:r>
            <a:r>
              <a:rPr lang="ko-KR" altLang="en-US" dirty="0" err="1"/>
              <a:t>선택자</a:t>
            </a:r>
            <a:r>
              <a:rPr lang="en-US" altLang="ko-KR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선택</a:t>
            </a:r>
          </a:p>
        </p:txBody>
      </p:sp>
    </p:spTree>
    <p:extLst>
      <p:ext uri="{BB962C8B-B14F-4D97-AF65-F5344CB8AC3E}">
        <p14:creationId xmlns:p14="http://schemas.microsoft.com/office/powerpoint/2010/main" val="1708424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282" y="1566238"/>
            <a:ext cx="10228333" cy="4206542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텍스트 내용 변경하기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textContent</a:t>
            </a:r>
            <a:r>
              <a:rPr lang="en-US" altLang="ko-KR" dirty="0"/>
              <a:t> = “</a:t>
            </a:r>
            <a:r>
              <a:rPr lang="ko-KR" altLang="en-US" dirty="0"/>
              <a:t>새로운 내용</a:t>
            </a:r>
            <a:r>
              <a:rPr lang="en-US" altLang="ko-KR" dirty="0"/>
              <a:t>”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HTML </a:t>
            </a:r>
            <a:r>
              <a:rPr lang="ko-KR" altLang="en-US" dirty="0"/>
              <a:t>내용 변경하기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innerHTML</a:t>
            </a:r>
            <a:r>
              <a:rPr lang="en-US" altLang="ko-KR" dirty="0"/>
              <a:t> = “&lt;p&gt; </a:t>
            </a:r>
            <a:r>
              <a:rPr lang="ko-KR" altLang="en-US" dirty="0"/>
              <a:t>새로운 </a:t>
            </a:r>
            <a:r>
              <a:rPr lang="en-US" altLang="ko-KR" dirty="0"/>
              <a:t>HTML </a:t>
            </a:r>
            <a:r>
              <a:rPr lang="ko-KR" altLang="en-US" dirty="0"/>
              <a:t>내용 </a:t>
            </a:r>
            <a:r>
              <a:rPr lang="en-US" altLang="ko-KR" dirty="0"/>
              <a:t>&lt;/p&gt;”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CSS</a:t>
            </a:r>
            <a:r>
              <a:rPr lang="ko-KR" altLang="en-US" dirty="0"/>
              <a:t> 스타일 변경하기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style.color</a:t>
            </a:r>
            <a:r>
              <a:rPr lang="en-US" altLang="ko-KR" dirty="0"/>
              <a:t> = “blue”;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CSS </a:t>
            </a:r>
            <a:r>
              <a:rPr lang="ko-KR" altLang="en-US" dirty="0"/>
              <a:t>클래스 추가</a:t>
            </a:r>
            <a:r>
              <a:rPr lang="en-US" altLang="ko-KR" dirty="0"/>
              <a:t>/</a:t>
            </a:r>
            <a:r>
              <a:rPr lang="ko-KR" altLang="en-US" dirty="0"/>
              <a:t>제거하기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classList.add</a:t>
            </a:r>
            <a:r>
              <a:rPr lang="en-US" altLang="ko-KR" dirty="0"/>
              <a:t>(“</a:t>
            </a:r>
            <a:r>
              <a:rPr lang="en-US" altLang="ko-KR" dirty="0" err="1"/>
              <a:t>newClass</a:t>
            </a:r>
            <a:r>
              <a:rPr lang="en-US" altLang="ko-KR" dirty="0"/>
              <a:t>”) / .remove(“</a:t>
            </a:r>
            <a:r>
              <a:rPr lang="en-US" altLang="ko-KR" dirty="0" err="1"/>
              <a:t>oldClass</a:t>
            </a:r>
            <a:r>
              <a:rPr lang="en-US" altLang="ko-KR" dirty="0"/>
              <a:t>”)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조작</a:t>
            </a:r>
          </a:p>
        </p:txBody>
      </p:sp>
    </p:spTree>
    <p:extLst>
      <p:ext uri="{BB962C8B-B14F-4D97-AF65-F5344CB8AC3E}">
        <p14:creationId xmlns:p14="http://schemas.microsoft.com/office/powerpoint/2010/main" val="1242436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43" y="1357931"/>
            <a:ext cx="9232799" cy="4764506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ko-KR" dirty="0" err="1"/>
              <a:t>document.createElement</a:t>
            </a:r>
            <a:r>
              <a:rPr lang="en-US" altLang="ko-KR" dirty="0"/>
              <a:t>(html</a:t>
            </a:r>
            <a:r>
              <a:rPr lang="ko-KR" altLang="en-US" dirty="0"/>
              <a:t>요소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document.write</a:t>
            </a:r>
            <a:r>
              <a:rPr lang="en-US" altLang="ko-KR" dirty="0"/>
              <a:t>(</a:t>
            </a:r>
            <a:r>
              <a:rPr lang="ko-KR" altLang="en-US" dirty="0"/>
              <a:t>텍스트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[].</a:t>
            </a:r>
            <a:r>
              <a:rPr lang="en-US" altLang="ko-KR" dirty="0" err="1"/>
              <a:t>appendChild</a:t>
            </a:r>
            <a:r>
              <a:rPr lang="en-US" altLang="ko-KR" dirty="0"/>
              <a:t>();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[].</a:t>
            </a:r>
            <a:r>
              <a:rPr lang="en-US" altLang="ko-KR" dirty="0" err="1"/>
              <a:t>removeChild</a:t>
            </a:r>
            <a:r>
              <a:rPr lang="en-US" altLang="ko-KR" dirty="0"/>
              <a:t>();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sz="2800" dirty="0"/>
              <a:t>[].append();</a:t>
            </a:r>
          </a:p>
          <a:p>
            <a:pPr>
              <a:lnSpc>
                <a:spcPct val="120000"/>
              </a:lnSpc>
            </a:pPr>
            <a:r>
              <a:rPr lang="en-US" altLang="ko-KR" sz="2800" dirty="0"/>
              <a:t>[].remove();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생성 및 추가</a:t>
            </a:r>
          </a:p>
        </p:txBody>
      </p:sp>
    </p:spTree>
    <p:extLst>
      <p:ext uri="{BB962C8B-B14F-4D97-AF65-F5344CB8AC3E}">
        <p14:creationId xmlns:p14="http://schemas.microsoft.com/office/powerpoint/2010/main" val="3143092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27AD15-D25B-6A6E-B7B5-3FF09692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575FE-1085-1D51-919D-F906590B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86331C6-E35A-818C-124F-3140B577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다루기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7AB53-8642-342B-1357-3DC699502E7B}"/>
              </a:ext>
            </a:extLst>
          </p:cNvPr>
          <p:cNvSpPr txBox="1"/>
          <p:nvPr/>
        </p:nvSpPr>
        <p:spPr>
          <a:xfrm>
            <a:off x="503055" y="2637468"/>
            <a:ext cx="11185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>
                <a:effectLst/>
              </a:rPr>
              <a:t>append()</a:t>
            </a:r>
            <a:r>
              <a:rPr lang="ko-KR" altLang="en-US" sz="5400" dirty="0">
                <a:effectLst/>
              </a:rPr>
              <a:t>와 </a:t>
            </a:r>
            <a:r>
              <a:rPr lang="en-US" altLang="ko-KR" sz="5400" dirty="0" err="1">
                <a:effectLst/>
              </a:rPr>
              <a:t>appendChild</a:t>
            </a:r>
            <a:r>
              <a:rPr lang="en-US" altLang="ko-KR" sz="5400" dirty="0">
                <a:effectLst/>
              </a:rPr>
              <a:t>()</a:t>
            </a:r>
            <a:r>
              <a:rPr lang="en-US" altLang="ko-KR" sz="5400" dirty="0"/>
              <a:t>  </a:t>
            </a:r>
            <a:r>
              <a:rPr lang="ko-KR" altLang="en-US" sz="5400" dirty="0">
                <a:solidFill>
                  <a:srgbClr val="FF0000"/>
                </a:solidFill>
                <a:effectLst/>
              </a:rPr>
              <a:t>차이점</a:t>
            </a:r>
            <a:r>
              <a:rPr lang="ko-KR" altLang="en-US" sz="5400" dirty="0">
                <a:effectLst/>
              </a:rPr>
              <a:t>은</a:t>
            </a:r>
            <a:r>
              <a:rPr lang="en-US" altLang="ko-KR" sz="5400" dirty="0">
                <a:effectLst/>
              </a:rPr>
              <a:t>?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1254947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27AD15-D25B-6A6E-B7B5-3FF09692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575FE-1085-1D51-919D-F906590B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86331C6-E35A-818C-124F-3140B577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다루기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7AB53-8642-342B-1357-3DC699502E7B}"/>
              </a:ext>
            </a:extLst>
          </p:cNvPr>
          <p:cNvSpPr txBox="1"/>
          <p:nvPr/>
        </p:nvSpPr>
        <p:spPr>
          <a:xfrm>
            <a:off x="503055" y="2637468"/>
            <a:ext cx="11185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/>
              <a:t>remove</a:t>
            </a:r>
            <a:r>
              <a:rPr lang="en-US" altLang="ko-KR" sz="5400" dirty="0">
                <a:effectLst/>
              </a:rPr>
              <a:t>()</a:t>
            </a:r>
            <a:r>
              <a:rPr lang="ko-KR" altLang="en-US" sz="5400" dirty="0">
                <a:effectLst/>
              </a:rPr>
              <a:t>와 </a:t>
            </a:r>
            <a:r>
              <a:rPr lang="en-US" altLang="ko-KR" sz="5400" dirty="0" err="1">
                <a:effectLst/>
              </a:rPr>
              <a:t>removeChild</a:t>
            </a:r>
            <a:r>
              <a:rPr lang="en-US" altLang="ko-KR" sz="5400" dirty="0">
                <a:effectLst/>
              </a:rPr>
              <a:t>()</a:t>
            </a:r>
            <a:r>
              <a:rPr lang="en-US" altLang="ko-KR" sz="5400" dirty="0"/>
              <a:t>  </a:t>
            </a:r>
            <a:r>
              <a:rPr lang="ko-KR" altLang="en-US" sz="5400" dirty="0">
                <a:solidFill>
                  <a:srgbClr val="FF0000"/>
                </a:solidFill>
                <a:effectLst/>
              </a:rPr>
              <a:t>차이점</a:t>
            </a:r>
            <a:r>
              <a:rPr lang="ko-KR" altLang="en-US" sz="5400" dirty="0">
                <a:effectLst/>
              </a:rPr>
              <a:t>은</a:t>
            </a:r>
            <a:r>
              <a:rPr lang="en-US" altLang="ko-KR" sz="5400" dirty="0">
                <a:effectLst/>
              </a:rPr>
              <a:t>?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744094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683" y="3756086"/>
            <a:ext cx="10288475" cy="255815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힌트 </a:t>
            </a:r>
            <a:r>
              <a:rPr lang="en-US" altLang="ko-KR" dirty="0"/>
              <a:t>1) id </a:t>
            </a:r>
            <a:r>
              <a:rPr lang="ko-KR" altLang="en-US" dirty="0"/>
              <a:t>속성이 </a:t>
            </a:r>
            <a:r>
              <a:rPr lang="en-US" altLang="ko-KR" dirty="0"/>
              <a:t>“value1”</a:t>
            </a:r>
            <a:r>
              <a:rPr lang="ko-KR" altLang="en-US" dirty="0"/>
              <a:t>인 </a:t>
            </a:r>
            <a:r>
              <a:rPr lang="en-US" altLang="ko-KR" dirty="0"/>
              <a:t>input </a:t>
            </a:r>
            <a:r>
              <a:rPr lang="ko-KR" altLang="en-US" dirty="0"/>
              <a:t>값 가져와</a:t>
            </a:r>
            <a:r>
              <a:rPr lang="en-US" altLang="ko-KR" dirty="0"/>
              <a:t> </a:t>
            </a:r>
            <a:r>
              <a:rPr lang="ko-KR" altLang="en-US" dirty="0"/>
              <a:t>변수에 넣기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	</a:t>
            </a:r>
            <a:r>
              <a:rPr lang="ko-KR" altLang="en-US" sz="2400" dirty="0"/>
              <a:t>변수 </a:t>
            </a:r>
            <a:r>
              <a:rPr lang="en-US" altLang="ko-KR" sz="2400" dirty="0"/>
              <a:t>= </a:t>
            </a:r>
            <a:r>
              <a:rPr lang="en-US" altLang="ko-KR" sz="2400" dirty="0" err="1"/>
              <a:t>document.getElementById</a:t>
            </a:r>
            <a:r>
              <a:rPr lang="en-US" altLang="ko-KR" sz="2400" dirty="0"/>
              <a:t>(“value1”).value;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힌트 </a:t>
            </a:r>
            <a:r>
              <a:rPr lang="en-US" altLang="ko-KR" dirty="0"/>
              <a:t>2) id </a:t>
            </a:r>
            <a:r>
              <a:rPr lang="ko-KR" altLang="en-US" dirty="0"/>
              <a:t>속성이 </a:t>
            </a:r>
            <a:r>
              <a:rPr lang="en-US" altLang="ko-KR" dirty="0"/>
              <a:t>“value1”</a:t>
            </a:r>
            <a:r>
              <a:rPr lang="ko-KR" altLang="en-US" dirty="0"/>
              <a:t>인 </a:t>
            </a:r>
            <a:r>
              <a:rPr lang="en-US" altLang="ko-KR" dirty="0"/>
              <a:t>input</a:t>
            </a:r>
            <a:r>
              <a:rPr lang="ko-KR" altLang="en-US" dirty="0"/>
              <a:t>에 값 넣기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	</a:t>
            </a:r>
            <a:r>
              <a:rPr lang="en-US" altLang="ko-KR" sz="2400" b="0" dirty="0" err="1">
                <a:effectLst/>
                <a:latin typeface="+mn-ea"/>
              </a:rPr>
              <a:t>document.getElementById</a:t>
            </a:r>
            <a:r>
              <a:rPr lang="en-US" altLang="ko-KR" sz="2400" b="0" dirty="0">
                <a:effectLst/>
                <a:latin typeface="+mn-ea"/>
              </a:rPr>
              <a:t>(“</a:t>
            </a:r>
            <a:r>
              <a:rPr lang="en-US" altLang="ko-KR" sz="2400" dirty="0">
                <a:latin typeface="+mn-ea"/>
              </a:rPr>
              <a:t>value1</a:t>
            </a:r>
            <a:r>
              <a:rPr lang="en-US" altLang="ko-KR" sz="2400" b="0" dirty="0">
                <a:effectLst/>
                <a:latin typeface="+mn-ea"/>
              </a:rPr>
              <a:t>").value = </a:t>
            </a:r>
            <a:r>
              <a:rPr lang="ko-KR" altLang="en-US" sz="2400" dirty="0">
                <a:latin typeface="+mn-ea"/>
              </a:rPr>
              <a:t>값</a:t>
            </a:r>
            <a:r>
              <a:rPr lang="en-US" altLang="ko-KR" sz="2400" b="0" dirty="0">
                <a:effectLst/>
                <a:latin typeface="+mn-ea"/>
              </a:rPr>
              <a:t>;</a:t>
            </a:r>
            <a:endParaRPr lang="en-US" altLang="ko-KR" b="0" dirty="0">
              <a:effectLst/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94F4-268E-4B47-97B8-5DBF3FCF6BB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간단 계산기 만들기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093B82-51F4-97A7-316A-66868CF5CF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763"/>
          <a:stretch/>
        </p:blipFill>
        <p:spPr>
          <a:xfrm>
            <a:off x="584986" y="1191807"/>
            <a:ext cx="5511014" cy="2564279"/>
          </a:xfrm>
          <a:prstGeom prst="rect">
            <a:avLst/>
          </a:prstGeom>
        </p:spPr>
      </p:pic>
      <p:sp>
        <p:nvSpPr>
          <p:cNvPr id="7" name="화살표: 왼쪽 6">
            <a:extLst>
              <a:ext uri="{FF2B5EF4-FFF2-40B4-BE49-F238E27FC236}">
                <a16:creationId xmlns:a16="http://schemas.microsoft.com/office/drawing/2014/main" id="{0E6C8091-BE65-CFE5-C1FF-AC0096915AC5}"/>
              </a:ext>
            </a:extLst>
          </p:cNvPr>
          <p:cNvSpPr/>
          <p:nvPr/>
        </p:nvSpPr>
        <p:spPr>
          <a:xfrm>
            <a:off x="4298168" y="1441550"/>
            <a:ext cx="414469" cy="32035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4156985-C1CE-96B0-184D-062EB07FF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637" y="1332243"/>
            <a:ext cx="7315290" cy="59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42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737" y="3429000"/>
            <a:ext cx="6705602" cy="288523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b="0" dirty="0">
                <a:effectLst/>
                <a:latin typeface="+mn-ea"/>
              </a:rPr>
              <a:t>작성자와 내용을 쓰고 </a:t>
            </a:r>
            <a:r>
              <a:rPr lang="en-US" altLang="ko-KR" b="0" dirty="0">
                <a:effectLst/>
                <a:latin typeface="+mn-ea"/>
              </a:rPr>
              <a:t>“</a:t>
            </a:r>
            <a:r>
              <a:rPr lang="ko-KR" altLang="en-US" b="0" dirty="0">
                <a:effectLst/>
                <a:latin typeface="+mn-ea"/>
              </a:rPr>
              <a:t>작성</a:t>
            </a:r>
            <a:r>
              <a:rPr lang="en-US" altLang="ko-KR" b="0" dirty="0">
                <a:effectLst/>
                <a:latin typeface="+mn-ea"/>
              </a:rPr>
              <a:t>“ </a:t>
            </a:r>
            <a:r>
              <a:rPr lang="ko-KR" altLang="en-US" b="0" dirty="0">
                <a:effectLst/>
                <a:latin typeface="+mn-ea"/>
              </a:rPr>
              <a:t>을 누르면 아래 </a:t>
            </a:r>
            <a:r>
              <a:rPr lang="en-US" altLang="ko-KR" b="0" dirty="0">
                <a:effectLst/>
                <a:latin typeface="+mn-ea"/>
              </a:rPr>
              <a:t>table</a:t>
            </a:r>
            <a:r>
              <a:rPr lang="ko-KR" altLang="en-US" b="0" dirty="0">
                <a:effectLst/>
                <a:latin typeface="+mn-ea"/>
              </a:rPr>
              <a:t> 에 추가</a:t>
            </a:r>
            <a:endParaRPr lang="en-US" altLang="ko-KR" b="0" dirty="0">
              <a:effectLst/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ko-KR" dirty="0"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b="0" dirty="0">
                <a:effectLst/>
                <a:latin typeface="+mn-ea"/>
              </a:rPr>
              <a:t>이때</a:t>
            </a:r>
            <a:r>
              <a:rPr lang="en-US" altLang="ko-KR" b="0" dirty="0">
                <a:effectLst/>
                <a:latin typeface="+mn-ea"/>
              </a:rPr>
              <a:t>, </a:t>
            </a:r>
            <a:r>
              <a:rPr lang="ko-KR" altLang="en-US" b="0" dirty="0">
                <a:effectLst/>
                <a:latin typeface="+mn-ea"/>
              </a:rPr>
              <a:t>작성일은 작성한 시간이 되어야 한다</a:t>
            </a:r>
            <a:r>
              <a:rPr lang="en-US" altLang="ko-KR" b="0" dirty="0">
                <a:effectLst/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5C5-EB1E-432B-A1EC-7DC8377B728C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방명록 만들기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8957CB8-00A6-4AA5-D0B3-4903F1EAE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" y="1246898"/>
            <a:ext cx="479107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620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934</TotalTime>
  <Words>1279</Words>
  <Application>Microsoft Office PowerPoint</Application>
  <PresentationFormat>와이드스크린</PresentationFormat>
  <Paragraphs>326</Paragraphs>
  <Slides>32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Inter</vt:lpstr>
      <vt:lpstr>PretendardGOV</vt:lpstr>
      <vt:lpstr>Söhne</vt:lpstr>
      <vt:lpstr>맑은 고딕</vt:lpstr>
      <vt:lpstr>Arial</vt:lpstr>
      <vt:lpstr>Wingdings</vt:lpstr>
      <vt:lpstr>2_Office 테마</vt:lpstr>
      <vt:lpstr>웹 개발자 부트캠프 과정</vt:lpstr>
      <vt:lpstr>PowerPoint 프레젠테이션</vt:lpstr>
      <vt:lpstr>JavaScript 객체</vt:lpstr>
      <vt:lpstr>JavaScript 자료형</vt:lpstr>
      <vt:lpstr>Primitive 자료형</vt:lpstr>
      <vt:lpstr>Object 자료형</vt:lpstr>
      <vt:lpstr>객체</vt:lpstr>
      <vt:lpstr>객체</vt:lpstr>
      <vt:lpstr>기본 자료형 vs 객체 자료형</vt:lpstr>
      <vt:lpstr>Object 자료형 - 배열</vt:lpstr>
      <vt:lpstr>Object 자료형 - 배열</vt:lpstr>
      <vt:lpstr>Object 자료형 - 딕셔너리</vt:lpstr>
      <vt:lpstr>JavaScript 표준객체</vt:lpstr>
      <vt:lpstr>JavaScript 표준 객체</vt:lpstr>
      <vt:lpstr>Date 객체</vt:lpstr>
      <vt:lpstr>Date 객체 - 함수</vt:lpstr>
      <vt:lpstr>Math 객체</vt:lpstr>
      <vt:lpstr>Math 객체 - 함수</vt:lpstr>
      <vt:lpstr>JavaScript DOM</vt:lpstr>
      <vt:lpstr>DOM</vt:lpstr>
      <vt:lpstr>DOM</vt:lpstr>
      <vt:lpstr>DOM</vt:lpstr>
      <vt:lpstr>JavaScript Document</vt:lpstr>
      <vt:lpstr>Document</vt:lpstr>
      <vt:lpstr>Document - 속성</vt:lpstr>
      <vt:lpstr>Document – 요소 선택</vt:lpstr>
      <vt:lpstr>Document – 요소 조작</vt:lpstr>
      <vt:lpstr>Document – 요소 생성 및 추가</vt:lpstr>
      <vt:lpstr>Document – 요소 다루기</vt:lpstr>
      <vt:lpstr>Document – 요소 다루기</vt:lpstr>
      <vt:lpstr>실습. 간단 계산기 만들기</vt:lpstr>
      <vt:lpstr>실습. 방명록 만들기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139</cp:revision>
  <dcterms:created xsi:type="dcterms:W3CDTF">2022-06-26T11:10:22Z</dcterms:created>
  <dcterms:modified xsi:type="dcterms:W3CDTF">2024-05-10T12:07:39Z</dcterms:modified>
</cp:coreProperties>
</file>