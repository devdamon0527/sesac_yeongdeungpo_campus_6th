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20"/>
  </p:notesMasterIdLst>
  <p:sldIdLst>
    <p:sldId id="675" r:id="rId2"/>
    <p:sldId id="682" r:id="rId3"/>
    <p:sldId id="291" r:id="rId4"/>
    <p:sldId id="331" r:id="rId5"/>
    <p:sldId id="288" r:id="rId6"/>
    <p:sldId id="289" r:id="rId7"/>
    <p:sldId id="343" r:id="rId8"/>
    <p:sldId id="262" r:id="rId9"/>
    <p:sldId id="292" r:id="rId10"/>
    <p:sldId id="290" r:id="rId11"/>
    <p:sldId id="266" r:id="rId12"/>
    <p:sldId id="267" r:id="rId13"/>
    <p:sldId id="269" r:id="rId14"/>
    <p:sldId id="268" r:id="rId15"/>
    <p:sldId id="293" r:id="rId16"/>
    <p:sldId id="296" r:id="rId17"/>
    <p:sldId id="332" r:id="rId18"/>
    <p:sldId id="344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C173"/>
    <a:srgbClr val="F99F2C"/>
    <a:srgbClr val="F9A1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72" autoAdjust="0"/>
    <p:restoredTop sz="74262" autoAdjust="0"/>
  </p:normalViewPr>
  <p:slideViewPr>
    <p:cSldViewPr snapToGrid="0">
      <p:cViewPr varScale="1">
        <p:scale>
          <a:sx n="82" d="100"/>
          <a:sy n="82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217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3F159-7250-4DD4-91C2-13B35D56E1AF}" type="datetimeFigureOut">
              <a:rPr lang="ko-KR" altLang="en-US" smtClean="0"/>
              <a:t>2024-05-20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E5BFC-1559-42F1-8940-AB342D56B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45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5598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웹 </a:t>
            </a:r>
            <a:r>
              <a:rPr lang="ko-KR" altLang="en-US" dirty="0" err="1"/>
              <a:t>퍼블리셔</a:t>
            </a:r>
            <a:r>
              <a:rPr lang="en-US" altLang="ko-KR" dirty="0"/>
              <a:t>, </a:t>
            </a:r>
            <a:r>
              <a:rPr lang="ko-KR" altLang="en-US" dirty="0" err="1"/>
              <a:t>프론트엔드</a:t>
            </a:r>
            <a:r>
              <a:rPr lang="ko-KR" altLang="en-US" dirty="0"/>
              <a:t> 개발자 희망한다</a:t>
            </a:r>
            <a:r>
              <a:rPr lang="en-US" altLang="ko-KR" dirty="0"/>
              <a:t>? </a:t>
            </a:r>
            <a:r>
              <a:rPr lang="ko-KR" altLang="en-US" dirty="0"/>
              <a:t>중요</a:t>
            </a:r>
            <a:r>
              <a:rPr lang="en-US" altLang="ko-KR" dirty="0"/>
              <a:t>! </a:t>
            </a:r>
            <a:r>
              <a:rPr lang="ko-KR" altLang="en-US" dirty="0" err="1"/>
              <a:t>집중집중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2850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내가 좋아하는 </a:t>
            </a:r>
            <a:r>
              <a:rPr lang="ko-KR" altLang="en-US" dirty="0" err="1"/>
              <a:t>미니언</a:t>
            </a:r>
            <a:r>
              <a:rPr lang="ko-KR" altLang="en-US" dirty="0"/>
              <a:t> 등장 </a:t>
            </a:r>
            <a:r>
              <a:rPr lang="en-US" altLang="ko-KR" dirty="0"/>
              <a:t>&gt;_&lt;</a:t>
            </a:r>
          </a:p>
          <a:p>
            <a:endParaRPr lang="en-US" altLang="ko-KR" dirty="0"/>
          </a:p>
          <a:p>
            <a:r>
              <a:rPr lang="ko-KR" altLang="en-US" dirty="0"/>
              <a:t>문장에</a:t>
            </a:r>
            <a:r>
              <a:rPr lang="en-US" altLang="ko-KR" dirty="0"/>
              <a:t> </a:t>
            </a:r>
            <a:r>
              <a:rPr lang="ko-KR" altLang="en-US" dirty="0"/>
              <a:t>비유하기</a:t>
            </a:r>
            <a:endParaRPr lang="en-US" altLang="ko-KR" dirty="0"/>
          </a:p>
          <a:p>
            <a:r>
              <a:rPr lang="en-US" altLang="ko-KR" dirty="0"/>
              <a:t>- HTML:</a:t>
            </a:r>
            <a:r>
              <a:rPr lang="ko-KR" altLang="en-US" dirty="0"/>
              <a:t> 명사</a:t>
            </a:r>
            <a:endParaRPr lang="en-US" altLang="ko-KR" dirty="0"/>
          </a:p>
          <a:p>
            <a:r>
              <a:rPr lang="en-US" altLang="ko-KR" b="1" dirty="0"/>
              <a:t>- CSS: </a:t>
            </a:r>
            <a:r>
              <a:rPr lang="ko-KR" altLang="en-US" b="1" dirty="0"/>
              <a:t>형용사</a:t>
            </a:r>
            <a:endParaRPr lang="en-US" altLang="ko-KR" b="1" dirty="0"/>
          </a:p>
          <a:p>
            <a:r>
              <a:rPr lang="en-US" altLang="ko-KR" dirty="0"/>
              <a:t>- JS: </a:t>
            </a:r>
            <a:r>
              <a:rPr lang="ko-KR" altLang="en-US" dirty="0"/>
              <a:t>동사</a:t>
            </a:r>
            <a:br>
              <a:rPr lang="en-US" altLang="ko-KR" dirty="0"/>
            </a:b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248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캐스케이딩</a:t>
            </a:r>
            <a:r>
              <a:rPr lang="ko-KR" altLang="en-US" dirty="0"/>
              <a:t> 스타일시트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324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빈 집</a:t>
            </a:r>
            <a:r>
              <a:rPr lang="en-US" altLang="ko-KR" dirty="0"/>
              <a:t>, </a:t>
            </a:r>
            <a:r>
              <a:rPr lang="ko-KR" altLang="en-US" dirty="0"/>
              <a:t>인테리어 이쁘게 된 집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608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어떻게 될까</a:t>
            </a:r>
            <a:r>
              <a:rPr lang="en-US" altLang="ko-KR" dirty="0"/>
              <a:t>? </a:t>
            </a:r>
          </a:p>
          <a:p>
            <a:endParaRPr lang="en-US" altLang="ko-KR" dirty="0"/>
          </a:p>
          <a:p>
            <a:r>
              <a:rPr lang="en-US" altLang="ko-KR" dirty="0"/>
              <a:t>Apple </a:t>
            </a:r>
            <a:r>
              <a:rPr lang="ko-KR" altLang="en-US" dirty="0"/>
              <a:t>사이트 접속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85608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개발자도구</a:t>
            </a:r>
            <a:r>
              <a:rPr lang="ko-KR" altLang="en-US" dirty="0"/>
              <a:t> 단축키</a:t>
            </a:r>
            <a:r>
              <a:rPr lang="en-US" altLang="ko-KR" dirty="0"/>
              <a:t> </a:t>
            </a:r>
          </a:p>
          <a:p>
            <a:r>
              <a:rPr lang="en-US" altLang="ko-KR" dirty="0"/>
              <a:t>windows:</a:t>
            </a:r>
            <a:r>
              <a:rPr lang="ko-KR" altLang="en-US" dirty="0"/>
              <a:t> </a:t>
            </a:r>
            <a:r>
              <a:rPr lang="en-US" altLang="ko-KR" dirty="0"/>
              <a:t>f12,  ctrl  + shift + </a:t>
            </a:r>
            <a:r>
              <a:rPr lang="en-US" altLang="ko-KR" dirty="0" err="1"/>
              <a:t>i</a:t>
            </a:r>
            <a:r>
              <a:rPr lang="en-US" altLang="ko-KR" baseline="0" dirty="0"/>
              <a:t> </a:t>
            </a:r>
            <a:r>
              <a:rPr lang="ko-KR" altLang="en-US" baseline="0" dirty="0"/>
              <a:t>브라우저 </a:t>
            </a:r>
            <a:r>
              <a:rPr lang="ko-KR" altLang="en-US" baseline="0" dirty="0" err="1"/>
              <a:t>우클릭</a:t>
            </a:r>
            <a:r>
              <a:rPr lang="en-US" altLang="ko-KR" baseline="0" dirty="0"/>
              <a:t> </a:t>
            </a:r>
            <a:r>
              <a:rPr lang="en-US" altLang="ko-KR" baseline="0" dirty="0">
                <a:sym typeface="Wingdings" panose="05000000000000000000" pitchFamily="2" charset="2"/>
              </a:rPr>
              <a:t> </a:t>
            </a:r>
            <a:r>
              <a:rPr lang="ko-KR" altLang="en-US" baseline="0" dirty="0">
                <a:sym typeface="Wingdings" panose="05000000000000000000" pitchFamily="2" charset="2"/>
              </a:rPr>
              <a:t> 검사</a:t>
            </a:r>
            <a:endParaRPr lang="en-US" altLang="ko-KR" baseline="0" dirty="0">
              <a:sym typeface="Wingdings" panose="05000000000000000000" pitchFamily="2" charset="2"/>
            </a:endParaRPr>
          </a:p>
          <a:p>
            <a:r>
              <a:rPr lang="en-US" altLang="ko-KR" dirty="0"/>
              <a:t>MAC</a:t>
            </a:r>
            <a:r>
              <a:rPr lang="en-US" altLang="ko-KR" baseline="0" dirty="0"/>
              <a:t>  :   option command I</a:t>
            </a:r>
          </a:p>
          <a:p>
            <a:endParaRPr lang="en-US" altLang="ko-KR" baseline="0" dirty="0"/>
          </a:p>
          <a:p>
            <a:r>
              <a:rPr lang="ko-KR" altLang="en-US" dirty="0"/>
              <a:t>앞으로 많이 친해져야 하는 친구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다루는법</a:t>
            </a:r>
            <a:r>
              <a:rPr lang="ko-KR" altLang="en-US" dirty="0"/>
              <a:t> 설명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요소 확인</a:t>
            </a:r>
            <a:r>
              <a:rPr lang="en-US" altLang="ko-KR" dirty="0"/>
              <a:t> (HTML </a:t>
            </a:r>
            <a:r>
              <a:rPr lang="ko-KR" altLang="en-US" dirty="0"/>
              <a:t>구조</a:t>
            </a:r>
            <a:r>
              <a:rPr lang="en-US" altLang="ko-KR" dirty="0"/>
              <a:t>)</a:t>
            </a:r>
          </a:p>
          <a:p>
            <a:pPr marL="228600" indent="-228600">
              <a:buAutoNum type="arabicPeriod"/>
            </a:pPr>
            <a:r>
              <a:rPr lang="ko-KR" altLang="en-US" dirty="0"/>
              <a:t>코드 위치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모바일 버전 확인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콘솔 확인</a:t>
            </a:r>
            <a:endParaRPr lang="en-US" altLang="ko-KR" dirty="0"/>
          </a:p>
          <a:p>
            <a:pPr marL="228600" indent="-228600">
              <a:buAutoNum type="arabicPeriod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937FEB-0363-4A76-9B5C-2F2FC2E9CA7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56476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styleSheet</a:t>
            </a:r>
            <a:r>
              <a:rPr lang="ko-KR" altLang="en-US" dirty="0"/>
              <a:t> 찾아서 지워버리자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21112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/>
              <a:t>참조 방식 </a:t>
            </a:r>
            <a:r>
              <a:rPr lang="en-US" altLang="ko-KR" dirty="0"/>
              <a:t>3</a:t>
            </a:r>
            <a:r>
              <a:rPr lang="ko-KR" altLang="en-US" dirty="0"/>
              <a:t>가지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사용하는 방법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63122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Inline </a:t>
            </a:r>
          </a:p>
          <a:p>
            <a:endParaRPr lang="en-US" altLang="ko-KR" dirty="0"/>
          </a:p>
          <a:p>
            <a:r>
              <a:rPr lang="ko-KR" altLang="en-US" dirty="0"/>
              <a:t>말 그대로 라인 안에 넣어준다고 생각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Style </a:t>
            </a:r>
            <a:r>
              <a:rPr lang="ko-KR" altLang="en-US" dirty="0"/>
              <a:t>속성을 사용하여 해당 요소에 직접 스타일 적용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너만 </a:t>
            </a:r>
            <a:r>
              <a:rPr lang="ko-KR" altLang="en-US" dirty="0" err="1"/>
              <a:t>적용시킬거야</a:t>
            </a:r>
            <a:r>
              <a:rPr lang="en-US" altLang="ko-KR" dirty="0"/>
              <a:t>,</a:t>
            </a:r>
            <a:r>
              <a:rPr lang="ko-KR" altLang="en-US" dirty="0"/>
              <a:t> 너만 </a:t>
            </a:r>
            <a:r>
              <a:rPr lang="ko-KR" altLang="en-US" dirty="0" err="1"/>
              <a:t>바꿀꺼야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937FEB-0363-4A76-9B5C-2F2FC2E9CA7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59276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ko-KR" b="0" i="0" dirty="0">
                <a:solidFill>
                  <a:srgbClr val="FFFFFF"/>
                </a:solidFill>
                <a:effectLst/>
                <a:highlight>
                  <a:srgbClr val="0D0D0D"/>
                </a:highlight>
                <a:latin typeface="Söhne Mono"/>
              </a:rPr>
              <a:t>h1, h2, h3 { </a:t>
            </a:r>
            <a:r>
              <a:rPr lang="pt-BR" altLang="ko-KR" b="0" i="0" dirty="0">
                <a:solidFill>
                  <a:srgbClr val="00A67D"/>
                </a:solidFill>
                <a:effectLst/>
                <a:highlight>
                  <a:srgbClr val="0D0D0D"/>
                </a:highlight>
                <a:latin typeface="Söhne Mono"/>
              </a:rPr>
              <a:t>color</a:t>
            </a:r>
            <a:r>
              <a:rPr lang="pt-BR" altLang="ko-KR" b="0" i="0" dirty="0">
                <a:solidFill>
                  <a:srgbClr val="FFFFFF"/>
                </a:solidFill>
                <a:effectLst/>
                <a:highlight>
                  <a:srgbClr val="0D0D0D"/>
                </a:highlight>
                <a:latin typeface="Söhne Mono"/>
              </a:rPr>
              <a:t>: blue; }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937FEB-0363-4A76-9B5C-2F2FC2E9CA7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6682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7098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따로 </a:t>
            </a:r>
            <a:r>
              <a:rPr lang="en-US" altLang="ko-KR" dirty="0" err="1"/>
              <a:t>css</a:t>
            </a:r>
            <a:r>
              <a:rPr lang="en-US" altLang="ko-KR" dirty="0"/>
              <a:t> </a:t>
            </a:r>
            <a:r>
              <a:rPr lang="ko-KR" altLang="en-US" dirty="0"/>
              <a:t>파일을 만들고 </a:t>
            </a:r>
            <a:r>
              <a:rPr lang="en-US" altLang="ko-KR" dirty="0"/>
              <a:t>html </a:t>
            </a:r>
            <a:r>
              <a:rPr lang="ko-KR" altLang="en-US" dirty="0"/>
              <a:t>파일과 링크로 연결 시킨다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937FEB-0363-4A76-9B5C-2F2FC2E9CA7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10408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얘들보다도 강한</a:t>
            </a:r>
            <a:endParaRPr lang="en-US" altLang="ko-KR" dirty="0"/>
          </a:p>
          <a:p>
            <a:r>
              <a:rPr lang="ko-KR" altLang="en-US" dirty="0"/>
              <a:t>가장 강력한 방법 </a:t>
            </a:r>
            <a:r>
              <a:rPr lang="en-US" altLang="ko-KR" dirty="0"/>
              <a:t>!important </a:t>
            </a:r>
            <a:r>
              <a:rPr lang="ko-KR" altLang="en-US" dirty="0"/>
              <a:t>키워드</a:t>
            </a:r>
            <a:r>
              <a:rPr lang="en-US" altLang="ko-KR" dirty="0"/>
              <a:t>!</a:t>
            </a:r>
          </a:p>
          <a:p>
            <a:r>
              <a:rPr lang="ko-KR" altLang="en-US" dirty="0"/>
              <a:t>다른 모든 우선순위를 무시하고 적용한다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02709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76607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정답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코드치러</a:t>
            </a:r>
            <a:r>
              <a:rPr lang="ko-KR" altLang="en-US" dirty="0"/>
              <a:t> </a:t>
            </a:r>
            <a:r>
              <a:rPr lang="ko-KR" altLang="en-US" dirty="0" err="1"/>
              <a:t>ㄱㄱ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84857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453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80511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6EC173"/>
                </a:solidFill>
              </a:defRPr>
            </a:lvl1pPr>
          </a:lstStyle>
          <a:p>
            <a:r>
              <a:rPr lang="ko-KR" altLang="en-US" sz="6000" dirty="0" err="1"/>
              <a:t>과정명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10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pic>
        <p:nvPicPr>
          <p:cNvPr id="5" name="그림 4" descr="그래픽, 그래픽 디자인, 클립아트, 다채로움이(가) 표시된 사진&#10;&#10;자동 생성된 설명">
            <a:extLst>
              <a:ext uri="{FF2B5EF4-FFF2-40B4-BE49-F238E27FC236}">
                <a16:creationId xmlns:a16="http://schemas.microsoft.com/office/drawing/2014/main" id="{BE5A577B-81A7-2FA6-9E57-9DCEC5BF71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461146"/>
            <a:ext cx="3600000" cy="365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762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2135173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4D0C3-D33B-7107-AB80-D9F33099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4962A2-A4D4-9231-66A1-E1F593E6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205612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01C5-2723-67A2-7D21-9F39D14C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B1E75F-8FF2-A69A-E094-650EAEFD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1FDEF-673D-E199-7B54-FFD44BA2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7087-D460-46DD-B430-F8D9B9677D08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7B47C-D16B-1F66-3165-B941B9C6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13A5C-BE81-C46F-5191-E33C5F0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6756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679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5C29-A87F-46F0-A24C-6C9F0A4BF6AA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5254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9307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160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4360-95AE-5B28-BF6B-21268060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97E12-A7FB-C81A-18C2-34781A068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39CAA1-90A7-601C-BD90-A0DC6A391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885FF0-6BE8-F11D-CDAC-7E7B63F3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5888-30A6-49BB-95E2-DEAE4E5B09E9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A67A35-AF67-BDC9-86E1-D6EE283B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C23707-35CC-08DC-8C13-06293DE5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7323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D7A00-094E-C3F9-1A07-8FD90B7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9F136-9A64-0D06-F721-734E1E224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3BE40-4202-4B4A-C8A7-24945AC6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D21BA2-CA17-A4B0-BBDD-B3995CC8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39A32-5728-48B8-9F9C-437D214CCAF1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5E2437-D7E8-6CA8-856B-7C81E4CF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00DA3E-B239-6A01-347D-5321CBE9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2332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C3B4-86CF-2498-CC6E-A256E4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FE57-EEBD-DC2E-5AAA-A425A6D5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A4B4C-46E0-9C94-5EAC-7237CB6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C8BA-EBCB-4BF9-8E87-970CE0138376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647A-6FF5-9F90-2812-CADD4840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AE80C-7F7A-130E-8BD8-5BA9765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354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8AC244-4A84-09D3-50FB-F934F9F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D64C9-D76D-C43E-C82B-A315CE73F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D0D7C-1A4D-433C-79F6-2C0633D1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FA6E-4699-4AC6-B2CB-4E60A58ED7A8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F9A77-28DF-C409-13B2-D20C80BB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66F88-F4F1-E00D-DC2A-8DBEA270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3051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7DE65-2350-3072-3D26-AE091FE72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797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1C14A-5735-4A8B-B68B-DEC1DC2A3813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0F7DA-0F14-8211-C3E8-B6E466EE4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DDAAB-9487-BAAF-7209-B8E704131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97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6EC173"/>
          </a:solidFill>
          <a:ln>
            <a:solidFill>
              <a:srgbClr val="6EC1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그래픽, 그래픽 디자인, 폰트, 원이(가) 표시된 사진&#10;&#10;자동 생성된 설명">
            <a:extLst>
              <a:ext uri="{FF2B5EF4-FFF2-40B4-BE49-F238E27FC236}">
                <a16:creationId xmlns:a16="http://schemas.microsoft.com/office/drawing/2014/main" id="{0EB71D7B-83F1-1414-954A-8C79751B779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681" y="96056"/>
            <a:ext cx="1260000" cy="2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380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웹 개발자 부트캠프 과정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err="1"/>
              <a:t>CodingOn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3790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BDFA10-ECF7-38FE-C364-618B7085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EAC1192-3240-5090-C940-3FE8EE2E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5DC42BC-3382-7592-84ED-A0A40D69B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11500" dirty="0"/>
              <a:t>CSS</a:t>
            </a:r>
            <a:endParaRPr lang="ko-KR" altLang="en-US" sz="11500" dirty="0"/>
          </a:p>
        </p:txBody>
      </p:sp>
    </p:spTree>
    <p:extLst>
      <p:ext uri="{BB962C8B-B14F-4D97-AF65-F5344CB8AC3E}">
        <p14:creationId xmlns:p14="http://schemas.microsoft.com/office/powerpoint/2010/main" val="3932203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D7CA5C-A72D-FFC1-A78B-FE0820A75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2024-05-20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07EE994-4906-15FA-0A97-CBA23B4A7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6146" name="Picture 2" descr="css란에 대한 이미지 검색결과">
            <a:extLst>
              <a:ext uri="{FF2B5EF4-FFF2-40B4-BE49-F238E27FC236}">
                <a16:creationId xmlns:a16="http://schemas.microsoft.com/office/drawing/2014/main" id="{BFA3DE42-B75C-B369-558E-D5C79BE9B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2426" y="1138444"/>
            <a:ext cx="2916513" cy="414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0480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노란색이(가) 표시된 사진&#10;&#10;자동 생성된 설명">
            <a:extLst>
              <a:ext uri="{FF2B5EF4-FFF2-40B4-BE49-F238E27FC236}">
                <a16:creationId xmlns:a16="http://schemas.microsoft.com/office/drawing/2014/main" id="{BFA66821-F4F3-9FEF-1B8C-13C88961F3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77" y="1400176"/>
            <a:ext cx="3470273" cy="3470273"/>
          </a:xfrm>
          <a:prstGeom prst="rect">
            <a:avLst/>
          </a:prstGeom>
        </p:spPr>
      </p:pic>
      <p:sp>
        <p:nvSpPr>
          <p:cNvPr id="9" name="날짜 개체 틀 3">
            <a:extLst>
              <a:ext uri="{FF2B5EF4-FFF2-40B4-BE49-F238E27FC236}">
                <a16:creationId xmlns:a16="http://schemas.microsoft.com/office/drawing/2014/main" id="{6FD7CA5C-A72D-FFC1-A78B-FE0820A75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2024-05-20</a:t>
            </a:fld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3E3B06F-1C1A-D12E-6FD4-F6328DA14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F6AEBB6C-CE05-3C2C-EC00-AB5F72908457}"/>
              </a:ext>
            </a:extLst>
          </p:cNvPr>
          <p:cNvSpPr txBox="1">
            <a:spLocks/>
          </p:cNvSpPr>
          <p:nvPr/>
        </p:nvSpPr>
        <p:spPr>
          <a:xfrm>
            <a:off x="4498931" y="1397437"/>
            <a:ext cx="7200900" cy="385444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dirty="0">
                <a:latin typeface="Pretendard GOV" panose="02000503000000020004" pitchFamily="2" charset="-127"/>
                <a:ea typeface="Pretendard GOV" panose="02000503000000020004" pitchFamily="2" charset="-127"/>
                <a:cs typeface="Pretendard GOV" panose="02000503000000020004" pitchFamily="2" charset="-127"/>
              </a:rPr>
              <a:t>귀여운 </a:t>
            </a:r>
            <a:r>
              <a:rPr lang="en-US" altLang="ko-KR" dirty="0">
                <a:latin typeface="Pretendard GOV" panose="02000503000000020004" pitchFamily="2" charset="-127"/>
                <a:ea typeface="Pretendard GOV" panose="02000503000000020004" pitchFamily="2" charset="-127"/>
                <a:cs typeface="Pretendard GOV" panose="02000503000000020004" pitchFamily="2" charset="-127"/>
              </a:rPr>
              <a:t>– </a:t>
            </a:r>
            <a:r>
              <a:rPr lang="ko-KR" altLang="en-US" sz="4800" dirty="0">
                <a:latin typeface="Pretendard GOV" panose="02000503000000020004" pitchFamily="2" charset="-127"/>
                <a:ea typeface="Pretendard GOV" panose="02000503000000020004" pitchFamily="2" charset="-127"/>
                <a:cs typeface="Pretendard GOV" panose="02000503000000020004" pitchFamily="2" charset="-127"/>
              </a:rPr>
              <a:t>형용사 </a:t>
            </a:r>
            <a:br>
              <a:rPr lang="en-US" altLang="ko-KR" sz="4800" dirty="0">
                <a:latin typeface="Pretendard GOV" panose="02000503000000020004" pitchFamily="2" charset="-127"/>
                <a:ea typeface="Pretendard GOV" panose="02000503000000020004" pitchFamily="2" charset="-127"/>
                <a:cs typeface="Pretendard GOV" panose="02000503000000020004" pitchFamily="2" charset="-127"/>
              </a:rPr>
            </a:br>
            <a:r>
              <a:rPr lang="ko-KR" altLang="en-US" dirty="0" err="1">
                <a:latin typeface="Pretendard GOV" panose="02000503000000020004" pitchFamily="2" charset="-127"/>
                <a:ea typeface="Pretendard GOV" panose="02000503000000020004" pitchFamily="2" charset="-127"/>
                <a:cs typeface="Pretendard GOV" panose="02000503000000020004" pitchFamily="2" charset="-127"/>
              </a:rPr>
              <a:t>미니언이</a:t>
            </a:r>
            <a:r>
              <a:rPr lang="ko-KR" altLang="en-US" dirty="0">
                <a:latin typeface="Pretendard GOV" panose="02000503000000020004" pitchFamily="2" charset="-127"/>
                <a:ea typeface="Pretendard GOV" panose="02000503000000020004" pitchFamily="2" charset="-127"/>
                <a:cs typeface="Pretendard GOV" panose="02000503000000020004" pitchFamily="2" charset="-127"/>
              </a:rPr>
              <a:t> </a:t>
            </a:r>
            <a:r>
              <a:rPr lang="en-US" altLang="ko-KR" dirty="0">
                <a:latin typeface="Pretendard GOV" panose="02000503000000020004" pitchFamily="2" charset="-127"/>
                <a:ea typeface="Pretendard GOV" panose="02000503000000020004" pitchFamily="2" charset="-127"/>
                <a:cs typeface="Pretendard GOV" panose="02000503000000020004" pitchFamily="2" charset="-127"/>
              </a:rPr>
              <a:t>– </a:t>
            </a:r>
            <a:r>
              <a:rPr lang="ko-KR" altLang="en-US" sz="4800" dirty="0">
                <a:latin typeface="Pretendard GOV" panose="02000503000000020004" pitchFamily="2" charset="-127"/>
                <a:ea typeface="Pretendard GOV" panose="02000503000000020004" pitchFamily="2" charset="-127"/>
                <a:cs typeface="Pretendard GOV" panose="02000503000000020004" pitchFamily="2" charset="-127"/>
              </a:rPr>
              <a:t>명사</a:t>
            </a:r>
            <a:endParaRPr lang="en-US" altLang="ko-KR" sz="4800" dirty="0">
              <a:latin typeface="Pretendard GOV" panose="02000503000000020004" pitchFamily="2" charset="-127"/>
              <a:ea typeface="Pretendard GOV" panose="02000503000000020004" pitchFamily="2" charset="-127"/>
              <a:cs typeface="Pretendard GOV" panose="02000503000000020004" pitchFamily="2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dirty="0">
                <a:latin typeface="Pretendard GOV" panose="02000503000000020004" pitchFamily="2" charset="-127"/>
                <a:ea typeface="Pretendard GOV" panose="02000503000000020004" pitchFamily="2" charset="-127"/>
                <a:cs typeface="Pretendard GOV" panose="02000503000000020004" pitchFamily="2" charset="-127"/>
              </a:rPr>
              <a:t>춤춘다</a:t>
            </a:r>
            <a:r>
              <a:rPr lang="en-US" altLang="ko-KR" dirty="0">
                <a:latin typeface="Pretendard GOV" panose="02000503000000020004" pitchFamily="2" charset="-127"/>
                <a:ea typeface="Pretendard GOV" panose="02000503000000020004" pitchFamily="2" charset="-127"/>
                <a:cs typeface="Pretendard GOV" panose="02000503000000020004" pitchFamily="2" charset="-127"/>
              </a:rPr>
              <a:t> – </a:t>
            </a:r>
            <a:r>
              <a:rPr lang="ko-KR" altLang="en-US" sz="4800" dirty="0">
                <a:latin typeface="Pretendard GOV" panose="02000503000000020004" pitchFamily="2" charset="-127"/>
                <a:ea typeface="Pretendard GOV" panose="02000503000000020004" pitchFamily="2" charset="-127"/>
                <a:cs typeface="Pretendard GOV" panose="02000503000000020004" pitchFamily="2" charset="-127"/>
              </a:rPr>
              <a:t>동사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C8AD632-EA7B-824A-FE5C-70FA1C5B0A5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716" t="8334" r="70543" b="16381"/>
          <a:stretch/>
        </p:blipFill>
        <p:spPr>
          <a:xfrm>
            <a:off x="9672635" y="2863139"/>
            <a:ext cx="781749" cy="113172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DAB6420-C25C-C332-739A-ECD92BF63FA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4661" t="12357" r="37847" b="12357"/>
          <a:stretch/>
        </p:blipFill>
        <p:spPr>
          <a:xfrm>
            <a:off x="9619452" y="1565797"/>
            <a:ext cx="834932" cy="113172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23D4AFD-E2A5-EF52-68E6-FE121A5D83E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6755" t="6938" r="5976" b="13517"/>
          <a:stretch/>
        </p:blipFill>
        <p:spPr>
          <a:xfrm>
            <a:off x="9649445" y="4160481"/>
            <a:ext cx="828128" cy="119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945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71D7A679-B8D0-186F-C971-BA7EA2851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5646" y="2655413"/>
            <a:ext cx="6705600" cy="6228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600" b="1" dirty="0">
                <a:solidFill>
                  <a:srgbClr val="6EC173"/>
                </a:solidFill>
              </a:rPr>
              <a:t>Cascading Style Sheet</a:t>
            </a:r>
            <a:endParaRPr lang="ko-KR" altLang="en-US" sz="3600" b="1" dirty="0">
              <a:solidFill>
                <a:srgbClr val="6EC173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0E118-13FA-729A-60AF-684E084F4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2024-05-20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4786A31-D818-35BC-E175-84E0289FB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E1DA36C-65CF-DE57-B375-6D86D2A7D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7D05DCB7-AD04-98BC-4552-F188A7F03DB7}"/>
              </a:ext>
            </a:extLst>
          </p:cNvPr>
          <p:cNvSpPr txBox="1">
            <a:spLocks/>
          </p:cNvSpPr>
          <p:nvPr/>
        </p:nvSpPr>
        <p:spPr>
          <a:xfrm>
            <a:off x="3975646" y="3614403"/>
            <a:ext cx="7222622" cy="6228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웹 페이지를 디자인하기 위해 사용하는 언어</a:t>
            </a:r>
          </a:p>
        </p:txBody>
      </p:sp>
      <p:pic>
        <p:nvPicPr>
          <p:cNvPr id="12" name="Picture 2" descr="css란에 대한 이미지 검색결과">
            <a:extLst>
              <a:ext uri="{FF2B5EF4-FFF2-40B4-BE49-F238E27FC236}">
                <a16:creationId xmlns:a16="http://schemas.microsoft.com/office/drawing/2014/main" id="{67DB9E5B-44BC-818E-CD11-A4ECF978C9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180" y="1785249"/>
            <a:ext cx="2103065" cy="2986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6049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2024-05-20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/>
              <a:t>사용 이유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6" name="Picture 2" descr="아파트 '올수리' 안해도 새집처럼 바꿀 수 있다 - 땅집고 &gt; 인테리어">
            <a:extLst>
              <a:ext uri="{FF2B5EF4-FFF2-40B4-BE49-F238E27FC236}">
                <a16:creationId xmlns:a16="http://schemas.microsoft.com/office/drawing/2014/main" id="{98F82BCD-06C1-5124-0FBA-F046390EE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667" y="1813379"/>
            <a:ext cx="4834775" cy="3231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아파트 '올수리' 안해도 새집처럼 바꿀 수 있다 - 땅집고 &gt; 인테리어">
            <a:extLst>
              <a:ext uri="{FF2B5EF4-FFF2-40B4-BE49-F238E27FC236}">
                <a16:creationId xmlns:a16="http://schemas.microsoft.com/office/drawing/2014/main" id="{D264FB04-75FC-4EB5-17E6-D9B8EEAA97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2560" y="1813379"/>
            <a:ext cx="4823730" cy="3215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4159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0147EA4-97D2-25E4-E8F9-B0EEFA5C5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7FF3B22-97E2-ED48-2B62-29A1ECD55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258B99C1-9BA5-054B-3ABA-E6B48298F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8000" dirty="0"/>
              <a:t>Apple</a:t>
            </a:r>
            <a:r>
              <a:rPr lang="ko-KR" altLang="en-US" sz="8000" dirty="0"/>
              <a:t>에 </a:t>
            </a:r>
            <a:r>
              <a:rPr lang="en-US" altLang="ko-KR" sz="8000" dirty="0"/>
              <a:t>CSS</a:t>
            </a:r>
            <a:r>
              <a:rPr lang="ko-KR" altLang="en-US" sz="8000" dirty="0"/>
              <a:t>가 없다면</a:t>
            </a:r>
            <a:r>
              <a:rPr lang="en-US" altLang="ko-KR" sz="8000" dirty="0"/>
              <a:t>?</a:t>
            </a:r>
            <a:endParaRPr lang="ko-KR" altLang="en-US" sz="8000" dirty="0"/>
          </a:p>
        </p:txBody>
      </p:sp>
    </p:spTree>
    <p:extLst>
      <p:ext uri="{BB962C8B-B14F-4D97-AF65-F5344CB8AC3E}">
        <p14:creationId xmlns:p14="http://schemas.microsoft.com/office/powerpoint/2010/main" val="1239268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9D563A-2BEF-D833-AF37-F6C87B4E5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703" y="1850338"/>
            <a:ext cx="10515600" cy="3846127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브라우저에서 </a:t>
            </a:r>
            <a:r>
              <a:rPr lang="ko-KR" altLang="en-US" dirty="0">
                <a:solidFill>
                  <a:schemeClr val="accent1"/>
                </a:solidFill>
              </a:rPr>
              <a:t>개발 편의</a:t>
            </a:r>
            <a:r>
              <a:rPr lang="ko-KR" altLang="en-US" dirty="0"/>
              <a:t>를 위해 제공하는 도구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지금 보고 있는 웹페이지의 </a:t>
            </a:r>
            <a:r>
              <a:rPr lang="en-US" altLang="ko-KR" dirty="0">
                <a:solidFill>
                  <a:schemeClr val="accent1"/>
                </a:solidFill>
              </a:rPr>
              <a:t>HTML, CSS, JavaScript </a:t>
            </a:r>
            <a:r>
              <a:rPr lang="ko-KR" altLang="en-US" dirty="0"/>
              <a:t>등을 볼 수 있습니다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해당 코드를 </a:t>
            </a:r>
            <a:r>
              <a:rPr lang="ko-KR" altLang="en-US" dirty="0">
                <a:solidFill>
                  <a:schemeClr val="accent1"/>
                </a:solidFill>
              </a:rPr>
              <a:t>수정</a:t>
            </a:r>
            <a:r>
              <a:rPr lang="ko-KR" altLang="en-US" dirty="0"/>
              <a:t>하여 자기 마음대로 변경이 가능</a:t>
            </a:r>
            <a:r>
              <a:rPr lang="en-US" altLang="ko-KR" dirty="0"/>
              <a:t>!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HTML </a:t>
            </a:r>
            <a:r>
              <a:rPr lang="ko-KR" altLang="en-US" dirty="0"/>
              <a:t>구조 및 </a:t>
            </a:r>
            <a:r>
              <a:rPr lang="en-US" altLang="ko-KR" dirty="0"/>
              <a:t>CSS </a:t>
            </a:r>
            <a:r>
              <a:rPr lang="ko-KR" altLang="en-US" dirty="0"/>
              <a:t>값 등을 확인 가능하므로 자주 사용 예정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특정 요소 코드 보기 </a:t>
            </a:r>
            <a:r>
              <a:rPr lang="en-US" altLang="ko-KR" dirty="0"/>
              <a:t>/ </a:t>
            </a:r>
            <a:r>
              <a:rPr lang="ko-KR" altLang="en-US" dirty="0"/>
              <a:t>크기 줄이기 </a:t>
            </a:r>
            <a:r>
              <a:rPr lang="en-US" altLang="ko-KR" dirty="0"/>
              <a:t>/ </a:t>
            </a:r>
            <a:r>
              <a:rPr lang="ko-KR" altLang="en-US" dirty="0"/>
              <a:t>모바일 버전 확인 가능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1292F-9570-41D6-B1EF-AD0662BD256A}" type="datetime1">
              <a:rPr lang="ko-KR" altLang="en-US" smtClean="0"/>
              <a:t>2024-05-20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6B043-3504-4302-9525-2101E7FCDAE3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6A67ABD-DF30-CDE6-A2D4-633274537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</a:rPr>
              <a:t>우리의 친구</a:t>
            </a:r>
            <a:r>
              <a:rPr lang="en-US" altLang="ko-KR" dirty="0">
                <a:latin typeface="+mj-ea"/>
              </a:rPr>
              <a:t>! </a:t>
            </a:r>
            <a:r>
              <a:rPr lang="ko-KR" altLang="en-US" dirty="0">
                <a:solidFill>
                  <a:schemeClr val="accent1"/>
                </a:solidFill>
                <a:latin typeface="+mj-ea"/>
              </a:rPr>
              <a:t>개발자 도구</a:t>
            </a:r>
          </a:p>
        </p:txBody>
      </p:sp>
    </p:spTree>
    <p:extLst>
      <p:ext uri="{BB962C8B-B14F-4D97-AF65-F5344CB8AC3E}">
        <p14:creationId xmlns:p14="http://schemas.microsoft.com/office/powerpoint/2010/main" val="1780364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2024-05-20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</a:t>
            </a:r>
            <a:r>
              <a:rPr lang="ko-KR" altLang="en-US" dirty="0"/>
              <a:t>를 지워보자</a:t>
            </a:r>
            <a:r>
              <a:rPr lang="en-US" altLang="ko-KR" dirty="0"/>
              <a:t>?!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794" y="600863"/>
            <a:ext cx="3447290" cy="5254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965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4D63F7-0011-FB55-E934-B46245FFF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인라인 방식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내장 방식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링크 방식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A8276D-3584-C341-BDB4-1B0016FAF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2024-05-20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86EA7AA-F339-9A8D-2D5B-DD119FBCB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C7D9BB0-1165-0949-4CBD-457F0BA97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</a:t>
            </a:r>
            <a:r>
              <a:rPr lang="ko-KR" altLang="en-US" dirty="0"/>
              <a:t> 참조 방식</a:t>
            </a:r>
          </a:p>
        </p:txBody>
      </p:sp>
    </p:spTree>
    <p:extLst>
      <p:ext uri="{BB962C8B-B14F-4D97-AF65-F5344CB8AC3E}">
        <p14:creationId xmlns:p14="http://schemas.microsoft.com/office/powerpoint/2010/main" val="1692528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EF63463-606A-588E-E74B-279A25C39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599" y="3114851"/>
            <a:ext cx="11260802" cy="2295330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각 요소의 </a:t>
            </a:r>
            <a:r>
              <a:rPr lang="en-US" altLang="ko-KR" dirty="0"/>
              <a:t>style </a:t>
            </a:r>
            <a:r>
              <a:rPr lang="ko-KR" altLang="en-US" dirty="0"/>
              <a:t>속성에 전부 스타일을 직접 적어줘야 함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아래에서 같은 스타일을 가진 태그를 사용하려고 해도 코드를 </a:t>
            </a:r>
            <a:r>
              <a:rPr lang="ko-KR" altLang="en-US" dirty="0" err="1"/>
              <a:t>복붙</a:t>
            </a:r>
            <a:r>
              <a:rPr lang="ko-KR" altLang="en-US" dirty="0"/>
              <a:t> 필요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>
                <a:solidFill>
                  <a:srgbClr val="6EC173"/>
                </a:solidFill>
              </a:rPr>
              <a:t>재사용이 전혀 불가능</a:t>
            </a:r>
            <a:r>
              <a:rPr lang="en-US" altLang="ko-KR" dirty="0">
                <a:solidFill>
                  <a:srgbClr val="6EC173"/>
                </a:solidFill>
              </a:rPr>
              <a:t>!</a:t>
            </a:r>
            <a:endParaRPr lang="ko-KR" altLang="en-US" dirty="0">
              <a:solidFill>
                <a:srgbClr val="6EC173"/>
              </a:solidFill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09065-B160-4C23-B986-5A3C55D6AFAF}" type="datetime1">
              <a:rPr lang="ko-KR" altLang="en-US" smtClean="0"/>
              <a:t>2024-05-20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6B043-3504-4302-9525-2101E7FCDAE3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6A67ABD-DF30-CDE6-A2D4-633274537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인라인 방식은 불편해요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!!</a:t>
            </a:r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9CE2DBF-F6CE-AB68-EA6D-2A1734F39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813" y="2045318"/>
            <a:ext cx="9762587" cy="50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589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EF63463-606A-588E-E74B-279A25C39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597" y="3663864"/>
            <a:ext cx="11260802" cy="2593911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HTML</a:t>
            </a:r>
            <a:r>
              <a:rPr lang="ko-KR" altLang="en-US" dirty="0"/>
              <a:t>의 </a:t>
            </a:r>
            <a:r>
              <a:rPr lang="en-US" altLang="ko-KR" dirty="0"/>
              <a:t>&lt;head&gt; </a:t>
            </a:r>
            <a:r>
              <a:rPr lang="ko-KR" altLang="en-US" dirty="0"/>
              <a:t>태그 내부에 사용할 </a:t>
            </a:r>
            <a:r>
              <a:rPr lang="en-US" altLang="ko-KR" dirty="0"/>
              <a:t>Style</a:t>
            </a:r>
            <a:r>
              <a:rPr lang="ko-KR" altLang="en-US" dirty="0"/>
              <a:t>을 </a:t>
            </a:r>
            <a:r>
              <a:rPr lang="en-US" altLang="ko-KR" dirty="0">
                <a:solidFill>
                  <a:srgbClr val="00B050"/>
                </a:solidFill>
              </a:rPr>
              <a:t>&lt;style&gt;</a:t>
            </a:r>
            <a:r>
              <a:rPr lang="en-US" altLang="ko-KR" dirty="0"/>
              <a:t> </a:t>
            </a:r>
            <a:r>
              <a:rPr lang="ko-KR" altLang="en-US" dirty="0"/>
              <a:t>태그로 미리 선언하여 사용</a:t>
            </a:r>
            <a:r>
              <a:rPr lang="en-US" altLang="ko-KR" dirty="0"/>
              <a:t>!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태그에 같은 스타일 적용이 가능</a:t>
            </a:r>
            <a:r>
              <a:rPr lang="en-US" altLang="ko-KR" dirty="0"/>
              <a:t>!!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그런데 </a:t>
            </a:r>
            <a:r>
              <a:rPr lang="ko-KR" altLang="en-US" dirty="0">
                <a:solidFill>
                  <a:srgbClr val="6EC173"/>
                </a:solidFill>
              </a:rPr>
              <a:t>다른 </a:t>
            </a:r>
            <a:r>
              <a:rPr lang="en-US" altLang="ko-KR" dirty="0">
                <a:solidFill>
                  <a:srgbClr val="6EC173"/>
                </a:solidFill>
              </a:rPr>
              <a:t>HTML </a:t>
            </a:r>
            <a:r>
              <a:rPr lang="ko-KR" altLang="en-US" dirty="0">
                <a:solidFill>
                  <a:srgbClr val="6EC173"/>
                </a:solidFill>
              </a:rPr>
              <a:t>파일</a:t>
            </a:r>
            <a:r>
              <a:rPr lang="ko-KR" altLang="en-US" dirty="0"/>
              <a:t>에는 어떻게 쓰죠</a:t>
            </a:r>
            <a:r>
              <a:rPr lang="en-US" altLang="ko-KR" dirty="0"/>
              <a:t>? 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혹시나 </a:t>
            </a:r>
            <a:r>
              <a:rPr lang="ko-KR" altLang="en-US" dirty="0">
                <a:solidFill>
                  <a:srgbClr val="6EC173"/>
                </a:solidFill>
              </a:rPr>
              <a:t>스타일이 바뀌면 </a:t>
            </a:r>
            <a:r>
              <a:rPr lang="ko-KR" altLang="en-US" dirty="0"/>
              <a:t>모두 바꿔줘야 하나요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F1034-6CCC-40D2-8922-9671B2240F59}" type="datetime1">
              <a:rPr lang="ko-KR" altLang="en-US" smtClean="0"/>
              <a:t>2024-05-20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6B043-3504-4302-9525-2101E7FCDAE3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10" name="제목 9">
            <a:extLst>
              <a:ext uri="{FF2B5EF4-FFF2-40B4-BE49-F238E27FC236}">
                <a16:creationId xmlns:a16="http://schemas.microsoft.com/office/drawing/2014/main" id="{BFADBAC3-47FB-02E5-DBEF-098FAED58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내장 방식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7784D8A-0964-9115-3206-32C6847D0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6298" y="1394125"/>
            <a:ext cx="4279399" cy="203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140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C3B807C3-7CED-56DB-6F88-319863F62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599" y="1391026"/>
            <a:ext cx="11260802" cy="407594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모든 </a:t>
            </a:r>
            <a:r>
              <a:rPr lang="en-US" altLang="ko-KR" dirty="0"/>
              <a:t>Style</a:t>
            </a:r>
            <a:r>
              <a:rPr lang="ko-KR" altLang="en-US" dirty="0"/>
              <a:t>을 </a:t>
            </a:r>
            <a:r>
              <a:rPr lang="ko-KR" altLang="en-US" dirty="0">
                <a:solidFill>
                  <a:srgbClr val="6EC173"/>
                </a:solidFill>
              </a:rPr>
              <a:t>하나의 </a:t>
            </a:r>
            <a:r>
              <a:rPr lang="en-US" altLang="ko-KR" dirty="0">
                <a:solidFill>
                  <a:srgbClr val="6EC173"/>
                </a:solidFill>
              </a:rPr>
              <a:t>CSS </a:t>
            </a:r>
            <a:r>
              <a:rPr lang="ko-KR" altLang="en-US" dirty="0">
                <a:solidFill>
                  <a:srgbClr val="6EC173"/>
                </a:solidFill>
              </a:rPr>
              <a:t>파일</a:t>
            </a:r>
            <a:r>
              <a:rPr lang="ko-KR" altLang="en-US" dirty="0"/>
              <a:t>에 넣고</a:t>
            </a:r>
            <a:r>
              <a:rPr lang="en-US" altLang="ko-KR" dirty="0"/>
              <a:t>, </a:t>
            </a:r>
            <a:r>
              <a:rPr lang="ko-KR" altLang="en-US" dirty="0"/>
              <a:t>필요한 </a:t>
            </a:r>
            <a:r>
              <a:rPr lang="en-US" altLang="ko-KR" dirty="0"/>
              <a:t>HTML </a:t>
            </a:r>
            <a:r>
              <a:rPr lang="ko-KR" altLang="en-US" dirty="0"/>
              <a:t>파일에서 해당 </a:t>
            </a:r>
            <a:r>
              <a:rPr lang="ko-KR" altLang="en-US" dirty="0">
                <a:solidFill>
                  <a:srgbClr val="6EC173"/>
                </a:solidFill>
              </a:rPr>
              <a:t>파일을 링크</a:t>
            </a:r>
            <a:r>
              <a:rPr lang="ko-KR" altLang="en-US" dirty="0"/>
              <a:t>해서 사용하는 방식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재사용</a:t>
            </a:r>
            <a:r>
              <a:rPr lang="en-US" altLang="ko-KR" dirty="0"/>
              <a:t>? </a:t>
            </a:r>
            <a:r>
              <a:rPr lang="en-US" altLang="ko-KR" dirty="0">
                <a:solidFill>
                  <a:srgbClr val="6EC173"/>
                </a:solidFill>
              </a:rPr>
              <a:t>OK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스타일 변경 발생</a:t>
            </a:r>
            <a:r>
              <a:rPr lang="en-US" altLang="ko-KR" dirty="0"/>
              <a:t>? </a:t>
            </a:r>
            <a:r>
              <a:rPr lang="en-US" altLang="ko-KR" dirty="0">
                <a:solidFill>
                  <a:srgbClr val="6EC173"/>
                </a:solidFill>
              </a:rPr>
              <a:t>OK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50917-1ED7-489B-87EB-30911B0F206C}" type="datetime1">
              <a:rPr lang="ko-KR" altLang="en-US" smtClean="0"/>
              <a:t>2024-05-20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6B043-3504-4302-9525-2101E7FCDAE3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14241401-BD37-E512-45E7-DF8B28D29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링크 방식</a:t>
            </a:r>
          </a:p>
        </p:txBody>
      </p:sp>
    </p:spTree>
    <p:extLst>
      <p:ext uri="{BB962C8B-B14F-4D97-AF65-F5344CB8AC3E}">
        <p14:creationId xmlns:p14="http://schemas.microsoft.com/office/powerpoint/2010/main" val="1924980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C25A3367-F72C-63F9-6B71-5A842F2E2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623" y="3063214"/>
            <a:ext cx="1857073" cy="617640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index.css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C1A1-740B-40EC-B341-AFFFABB3121A}" type="datetime1">
              <a:rPr lang="ko-KR" altLang="en-US" smtClean="0"/>
              <a:t>2024-05-20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6B043-3504-4302-9525-2101E7FCDAE3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15" name="제목 14">
            <a:extLst>
              <a:ext uri="{FF2B5EF4-FFF2-40B4-BE49-F238E27FC236}">
                <a16:creationId xmlns:a16="http://schemas.microsoft.com/office/drawing/2014/main" id="{0600E99A-E7A6-BFEA-4F0C-DEE5E1CDA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링크 방식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B25A2A0-2EFE-DBDF-BEA7-7B428F1A3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3253" y="1934500"/>
            <a:ext cx="6451963" cy="52410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2FE1777-D472-2B01-21DB-11775EC7CE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623" y="3680854"/>
            <a:ext cx="4203942" cy="1567061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3460AD68-B060-D5B0-0EBE-91729FDB93D3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3345594" y="2492214"/>
            <a:ext cx="6290775" cy="118864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42BE560E-384F-696C-BF00-70E15B06646F}"/>
              </a:ext>
            </a:extLst>
          </p:cNvPr>
          <p:cNvSpPr txBox="1">
            <a:spLocks/>
          </p:cNvSpPr>
          <p:nvPr/>
        </p:nvSpPr>
        <p:spPr>
          <a:xfrm>
            <a:off x="4533253" y="1306893"/>
            <a:ext cx="1857073" cy="61764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dirty="0"/>
              <a:t>index.html</a:t>
            </a:r>
          </a:p>
        </p:txBody>
      </p:sp>
    </p:spTree>
    <p:extLst>
      <p:ext uri="{BB962C8B-B14F-4D97-AF65-F5344CB8AC3E}">
        <p14:creationId xmlns:p14="http://schemas.microsoft.com/office/powerpoint/2010/main" val="25507269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BB230545-0757-9D17-38A3-54D3E1361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3429000"/>
            <a:ext cx="9725079" cy="28076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그런데 </a:t>
            </a:r>
            <a:r>
              <a:rPr lang="en-US" altLang="ko-KR" sz="2400" dirty="0"/>
              <a:t>3</a:t>
            </a:r>
            <a:r>
              <a:rPr lang="ko-KR" altLang="en-US" sz="2400" dirty="0"/>
              <a:t>가지 방식이 </a:t>
            </a:r>
            <a:r>
              <a:rPr lang="ko-KR" altLang="en-US" sz="2400" dirty="0">
                <a:solidFill>
                  <a:schemeClr val="accent1"/>
                </a:solidFill>
              </a:rPr>
              <a:t>겹치면</a:t>
            </a:r>
            <a:r>
              <a:rPr lang="ko-KR" altLang="en-US" sz="2400" dirty="0"/>
              <a:t> 어떻게 되죠</a:t>
            </a:r>
            <a:r>
              <a:rPr lang="en-US" altLang="ko-KR" sz="2400" dirty="0"/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기본 룰은 </a:t>
            </a:r>
            <a:r>
              <a:rPr lang="ko-KR" altLang="en-US" sz="2400" dirty="0">
                <a:solidFill>
                  <a:schemeClr val="accent1"/>
                </a:solidFill>
              </a:rPr>
              <a:t>가장 늦게 읽히는 것이 우선</a:t>
            </a:r>
            <a:r>
              <a:rPr lang="ko-KR" altLang="en-US" sz="2400" dirty="0"/>
              <a:t>으로 적용 됩니다</a:t>
            </a:r>
            <a:r>
              <a:rPr lang="en-US" altLang="ko-KR" sz="2400" dirty="0"/>
              <a:t>!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chemeClr val="accent1"/>
                </a:solidFill>
              </a:rPr>
              <a:t>인라인 방식</a:t>
            </a:r>
            <a:r>
              <a:rPr lang="ko-KR" altLang="en-US" sz="2400" dirty="0"/>
              <a:t>은 내장</a:t>
            </a:r>
            <a:r>
              <a:rPr lang="en-US" altLang="ko-KR" sz="2400" dirty="0"/>
              <a:t>, </a:t>
            </a:r>
            <a:r>
              <a:rPr lang="ko-KR" altLang="en-US" sz="2400" dirty="0"/>
              <a:t>링크 방식에 </a:t>
            </a:r>
            <a:r>
              <a:rPr lang="ko-KR" altLang="en-US" sz="2400" dirty="0">
                <a:solidFill>
                  <a:schemeClr val="accent1"/>
                </a:solidFill>
              </a:rPr>
              <a:t>무조건 우선</a:t>
            </a:r>
            <a:r>
              <a:rPr lang="en-US" altLang="ko-KR" sz="2400" dirty="0"/>
              <a:t>!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chemeClr val="accent1"/>
                </a:solidFill>
              </a:rPr>
              <a:t>내장</a:t>
            </a:r>
            <a:r>
              <a:rPr lang="en-US" altLang="ko-KR" sz="2400" dirty="0">
                <a:solidFill>
                  <a:schemeClr val="accent1"/>
                </a:solidFill>
              </a:rPr>
              <a:t>, </a:t>
            </a:r>
            <a:r>
              <a:rPr lang="ko-KR" altLang="en-US" sz="2400" dirty="0">
                <a:solidFill>
                  <a:schemeClr val="accent1"/>
                </a:solidFill>
              </a:rPr>
              <a:t>링크 </a:t>
            </a:r>
            <a:r>
              <a:rPr lang="ko-KR" altLang="en-US" sz="2400" dirty="0"/>
              <a:t>방식은 </a:t>
            </a:r>
            <a:r>
              <a:rPr lang="ko-KR" altLang="en-US" sz="2400" dirty="0">
                <a:solidFill>
                  <a:schemeClr val="accent1"/>
                </a:solidFill>
              </a:rPr>
              <a:t>늦게 쓰여진 </a:t>
            </a:r>
            <a:r>
              <a:rPr lang="ko-KR" altLang="en-US" sz="2400" dirty="0"/>
              <a:t>것이 우선</a:t>
            </a:r>
            <a:r>
              <a:rPr lang="en-US" altLang="ko-KR" sz="2400" dirty="0"/>
              <a:t>!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A8276D-3584-C341-BDB4-1B0016FAF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2024-05-20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86EA7AA-F339-9A8D-2D5B-DD119FBCB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C7D9BB0-1165-0949-4CBD-457F0BA97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</a:t>
            </a:r>
            <a:r>
              <a:rPr lang="ko-KR" altLang="en-US" dirty="0"/>
              <a:t> 참조 방식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1371600" y="1565213"/>
            <a:ext cx="9071551" cy="1468971"/>
            <a:chOff x="1530999" y="2440355"/>
            <a:chExt cx="9071551" cy="1468971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35F840AF-3B4A-77C2-EC3C-064BA094DA90}"/>
                </a:ext>
              </a:extLst>
            </p:cNvPr>
            <p:cNvSpPr/>
            <p:nvPr/>
          </p:nvSpPr>
          <p:spPr>
            <a:xfrm>
              <a:off x="1530999" y="2440355"/>
              <a:ext cx="1956318" cy="1455594"/>
            </a:xfrm>
            <a:prstGeom prst="roundRect">
              <a:avLst/>
            </a:prstGeom>
            <a:noFill/>
            <a:ln w="762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2400" dirty="0">
                  <a:solidFill>
                    <a:srgbClr val="0070C0"/>
                  </a:solidFill>
                  <a:latin typeface="+mn-ea"/>
                </a:rPr>
                <a:t>인라인</a:t>
              </a:r>
              <a:endParaRPr lang="en-US" altLang="ko-KR" sz="2400" dirty="0">
                <a:solidFill>
                  <a:srgbClr val="0070C0"/>
                </a:solidFill>
                <a:latin typeface="+mn-ea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2400" dirty="0">
                  <a:solidFill>
                    <a:srgbClr val="0070C0"/>
                  </a:solidFill>
                  <a:latin typeface="+mn-ea"/>
                </a:rPr>
                <a:t>방식</a:t>
              </a: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73522CCA-BE4B-0CC2-DC8D-1EB067814F05}"/>
                </a:ext>
              </a:extLst>
            </p:cNvPr>
            <p:cNvSpPr/>
            <p:nvPr/>
          </p:nvSpPr>
          <p:spPr>
            <a:xfrm>
              <a:off x="5088615" y="2453732"/>
              <a:ext cx="1956318" cy="1455594"/>
            </a:xfrm>
            <a:prstGeom prst="roundRect">
              <a:avLst/>
            </a:prstGeom>
            <a:noFill/>
            <a:ln w="762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2400" dirty="0">
                  <a:solidFill>
                    <a:schemeClr val="accent2"/>
                  </a:solidFill>
                  <a:latin typeface="+mn-ea"/>
                </a:rPr>
                <a:t>내장</a:t>
              </a:r>
              <a:endParaRPr lang="en-US" altLang="ko-KR" sz="2400" dirty="0">
                <a:solidFill>
                  <a:schemeClr val="accent2"/>
                </a:solidFill>
                <a:latin typeface="+mn-ea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2400" dirty="0">
                  <a:solidFill>
                    <a:schemeClr val="accent2"/>
                  </a:solidFill>
                  <a:latin typeface="+mn-ea"/>
                </a:rPr>
                <a:t>방식</a:t>
              </a: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4119E43F-BFD6-8249-D2A3-2E5012D2104F}"/>
                </a:ext>
              </a:extLst>
            </p:cNvPr>
            <p:cNvSpPr/>
            <p:nvPr/>
          </p:nvSpPr>
          <p:spPr>
            <a:xfrm>
              <a:off x="8646232" y="2453732"/>
              <a:ext cx="1956318" cy="1455594"/>
            </a:xfrm>
            <a:prstGeom prst="roundRect">
              <a:avLst/>
            </a:prstGeom>
            <a:noFill/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2400" dirty="0">
                  <a:solidFill>
                    <a:srgbClr val="00B050"/>
                  </a:solidFill>
                  <a:latin typeface="+mn-ea"/>
                </a:rPr>
                <a:t>링크</a:t>
              </a:r>
              <a:endParaRPr lang="en-US" altLang="ko-KR" sz="2400" dirty="0">
                <a:solidFill>
                  <a:srgbClr val="00B050"/>
                </a:solidFill>
                <a:latin typeface="+mn-ea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2400" dirty="0">
                  <a:solidFill>
                    <a:srgbClr val="00B050"/>
                  </a:solidFill>
                  <a:latin typeface="+mn-ea"/>
                </a:rPr>
                <a:t>방식</a:t>
              </a:r>
            </a:p>
          </p:txBody>
        </p:sp>
        <p:sp>
          <p:nvSpPr>
            <p:cNvPr id="10" name="제목 1">
              <a:extLst>
                <a:ext uri="{FF2B5EF4-FFF2-40B4-BE49-F238E27FC236}">
                  <a16:creationId xmlns:a16="http://schemas.microsoft.com/office/drawing/2014/main" id="{841B6AC9-54CA-E243-C12D-B1AF603640BF}"/>
                </a:ext>
              </a:extLst>
            </p:cNvPr>
            <p:cNvSpPr txBox="1">
              <a:spLocks/>
            </p:cNvSpPr>
            <p:nvPr/>
          </p:nvSpPr>
          <p:spPr>
            <a:xfrm>
              <a:off x="7510137" y="2514401"/>
              <a:ext cx="670890" cy="13255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강한공군체 Medium" panose="020B0600000101010101" pitchFamily="50" charset="-127"/>
                  <a:ea typeface="강한공군체 Medium" panose="020B0600000101010101" pitchFamily="50" charset="-127"/>
                  <a:cs typeface="+mj-cs"/>
                </a:defRPr>
              </a:lvl1pPr>
            </a:lstStyle>
            <a:p>
              <a:pPr algn="ctr"/>
              <a:r>
                <a:rPr lang="en-US" altLang="ko-KR" sz="6600" dirty="0">
                  <a:latin typeface="+mn-ea"/>
                  <a:ea typeface="+mn-ea"/>
                </a:rPr>
                <a:t>?</a:t>
              </a:r>
              <a:endParaRPr lang="ko-KR" altLang="en-US" sz="6600" dirty="0">
                <a:latin typeface="+mn-ea"/>
                <a:ea typeface="+mn-ea"/>
              </a:endParaRPr>
            </a:p>
          </p:txBody>
        </p:sp>
        <p:sp>
          <p:nvSpPr>
            <p:cNvPr id="11" name="제목 1">
              <a:extLst>
                <a:ext uri="{FF2B5EF4-FFF2-40B4-BE49-F238E27FC236}">
                  <a16:creationId xmlns:a16="http://schemas.microsoft.com/office/drawing/2014/main" id="{841B6AC9-54CA-E243-C12D-B1AF603640BF}"/>
                </a:ext>
              </a:extLst>
            </p:cNvPr>
            <p:cNvSpPr txBox="1">
              <a:spLocks/>
            </p:cNvSpPr>
            <p:nvPr/>
          </p:nvSpPr>
          <p:spPr>
            <a:xfrm>
              <a:off x="3992848" y="2514401"/>
              <a:ext cx="670890" cy="13255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강한공군체 Medium" panose="020B0600000101010101" pitchFamily="50" charset="-127"/>
                  <a:ea typeface="강한공군체 Medium" panose="020B0600000101010101" pitchFamily="50" charset="-127"/>
                  <a:cs typeface="+mj-cs"/>
                </a:defRPr>
              </a:lvl1pPr>
            </a:lstStyle>
            <a:p>
              <a:pPr algn="ctr"/>
              <a:r>
                <a:rPr lang="en-US" altLang="ko-KR" sz="6600" dirty="0">
                  <a:latin typeface="+mn-ea"/>
                  <a:ea typeface="+mn-ea"/>
                </a:rPr>
                <a:t>&gt;</a:t>
              </a:r>
              <a:endParaRPr lang="ko-KR" altLang="en-US" sz="6600" dirty="0"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5626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CACE4B-89C4-F135-0CB0-8A3A38082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2024-05-20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FB79716-4245-E6F3-A3EC-D7E296BA9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DE2252B-B408-0AEE-0EBE-AE21EC46D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345" y="823188"/>
            <a:ext cx="10515600" cy="4840564"/>
          </a:xfrm>
        </p:spPr>
        <p:txBody>
          <a:bodyPr>
            <a:normAutofit/>
          </a:bodyPr>
          <a:lstStyle/>
          <a:p>
            <a:pPr algn="ctr"/>
            <a:r>
              <a:rPr lang="en-US" altLang="ko-KR" b="1" dirty="0">
                <a:solidFill>
                  <a:srgbClr val="6EC173"/>
                </a:solidFill>
              </a:rPr>
              <a:t>Quiz</a:t>
            </a:r>
            <a:r>
              <a:rPr lang="en-US" altLang="ko-KR" dirty="0">
                <a:solidFill>
                  <a:srgbClr val="6EC173"/>
                </a:solidFill>
              </a:rPr>
              <a:t>. </a:t>
            </a:r>
            <a:r>
              <a:rPr lang="ko-KR" altLang="en-US" dirty="0"/>
              <a:t>내장 방식을 이용할 때 </a:t>
            </a:r>
            <a:br>
              <a:rPr lang="en-US" altLang="ko-KR" dirty="0"/>
            </a:br>
            <a:r>
              <a:rPr lang="en-US" altLang="ko-KR" dirty="0"/>
              <a:t>&lt;style&gt; </a:t>
            </a:r>
            <a:r>
              <a:rPr lang="ko-KR" altLang="en-US" dirty="0"/>
              <a:t>태그는 어느 곳에 사용될까요</a:t>
            </a:r>
            <a:r>
              <a:rPr lang="en-US" altLang="ko-KR" dirty="0"/>
              <a:t>?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1. &lt;html&gt;</a:t>
            </a:r>
            <a:br>
              <a:rPr lang="en-US" altLang="ko-KR" dirty="0"/>
            </a:br>
            <a:r>
              <a:rPr lang="en-US" altLang="ko-KR" dirty="0"/>
              <a:t>2. &lt;head&gt;</a:t>
            </a:r>
            <a:br>
              <a:rPr lang="en-US" altLang="ko-KR" dirty="0"/>
            </a:br>
            <a:r>
              <a:rPr lang="en-US" altLang="ko-KR" dirty="0"/>
              <a:t>3. &lt;body&gt;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기타</a:t>
            </a:r>
          </a:p>
        </p:txBody>
      </p:sp>
    </p:spTree>
    <p:extLst>
      <p:ext uri="{BB962C8B-B14F-4D97-AF65-F5344CB8AC3E}">
        <p14:creationId xmlns:p14="http://schemas.microsoft.com/office/powerpoint/2010/main" val="2785209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6FD7CA5C-A72D-FFC1-A78B-FE0820A75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2024-05-20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FB79716-4245-E6F3-A3EC-D7E296BA9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DE2252B-B408-0AEE-0EBE-AE21EC46D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345" y="823188"/>
            <a:ext cx="10515600" cy="4840564"/>
          </a:xfrm>
        </p:spPr>
        <p:txBody>
          <a:bodyPr>
            <a:normAutofit/>
          </a:bodyPr>
          <a:lstStyle/>
          <a:p>
            <a:pPr algn="ctr"/>
            <a:r>
              <a:rPr lang="en-US" altLang="ko-KR" b="1" dirty="0">
                <a:solidFill>
                  <a:srgbClr val="6EC173"/>
                </a:solidFill>
              </a:rPr>
              <a:t>Quiz</a:t>
            </a:r>
            <a:r>
              <a:rPr lang="en-US" altLang="ko-KR" dirty="0">
                <a:solidFill>
                  <a:srgbClr val="6EC173"/>
                </a:solidFill>
              </a:rPr>
              <a:t>. </a:t>
            </a:r>
            <a:r>
              <a:rPr lang="ko-KR" altLang="en-US" dirty="0"/>
              <a:t>내장 방식을 이용할 때 </a:t>
            </a:r>
            <a:br>
              <a:rPr lang="en-US" altLang="ko-KR" dirty="0"/>
            </a:br>
            <a:r>
              <a:rPr lang="en-US" altLang="ko-KR" dirty="0"/>
              <a:t>&lt;style&gt; </a:t>
            </a:r>
            <a:r>
              <a:rPr lang="ko-KR" altLang="en-US" dirty="0"/>
              <a:t>태그는 어느 곳에 사용될까요</a:t>
            </a:r>
            <a:r>
              <a:rPr lang="en-US" altLang="ko-KR" dirty="0"/>
              <a:t>?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1. &lt;html&gt;</a:t>
            </a:r>
            <a:br>
              <a:rPr lang="en-US" altLang="ko-KR" dirty="0"/>
            </a:br>
            <a:r>
              <a:rPr lang="en-US" altLang="ko-KR" dirty="0">
                <a:highlight>
                  <a:srgbClr val="FFFF00"/>
                </a:highlight>
              </a:rPr>
              <a:t>2. &lt;head&gt;</a:t>
            </a:r>
            <a:br>
              <a:rPr lang="en-US" altLang="ko-KR" dirty="0"/>
            </a:br>
            <a:r>
              <a:rPr lang="en-US" altLang="ko-KR" dirty="0"/>
              <a:t>3. &lt;body&gt;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기타</a:t>
            </a:r>
          </a:p>
        </p:txBody>
      </p:sp>
    </p:spTree>
    <p:extLst>
      <p:ext uri="{BB962C8B-B14F-4D97-AF65-F5344CB8AC3E}">
        <p14:creationId xmlns:p14="http://schemas.microsoft.com/office/powerpoint/2010/main" val="3013434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453661"/>
            <a:ext cx="11260802" cy="5203171"/>
          </a:xfrm>
        </p:spPr>
        <p:txBody>
          <a:bodyPr>
            <a:normAutofit/>
          </a:bodyPr>
          <a:lstStyle/>
          <a:p>
            <a:r>
              <a:rPr lang="ko-KR" altLang="en-US" dirty="0"/>
              <a:t>인라인 방식</a:t>
            </a:r>
            <a:r>
              <a:rPr lang="en-US" altLang="ko-KR" dirty="0"/>
              <a:t>, </a:t>
            </a:r>
            <a:r>
              <a:rPr lang="ko-KR" altLang="en-US" dirty="0"/>
              <a:t>내장 방식</a:t>
            </a:r>
            <a:r>
              <a:rPr lang="en-US" altLang="ko-KR" dirty="0"/>
              <a:t>, </a:t>
            </a:r>
            <a:r>
              <a:rPr lang="ko-KR" altLang="en-US" dirty="0"/>
              <a:t>링크 방식을 자유롭게 사용하여 아래 사진과 같이 만들어보세요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2024-05-20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6EC173"/>
                </a:solidFill>
              </a:rPr>
              <a:t>실습</a:t>
            </a:r>
            <a:r>
              <a:rPr lang="en-US" altLang="ko-KR" dirty="0">
                <a:solidFill>
                  <a:srgbClr val="6EC173"/>
                </a:solidFill>
              </a:rPr>
              <a:t>. </a:t>
            </a:r>
            <a:r>
              <a:rPr lang="en-US" altLang="ko-KR" dirty="0"/>
              <a:t>CSS </a:t>
            </a:r>
            <a:r>
              <a:rPr lang="ko-KR" altLang="en-US" dirty="0"/>
              <a:t>맛보기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552C0E9-776C-F95F-69EA-056430642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472" y="2207173"/>
            <a:ext cx="3546787" cy="400900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05260" y="3043358"/>
            <a:ext cx="76490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힌트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&lt;div </a:t>
            </a:r>
            <a:r>
              <a:rPr lang="en-US" altLang="ko-KR" b="1" dirty="0"/>
              <a:t>style=“background-color: </a:t>
            </a:r>
            <a:r>
              <a:rPr lang="en-US" altLang="ko-KR" b="1" dirty="0">
                <a:solidFill>
                  <a:schemeClr val="accent1"/>
                </a:solidFill>
              </a:rPr>
              <a:t>‘</a:t>
            </a:r>
            <a:r>
              <a:rPr lang="ko-KR" altLang="en-US" b="1" dirty="0">
                <a:solidFill>
                  <a:schemeClr val="accent1"/>
                </a:solidFill>
              </a:rPr>
              <a:t>색상</a:t>
            </a:r>
            <a:r>
              <a:rPr lang="en-US" altLang="ko-KR" b="1" dirty="0">
                <a:solidFill>
                  <a:schemeClr val="accent1"/>
                </a:solidFill>
              </a:rPr>
              <a:t>’</a:t>
            </a:r>
            <a:r>
              <a:rPr lang="en-US" altLang="ko-KR" b="1" dirty="0"/>
              <a:t>; width: </a:t>
            </a:r>
            <a:r>
              <a:rPr lang="en-US" altLang="ko-KR" b="1" dirty="0">
                <a:solidFill>
                  <a:schemeClr val="accent1"/>
                </a:solidFill>
              </a:rPr>
              <a:t>0px</a:t>
            </a:r>
            <a:r>
              <a:rPr lang="en-US" altLang="ko-KR" b="1" dirty="0"/>
              <a:t>; height: </a:t>
            </a:r>
            <a:r>
              <a:rPr lang="en-US" altLang="ko-KR" b="1" dirty="0">
                <a:solidFill>
                  <a:schemeClr val="accent1"/>
                </a:solidFill>
              </a:rPr>
              <a:t>0px</a:t>
            </a:r>
            <a:r>
              <a:rPr lang="en-US" altLang="ko-KR" b="1" dirty="0"/>
              <a:t>”</a:t>
            </a:r>
            <a:r>
              <a:rPr lang="en-US" altLang="ko-KR" dirty="0"/>
              <a:t>&gt;&lt;/div&gt;</a:t>
            </a:r>
          </a:p>
        </p:txBody>
      </p:sp>
    </p:spTree>
    <p:extLst>
      <p:ext uri="{BB962C8B-B14F-4D97-AF65-F5344CB8AC3E}">
        <p14:creationId xmlns:p14="http://schemas.microsoft.com/office/powerpoint/2010/main" val="3782139482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코딩온_새싹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EC173"/>
      </a:accent1>
      <a:accent2>
        <a:srgbClr val="B4D56D"/>
      </a:accent2>
      <a:accent3>
        <a:srgbClr val="F99F2C"/>
      </a:accent3>
      <a:accent4>
        <a:srgbClr val="FFDB83"/>
      </a:accent4>
      <a:accent5>
        <a:srgbClr val="2894FF"/>
      </a:accent5>
      <a:accent6>
        <a:srgbClr val="A5A5A5"/>
      </a:accent6>
      <a:hlink>
        <a:srgbClr val="2894FF"/>
      </a:hlink>
      <a:folHlink>
        <a:srgbClr val="954F72"/>
      </a:folHlink>
    </a:clrScheme>
    <a:fontScheme name="PretendardGOV">
      <a:majorFont>
        <a:latin typeface="PretendardGOV"/>
        <a:ea typeface="PretendardGOV"/>
        <a:cs typeface=""/>
      </a:majorFont>
      <a:minorFont>
        <a:latin typeface="PretendardGOV"/>
        <a:ea typeface="PretendardGOV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1312</TotalTime>
  <Words>588</Words>
  <Application>Microsoft Office PowerPoint</Application>
  <PresentationFormat>와이드스크린</PresentationFormat>
  <Paragraphs>156</Paragraphs>
  <Slides>18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6" baseType="lpstr">
      <vt:lpstr>Pretendard GOV</vt:lpstr>
      <vt:lpstr>PretendardGOV</vt:lpstr>
      <vt:lpstr>Söhne Mono</vt:lpstr>
      <vt:lpstr>맑은 고딕</vt:lpstr>
      <vt:lpstr>메이플스토리</vt:lpstr>
      <vt:lpstr>Arial</vt:lpstr>
      <vt:lpstr>Wingdings</vt:lpstr>
      <vt:lpstr>2_Office 테마</vt:lpstr>
      <vt:lpstr>웹 개발자 부트캠프 과정</vt:lpstr>
      <vt:lpstr>CSS</vt:lpstr>
      <vt:lpstr>PowerPoint 프레젠테이션</vt:lpstr>
      <vt:lpstr>PowerPoint 프레젠테이션</vt:lpstr>
      <vt:lpstr>CSS</vt:lpstr>
      <vt:lpstr>CSS 사용 이유?</vt:lpstr>
      <vt:lpstr>Apple에 CSS가 없다면?</vt:lpstr>
      <vt:lpstr>우리의 친구! 개발자 도구</vt:lpstr>
      <vt:lpstr>CSS를 지워보자?!</vt:lpstr>
      <vt:lpstr>CSS 참조 방식</vt:lpstr>
      <vt:lpstr>인라인 방식은 불편해요!!</vt:lpstr>
      <vt:lpstr>내장 방식</vt:lpstr>
      <vt:lpstr>링크 방식</vt:lpstr>
      <vt:lpstr>링크 방식</vt:lpstr>
      <vt:lpstr>CSS 참조 방식</vt:lpstr>
      <vt:lpstr>Quiz. 내장 방식을 이용할 때  &lt;style&gt; 태그는 어느 곳에 사용될까요?  1. &lt;html&gt; 2. &lt;head&gt; 3. &lt;body&gt; 4. 기타</vt:lpstr>
      <vt:lpstr>Quiz. 내장 방식을 이용할 때  &lt;style&gt; 태그는 어느 곳에 사용될까요?  1. &lt;html&gt; 2. &lt;head&gt; 3. &lt;body&gt; 4. 기타</vt:lpstr>
      <vt:lpstr>실습. CSS 맛보기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김규리</dc:creator>
  <cp:lastModifiedBy>On Coding</cp:lastModifiedBy>
  <cp:revision>80</cp:revision>
  <dcterms:created xsi:type="dcterms:W3CDTF">2022-06-26T11:10:22Z</dcterms:created>
  <dcterms:modified xsi:type="dcterms:W3CDTF">2024-05-20T01:16:26Z</dcterms:modified>
</cp:coreProperties>
</file>