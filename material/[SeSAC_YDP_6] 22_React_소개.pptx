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9"/>
  </p:notesMasterIdLst>
  <p:sldIdLst>
    <p:sldId id="256" r:id="rId2"/>
    <p:sldId id="570" r:id="rId3"/>
    <p:sldId id="571" r:id="rId4"/>
    <p:sldId id="572" r:id="rId5"/>
    <p:sldId id="573" r:id="rId6"/>
    <p:sldId id="574" r:id="rId7"/>
    <p:sldId id="575" r:id="rId8"/>
    <p:sldId id="590" r:id="rId9"/>
    <p:sldId id="591" r:id="rId10"/>
    <p:sldId id="579" r:id="rId11"/>
    <p:sldId id="592" r:id="rId12"/>
    <p:sldId id="581" r:id="rId13"/>
    <p:sldId id="582" r:id="rId14"/>
    <p:sldId id="583" r:id="rId15"/>
    <p:sldId id="584" r:id="rId16"/>
    <p:sldId id="586" r:id="rId17"/>
    <p:sldId id="587" r:id="rId18"/>
    <p:sldId id="588" r:id="rId19"/>
    <p:sldId id="589" r:id="rId20"/>
    <p:sldId id="596" r:id="rId21"/>
    <p:sldId id="597" r:id="rId22"/>
    <p:sldId id="598" r:id="rId23"/>
    <p:sldId id="599" r:id="rId24"/>
    <p:sldId id="593" r:id="rId25"/>
    <p:sldId id="594" r:id="rId26"/>
    <p:sldId id="595" r:id="rId27"/>
    <p:sldId id="60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3" autoAdjust="0"/>
    <p:restoredTop sz="73684" autoAdjust="0"/>
  </p:normalViewPr>
  <p:slideViewPr>
    <p:cSldViewPr snapToGrid="0">
      <p:cViewPr varScale="1">
        <p:scale>
          <a:sx n="54" d="100"/>
          <a:sy n="54" d="100"/>
        </p:scale>
        <p:origin x="8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95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앵귤러</a:t>
            </a:r>
            <a:endParaRPr lang="en-US" altLang="ko-KR" dirty="0"/>
          </a:p>
          <a:p>
            <a:r>
              <a:rPr lang="ko-KR" altLang="en-US" dirty="0"/>
              <a:t>양방향 데이터 바인딩 개념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데이터 값이 한쪽에서 변화하면 다른 쪽에서도 바로 업데이트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모델과 뷰 간의 데이터를 자동으로 동기화 하는 기능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모델의 데이터가 변경되면 뷰가 자동으로 업데이트되고</a:t>
            </a:r>
            <a:r>
              <a:rPr lang="en-US" altLang="ko-KR" dirty="0"/>
              <a:t>, </a:t>
            </a:r>
            <a:r>
              <a:rPr lang="ko-KR" altLang="en-US" dirty="0"/>
              <a:t>반대로 뷰에서 입력된 데이터가 변경되면 모델의 데이터도 자동으로 업데이트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AngularJS</a:t>
            </a:r>
            <a:r>
              <a:rPr lang="ko-KR" altLang="en-US" dirty="0"/>
              <a:t>는 공식적으로 </a:t>
            </a:r>
            <a:r>
              <a:rPr lang="en-US" altLang="ko-KR" dirty="0"/>
              <a:t>21</a:t>
            </a:r>
            <a:r>
              <a:rPr lang="ko-KR" altLang="en-US" dirty="0"/>
              <a:t>년 </a:t>
            </a:r>
            <a:r>
              <a:rPr lang="en-US" altLang="ko-KR" dirty="0"/>
              <a:t>12.31</a:t>
            </a:r>
            <a:r>
              <a:rPr lang="ko-KR" altLang="en-US" dirty="0"/>
              <a:t>에 지원 종료</a:t>
            </a:r>
            <a:r>
              <a:rPr lang="en-US" altLang="ko-KR" dirty="0"/>
              <a:t>. Angular </a:t>
            </a:r>
            <a:r>
              <a:rPr lang="ko-KR" altLang="en-US" dirty="0"/>
              <a:t>최신 버전 탄생 </a:t>
            </a:r>
            <a:r>
              <a:rPr lang="en-US" altLang="ko-KR" dirty="0"/>
              <a:t>(TypeScript) </a:t>
            </a:r>
            <a:r>
              <a:rPr lang="ko-KR" altLang="en-US" dirty="0"/>
              <a:t>기반 작성 마이그레이션 권장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마이그레이션 </a:t>
            </a:r>
            <a:r>
              <a:rPr lang="en-US" altLang="ko-KR" dirty="0"/>
              <a:t>– </a:t>
            </a:r>
            <a:r>
              <a:rPr lang="ko-KR" altLang="en-US" dirty="0"/>
              <a:t>기존 </a:t>
            </a:r>
            <a:r>
              <a:rPr lang="ko-KR" altLang="en-US" dirty="0" err="1"/>
              <a:t>애플리켕시ㅕㄴ을</a:t>
            </a:r>
            <a:r>
              <a:rPr lang="ko-KR" altLang="en-US" dirty="0"/>
              <a:t> 최신 프레임워크로 이동시키는 과정으로</a:t>
            </a:r>
            <a:r>
              <a:rPr lang="en-US" altLang="ko-KR" dirty="0"/>
              <a:t>, </a:t>
            </a:r>
            <a:r>
              <a:rPr lang="ko-KR" altLang="en-US" dirty="0"/>
              <a:t>신중하게 계획하여 단계적으로 수행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72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9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React(</a:t>
            </a:r>
            <a:r>
              <a:rPr lang="ko-KR" altLang="en-US" dirty="0"/>
              <a:t>주황색</a:t>
            </a:r>
            <a:r>
              <a:rPr lang="en-US" altLang="ko-KR" dirty="0"/>
              <a:t>) </a:t>
            </a:r>
            <a:r>
              <a:rPr lang="ko-KR" altLang="en-US" dirty="0"/>
              <a:t>비율이 앞도적으로 높음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372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68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화면 </a:t>
            </a:r>
            <a:r>
              <a:rPr lang="en-US" altLang="ko-KR" dirty="0"/>
              <a:t>– user interface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5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57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부모 </a:t>
            </a:r>
            <a:r>
              <a:rPr lang="en-US" altLang="ko-KR" dirty="0"/>
              <a:t>-&gt; </a:t>
            </a:r>
            <a:r>
              <a:rPr lang="ko-KR" altLang="en-US" dirty="0"/>
              <a:t>자식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865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828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263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7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613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97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32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  <a:r>
              <a:rPr lang="ko-KR" altLang="en-US" dirty="0"/>
              <a:t>변경사항이</a:t>
            </a:r>
            <a:r>
              <a:rPr lang="ko-KR" altLang="en-US" baseline="0" dirty="0"/>
              <a:t> 잦은 모듈을 사용할 때</a:t>
            </a:r>
            <a:r>
              <a:rPr lang="en-US" altLang="ko-KR" baseline="0" dirty="0"/>
              <a:t>, </a:t>
            </a:r>
            <a:r>
              <a:rPr lang="ko-KR" altLang="en-US" baseline="0" dirty="0"/>
              <a:t>매번 최신 버전을 설치하지 않도록 모듈을 로컬에 저장하지 않고 매번 최신 버전의 파일만을 불러와 실행시키는 방식</a:t>
            </a:r>
            <a:r>
              <a:rPr lang="en-US" altLang="ko-KR" baseline="0" dirty="0"/>
              <a:t>. </a:t>
            </a:r>
            <a:r>
              <a:rPr lang="ko-KR" altLang="en-US" baseline="0" dirty="0"/>
              <a:t>원래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설치 후에 </a:t>
            </a:r>
            <a:r>
              <a:rPr lang="ko-KR" altLang="en-US" baseline="0" dirty="0" err="1"/>
              <a:t>사용해야하지만</a:t>
            </a:r>
            <a:r>
              <a:rPr lang="ko-KR" altLang="en-US" baseline="0" dirty="0"/>
              <a:t>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5.2.0 </a:t>
            </a:r>
            <a:r>
              <a:rPr lang="ko-KR" altLang="en-US" baseline="0" dirty="0"/>
              <a:t>버전부터 추가된 패키지 사용 도구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yarn: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사용하는 </a:t>
            </a:r>
            <a:r>
              <a:rPr lang="en-US" altLang="ko-KR" baseline="0" dirty="0" err="1"/>
              <a:t>facebook</a:t>
            </a:r>
            <a:r>
              <a:rPr lang="en-US" altLang="ko-KR" baseline="0" dirty="0"/>
              <a:t> </a:t>
            </a:r>
            <a:r>
              <a:rPr lang="ko-KR" altLang="en-US" baseline="0" dirty="0"/>
              <a:t>에서 만든 자바스크립트 패키지 매니저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보다 빠르고 효율적임</a:t>
            </a:r>
            <a:r>
              <a:rPr lang="en-US" altLang="ko-KR" baseline="0" dirty="0"/>
              <a:t>. </a:t>
            </a:r>
            <a:r>
              <a:rPr lang="ko-KR" altLang="en-US" baseline="0" dirty="0"/>
              <a:t>하지만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이 기본이기 때문에 일단은 계속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사용할 예정</a:t>
            </a:r>
            <a:r>
              <a:rPr lang="en-US" altLang="ko-KR" baseline="0" dirty="0"/>
              <a:t>. </a:t>
            </a:r>
            <a:r>
              <a:rPr lang="ko-KR" altLang="en-US" baseline="0" dirty="0"/>
              <a:t>나중에 공부하다가 </a:t>
            </a:r>
            <a:r>
              <a:rPr lang="en-US" altLang="ko-KR" baseline="0" dirty="0"/>
              <a:t>yarn</a:t>
            </a:r>
            <a:r>
              <a:rPr lang="ko-KR" altLang="en-US" baseline="0" dirty="0"/>
              <a:t>을 만나면 당황하지 말고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쓰이는 친구라고 생각하면 됨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43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425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package.json</a:t>
            </a:r>
            <a:r>
              <a:rPr lang="en-US" altLang="ko-KR" dirty="0"/>
              <a:t>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프로젝트의 메타 데이터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사용할 </a:t>
            </a:r>
            <a:r>
              <a:rPr lang="en-US" altLang="ko-KR" dirty="0"/>
              <a:t>node.js </a:t>
            </a:r>
            <a:r>
              <a:rPr lang="ko-KR" altLang="en-US" dirty="0"/>
              <a:t>패키지 목록 등을 </a:t>
            </a:r>
            <a:r>
              <a:rPr lang="ko-KR" altLang="en-US" dirty="0" err="1"/>
              <a:t>퐇마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public/**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index.html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http://localhost:3000</a:t>
            </a:r>
            <a:r>
              <a:rPr lang="ko-KR" altLang="en-US" dirty="0"/>
              <a:t> 이 가장 먼저 </a:t>
            </a:r>
            <a:r>
              <a:rPr lang="ko-KR" altLang="en-US" dirty="0" err="1"/>
              <a:t>리턴하는</a:t>
            </a:r>
            <a:r>
              <a:rPr lang="ko-KR" altLang="en-US" dirty="0"/>
              <a:t> 파일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현재 유일한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페이지들은 </a:t>
            </a:r>
            <a:r>
              <a:rPr lang="en-US" altLang="ko-KR" dirty="0"/>
              <a:t>React.js</a:t>
            </a:r>
            <a:r>
              <a:rPr lang="ko-KR" altLang="en-US" dirty="0"/>
              <a:t>를 통해 생성되어 </a:t>
            </a:r>
            <a:r>
              <a:rPr lang="en-US" altLang="ko-KR" dirty="0"/>
              <a:t>&lt;div id="root"&gt; </a:t>
            </a:r>
            <a:r>
              <a:rPr lang="ko-KR" altLang="en-US" dirty="0"/>
              <a:t>요소 아래에 동적으로 렌더링 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src</a:t>
            </a:r>
            <a:r>
              <a:rPr lang="en-US" altLang="ko-KR" dirty="0"/>
              <a:t>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**index.js**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dirty="0"/>
              <a:t>index.html</a:t>
            </a:r>
            <a:r>
              <a:rPr lang="ko-KR" altLang="en-US" dirty="0"/>
              <a:t>과 함께 가장 처음으로 실행 되는 자바스크립트 코드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이 자바스크립트 코드가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컴포넌트를 </a:t>
            </a:r>
            <a:r>
              <a:rPr lang="en-US" altLang="ko-KR" dirty="0"/>
              <a:t>root </a:t>
            </a:r>
            <a:r>
              <a:rPr lang="ko-KR" altLang="en-US" dirty="0"/>
              <a:t>아래에 추가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App.js**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기본으로 생성되는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4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4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410822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8735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7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0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6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9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21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57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75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161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46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3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</a:t>
            </a:r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5F0C9-FE0D-8412-01B3-B0E76BBD0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중 가장 많이 쓰이는 것은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1ECF6-E311-B183-3352-B26531EB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E71B-4077-4B0C-A21C-DB8409E582EB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32716-7B4E-A65C-7A80-0B25C9F5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5AD3C5-9D19-0A21-1F59-38D68C6F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 </a:t>
            </a:r>
          </a:p>
        </p:txBody>
      </p:sp>
      <p:pic>
        <p:nvPicPr>
          <p:cNvPr id="3074" name="Picture 2" descr="Blog - Allwyn is Angular JS (Level 3) certified - Acquven">
            <a:extLst>
              <a:ext uri="{FF2B5EF4-FFF2-40B4-BE49-F238E27FC236}">
                <a16:creationId xmlns:a16="http://schemas.microsoft.com/office/drawing/2014/main" id="{AF101674-9D07-0BDD-B0F8-0C6133A9E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0" y="2708763"/>
            <a:ext cx="4163285" cy="273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B47EAD37-3C41-2A13-E5A8-C13CBC1BF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585" y="2708763"/>
            <a:ext cx="4163634" cy="27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7E128CBE-826A-91C7-146F-AE4AD321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149" y="2708763"/>
            <a:ext cx="42386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98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88AF7-3DE7-9B17-3077-F9B1A131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580" y="1565213"/>
            <a:ext cx="8880231" cy="4351338"/>
          </a:xfrm>
        </p:spPr>
        <p:txBody>
          <a:bodyPr/>
          <a:lstStyle/>
          <a:p>
            <a:r>
              <a:rPr lang="ko-KR" altLang="en-US" dirty="0"/>
              <a:t>구글에서 만든 </a:t>
            </a:r>
            <a:r>
              <a:rPr lang="en-US" altLang="ko-KR" dirty="0"/>
              <a:t>JavaScript </a:t>
            </a:r>
            <a:r>
              <a:rPr lang="ko-KR" altLang="en-US" dirty="0"/>
              <a:t>기반의 오픈 소스 프레임워크</a:t>
            </a:r>
            <a:endParaRPr lang="en-US" altLang="ko-KR" dirty="0"/>
          </a:p>
          <a:p>
            <a:r>
              <a:rPr lang="ko-KR" altLang="en-US" dirty="0"/>
              <a:t>양방향 데이터 바인딩으로 양방향 웹 애플리케이션에 적합</a:t>
            </a:r>
            <a:endParaRPr lang="en-US" altLang="ko-KR" dirty="0"/>
          </a:p>
          <a:p>
            <a:r>
              <a:rPr lang="en-US" altLang="ko-KR" dirty="0"/>
              <a:t>2016</a:t>
            </a:r>
            <a:r>
              <a:rPr lang="ko-KR" altLang="en-US" dirty="0"/>
              <a:t>년도 이후 점유율 하락 중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 err="1"/>
              <a:t>페이팔</a:t>
            </a:r>
            <a:r>
              <a:rPr lang="en-US" altLang="ko-KR" dirty="0"/>
              <a:t>,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 err="1"/>
              <a:t>텔레그램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EDE66-39BF-C4F9-B38A-B188F293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695F-ED15-4181-BC24-4818008DEB4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2CC90-7A60-2BB5-6CC9-16D7985B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09C0C0-8DD8-FC9D-77A6-7DE58845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JS</a:t>
            </a:r>
            <a:endParaRPr lang="ko-KR" altLang="en-US" dirty="0"/>
          </a:p>
        </p:txBody>
      </p:sp>
      <p:pic>
        <p:nvPicPr>
          <p:cNvPr id="6" name="Picture 2" descr="Blog - Allwyn is Angular JS (Level 3) certified - Acquven">
            <a:extLst>
              <a:ext uri="{FF2B5EF4-FFF2-40B4-BE49-F238E27FC236}">
                <a16:creationId xmlns:a16="http://schemas.microsoft.com/office/drawing/2014/main" id="{92E236B6-88BF-D491-4EC5-7C2C11A7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8540"/>
            <a:ext cx="2098431" cy="137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96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8DBD1-4313-2759-DB87-B89A4D73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616" y="1565213"/>
            <a:ext cx="9185031" cy="4351338"/>
          </a:xfrm>
        </p:spPr>
        <p:txBody>
          <a:bodyPr/>
          <a:lstStyle/>
          <a:p>
            <a:r>
              <a:rPr lang="ko-KR" altLang="en-US" dirty="0"/>
              <a:t>동적 사용자 인터페이스를 만들기 위해 </a:t>
            </a:r>
            <a:r>
              <a:rPr lang="en-US" altLang="ko-KR" dirty="0"/>
              <a:t>2011</a:t>
            </a:r>
            <a:r>
              <a:rPr lang="ko-KR" altLang="en-US" dirty="0"/>
              <a:t>년 </a:t>
            </a:r>
            <a:r>
              <a:rPr lang="ko-KR" altLang="en-US" dirty="0" err="1"/>
              <a:t>페이스북에서</a:t>
            </a:r>
            <a:r>
              <a:rPr lang="ko-KR" altLang="en-US" dirty="0"/>
              <a:t> 만든 오픈 소스 </a:t>
            </a:r>
            <a:r>
              <a:rPr lang="en-US" altLang="ko-KR" dirty="0"/>
              <a:t>JavaScript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r>
              <a:rPr lang="ko-KR" altLang="en-US" dirty="0"/>
              <a:t>데이터 변경이 잦은 복잡하고</a:t>
            </a:r>
            <a:r>
              <a:rPr lang="en-US" altLang="ko-KR" dirty="0"/>
              <a:t>, </a:t>
            </a:r>
            <a:r>
              <a:rPr lang="ko-KR" altLang="en-US" dirty="0"/>
              <a:t>규모가 큰 라이브러리에 적합</a:t>
            </a:r>
            <a:endParaRPr lang="en-US" altLang="ko-KR" dirty="0"/>
          </a:p>
          <a:p>
            <a:r>
              <a:rPr lang="en-US" altLang="ko-KR" dirty="0"/>
              <a:t>Angular </a:t>
            </a:r>
            <a:r>
              <a:rPr lang="ko-KR" altLang="en-US" dirty="0"/>
              <a:t>보다 배우기 쉽다고 이야기 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페이스북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, </a:t>
            </a:r>
            <a:r>
              <a:rPr lang="ko-KR" alt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야후</a:t>
            </a:r>
            <a:r>
              <a:rPr lang="en-US" altLang="ko-KR" dirty="0"/>
              <a:t>, </a:t>
            </a:r>
            <a:r>
              <a:rPr lang="ko-KR" altLang="en-US" dirty="0" err="1"/>
              <a:t>드롭박스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A1410C-A82E-01A8-8211-21B49421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F1434-6E25-475C-8377-59FE6BAECDE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6DB0CF-A3C5-C746-9A0A-82C3F1D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70BA45-8CAF-F578-9DA8-D3149A28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JS</a:t>
            </a:r>
            <a:endParaRPr lang="ko-KR" altLang="en-US" dirty="0"/>
          </a:p>
        </p:txBody>
      </p:sp>
      <p:pic>
        <p:nvPicPr>
          <p:cNvPr id="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7AB17B41-725F-6761-4FE1-0A8F23939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" y="1585000"/>
            <a:ext cx="2383318" cy="156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98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7BBF2-6052-3233-841D-68D677AD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84" y="1565213"/>
            <a:ext cx="8364415" cy="4351338"/>
          </a:xfrm>
        </p:spPr>
        <p:txBody>
          <a:bodyPr/>
          <a:lstStyle/>
          <a:p>
            <a:r>
              <a:rPr lang="en-US" altLang="ko-KR" dirty="0"/>
              <a:t>2013</a:t>
            </a:r>
            <a:r>
              <a:rPr lang="ko-KR" altLang="en-US" dirty="0"/>
              <a:t>년 출시된 </a:t>
            </a:r>
            <a:r>
              <a:rPr lang="en-US" altLang="ko-KR" dirty="0"/>
              <a:t>JavaScript </a:t>
            </a:r>
            <a:r>
              <a:rPr lang="ko-KR" altLang="en-US" dirty="0"/>
              <a:t>프레임워크</a:t>
            </a:r>
            <a:endParaRPr lang="en-US" altLang="ko-KR" dirty="0"/>
          </a:p>
          <a:p>
            <a:r>
              <a:rPr lang="en-US" altLang="ko-KR" dirty="0"/>
              <a:t>Angular</a:t>
            </a:r>
            <a:r>
              <a:rPr lang="ko-KR" altLang="en-US" dirty="0"/>
              <a:t>와 </a:t>
            </a:r>
            <a:r>
              <a:rPr lang="en-US" altLang="ko-KR" dirty="0"/>
              <a:t>React</a:t>
            </a:r>
            <a:r>
              <a:rPr lang="ko-KR" altLang="en-US" dirty="0"/>
              <a:t>의 장점을 수용한 프레임워크</a:t>
            </a:r>
            <a:endParaRPr lang="en-US" altLang="ko-KR" dirty="0"/>
          </a:p>
          <a:p>
            <a:r>
              <a:rPr lang="ko-KR" altLang="en-US" dirty="0"/>
              <a:t>중국어 기반으로 </a:t>
            </a:r>
            <a:r>
              <a:rPr lang="en-US" altLang="ko-KR" dirty="0"/>
              <a:t>Reference</a:t>
            </a:r>
            <a:r>
              <a:rPr lang="ko-KR" altLang="en-US" dirty="0"/>
              <a:t>가 적음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</a:t>
            </a:r>
            <a:r>
              <a:rPr lang="ko-KR" altLang="en-US" dirty="0"/>
              <a:t> 샤오미</a:t>
            </a:r>
            <a:r>
              <a:rPr lang="en-US" altLang="ko-KR" dirty="0"/>
              <a:t>, </a:t>
            </a:r>
            <a:r>
              <a:rPr lang="ko-KR" altLang="en-US" dirty="0" err="1"/>
              <a:t>알리바바</a:t>
            </a:r>
            <a:r>
              <a:rPr lang="en-US" altLang="ko-KR" dirty="0"/>
              <a:t>, </a:t>
            </a:r>
            <a:r>
              <a:rPr lang="ko-KR" altLang="en-US" dirty="0" err="1"/>
              <a:t>깃랩</a:t>
            </a:r>
            <a:r>
              <a:rPr lang="en-US" altLang="ko-KR" dirty="0"/>
              <a:t>, </a:t>
            </a:r>
            <a:r>
              <a:rPr lang="ko-KR" altLang="en-US" dirty="0" err="1"/>
              <a:t>어도비</a:t>
            </a:r>
            <a:r>
              <a:rPr lang="ko-KR" altLang="en-US" dirty="0"/>
              <a:t> 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F8C106-6485-575F-F03C-310DD9EB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8F57-5581-4FA1-9B0C-81906BCA3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23CD61-067B-0756-4B0E-BF33DA74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EB274D-CE25-2CF7-6F00-85394B5D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Vue.js</a:t>
            </a:r>
            <a:endParaRPr lang="ko-KR" altLang="en-US" dirty="0"/>
          </a:p>
        </p:txBody>
      </p:sp>
      <p:pic>
        <p:nvPicPr>
          <p:cNvPr id="6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1B6CB3FA-54D3-6262-BE2F-60CB18A3A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3" t="-1660" r="23637" b="1660"/>
          <a:stretch/>
        </p:blipFill>
        <p:spPr bwMode="auto">
          <a:xfrm>
            <a:off x="838201" y="1614913"/>
            <a:ext cx="1700271" cy="205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68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F765A-1995-70E7-44E9-C520B5B3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63825-48B7-4D15-9EE9-BC4A2FA13F72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AD6D90-4769-2AA2-1071-321FB2B0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2F818A-81EF-1339-8EDB-B25A87DD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vs. React</a:t>
            </a:r>
            <a:r>
              <a:rPr lang="ko-KR" altLang="en-US" dirty="0"/>
              <a:t> </a:t>
            </a:r>
            <a:r>
              <a:rPr lang="en-US" altLang="ko-KR" dirty="0"/>
              <a:t>vs. Vue.js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1E5D6C-C53E-317C-2F25-DCC06C86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271297"/>
            <a:ext cx="11146972" cy="510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84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r>
              <a:rPr lang="en-US" altLang="ko-KR" dirty="0">
                <a:hlinkClick r:id="rId3"/>
              </a:rPr>
              <a:t>https://react.dev/</a:t>
            </a:r>
            <a:endParaRPr lang="en-US" altLang="ko-KR" dirty="0"/>
          </a:p>
          <a:p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1"/>
                </a:solidFill>
              </a:rPr>
              <a:t>library</a:t>
            </a:r>
            <a:r>
              <a:rPr lang="en-US" altLang="ko-KR" dirty="0"/>
              <a:t> for web and native </a:t>
            </a:r>
            <a:r>
              <a:rPr lang="en-US" altLang="ko-KR" dirty="0">
                <a:solidFill>
                  <a:schemeClr val="accent1"/>
                </a:solidFill>
              </a:rPr>
              <a:t>user interfaces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1" r="1848" b="621"/>
          <a:stretch/>
        </p:blipFill>
        <p:spPr>
          <a:xfrm>
            <a:off x="6397754" y="704844"/>
            <a:ext cx="4774434" cy="536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4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37AD5-610C-2412-B349-81DEB319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화면을 만들기 위한 </a:t>
            </a:r>
            <a:r>
              <a:rPr lang="ko-KR" altLang="en-US" dirty="0">
                <a:solidFill>
                  <a:schemeClr val="accent1"/>
                </a:solidFill>
              </a:rPr>
              <a:t>자바스크립트 라이브러리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ko-KR" altLang="en-US" dirty="0"/>
              <a:t>현재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 환경에서 가장 많이 활용되고 있는 라이브러리</a:t>
            </a:r>
            <a:endParaRPr lang="en-US" altLang="ko-KR" dirty="0"/>
          </a:p>
          <a:p>
            <a:r>
              <a:rPr lang="ko-KR" altLang="en-US" dirty="0"/>
              <a:t>사용자와 상호 작용이 가능한 동적 </a:t>
            </a:r>
            <a:r>
              <a:rPr lang="en-US" altLang="ko-KR" dirty="0"/>
              <a:t>UI </a:t>
            </a:r>
            <a:r>
              <a:rPr lang="ko-KR" altLang="en-US" dirty="0"/>
              <a:t>제작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11914-DD55-BFF2-E3D5-7874FC27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7BEF-B73A-49F5-82B0-918E780DEC4B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212A2-5058-0EB1-FDE3-4DA51941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229A2B-3218-BB87-0592-07CA74BC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792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Data Flow</a:t>
            </a:r>
          </a:p>
          <a:p>
            <a:pPr marL="514350" indent="-514350">
              <a:buAutoNum type="arabicPeriod"/>
            </a:pPr>
            <a:r>
              <a:rPr lang="en-US" altLang="ko-KR" dirty="0"/>
              <a:t>Component </a:t>
            </a:r>
            <a:r>
              <a:rPr lang="ko-KR" altLang="en-US" dirty="0"/>
              <a:t>기반 구조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Virtual</a:t>
            </a:r>
            <a:r>
              <a:rPr lang="ko-KR" altLang="en-US" dirty="0"/>
              <a:t> </a:t>
            </a:r>
            <a:r>
              <a:rPr lang="en-US" altLang="ko-KR" dirty="0"/>
              <a:t>Dom</a:t>
            </a:r>
          </a:p>
          <a:p>
            <a:pPr marL="514350" indent="-514350">
              <a:buAutoNum type="arabicPeriod"/>
            </a:pPr>
            <a:r>
              <a:rPr lang="en-US" altLang="ko-KR" dirty="0"/>
              <a:t>Props and State</a:t>
            </a:r>
          </a:p>
          <a:p>
            <a:pPr marL="514350" indent="-514350">
              <a:buAutoNum type="arabicPeriod"/>
            </a:pPr>
            <a:r>
              <a:rPr lang="en-US" altLang="ko-KR" dirty="0" err="1"/>
              <a:t>JSX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특징</a:t>
            </a:r>
          </a:p>
        </p:txBody>
      </p:sp>
    </p:spTree>
    <p:extLst>
      <p:ext uri="{BB962C8B-B14F-4D97-AF65-F5344CB8AC3E}">
        <p14:creationId xmlns:p14="http://schemas.microsoft.com/office/powerpoint/2010/main" val="18667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2EB69-5D0B-BD0D-3F68-2C11B5F0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양방향 </a:t>
            </a:r>
            <a:r>
              <a:rPr lang="en-US" altLang="ko-KR" dirty="0"/>
              <a:t>X </a:t>
            </a:r>
            <a:r>
              <a:rPr lang="ko-KR" altLang="en-US" b="1" dirty="0">
                <a:solidFill>
                  <a:schemeClr val="accent1"/>
                </a:solidFill>
              </a:rPr>
              <a:t>단방향 </a:t>
            </a:r>
            <a:r>
              <a:rPr lang="en-US" altLang="ko-KR" b="1" dirty="0">
                <a:solidFill>
                  <a:schemeClr val="accent1"/>
                </a:solidFill>
              </a:rPr>
              <a:t>O </a:t>
            </a:r>
            <a:r>
              <a:rPr lang="ko-KR" altLang="en-US" b="1" dirty="0">
                <a:solidFill>
                  <a:schemeClr val="accent1"/>
                </a:solidFill>
              </a:rPr>
              <a:t>데이터 흐름</a:t>
            </a:r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dirty="0"/>
              <a:t>Angular JS </a:t>
            </a:r>
            <a:r>
              <a:rPr lang="ko-KR" altLang="en-US" dirty="0"/>
              <a:t>처럼 양방향 데이터 바인딩은 규모가 커질수록 데이터의 흐름을 추적하기 힘들고 복잡해지는 경향이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B420A-7F40-C197-E70E-7A7EDD4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85CA-27A9-4DEA-8849-A362F4ECB0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E88A00-63DF-D74B-D42B-63D26475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F81697-F3C6-F906-2920-D4293EE3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1. Data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12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B3876-DA3B-390F-10DC-BB305F986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</a:rPr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독립적인 단위의 소프트웨어 모듈로 소프트웨어를 독립적인 </a:t>
            </a:r>
            <a:r>
              <a:rPr lang="ko-KR" altLang="en-US" b="1" dirty="0">
                <a:solidFill>
                  <a:schemeClr val="accent1"/>
                </a:solidFill>
              </a:rPr>
              <a:t>하나의 부품</a:t>
            </a:r>
            <a:r>
              <a:rPr lang="ko-KR" altLang="en-US" dirty="0"/>
              <a:t>으로 만드는 방법</a:t>
            </a:r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는 </a:t>
            </a:r>
            <a:r>
              <a:rPr lang="en-US" altLang="ko-KR" dirty="0"/>
              <a:t>UI(View)</a:t>
            </a:r>
            <a:r>
              <a:rPr lang="ko-KR" altLang="en-US" dirty="0"/>
              <a:t>를 여러 </a:t>
            </a:r>
            <a:r>
              <a:rPr lang="en-US" altLang="ko-KR" dirty="0"/>
              <a:t>Component</a:t>
            </a:r>
            <a:r>
              <a:rPr lang="ko-KR" altLang="en-US" dirty="0"/>
              <a:t>를 쪼개서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 페이지 내에서 여러 부분을 </a:t>
            </a:r>
            <a:r>
              <a:rPr lang="en-US" altLang="ko-KR" dirty="0"/>
              <a:t>Component</a:t>
            </a:r>
            <a:r>
              <a:rPr lang="ko-KR" altLang="en-US" dirty="0"/>
              <a:t>로 만들고 이를 조립해 화면을 구성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25303-5F51-DC58-F265-B63E2582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5DEE-25A5-4339-9AC2-7BA35671899D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FCE170-7E4F-F360-9309-9EC36B3A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D28ECF-601C-4F1B-2965-BA97998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</p:spTree>
    <p:extLst>
      <p:ext uri="{BB962C8B-B14F-4D97-AF65-F5344CB8AC3E}">
        <p14:creationId xmlns:p14="http://schemas.microsoft.com/office/powerpoint/2010/main" val="365762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FC0F-ED49-9D2C-CE9E-EAFD39AA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2923"/>
            <a:ext cx="10515600" cy="368397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Component</a:t>
            </a:r>
            <a:r>
              <a:rPr lang="ko-KR" altLang="en-US" dirty="0"/>
              <a:t> 단위로 쪼개져 있기 때문에</a:t>
            </a:r>
            <a:r>
              <a:rPr lang="en-US" altLang="ko-KR" dirty="0"/>
              <a:t>, </a:t>
            </a:r>
            <a:r>
              <a:rPr lang="ko-KR" altLang="en-US" dirty="0"/>
              <a:t>전체 코드를 파악하기 쉽다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기능 단위</a:t>
            </a:r>
            <a:r>
              <a:rPr lang="en-US" altLang="ko-KR" dirty="0"/>
              <a:t>, UI </a:t>
            </a:r>
            <a:r>
              <a:rPr lang="ko-KR" altLang="en-US" dirty="0"/>
              <a:t>단위로 </a:t>
            </a:r>
            <a:r>
              <a:rPr lang="ko-KR" altLang="en-US" dirty="0" err="1"/>
              <a:t>캡슐화시켜</a:t>
            </a:r>
            <a:r>
              <a:rPr lang="ko-KR" altLang="en-US" dirty="0"/>
              <a:t> 코드를 관리하기 때문에 </a:t>
            </a:r>
            <a:r>
              <a:rPr lang="ko-KR" altLang="en-US" b="1" dirty="0"/>
              <a:t>재사용성</a:t>
            </a:r>
            <a:r>
              <a:rPr lang="ko-KR" altLang="en-US" dirty="0"/>
              <a:t>이 높다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코드를 반복할 필요 없이 </a:t>
            </a:r>
            <a:r>
              <a:rPr lang="en-US" altLang="ko-KR" dirty="0"/>
              <a:t>Component</a:t>
            </a:r>
            <a:r>
              <a:rPr lang="ko-KR" altLang="en-US" dirty="0"/>
              <a:t>만 </a:t>
            </a:r>
            <a:r>
              <a:rPr lang="en-US" altLang="ko-KR" dirty="0"/>
              <a:t>import </a:t>
            </a:r>
            <a:r>
              <a:rPr lang="ko-KR" altLang="en-US" dirty="0"/>
              <a:t>해서 사용하면 된다는 </a:t>
            </a:r>
            <a:r>
              <a:rPr lang="ko-KR" altLang="en-US" b="1" dirty="0"/>
              <a:t>간편함</a:t>
            </a:r>
            <a:r>
              <a:rPr lang="ko-KR" altLang="en-US" dirty="0"/>
              <a:t>이 있다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애플리케이션이 </a:t>
            </a:r>
            <a:r>
              <a:rPr lang="ko-KR" altLang="en-US" dirty="0" err="1"/>
              <a:t>복잡해지더라도</a:t>
            </a:r>
            <a:r>
              <a:rPr lang="ko-KR" altLang="en-US" dirty="0"/>
              <a:t> </a:t>
            </a:r>
            <a:r>
              <a:rPr lang="ko-KR" altLang="en-US" b="1" dirty="0"/>
              <a:t>코드의 유지보수</a:t>
            </a:r>
            <a:r>
              <a:rPr lang="en-US" altLang="ko-KR" b="1" dirty="0"/>
              <a:t>, </a:t>
            </a:r>
            <a:r>
              <a:rPr lang="ko-KR" altLang="en-US" b="1" dirty="0"/>
              <a:t>관리가 용이</a:t>
            </a:r>
            <a:r>
              <a:rPr lang="ko-KR" altLang="en-US" dirty="0"/>
              <a:t>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970B1-6792-DBF1-D7C6-0C10762D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D4D2-499C-4900-92C8-E32DFC679E3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62CBD0-D77C-9617-49A7-DC2E2B11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E814A3-8CE1-6D84-9FC3-0128B1FF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6FE55-3508-5229-9C15-088403C3718F}"/>
              </a:ext>
            </a:extLst>
          </p:cNvPr>
          <p:cNvSpPr txBox="1"/>
          <p:nvPr/>
        </p:nvSpPr>
        <p:spPr>
          <a:xfrm>
            <a:off x="3788701" y="5458280"/>
            <a:ext cx="7747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b="1" dirty="0" err="1">
                <a:solidFill>
                  <a:schemeClr val="accent6"/>
                </a:solidFill>
              </a:rPr>
              <a:t>캡슐화</a:t>
            </a:r>
            <a:r>
              <a:rPr lang="ko-KR" altLang="en-US" dirty="0" err="1">
                <a:solidFill>
                  <a:schemeClr val="accent6"/>
                </a:solidFill>
              </a:rPr>
              <a:t>란</a:t>
            </a:r>
            <a:r>
              <a:rPr lang="en-US" altLang="ko-KR" dirty="0">
                <a:solidFill>
                  <a:schemeClr val="accent6"/>
                </a:solidFill>
              </a:rPr>
              <a:t>?</a:t>
            </a:r>
          </a:p>
          <a:p>
            <a:pPr algn="r"/>
            <a:r>
              <a:rPr lang="ko-KR" altLang="en-US" dirty="0">
                <a:solidFill>
                  <a:schemeClr val="accent6"/>
                </a:solidFill>
              </a:rPr>
              <a:t>데이터와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데이터를 처리하는 행위를 묶고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외부에는 그 행위를 보여주지 않는 것</a:t>
            </a:r>
          </a:p>
        </p:txBody>
      </p:sp>
    </p:spTree>
    <p:extLst>
      <p:ext uri="{BB962C8B-B14F-4D97-AF65-F5344CB8AC3E}">
        <p14:creationId xmlns:p14="http://schemas.microsoft.com/office/powerpoint/2010/main" val="189471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6F692-1DF0-07C4-D0A7-0604C6C72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740" y="1825625"/>
            <a:ext cx="6576060" cy="4351338"/>
          </a:xfrm>
        </p:spPr>
        <p:txBody>
          <a:bodyPr/>
          <a:lstStyle/>
          <a:p>
            <a:r>
              <a:rPr lang="en-US" altLang="ko-KR" dirty="0"/>
              <a:t>Header, Footer </a:t>
            </a:r>
            <a:r>
              <a:rPr lang="ko-KR" altLang="en-US" dirty="0"/>
              <a:t>같은 구조를 컴포넌트로 제작</a:t>
            </a:r>
            <a:endParaRPr lang="en-US" altLang="ko-KR" dirty="0"/>
          </a:p>
          <a:p>
            <a:r>
              <a:rPr lang="ko-KR" altLang="en-US" dirty="0"/>
              <a:t>컴포넌트를 조합해 </a:t>
            </a:r>
            <a:r>
              <a:rPr lang="en-US" altLang="ko-KR" dirty="0"/>
              <a:t>Root Component (</a:t>
            </a:r>
            <a:r>
              <a:rPr lang="ko-KR" altLang="en-US" dirty="0"/>
              <a:t>최상위 컴포넌트</a:t>
            </a:r>
            <a:r>
              <a:rPr lang="en-US" altLang="ko-KR" dirty="0"/>
              <a:t>) </a:t>
            </a:r>
            <a:r>
              <a:rPr lang="ko-KR" altLang="en-US" dirty="0"/>
              <a:t>로 만듦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5DC2B-100D-4ABF-F404-9B4BBBA1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3EB5-E321-4CB7-8431-D125BB957E9D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B07BC2-C803-43E4-7F17-0C939F41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6D4EAF-7B25-09C0-1F77-1807B780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F4E319-1F2E-4CC6-C5B7-7D2C21093C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36" b="6739"/>
          <a:stretch/>
        </p:blipFill>
        <p:spPr>
          <a:xfrm>
            <a:off x="861054" y="1825625"/>
            <a:ext cx="3627131" cy="42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12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0BE54-8F51-7B76-8DA7-418BB14D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 : Document Object Model ( </a:t>
            </a:r>
            <a:r>
              <a:rPr lang="ko-KR" altLang="en-US" dirty="0"/>
              <a:t>문서 객체 모델 </a:t>
            </a:r>
            <a:r>
              <a:rPr lang="en-US" altLang="ko-KR" dirty="0"/>
              <a:t>)</a:t>
            </a:r>
          </a:p>
          <a:p>
            <a:pPr marL="3657600" lvl="8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CCB0EEF-6763-EE0A-3543-C4BE1B4DF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22" y="2516076"/>
            <a:ext cx="3198286" cy="33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4220308" y="2516076"/>
            <a:ext cx="7285892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React</a:t>
            </a:r>
            <a:r>
              <a:rPr lang="ko-KR" altLang="en-US" sz="2400" dirty="0"/>
              <a:t>는 </a:t>
            </a:r>
            <a:r>
              <a:rPr lang="en-US" altLang="ko-KR" sz="2400" dirty="0"/>
              <a:t>DOM Tree </a:t>
            </a:r>
            <a:r>
              <a:rPr lang="ko-KR" altLang="en-US" sz="2400" dirty="0"/>
              <a:t>구조와 같은 구조를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으로 가지고 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08615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561860" y="1325563"/>
            <a:ext cx="10944340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397D1C-55A6-CA0D-2549-5E2672BB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46" y="2538317"/>
            <a:ext cx="5935108" cy="32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973BD-0840-0409-CB5C-44A263F4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</a:p>
          <a:p>
            <a:pPr lvl="1"/>
            <a:r>
              <a:rPr lang="ko-KR" altLang="en-US" dirty="0"/>
              <a:t>부모 컴포넌트에서 자식 컴포넌트로 전달해주는 데이터</a:t>
            </a:r>
            <a:endParaRPr lang="en-US" altLang="ko-KR" dirty="0"/>
          </a:p>
          <a:p>
            <a:pPr lvl="1"/>
            <a:r>
              <a:rPr lang="ko-KR" altLang="en-US" dirty="0"/>
              <a:t>자식에서는 </a:t>
            </a:r>
            <a:r>
              <a:rPr lang="en-US" altLang="ko-KR" dirty="0"/>
              <a:t>props </a:t>
            </a:r>
            <a:r>
              <a:rPr lang="ko-KR" altLang="en-US" dirty="0"/>
              <a:t>변경 불가능</a:t>
            </a:r>
            <a:r>
              <a:rPr lang="en-US" altLang="ko-KR" dirty="0"/>
              <a:t>, props</a:t>
            </a:r>
            <a:r>
              <a:rPr lang="ko-KR" altLang="en-US" dirty="0"/>
              <a:t>를 전달한 최상위에서만 변경 가능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State</a:t>
            </a:r>
          </a:p>
          <a:p>
            <a:pPr lvl="1"/>
            <a:r>
              <a:rPr lang="ko-KR" altLang="en-US" dirty="0"/>
              <a:t>컴포넌트 내부에서 선언되고 내부에서 값을 변경</a:t>
            </a:r>
            <a:endParaRPr lang="en-US" altLang="ko-KR" dirty="0"/>
          </a:p>
          <a:p>
            <a:pPr lvl="1"/>
            <a:r>
              <a:rPr lang="ko-KR" altLang="en-US" dirty="0"/>
              <a:t>클래스형 컴포넌트에서만 사용 가능</a:t>
            </a:r>
            <a:r>
              <a:rPr lang="en-US" altLang="ko-KR" dirty="0"/>
              <a:t>, </a:t>
            </a:r>
            <a:r>
              <a:rPr lang="ko-KR" altLang="en-US" dirty="0"/>
              <a:t>각각의 </a:t>
            </a:r>
            <a:r>
              <a:rPr lang="en-US" altLang="ko-KR" dirty="0"/>
              <a:t>state</a:t>
            </a:r>
            <a:r>
              <a:rPr lang="ko-KR" altLang="en-US" dirty="0"/>
              <a:t>는 독립적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>
                <a:solidFill>
                  <a:schemeClr val="accent1"/>
                </a:solidFill>
              </a:rPr>
              <a:t>함수형 컴포넌트에서는 </a:t>
            </a:r>
            <a:r>
              <a:rPr lang="en-US" altLang="ko-KR" dirty="0">
                <a:solidFill>
                  <a:schemeClr val="accent1"/>
                </a:solidFill>
              </a:rPr>
              <a:t>NO!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BF3FE-AAED-37F5-322F-D9C19167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9B623-B367-4165-8C2F-DFDEC75DE620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B6A307-3626-2212-51E5-1F8DBB53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549363-2D3C-2EF7-A689-C289F3B5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4. Props and 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119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AD72E-5551-D378-962D-FCD56600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에서 </a:t>
            </a:r>
            <a:r>
              <a:rPr lang="en-US" altLang="ko-KR" dirty="0"/>
              <a:t>JSX </a:t>
            </a:r>
            <a:r>
              <a:rPr lang="ko-KR" altLang="en-US" dirty="0"/>
              <a:t>사용이 필수는 아니지만 편의성을 위해 대부분의 프로젝트에서 </a:t>
            </a:r>
            <a:r>
              <a:rPr lang="en-US" altLang="ko-KR" dirty="0" err="1"/>
              <a:t>JSX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 err="1"/>
              <a:t>JSX</a:t>
            </a:r>
            <a:r>
              <a:rPr lang="en-US" altLang="ko-KR" dirty="0"/>
              <a:t> = </a:t>
            </a:r>
            <a:r>
              <a:rPr lang="en-US" altLang="ko-KR" dirty="0" err="1"/>
              <a:t>Javascript</a:t>
            </a:r>
            <a:r>
              <a:rPr lang="en-US" altLang="ko-KR" dirty="0"/>
              <a:t> + XML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를 확장한 문법으로 </a:t>
            </a:r>
            <a:r>
              <a:rPr lang="en-US" altLang="ko-KR" dirty="0"/>
              <a:t>React Element</a:t>
            </a:r>
            <a:r>
              <a:rPr lang="ko-KR" altLang="en-US" dirty="0"/>
              <a:t>를 생성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079305-30A5-BA9F-62C1-B11FF595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4E03-9351-4410-87CA-D059FFF4906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A65109-24D4-E914-3046-2DA25C8D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A36E38-1694-2EA3-1C9F-7D09B520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5. JSX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5662E-767C-D055-4DBF-234C8E84C3A4}"/>
              </a:ext>
            </a:extLst>
          </p:cNvPr>
          <p:cNvSpPr txBox="1"/>
          <p:nvPr/>
        </p:nvSpPr>
        <p:spPr>
          <a:xfrm>
            <a:off x="2703757" y="4780616"/>
            <a:ext cx="6784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6"/>
                </a:solidFill>
              </a:rPr>
              <a:t>더 자세한 건 </a:t>
            </a:r>
            <a:r>
              <a:rPr lang="en-US" altLang="ko-KR" sz="2400" dirty="0">
                <a:solidFill>
                  <a:schemeClr val="accent6"/>
                </a:solidFill>
              </a:rPr>
              <a:t>React </a:t>
            </a:r>
            <a:r>
              <a:rPr lang="ko-KR" altLang="en-US" sz="2400" dirty="0">
                <a:solidFill>
                  <a:schemeClr val="accent6"/>
                </a:solidFill>
              </a:rPr>
              <a:t>프로젝트를 생성한 후에 배워보자</a:t>
            </a:r>
            <a:r>
              <a:rPr lang="en-US" altLang="ko-KR" sz="2400" dirty="0">
                <a:solidFill>
                  <a:schemeClr val="accent6"/>
                </a:solidFill>
              </a:rPr>
              <a:t>!</a:t>
            </a:r>
            <a:endParaRPr lang="ko-KR" alt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13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E08F1-E4F2-20DC-80E6-5D5A0CF1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51FCCB-21F1-C247-CCA0-668E623C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2B11E1-C1B6-B8DD-9585-9840F75C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080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F00573-52FF-E4C7-62B5-262ACC8E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는 </a:t>
            </a:r>
            <a:r>
              <a:rPr lang="en-US" altLang="ko-KR" dirty="0"/>
              <a:t>React</a:t>
            </a:r>
            <a:r>
              <a:rPr lang="ko-KR" altLang="en-US" dirty="0"/>
              <a:t>를 사용하기 쉽게 하는 도구를 내장하고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Node.js</a:t>
            </a:r>
            <a:r>
              <a:rPr lang="ko-KR" altLang="en-US" dirty="0"/>
              <a:t>와 함께 설치되는 </a:t>
            </a:r>
            <a:r>
              <a:rPr lang="en-US" altLang="ko-KR" dirty="0"/>
              <a:t>NPM(Node Package Manager)</a:t>
            </a:r>
            <a:r>
              <a:rPr lang="ko-KR" altLang="en-US" dirty="0"/>
              <a:t>를 이용하면</a:t>
            </a:r>
            <a:r>
              <a:rPr lang="en-US" altLang="ko-KR" dirty="0"/>
              <a:t> </a:t>
            </a:r>
            <a:r>
              <a:rPr lang="ko-KR" altLang="en-US" dirty="0" err="1"/>
              <a:t>프론트엔드</a:t>
            </a:r>
            <a:r>
              <a:rPr lang="ko-KR" altLang="en-US" dirty="0"/>
              <a:t> 프로젝트를</a:t>
            </a:r>
            <a:r>
              <a:rPr lang="en-US" altLang="ko-KR" dirty="0"/>
              <a:t> </a:t>
            </a:r>
            <a:r>
              <a:rPr lang="ko-KR" altLang="en-US" dirty="0"/>
              <a:t>위한 다양한 패키지를 쉽게 설치하고 관리 가능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리액트</a:t>
            </a:r>
            <a:r>
              <a:rPr lang="ko-KR" altLang="en-US" dirty="0" err="1"/>
              <a:t>도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하나의 패키지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자바스크립트 런타임인 </a:t>
            </a:r>
            <a:r>
              <a:rPr lang="en-US" altLang="ko-KR" dirty="0"/>
              <a:t>Node.js </a:t>
            </a:r>
            <a:r>
              <a:rPr lang="ko-KR" altLang="en-US" dirty="0"/>
              <a:t>기반으로 만들어진 </a:t>
            </a:r>
            <a:r>
              <a:rPr lang="en-US" altLang="ko-KR" dirty="0">
                <a:solidFill>
                  <a:schemeClr val="accent1"/>
                </a:solidFill>
              </a:rPr>
              <a:t>Webpack</a:t>
            </a:r>
            <a:r>
              <a:rPr lang="ko-KR" altLang="en-US" dirty="0"/>
              <a:t>과 </a:t>
            </a:r>
            <a:r>
              <a:rPr lang="en-US" altLang="ko-KR" dirty="0">
                <a:solidFill>
                  <a:schemeClr val="accent1"/>
                </a:solidFill>
              </a:rPr>
              <a:t>Babel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r>
              <a:rPr lang="ko-KR" altLang="en-US" dirty="0" err="1"/>
              <a:t>도구을</a:t>
            </a:r>
            <a:r>
              <a:rPr lang="ko-KR" altLang="en-US" dirty="0"/>
              <a:t> 자주 사용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60317D-5173-DBB7-7438-56BC233B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0C4A-4625-56FD-B7F4-F116387C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B570A96-23CB-1DBC-CC4B-D864C715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 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9030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EE18CE1-F290-8AD9-4B51-5663B1CA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옛날에는 큰 기능을 하지 않는 자바스크립트 컴파일러</a:t>
            </a:r>
            <a:r>
              <a:rPr lang="en-US" altLang="ko-KR" dirty="0"/>
              <a:t>(</a:t>
            </a:r>
            <a:r>
              <a:rPr lang="ko-KR" altLang="en-US" dirty="0"/>
              <a:t>해석기</a:t>
            </a:r>
            <a:r>
              <a:rPr lang="en-US" altLang="ko-KR" dirty="0"/>
              <a:t>)</a:t>
            </a:r>
            <a:r>
              <a:rPr lang="ko-KR" altLang="en-US" dirty="0"/>
              <a:t>였지만 </a:t>
            </a:r>
            <a:r>
              <a:rPr lang="ko-KR" altLang="en-US" dirty="0" err="1"/>
              <a:t>리액트에서는</a:t>
            </a:r>
            <a:r>
              <a:rPr lang="ko-KR" altLang="en-US" dirty="0"/>
              <a:t> 중요한 역할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최신</a:t>
            </a:r>
            <a:r>
              <a:rPr lang="en-US" altLang="ko-KR" dirty="0"/>
              <a:t> JavaScript </a:t>
            </a:r>
            <a:r>
              <a:rPr lang="ko-KR" altLang="en-US" dirty="0"/>
              <a:t>문법을 이전 버전의 </a:t>
            </a:r>
            <a:r>
              <a:rPr lang="en-US" altLang="ko-KR" dirty="0"/>
              <a:t>JavaScript </a:t>
            </a:r>
            <a:r>
              <a:rPr lang="ko-KR" altLang="en-US" dirty="0"/>
              <a:t>문법으로 변환해주어 다양한 브라우저에서 호환성에 문제 없이 코드를 실행할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BF2302-3DEF-5632-67CF-3EBD0BC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B20E8-EEE4-BD3D-BA0F-F799786E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93E3C9D-5953-8E7B-BA6B-2C3EA44F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Babel</a:t>
            </a:r>
            <a:endParaRPr lang="ko-KR" altLang="en-US" dirty="0"/>
          </a:p>
        </p:txBody>
      </p:sp>
      <p:pic>
        <p:nvPicPr>
          <p:cNvPr id="6" name="Picture 2" descr="File:Babel Logo.svg - Wikimedia Commons">
            <a:extLst>
              <a:ext uri="{FF2B5EF4-FFF2-40B4-BE49-F238E27FC236}">
                <a16:creationId xmlns:a16="http://schemas.microsoft.com/office/drawing/2014/main" id="{EC21896F-080E-D586-E2B8-2DAB58CB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77" y="444895"/>
            <a:ext cx="1805594" cy="81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8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C7D93F-78BF-1C43-5A73-2CEA6F7E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 모듈 번들러 </a:t>
            </a:r>
            <a:r>
              <a:rPr lang="en-US" altLang="ko-KR" dirty="0"/>
              <a:t>(Module Bundler)</a:t>
            </a:r>
          </a:p>
          <a:p>
            <a:r>
              <a:rPr lang="ko-KR" altLang="en-US" dirty="0"/>
              <a:t>여러 개의 파일과 모듈을 하나의 파일로 </a:t>
            </a:r>
            <a:r>
              <a:rPr lang="ko-KR" altLang="en-US" dirty="0" err="1"/>
              <a:t>합쳐줌</a:t>
            </a:r>
            <a:endParaRPr lang="en-US" altLang="ko-KR" dirty="0"/>
          </a:p>
          <a:p>
            <a:r>
              <a:rPr lang="ko-KR" altLang="en-US" dirty="0"/>
              <a:t>코드 변경사항 발생 시 바로 반영되는 기능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A8145F-8FFD-0F8F-E2F5-721D215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35CEE-5823-222A-9F18-75E86D07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CCB753A-EDC8-E68A-C775-48A827C0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Webpack</a:t>
            </a:r>
            <a:endParaRPr lang="ko-KR" altLang="en-US" dirty="0"/>
          </a:p>
        </p:txBody>
      </p:sp>
      <p:pic>
        <p:nvPicPr>
          <p:cNvPr id="6" name="Picture 2" descr="Branding Guidelines | 웹팩">
            <a:extLst>
              <a:ext uri="{FF2B5EF4-FFF2-40B4-BE49-F238E27FC236}">
                <a16:creationId xmlns:a16="http://schemas.microsoft.com/office/drawing/2014/main" id="{8507FFA5-811D-FE96-4D39-CB28DF7C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954" y="239650"/>
            <a:ext cx="3088046" cy="120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A02B44-2D92-6027-7073-1E33C110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917" y="3571644"/>
            <a:ext cx="5466402" cy="26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54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</a:t>
            </a:r>
          </a:p>
        </p:txBody>
      </p:sp>
    </p:spTree>
    <p:extLst>
      <p:ext uri="{BB962C8B-B14F-4D97-AF65-F5344CB8AC3E}">
        <p14:creationId xmlns:p14="http://schemas.microsoft.com/office/powerpoint/2010/main" val="3893178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리액트</a:t>
            </a:r>
            <a:r>
              <a:rPr lang="ko-KR" altLang="en-US" dirty="0"/>
              <a:t> 앱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 </a:t>
            </a:r>
            <a:r>
              <a:rPr lang="ko-KR" altLang="en-US" dirty="0"/>
              <a:t>이름 규칙</a:t>
            </a:r>
            <a:endParaRPr lang="en-US" altLang="ko-KR" dirty="0"/>
          </a:p>
          <a:p>
            <a:pPr lvl="1"/>
            <a:r>
              <a:rPr lang="ko-KR" altLang="en-US" dirty="0"/>
              <a:t>대문자 사용 불가능</a:t>
            </a:r>
            <a:endParaRPr lang="en-US" altLang="ko-KR" dirty="0"/>
          </a:p>
          <a:p>
            <a:pPr lvl="1"/>
            <a:r>
              <a:rPr lang="ko-KR" altLang="en-US" dirty="0"/>
              <a:t>단어 여러 개 사용시 하이픈</a:t>
            </a:r>
            <a:r>
              <a:rPr lang="en-US" altLang="ko-KR" dirty="0"/>
              <a:t>(-) </a:t>
            </a:r>
            <a:r>
              <a:rPr lang="ko-KR" altLang="en-US" dirty="0"/>
              <a:t>기호로 구분</a:t>
            </a:r>
            <a:endParaRPr lang="en-US" altLang="ko-KR" dirty="0"/>
          </a:p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npm</a:t>
            </a:r>
            <a:r>
              <a:rPr lang="ko-KR" altLang="en-US" dirty="0"/>
              <a:t>의 자식 명령어로 </a:t>
            </a:r>
            <a:r>
              <a:rPr lang="en-US" altLang="ko-KR" dirty="0" err="1"/>
              <a:t>npm</a:t>
            </a:r>
            <a:r>
              <a:rPr lang="ko-KR" altLang="en-US" dirty="0"/>
              <a:t>보다 가볍게 패키지를 구성</a:t>
            </a:r>
            <a:endParaRPr lang="en-US" altLang="ko-KR" dirty="0"/>
          </a:p>
          <a:p>
            <a:pPr lvl="1"/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버전이 </a:t>
            </a:r>
            <a:r>
              <a:rPr lang="en-US" altLang="ko-KR" dirty="0"/>
              <a:t>5.2 </a:t>
            </a:r>
            <a:r>
              <a:rPr lang="ko-KR" altLang="en-US" dirty="0"/>
              <a:t>이상일 때</a:t>
            </a:r>
            <a:r>
              <a:rPr lang="en-US" altLang="ko-KR" dirty="0"/>
              <a:t>, node </a:t>
            </a:r>
            <a:r>
              <a:rPr lang="ko-KR" altLang="en-US" dirty="0"/>
              <a:t>버전이 </a:t>
            </a:r>
            <a:r>
              <a:rPr lang="en-US" altLang="ko-KR" dirty="0"/>
              <a:t>14 </a:t>
            </a:r>
            <a:r>
              <a:rPr lang="ko-KR" altLang="en-US" dirty="0"/>
              <a:t>이상일 때 사용 가능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4815840"/>
            <a:ext cx="8953500" cy="5238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856220" y="4815840"/>
            <a:ext cx="2434590" cy="523875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057082" y="5415461"/>
            <a:ext cx="203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5"/>
                </a:solidFill>
              </a:rPr>
              <a:t>React App Name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44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실행하기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2132"/>
            <a:ext cx="5189220" cy="25503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EBC82F-9FC6-A16D-CCE6-0E23E59315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736" r="33893" b="6885"/>
          <a:stretch/>
        </p:blipFill>
        <p:spPr>
          <a:xfrm>
            <a:off x="838200" y="1825625"/>
            <a:ext cx="2240280" cy="50609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65" y="1825625"/>
            <a:ext cx="4994459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21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42B04D4-48CD-0E55-275E-2B82255AC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558" y="1867963"/>
            <a:ext cx="6638109" cy="24214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node_modules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npm</a:t>
            </a:r>
            <a:r>
              <a:rPr lang="en-US" altLang="ko-KR" sz="2400" dirty="0"/>
              <a:t> </a:t>
            </a:r>
            <a:r>
              <a:rPr lang="ko-KR" altLang="en-US" sz="2400" dirty="0"/>
              <a:t>을 시작하면 생기는 폴더</a:t>
            </a:r>
            <a:r>
              <a:rPr lang="en-US" altLang="ko-KR" sz="2400" dirty="0"/>
              <a:t>, </a:t>
            </a:r>
            <a:r>
              <a:rPr lang="ko-KR" altLang="en-US" sz="2400" dirty="0"/>
              <a:t>내부에 모듈과 관련된 정보가 들어있음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/public</a:t>
            </a:r>
            <a:r>
              <a:rPr lang="en-US" altLang="ko-KR" sz="2400" dirty="0"/>
              <a:t> : index.html &amp; favicon.ico!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가상</a:t>
            </a:r>
            <a:r>
              <a:rPr lang="en-US" altLang="ko-KR" sz="2400" dirty="0"/>
              <a:t>DOM</a:t>
            </a:r>
            <a:r>
              <a:rPr lang="ko-KR" altLang="en-US" sz="2400" dirty="0"/>
              <a:t>을 위한 </a:t>
            </a:r>
            <a:r>
              <a:rPr lang="en-US" altLang="ko-KR" sz="2400" dirty="0"/>
              <a:t>html </a:t>
            </a:r>
            <a:r>
              <a:rPr lang="ko-KR" altLang="en-US" sz="2400" dirty="0"/>
              <a:t>파일이 들어있는 곳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src</a:t>
            </a:r>
            <a:r>
              <a:rPr lang="en-US" altLang="ko-KR" sz="2400" dirty="0"/>
              <a:t> : </a:t>
            </a:r>
            <a:r>
              <a:rPr lang="ko-KR" altLang="en-US" sz="2400" dirty="0"/>
              <a:t>실제 </a:t>
            </a:r>
            <a:r>
              <a:rPr lang="en-US" altLang="ko-KR" sz="2400" dirty="0"/>
              <a:t>React </a:t>
            </a:r>
            <a:r>
              <a:rPr lang="ko-KR" altLang="en-US" sz="2400" dirty="0"/>
              <a:t>코드</a:t>
            </a:r>
            <a:r>
              <a:rPr lang="en-US" altLang="ko-KR" sz="2400" dirty="0"/>
              <a:t>(</a:t>
            </a:r>
            <a:r>
              <a:rPr lang="ko-KR" altLang="en-US" sz="2400" dirty="0"/>
              <a:t>컴포넌트</a:t>
            </a:r>
            <a:r>
              <a:rPr lang="en-US" altLang="ko-KR" sz="2400" dirty="0"/>
              <a:t>)</a:t>
            </a:r>
            <a:r>
              <a:rPr lang="ko-KR" altLang="en-US" sz="2400" dirty="0"/>
              <a:t>를 작성하는 곳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D718A4-45BF-9A39-F6EB-DEFAC38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303A6-3E14-7AFF-5FFD-5F88556F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ADD239B-019F-8311-F1D9-32734A87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create-react-app</a:t>
            </a:r>
            <a:r>
              <a:rPr lang="ko-KR" altLang="en-US" sz="4000" dirty="0"/>
              <a:t>으로 생성한 프로젝트의 구조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DED0C8-844C-2691-2A23-250EDF455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7963"/>
            <a:ext cx="3524250" cy="3638550"/>
          </a:xfrm>
          <a:prstGeom prst="rect">
            <a:avLst/>
          </a:prstGeom>
        </p:spPr>
      </p:pic>
      <p:pic>
        <p:nvPicPr>
          <p:cNvPr id="8" name="Picture 2" descr="폴더 | 무료 아이콘">
            <a:extLst>
              <a:ext uri="{FF2B5EF4-FFF2-40B4-BE49-F238E27FC236}">
                <a16:creationId xmlns:a16="http://schemas.microsoft.com/office/drawing/2014/main" id="{9A0C5A4F-CEC3-222B-7C30-A01FD6E0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590" y="186796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파일 아이콘 에 Multimedia">
            <a:extLst>
              <a:ext uri="{FF2B5EF4-FFF2-40B4-BE49-F238E27FC236}">
                <a16:creationId xmlns:a16="http://schemas.microsoft.com/office/drawing/2014/main" id="{90335741-A4CD-D06D-239D-6A1EF7CA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576" y="4478534"/>
            <a:ext cx="504000" cy="36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2CF044B6-16F8-7B14-AE5B-B0D533D5DC57}"/>
              </a:ext>
            </a:extLst>
          </p:cNvPr>
          <p:cNvSpPr txBox="1">
            <a:spLocks/>
          </p:cNvSpPr>
          <p:nvPr/>
        </p:nvSpPr>
        <p:spPr>
          <a:xfrm>
            <a:off x="5393267" y="4478533"/>
            <a:ext cx="6125364" cy="1471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dirty="0"/>
              <a:t>.</a:t>
            </a:r>
            <a:r>
              <a:rPr lang="en-US" altLang="ko-KR" sz="2400" dirty="0" err="1"/>
              <a:t>gitignore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package-</a:t>
            </a:r>
            <a:r>
              <a:rPr lang="en-US" altLang="ko-KR" sz="2400" dirty="0" err="1"/>
              <a:t>lock.json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package.json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README.md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801628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</TotalTime>
  <Words>1130</Words>
  <Application>Microsoft Office PowerPoint</Application>
  <PresentationFormat>와이드스크린</PresentationFormat>
  <Paragraphs>210</Paragraphs>
  <Slides>27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Pretendard GOV</vt:lpstr>
      <vt:lpstr>맑은 고딕</vt:lpstr>
      <vt:lpstr>Arial</vt:lpstr>
      <vt:lpstr>Wingdings</vt:lpstr>
      <vt:lpstr>3_Office 테마</vt:lpstr>
      <vt:lpstr>웹 개발자 부트캠프 과정</vt:lpstr>
      <vt:lpstr>프론트엔드 3대장</vt:lpstr>
      <vt:lpstr>프론트엔드 3대장 </vt:lpstr>
      <vt:lpstr>Angular JS</vt:lpstr>
      <vt:lpstr>React JS</vt:lpstr>
      <vt:lpstr>Vue.js</vt:lpstr>
      <vt:lpstr>Angular vs. React vs. Vue.js</vt:lpstr>
      <vt:lpstr>React 란?</vt:lpstr>
      <vt:lpstr>React란?</vt:lpstr>
      <vt:lpstr>React란?</vt:lpstr>
      <vt:lpstr>React의 특징</vt:lpstr>
      <vt:lpstr>특징 1. Data Flow</vt:lpstr>
      <vt:lpstr>특징 2. Component 기반 구조</vt:lpstr>
      <vt:lpstr>특징 2. Component 기반 구조</vt:lpstr>
      <vt:lpstr>특징 2. Component 기반 구조</vt:lpstr>
      <vt:lpstr>특징 3. Virtual DOM</vt:lpstr>
      <vt:lpstr>특징 3. Virtual DOM</vt:lpstr>
      <vt:lpstr>특징 4. Props and State</vt:lpstr>
      <vt:lpstr>특징 5. JSX</vt:lpstr>
      <vt:lpstr>Node.js &amp; NPM</vt:lpstr>
      <vt:lpstr>Node.js &amp; NPM</vt:lpstr>
      <vt:lpstr>Babel</vt:lpstr>
      <vt:lpstr>Webpack</vt:lpstr>
      <vt:lpstr>React 프로젝트 생성</vt:lpstr>
      <vt:lpstr>React 프로젝트 생성하기</vt:lpstr>
      <vt:lpstr>React 프로젝트 실행하기</vt:lpstr>
      <vt:lpstr>create-react-app으로 생성한 프로젝트의 구조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100</cp:revision>
  <dcterms:created xsi:type="dcterms:W3CDTF">2022-06-26T11:10:22Z</dcterms:created>
  <dcterms:modified xsi:type="dcterms:W3CDTF">2024-07-10T02:18:55Z</dcterms:modified>
</cp:coreProperties>
</file>