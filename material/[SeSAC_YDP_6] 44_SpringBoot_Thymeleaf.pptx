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44"/>
  </p:notesMasterIdLst>
  <p:sldIdLst>
    <p:sldId id="649" r:id="rId2"/>
    <p:sldId id="650" r:id="rId3"/>
    <p:sldId id="257" r:id="rId4"/>
    <p:sldId id="259" r:id="rId5"/>
    <p:sldId id="669" r:id="rId6"/>
    <p:sldId id="655" r:id="rId7"/>
    <p:sldId id="260" r:id="rId8"/>
    <p:sldId id="261" r:id="rId9"/>
    <p:sldId id="657" r:id="rId10"/>
    <p:sldId id="673" r:id="rId11"/>
    <p:sldId id="672" r:id="rId12"/>
    <p:sldId id="656" r:id="rId13"/>
    <p:sldId id="658" r:id="rId14"/>
    <p:sldId id="676" r:id="rId15"/>
    <p:sldId id="659" r:id="rId16"/>
    <p:sldId id="651" r:id="rId17"/>
    <p:sldId id="666" r:id="rId18"/>
    <p:sldId id="660" r:id="rId19"/>
    <p:sldId id="670" r:id="rId20"/>
    <p:sldId id="671" r:id="rId21"/>
    <p:sldId id="652" r:id="rId22"/>
    <p:sldId id="599" r:id="rId23"/>
    <p:sldId id="600" r:id="rId24"/>
    <p:sldId id="653" r:id="rId25"/>
    <p:sldId id="602" r:id="rId26"/>
    <p:sldId id="675" r:id="rId27"/>
    <p:sldId id="605" r:id="rId28"/>
    <p:sldId id="674" r:id="rId29"/>
    <p:sldId id="608" r:id="rId30"/>
    <p:sldId id="661" r:id="rId31"/>
    <p:sldId id="654" r:id="rId32"/>
    <p:sldId id="665" r:id="rId33"/>
    <p:sldId id="611" r:id="rId34"/>
    <p:sldId id="664" r:id="rId35"/>
    <p:sldId id="612" r:id="rId36"/>
    <p:sldId id="613" r:id="rId37"/>
    <p:sldId id="614" r:id="rId38"/>
    <p:sldId id="615" r:id="rId39"/>
    <p:sldId id="616" r:id="rId40"/>
    <p:sldId id="617" r:id="rId41"/>
    <p:sldId id="619" r:id="rId42"/>
    <p:sldId id="347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DCF7"/>
    <a:srgbClr val="1E1F22"/>
    <a:srgbClr val="2B2D30"/>
    <a:srgbClr val="F9A130"/>
    <a:srgbClr val="C32F2F"/>
    <a:srgbClr val="FF0000"/>
    <a:srgbClr val="F99FD9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7" autoAdjust="0"/>
    <p:restoredTop sz="82313" autoAdjust="0"/>
  </p:normalViewPr>
  <p:slideViewPr>
    <p:cSldViewPr snapToGrid="0">
      <p:cViewPr varScale="1">
        <p:scale>
          <a:sx n="119" d="100"/>
          <a:sy n="119" d="100"/>
        </p:scale>
        <p:origin x="374" y="96"/>
      </p:cViewPr>
      <p:guideLst/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22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npa.tistory.com/entry/TOMCAT-%E2%9A%99%EF%B8%8F-%EC%84%A4%EC%B9%98-%EC%84%A4%EC%A0%95-%EC%A0%95%EB%A6%AC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48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사이트 </a:t>
            </a:r>
            <a:r>
              <a:rPr lang="ko-KR" altLang="en-US" dirty="0" err="1"/>
              <a:t>접속시</a:t>
            </a:r>
            <a:r>
              <a:rPr lang="ko-KR" altLang="en-US" dirty="0"/>
              <a:t> 이런 화면이 뜸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919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633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이미 깃 연결된 프로젝트에 연결해 두면 좋으니</a:t>
            </a:r>
            <a:r>
              <a:rPr lang="en-US" altLang="ko-KR" dirty="0"/>
              <a:t>!!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94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851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/>
              <a:t>시작 파일 </a:t>
            </a:r>
            <a:r>
              <a:rPr lang="en-US" altLang="ko-KR" b="0" dirty="0"/>
              <a:t>(main </a:t>
            </a:r>
            <a:r>
              <a:rPr lang="ko-KR" altLang="en-US" b="0" dirty="0"/>
              <a:t>역할</a:t>
            </a:r>
            <a:r>
              <a:rPr lang="en-US" altLang="ko-KR" b="0" dirty="0"/>
              <a:t>)</a:t>
            </a:r>
          </a:p>
          <a:p>
            <a:r>
              <a:rPr lang="en-US" altLang="ko-KR" b="0" dirty="0"/>
              <a:t>application </a:t>
            </a:r>
            <a:r>
              <a:rPr lang="ko-KR" altLang="en-US" b="0" dirty="0"/>
              <a:t>실행</a:t>
            </a:r>
            <a:endParaRPr lang="en-US" altLang="ko-KR" b="0" dirty="0"/>
          </a:p>
          <a:p>
            <a:endParaRPr lang="en-US" altLang="ko-KR" b="0" dirty="0"/>
          </a:p>
          <a:p>
            <a:r>
              <a:rPr lang="en-US" altLang="ko-KR" b="0" dirty="0"/>
              <a:t>---</a:t>
            </a:r>
          </a:p>
          <a:p>
            <a:r>
              <a:rPr lang="ko-KR" altLang="en-US" dirty="0"/>
              <a:t>기본 포트</a:t>
            </a:r>
            <a:r>
              <a:rPr lang="en-US" altLang="ko-KR" dirty="0"/>
              <a:t>: </a:t>
            </a:r>
            <a:r>
              <a:rPr lang="ko-KR" altLang="en-US" dirty="0"/>
              <a:t>스프링 부트는 기본적으로 </a:t>
            </a:r>
            <a:r>
              <a:rPr lang="en-US" altLang="ko-KR" dirty="0"/>
              <a:t>8080 </a:t>
            </a:r>
            <a:r>
              <a:rPr lang="ko-KR" altLang="en-US" dirty="0"/>
              <a:t>포트를 사용합니다</a:t>
            </a:r>
            <a:r>
              <a:rPr lang="en-US" altLang="ko-KR" dirty="0"/>
              <a:t>. </a:t>
            </a:r>
            <a:r>
              <a:rPr lang="ko-KR" altLang="en-US" dirty="0"/>
              <a:t>이는 가장 일반적으로 사용되는 포트입니다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내장 웹 서버</a:t>
            </a:r>
            <a:r>
              <a:rPr lang="en-US" altLang="ko-KR" dirty="0"/>
              <a:t>: </a:t>
            </a:r>
            <a:r>
              <a:rPr lang="ko-KR" altLang="en-US" dirty="0"/>
              <a:t>스프링 부트는 </a:t>
            </a:r>
            <a:r>
              <a:rPr lang="en-US" altLang="ko-KR" dirty="0"/>
              <a:t>indeed </a:t>
            </a:r>
            <a:r>
              <a:rPr lang="ko-KR" altLang="en-US" dirty="0"/>
              <a:t>내장 웹 서버를 사용하며</a:t>
            </a:r>
            <a:r>
              <a:rPr lang="en-US" altLang="ko-KR" dirty="0"/>
              <a:t>, </a:t>
            </a:r>
            <a:r>
              <a:rPr lang="ko-KR" altLang="en-US" dirty="0"/>
              <a:t>기본적으로 </a:t>
            </a:r>
            <a:r>
              <a:rPr lang="en-US" altLang="ko-KR" dirty="0"/>
              <a:t>Apache Tomcat</a:t>
            </a:r>
            <a:r>
              <a:rPr lang="ko-KR" altLang="en-US" dirty="0"/>
              <a:t>을 사용합니다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포트 변경 가능성</a:t>
            </a:r>
            <a:r>
              <a:rPr lang="en-US" altLang="ko-KR" dirty="0"/>
              <a:t>: 8080 </a:t>
            </a:r>
            <a:r>
              <a:rPr lang="ko-KR" altLang="en-US" dirty="0"/>
              <a:t>포트는 기본값이지만</a:t>
            </a:r>
            <a:r>
              <a:rPr lang="en-US" altLang="ko-KR" dirty="0"/>
              <a:t>, </a:t>
            </a:r>
            <a:r>
              <a:rPr lang="ko-KR" altLang="en-US" dirty="0"/>
              <a:t>필요에 따라 다른 포트로 변경할 수 있습니다</a:t>
            </a:r>
            <a:r>
              <a:rPr lang="en-US" altLang="ko-KR" dirty="0"/>
              <a:t>. </a:t>
            </a: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en-US" altLang="ko-KR" dirty="0" err="1"/>
              <a:t>application.properties</a:t>
            </a:r>
            <a:r>
              <a:rPr lang="en-US" altLang="ko-KR" dirty="0"/>
              <a:t> </a:t>
            </a:r>
            <a:r>
              <a:rPr lang="ko-KR" altLang="en-US" dirty="0"/>
              <a:t>파일에서 </a:t>
            </a:r>
            <a:r>
              <a:rPr lang="en-US" altLang="ko-KR" dirty="0" err="1"/>
              <a:t>server.port</a:t>
            </a:r>
            <a:r>
              <a:rPr lang="en-US" altLang="ko-KR" dirty="0"/>
              <a:t> </a:t>
            </a:r>
            <a:r>
              <a:rPr lang="ko-KR" altLang="en-US" dirty="0"/>
              <a:t>속성을 수정하여 다른 포트를 지정할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다른 웹 서버 옵션</a:t>
            </a:r>
            <a:r>
              <a:rPr lang="en-US" altLang="ko-KR" dirty="0"/>
              <a:t>: Tomcat</a:t>
            </a:r>
            <a:r>
              <a:rPr lang="ko-KR" altLang="en-US" dirty="0"/>
              <a:t>이 기본이지만</a:t>
            </a:r>
            <a:r>
              <a:rPr lang="en-US" altLang="ko-KR" dirty="0"/>
              <a:t>, </a:t>
            </a:r>
            <a:r>
              <a:rPr lang="ko-KR" altLang="en-US" dirty="0"/>
              <a:t>스프링 부트는 </a:t>
            </a:r>
            <a:r>
              <a:rPr lang="en-US" altLang="ko-KR" dirty="0"/>
              <a:t>Jetty</a:t>
            </a:r>
            <a:r>
              <a:rPr lang="ko-KR" altLang="en-US" dirty="0"/>
              <a:t>나 </a:t>
            </a:r>
            <a:r>
              <a:rPr lang="en-US" altLang="ko-KR" dirty="0"/>
              <a:t>Undertow</a:t>
            </a:r>
            <a:r>
              <a:rPr lang="ko-KR" altLang="en-US" dirty="0"/>
              <a:t>와 같은 다른 웹 서버도 지원합니다</a:t>
            </a:r>
            <a:r>
              <a:rPr lang="en-US" altLang="ko-KR" dirty="0"/>
              <a:t>.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261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1. </a:t>
            </a:r>
            <a:r>
              <a:rPr lang="ko-KR" altLang="en-US" dirty="0"/>
              <a:t>이전 페이지에서 프로젝트 </a:t>
            </a:r>
            <a:r>
              <a:rPr lang="ko-KR" altLang="en-US" dirty="0" err="1"/>
              <a:t>실행시</a:t>
            </a:r>
            <a:r>
              <a:rPr lang="ko-KR" altLang="en-US" dirty="0"/>
              <a:t> </a:t>
            </a:r>
            <a:r>
              <a:rPr lang="en-US" altLang="ko-KR" dirty="0"/>
              <a:t>Tomcat </a:t>
            </a:r>
            <a:r>
              <a:rPr lang="ko-KR" altLang="en-US" dirty="0"/>
              <a:t>어쩌고 메시지가 콘솔로 출력됨 </a:t>
            </a:r>
            <a:r>
              <a:rPr lang="en-US" altLang="ko-KR" dirty="0"/>
              <a:t>=&gt;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스프링 부트는 </a:t>
            </a:r>
            <a:r>
              <a:rPr lang="ko-KR" altLang="en-US" dirty="0" err="1"/>
              <a:t>톰캣이</a:t>
            </a:r>
            <a:r>
              <a:rPr lang="ko-KR" altLang="en-US" dirty="0"/>
              <a:t> 내장되어 있음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 err="1"/>
              <a:t>톰캣</a:t>
            </a:r>
            <a:r>
              <a:rPr lang="en-US" altLang="ko-KR" dirty="0"/>
              <a:t>(WAS)</a:t>
            </a:r>
            <a:r>
              <a:rPr lang="ko-KR" altLang="en-US" dirty="0"/>
              <a:t>에서 편의를 위해 아파치의 기능</a:t>
            </a:r>
            <a:r>
              <a:rPr lang="en-US" altLang="ko-KR" dirty="0"/>
              <a:t>(</a:t>
            </a:r>
            <a:r>
              <a:rPr lang="ko-KR" altLang="en-US" dirty="0"/>
              <a:t>웹서비스 데몬</a:t>
            </a:r>
            <a:r>
              <a:rPr lang="en-US" altLang="ko-KR" dirty="0"/>
              <a:t>, Httpd)</a:t>
            </a:r>
            <a:r>
              <a:rPr lang="ko-KR" altLang="en-US" dirty="0"/>
              <a:t>을 포함하고 있기 때문이다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b="1" u="sng" dirty="0" err="1"/>
              <a:t>톰캣이</a:t>
            </a:r>
            <a:r>
              <a:rPr lang="ko-KR" altLang="en-US" b="1" u="sng" dirty="0"/>
              <a:t> 아파치의 기능 일부를 가져와서 제공</a:t>
            </a:r>
            <a:r>
              <a:rPr lang="ko-KR" altLang="en-US" dirty="0"/>
              <a:t>해주는 형태이기 때문에 같이 합쳐서 부른다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출처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https://inpa.tistory.com/entry/TOMCAT-⚙️-</a:t>
            </a:r>
            <a:r>
              <a:rPr lang="ko-KR" altLang="en-US" dirty="0">
                <a:hlinkClick r:id="rId3"/>
              </a:rPr>
              <a:t>설치</a:t>
            </a:r>
            <a:r>
              <a:rPr lang="en-US" altLang="ko-KR" dirty="0">
                <a:hlinkClick r:id="rId3"/>
              </a:rPr>
              <a:t>-</a:t>
            </a:r>
            <a:r>
              <a:rPr lang="ko-KR" altLang="en-US" dirty="0">
                <a:hlinkClick r:id="rId3"/>
              </a:rPr>
              <a:t>설정</a:t>
            </a:r>
            <a:r>
              <a:rPr lang="en-US" altLang="ko-KR" dirty="0">
                <a:hlinkClick r:id="rId3"/>
              </a:rPr>
              <a:t>-</a:t>
            </a:r>
            <a:r>
              <a:rPr lang="ko-KR" altLang="en-US" dirty="0">
                <a:hlinkClick r:id="rId3"/>
              </a:rPr>
              <a:t>정리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en-US" altLang="ko-KR" dirty="0" err="1"/>
              <a:t>Inpa</a:t>
            </a:r>
            <a:r>
              <a:rPr lang="en-US" altLang="ko-KR" dirty="0"/>
              <a:t> Dev </a:t>
            </a:r>
            <a:r>
              <a:rPr lang="ko-KR" altLang="en-US" dirty="0"/>
              <a:t>👨‍💻</a:t>
            </a:r>
            <a:r>
              <a:rPr lang="en-US" altLang="ko-KR" dirty="0"/>
              <a:t>:</a:t>
            </a:r>
            <a:r>
              <a:rPr lang="ko-KR" altLang="en-US" dirty="0"/>
              <a:t>티스토리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참고</a:t>
            </a:r>
            <a:endParaRPr lang="en-US" altLang="ko-KR" dirty="0"/>
          </a:p>
          <a:p>
            <a:r>
              <a:rPr lang="ko-KR" altLang="en-US" b="1" dirty="0" err="1"/>
              <a:t>톰캣</a:t>
            </a:r>
            <a:r>
              <a:rPr lang="ko-KR" altLang="en-US" b="1" dirty="0"/>
              <a:t> </a:t>
            </a:r>
            <a:r>
              <a:rPr lang="en-US" altLang="ko-KR" b="1" dirty="0"/>
              <a:t>WAS == </a:t>
            </a:r>
            <a:r>
              <a:rPr lang="ko-KR" altLang="en-US" b="1" dirty="0"/>
              <a:t>컨테이너 </a:t>
            </a:r>
            <a:r>
              <a:rPr lang="en-US" altLang="ko-KR" b="1" dirty="0"/>
              <a:t>== </a:t>
            </a:r>
            <a:r>
              <a:rPr lang="ko-KR" altLang="en-US" b="1" dirty="0"/>
              <a:t>웹 컨테이너 </a:t>
            </a:r>
            <a:r>
              <a:rPr lang="en-US" altLang="ko-KR" b="1" dirty="0"/>
              <a:t>== </a:t>
            </a:r>
            <a:r>
              <a:rPr lang="ko-KR" altLang="en-US" b="1" dirty="0" err="1"/>
              <a:t>서블릿</a:t>
            </a:r>
            <a:r>
              <a:rPr lang="ko-KR" altLang="en-US" b="1" dirty="0"/>
              <a:t> 컨테이너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169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https://velog.io/@kdhyo/Apache-Tomcat-%EB%91%98%EC%9D%B4-%EB%AC%B4%EC%8A%A8-%EC%B0%A8%EC%9D%B4%EC%A7%80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378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995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err="1"/>
              <a:t>server.port</a:t>
            </a:r>
            <a:r>
              <a:rPr lang="en-US" altLang="ko-KR" b="1" dirty="0"/>
              <a:t> = [</a:t>
            </a:r>
            <a:r>
              <a:rPr lang="ko-KR" altLang="en-US" b="1" dirty="0"/>
              <a:t>원하는 포트번호</a:t>
            </a:r>
            <a:r>
              <a:rPr lang="en-US" altLang="ko-KR" b="1" dirty="0"/>
              <a:t>] </a:t>
            </a:r>
          </a:p>
          <a:p>
            <a:endParaRPr lang="en-US" altLang="ko-KR" b="1" dirty="0"/>
          </a:p>
          <a:p>
            <a:r>
              <a:rPr lang="en-US" altLang="ko-KR" b="0" dirty="0"/>
              <a:t>https://sanghoo.tistory.com/63</a:t>
            </a:r>
            <a:endParaRPr lang="ko-KR" altLang="en-US" b="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273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674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975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3B3F4E"/>
                </a:solidFill>
                <a:effectLst/>
                <a:latin typeface="Pretendard"/>
              </a:rPr>
              <a:t>Spring MVC</a:t>
            </a:r>
            <a:r>
              <a:rPr lang="ko-KR" altLang="en-US" b="0" i="0" dirty="0">
                <a:solidFill>
                  <a:srgbClr val="3B3F4E"/>
                </a:solidFill>
                <a:effectLst/>
                <a:latin typeface="Pretendard"/>
              </a:rPr>
              <a:t>는 웹 애플리케이션 개발에 특화된 프레임워크일 뿐</a:t>
            </a:r>
            <a:r>
              <a:rPr lang="en-US" altLang="ko-KR" b="0" i="0" dirty="0">
                <a:solidFill>
                  <a:srgbClr val="3B3F4E"/>
                </a:solidFill>
                <a:effectLst/>
                <a:latin typeface="Pretendard"/>
              </a:rPr>
              <a:t>, Spring </a:t>
            </a:r>
            <a:r>
              <a:rPr lang="ko-KR" altLang="en-US" b="0" i="0" dirty="0">
                <a:solidFill>
                  <a:srgbClr val="3B3F4E"/>
                </a:solidFill>
                <a:effectLst/>
                <a:latin typeface="Pretendard"/>
              </a:rPr>
              <a:t>프레임워크 전체를 대표하는 것은 아님</a:t>
            </a:r>
            <a:endParaRPr lang="en-US" altLang="ko-KR" b="0" i="0" dirty="0">
              <a:solidFill>
                <a:srgbClr val="3B3F4E"/>
              </a:solidFill>
              <a:effectLst/>
              <a:latin typeface="Pretendard"/>
            </a:endParaRPr>
          </a:p>
          <a:p>
            <a:endParaRPr lang="en-US" altLang="ko-KR" b="0" i="0" dirty="0">
              <a:solidFill>
                <a:srgbClr val="3B3F4E"/>
              </a:solidFill>
              <a:effectLst/>
              <a:latin typeface="Pretendard"/>
            </a:endParaRPr>
          </a:p>
          <a:p>
            <a:r>
              <a:rPr lang="en-US" altLang="ko-KR" b="0" i="0" dirty="0">
                <a:solidFill>
                  <a:srgbClr val="3B3F4E"/>
                </a:solidFill>
                <a:effectLst/>
                <a:latin typeface="Pretendard"/>
              </a:rPr>
              <a:t>Spring </a:t>
            </a:r>
            <a:r>
              <a:rPr lang="ko-KR" altLang="en-US" b="0" i="0" dirty="0">
                <a:solidFill>
                  <a:srgbClr val="3B3F4E"/>
                </a:solidFill>
                <a:effectLst/>
                <a:latin typeface="Pretendard"/>
              </a:rPr>
              <a:t>프레임워크에는 </a:t>
            </a:r>
            <a:r>
              <a:rPr lang="en-US" altLang="ko-KR" b="1" i="0" dirty="0">
                <a:solidFill>
                  <a:srgbClr val="3B3F4E"/>
                </a:solidFill>
                <a:effectLst/>
                <a:latin typeface="Pretendard"/>
              </a:rPr>
              <a:t>Spring MVC </a:t>
            </a:r>
            <a:r>
              <a:rPr lang="ko-KR" altLang="en-US" b="0" i="0" dirty="0">
                <a:solidFill>
                  <a:srgbClr val="3B3F4E"/>
                </a:solidFill>
                <a:effectLst/>
                <a:latin typeface="Pretendard"/>
              </a:rPr>
              <a:t>외에도 </a:t>
            </a:r>
            <a:r>
              <a:rPr lang="en-US" altLang="ko-KR" b="1" i="0" dirty="0">
                <a:solidFill>
                  <a:srgbClr val="3B3F4E"/>
                </a:solidFill>
                <a:effectLst/>
                <a:latin typeface="Pretendard"/>
              </a:rPr>
              <a:t>Spring Boot, Spring Data, Spring Security </a:t>
            </a:r>
            <a:r>
              <a:rPr lang="ko-KR" altLang="en-US" b="1" i="0" dirty="0">
                <a:solidFill>
                  <a:srgbClr val="3B3F4E"/>
                </a:solidFill>
                <a:effectLst/>
                <a:latin typeface="Pretendard"/>
              </a:rPr>
              <a:t>등 다양한 모듈과 프로젝트</a:t>
            </a:r>
            <a:r>
              <a:rPr lang="ko-KR" altLang="en-US" b="0" i="0" dirty="0">
                <a:solidFill>
                  <a:srgbClr val="3B3F4E"/>
                </a:solidFill>
                <a:effectLst/>
                <a:latin typeface="Pretendard"/>
              </a:rPr>
              <a:t>가 있습니다</a:t>
            </a:r>
            <a:r>
              <a:rPr lang="en-US" altLang="ko-KR" b="0" i="0" dirty="0">
                <a:solidFill>
                  <a:srgbClr val="3B3F4E"/>
                </a:solidFill>
                <a:effectLst/>
                <a:latin typeface="Pretendard"/>
              </a:rPr>
              <a:t>.</a:t>
            </a:r>
          </a:p>
          <a:p>
            <a:endParaRPr lang="en-US" altLang="ko-KR" b="0" i="0" dirty="0">
              <a:solidFill>
                <a:srgbClr val="3B3F4E"/>
              </a:solidFill>
              <a:effectLst/>
              <a:latin typeface="Pretendard"/>
            </a:endParaRPr>
          </a:p>
          <a:p>
            <a:r>
              <a:rPr lang="en-US" altLang="ko-KR" dirty="0"/>
              <a:t>* </a:t>
            </a:r>
            <a:r>
              <a:rPr lang="ko-KR" altLang="en-US" dirty="0"/>
              <a:t>작성한 </a:t>
            </a:r>
            <a:r>
              <a:rPr lang="en-US" altLang="ko-KR" dirty="0"/>
              <a:t>Controller</a:t>
            </a:r>
            <a:r>
              <a:rPr lang="ko-KR" altLang="en-US" dirty="0"/>
              <a:t>는 </a:t>
            </a:r>
            <a:r>
              <a:rPr lang="en-US" altLang="ko-KR" dirty="0"/>
              <a:t>Bean</a:t>
            </a:r>
            <a:r>
              <a:rPr lang="ko-KR" altLang="en-US" dirty="0"/>
              <a:t>으로 관리되므로 </a:t>
            </a:r>
            <a:r>
              <a:rPr lang="en-US" altLang="ko-KR" dirty="0"/>
              <a:t>Service </a:t>
            </a:r>
            <a:r>
              <a:rPr lang="ko-KR" altLang="en-US" dirty="0"/>
              <a:t>등의 의존 객체를 </a:t>
            </a:r>
            <a:r>
              <a:rPr lang="ko-KR" altLang="en-US" dirty="0" err="1"/>
              <a:t>인젝션하여</a:t>
            </a:r>
            <a:r>
              <a:rPr lang="ko-KR" altLang="en-US" dirty="0"/>
              <a:t> 사용 가능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343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3907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나중에 </a:t>
            </a:r>
            <a:r>
              <a:rPr lang="en-US" altLang="ko-KR" dirty="0"/>
              <a:t>Spring Security </a:t>
            </a:r>
            <a:r>
              <a:rPr lang="ko-KR" altLang="en-US" dirty="0"/>
              <a:t>진도에서 사용해볼 예정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filter a </a:t>
            </a:r>
            <a:r>
              <a:rPr lang="ko-KR" altLang="en-US" dirty="0"/>
              <a:t>객체가 객체 </a:t>
            </a:r>
            <a:r>
              <a:rPr lang="en-US" altLang="ko-KR" dirty="0"/>
              <a:t>b</a:t>
            </a:r>
            <a:r>
              <a:rPr lang="ko-KR" altLang="en-US" dirty="0"/>
              <a:t>의 메서드를 호출하고</a:t>
            </a:r>
            <a:r>
              <a:rPr lang="en-US" altLang="ko-KR" dirty="0"/>
              <a:t>, filter b</a:t>
            </a:r>
            <a:r>
              <a:rPr lang="ko-KR" altLang="en-US" dirty="0"/>
              <a:t> 객체가 객체 </a:t>
            </a:r>
            <a:r>
              <a:rPr lang="en-US" altLang="ko-KR" dirty="0"/>
              <a:t>c</a:t>
            </a:r>
            <a:r>
              <a:rPr lang="ko-KR" altLang="en-US" dirty="0"/>
              <a:t>의 메서드를 호출하고 마지막 </a:t>
            </a:r>
            <a:r>
              <a:rPr lang="en-US" altLang="ko-KR" dirty="0"/>
              <a:t>filter </a:t>
            </a:r>
            <a:r>
              <a:rPr lang="ko-KR" altLang="en-US" dirty="0"/>
              <a:t>객체 메서드가 </a:t>
            </a:r>
            <a:r>
              <a:rPr lang="en-US" altLang="ko-KR" dirty="0"/>
              <a:t>servlet </a:t>
            </a:r>
            <a:r>
              <a:rPr lang="ko-KR" altLang="en-US" dirty="0"/>
              <a:t>메서드를 호출하는 형태</a:t>
            </a:r>
            <a:endParaRPr lang="en-US" altLang="ko-KR" dirty="0"/>
          </a:p>
          <a:p>
            <a:r>
              <a:rPr lang="ko-KR" altLang="en-US" dirty="0"/>
              <a:t>객체의 메서드가 종료되면 반대 방향으로 처리과정이 되돌아 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5718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node </a:t>
            </a:r>
            <a:r>
              <a:rPr lang="ko-KR" altLang="en-US" dirty="0"/>
              <a:t>에서 </a:t>
            </a:r>
            <a:r>
              <a:rPr lang="en-US" altLang="ko-KR" dirty="0"/>
              <a:t>static </a:t>
            </a:r>
            <a:r>
              <a:rPr lang="ko-KR" altLang="en-US" dirty="0"/>
              <a:t>폴더와 동일한 역할을 한다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6615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601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Node</a:t>
            </a:r>
            <a:r>
              <a:rPr lang="ko-KR" altLang="en-US" dirty="0"/>
              <a:t> 에서는 </a:t>
            </a:r>
            <a:r>
              <a:rPr lang="en-US" altLang="ko-KR" dirty="0" err="1"/>
              <a:t>ejs</a:t>
            </a:r>
            <a:r>
              <a:rPr lang="en-US" altLang="ko-KR" dirty="0"/>
              <a:t> </a:t>
            </a:r>
            <a:r>
              <a:rPr lang="ko-KR" altLang="en-US" dirty="0"/>
              <a:t>사용했던 것처럼</a:t>
            </a:r>
            <a:r>
              <a:rPr lang="en-US" altLang="ko-KR" dirty="0"/>
              <a:t>~</a:t>
            </a:r>
          </a:p>
          <a:p>
            <a:endParaRPr lang="en-US" altLang="ko-KR" dirty="0"/>
          </a:p>
          <a:p>
            <a:r>
              <a:rPr lang="en-US" altLang="ko-KR" dirty="0"/>
              <a:t>JSP(Java Server Pages):</a:t>
            </a:r>
            <a:r>
              <a:rPr lang="ko-KR" altLang="en-US" dirty="0"/>
              <a:t> 자바 표준</a:t>
            </a:r>
            <a:endParaRPr lang="en-US" altLang="ko-KR" dirty="0"/>
          </a:p>
          <a:p>
            <a:r>
              <a:rPr lang="en-US" altLang="ko-KR" dirty="0" err="1"/>
              <a:t>Thymeleaf</a:t>
            </a:r>
            <a:r>
              <a:rPr lang="en-US" altLang="ko-KR" dirty="0"/>
              <a:t>:</a:t>
            </a:r>
            <a:r>
              <a:rPr lang="ko-KR" altLang="en-US" dirty="0"/>
              <a:t> 오픈 소스 라이브러리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현업에서는</a:t>
            </a:r>
            <a:r>
              <a:rPr lang="en-US" altLang="ko-KR" dirty="0"/>
              <a:t>… 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서비스 회사</a:t>
            </a:r>
            <a:r>
              <a:rPr lang="en-US" altLang="ko-KR" dirty="0"/>
              <a:t>: </a:t>
            </a:r>
            <a:r>
              <a:rPr lang="en-US" altLang="ko-KR" dirty="0" err="1"/>
              <a:t>thymeleaf</a:t>
            </a:r>
            <a:r>
              <a:rPr lang="en-US" altLang="ko-KR" dirty="0"/>
              <a:t> </a:t>
            </a:r>
            <a:r>
              <a:rPr lang="ko-KR" altLang="en-US" dirty="0"/>
              <a:t>쓰고 </a:t>
            </a:r>
            <a:r>
              <a:rPr lang="en-US" altLang="ko-KR" dirty="0"/>
              <a:t>(</a:t>
            </a:r>
            <a:r>
              <a:rPr lang="ko-KR" altLang="en-US" dirty="0" err="1"/>
              <a:t>어드민</a:t>
            </a:r>
            <a:r>
              <a:rPr lang="ko-KR" altLang="en-US" dirty="0"/>
              <a:t> 페이지르 </a:t>
            </a:r>
            <a:r>
              <a:rPr lang="ko-KR" altLang="en-US" dirty="0" err="1"/>
              <a:t>만들긴</a:t>
            </a:r>
            <a:r>
              <a:rPr lang="ko-KR" altLang="en-US" dirty="0"/>
              <a:t> </a:t>
            </a:r>
            <a:r>
              <a:rPr lang="ko-KR" altLang="en-US" dirty="0" err="1"/>
              <a:t>할테니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 </a:t>
            </a:r>
            <a:r>
              <a:rPr lang="en-US" altLang="ko-KR" dirty="0" err="1"/>
              <a:t>si</a:t>
            </a:r>
            <a:r>
              <a:rPr lang="en-US" altLang="ko-KR" dirty="0"/>
              <a:t>/</a:t>
            </a:r>
            <a:r>
              <a:rPr lang="en-US" altLang="ko-KR" dirty="0" err="1"/>
              <a:t>sm</a:t>
            </a:r>
            <a:r>
              <a:rPr lang="en-US" altLang="ko-KR" dirty="0"/>
              <a:t>: </a:t>
            </a:r>
            <a:r>
              <a:rPr lang="en-US" altLang="ko-KR" dirty="0" err="1"/>
              <a:t>jsp</a:t>
            </a:r>
            <a:r>
              <a:rPr lang="en-US" altLang="ko-KR" dirty="0"/>
              <a:t> (</a:t>
            </a:r>
            <a:r>
              <a:rPr lang="ko-KR" altLang="en-US" dirty="0"/>
              <a:t>레거시 프로젝트가 많아서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930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@Controller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컴포넌트 </a:t>
            </a:r>
            <a:r>
              <a:rPr lang="ko-KR" altLang="en-US" dirty="0" err="1"/>
              <a:t>스캔되어</a:t>
            </a:r>
            <a:r>
              <a:rPr lang="ko-KR" altLang="en-US" dirty="0"/>
              <a:t> </a:t>
            </a:r>
            <a:r>
              <a:rPr lang="en-US" altLang="ko-KR" dirty="0"/>
              <a:t>Bean</a:t>
            </a:r>
            <a:r>
              <a:rPr lang="ko-KR" altLang="en-US" dirty="0"/>
              <a:t>으로 관리됨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스프링 </a:t>
            </a:r>
            <a:r>
              <a:rPr lang="en-US" altLang="ko-KR" dirty="0"/>
              <a:t>MVC</a:t>
            </a:r>
            <a:r>
              <a:rPr lang="ko-KR" altLang="en-US" dirty="0"/>
              <a:t>에 </a:t>
            </a:r>
            <a:r>
              <a:rPr lang="en-US" altLang="ko-KR" dirty="0" err="1"/>
              <a:t>Contontroller</a:t>
            </a:r>
            <a:r>
              <a:rPr lang="en-US" altLang="ko-KR" dirty="0"/>
              <a:t> </a:t>
            </a:r>
            <a:r>
              <a:rPr lang="ko-KR" altLang="en-US" dirty="0"/>
              <a:t>클래스로 인식되어 스프링 </a:t>
            </a:r>
            <a:r>
              <a:rPr lang="en-US" altLang="ko-KR" dirty="0"/>
              <a:t>MVC</a:t>
            </a:r>
            <a:r>
              <a:rPr lang="ko-KR" altLang="en-US" dirty="0"/>
              <a:t>가 제공하는 다양한 </a:t>
            </a:r>
            <a:r>
              <a:rPr lang="ko-KR" altLang="en-US" dirty="0" err="1"/>
              <a:t>어노테이션</a:t>
            </a:r>
            <a:r>
              <a:rPr lang="ko-KR" altLang="en-US" dirty="0"/>
              <a:t> 사용 가능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5878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참고</a:t>
            </a:r>
            <a:r>
              <a:rPr lang="en-US" altLang="ko-KR" dirty="0"/>
              <a:t>: https://johnkdk-dev.tistory.com/48</a:t>
            </a:r>
            <a:endParaRPr lang="ko-KR" altLang="en-US" dirty="0"/>
          </a:p>
          <a:p>
            <a:pPr algn="l"/>
            <a:endParaRPr lang="en-US" altLang="ko-KR" b="0" i="0" dirty="0">
              <a:solidFill>
                <a:srgbClr val="666666"/>
              </a:solidFill>
              <a:effectLst/>
              <a:latin typeface="Noto Sans KR"/>
            </a:endParaRPr>
          </a:p>
          <a:p>
            <a:pPr algn="l"/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웹 브라우저에서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'localhost:8080/hi'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라고 해서 던지면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, </a:t>
            </a:r>
          </a:p>
          <a:p>
            <a:pPr algn="l"/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스프링 부트는 </a:t>
            </a:r>
            <a:r>
              <a:rPr lang="ko-KR" altLang="en-US" b="0" i="0" dirty="0" err="1">
                <a:solidFill>
                  <a:srgbClr val="666666"/>
                </a:solidFill>
                <a:effectLst/>
                <a:latin typeface="Noto Sans KR"/>
              </a:rPr>
              <a:t>톰캣이라는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 웹 서버를 내장하고 있으니</a:t>
            </a:r>
            <a:endParaRPr lang="en-US" altLang="ko-KR" b="0" i="0" dirty="0">
              <a:solidFill>
                <a:srgbClr val="666666"/>
              </a:solidFill>
              <a:effectLst/>
              <a:latin typeface="Noto Sans KR"/>
            </a:endParaRPr>
          </a:p>
          <a:p>
            <a:pPr algn="l"/>
            <a:r>
              <a:rPr lang="ko-KR" altLang="en-US" b="0" i="0" dirty="0" err="1">
                <a:solidFill>
                  <a:srgbClr val="666666"/>
                </a:solidFill>
                <a:effectLst/>
                <a:latin typeface="Noto Sans KR"/>
              </a:rPr>
              <a:t>톰캣에서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 이것을 받아서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"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어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, /hi 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네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" 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하고 스프링에게 물어본다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.</a:t>
            </a:r>
          </a:p>
          <a:p>
            <a:endParaRPr lang="en-US" altLang="ko-KR" b="0" i="0" dirty="0">
              <a:solidFill>
                <a:srgbClr val="666666"/>
              </a:solidFill>
              <a:effectLst/>
              <a:latin typeface="Noto Sans KR"/>
            </a:endParaRPr>
          </a:p>
          <a:p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스프링의 </a:t>
            </a:r>
            <a:r>
              <a:rPr lang="en-US" altLang="ko-KR" b="0" i="0" dirty="0" err="1">
                <a:solidFill>
                  <a:srgbClr val="666666"/>
                </a:solidFill>
                <a:effectLst/>
                <a:latin typeface="Noto Sans KR"/>
              </a:rPr>
              <a:t>helloController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를 보면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@GetMapping(“/hi")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라는 것이 있다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.</a:t>
            </a:r>
          </a:p>
          <a:p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해당 메소드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(</a:t>
            </a:r>
            <a:r>
              <a:rPr lang="en-US" altLang="ko-KR" b="0" i="0" dirty="0" err="1">
                <a:solidFill>
                  <a:srgbClr val="666666"/>
                </a:solidFill>
                <a:effectLst/>
                <a:latin typeface="Noto Sans KR"/>
              </a:rPr>
              <a:t>getHi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()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가 실행되면서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model 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이 넘어옴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. Spring 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이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model 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을 만들고 모델에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key, value 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를 </a:t>
            </a:r>
            <a:r>
              <a:rPr lang="ko-KR" altLang="en-US" b="0" i="0" dirty="0" err="1">
                <a:solidFill>
                  <a:srgbClr val="666666"/>
                </a:solidFill>
                <a:effectLst/>
                <a:latin typeface="Noto Sans KR"/>
              </a:rPr>
              <a:t>넣어줌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)</a:t>
            </a:r>
          </a:p>
          <a:p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메소드의 리턴 값이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hi 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라는 문자열</a:t>
            </a:r>
            <a:endParaRPr lang="en-US" altLang="ko-KR" b="0" i="0" dirty="0">
              <a:solidFill>
                <a:srgbClr val="666666"/>
              </a:solidFill>
              <a:effectLst/>
              <a:latin typeface="Noto Sans KR"/>
            </a:endParaRPr>
          </a:p>
          <a:p>
            <a:endParaRPr lang="en-US" altLang="ko-KR" b="0" i="0" dirty="0">
              <a:solidFill>
                <a:srgbClr val="666666"/>
              </a:solidFill>
              <a:effectLst/>
              <a:latin typeface="Noto Sans KR"/>
            </a:endParaRPr>
          </a:p>
          <a:p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hi 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라는 이름을 갖는 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html 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파일을 찾아 </a:t>
            </a:r>
            <a:r>
              <a:rPr lang="ko-KR" altLang="en-US" b="0" i="0" dirty="0" err="1">
                <a:solidFill>
                  <a:srgbClr val="666666"/>
                </a:solidFill>
                <a:effectLst/>
                <a:latin typeface="Noto Sans KR"/>
              </a:rPr>
              <a:t>타임리프</a:t>
            </a:r>
            <a:r>
              <a:rPr lang="ko-KR" altLang="en-US" b="0" i="0" dirty="0">
                <a:solidFill>
                  <a:srgbClr val="666666"/>
                </a:solidFill>
                <a:effectLst/>
                <a:latin typeface="Noto Sans KR"/>
              </a:rPr>
              <a:t> 엔진이 렌더링</a:t>
            </a:r>
            <a:endParaRPr lang="en-US" altLang="ko-KR" b="0" i="0" dirty="0">
              <a:solidFill>
                <a:srgbClr val="666666"/>
              </a:solidFill>
              <a:effectLst/>
              <a:latin typeface="Noto Sans KR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1864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5078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5045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5041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249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1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1482248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1190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016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53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63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29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15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95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31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587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04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63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thymeleaf.org/doc/tutorials/3.1/usingthymeleaf.html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people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29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 Boot</a:t>
            </a:r>
            <a:br>
              <a:rPr lang="en-US" altLang="ko-KR" dirty="0"/>
            </a:br>
            <a:r>
              <a:rPr lang="ko-KR" altLang="en-US" dirty="0"/>
              <a:t>프로젝트 생성하기</a:t>
            </a:r>
          </a:p>
        </p:txBody>
      </p:sp>
    </p:spTree>
    <p:extLst>
      <p:ext uri="{BB962C8B-B14F-4D97-AF65-F5344CB8AC3E}">
        <p14:creationId xmlns:p14="http://schemas.microsoft.com/office/powerpoint/2010/main" val="194938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A6D0B-7D2F-0B89-E666-C8EB3147D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88757"/>
            <a:ext cx="10196384" cy="3188143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Spring</a:t>
            </a:r>
            <a:r>
              <a:rPr lang="ko-KR" altLang="en-US" sz="2400" dirty="0"/>
              <a:t> </a:t>
            </a:r>
            <a:r>
              <a:rPr lang="en-US" altLang="ko-KR" sz="2400" dirty="0"/>
              <a:t>Boot </a:t>
            </a:r>
            <a:r>
              <a:rPr lang="ko-KR" altLang="en-US" sz="2400" dirty="0"/>
              <a:t>기반으로 </a:t>
            </a:r>
            <a:r>
              <a:rPr lang="en-US" altLang="ko-KR" sz="2400" dirty="0"/>
              <a:t>Spring </a:t>
            </a:r>
            <a:r>
              <a:rPr lang="ko-KR" altLang="en-US" sz="2400" dirty="0"/>
              <a:t>관련 프로젝트를 만들어주는 사이트</a:t>
            </a:r>
            <a:endParaRPr lang="en-US" altLang="ko-KR" sz="2400" dirty="0"/>
          </a:p>
          <a:p>
            <a:r>
              <a:rPr lang="en-US" altLang="ko-KR" sz="2400" dirty="0"/>
              <a:t>Spring</a:t>
            </a:r>
            <a:r>
              <a:rPr lang="ko-KR" altLang="en-US" sz="2400" dirty="0"/>
              <a:t>에서 운영하고 있으며</a:t>
            </a:r>
            <a:r>
              <a:rPr lang="en-US" altLang="ko-KR" sz="2400" dirty="0"/>
              <a:t>, </a:t>
            </a:r>
            <a:r>
              <a:rPr lang="ko-KR" altLang="en-US" sz="2400" dirty="0"/>
              <a:t>해당 사이트에서 원하는 라이브러리를 선택 후 프로젝트 생성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7FC90B-D293-B8CD-3684-D692ACEC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464782-7ADC-58DA-4BF4-777FD1D6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8C068E-43F6-E730-F99E-14E7F062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 Boot </a:t>
            </a:r>
            <a:r>
              <a:rPr lang="ko-KR" altLang="en-US" dirty="0"/>
              <a:t>프로젝트 시작하기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1734F-1BD4-B604-2B77-173ABF3ACDA9}"/>
              </a:ext>
            </a:extLst>
          </p:cNvPr>
          <p:cNvSpPr txBox="1"/>
          <p:nvPr/>
        </p:nvSpPr>
        <p:spPr>
          <a:xfrm>
            <a:off x="776416" y="1705009"/>
            <a:ext cx="61423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hlinkClick r:id="rId2"/>
              </a:rPr>
              <a:t>https://start.spring.io/</a:t>
            </a:r>
            <a:r>
              <a:rPr lang="ko-KR" alt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1658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60CB0F-DFA6-564A-55CA-B64D1623F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ED73A0-7E09-61D1-2FB0-8C1FF8516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8D3967B-B5D8-966F-342B-327FE69D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 Boot </a:t>
            </a:r>
            <a:r>
              <a:rPr lang="ko-KR" altLang="en-US" dirty="0"/>
              <a:t>프로젝트 시작하기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EAFDF1-1493-EA4F-4D0C-72550A508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83" y="1396004"/>
            <a:ext cx="11009434" cy="490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921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8C3ADE4-F289-6DF4-4954-ECE43FA24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B8F31F-C569-A5D9-7978-F8F4EAEB9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2B4996-5D7C-E05A-D838-320DAE30D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899" y="562025"/>
            <a:ext cx="9332201" cy="57339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C3A20EC-1CB4-6C34-6377-442FBC3BA429}"/>
              </a:ext>
            </a:extLst>
          </p:cNvPr>
          <p:cNvSpPr/>
          <p:nvPr/>
        </p:nvSpPr>
        <p:spPr>
          <a:xfrm>
            <a:off x="1592620" y="1045258"/>
            <a:ext cx="2301160" cy="345845"/>
          </a:xfrm>
          <a:prstGeom prst="rect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생성할 프로젝트의 빌드 자동화 툴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2372D5-3C28-C1D5-B372-D09154E34098}"/>
              </a:ext>
            </a:extLst>
          </p:cNvPr>
          <p:cNvSpPr/>
          <p:nvPr/>
        </p:nvSpPr>
        <p:spPr>
          <a:xfrm>
            <a:off x="4369765" y="1218180"/>
            <a:ext cx="1611376" cy="345845"/>
          </a:xfrm>
          <a:prstGeom prst="rect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생성할 프로젝트의 언어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02352A-00FD-5613-9F5E-5B3457D74B77}"/>
              </a:ext>
            </a:extLst>
          </p:cNvPr>
          <p:cNvSpPr/>
          <p:nvPr/>
        </p:nvSpPr>
        <p:spPr>
          <a:xfrm>
            <a:off x="2371533" y="1855153"/>
            <a:ext cx="1307302" cy="345845"/>
          </a:xfrm>
          <a:prstGeom prst="rect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스프링 부트 버전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42304D-B208-A434-39A6-31420D525E30}"/>
              </a:ext>
            </a:extLst>
          </p:cNvPr>
          <p:cNvSpPr/>
          <p:nvPr/>
        </p:nvSpPr>
        <p:spPr>
          <a:xfrm>
            <a:off x="2568612" y="2384736"/>
            <a:ext cx="1110223" cy="345845"/>
          </a:xfrm>
          <a:prstGeom prst="rect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프로젝트 정보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7C7D63C-ED99-CD1C-13CB-C399F85C1BFD}"/>
              </a:ext>
            </a:extLst>
          </p:cNvPr>
          <p:cNvSpPr/>
          <p:nvPr/>
        </p:nvSpPr>
        <p:spPr>
          <a:xfrm>
            <a:off x="6335094" y="1045258"/>
            <a:ext cx="1259918" cy="345845"/>
          </a:xfrm>
          <a:prstGeom prst="rect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프로젝트 의존성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E68E5A-AE3B-D6FA-FFE0-64D5C4AE7759}"/>
              </a:ext>
            </a:extLst>
          </p:cNvPr>
          <p:cNvSpPr txBox="1"/>
          <p:nvPr/>
        </p:nvSpPr>
        <p:spPr>
          <a:xfrm>
            <a:off x="7595012" y="1062744"/>
            <a:ext cx="41577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6"/>
                </a:solidFill>
              </a:rPr>
              <a:t>여기에 추가한 </a:t>
            </a:r>
            <a:r>
              <a:rPr lang="ko-KR" altLang="en-US" sz="1400" dirty="0" err="1">
                <a:solidFill>
                  <a:schemeClr val="accent6"/>
                </a:solidFill>
              </a:rPr>
              <a:t>디펜던시가</a:t>
            </a:r>
            <a:r>
              <a:rPr lang="ko-KR" altLang="en-US" sz="1400" dirty="0">
                <a:solidFill>
                  <a:schemeClr val="accent6"/>
                </a:solidFill>
              </a:rPr>
              <a:t> </a:t>
            </a:r>
            <a:r>
              <a:rPr lang="en-US" altLang="ko-KR" sz="1400" b="1" dirty="0" err="1">
                <a:solidFill>
                  <a:schemeClr val="accent6"/>
                </a:solidFill>
              </a:rPr>
              <a:t>build.gradle</a:t>
            </a:r>
            <a:r>
              <a:rPr lang="en-US" altLang="ko-KR" sz="1400" b="1" dirty="0">
                <a:solidFill>
                  <a:schemeClr val="accent6"/>
                </a:solidFill>
              </a:rPr>
              <a:t> </a:t>
            </a:r>
            <a:r>
              <a:rPr lang="ko-KR" altLang="en-US" sz="1400" dirty="0">
                <a:solidFill>
                  <a:schemeClr val="accent6"/>
                </a:solidFill>
              </a:rPr>
              <a:t>파일에 추가됨</a:t>
            </a:r>
            <a:r>
              <a:rPr lang="en-US" altLang="ko-KR" sz="1400" dirty="0">
                <a:solidFill>
                  <a:schemeClr val="accent6"/>
                </a:solidFill>
              </a:rPr>
              <a:t>!</a:t>
            </a:r>
            <a:endParaRPr lang="ko-KR" altLang="en-US" sz="1400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D06DA6-1D28-B2AD-924C-4A201F39034D}"/>
              </a:ext>
            </a:extLst>
          </p:cNvPr>
          <p:cNvSpPr txBox="1"/>
          <p:nvPr/>
        </p:nvSpPr>
        <p:spPr>
          <a:xfrm>
            <a:off x="7399605" y="1701264"/>
            <a:ext cx="1850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6"/>
                </a:solidFill>
              </a:rPr>
              <a:t>스프링 기반으로 웹 개발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536B68-986C-AA8A-6F12-D6A060970E55}"/>
              </a:ext>
            </a:extLst>
          </p:cNvPr>
          <p:cNvSpPr txBox="1"/>
          <p:nvPr/>
        </p:nvSpPr>
        <p:spPr>
          <a:xfrm>
            <a:off x="7953055" y="2321173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6"/>
                </a:solidFill>
              </a:rPr>
              <a:t>템플릿 엔진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13754B-CF43-A653-7A27-DE3D04E561A9}"/>
              </a:ext>
            </a:extLst>
          </p:cNvPr>
          <p:cNvSpPr txBox="1"/>
          <p:nvPr/>
        </p:nvSpPr>
        <p:spPr>
          <a:xfrm>
            <a:off x="6335094" y="3401897"/>
            <a:ext cx="5476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6"/>
                </a:solidFill>
              </a:rPr>
              <a:t>코드 다이어트 라이브러리</a:t>
            </a:r>
            <a:r>
              <a:rPr lang="en-US" altLang="ko-KR" sz="1400" dirty="0">
                <a:solidFill>
                  <a:schemeClr val="accent6"/>
                </a:solidFill>
              </a:rPr>
              <a:t> ex. getter, setter </a:t>
            </a:r>
            <a:r>
              <a:rPr lang="ko-KR" altLang="en-US" sz="1400" dirty="0">
                <a:solidFill>
                  <a:schemeClr val="accent6"/>
                </a:solidFill>
              </a:rPr>
              <a:t>등 코드를 간단히 사용하게 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298228-066C-83E4-EB3D-5E0D3074A4E6}"/>
              </a:ext>
            </a:extLst>
          </p:cNvPr>
          <p:cNvSpPr/>
          <p:nvPr/>
        </p:nvSpPr>
        <p:spPr>
          <a:xfrm>
            <a:off x="4241945" y="5875468"/>
            <a:ext cx="1341171" cy="2791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171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60C0D0-88EC-C000-5619-587920983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DAF915-70C6-4FF4-E3CF-1F222B46D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896D02D-9CF8-A98B-3FB8-30284502A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압축 파일 프로젝트 경로로 옮기기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2396A0F-BA01-8FB2-5D9D-CAC81DC531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97" t="17720" r="17273"/>
          <a:stretch/>
        </p:blipFill>
        <p:spPr>
          <a:xfrm>
            <a:off x="603467" y="1674466"/>
            <a:ext cx="2951781" cy="199818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FF65FB9B-9CBA-8DF0-F64F-2524B9CF4849}"/>
              </a:ext>
            </a:extLst>
          </p:cNvPr>
          <p:cNvSpPr/>
          <p:nvPr/>
        </p:nvSpPr>
        <p:spPr>
          <a:xfrm>
            <a:off x="2524254" y="4188923"/>
            <a:ext cx="2364040" cy="380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chemeClr val="tx1"/>
                </a:solidFill>
              </a:rPr>
              <a:t>압축 풀어서 옮기기</a:t>
            </a:r>
            <a:r>
              <a:rPr lang="en-US" altLang="ko-KR" sz="2000" dirty="0">
                <a:solidFill>
                  <a:schemeClr val="tx1"/>
                </a:solidFill>
              </a:rPr>
              <a:t>~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6C73E06-8C6B-C990-3008-30CB55CB451F}"/>
              </a:ext>
            </a:extLst>
          </p:cNvPr>
          <p:cNvGrpSpPr/>
          <p:nvPr/>
        </p:nvGrpSpPr>
        <p:grpSpPr>
          <a:xfrm>
            <a:off x="4180618" y="1600441"/>
            <a:ext cx="4613434" cy="2553254"/>
            <a:chOff x="3978402" y="1578621"/>
            <a:chExt cx="5912980" cy="3272473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14D894E4-6B9B-76AE-B221-083AF51BB4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594" t="4589" r="41168" b="21073"/>
            <a:stretch/>
          </p:blipFill>
          <p:spPr>
            <a:xfrm>
              <a:off x="3978402" y="1578621"/>
              <a:ext cx="5299970" cy="3272473"/>
            </a:xfrm>
            <a:prstGeom prst="rect">
              <a:avLst/>
            </a:prstGeom>
          </p:spPr>
        </p:pic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DCFDA1F-77BB-4952-A399-7779839C954D}"/>
                </a:ext>
              </a:extLst>
            </p:cNvPr>
            <p:cNvSpPr/>
            <p:nvPr/>
          </p:nvSpPr>
          <p:spPr>
            <a:xfrm>
              <a:off x="6861422" y="1581124"/>
              <a:ext cx="3029960" cy="4808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>
                  <a:solidFill>
                    <a:schemeClr val="tx1"/>
                  </a:solidFill>
                </a:rPr>
                <a:t>공부용</a:t>
              </a:r>
              <a:r>
                <a:rPr lang="en-US" altLang="ko-KR" sz="1600" dirty="0">
                  <a:solidFill>
                    <a:schemeClr val="tx1"/>
                  </a:solidFill>
                </a:rPr>
                <a:t>_</a:t>
              </a:r>
              <a:r>
                <a:rPr lang="ko-KR" altLang="en-US" sz="1600" dirty="0">
                  <a:solidFill>
                    <a:schemeClr val="tx1"/>
                  </a:solidFill>
                </a:rPr>
                <a:t>프로젝트</a:t>
              </a:r>
              <a:r>
                <a:rPr lang="en-US" altLang="ko-KR" sz="1600" dirty="0">
                  <a:solidFill>
                    <a:schemeClr val="tx1"/>
                  </a:solidFill>
                </a:rPr>
                <a:t>_</a:t>
              </a:r>
              <a:r>
                <a:rPr lang="ko-KR" altLang="en-US" sz="1600" dirty="0">
                  <a:solidFill>
                    <a:schemeClr val="tx1"/>
                  </a:solidFill>
                </a:rPr>
                <a:t>폴더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6B9C19C5-DE97-D09D-5881-AEACC6E594EC}"/>
                </a:ext>
              </a:extLst>
            </p:cNvPr>
            <p:cNvSpPr/>
            <p:nvPr/>
          </p:nvSpPr>
          <p:spPr>
            <a:xfrm>
              <a:off x="4494579" y="3346200"/>
              <a:ext cx="2664558" cy="8883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20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19DE7A9B-E041-16F5-F996-0EDC7CBB7B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61" t="1900" r="21078" b="2993"/>
          <a:stretch/>
        </p:blipFill>
        <p:spPr>
          <a:xfrm>
            <a:off x="8794052" y="1600441"/>
            <a:ext cx="2647394" cy="4119493"/>
          </a:xfrm>
          <a:prstGeom prst="rect">
            <a:avLst/>
          </a:prstGeom>
        </p:spPr>
      </p:pic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68F1B9F-7864-25A2-2AC7-8CEFBDC75AD0}"/>
              </a:ext>
            </a:extLst>
          </p:cNvPr>
          <p:cNvCxnSpPr>
            <a:cxnSpLocks/>
          </p:cNvCxnSpPr>
          <p:nvPr/>
        </p:nvCxnSpPr>
        <p:spPr>
          <a:xfrm>
            <a:off x="3231931" y="3536567"/>
            <a:ext cx="948687" cy="2957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803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4057AD0-8687-52EA-06DD-F8643948D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0"/>
          <a:stretch/>
        </p:blipFill>
        <p:spPr>
          <a:xfrm>
            <a:off x="838200" y="2081047"/>
            <a:ext cx="10515600" cy="2723135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0A0FE5-B633-DBCA-5EA5-343939684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847080-90A3-005B-1E6A-E0DE0DB1A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BBFE43-2D7C-A579-9B3D-5773C0ADD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IntelliJ </a:t>
            </a:r>
            <a:r>
              <a:rPr lang="ko-KR" altLang="en-US" dirty="0"/>
              <a:t>에서 프로젝트 열기</a:t>
            </a:r>
          </a:p>
        </p:txBody>
      </p:sp>
    </p:spTree>
    <p:extLst>
      <p:ext uri="{BB962C8B-B14F-4D97-AF65-F5344CB8AC3E}">
        <p14:creationId xmlns:p14="http://schemas.microsoft.com/office/powerpoint/2010/main" val="384105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A623F5-D9C8-4692-8ED5-578981E5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F869FC-5094-DB5C-1F4D-BE4F4D97D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942464E-428D-E2AA-D5D8-95D7B1ADD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IntelliJ </a:t>
            </a:r>
            <a:r>
              <a:rPr lang="ko-KR" altLang="en-US" dirty="0"/>
              <a:t>에서 프로젝트 열기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D64492-E229-3019-D92A-93A83C114220}"/>
              </a:ext>
            </a:extLst>
          </p:cNvPr>
          <p:cNvSpPr/>
          <p:nvPr/>
        </p:nvSpPr>
        <p:spPr>
          <a:xfrm>
            <a:off x="3042227" y="5870854"/>
            <a:ext cx="6162052" cy="380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chemeClr val="tx1"/>
                </a:solidFill>
              </a:rPr>
              <a:t>주의</a:t>
            </a:r>
            <a:r>
              <a:rPr lang="en-US" altLang="ko-KR" sz="1600" dirty="0">
                <a:solidFill>
                  <a:schemeClr val="tx1"/>
                </a:solidFill>
              </a:rPr>
              <a:t>. </a:t>
            </a:r>
            <a:r>
              <a:rPr lang="en-US" altLang="ko-KR" sz="1600" dirty="0" err="1">
                <a:solidFill>
                  <a:schemeClr val="tx1"/>
                </a:solidFill>
              </a:rPr>
              <a:t>src</a:t>
            </a:r>
            <a:r>
              <a:rPr lang="en-US" altLang="ko-KR" sz="1600" dirty="0">
                <a:solidFill>
                  <a:schemeClr val="tx1"/>
                </a:solidFill>
              </a:rPr>
              <a:t>/</a:t>
            </a:r>
            <a:r>
              <a:rPr lang="ko-KR" altLang="en-US" sz="1600" dirty="0">
                <a:solidFill>
                  <a:schemeClr val="tx1"/>
                </a:solidFill>
              </a:rPr>
              <a:t> 폴더가 프로젝트이름 바로 아래에 위치하도록 </a:t>
            </a:r>
            <a:r>
              <a:rPr lang="en-US" altLang="ko-KR" sz="1600" dirty="0">
                <a:solidFill>
                  <a:schemeClr val="tx1"/>
                </a:solidFill>
              </a:rPr>
              <a:t>OPEN </a:t>
            </a:r>
            <a:r>
              <a:rPr lang="ko-KR" altLang="en-US" sz="1600" dirty="0">
                <a:solidFill>
                  <a:schemeClr val="tx1"/>
                </a:solidFill>
              </a:rPr>
              <a:t>하기</a:t>
            </a:r>
            <a:r>
              <a:rPr lang="en-US" altLang="ko-KR" sz="1600" dirty="0">
                <a:solidFill>
                  <a:schemeClr val="tx1"/>
                </a:solidFill>
              </a:rPr>
              <a:t>!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0D56B6C-B0D6-0FD7-5179-351828AC7FEA}"/>
              </a:ext>
            </a:extLst>
          </p:cNvPr>
          <p:cNvGrpSpPr/>
          <p:nvPr/>
        </p:nvGrpSpPr>
        <p:grpSpPr>
          <a:xfrm>
            <a:off x="2027603" y="1448415"/>
            <a:ext cx="4203966" cy="4351338"/>
            <a:chOff x="1184765" y="1424561"/>
            <a:chExt cx="4203966" cy="4351338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BDAC3682-D0F5-EEF3-DFEE-9B98AE2CE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4765" y="1424561"/>
              <a:ext cx="4203966" cy="4351338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914796F-20CD-D54E-A17D-ADEAE35DF556}"/>
                </a:ext>
              </a:extLst>
            </p:cNvPr>
            <p:cNvSpPr/>
            <p:nvPr/>
          </p:nvSpPr>
          <p:spPr>
            <a:xfrm>
              <a:off x="1497782" y="2095790"/>
              <a:ext cx="2474934" cy="157335"/>
            </a:xfrm>
            <a:prstGeom prst="rect">
              <a:avLst/>
            </a:prstGeom>
            <a:solidFill>
              <a:srgbClr val="2B2D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926CCDA-D82F-7787-414E-C41CC9BD7C92}"/>
                </a:ext>
              </a:extLst>
            </p:cNvPr>
            <p:cNvSpPr/>
            <p:nvPr/>
          </p:nvSpPr>
          <p:spPr>
            <a:xfrm>
              <a:off x="1981037" y="2348080"/>
              <a:ext cx="2474934" cy="157335"/>
            </a:xfrm>
            <a:prstGeom prst="rect">
              <a:avLst/>
            </a:prstGeom>
            <a:solidFill>
              <a:srgbClr val="2B2D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1519A50-33EB-C44E-22F0-86C67CEEE19E}"/>
                </a:ext>
              </a:extLst>
            </p:cNvPr>
            <p:cNvSpPr/>
            <p:nvPr/>
          </p:nvSpPr>
          <p:spPr>
            <a:xfrm>
              <a:off x="2134635" y="2707937"/>
              <a:ext cx="2474934" cy="157335"/>
            </a:xfrm>
            <a:prstGeom prst="rect">
              <a:avLst/>
            </a:prstGeom>
            <a:solidFill>
              <a:srgbClr val="2B2D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14F7EFA-0641-251F-9F5E-32FFD0C1AFC0}"/>
                </a:ext>
              </a:extLst>
            </p:cNvPr>
            <p:cNvSpPr/>
            <p:nvPr/>
          </p:nvSpPr>
          <p:spPr>
            <a:xfrm>
              <a:off x="2134635" y="2910459"/>
              <a:ext cx="2474934" cy="157335"/>
            </a:xfrm>
            <a:prstGeom prst="rect">
              <a:avLst/>
            </a:prstGeom>
            <a:solidFill>
              <a:srgbClr val="2B2D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F1B81A9-77F0-144C-F27D-7841CFFC65A2}"/>
              </a:ext>
            </a:extLst>
          </p:cNvPr>
          <p:cNvGrpSpPr/>
          <p:nvPr/>
        </p:nvGrpSpPr>
        <p:grpSpPr>
          <a:xfrm>
            <a:off x="6449256" y="1448415"/>
            <a:ext cx="3325547" cy="4351338"/>
            <a:chOff x="6123253" y="1424561"/>
            <a:chExt cx="3325547" cy="435133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8E07A85-E8CE-0165-1810-3C323F22D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3253" y="1424561"/>
              <a:ext cx="3325547" cy="4351338"/>
            </a:xfrm>
            <a:prstGeom prst="rect">
              <a:avLst/>
            </a:prstGeom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30B7B8F-A86B-BB2E-B025-893F12C8B27A}"/>
                </a:ext>
              </a:extLst>
            </p:cNvPr>
            <p:cNvSpPr/>
            <p:nvPr/>
          </p:nvSpPr>
          <p:spPr>
            <a:xfrm>
              <a:off x="7494391" y="1762231"/>
              <a:ext cx="1954409" cy="177887"/>
            </a:xfrm>
            <a:prstGeom prst="rect">
              <a:avLst/>
            </a:prstGeom>
            <a:solidFill>
              <a:srgbClr val="2B2D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96FCA5-655E-B05A-E573-998D51CCAEC5}"/>
              </a:ext>
            </a:extLst>
          </p:cNvPr>
          <p:cNvSpPr/>
          <p:nvPr/>
        </p:nvSpPr>
        <p:spPr>
          <a:xfrm>
            <a:off x="2239472" y="3083699"/>
            <a:ext cx="3816000" cy="216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C42802-E93A-08F0-21AE-505AD0D34342}"/>
              </a:ext>
            </a:extLst>
          </p:cNvPr>
          <p:cNvSpPr/>
          <p:nvPr/>
        </p:nvSpPr>
        <p:spPr>
          <a:xfrm>
            <a:off x="4905954" y="5538491"/>
            <a:ext cx="572181" cy="216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522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339306-4844-62A0-D56E-05EEE9112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977311-6B23-E169-B7CA-395239AC7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F821F4-B2C8-68FD-A003-99A9BE20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5622F8-0149-14FA-2153-5FEB625B7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실행하기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EA79F17-3A59-DCE0-AD23-68109EDF2E9A}"/>
              </a:ext>
            </a:extLst>
          </p:cNvPr>
          <p:cNvGrpSpPr/>
          <p:nvPr/>
        </p:nvGrpSpPr>
        <p:grpSpPr>
          <a:xfrm>
            <a:off x="416163" y="1377009"/>
            <a:ext cx="7561572" cy="4799954"/>
            <a:chOff x="416163" y="1377009"/>
            <a:chExt cx="7561572" cy="4799954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B656C26-AD0A-DFED-DF39-A56CAE821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163" y="1377009"/>
              <a:ext cx="7561572" cy="4799954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2FC1E90-365E-C6BD-89B7-D4FD4206D9BE}"/>
                </a:ext>
              </a:extLst>
            </p:cNvPr>
            <p:cNvSpPr/>
            <p:nvPr/>
          </p:nvSpPr>
          <p:spPr>
            <a:xfrm>
              <a:off x="1504654" y="1736681"/>
              <a:ext cx="1079457" cy="177887"/>
            </a:xfrm>
            <a:prstGeom prst="rect">
              <a:avLst/>
            </a:prstGeom>
            <a:solidFill>
              <a:srgbClr val="2B2D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B4A6208-5AFB-7B51-EFC9-8119091FEB4D}"/>
              </a:ext>
            </a:extLst>
          </p:cNvPr>
          <p:cNvGrpSpPr/>
          <p:nvPr/>
        </p:nvGrpSpPr>
        <p:grpSpPr>
          <a:xfrm>
            <a:off x="7411536" y="3835182"/>
            <a:ext cx="4500118" cy="1827116"/>
            <a:chOff x="7275719" y="3873222"/>
            <a:chExt cx="4500118" cy="1827116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BCFFAAB-0DEB-77BE-7022-908267A90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75719" y="3873222"/>
              <a:ext cx="4500118" cy="1827116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EDA8F11-80A7-D9DF-85EA-391F73B8C0C6}"/>
                </a:ext>
              </a:extLst>
            </p:cNvPr>
            <p:cNvSpPr/>
            <p:nvPr/>
          </p:nvSpPr>
          <p:spPr>
            <a:xfrm>
              <a:off x="11025090" y="3879654"/>
              <a:ext cx="750747" cy="177887"/>
            </a:xfrm>
            <a:prstGeom prst="rect">
              <a:avLst/>
            </a:prstGeom>
            <a:solidFill>
              <a:srgbClr val="1E1F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DF33D0-4E8F-107A-F2A0-0516EAD718F4}"/>
              </a:ext>
            </a:extLst>
          </p:cNvPr>
          <p:cNvSpPr/>
          <p:nvPr/>
        </p:nvSpPr>
        <p:spPr>
          <a:xfrm>
            <a:off x="2639923" y="2440350"/>
            <a:ext cx="318177" cy="1463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AA291AB-0591-D58F-AE4B-3957C04DD2E2}"/>
              </a:ext>
            </a:extLst>
          </p:cNvPr>
          <p:cNvSpPr/>
          <p:nvPr/>
        </p:nvSpPr>
        <p:spPr>
          <a:xfrm>
            <a:off x="8967433" y="4142505"/>
            <a:ext cx="688068" cy="1504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AAC110-5851-0AC1-AD83-BD025F6072BB}"/>
              </a:ext>
            </a:extLst>
          </p:cNvPr>
          <p:cNvSpPr txBox="1"/>
          <p:nvPr/>
        </p:nvSpPr>
        <p:spPr>
          <a:xfrm>
            <a:off x="6783859" y="3159008"/>
            <a:ext cx="515969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스프링 부트는 기본적으로 </a:t>
            </a:r>
            <a:r>
              <a:rPr lang="en-US" altLang="ko-KR" b="1" dirty="0">
                <a:solidFill>
                  <a:schemeClr val="accent1"/>
                </a:solidFill>
              </a:rPr>
              <a:t>8080 </a:t>
            </a:r>
            <a:r>
              <a:rPr lang="ko-KR" altLang="en-US" b="1" dirty="0">
                <a:solidFill>
                  <a:schemeClr val="accent1"/>
                </a:solidFill>
              </a:rPr>
              <a:t>포트</a:t>
            </a:r>
            <a:r>
              <a:rPr lang="ko-KR" altLang="en-US" dirty="0"/>
              <a:t>를 사용하여</a:t>
            </a:r>
            <a:endParaRPr lang="en-US" altLang="ko-KR" dirty="0"/>
          </a:p>
          <a:p>
            <a:pPr algn="r"/>
            <a:r>
              <a:rPr lang="ko-KR" altLang="en-US" dirty="0"/>
              <a:t>내장된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chemeClr val="accent1"/>
                </a:solidFill>
              </a:rPr>
              <a:t>Apache Tomcat </a:t>
            </a:r>
            <a:r>
              <a:rPr lang="ko-KR" altLang="en-US" b="1" dirty="0">
                <a:solidFill>
                  <a:schemeClr val="accent1"/>
                </a:solidFill>
              </a:rPr>
              <a:t>웹 서버</a:t>
            </a:r>
            <a:r>
              <a:rPr lang="ko-KR" altLang="en-US" dirty="0"/>
              <a:t>를 실행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38C68E-11DD-7E0D-ABFC-A955CDC31484}"/>
              </a:ext>
            </a:extLst>
          </p:cNvPr>
          <p:cNvSpPr/>
          <p:nvPr/>
        </p:nvSpPr>
        <p:spPr>
          <a:xfrm>
            <a:off x="7411536" y="4142505"/>
            <a:ext cx="369028" cy="1504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Apache? Tomcat?? 둘이 무슨 차이지?">
            <a:extLst>
              <a:ext uri="{FF2B5EF4-FFF2-40B4-BE49-F238E27FC236}">
                <a16:creationId xmlns:a16="http://schemas.microsoft.com/office/drawing/2014/main" id="{26C12292-8F4E-2A4A-CF23-C36EF92A5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192" y="1377009"/>
            <a:ext cx="3085008" cy="160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376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C05A7D5-175D-AD17-84E3-D462713BC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아파치 소프트웨어 재단에서 개발한 </a:t>
            </a:r>
            <a:r>
              <a:rPr lang="ko-KR" altLang="en-US" sz="2400" dirty="0" err="1"/>
              <a:t>서블릿</a:t>
            </a:r>
            <a:r>
              <a:rPr lang="ko-KR" altLang="en-US" sz="2400" dirty="0"/>
              <a:t> 컨테이너만 있는 웹 애플리케이션 서버</a:t>
            </a:r>
            <a:endParaRPr lang="en-US" altLang="ko-KR" sz="2400" dirty="0"/>
          </a:p>
          <a:p>
            <a:r>
              <a:rPr lang="en-US" altLang="ko-KR" sz="2400" b="1" dirty="0"/>
              <a:t>Apache</a:t>
            </a:r>
            <a:r>
              <a:rPr lang="en-US" altLang="ko-KR" sz="2400" dirty="0"/>
              <a:t>: </a:t>
            </a:r>
            <a:r>
              <a:rPr lang="ko-KR" altLang="en-US" sz="2000" dirty="0"/>
              <a:t>아파치 소프트웨어 재단에서 만든 </a:t>
            </a:r>
            <a:r>
              <a:rPr lang="en-US" altLang="ko-KR" sz="2000" dirty="0">
                <a:solidFill>
                  <a:schemeClr val="accent1"/>
                </a:solidFill>
              </a:rPr>
              <a:t>Web Server</a:t>
            </a:r>
            <a:r>
              <a:rPr lang="ko-KR" altLang="en-US" sz="2000" dirty="0"/>
              <a:t>로 정적 리소스를 응답</a:t>
            </a:r>
            <a:r>
              <a:rPr lang="en-US" altLang="ko-KR" sz="2000" dirty="0"/>
              <a:t> (80 </a:t>
            </a:r>
            <a:r>
              <a:rPr lang="ko-KR" altLang="en-US" sz="2000" dirty="0"/>
              <a:t>포트</a:t>
            </a:r>
            <a:r>
              <a:rPr lang="en-US" altLang="ko-KR" sz="2000" dirty="0"/>
              <a:t>)</a:t>
            </a:r>
          </a:p>
          <a:p>
            <a:r>
              <a:rPr lang="en-US" altLang="ko-KR" sz="2400" b="1" dirty="0"/>
              <a:t>Tomcat</a:t>
            </a:r>
            <a:r>
              <a:rPr lang="en-US" altLang="ko-KR" sz="2400" dirty="0"/>
              <a:t>: </a:t>
            </a:r>
            <a:r>
              <a:rPr lang="ko-KR" altLang="en-US" sz="2000" dirty="0"/>
              <a:t>동적인 데이터를 처리하는 서버</a:t>
            </a:r>
            <a:r>
              <a:rPr lang="en-US" altLang="ko-KR" sz="2000" dirty="0"/>
              <a:t>. </a:t>
            </a:r>
            <a:r>
              <a:rPr lang="en-US" altLang="ko-KR" sz="2000" dirty="0">
                <a:solidFill>
                  <a:schemeClr val="accent1"/>
                </a:solidFill>
              </a:rPr>
              <a:t>Web Application</a:t>
            </a:r>
            <a:r>
              <a:rPr lang="ko-KR" altLang="en-US" sz="2000" dirty="0">
                <a:solidFill>
                  <a:schemeClr val="accent1"/>
                </a:solidFill>
              </a:rPr>
              <a:t> </a:t>
            </a:r>
            <a:r>
              <a:rPr lang="en-US" altLang="ko-KR" sz="2000" dirty="0">
                <a:solidFill>
                  <a:schemeClr val="accent1"/>
                </a:solidFill>
              </a:rPr>
              <a:t>Server</a:t>
            </a:r>
            <a:r>
              <a:rPr lang="ko-KR" altLang="en-US" sz="2000" dirty="0">
                <a:solidFill>
                  <a:schemeClr val="accent1"/>
                </a:solidFill>
              </a:rPr>
              <a:t> </a:t>
            </a:r>
            <a:r>
              <a:rPr lang="en-US" altLang="ko-KR" sz="2000" dirty="0"/>
              <a:t>(8080 </a:t>
            </a:r>
            <a:r>
              <a:rPr lang="ko-KR" altLang="en-US" sz="2000" dirty="0"/>
              <a:t>포트</a:t>
            </a:r>
            <a:r>
              <a:rPr lang="en-US" altLang="ko-KR" sz="2000" dirty="0"/>
              <a:t>)</a:t>
            </a:r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ko-KR" altLang="en-US" sz="20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18019A-DCD9-039D-B05B-79038F8A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7EB476-9DB0-FF8F-1566-7D8B3132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A5202D5D-3107-5E00-F29F-B26781900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잠깐</a:t>
            </a:r>
            <a:r>
              <a:rPr lang="en-US" altLang="ko-KR" dirty="0"/>
              <a:t>! Apache Tomcat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1106BF6-9FAA-F4D3-2727-B56D293BCA6B}"/>
              </a:ext>
            </a:extLst>
          </p:cNvPr>
          <p:cNvGrpSpPr/>
          <p:nvPr/>
        </p:nvGrpSpPr>
        <p:grpSpPr>
          <a:xfrm>
            <a:off x="1857375" y="3704534"/>
            <a:ext cx="8477249" cy="2623804"/>
            <a:chOff x="1733550" y="3933651"/>
            <a:chExt cx="8477249" cy="262380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CB454ED-9683-C35F-4830-CE8F09059B10}"/>
                </a:ext>
              </a:extLst>
            </p:cNvPr>
            <p:cNvSpPr/>
            <p:nvPr/>
          </p:nvSpPr>
          <p:spPr>
            <a:xfrm>
              <a:off x="1733550" y="4758987"/>
              <a:ext cx="1435100" cy="9017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Client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EE6C359-EA95-63A6-E8A8-E68C28A53700}"/>
                </a:ext>
              </a:extLst>
            </p:cNvPr>
            <p:cNvSpPr/>
            <p:nvPr/>
          </p:nvSpPr>
          <p:spPr>
            <a:xfrm>
              <a:off x="4063999" y="4267372"/>
              <a:ext cx="6146800" cy="188493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44ADB3-3E54-EAD2-8E5D-66475B9ADA25}"/>
                </a:ext>
              </a:extLst>
            </p:cNvPr>
            <p:cNvSpPr txBox="1"/>
            <p:nvPr/>
          </p:nvSpPr>
          <p:spPr>
            <a:xfrm>
              <a:off x="6794998" y="3933651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WAS</a:t>
              </a:r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1DEA21-4DAA-9C44-245C-7C57DB3CC592}"/>
                </a:ext>
              </a:extLst>
            </p:cNvPr>
            <p:cNvSpPr/>
            <p:nvPr/>
          </p:nvSpPr>
          <p:spPr>
            <a:xfrm>
              <a:off x="4826499" y="4617855"/>
              <a:ext cx="1968499" cy="123684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Web Server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F5E0C71-B16F-E67B-4901-2224EE2F6F9B}"/>
                </a:ext>
              </a:extLst>
            </p:cNvPr>
            <p:cNvSpPr/>
            <p:nvPr/>
          </p:nvSpPr>
          <p:spPr>
            <a:xfrm>
              <a:off x="7557498" y="4617855"/>
              <a:ext cx="1968500" cy="123684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Web Container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AE34EAF6-A028-7125-FBF0-7F2A4AB8A7EC}"/>
                </a:ext>
              </a:extLst>
            </p:cNvPr>
            <p:cNvCxnSpPr/>
            <p:nvPr/>
          </p:nvCxnSpPr>
          <p:spPr>
            <a:xfrm>
              <a:off x="3168650" y="4978400"/>
              <a:ext cx="1657849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6421EEB4-4C42-D562-D14B-0E2312BF2091}"/>
                </a:ext>
              </a:extLst>
            </p:cNvPr>
            <p:cNvCxnSpPr>
              <a:cxnSpLocks/>
            </p:cNvCxnSpPr>
            <p:nvPr/>
          </p:nvCxnSpPr>
          <p:spPr>
            <a:xfrm>
              <a:off x="6794998" y="4978400"/>
              <a:ext cx="76250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54D665FD-1026-6BEB-50C6-44D4473617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3250" y="5401377"/>
              <a:ext cx="1657349" cy="0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01C4F26-FB26-9D7F-8F92-8E18ECA1B0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82298" y="5401377"/>
              <a:ext cx="762500" cy="0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4892CF9-0DD7-C5CE-BBD0-770152A8FF84}"/>
                </a:ext>
              </a:extLst>
            </p:cNvPr>
            <p:cNvSpPr/>
            <p:nvPr/>
          </p:nvSpPr>
          <p:spPr>
            <a:xfrm>
              <a:off x="1733550" y="4242712"/>
              <a:ext cx="5353050" cy="1909592"/>
            </a:xfrm>
            <a:prstGeom prst="rect">
              <a:avLst/>
            </a:prstGeom>
            <a:noFill/>
            <a:ln w="571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A0CD16A-1D56-B998-332B-0BA6947652AE}"/>
                </a:ext>
              </a:extLst>
            </p:cNvPr>
            <p:cNvSpPr/>
            <p:nvPr/>
          </p:nvSpPr>
          <p:spPr>
            <a:xfrm>
              <a:off x="7226798" y="4242712"/>
              <a:ext cx="2984001" cy="1909592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A1D49D1-63E0-6F8D-8CA6-28092E691E30}"/>
                </a:ext>
              </a:extLst>
            </p:cNvPr>
            <p:cNvSpPr txBox="1"/>
            <p:nvPr/>
          </p:nvSpPr>
          <p:spPr>
            <a:xfrm>
              <a:off x="3201579" y="6183147"/>
              <a:ext cx="1763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accent3"/>
                  </a:solidFill>
                </a:rPr>
                <a:t>아파치</a:t>
              </a:r>
              <a:r>
                <a:rPr lang="en-US" altLang="ko-KR" dirty="0">
                  <a:solidFill>
                    <a:schemeClr val="accent3"/>
                  </a:solidFill>
                </a:rPr>
                <a:t>(Apache)</a:t>
              </a:r>
              <a:endParaRPr lang="ko-KR" alt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F85FB4-DB7F-2C01-726B-69A6C3DC4B03}"/>
                </a:ext>
              </a:extLst>
            </p:cNvPr>
            <p:cNvSpPr txBox="1"/>
            <p:nvPr/>
          </p:nvSpPr>
          <p:spPr>
            <a:xfrm>
              <a:off x="7949020" y="6188123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rgbClr val="7030A0"/>
                  </a:solidFill>
                </a:rPr>
                <a:t>톰캣</a:t>
              </a:r>
              <a:r>
                <a:rPr lang="en-US" altLang="ko-KR" dirty="0">
                  <a:solidFill>
                    <a:srgbClr val="7030A0"/>
                  </a:solidFill>
                </a:rPr>
                <a:t>(Tomcat)</a:t>
              </a:r>
              <a:endParaRPr lang="ko-KR" altLang="en-US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9660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A375BF-57A0-92C0-7CA6-E6E57C9F8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/>
              <a:t>AP </a:t>
            </a:r>
            <a:r>
              <a:rPr lang="ko-KR" altLang="en-US" sz="2400" b="1" dirty="0"/>
              <a:t>서버 </a:t>
            </a:r>
            <a:r>
              <a:rPr lang="en-US" altLang="ko-KR" sz="2400" dirty="0"/>
              <a:t>(</a:t>
            </a:r>
            <a:r>
              <a:rPr lang="ko-KR" altLang="en-US" sz="2400" dirty="0"/>
              <a:t>애플리케이션 서버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자바 웹 애플리케이션을 구동하기 위해 필요한 프로그램 </a:t>
            </a:r>
            <a:r>
              <a:rPr lang="en-US" altLang="ko-KR" sz="2000" dirty="0"/>
              <a:t>(ex.</a:t>
            </a:r>
            <a:r>
              <a:rPr lang="ko-KR" altLang="en-US" sz="2000" dirty="0"/>
              <a:t> </a:t>
            </a:r>
            <a:r>
              <a:rPr lang="en-US" altLang="ko-KR" sz="2000" dirty="0">
                <a:solidFill>
                  <a:schemeClr val="accent1"/>
                </a:solidFill>
              </a:rPr>
              <a:t>Tomcat</a:t>
            </a:r>
            <a:r>
              <a:rPr lang="en-US" altLang="ko-KR" sz="2000" dirty="0"/>
              <a:t>, Jetty,</a:t>
            </a:r>
            <a:r>
              <a:rPr lang="ko-KR" altLang="en-US" sz="2000" dirty="0"/>
              <a:t> </a:t>
            </a:r>
            <a:r>
              <a:rPr lang="en-US" altLang="ko-KR" sz="2000" dirty="0"/>
              <a:t>Undertow </a:t>
            </a:r>
            <a:r>
              <a:rPr lang="ko-KR" altLang="en-US" sz="2000" dirty="0"/>
              <a:t>등</a:t>
            </a:r>
            <a:r>
              <a:rPr lang="en-US" altLang="ko-KR" sz="2000" dirty="0"/>
              <a:t>)</a:t>
            </a:r>
          </a:p>
          <a:p>
            <a:endParaRPr lang="en-US" altLang="ko-KR" sz="2400" b="1" dirty="0"/>
          </a:p>
          <a:p>
            <a:r>
              <a:rPr lang="ko-KR" altLang="en-US" sz="2400" b="1" dirty="0"/>
              <a:t>내장 </a:t>
            </a:r>
            <a:r>
              <a:rPr lang="en-US" altLang="ko-KR" sz="2400" b="1" dirty="0"/>
              <a:t>AP </a:t>
            </a:r>
            <a:r>
              <a:rPr lang="ko-KR" altLang="en-US" sz="2400" b="1" dirty="0"/>
              <a:t>서버</a:t>
            </a:r>
            <a:endParaRPr lang="en-US" altLang="ko-KR" sz="2400" b="1" dirty="0"/>
          </a:p>
          <a:p>
            <a:pPr lvl="1"/>
            <a:r>
              <a:rPr lang="ko-KR" altLang="en-US" sz="2000" dirty="0">
                <a:solidFill>
                  <a:schemeClr val="accent1"/>
                </a:solidFill>
              </a:rPr>
              <a:t>스프링 부트의 핵심 특징</a:t>
            </a:r>
            <a:endParaRPr lang="en-US" altLang="ko-KR" sz="2000" dirty="0">
              <a:solidFill>
                <a:schemeClr val="accent1"/>
              </a:solidFill>
            </a:endParaRPr>
          </a:p>
          <a:p>
            <a:pPr lvl="1"/>
            <a:r>
              <a:rPr lang="ko-KR" altLang="en-US" sz="2000" dirty="0"/>
              <a:t>애플리케이션 내부에 </a:t>
            </a:r>
            <a:r>
              <a:rPr lang="en-US" altLang="ko-KR" sz="2000" dirty="0"/>
              <a:t>AP </a:t>
            </a:r>
            <a:r>
              <a:rPr lang="ko-KR" altLang="en-US" sz="2000" dirty="0"/>
              <a:t>서버를 포함하므로 별도의 서버 설치가 필요 없음</a:t>
            </a:r>
            <a:endParaRPr lang="en-US" altLang="ko-KR" sz="2000" dirty="0"/>
          </a:p>
          <a:p>
            <a:pPr lvl="1"/>
            <a:r>
              <a:rPr lang="ko-KR" altLang="en-US" sz="2000" dirty="0"/>
              <a:t>따라서</a:t>
            </a:r>
            <a:r>
              <a:rPr lang="en-US" altLang="ko-KR" sz="2000" dirty="0"/>
              <a:t>, </a:t>
            </a:r>
            <a:r>
              <a:rPr lang="ko-KR" altLang="en-US" sz="2000" dirty="0"/>
              <a:t>애플리케이션 배포와 실행이 간단</a:t>
            </a:r>
            <a:r>
              <a:rPr lang="en-US" altLang="ko-KR" sz="2000" dirty="0"/>
              <a:t>!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7C4E29-07BE-414F-D64E-E5BFB95A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1BAF2A-5B1A-91FC-53BE-583298D26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F9FB337-FD2F-55FF-1EC3-46E39674F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altLang="ko-KR" dirty="0"/>
              <a:t>. </a:t>
            </a:r>
            <a:r>
              <a:rPr lang="ko-KR" altLang="en-US" dirty="0"/>
              <a:t>내장 </a:t>
            </a:r>
            <a:r>
              <a:rPr lang="en-US" altLang="ko-KR" dirty="0"/>
              <a:t>AP </a:t>
            </a:r>
            <a:r>
              <a:rPr lang="ko-KR" altLang="en-US" dirty="0"/>
              <a:t>서버 </a:t>
            </a:r>
            <a:r>
              <a:rPr lang="en-US" altLang="ko-KR" dirty="0"/>
              <a:t>(</a:t>
            </a:r>
            <a:r>
              <a:rPr lang="en-US" altLang="ko-KR" dirty="0" err="1"/>
              <a:t>Embeded</a:t>
            </a:r>
            <a:r>
              <a:rPr lang="en-US" altLang="ko-KR" dirty="0"/>
              <a:t> AP Server)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4DCA3D9-EAD3-D6FA-8157-DFAD6805AE96}"/>
              </a:ext>
            </a:extLst>
          </p:cNvPr>
          <p:cNvGrpSpPr/>
          <p:nvPr/>
        </p:nvGrpSpPr>
        <p:grpSpPr>
          <a:xfrm>
            <a:off x="8077200" y="4327358"/>
            <a:ext cx="3581400" cy="1849605"/>
            <a:chOff x="4114800" y="3657600"/>
            <a:chExt cx="3860800" cy="19939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1B44B4B-C9D3-6889-7386-B26D5C5BDF4F}"/>
                </a:ext>
              </a:extLst>
            </p:cNvPr>
            <p:cNvSpPr/>
            <p:nvPr/>
          </p:nvSpPr>
          <p:spPr>
            <a:xfrm>
              <a:off x="4114800" y="3657600"/>
              <a:ext cx="3860800" cy="19939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3CC1705-8F09-1C0E-810E-4A63DD98305D}"/>
                </a:ext>
              </a:extLst>
            </p:cNvPr>
            <p:cNvSpPr txBox="1"/>
            <p:nvPr/>
          </p:nvSpPr>
          <p:spPr>
            <a:xfrm>
              <a:off x="4305300" y="3837797"/>
              <a:ext cx="2118432" cy="3981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웹 애플리케이션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82124A8-7CBA-3D5B-8105-E606A167E6FD}"/>
                </a:ext>
              </a:extLst>
            </p:cNvPr>
            <p:cNvSpPr/>
            <p:nvPr/>
          </p:nvSpPr>
          <p:spPr>
            <a:xfrm>
              <a:off x="6195799" y="4729083"/>
              <a:ext cx="1525802" cy="63127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AP </a:t>
              </a:r>
              <a:r>
                <a:rPr lang="ko-KR" altLang="en-US" b="1" dirty="0">
                  <a:solidFill>
                    <a:schemeClr val="tx1"/>
                  </a:solidFill>
                </a:rPr>
                <a:t>서버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6251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7CD487A-F84A-ADE9-09F8-AFF0B14D5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1E69060-9080-F276-3423-7B4246EB8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2CC027-A42F-AD7E-62BD-368F19305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A373AE4-5F54-5184-DB83-DE719908C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브라우저 접속하기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DF69379-2DFE-4781-166B-BA42266D6EB1}"/>
              </a:ext>
            </a:extLst>
          </p:cNvPr>
          <p:cNvGrpSpPr/>
          <p:nvPr/>
        </p:nvGrpSpPr>
        <p:grpSpPr>
          <a:xfrm>
            <a:off x="489518" y="1565213"/>
            <a:ext cx="8278380" cy="4534533"/>
            <a:chOff x="695080" y="1522874"/>
            <a:chExt cx="8278380" cy="453453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0885A17-34EB-AEEB-F4DE-C815EE298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080" y="1522874"/>
              <a:ext cx="8278380" cy="4534533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44B74C8-CE3F-B37D-0884-EF5B15BB78C3}"/>
                </a:ext>
              </a:extLst>
            </p:cNvPr>
            <p:cNvSpPr/>
            <p:nvPr/>
          </p:nvSpPr>
          <p:spPr>
            <a:xfrm>
              <a:off x="6666879" y="1970284"/>
              <a:ext cx="1874609" cy="326349"/>
            </a:xfrm>
            <a:prstGeom prst="rect">
              <a:avLst/>
            </a:prstGeom>
            <a:solidFill>
              <a:srgbClr val="CBDC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C30A14-12BF-4431-65AA-55F032C17D44}"/>
              </a:ext>
            </a:extLst>
          </p:cNvPr>
          <p:cNvSpPr/>
          <p:nvPr/>
        </p:nvSpPr>
        <p:spPr>
          <a:xfrm>
            <a:off x="1921591" y="2025346"/>
            <a:ext cx="1034260" cy="3136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862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6D83D37-FE33-48CC-D9AF-0B9968B25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스프링 부트는 기본적으로 </a:t>
            </a:r>
            <a:r>
              <a:rPr lang="en-US" altLang="ko-KR" sz="2400" dirty="0"/>
              <a:t>8080 </a:t>
            </a:r>
            <a:r>
              <a:rPr lang="ko-KR" altLang="en-US" sz="2400" dirty="0"/>
              <a:t>포트번호를 사용해 내장 웹 서버를 실행</a:t>
            </a:r>
            <a:endParaRPr lang="en-US" altLang="ko-KR" sz="2400" dirty="0"/>
          </a:p>
          <a:p>
            <a:r>
              <a:rPr lang="en-US" altLang="ko-KR" sz="2400" dirty="0" err="1"/>
              <a:t>src</a:t>
            </a:r>
            <a:r>
              <a:rPr lang="en-US" altLang="ko-KR" sz="2400" dirty="0"/>
              <a:t>/main/resources </a:t>
            </a:r>
            <a:r>
              <a:rPr lang="ko-KR" altLang="en-US" sz="2400" dirty="0"/>
              <a:t>아래의 </a:t>
            </a:r>
            <a:r>
              <a:rPr lang="en-US" altLang="ko-KR" sz="2400" dirty="0" err="1">
                <a:solidFill>
                  <a:schemeClr val="accent1"/>
                </a:solidFill>
              </a:rPr>
              <a:t>application.properties</a:t>
            </a:r>
            <a:r>
              <a:rPr lang="en-US" altLang="ko-KR" sz="2400" dirty="0">
                <a:solidFill>
                  <a:schemeClr val="accent1"/>
                </a:solidFill>
              </a:rPr>
              <a:t> </a:t>
            </a:r>
            <a:r>
              <a:rPr lang="ko-KR" altLang="en-US" sz="2400" dirty="0">
                <a:solidFill>
                  <a:schemeClr val="accent1"/>
                </a:solidFill>
              </a:rPr>
              <a:t>파일</a:t>
            </a:r>
            <a:r>
              <a:rPr lang="ko-KR" altLang="en-US" sz="2400" dirty="0"/>
              <a:t>에서 포트변호 변경 가능</a:t>
            </a:r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E98BBD-F4C9-B4B4-2CB3-6D132E60F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387550-21B2-0DB0-76A2-DA516240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49074D3-BEE0-47AB-262D-1AF5523F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altLang="ko-KR" dirty="0"/>
              <a:t>. </a:t>
            </a:r>
            <a:r>
              <a:rPr lang="ko-KR" altLang="en-US" dirty="0"/>
              <a:t>서버 포트번호 변경하기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BF021A7-F529-BBFF-509D-2CBF894B5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60" y="2931001"/>
            <a:ext cx="4112593" cy="285122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B35C3B7-BDF0-C6B0-3A56-46D0E92FF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185" y="2931001"/>
            <a:ext cx="2234707" cy="693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6CDEE05-2720-7130-6DD1-503723012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3185" y="3855629"/>
            <a:ext cx="616267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317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5FEB294-0F73-D4DD-A048-D842DD14D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15246" cy="435133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Spring</a:t>
            </a:r>
            <a:r>
              <a:rPr lang="ko-KR" altLang="en-US" sz="2400" dirty="0"/>
              <a:t> </a:t>
            </a:r>
            <a:r>
              <a:rPr lang="en-US" altLang="ko-KR" sz="2400" dirty="0"/>
              <a:t>Boot </a:t>
            </a:r>
            <a:r>
              <a:rPr lang="ko-KR" altLang="en-US" sz="2400" dirty="0"/>
              <a:t>애플리케이션의 설정을 관리하는 중요한 파일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애플리케이션의 다양한 설정을 </a:t>
            </a:r>
            <a:r>
              <a:rPr lang="ko-KR" altLang="en-US" sz="2400" dirty="0" err="1"/>
              <a:t>외부화하여</a:t>
            </a:r>
            <a:r>
              <a:rPr lang="ko-KR" altLang="en-US" sz="2400" dirty="0"/>
              <a:t> 관리</a:t>
            </a:r>
            <a:endParaRPr lang="en-US" altLang="ko-KR" sz="2400" dirty="0"/>
          </a:p>
          <a:p>
            <a:r>
              <a:rPr lang="ko-KR" altLang="en-US" sz="2400" dirty="0"/>
              <a:t>환경별로 다른 설정을 쉽게 적용할 수 있음</a:t>
            </a:r>
            <a:endParaRPr lang="en-US" altLang="ko-KR" sz="2400" dirty="0"/>
          </a:p>
          <a:p>
            <a:pPr lvl="1"/>
            <a:r>
              <a:rPr lang="en-US" altLang="ko-KR" sz="2000" dirty="0"/>
              <a:t>application-{profile}.properties </a:t>
            </a:r>
            <a:r>
              <a:rPr lang="ko-KR" altLang="en-US" sz="2000" dirty="0"/>
              <a:t>형태로 환경 별 설정 가능 </a:t>
            </a:r>
            <a:r>
              <a:rPr lang="en-US" altLang="ko-KR" sz="2000" dirty="0"/>
              <a:t>(ex.</a:t>
            </a:r>
            <a:r>
              <a:rPr lang="ko-KR" altLang="en-US" sz="2000" dirty="0"/>
              <a:t> </a:t>
            </a:r>
            <a:r>
              <a:rPr lang="en-US" altLang="ko-KR" sz="2000" dirty="0"/>
              <a:t>application-</a:t>
            </a:r>
            <a:r>
              <a:rPr lang="en-US" altLang="ko-KR" sz="2000" dirty="0" err="1"/>
              <a:t>dev.properties</a:t>
            </a:r>
            <a:r>
              <a:rPr lang="en-US" altLang="ko-KR" sz="2000" dirty="0"/>
              <a:t>)</a:t>
            </a:r>
          </a:p>
          <a:p>
            <a:endParaRPr lang="en-US" altLang="ko-KR" sz="2400" dirty="0"/>
          </a:p>
          <a:p>
            <a:r>
              <a:rPr lang="ko-KR" altLang="en-US" sz="2400" dirty="0"/>
              <a:t>보통 </a:t>
            </a:r>
            <a:r>
              <a:rPr lang="en-US" altLang="ko-KR" sz="2400" dirty="0" err="1"/>
              <a:t>src</a:t>
            </a:r>
            <a:r>
              <a:rPr lang="en-US" altLang="ko-KR" sz="2400" dirty="0"/>
              <a:t>/main/resources </a:t>
            </a:r>
            <a:r>
              <a:rPr lang="ko-KR" altLang="en-US" sz="2400" dirty="0"/>
              <a:t>디렉토리에 위치</a:t>
            </a:r>
            <a:endParaRPr lang="en-US" altLang="ko-KR" sz="2400" dirty="0"/>
          </a:p>
          <a:p>
            <a:r>
              <a:rPr lang="en-US" altLang="ko-KR" sz="2400" dirty="0"/>
              <a:t>key=value</a:t>
            </a:r>
            <a:r>
              <a:rPr lang="ko-KR" altLang="en-US" sz="2400" dirty="0"/>
              <a:t> 형태의 텍스트 기반 속성 파일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92B569-9EF2-A6A2-CD0E-FC54731AB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D394A3-2A5C-8C53-B837-DD8EDFB05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4AEBBE2-36DB-2CD4-DDAF-0C9F7629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altLang="ko-KR" dirty="0"/>
              <a:t>. </a:t>
            </a:r>
            <a:r>
              <a:rPr lang="en-US" altLang="ko-KR" dirty="0" err="1"/>
              <a:t>application.properties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94FBCA-1B63-1B9C-B7DB-5FCA6ECEE4D9}"/>
              </a:ext>
            </a:extLst>
          </p:cNvPr>
          <p:cNvSpPr txBox="1"/>
          <p:nvPr/>
        </p:nvSpPr>
        <p:spPr>
          <a:xfrm>
            <a:off x="5937739" y="5499519"/>
            <a:ext cx="5515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solidFill>
                  <a:schemeClr val="accent6"/>
                </a:solidFill>
              </a:rPr>
              <a:t>* Node</a:t>
            </a:r>
            <a:r>
              <a:rPr lang="ko-KR" altLang="en-US" dirty="0">
                <a:solidFill>
                  <a:schemeClr val="accent6"/>
                </a:solidFill>
              </a:rPr>
              <a:t> 에서의 환경변수 파일</a:t>
            </a:r>
            <a:r>
              <a:rPr lang="en-US" altLang="ko-KR" dirty="0">
                <a:solidFill>
                  <a:schemeClr val="accent6"/>
                </a:solidFill>
              </a:rPr>
              <a:t>(.env)</a:t>
            </a:r>
            <a:r>
              <a:rPr lang="ko-KR" altLang="en-US" dirty="0">
                <a:solidFill>
                  <a:schemeClr val="accent6"/>
                </a:solidFill>
              </a:rPr>
              <a:t>과 역할이 유사함</a:t>
            </a:r>
            <a:r>
              <a:rPr lang="en-US" altLang="ko-KR" dirty="0">
                <a:solidFill>
                  <a:schemeClr val="accent6"/>
                </a:solidFill>
              </a:rPr>
              <a:t>!</a:t>
            </a:r>
            <a:endParaRPr lang="ko-KR" alt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622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7CD487A-F84A-ADE9-09F8-AFF0B14D5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main/ : </a:t>
            </a:r>
            <a:r>
              <a:rPr lang="ko-KR" altLang="en-US" dirty="0"/>
              <a:t>실제 코드를 작성하는 곳</a:t>
            </a:r>
            <a:endParaRPr lang="en-US" altLang="ko-KR" dirty="0"/>
          </a:p>
          <a:p>
            <a:r>
              <a:rPr lang="en-US" altLang="ko-KR" dirty="0"/>
              <a:t>test/: </a:t>
            </a:r>
            <a:r>
              <a:rPr lang="ko-KR" altLang="en-US" dirty="0"/>
              <a:t>프로젝트의 소스 코드를 테스트하는 코드 </a:t>
            </a:r>
            <a:r>
              <a:rPr lang="en-US" altLang="ko-KR" dirty="0"/>
              <a:t>or </a:t>
            </a:r>
            <a:r>
              <a:rPr lang="ko-KR" altLang="en-US" dirty="0"/>
              <a:t>리소스 파일</a:t>
            </a:r>
            <a:endParaRPr lang="en-US" altLang="ko-KR" dirty="0"/>
          </a:p>
          <a:p>
            <a:r>
              <a:rPr lang="en-US" altLang="ko-KR" dirty="0" err="1"/>
              <a:t>build.gradle</a:t>
            </a:r>
            <a:r>
              <a:rPr lang="en-US" altLang="ko-KR" dirty="0"/>
              <a:t>: </a:t>
            </a:r>
            <a:r>
              <a:rPr lang="ko-KR" altLang="en-US" dirty="0"/>
              <a:t>빌드 설정 파일</a:t>
            </a:r>
            <a:endParaRPr lang="en-US" altLang="ko-KR" dirty="0"/>
          </a:p>
          <a:p>
            <a:r>
              <a:rPr lang="en-US" altLang="ko-KR" dirty="0" err="1"/>
              <a:t>setting.gradle</a:t>
            </a:r>
            <a:r>
              <a:rPr lang="en-US" altLang="ko-KR" dirty="0"/>
              <a:t>: </a:t>
            </a:r>
            <a:r>
              <a:rPr lang="ko-KR" altLang="en-US" dirty="0"/>
              <a:t>빌드할 프로젝트 정보 설정 파일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1E69060-9080-F276-3423-7B4246EB8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2CC027-A42F-AD7E-62BD-368F19305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A373AE4-5F54-5184-DB83-DE719908C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구조 살펴보기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BFD5D-E3F4-BECD-E1EC-CA246243969D}"/>
              </a:ext>
            </a:extLst>
          </p:cNvPr>
          <p:cNvSpPr txBox="1"/>
          <p:nvPr/>
        </p:nvSpPr>
        <p:spPr>
          <a:xfrm>
            <a:off x="5562600" y="2908719"/>
            <a:ext cx="5515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* Node</a:t>
            </a:r>
            <a:r>
              <a:rPr lang="ko-KR" altLang="en-US" dirty="0">
                <a:solidFill>
                  <a:schemeClr val="accent6"/>
                </a:solidFill>
              </a:rPr>
              <a:t> 에서의 </a:t>
            </a:r>
            <a:r>
              <a:rPr lang="en-US" altLang="ko-KR" dirty="0" err="1">
                <a:solidFill>
                  <a:schemeClr val="accent6"/>
                </a:solidFill>
              </a:rPr>
              <a:t>package.json</a:t>
            </a:r>
            <a:r>
              <a:rPr lang="en-US" altLang="ko-KR" dirty="0">
                <a:solidFill>
                  <a:schemeClr val="accent6"/>
                </a:solidFill>
              </a:rPr>
              <a:t> </a:t>
            </a:r>
            <a:r>
              <a:rPr lang="ko-KR" altLang="en-US" dirty="0">
                <a:solidFill>
                  <a:schemeClr val="accent6"/>
                </a:solidFill>
              </a:rPr>
              <a:t>파일과 역할이 유사함</a:t>
            </a:r>
            <a:r>
              <a:rPr lang="en-US" altLang="ko-KR" dirty="0">
                <a:solidFill>
                  <a:schemeClr val="accent6"/>
                </a:solidFill>
              </a:rPr>
              <a:t>!</a:t>
            </a:r>
            <a:endParaRPr lang="ko-KR" alt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747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 MVC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651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B45E363-8497-395E-5035-7DB018A95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M</a:t>
            </a:r>
            <a:r>
              <a:rPr lang="en-US" altLang="ko-KR" sz="2400" dirty="0">
                <a:solidFill>
                  <a:schemeClr val="accent1"/>
                </a:solidFill>
              </a:rPr>
              <a:t>odel</a:t>
            </a:r>
            <a:r>
              <a:rPr lang="en-US" altLang="ko-KR" sz="2400" dirty="0"/>
              <a:t>:</a:t>
            </a:r>
            <a:r>
              <a:rPr lang="ko-KR" altLang="en-US" sz="2400" dirty="0"/>
              <a:t> 업무 로직</a:t>
            </a:r>
            <a:r>
              <a:rPr lang="en-US" altLang="ko-KR" sz="2400" dirty="0"/>
              <a:t>, </a:t>
            </a:r>
            <a:r>
              <a:rPr lang="ko-KR" altLang="en-US" sz="2400" dirty="0"/>
              <a:t>업무 데이터 보유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데이터베이스 접근 등</a:t>
            </a:r>
            <a:endParaRPr lang="en-US" altLang="ko-KR" sz="2400" dirty="0"/>
          </a:p>
          <a:p>
            <a:r>
              <a:rPr lang="en-US" altLang="ko-KR" sz="2400" b="1" dirty="0">
                <a:solidFill>
                  <a:schemeClr val="accent1"/>
                </a:solidFill>
              </a:rPr>
              <a:t>V</a:t>
            </a:r>
            <a:r>
              <a:rPr lang="en-US" altLang="ko-KR" sz="2400" dirty="0">
                <a:solidFill>
                  <a:schemeClr val="accent1"/>
                </a:solidFill>
              </a:rPr>
              <a:t>iew</a:t>
            </a:r>
            <a:r>
              <a:rPr lang="en-US" altLang="ko-KR" sz="2400" dirty="0"/>
              <a:t>: HTML </a:t>
            </a:r>
            <a:r>
              <a:rPr lang="ko-KR" altLang="en-US" sz="2400" dirty="0"/>
              <a:t>생성</a:t>
            </a:r>
            <a:endParaRPr lang="en-US" altLang="ko-KR" sz="2400" dirty="0"/>
          </a:p>
          <a:p>
            <a:r>
              <a:rPr lang="en-US" altLang="ko-KR" sz="2400" b="1" dirty="0">
                <a:solidFill>
                  <a:schemeClr val="accent1"/>
                </a:solidFill>
              </a:rPr>
              <a:t>C</a:t>
            </a:r>
            <a:r>
              <a:rPr lang="en-US" altLang="ko-KR" sz="2400" dirty="0">
                <a:solidFill>
                  <a:schemeClr val="accent1"/>
                </a:solidFill>
              </a:rPr>
              <a:t>ontroller</a:t>
            </a:r>
            <a:r>
              <a:rPr lang="en-US" altLang="ko-KR" sz="2400" dirty="0"/>
              <a:t>: </a:t>
            </a:r>
            <a:r>
              <a:rPr lang="ko-KR" altLang="en-US" sz="2400" dirty="0"/>
              <a:t>요청에서 응답까지의 흐름 제어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592160-DED9-3D96-B3C6-74A3F04C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619CE6-5165-E9E6-5C16-D05BBE36C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E413337-8323-3FB8-A965-6E72BEDAB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복습</a:t>
            </a:r>
            <a:r>
              <a:rPr lang="en-US" altLang="ko-KR" dirty="0"/>
              <a:t>. MVC </a:t>
            </a:r>
            <a:r>
              <a:rPr lang="ko-KR" altLang="en-US" dirty="0"/>
              <a:t>패턴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D532F11-9361-BFD3-5C8F-11D6F2ED5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284" y="3453864"/>
            <a:ext cx="6678194" cy="272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083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24AEBC4-73D1-F344-4AEA-FEB687233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solidFill>
                  <a:schemeClr val="accent1"/>
                </a:solidFill>
              </a:rPr>
              <a:t>Spring </a:t>
            </a:r>
            <a:r>
              <a:rPr lang="ko-KR" altLang="en-US" sz="2400" dirty="0">
                <a:solidFill>
                  <a:schemeClr val="accent1"/>
                </a:solidFill>
              </a:rPr>
              <a:t>에서 제공하는 웹 모듈</a:t>
            </a:r>
            <a:r>
              <a:rPr lang="ko-KR" altLang="en-US" sz="2400" dirty="0"/>
              <a:t>로 웹 애플리케이션을 빌드하기 위한 프레임워크</a:t>
            </a:r>
            <a:endParaRPr lang="en-US" altLang="ko-KR" sz="2400" dirty="0"/>
          </a:p>
          <a:p>
            <a:r>
              <a:rPr lang="en-US" altLang="ko-KR" sz="2400" dirty="0"/>
              <a:t>Model, View, Controller </a:t>
            </a:r>
            <a:r>
              <a:rPr lang="ko-KR" altLang="en-US" sz="2400" dirty="0"/>
              <a:t>의 </a:t>
            </a:r>
            <a:r>
              <a:rPr lang="en-US" altLang="ko-KR" sz="2400" dirty="0"/>
              <a:t>3</a:t>
            </a:r>
            <a:r>
              <a:rPr lang="ko-KR" altLang="en-US" sz="2400" dirty="0"/>
              <a:t>가지 구성 요소 </a:t>
            </a:r>
            <a:endParaRPr lang="en-US" altLang="ko-KR" sz="2400" dirty="0"/>
          </a:p>
          <a:p>
            <a:pPr lvl="1"/>
            <a:r>
              <a:rPr lang="en-US" altLang="ko-KR" sz="2000" dirty="0">
                <a:solidFill>
                  <a:schemeClr val="accent1"/>
                </a:solidFill>
              </a:rPr>
              <a:t>Model</a:t>
            </a:r>
            <a:r>
              <a:rPr lang="en-US" altLang="ko-KR" sz="2000" dirty="0"/>
              <a:t>: </a:t>
            </a:r>
            <a:r>
              <a:rPr lang="ko-KR" altLang="en-US" sz="2000" dirty="0"/>
              <a:t>데이터와 비즈니스 로직 처리</a:t>
            </a:r>
            <a:endParaRPr lang="en-US" altLang="ko-KR" sz="2000" dirty="0"/>
          </a:p>
          <a:p>
            <a:pPr lvl="1"/>
            <a:r>
              <a:rPr lang="en-US" altLang="ko-KR" sz="2000" dirty="0">
                <a:solidFill>
                  <a:schemeClr val="accent1"/>
                </a:solidFill>
              </a:rPr>
              <a:t>View</a:t>
            </a:r>
            <a:r>
              <a:rPr lang="en-US" altLang="ko-KR" sz="2000" dirty="0"/>
              <a:t>: </a:t>
            </a:r>
            <a:r>
              <a:rPr lang="ko-KR" altLang="en-US" sz="2000" dirty="0"/>
              <a:t>사용자에게 보여지는 부분</a:t>
            </a:r>
            <a:endParaRPr lang="en-US" altLang="ko-KR" sz="2000" dirty="0"/>
          </a:p>
          <a:p>
            <a:pPr lvl="1"/>
            <a:r>
              <a:rPr lang="en-US" altLang="ko-KR" sz="2000" dirty="0">
                <a:solidFill>
                  <a:schemeClr val="accent1"/>
                </a:solidFill>
              </a:rPr>
              <a:t>Controller</a:t>
            </a:r>
            <a:r>
              <a:rPr lang="en-US" altLang="ko-KR" sz="2000" dirty="0"/>
              <a:t>: </a:t>
            </a:r>
            <a:r>
              <a:rPr lang="ko-KR" altLang="en-US" sz="2000" dirty="0"/>
              <a:t>사용자의 요청을 받아 처리하고 적절한 </a:t>
            </a:r>
            <a:r>
              <a:rPr lang="en-US" altLang="ko-KR" sz="2000" dirty="0"/>
              <a:t>Model </a:t>
            </a:r>
            <a:r>
              <a:rPr lang="ko-KR" altLang="en-US" sz="2000" dirty="0"/>
              <a:t>을 호출한 후</a:t>
            </a:r>
            <a:r>
              <a:rPr lang="en-US" altLang="ko-KR" sz="2000" dirty="0"/>
              <a:t>, </a:t>
            </a:r>
            <a:r>
              <a:rPr lang="ko-KR" altLang="en-US" sz="2000" dirty="0"/>
              <a:t>그 결과를 </a:t>
            </a:r>
            <a:r>
              <a:rPr lang="en-US" altLang="ko-KR" sz="2000" dirty="0"/>
              <a:t>View </a:t>
            </a:r>
            <a:r>
              <a:rPr lang="ko-KR" altLang="en-US" sz="2000" dirty="0"/>
              <a:t>에게 전달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MVC</a:t>
            </a:r>
            <a:r>
              <a:rPr lang="ko-KR" altLang="en-US" sz="2400" dirty="0"/>
              <a:t> 패턴을 지원하고 </a:t>
            </a:r>
            <a:r>
              <a:rPr lang="en-US" altLang="ko-KR" sz="2400" dirty="0" err="1">
                <a:solidFill>
                  <a:schemeClr val="accent1"/>
                </a:solidFill>
              </a:rPr>
              <a:t>DispatcherServlet</a:t>
            </a:r>
            <a:r>
              <a:rPr lang="en-US" altLang="ko-KR" sz="2400" dirty="0"/>
              <a:t> </a:t>
            </a:r>
            <a:r>
              <a:rPr lang="ko-KR" altLang="en-US" sz="2400" dirty="0"/>
              <a:t>이라는 특수 </a:t>
            </a:r>
            <a:r>
              <a:rPr lang="ko-KR" altLang="en-US" sz="2400" dirty="0" err="1"/>
              <a:t>서블릿을</a:t>
            </a:r>
            <a:r>
              <a:rPr lang="ko-KR" altLang="en-US" sz="2400" dirty="0"/>
              <a:t> 통해 요청 처리</a:t>
            </a:r>
            <a:endParaRPr lang="en-US" altLang="ko-KR" sz="2400" dirty="0"/>
          </a:p>
          <a:p>
            <a:pPr lvl="1"/>
            <a:r>
              <a:rPr lang="en-US" altLang="ko-KR" sz="2000" dirty="0" err="1"/>
              <a:t>DispatcherServelt</a:t>
            </a:r>
            <a:r>
              <a:rPr lang="ko-KR" altLang="en-US" sz="2000" dirty="0"/>
              <a:t>은 스프링 </a:t>
            </a:r>
            <a:r>
              <a:rPr lang="en-US" altLang="ko-KR" sz="2000" dirty="0"/>
              <a:t>MVC</a:t>
            </a:r>
            <a:r>
              <a:rPr lang="ko-KR" altLang="en-US" sz="2000" dirty="0"/>
              <a:t>의 핵심으로 </a:t>
            </a:r>
            <a:r>
              <a:rPr lang="ko-KR" altLang="en-US" sz="2000" dirty="0">
                <a:solidFill>
                  <a:schemeClr val="accent1"/>
                </a:solidFill>
              </a:rPr>
              <a:t>모든 종류의 요청을 받아 적절한 </a:t>
            </a:r>
            <a:r>
              <a:rPr lang="en-US" altLang="ko-KR" sz="2000" dirty="0">
                <a:solidFill>
                  <a:schemeClr val="accent1"/>
                </a:solidFill>
              </a:rPr>
              <a:t>Controller </a:t>
            </a:r>
            <a:r>
              <a:rPr lang="ko-KR" altLang="en-US" sz="2000" dirty="0">
                <a:solidFill>
                  <a:schemeClr val="accent1"/>
                </a:solidFill>
              </a:rPr>
              <a:t>에게 전달</a:t>
            </a:r>
            <a:r>
              <a:rPr lang="ko-KR" altLang="en-US" sz="2000" dirty="0"/>
              <a:t>하고 그 결과를 다시 사용자에게 반환</a:t>
            </a:r>
            <a:endParaRPr lang="en-US" altLang="ko-KR" sz="20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1FCF2E-A3DE-A470-A35B-E2FE106D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87A0B4-51B7-FF6A-7C95-C15C0AF1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5B74534-26E2-E9D2-C415-D6D8E0487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</a:t>
            </a:r>
            <a:r>
              <a:rPr lang="ko-KR" altLang="en-US" dirty="0"/>
              <a:t> </a:t>
            </a:r>
            <a:r>
              <a:rPr lang="en-US" altLang="ko-KR" dirty="0"/>
              <a:t>MVC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0775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8B4D70B-0689-6C1E-AB04-4056019B9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요청을 수신하고 응답을 반환하는 프로그램을 만들기 위한 자바 표준 기술</a:t>
            </a:r>
            <a:endParaRPr lang="en-US" altLang="ko-KR" sz="2400" dirty="0"/>
          </a:p>
          <a:p>
            <a:r>
              <a:rPr lang="ko-KR" altLang="en-US" sz="2400" dirty="0"/>
              <a:t>일반적으로 </a:t>
            </a:r>
            <a:r>
              <a:rPr lang="en-US" altLang="ko-KR" sz="2400" dirty="0"/>
              <a:t>HTTP</a:t>
            </a:r>
            <a:r>
              <a:rPr lang="ko-KR" altLang="en-US" sz="2400" dirty="0"/>
              <a:t> 프로토콜 사용 </a:t>
            </a:r>
            <a:r>
              <a:rPr lang="en-US" altLang="ko-KR" sz="2400" dirty="0"/>
              <a:t>(</a:t>
            </a:r>
            <a:r>
              <a:rPr lang="ko-KR" altLang="en-US" sz="2400" dirty="0"/>
              <a:t>프로토콜 종류에 제한이 있진 않음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/>
              <a:t>Servlet </a:t>
            </a:r>
            <a:r>
              <a:rPr lang="ko-KR" altLang="en-US" sz="2400" dirty="0"/>
              <a:t>클래스를 </a:t>
            </a:r>
            <a:r>
              <a:rPr lang="en-US" altLang="ko-KR" sz="2400" dirty="0"/>
              <a:t>AP </a:t>
            </a:r>
            <a:r>
              <a:rPr lang="ko-KR" altLang="en-US" sz="2400" dirty="0"/>
              <a:t>서버</a:t>
            </a:r>
            <a:r>
              <a:rPr lang="en-US" altLang="ko-KR" sz="2400" dirty="0"/>
              <a:t>(</a:t>
            </a:r>
            <a:r>
              <a:rPr lang="ko-KR" altLang="en-US" sz="2400" dirty="0"/>
              <a:t>애플리케이션 서버</a:t>
            </a:r>
            <a:r>
              <a:rPr lang="en-US" altLang="ko-KR" sz="2400" dirty="0"/>
              <a:t>)</a:t>
            </a:r>
            <a:r>
              <a:rPr lang="ko-KR" altLang="en-US" sz="2400" dirty="0"/>
              <a:t>에 등록하면 </a:t>
            </a:r>
            <a:r>
              <a:rPr lang="en-US" altLang="ko-KR" sz="2400" dirty="0"/>
              <a:t>HTTP </a:t>
            </a:r>
            <a:r>
              <a:rPr lang="ko-KR" altLang="en-US" sz="2400" dirty="0"/>
              <a:t>요청에 대응하여 </a:t>
            </a:r>
            <a:r>
              <a:rPr lang="en-US" altLang="ko-KR" sz="2400" dirty="0"/>
              <a:t>AP </a:t>
            </a:r>
            <a:r>
              <a:rPr lang="ko-KR" altLang="en-US" sz="2400" dirty="0"/>
              <a:t>서버가 </a:t>
            </a:r>
            <a:r>
              <a:rPr lang="en-US" altLang="ko-KR" sz="2400" dirty="0"/>
              <a:t>Servlet </a:t>
            </a:r>
            <a:r>
              <a:rPr lang="ko-KR" altLang="en-US" sz="2400" dirty="0"/>
              <a:t>객체의 메서드를 호출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1C370B-33DB-60B8-34B0-30EFD9CB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D53438-B330-37EE-F598-6AA1981F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56D393C-A855-40F7-5D7E-AB3E95EB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altLang="ko-KR" dirty="0"/>
              <a:t>. Servlet</a:t>
            </a:r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2CF28E3-0908-06EB-1361-CB520A56C6EF}"/>
              </a:ext>
            </a:extLst>
          </p:cNvPr>
          <p:cNvGrpSpPr/>
          <p:nvPr/>
        </p:nvGrpSpPr>
        <p:grpSpPr>
          <a:xfrm>
            <a:off x="3125787" y="4001294"/>
            <a:ext cx="5940425" cy="1734446"/>
            <a:chOff x="3508375" y="4082154"/>
            <a:chExt cx="5940425" cy="1734446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D77D45F-3138-9E22-437E-8689C8148AC4}"/>
                </a:ext>
              </a:extLst>
            </p:cNvPr>
            <p:cNvSpPr/>
            <p:nvPr/>
          </p:nvSpPr>
          <p:spPr>
            <a:xfrm>
              <a:off x="3508375" y="4498527"/>
              <a:ext cx="1435100" cy="9017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Browser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3E3B75FC-45A9-C0AB-26D5-6C6A0A990D44}"/>
                </a:ext>
              </a:extLst>
            </p:cNvPr>
            <p:cNvGrpSpPr/>
            <p:nvPr/>
          </p:nvGrpSpPr>
          <p:grpSpPr>
            <a:xfrm>
              <a:off x="6400799" y="4082154"/>
              <a:ext cx="3048001" cy="1734446"/>
              <a:chOff x="6400799" y="4082154"/>
              <a:chExt cx="3048001" cy="1734446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D37D7BDD-CDA7-9B56-A003-29706D52530B}"/>
                  </a:ext>
                </a:extLst>
              </p:cNvPr>
              <p:cNvSpPr/>
              <p:nvPr/>
            </p:nvSpPr>
            <p:spPr>
              <a:xfrm>
                <a:off x="6400799" y="4082154"/>
                <a:ext cx="3048001" cy="173444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3F1986-9B70-7AC6-439A-F29C66616A21}"/>
                  </a:ext>
                </a:extLst>
              </p:cNvPr>
              <p:cNvSpPr txBox="1"/>
              <p:nvPr/>
            </p:nvSpPr>
            <p:spPr>
              <a:xfrm>
                <a:off x="6578600" y="4265767"/>
                <a:ext cx="9573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AP </a:t>
                </a:r>
                <a:r>
                  <a:rPr lang="ko-KR" altLang="en-US" dirty="0"/>
                  <a:t>서버</a:t>
                </a: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A3590C6-45E0-9384-9714-0E16F1F0557A}"/>
                  </a:ext>
                </a:extLst>
              </p:cNvPr>
              <p:cNvSpPr/>
              <p:nvPr/>
            </p:nvSpPr>
            <p:spPr>
              <a:xfrm>
                <a:off x="7842249" y="4743945"/>
                <a:ext cx="1435100" cy="9017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Servlet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8ED6B8D6-7D1A-9D97-E2F1-96A0EF4C62D6}"/>
                </a:ext>
              </a:extLst>
            </p:cNvPr>
            <p:cNvCxnSpPr>
              <a:cxnSpLocks/>
            </p:cNvCxnSpPr>
            <p:nvPr/>
          </p:nvCxnSpPr>
          <p:spPr>
            <a:xfrm>
              <a:off x="4943475" y="4769345"/>
              <a:ext cx="1457324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41285CC3-B4E4-C2C0-4E3B-C13B5EE08FB9}"/>
                </a:ext>
              </a:extLst>
            </p:cNvPr>
            <p:cNvCxnSpPr>
              <a:cxnSpLocks/>
            </p:cNvCxnSpPr>
            <p:nvPr/>
          </p:nvCxnSpPr>
          <p:spPr>
            <a:xfrm>
              <a:off x="6400799" y="4769345"/>
              <a:ext cx="1441450" cy="29795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05B72EF4-933B-8311-B6B1-BC6DAFACE6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7601" y="5094235"/>
              <a:ext cx="1479548" cy="0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8658BD42-842D-DED7-3CBF-13D19EAA7B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00799" y="5094235"/>
              <a:ext cx="1441450" cy="290565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92214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8B4D70B-0689-6C1E-AB04-4056019B9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Servlet </a:t>
            </a:r>
            <a:r>
              <a:rPr lang="ko-KR" altLang="en-US" sz="2400" dirty="0"/>
              <a:t>처리 전후에 </a:t>
            </a:r>
            <a:r>
              <a:rPr lang="ko-KR" altLang="en-US" sz="2400" dirty="0">
                <a:solidFill>
                  <a:schemeClr val="accent1"/>
                </a:solidFill>
              </a:rPr>
              <a:t>임의의 처리를 끼워 넣기 위한 </a:t>
            </a:r>
            <a:r>
              <a:rPr lang="ko-KR" altLang="en-US" sz="2400" dirty="0"/>
              <a:t>자바 표준 기술</a:t>
            </a:r>
            <a:endParaRPr lang="en-US" altLang="ko-KR" sz="2400" dirty="0"/>
          </a:p>
          <a:p>
            <a:r>
              <a:rPr lang="en-US" altLang="ko-KR" sz="2400" dirty="0"/>
              <a:t>Servlet</a:t>
            </a:r>
            <a:r>
              <a:rPr lang="ko-KR" altLang="en-US" sz="2400" dirty="0"/>
              <a:t> </a:t>
            </a:r>
            <a:r>
              <a:rPr lang="en-US" altLang="ko-KR" sz="2400" dirty="0"/>
              <a:t>Filter</a:t>
            </a:r>
            <a:r>
              <a:rPr lang="ko-KR" altLang="en-US" sz="2400" dirty="0"/>
              <a:t> </a:t>
            </a:r>
            <a:r>
              <a:rPr lang="ko-KR" altLang="en-US" sz="2400" dirty="0">
                <a:solidFill>
                  <a:schemeClr val="accent1"/>
                </a:solidFill>
              </a:rPr>
              <a:t>여러 개를 연결 </a:t>
            </a:r>
            <a:r>
              <a:rPr lang="ko-KR" altLang="en-US" sz="2400" dirty="0"/>
              <a:t>할 수도 있음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strike="sngStrike" dirty="0">
                <a:solidFill>
                  <a:schemeClr val="accent6"/>
                </a:solidFill>
              </a:rPr>
              <a:t>지금은 이해하기 어려우니</a:t>
            </a:r>
            <a:r>
              <a:rPr lang="en-US" altLang="ko-KR" sz="2400" strike="sngStrike" dirty="0">
                <a:solidFill>
                  <a:schemeClr val="accent6"/>
                </a:solidFill>
              </a:rPr>
              <a:t>.. </a:t>
            </a:r>
            <a:r>
              <a:rPr lang="ko-KR" altLang="en-US" sz="2400" strike="sngStrike" dirty="0">
                <a:solidFill>
                  <a:schemeClr val="accent6"/>
                </a:solidFill>
              </a:rPr>
              <a:t>나중에 사용해보자</a:t>
            </a:r>
            <a:r>
              <a:rPr lang="en-US" altLang="ko-KR" sz="2400" strike="sngStrike" dirty="0">
                <a:solidFill>
                  <a:schemeClr val="accent6"/>
                </a:solidFill>
              </a:rPr>
              <a:t>!</a:t>
            </a:r>
            <a:endParaRPr lang="ko-KR" altLang="en-US" sz="2400" strike="sngStrike" dirty="0">
              <a:solidFill>
                <a:schemeClr val="accent6"/>
              </a:solidFill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1C370B-33DB-60B8-34B0-30EFD9CB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D53438-B330-37EE-F598-6AA1981F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56D393C-A855-40F7-5D7E-AB3E95EB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altLang="ko-KR" dirty="0"/>
              <a:t>. Servlet Filter</a:t>
            </a:r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1B0EE9-1CB5-7009-469B-5DCF173CC6DF}"/>
              </a:ext>
            </a:extLst>
          </p:cNvPr>
          <p:cNvGrpSpPr/>
          <p:nvPr/>
        </p:nvGrpSpPr>
        <p:grpSpPr>
          <a:xfrm>
            <a:off x="1556543" y="4412224"/>
            <a:ext cx="9078914" cy="901700"/>
            <a:chOff x="1500185" y="4455767"/>
            <a:chExt cx="9078914" cy="9017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806DB67-E91D-C51C-2466-6012DD136609}"/>
                </a:ext>
              </a:extLst>
            </p:cNvPr>
            <p:cNvSpPr/>
            <p:nvPr/>
          </p:nvSpPr>
          <p:spPr>
            <a:xfrm>
              <a:off x="1500185" y="4455767"/>
              <a:ext cx="1435100" cy="9017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Browser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FB06242-15BD-020D-85D7-6700D8B8926C}"/>
                </a:ext>
              </a:extLst>
            </p:cNvPr>
            <p:cNvSpPr/>
            <p:nvPr/>
          </p:nvSpPr>
          <p:spPr>
            <a:xfrm>
              <a:off x="3609178" y="4455767"/>
              <a:ext cx="2043113" cy="9017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Servlet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Filter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9845E2-029D-A43A-CA59-56C96E93FC02}"/>
                </a:ext>
              </a:extLst>
            </p:cNvPr>
            <p:cNvSpPr/>
            <p:nvPr/>
          </p:nvSpPr>
          <p:spPr>
            <a:xfrm>
              <a:off x="6326184" y="4455767"/>
              <a:ext cx="2043113" cy="9017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Servlet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Filter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1B63FE6-0CB9-A293-0AE6-01A397E4B33C}"/>
                </a:ext>
              </a:extLst>
            </p:cNvPr>
            <p:cNvSpPr/>
            <p:nvPr/>
          </p:nvSpPr>
          <p:spPr>
            <a:xfrm>
              <a:off x="9143999" y="4455767"/>
              <a:ext cx="1435100" cy="9017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Servlet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8AEAB4BB-805A-224C-CB57-B3943604887A}"/>
                </a:ext>
              </a:extLst>
            </p:cNvPr>
            <p:cNvCxnSpPr>
              <a:cxnSpLocks/>
            </p:cNvCxnSpPr>
            <p:nvPr/>
          </p:nvCxnSpPr>
          <p:spPr>
            <a:xfrm>
              <a:off x="2935285" y="4751985"/>
              <a:ext cx="673893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F38D94DB-6D27-1841-20D4-FC1AB70294E1}"/>
                </a:ext>
              </a:extLst>
            </p:cNvPr>
            <p:cNvCxnSpPr>
              <a:cxnSpLocks/>
            </p:cNvCxnSpPr>
            <p:nvPr/>
          </p:nvCxnSpPr>
          <p:spPr>
            <a:xfrm>
              <a:off x="5652291" y="4754170"/>
              <a:ext cx="673893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8660922C-B877-9C8C-D121-6BA36D488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9297" y="4751985"/>
              <a:ext cx="774702" cy="437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D5EB1E11-1F1E-AA86-B9B0-D542D3D0BE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8935" y="5064175"/>
              <a:ext cx="680243" cy="0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85CA2263-B589-1235-5257-41CAEC2675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45941" y="5064175"/>
              <a:ext cx="680243" cy="0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E0472237-9152-C305-A1F0-E929E25560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2947" y="5064175"/>
              <a:ext cx="781052" cy="0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75915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파일</a:t>
            </a:r>
          </a:p>
        </p:txBody>
      </p:sp>
    </p:spTree>
    <p:extLst>
      <p:ext uri="{BB962C8B-B14F-4D97-AF65-F5344CB8AC3E}">
        <p14:creationId xmlns:p14="http://schemas.microsoft.com/office/powerpoint/2010/main" val="2829209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B4701E-D524-35A2-9FFC-7827CCB78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src</a:t>
            </a:r>
            <a:r>
              <a:rPr lang="en-US" altLang="ko-KR" dirty="0"/>
              <a:t>/main/resources/static</a:t>
            </a:r>
            <a:r>
              <a:rPr lang="ko-KR" altLang="en-US" dirty="0"/>
              <a:t>에 </a:t>
            </a:r>
            <a:r>
              <a:rPr lang="en-US" altLang="ko-KR" dirty="0"/>
              <a:t>index.html </a:t>
            </a:r>
            <a:r>
              <a:rPr lang="ko-KR" altLang="en-US" dirty="0"/>
              <a:t>생성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6C5D85-83A8-6115-C69F-BB528C8E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608085-FCEB-3848-75CF-7833E9A1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F5249C-950A-CEE3-357C-7F26B440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화면 보여주기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BDD0573-86B0-1171-8036-8F9EFA60F8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3377" b="72724"/>
          <a:stretch/>
        </p:blipFill>
        <p:spPr>
          <a:xfrm>
            <a:off x="5149290" y="2576838"/>
            <a:ext cx="4531616" cy="2800767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E3441038-DDF4-845F-E184-74F19576B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5401" y="2576838"/>
            <a:ext cx="3697800" cy="280076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&lt;!DOCTYPE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html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html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lang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head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meta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charset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="UTF-8"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head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body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&lt;h1&gt;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Hello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&lt;/h1&gt;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href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body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html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710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E2B3DF-CF07-3DC3-0094-A96DBA9A9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>
                <a:solidFill>
                  <a:schemeClr val="accent1"/>
                </a:solidFill>
              </a:rPr>
              <a:t>src</a:t>
            </a:r>
            <a:r>
              <a:rPr lang="en-US" altLang="ko-KR" sz="2400" dirty="0">
                <a:solidFill>
                  <a:schemeClr val="accent1"/>
                </a:solidFill>
              </a:rPr>
              <a:t>/main/resources/static</a:t>
            </a:r>
            <a:r>
              <a:rPr lang="ko-KR" altLang="en-US" sz="2400" dirty="0"/>
              <a:t> 는 정적 파일 위치</a:t>
            </a:r>
            <a:endParaRPr lang="en-US" altLang="ko-KR" sz="2400" dirty="0"/>
          </a:p>
          <a:p>
            <a:r>
              <a:rPr lang="en-US" altLang="ko-KR" sz="2400" dirty="0" err="1"/>
              <a:t>localhost:PORT</a:t>
            </a:r>
            <a:r>
              <a:rPr lang="en-US" altLang="ko-KR" sz="2400" dirty="0"/>
              <a:t> </a:t>
            </a:r>
            <a:r>
              <a:rPr lang="ko-KR" altLang="en-US" sz="2400" dirty="0"/>
              <a:t>로부터 경로를 입력하면 위치하고 있는 파일 보기 가능</a:t>
            </a:r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8A5EA-BBA9-C6F3-4E41-2EDB835E1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11E58F-E43F-C285-E0EE-7CEDDEF9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B8E8DF-7726-04E5-71A4-4819013BE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파일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E50895-8F31-A80D-3346-B4A971405B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445" r="31092" b="6781"/>
          <a:stretch/>
        </p:blipFill>
        <p:spPr>
          <a:xfrm>
            <a:off x="1081215" y="3090459"/>
            <a:ext cx="3323969" cy="179586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5837A3-5734-8CA0-EFFD-82D10AEE0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447" y="3090459"/>
            <a:ext cx="4769353" cy="269248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B710B9A-2AEF-463F-6D30-51F242AB42F3}"/>
              </a:ext>
            </a:extLst>
          </p:cNvPr>
          <p:cNvSpPr/>
          <p:nvPr/>
        </p:nvSpPr>
        <p:spPr>
          <a:xfrm>
            <a:off x="6306636" y="3413760"/>
            <a:ext cx="726624" cy="190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D883A0-CD38-E923-98F5-3B0A2D4451F7}"/>
              </a:ext>
            </a:extLst>
          </p:cNvPr>
          <p:cNvSpPr/>
          <p:nvPr/>
        </p:nvSpPr>
        <p:spPr>
          <a:xfrm>
            <a:off x="1944185" y="4436702"/>
            <a:ext cx="1932489" cy="4496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561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Thymeleaf</a:t>
            </a:r>
            <a:r>
              <a:rPr lang="en-US" altLang="ko-KR" dirty="0"/>
              <a:t> </a:t>
            </a:r>
            <a:r>
              <a:rPr lang="ko-KR" altLang="en-US" dirty="0"/>
              <a:t>템플릿</a:t>
            </a:r>
          </a:p>
        </p:txBody>
      </p:sp>
    </p:spTree>
    <p:extLst>
      <p:ext uri="{BB962C8B-B14F-4D97-AF65-F5344CB8AC3E}">
        <p14:creationId xmlns:p14="http://schemas.microsoft.com/office/powerpoint/2010/main" val="2497328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00F78D-B399-1CE2-01F3-ED92462AF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오픈 소스 </a:t>
            </a:r>
            <a:r>
              <a:rPr lang="ko-KR" altLang="en-US" sz="2400" dirty="0">
                <a:solidFill>
                  <a:schemeClr val="accent1"/>
                </a:solidFill>
              </a:rPr>
              <a:t>템플릿 엔진</a:t>
            </a:r>
            <a:endParaRPr lang="en-US" altLang="ko-KR" sz="2400" dirty="0"/>
          </a:p>
          <a:p>
            <a:pPr lvl="1"/>
            <a:r>
              <a:rPr lang="en-US" altLang="ko-KR" sz="1800" dirty="0">
                <a:solidFill>
                  <a:schemeClr val="accent6"/>
                </a:solidFill>
              </a:rPr>
              <a:t>ex. JSP, </a:t>
            </a:r>
            <a:r>
              <a:rPr lang="en-US" altLang="ko-KR" sz="1800" dirty="0" err="1">
                <a:solidFill>
                  <a:schemeClr val="accent6"/>
                </a:solidFill>
              </a:rPr>
              <a:t>Thymeleaf</a:t>
            </a:r>
            <a:r>
              <a:rPr lang="en-US" altLang="ko-KR" sz="1800" dirty="0">
                <a:solidFill>
                  <a:schemeClr val="accent6"/>
                </a:solidFill>
              </a:rPr>
              <a:t>, </a:t>
            </a:r>
            <a:r>
              <a:rPr lang="en-US" altLang="ko-KR" sz="1800" dirty="0" err="1">
                <a:solidFill>
                  <a:schemeClr val="accent6"/>
                </a:solidFill>
              </a:rPr>
              <a:t>FreeMarker</a:t>
            </a:r>
            <a:r>
              <a:rPr lang="en-US" altLang="ko-KR" sz="1800" dirty="0">
                <a:solidFill>
                  <a:schemeClr val="accent6"/>
                </a:solidFill>
              </a:rPr>
              <a:t>, …</a:t>
            </a:r>
          </a:p>
          <a:p>
            <a:r>
              <a:rPr lang="en-US" altLang="ko-KR" sz="2400" dirty="0"/>
              <a:t>HTML </a:t>
            </a:r>
            <a:r>
              <a:rPr lang="ko-KR" altLang="en-US" sz="2400" dirty="0"/>
              <a:t>태그에 속성을 추가해 페이지에 </a:t>
            </a:r>
            <a:r>
              <a:rPr lang="ko-KR" altLang="en-US" sz="2400" dirty="0">
                <a:solidFill>
                  <a:schemeClr val="accent1"/>
                </a:solidFill>
              </a:rPr>
              <a:t>동적으로 값을 추가하거나 처리</a:t>
            </a:r>
            <a:r>
              <a:rPr lang="ko-KR" altLang="en-US" sz="2400" dirty="0"/>
              <a:t>할 수 있게 도와주는 것</a:t>
            </a:r>
            <a:endParaRPr lang="en-US" altLang="ko-KR" sz="2400" dirty="0"/>
          </a:p>
          <a:p>
            <a:r>
              <a:rPr lang="en-US" altLang="ko-KR" sz="2400" dirty="0"/>
              <a:t>Spring Boot </a:t>
            </a:r>
            <a:r>
              <a:rPr lang="ko-KR" altLang="en-US" sz="2400" dirty="0"/>
              <a:t>사용시</a:t>
            </a:r>
            <a:r>
              <a:rPr lang="en-US" altLang="ko-KR" sz="2400" dirty="0"/>
              <a:t> </a:t>
            </a:r>
            <a:r>
              <a:rPr lang="ko-KR" altLang="en-US" sz="2400" dirty="0"/>
              <a:t>권장되는 템플릿 엔진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616C19-821F-CC09-8E67-C1E87DF16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67CBC9-4022-6CDE-8170-C3D6F2D5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A6951BF-A6E7-6914-C038-D845DEE3E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Thymeleaf</a:t>
            </a:r>
            <a:r>
              <a:rPr lang="en-US" altLang="ko-KR" dirty="0"/>
              <a:t> 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1026" name="Picture 2" descr="Thymeleaf 시작하기 (1) - thymeleaf 란? | SK(주) C&amp;C's TECH BLOG">
            <a:extLst>
              <a:ext uri="{FF2B5EF4-FFF2-40B4-BE49-F238E27FC236}">
                <a16:creationId xmlns:a16="http://schemas.microsoft.com/office/drawing/2014/main" id="{3FB92A31-942B-F235-3B84-48AE22E49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44" y="4342910"/>
            <a:ext cx="5178911" cy="1049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10F38C-F955-E1F5-D093-E4F24CDFEB73}"/>
              </a:ext>
            </a:extLst>
          </p:cNvPr>
          <p:cNvSpPr txBox="1"/>
          <p:nvPr/>
        </p:nvSpPr>
        <p:spPr>
          <a:xfrm>
            <a:off x="2551466" y="5468599"/>
            <a:ext cx="7089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hlinkClick r:id="rId4"/>
              </a:rPr>
              <a:t>https://www.thymeleaf.org/doc/tutorials/3.1/usingthymeleaf.html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3363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47EFF11-C51D-5D19-9384-D5FE1D788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임의의 클래스를 생성하고 클래스에 </a:t>
            </a:r>
            <a:r>
              <a:rPr lang="en-US" altLang="ko-KR" sz="2400" dirty="0"/>
              <a:t>@Controller</a:t>
            </a:r>
            <a:r>
              <a:rPr lang="ko-KR" altLang="en-US" sz="2400" dirty="0"/>
              <a:t> 추가</a:t>
            </a:r>
            <a:endParaRPr lang="en-US" altLang="ko-KR" sz="2400" dirty="0"/>
          </a:p>
          <a:p>
            <a:r>
              <a:rPr lang="en-US" altLang="ko-KR" sz="2400" dirty="0"/>
              <a:t>Spring</a:t>
            </a:r>
            <a:r>
              <a:rPr lang="ko-KR" altLang="en-US" sz="2400" dirty="0"/>
              <a:t> </a:t>
            </a:r>
            <a:r>
              <a:rPr lang="en-US" altLang="ko-KR" sz="2400" dirty="0"/>
              <a:t>MVC</a:t>
            </a:r>
            <a:r>
              <a:rPr lang="ko-KR" altLang="en-US" sz="2400" dirty="0"/>
              <a:t>에 </a:t>
            </a:r>
            <a:r>
              <a:rPr lang="en-US" altLang="ko-KR" sz="2400" dirty="0"/>
              <a:t>Controller </a:t>
            </a:r>
            <a:r>
              <a:rPr lang="ko-KR" altLang="en-US" sz="2400" dirty="0"/>
              <a:t>클래스로 인식되어 스프링 </a:t>
            </a:r>
            <a:r>
              <a:rPr lang="en-US" altLang="ko-KR" sz="2400" dirty="0"/>
              <a:t>MVC</a:t>
            </a:r>
            <a:r>
              <a:rPr lang="ko-KR" altLang="en-US" sz="2400" dirty="0"/>
              <a:t>가 제공하는 다양한 </a:t>
            </a:r>
            <a:r>
              <a:rPr lang="ko-KR" altLang="en-US" sz="2400" dirty="0" err="1"/>
              <a:t>어노테이션</a:t>
            </a:r>
            <a:r>
              <a:rPr lang="ko-KR" altLang="en-US" sz="2400" dirty="0"/>
              <a:t> 사용 가능</a:t>
            </a:r>
            <a:endParaRPr lang="en-US" altLang="ko-KR" sz="2400" dirty="0"/>
          </a:p>
          <a:p>
            <a:r>
              <a:rPr lang="ko-KR" altLang="en-US" sz="2400" dirty="0"/>
              <a:t>해당 클래스에 요청에 대응하는 메서드를 작성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471079-ED26-4028-F1A8-AFF17635E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58B4F0-D1F5-5742-A55C-E32F707E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8C5B724-7CCC-0276-7841-BA417DCCF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Controller </a:t>
            </a:r>
            <a:r>
              <a:rPr lang="ko-KR" altLang="en-US" dirty="0"/>
              <a:t>클래스 생성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8E6E760-21F7-1ED4-C424-D1CD1261C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020" y="3746499"/>
            <a:ext cx="4571098" cy="225266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6109B70-542F-BDF3-845B-54E52FC9540E}"/>
              </a:ext>
            </a:extLst>
          </p:cNvPr>
          <p:cNvSpPr/>
          <p:nvPr/>
        </p:nvSpPr>
        <p:spPr>
          <a:xfrm>
            <a:off x="7612461" y="4635500"/>
            <a:ext cx="2725339" cy="863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411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3540BB-C3E7-BCCE-3784-0D64497A7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0300" y="1401917"/>
            <a:ext cx="5543766" cy="41857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2400" b="1" dirty="0">
                <a:solidFill>
                  <a:schemeClr val="accent1"/>
                </a:solidFill>
              </a:rPr>
              <a:t>@Controller</a:t>
            </a:r>
          </a:p>
          <a:p>
            <a:pPr marL="0" indent="0">
              <a:buNone/>
            </a:pPr>
            <a:r>
              <a:rPr lang="en-US" altLang="ko-KR" sz="2000" dirty="0"/>
              <a:t>: </a:t>
            </a:r>
            <a:r>
              <a:rPr lang="ko-KR" altLang="en-US" sz="2000" dirty="0"/>
              <a:t>해당 클래스가 </a:t>
            </a:r>
            <a:r>
              <a:rPr lang="en-US" altLang="ko-KR" sz="2000" dirty="0"/>
              <a:t>Controller </a:t>
            </a:r>
            <a:r>
              <a:rPr lang="ko-KR" altLang="en-US" sz="2000" dirty="0"/>
              <a:t>클래스라는 것을 </a:t>
            </a:r>
            <a:r>
              <a:rPr lang="en-US" altLang="ko-KR" sz="2000" dirty="0"/>
              <a:t>Spring Container</a:t>
            </a:r>
            <a:r>
              <a:rPr lang="ko-KR" altLang="en-US" sz="2000" dirty="0"/>
              <a:t>에게 알려준다</a:t>
            </a:r>
            <a:r>
              <a:rPr lang="en-US" altLang="ko-KR" sz="2000" dirty="0"/>
              <a:t>.</a:t>
            </a:r>
          </a:p>
          <a:p>
            <a:pPr>
              <a:buFontTx/>
              <a:buChar char="-"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b="1" dirty="0">
                <a:solidFill>
                  <a:schemeClr val="accent1"/>
                </a:solidFill>
              </a:rPr>
              <a:t>@GetMapping</a:t>
            </a:r>
          </a:p>
          <a:p>
            <a:pPr marL="0" indent="0">
              <a:buNone/>
            </a:pPr>
            <a:r>
              <a:rPr lang="en-US" altLang="ko-KR" sz="2000" dirty="0"/>
              <a:t>: URL</a:t>
            </a:r>
            <a:r>
              <a:rPr lang="ko-KR" altLang="en-US" sz="2000" dirty="0"/>
              <a:t>을 </a:t>
            </a:r>
            <a:r>
              <a:rPr lang="ko-KR" altLang="en-US" sz="2000" dirty="0" err="1"/>
              <a:t>매핑시켜</a:t>
            </a:r>
            <a:r>
              <a:rPr lang="ko-KR" altLang="en-US" sz="2000" dirty="0"/>
              <a:t> 주는 것으로 </a:t>
            </a:r>
            <a:r>
              <a:rPr lang="en-US" altLang="ko-KR" sz="2000" dirty="0"/>
              <a:t>HTTP</a:t>
            </a:r>
            <a:r>
              <a:rPr lang="ko-KR" altLang="en-US" sz="2000" dirty="0"/>
              <a:t>의 </a:t>
            </a:r>
            <a:r>
              <a:rPr lang="en-US" altLang="ko-KR" sz="2000" dirty="0"/>
              <a:t>GET </a:t>
            </a:r>
            <a:r>
              <a:rPr lang="ko-KR" altLang="en-US" sz="2000" dirty="0"/>
              <a:t>메서드의 </a:t>
            </a:r>
            <a:r>
              <a:rPr lang="en-US" altLang="ko-KR" sz="2000" dirty="0"/>
              <a:t>/hi</a:t>
            </a:r>
            <a:r>
              <a:rPr lang="ko-KR" altLang="en-US" sz="2000" dirty="0"/>
              <a:t> 경로에 대한 요청이 연결되며 </a:t>
            </a:r>
            <a:r>
              <a:rPr lang="en-US" altLang="ko-KR" sz="2000" dirty="0" err="1"/>
              <a:t>getHi</a:t>
            </a:r>
            <a:r>
              <a:rPr lang="ko-KR" altLang="en-US" sz="2000" dirty="0"/>
              <a:t>라는 함수를 실행시킨다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b="1" dirty="0" err="1">
                <a:solidFill>
                  <a:schemeClr val="accent1"/>
                </a:solidFill>
              </a:rPr>
              <a:t>getHi</a:t>
            </a:r>
            <a:r>
              <a:rPr lang="en-US" altLang="ko-KR" sz="2000" b="1" dirty="0">
                <a:solidFill>
                  <a:schemeClr val="accent1"/>
                </a:solidFill>
              </a:rPr>
              <a:t>() </a:t>
            </a:r>
            <a:r>
              <a:rPr lang="ko-KR" altLang="en-US" sz="2000" b="1" dirty="0">
                <a:solidFill>
                  <a:schemeClr val="accent1"/>
                </a:solidFill>
              </a:rPr>
              <a:t>메서드의 매개변수 타입 </a:t>
            </a:r>
            <a:r>
              <a:rPr lang="en-US" altLang="ko-KR" sz="2000" b="1" dirty="0">
                <a:solidFill>
                  <a:schemeClr val="accent1"/>
                </a:solidFill>
              </a:rPr>
              <a:t>Model</a:t>
            </a:r>
          </a:p>
          <a:p>
            <a:pPr marL="0" indent="0">
              <a:buNone/>
            </a:pPr>
            <a:r>
              <a:rPr lang="en-US" altLang="ko-KR" sz="2000" dirty="0"/>
              <a:t>: </a:t>
            </a:r>
            <a:r>
              <a:rPr lang="ko-KR" altLang="en-US" sz="2000" dirty="0"/>
              <a:t>스프링 </a:t>
            </a:r>
            <a:r>
              <a:rPr lang="en-US" altLang="ko-KR" sz="2000" dirty="0"/>
              <a:t>MVC</a:t>
            </a:r>
            <a:r>
              <a:rPr lang="ko-KR" altLang="en-US" sz="2000" dirty="0"/>
              <a:t>가 제공하는 타입으로 </a:t>
            </a:r>
            <a:r>
              <a:rPr lang="en-US" altLang="ko-KR" sz="2000" dirty="0"/>
              <a:t>View</a:t>
            </a:r>
            <a:r>
              <a:rPr lang="ko-KR" altLang="en-US" sz="2000" dirty="0"/>
              <a:t>에서 참조할 수 있는 객체 지정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3982D9-ABD2-C7FC-0CF6-3835A7C34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CCCE6D-8239-E007-343E-1E9636A77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9BDDFD-C741-DC0D-AE27-B99F9E1B9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Controller </a:t>
            </a:r>
            <a:r>
              <a:rPr lang="ko-KR" altLang="en-US" dirty="0"/>
              <a:t>클래스 생성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9D0B6E-27B4-D604-0F9B-426F32A3E08B}"/>
              </a:ext>
            </a:extLst>
          </p:cNvPr>
          <p:cNvSpPr txBox="1"/>
          <p:nvPr/>
        </p:nvSpPr>
        <p:spPr>
          <a:xfrm>
            <a:off x="6489700" y="6056658"/>
            <a:ext cx="5969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6"/>
                </a:solidFill>
              </a:rPr>
              <a:t>참고</a:t>
            </a:r>
            <a:r>
              <a:rPr lang="en-US" altLang="ko-KR" sz="1400" dirty="0">
                <a:solidFill>
                  <a:schemeClr val="accent6"/>
                </a:solidFill>
              </a:rPr>
              <a:t>. </a:t>
            </a:r>
            <a:r>
              <a:rPr lang="en-US" altLang="ko-KR" sz="1400" b="1" dirty="0">
                <a:solidFill>
                  <a:schemeClr val="accent6"/>
                </a:solidFill>
              </a:rPr>
              <a:t>@XXX</a:t>
            </a:r>
            <a:r>
              <a:rPr lang="ko-KR" altLang="en-US" sz="1400" dirty="0">
                <a:solidFill>
                  <a:schemeClr val="accent6"/>
                </a:solidFill>
              </a:rPr>
              <a:t> 형식의 키워드들은 </a:t>
            </a:r>
            <a:r>
              <a:rPr lang="en-US" altLang="ko-KR" sz="1400" dirty="0">
                <a:solidFill>
                  <a:schemeClr val="accent6"/>
                </a:solidFill>
              </a:rPr>
              <a:t>“</a:t>
            </a:r>
            <a:r>
              <a:rPr lang="en-US" altLang="ko-KR" sz="1400" b="1" dirty="0">
                <a:solidFill>
                  <a:schemeClr val="accent6"/>
                </a:solidFill>
              </a:rPr>
              <a:t>Annotation</a:t>
            </a:r>
            <a:r>
              <a:rPr lang="en-US" altLang="ko-KR" sz="1400" dirty="0">
                <a:solidFill>
                  <a:schemeClr val="accent6"/>
                </a:solidFill>
              </a:rPr>
              <a:t>” </a:t>
            </a:r>
            <a:r>
              <a:rPr lang="ko-KR" altLang="en-US" sz="1400" dirty="0">
                <a:solidFill>
                  <a:schemeClr val="accent6"/>
                </a:solidFill>
              </a:rPr>
              <a:t>단원에서 자세히 다룰</a:t>
            </a:r>
            <a:r>
              <a:rPr lang="en-US" altLang="ko-KR" sz="1400" dirty="0">
                <a:solidFill>
                  <a:schemeClr val="accent6"/>
                </a:solidFill>
              </a:rPr>
              <a:t> </a:t>
            </a:r>
            <a:r>
              <a:rPr lang="ko-KR" altLang="en-US" sz="1400" dirty="0">
                <a:solidFill>
                  <a:schemeClr val="accent6"/>
                </a:solidFill>
              </a:rPr>
              <a:t>예정</a:t>
            </a:r>
            <a:r>
              <a:rPr lang="en-US" altLang="ko-KR" sz="1400" dirty="0">
                <a:solidFill>
                  <a:schemeClr val="accent6"/>
                </a:solidFill>
              </a:rPr>
              <a:t>!</a:t>
            </a:r>
            <a:endParaRPr lang="ko-KR" altLang="en-US" sz="1400" dirty="0">
              <a:solidFill>
                <a:schemeClr val="accent6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48E5743-B4D4-A4BA-3525-78BCD07D7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35" y="1509639"/>
            <a:ext cx="5639230" cy="397031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dirty="0">
              <a:solidFill>
                <a:srgbClr val="CF8E6D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package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sesac.sesacspringboot.controller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import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org.springframework.stereotype.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Controller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import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org.springframework.ui.Model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import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org.springframework.web.bind.annotation.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GetMapping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@Controller</a:t>
            </a:r>
            <a:b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HelloController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"/hi"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getHi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Model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model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model.addAttribute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msg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Hi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~"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hi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528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DBBBB2F-9618-2C4B-0A31-2F2DCBBA8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src</a:t>
            </a:r>
            <a:r>
              <a:rPr lang="en-US" altLang="ko-KR" sz="2400" dirty="0"/>
              <a:t>/main/resources </a:t>
            </a:r>
            <a:r>
              <a:rPr lang="ko-KR" altLang="en-US" sz="2400" dirty="0"/>
              <a:t>아래 </a:t>
            </a:r>
            <a:r>
              <a:rPr lang="en-US" altLang="ko-KR" sz="2400" dirty="0">
                <a:solidFill>
                  <a:schemeClr val="accent1"/>
                </a:solidFill>
              </a:rPr>
              <a:t>templates </a:t>
            </a:r>
            <a:r>
              <a:rPr lang="ko-KR" altLang="en-US" sz="2400" dirty="0">
                <a:solidFill>
                  <a:schemeClr val="accent1"/>
                </a:solidFill>
              </a:rPr>
              <a:t>폴더 </a:t>
            </a:r>
            <a:r>
              <a:rPr lang="ko-KR" altLang="en-US" sz="2400" dirty="0"/>
              <a:t>아래 생성</a:t>
            </a:r>
            <a:endParaRPr lang="en-US" altLang="ko-KR" sz="2400" dirty="0"/>
          </a:p>
          <a:p>
            <a:r>
              <a:rPr lang="ko-KR" altLang="en-US" sz="2400" dirty="0"/>
              <a:t>템플릿 파일의 저장 위치와 확장자는 스프링 부트에 자동 설정되어 있음</a:t>
            </a:r>
            <a:endParaRPr lang="en-US" altLang="ko-KR" sz="2400" dirty="0"/>
          </a:p>
          <a:p>
            <a:pPr lvl="1"/>
            <a:r>
              <a:rPr lang="ko-KR" altLang="en-US" sz="2000" dirty="0"/>
              <a:t>즉</a:t>
            </a:r>
            <a:r>
              <a:rPr lang="en-US" altLang="ko-KR" sz="2000" dirty="0"/>
              <a:t>, view </a:t>
            </a:r>
            <a:r>
              <a:rPr lang="ko-KR" altLang="en-US" sz="2000" dirty="0"/>
              <a:t>파일은</a:t>
            </a:r>
            <a:r>
              <a:rPr lang="en-US" altLang="ko-KR" sz="2000" dirty="0"/>
              <a:t> templates/ </a:t>
            </a:r>
            <a:r>
              <a:rPr lang="ko-KR" altLang="en-US" sz="2000" dirty="0"/>
              <a:t>폴더에 생성되고</a:t>
            </a:r>
            <a:r>
              <a:rPr lang="en-US" altLang="ko-KR" sz="2000" dirty="0"/>
              <a:t>, .html </a:t>
            </a:r>
            <a:r>
              <a:rPr lang="ko-KR" altLang="en-US" sz="2000" dirty="0"/>
              <a:t>확장자를 사용하도록</a:t>
            </a:r>
            <a:endParaRPr lang="en-US" altLang="ko-KR" sz="2000" dirty="0"/>
          </a:p>
          <a:p>
            <a:pPr lvl="1"/>
            <a:r>
              <a:rPr lang="ko-KR" altLang="en-US" sz="2000" dirty="0"/>
              <a:t>여기서는 </a:t>
            </a:r>
            <a:r>
              <a:rPr lang="en-US" altLang="ko-KR" sz="2000" dirty="0"/>
              <a:t>templates/hi.html </a:t>
            </a:r>
            <a:r>
              <a:rPr lang="ko-KR" altLang="en-US" sz="2000" dirty="0"/>
              <a:t>파일을 불러오는 것</a:t>
            </a:r>
            <a:r>
              <a:rPr lang="en-US" altLang="ko-KR" sz="2000" dirty="0"/>
              <a:t>!</a:t>
            </a:r>
            <a:endParaRPr lang="ko-KR" altLang="en-US" sz="20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F4D32A-A4E9-F2EC-FB7D-900247513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7D7948-09DA-F706-3D2B-F35CD4E5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B739864-5607-9C1D-DA96-EFC12DEA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Template View </a:t>
            </a:r>
            <a:r>
              <a:rPr lang="ko-KR" altLang="en-US" dirty="0"/>
              <a:t>생성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9714CB3-19C6-75DD-4A74-3FCE1CC12824}"/>
              </a:ext>
            </a:extLst>
          </p:cNvPr>
          <p:cNvGrpSpPr/>
          <p:nvPr/>
        </p:nvGrpSpPr>
        <p:grpSpPr>
          <a:xfrm>
            <a:off x="7239001" y="3323332"/>
            <a:ext cx="4400877" cy="2662106"/>
            <a:chOff x="3798879" y="3443177"/>
            <a:chExt cx="4416443" cy="267152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2B8A84B-1AEA-3836-0783-61A41A9082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073" b="6778"/>
            <a:stretch/>
          </p:blipFill>
          <p:spPr>
            <a:xfrm>
              <a:off x="3798879" y="3443177"/>
              <a:ext cx="4416443" cy="267152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D17B9-94FE-9E86-0548-8AAEA06AECB7}"/>
                </a:ext>
              </a:extLst>
            </p:cNvPr>
            <p:cNvSpPr/>
            <p:nvPr/>
          </p:nvSpPr>
          <p:spPr>
            <a:xfrm>
              <a:off x="4275619" y="4951160"/>
              <a:ext cx="1460487" cy="72565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42639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F3A49D-AC5F-7DFC-73B7-722730ABB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252CEA-DDDD-2626-072E-28F9C43E4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DF889B5-51B3-E8CB-FCEA-255AD30C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Template View </a:t>
            </a:r>
            <a:r>
              <a:rPr lang="ko-KR" altLang="en-US" dirty="0"/>
              <a:t>생성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B06B3E9-C5B3-AADF-27DC-1CD7470B808D}"/>
              </a:ext>
            </a:extLst>
          </p:cNvPr>
          <p:cNvGrpSpPr/>
          <p:nvPr/>
        </p:nvGrpSpPr>
        <p:grpSpPr>
          <a:xfrm>
            <a:off x="523532" y="2090172"/>
            <a:ext cx="5895203" cy="2677656"/>
            <a:chOff x="2829697" y="2242520"/>
            <a:chExt cx="5895203" cy="2677656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D70A956-4C07-6D00-56C9-420630306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9697" y="2242520"/>
              <a:ext cx="5895203" cy="2677656"/>
            </a:xfrm>
            <a:prstGeom prst="rect">
              <a:avLst/>
            </a:prstGeom>
            <a:solidFill>
              <a:srgbClr val="1E1F2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&lt;!DOCTYPE 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html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&lt;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html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lang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en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 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xmlns: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C77DBB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th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="http://www.thymeleaf.org"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&lt;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head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  &lt;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meta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charset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="UTF-8"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  &lt;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title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Title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&lt;/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title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&lt;/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head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&lt;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body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  &lt;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C77DBB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th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:text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="'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JetBrains Mono" panose="02000009000000000000" pitchFamily="49" charset="0"/>
                </a:rPr>
                <a:t>안녕하세요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. ' + ${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msg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}"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JetBrains Mono" panose="02000009000000000000" pitchFamily="49" charset="0"/>
                </a:rPr>
                <a:t>안녕 반가워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&lt;/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&lt;/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body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&lt;/</a:t>
              </a:r>
              <a:r>
                <a:rPr kumimoji="0" lang="ko-KR" altLang="ko-KR" sz="14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html</a:t>
              </a:r>
              <a:r>
                <a: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endPara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2258AA2-A41A-FDE4-BD33-CDE8F2F36E2A}"/>
                </a:ext>
              </a:extLst>
            </p:cNvPr>
            <p:cNvSpPr/>
            <p:nvPr/>
          </p:nvSpPr>
          <p:spPr>
            <a:xfrm>
              <a:off x="4118767" y="2714976"/>
              <a:ext cx="2952581" cy="294421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7DDF5D-78C2-C983-C949-0CD5CC882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685" b="75008"/>
          <a:stretch/>
        </p:blipFill>
        <p:spPr>
          <a:xfrm>
            <a:off x="6696268" y="2305615"/>
            <a:ext cx="4124934" cy="224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3388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EC8DA6B-F47E-FF42-74FB-B44BC4D95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9442" y="1966535"/>
            <a:ext cx="4398196" cy="34993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스프링 부트는 </a:t>
            </a:r>
            <a:r>
              <a:rPr lang="en-US" altLang="ko-KR" sz="2000" dirty="0"/>
              <a:t>WAS</a:t>
            </a:r>
            <a:r>
              <a:rPr lang="ko-KR" altLang="en-US" sz="2000" dirty="0"/>
              <a:t>로 </a:t>
            </a:r>
            <a:r>
              <a:rPr lang="en-US" altLang="ko-KR" sz="2000" dirty="0"/>
              <a:t>Tomcat</a:t>
            </a:r>
            <a:r>
              <a:rPr lang="ko-KR" altLang="en-US" sz="2000" dirty="0"/>
              <a:t>을 내장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1800" dirty="0"/>
              <a:t>localhost:8080/hi</a:t>
            </a:r>
            <a:r>
              <a:rPr lang="ko-KR" altLang="en-US" sz="1800" dirty="0"/>
              <a:t> 요청 시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톰캣이</a:t>
            </a:r>
            <a:r>
              <a:rPr lang="ko-KR" altLang="en-US" sz="1800" dirty="0"/>
              <a:t> 스프링한테 넘겨줌</a:t>
            </a:r>
            <a:endParaRPr lang="en-US" altLang="ko-KR" sz="18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1800" dirty="0"/>
              <a:t>컨트롤러</a:t>
            </a:r>
            <a:r>
              <a:rPr lang="en-US" altLang="ko-KR" sz="1800" dirty="0"/>
              <a:t>(HelloController.java)</a:t>
            </a:r>
            <a:r>
              <a:rPr lang="ko-KR" altLang="en-US" sz="1800" dirty="0"/>
              <a:t>에서 매칭되는 </a:t>
            </a:r>
            <a:r>
              <a:rPr lang="en-US" altLang="ko-KR" sz="1800" dirty="0"/>
              <a:t>URL </a:t>
            </a:r>
            <a:r>
              <a:rPr lang="ko-KR" altLang="en-US" sz="1800" dirty="0"/>
              <a:t>을 찾음</a:t>
            </a:r>
            <a:endParaRPr lang="en-US" altLang="ko-KR" sz="18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1800" dirty="0"/>
              <a:t>해당 메소드</a:t>
            </a:r>
            <a:r>
              <a:rPr lang="en-US" altLang="ko-KR" sz="1800" dirty="0"/>
              <a:t>(</a:t>
            </a:r>
            <a:r>
              <a:rPr lang="en-US" altLang="ko-KR" sz="1800" dirty="0" err="1"/>
              <a:t>getHi</a:t>
            </a:r>
            <a:r>
              <a:rPr lang="en-US" altLang="ko-KR" sz="1800" dirty="0"/>
              <a:t>) </a:t>
            </a:r>
            <a:r>
              <a:rPr lang="ko-KR" altLang="en-US" sz="1800" dirty="0"/>
              <a:t>에서 반환하는 문자열을 </a:t>
            </a:r>
            <a:r>
              <a:rPr lang="en-US" altLang="ko-KR" sz="1800" dirty="0" err="1"/>
              <a:t>ViewResolver</a:t>
            </a:r>
            <a:r>
              <a:rPr lang="en-US" altLang="ko-KR" sz="1800" dirty="0"/>
              <a:t> </a:t>
            </a:r>
            <a:r>
              <a:rPr lang="ko-KR" altLang="en-US" sz="1800" dirty="0"/>
              <a:t>가 화면을 찾아서 처리</a:t>
            </a:r>
            <a:r>
              <a:rPr lang="en-US" altLang="ko-KR" sz="1800" dirty="0"/>
              <a:t> (templates/hi.html)</a:t>
            </a:r>
          </a:p>
          <a:p>
            <a:pPr marL="514350" indent="-514350">
              <a:buFont typeface="+mj-lt"/>
              <a:buAutoNum type="arabicPeriod"/>
            </a:pPr>
            <a:endParaRPr lang="en-US" altLang="ko-KR" sz="2000" dirty="0"/>
          </a:p>
          <a:p>
            <a:pPr marL="514350" indent="-514350">
              <a:buFont typeface="+mj-lt"/>
              <a:buAutoNum type="arabicPeriod"/>
            </a:pPr>
            <a:endParaRPr lang="ko-KR" altLang="en-US" sz="20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D6567C-6674-0867-8AFE-23F6DFA2C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51DF06-27D7-4EFD-7E0B-13F7F8F3A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DE9DE8D-34E8-30B8-2F95-E8309947C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 Boot </a:t>
            </a:r>
            <a:r>
              <a:rPr lang="ko-KR" altLang="en-US" dirty="0"/>
              <a:t>동작 환경</a:t>
            </a:r>
          </a:p>
        </p:txBody>
      </p:sp>
      <p:pic>
        <p:nvPicPr>
          <p:cNvPr id="6" name="내용 개체 틀 6">
            <a:extLst>
              <a:ext uri="{FF2B5EF4-FFF2-40B4-BE49-F238E27FC236}">
                <a16:creationId xmlns:a16="http://schemas.microsoft.com/office/drawing/2014/main" id="{511A9A59-7D47-0D70-8F73-510F6B59E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825625"/>
            <a:ext cx="6650804" cy="374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938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Thymeleaf</a:t>
            </a:r>
            <a:br>
              <a:rPr lang="en-US" altLang="ko-KR" dirty="0"/>
            </a:br>
            <a:r>
              <a:rPr lang="ko-KR" altLang="en-US" dirty="0"/>
              <a:t>표현식과 문법</a:t>
            </a:r>
          </a:p>
        </p:txBody>
      </p:sp>
    </p:spTree>
    <p:extLst>
      <p:ext uri="{BB962C8B-B14F-4D97-AF65-F5344CB8AC3E}">
        <p14:creationId xmlns:p14="http://schemas.microsoft.com/office/powerpoint/2010/main" val="295405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65CBF-C550-97CB-A7F8-6D315CE83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10797" cy="4351338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서버에서 전달받은 데이터를 사용자들이 볼 수 있는 뷰로 만들기 위해 사용되는 표현식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0C0BD-4B21-3C11-4110-79DA70ED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1D947B-6519-2C07-7AF8-112FD98C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D6361361-588F-5854-E9A1-5EFE720F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Thymeleaf</a:t>
            </a:r>
            <a:r>
              <a:rPr lang="en-US" altLang="ko-KR" dirty="0"/>
              <a:t> </a:t>
            </a:r>
            <a:r>
              <a:rPr lang="ko-KR" altLang="en-US" dirty="0"/>
              <a:t>표현식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FDA7319-77D0-D5CF-6173-E16573E2C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975366"/>
              </p:ext>
            </p:extLst>
          </p:nvPr>
        </p:nvGraphicFramePr>
        <p:xfrm>
          <a:off x="3397892" y="2939574"/>
          <a:ext cx="539621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453">
                  <a:extLst>
                    <a:ext uri="{9D8B030D-6E8A-4147-A177-3AD203B41FA5}">
                      <a16:colId xmlns:a16="http://schemas.microsoft.com/office/drawing/2014/main" val="1616103713"/>
                    </a:ext>
                  </a:extLst>
                </a:gridCol>
                <a:gridCol w="4089763">
                  <a:extLst>
                    <a:ext uri="{9D8B030D-6E8A-4147-A177-3AD203B41FA5}">
                      <a16:colId xmlns:a16="http://schemas.microsoft.com/office/drawing/2014/main" val="3150701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표현식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031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${…}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변수의 값 표현식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871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#{…}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속성 파일 값 표현식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382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@{…}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URL</a:t>
                      </a:r>
                      <a:r>
                        <a:rPr lang="ko-KR" altLang="en-US" dirty="0"/>
                        <a:t> 표현식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608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*{…}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선택한 변수의 표현식</a:t>
                      </a:r>
                      <a:br>
                        <a:rPr lang="en-US" altLang="ko-KR" dirty="0"/>
                      </a:br>
                      <a:r>
                        <a:rPr lang="en-US" altLang="ko-KR" dirty="0" err="1"/>
                        <a:t>th:object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에서 선택한 객체에 접근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471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782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65CBF-C550-97CB-A7F8-6D315CE83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HTML </a:t>
            </a:r>
            <a:r>
              <a:rPr lang="ko-KR" altLang="en-US" sz="2400" dirty="0"/>
              <a:t>태그 안에 소</a:t>
            </a:r>
            <a:r>
              <a:rPr lang="en-US" altLang="ko-KR" sz="2400" dirty="0"/>
              <a:t> </a:t>
            </a:r>
            <a:r>
              <a:rPr lang="ko-KR" altLang="en-US" sz="2400" dirty="0"/>
              <a:t>문법을 추가</a:t>
            </a:r>
            <a:endParaRPr lang="en-US" altLang="ko-KR" sz="2400" dirty="0"/>
          </a:p>
          <a:p>
            <a:r>
              <a:rPr lang="en-US" altLang="ko-KR" sz="2400" dirty="0"/>
              <a:t>div </a:t>
            </a:r>
            <a:r>
              <a:rPr lang="ko-KR" altLang="en-US" sz="2400" dirty="0"/>
              <a:t>태그 뿐만 아니라 </a:t>
            </a:r>
            <a:r>
              <a:rPr lang="en-US" altLang="ko-KR" sz="2400" dirty="0"/>
              <a:t>HTML </a:t>
            </a:r>
            <a:r>
              <a:rPr lang="ko-KR" altLang="en-US" sz="2400" dirty="0"/>
              <a:t>에서 지원하는 태그들 모두 사용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0C0BD-4B21-3C11-4110-79DA70ED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1D947B-6519-2C07-7AF8-112FD98C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D6361361-588F-5854-E9A1-5EFE720F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Thymeleaf</a:t>
            </a:r>
            <a:r>
              <a:rPr lang="en-US" altLang="ko-KR" dirty="0"/>
              <a:t> </a:t>
            </a:r>
            <a:r>
              <a:rPr lang="ko-KR" altLang="en-US" dirty="0"/>
              <a:t>문법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E4C70C2-3C2F-0902-1AE7-0030BC39EA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100" b="11857"/>
          <a:stretch/>
        </p:blipFill>
        <p:spPr>
          <a:xfrm>
            <a:off x="2153720" y="3429000"/>
            <a:ext cx="7884560" cy="71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430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65CBF-C550-97CB-A7F8-6D315CE83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태그 안의 </a:t>
            </a:r>
            <a:r>
              <a:rPr lang="ko-KR" altLang="en-US" sz="2400" dirty="0">
                <a:solidFill>
                  <a:schemeClr val="accent1"/>
                </a:solidFill>
              </a:rPr>
              <a:t>텍스트</a:t>
            </a:r>
            <a:r>
              <a:rPr lang="ko-KR" altLang="en-US" sz="2400" dirty="0"/>
              <a:t>를 서버에서 전달받은 값에 따라 표현하고자 할 때 사용하는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0C0BD-4B21-3C11-4110-79DA70ED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1D947B-6519-2C07-7AF8-112FD98C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D6361361-588F-5854-E9A1-5EFE720F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th:text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EB5DE62-7EF8-5BFE-2721-41D2172B4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27" y="2838450"/>
            <a:ext cx="962777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623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65CBF-C550-97CB-A7F8-6D315CE83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th:text</a:t>
            </a:r>
            <a:r>
              <a:rPr lang="ko-KR" altLang="en-US" sz="2400" dirty="0"/>
              <a:t>와 유사</a:t>
            </a:r>
            <a:endParaRPr lang="en-US" altLang="ko-KR" sz="2400" dirty="0"/>
          </a:p>
          <a:p>
            <a:r>
              <a:rPr lang="ko-KR" altLang="en-US" sz="2400" dirty="0"/>
              <a:t>변수에서 받은 값에 </a:t>
            </a:r>
            <a:r>
              <a:rPr lang="en-US" altLang="ko-KR" sz="2400" dirty="0"/>
              <a:t>html </a:t>
            </a:r>
            <a:r>
              <a:rPr lang="ko-KR" altLang="en-US" sz="2400" dirty="0"/>
              <a:t>태그가</a:t>
            </a:r>
            <a:r>
              <a:rPr lang="en-US" altLang="ko-KR" sz="2400" dirty="0"/>
              <a:t> </a:t>
            </a:r>
            <a:r>
              <a:rPr lang="ko-KR" altLang="en-US" sz="2400" dirty="0"/>
              <a:t>있다면 </a:t>
            </a:r>
            <a:r>
              <a:rPr lang="ko-KR" altLang="en-US" sz="2400" dirty="0">
                <a:solidFill>
                  <a:schemeClr val="accent1"/>
                </a:solidFill>
              </a:rPr>
              <a:t>태그 값을 반영해서 표시</a:t>
            </a:r>
            <a:r>
              <a:rPr lang="ko-KR" altLang="en-US" sz="2400" dirty="0"/>
              <a:t>해줌</a:t>
            </a:r>
            <a:endParaRPr lang="en-US" altLang="ko-KR" sz="2400" dirty="0"/>
          </a:p>
          <a:p>
            <a:r>
              <a:rPr lang="en-US" altLang="ko-KR" sz="2400" dirty="0"/>
              <a:t>“&lt;strong&gt;</a:t>
            </a:r>
            <a:r>
              <a:rPr lang="ko-KR" altLang="en-US" sz="2400" dirty="0"/>
              <a:t>안녕</a:t>
            </a:r>
            <a:r>
              <a:rPr lang="en-US" altLang="ko-KR" sz="2400" dirty="0"/>
              <a:t>&lt;/strong&gt;” </a:t>
            </a:r>
            <a:r>
              <a:rPr lang="ko-KR" altLang="en-US" sz="2400" dirty="0"/>
              <a:t>값이 서버에서 넘어왔다면 </a:t>
            </a:r>
            <a:r>
              <a:rPr lang="en-US" altLang="ko-KR" sz="2400" dirty="0"/>
              <a:t>&lt;strong&gt; </a:t>
            </a:r>
            <a:r>
              <a:rPr lang="ko-KR" altLang="en-US" sz="2400" dirty="0"/>
              <a:t>이라는 글자가 나오는 것이 아닌 </a:t>
            </a:r>
            <a:r>
              <a:rPr lang="en-US" altLang="ko-KR" sz="2400" dirty="0"/>
              <a:t>“</a:t>
            </a:r>
            <a:r>
              <a:rPr lang="ko-KR" altLang="en-US" sz="2400" dirty="0"/>
              <a:t>안녕</a:t>
            </a:r>
            <a:r>
              <a:rPr lang="en-US" altLang="ko-KR" sz="2400" dirty="0"/>
              <a:t>”</a:t>
            </a:r>
            <a:r>
              <a:rPr lang="ko-KR" altLang="en-US" sz="2400" dirty="0"/>
              <a:t>이라는 글자가 </a:t>
            </a:r>
            <a:r>
              <a:rPr lang="en-US" altLang="ko-KR" sz="2400" dirty="0"/>
              <a:t>&lt;strong&gt; </a:t>
            </a:r>
            <a:r>
              <a:rPr lang="ko-KR" altLang="en-US" sz="2400" dirty="0"/>
              <a:t>태그에 의해 굵게 표시됨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0C0BD-4B21-3C11-4110-79DA70ED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1D947B-6519-2C07-7AF8-112FD98C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D6361361-588F-5854-E9A1-5EFE720F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th:utext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49084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65CBF-C550-97CB-A7F8-6D315CE83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solidFill>
                  <a:schemeClr val="accent1"/>
                </a:solidFill>
              </a:rPr>
              <a:t>HTML Element </a:t>
            </a:r>
            <a:r>
              <a:rPr lang="ko-KR" altLang="en-US" sz="2400" dirty="0">
                <a:solidFill>
                  <a:schemeClr val="accent1"/>
                </a:solidFill>
              </a:rPr>
              <a:t>의 </a:t>
            </a:r>
            <a:r>
              <a:rPr lang="en-US" altLang="ko-KR" sz="2400" dirty="0">
                <a:solidFill>
                  <a:schemeClr val="accent1"/>
                </a:solidFill>
              </a:rPr>
              <a:t>value </a:t>
            </a:r>
            <a:r>
              <a:rPr lang="ko-KR" altLang="en-US" sz="2400" dirty="0">
                <a:solidFill>
                  <a:schemeClr val="accent1"/>
                </a:solidFill>
              </a:rPr>
              <a:t>속성</a:t>
            </a:r>
            <a:r>
              <a:rPr lang="en-US" altLang="ko-KR" sz="2400" dirty="0">
                <a:solidFill>
                  <a:schemeClr val="accent1"/>
                </a:solidFill>
              </a:rPr>
              <a:t> </a:t>
            </a:r>
            <a:r>
              <a:rPr lang="ko-KR" altLang="en-US" sz="2400" dirty="0">
                <a:solidFill>
                  <a:schemeClr val="accent1"/>
                </a:solidFill>
              </a:rPr>
              <a:t>값</a:t>
            </a:r>
            <a:r>
              <a:rPr lang="ko-KR" altLang="en-US" sz="2400" dirty="0"/>
              <a:t>을 지정할 때 사용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0C0BD-4B21-3C11-4110-79DA70ED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1D947B-6519-2C07-7AF8-112FD98C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D6361361-588F-5854-E9A1-5EFE720F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th:value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FD04242-9B88-C4D3-0158-87002A689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830" y="2447957"/>
            <a:ext cx="8306970" cy="112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141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65CBF-C550-97CB-A7F8-6D315CE83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chemeClr val="accent1"/>
                </a:solidFill>
              </a:rPr>
              <a:t>변수 값을 지정</a:t>
            </a:r>
            <a:r>
              <a:rPr lang="ko-KR" altLang="en-US" sz="2400" dirty="0"/>
              <a:t>해서 사용하고자 할 때 사용</a:t>
            </a:r>
            <a:br>
              <a:rPr lang="en-US" altLang="ko-KR" sz="2400" dirty="0"/>
            </a:b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위와 같이 사용한다면 서버에서 전달받은 </a:t>
            </a:r>
            <a:r>
              <a:rPr lang="en-US" altLang="ko-KR" sz="2400" dirty="0"/>
              <a:t>‘hello’ </a:t>
            </a:r>
            <a:r>
              <a:rPr lang="ko-KR" altLang="en-US" sz="2400" dirty="0"/>
              <a:t>값이 저장된 </a:t>
            </a:r>
            <a:r>
              <a:rPr lang="en-US" altLang="ko-KR" sz="2400" dirty="0">
                <a:solidFill>
                  <a:schemeClr val="accent1"/>
                </a:solidFill>
              </a:rPr>
              <a:t>temp </a:t>
            </a:r>
            <a:r>
              <a:rPr lang="ko-KR" altLang="en-US" sz="2400" dirty="0">
                <a:solidFill>
                  <a:schemeClr val="accent1"/>
                </a:solidFill>
              </a:rPr>
              <a:t>라는 변수</a:t>
            </a:r>
            <a:r>
              <a:rPr lang="ko-KR" altLang="en-US" sz="2400" dirty="0"/>
              <a:t>가 만들어지고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Thymeleaf</a:t>
            </a:r>
            <a:r>
              <a:rPr lang="en-US" altLang="ko-KR" sz="2400" dirty="0"/>
              <a:t> </a:t>
            </a:r>
            <a:r>
              <a:rPr lang="ko-KR" altLang="en-US" sz="2400" dirty="0"/>
              <a:t>문법 내에서 사용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0C0BD-4B21-3C11-4110-79DA70ED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1D947B-6519-2C07-7AF8-112FD98C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D6361361-588F-5854-E9A1-5EFE720F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th:with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C880FD-14D7-63D0-6D6D-7B7FDABDA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" y="2133182"/>
            <a:ext cx="10424488" cy="75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592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65CBF-C550-97CB-A7F8-6D315CE83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chemeClr val="accent1"/>
                </a:solidFill>
              </a:rPr>
              <a:t>switch-case</a:t>
            </a:r>
            <a:r>
              <a:rPr lang="ko-KR" altLang="en-US" sz="2400" dirty="0">
                <a:solidFill>
                  <a:schemeClr val="accent1"/>
                </a:solidFill>
              </a:rPr>
              <a:t>문</a:t>
            </a:r>
            <a:r>
              <a:rPr lang="ko-KR" altLang="en-US" sz="2400" dirty="0"/>
              <a:t>을 이용할 때 사용되는 문법</a:t>
            </a:r>
            <a:endParaRPr lang="en-US" altLang="ko-KR" sz="2400" dirty="0"/>
          </a:p>
          <a:p>
            <a:r>
              <a:rPr lang="en-US" altLang="ko-KR" sz="2400" dirty="0" err="1"/>
              <a:t>th:case</a:t>
            </a:r>
            <a:r>
              <a:rPr lang="ko-KR" altLang="en-US" sz="2400" dirty="0"/>
              <a:t> 에서 </a:t>
            </a:r>
            <a:r>
              <a:rPr lang="en-US" altLang="ko-KR" sz="2400" dirty="0"/>
              <a:t>case </a:t>
            </a:r>
            <a:r>
              <a:rPr lang="ko-KR" altLang="en-US" sz="2400" dirty="0"/>
              <a:t>문을 다루고</a:t>
            </a:r>
            <a:r>
              <a:rPr lang="en-US" altLang="ko-KR" sz="2400" dirty="0"/>
              <a:t>, * </a:t>
            </a:r>
            <a:r>
              <a:rPr lang="ko-KR" altLang="en-US" sz="2400" dirty="0"/>
              <a:t>로 </a:t>
            </a:r>
            <a:r>
              <a:rPr lang="en-US" altLang="ko-KR" sz="2400" dirty="0"/>
              <a:t>case</a:t>
            </a:r>
            <a:r>
              <a:rPr lang="ko-KR" altLang="en-US" sz="2400" dirty="0"/>
              <a:t>문에서 다루지 않은 모든 경우가 처리됨</a:t>
            </a:r>
            <a:br>
              <a:rPr lang="en-US" altLang="ko-KR" sz="2400" dirty="0"/>
            </a:br>
            <a:r>
              <a:rPr lang="en-US" altLang="ko-KR" sz="2400" dirty="0"/>
              <a:t>( * </a:t>
            </a:r>
            <a:r>
              <a:rPr lang="ko-KR" altLang="en-US" sz="2400" dirty="0"/>
              <a:t>는 일반 </a:t>
            </a:r>
            <a:r>
              <a:rPr lang="en-US" altLang="ko-KR" sz="2400" dirty="0"/>
              <a:t>switch-case </a:t>
            </a:r>
            <a:r>
              <a:rPr lang="ko-KR" altLang="en-US" sz="2400" dirty="0"/>
              <a:t>문법에서의 </a:t>
            </a:r>
            <a:r>
              <a:rPr lang="en-US" altLang="ko-KR" sz="2400" dirty="0"/>
              <a:t>default )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0C0BD-4B21-3C11-4110-79DA70ED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1D947B-6519-2C07-7AF8-112FD98C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D6361361-588F-5854-E9A1-5EFE720F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th:switch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F51C991-AC64-BF00-333C-5C8B1725B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301" y="3209447"/>
            <a:ext cx="7551397" cy="234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375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65CBF-C550-97CB-A7F8-6D315CE83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chemeClr val="accent1"/>
                </a:solidFill>
              </a:rPr>
              <a:t>조건문</a:t>
            </a:r>
            <a:r>
              <a:rPr lang="ko-KR" altLang="en-US" sz="2400" dirty="0"/>
              <a:t>이 필요할 때 사용되는 문법</a:t>
            </a:r>
            <a:endParaRPr lang="en-US" altLang="ko-KR" sz="2400" dirty="0"/>
          </a:p>
          <a:p>
            <a:r>
              <a:rPr lang="en-US" altLang="ko-KR" sz="2400" dirty="0"/>
              <a:t>Else </a:t>
            </a:r>
            <a:r>
              <a:rPr lang="ko-KR" altLang="en-US" sz="2400" dirty="0"/>
              <a:t>문이 필요한 경우에는 </a:t>
            </a:r>
            <a:r>
              <a:rPr lang="en-US" altLang="ko-KR" sz="2400" dirty="0" err="1"/>
              <a:t>th:unless</a:t>
            </a:r>
            <a:r>
              <a:rPr lang="ko-KR" altLang="en-US" sz="2400" dirty="0"/>
              <a:t> 를 사용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>
                <a:solidFill>
                  <a:srgbClr val="FF0000"/>
                </a:solidFill>
              </a:rPr>
              <a:t>주의</a:t>
            </a:r>
            <a:r>
              <a:rPr lang="en-US" altLang="ko-KR" sz="2400" dirty="0">
                <a:solidFill>
                  <a:srgbClr val="FF0000"/>
                </a:solidFill>
              </a:rPr>
              <a:t>. </a:t>
            </a:r>
            <a:r>
              <a:rPr lang="en-US" altLang="ko-KR" sz="2400" dirty="0" err="1"/>
              <a:t>th:unless</a:t>
            </a:r>
            <a:r>
              <a:rPr lang="en-US" altLang="ko-KR" sz="2400" dirty="0"/>
              <a:t> </a:t>
            </a:r>
            <a:r>
              <a:rPr lang="ko-KR" altLang="en-US" sz="2400" dirty="0"/>
              <a:t>에 </a:t>
            </a:r>
            <a:r>
              <a:rPr lang="en-US" altLang="ko-KR" sz="2400" dirty="0"/>
              <a:t>if</a:t>
            </a:r>
            <a:r>
              <a:rPr lang="ko-KR" altLang="en-US" sz="2400" dirty="0"/>
              <a:t>에 적은 조건을 적어줘야 위의 </a:t>
            </a:r>
            <a:r>
              <a:rPr lang="en-US" altLang="ko-KR" sz="2400" dirty="0"/>
              <a:t>if</a:t>
            </a:r>
            <a:r>
              <a:rPr lang="ko-KR" altLang="en-US" sz="2400" dirty="0"/>
              <a:t>가 아닌 경우를 인식 가능</a:t>
            </a:r>
            <a:r>
              <a:rPr lang="en-US" altLang="ko-KR" sz="2400" dirty="0"/>
              <a:t>!!</a:t>
            </a:r>
            <a:endParaRPr lang="en-US" altLang="ko-KR" sz="2400" dirty="0">
              <a:solidFill>
                <a:srgbClr val="FF0000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0C0BD-4B21-3C11-4110-79DA70ED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1D947B-6519-2C07-7AF8-112FD98C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D6361361-588F-5854-E9A1-5EFE720F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th:if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6EB173C-5DF9-5F87-509B-B590B7FFC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660" y="2693891"/>
            <a:ext cx="9660740" cy="95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2304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65CBF-C550-97CB-A7F8-6D315CE83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chemeClr val="accent1"/>
                </a:solidFill>
              </a:rPr>
              <a:t>반복문</a:t>
            </a:r>
            <a:r>
              <a:rPr lang="ko-KR" altLang="en-US" sz="2400" dirty="0"/>
              <a:t>이 필요한 경우에 사용되는 문법</a:t>
            </a:r>
            <a:endParaRPr lang="en-US" altLang="ko-KR" sz="2400" dirty="0"/>
          </a:p>
          <a:p>
            <a:r>
              <a:rPr lang="ko-KR" altLang="en-US" sz="2400" dirty="0"/>
              <a:t>리스트와 같은 </a:t>
            </a:r>
            <a:r>
              <a:rPr lang="en-US" altLang="ko-KR" sz="2400" dirty="0">
                <a:solidFill>
                  <a:schemeClr val="accent1"/>
                </a:solidFill>
              </a:rPr>
              <a:t>collection </a:t>
            </a:r>
            <a:r>
              <a:rPr lang="ko-KR" altLang="en-US" sz="2400" dirty="0">
                <a:solidFill>
                  <a:schemeClr val="accent1"/>
                </a:solidFill>
              </a:rPr>
              <a:t>자료형</a:t>
            </a:r>
            <a:r>
              <a:rPr lang="ko-KR" altLang="en-US" sz="2400" dirty="0"/>
              <a:t>을 서버에서 넘겨주면 그에 맞춰 반복적인 작업이 이루어질 때 사용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0C0BD-4B21-3C11-4110-79DA70ED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1D947B-6519-2C07-7AF8-112FD98C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D6361361-588F-5854-E9A1-5EFE720F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th:each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F30E5E9-1E54-9DC8-4BEE-F5646DAE8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458" y="3174354"/>
            <a:ext cx="1814390" cy="231624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E5C0A8F-BDAD-5830-0192-7A56C1CDF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690" y="4037133"/>
            <a:ext cx="5082658" cy="183806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6CC2247-FFCA-F48E-FFBD-A621F2FA2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492" y="2906811"/>
            <a:ext cx="7095856" cy="99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908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B6A0-5881-4C94-A111-1377FD6F27E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2F9AC37-0BC5-31A8-C833-E2C1B928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en-US" altLang="ko-KR" dirty="0" err="1"/>
              <a:t>Thymeleaf</a:t>
            </a:r>
            <a:r>
              <a:rPr lang="en-US" altLang="ko-KR" dirty="0"/>
              <a:t> (1)</a:t>
            </a:r>
            <a:endParaRPr lang="ko-KR" altLang="en-US" dirty="0"/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3BF53696-6F76-341C-98DD-64D464965B70}"/>
              </a:ext>
            </a:extLst>
          </p:cNvPr>
          <p:cNvSpPr txBox="1">
            <a:spLocks/>
          </p:cNvSpPr>
          <p:nvPr/>
        </p:nvSpPr>
        <p:spPr>
          <a:xfrm>
            <a:off x="662893" y="1325563"/>
            <a:ext cx="10866214" cy="420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altLang="ko-KR" sz="2400" dirty="0"/>
              <a:t>Controller</a:t>
            </a:r>
            <a:r>
              <a:rPr lang="ko-KR" altLang="en-US" sz="2400" dirty="0"/>
              <a:t>에서 </a:t>
            </a:r>
            <a:r>
              <a:rPr lang="en-US" altLang="ko-KR" sz="2400" dirty="0"/>
              <a:t>age</a:t>
            </a:r>
            <a:r>
              <a:rPr lang="ko-KR" altLang="en-US" sz="2400" dirty="0"/>
              <a:t>를 보냈을 때 </a:t>
            </a:r>
            <a:r>
              <a:rPr lang="en-US" altLang="ko-KR" sz="2400" dirty="0"/>
              <a:t>20</a:t>
            </a:r>
            <a:r>
              <a:rPr lang="ko-KR" altLang="en-US" sz="2400" dirty="0"/>
              <a:t>세보다 적으면 아래와 같이 출력</a:t>
            </a:r>
            <a:endParaRPr lang="en-US" altLang="ko-KR" sz="2400" dirty="0"/>
          </a:p>
          <a:p>
            <a:pPr marL="514350" indent="-514350">
              <a:buAutoNum type="arabicPeriod"/>
            </a:pPr>
            <a:endParaRPr lang="en-US" altLang="ko-KR" sz="2400" dirty="0"/>
          </a:p>
          <a:p>
            <a:pPr marL="514350" indent="-514350">
              <a:buAutoNum type="arabicPeriod"/>
            </a:pPr>
            <a:endParaRPr lang="en-US" altLang="ko-KR" sz="2400" dirty="0"/>
          </a:p>
          <a:p>
            <a:pPr marL="514350" indent="-514350">
              <a:buAutoNum type="arabicPeriod"/>
            </a:pPr>
            <a:r>
              <a:rPr lang="en-US" altLang="ko-KR" sz="2400" dirty="0"/>
              <a:t>Age</a:t>
            </a:r>
            <a:r>
              <a:rPr lang="ko-KR" altLang="en-US" sz="2400" dirty="0"/>
              <a:t>가 </a:t>
            </a:r>
            <a:r>
              <a:rPr lang="en-US" altLang="ko-KR" sz="2400" dirty="0"/>
              <a:t>20</a:t>
            </a:r>
            <a:r>
              <a:rPr lang="ko-KR" altLang="en-US" sz="2400" dirty="0"/>
              <a:t>보다 크다면 아래와 같이 출력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C1D8F7-2800-50C7-48D0-AB24BB7FDD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86" t="18450" b="20377"/>
          <a:stretch/>
        </p:blipFill>
        <p:spPr>
          <a:xfrm>
            <a:off x="6369978" y="3863800"/>
            <a:ext cx="5054886" cy="84784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5B0A9D-8EF2-E89F-5679-4C19B6E8DB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70" t="12790" r="13014" b="32103"/>
          <a:stretch/>
        </p:blipFill>
        <p:spPr>
          <a:xfrm>
            <a:off x="6369977" y="2068674"/>
            <a:ext cx="5445303" cy="84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395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B6A0-5881-4C94-A111-1377FD6F27E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2F9AC37-0BC5-31A8-C833-E2C1B928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en-US" altLang="ko-KR" dirty="0" err="1"/>
              <a:t>Thymeleaf</a:t>
            </a:r>
            <a:r>
              <a:rPr lang="en-US" altLang="ko-KR" dirty="0"/>
              <a:t> (2)</a:t>
            </a:r>
            <a:endParaRPr lang="ko-KR" altLang="en-US" dirty="0"/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3BF53696-6F76-341C-98DD-64D464965B70}"/>
              </a:ext>
            </a:extLst>
          </p:cNvPr>
          <p:cNvSpPr txBox="1">
            <a:spLocks/>
          </p:cNvSpPr>
          <p:nvPr/>
        </p:nvSpPr>
        <p:spPr>
          <a:xfrm>
            <a:off x="662893" y="1565213"/>
            <a:ext cx="10866214" cy="3967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altLang="ko-KR" sz="2400" dirty="0"/>
              <a:t>Controller</a:t>
            </a:r>
            <a:r>
              <a:rPr lang="ko-KR" altLang="en-US" sz="2400" dirty="0"/>
              <a:t>에서 </a:t>
            </a:r>
            <a:r>
              <a:rPr lang="en-US" altLang="ko-KR" sz="2400" dirty="0"/>
              <a:t>name</a:t>
            </a:r>
            <a:r>
              <a:rPr lang="ko-KR" altLang="en-US" sz="2400" dirty="0"/>
              <a:t>과 </a:t>
            </a:r>
            <a:r>
              <a:rPr lang="en-US" altLang="ko-KR" sz="2400" dirty="0"/>
              <a:t>age </a:t>
            </a:r>
            <a:r>
              <a:rPr lang="ko-KR" altLang="en-US" sz="2400" dirty="0"/>
              <a:t>정보를 갖고 있는 </a:t>
            </a:r>
            <a:r>
              <a:rPr lang="en-US" altLang="ko-KR" sz="2400" dirty="0"/>
              <a:t>Person </a:t>
            </a:r>
            <a:r>
              <a:rPr lang="ko-KR" altLang="en-US" sz="2400" dirty="0"/>
              <a:t>클래스 만들기</a:t>
            </a:r>
            <a:endParaRPr lang="en-US" altLang="ko-KR" sz="2400" dirty="0"/>
          </a:p>
          <a:p>
            <a:pPr marL="514350" indent="-514350">
              <a:buAutoNum type="arabicPeriod"/>
            </a:pPr>
            <a:r>
              <a:rPr lang="en-US" altLang="ko-KR" sz="2400" dirty="0" err="1"/>
              <a:t>ArrayList</a:t>
            </a:r>
            <a:r>
              <a:rPr lang="ko-KR" altLang="en-US" sz="2400" dirty="0"/>
              <a:t>에 각기 다른 정보를 갖고 있는 </a:t>
            </a:r>
            <a:r>
              <a:rPr lang="en-US" altLang="ko-KR" sz="2400" dirty="0"/>
              <a:t>Person </a:t>
            </a:r>
            <a:r>
              <a:rPr lang="ko-KR" altLang="en-US" sz="2400" dirty="0"/>
              <a:t>최소 </a:t>
            </a:r>
            <a:r>
              <a:rPr lang="en-US" altLang="ko-KR" sz="2400" dirty="0"/>
              <a:t>4</a:t>
            </a:r>
            <a:r>
              <a:rPr lang="ko-KR" altLang="en-US" sz="2400" dirty="0"/>
              <a:t>개 넣기</a:t>
            </a:r>
            <a:endParaRPr lang="en-US" altLang="ko-KR" sz="2400" dirty="0"/>
          </a:p>
          <a:p>
            <a:pPr marL="514350" indent="-514350">
              <a:buAutoNum type="arabicPeriod"/>
            </a:pPr>
            <a:r>
              <a:rPr lang="en-US" altLang="ko-KR" sz="2400" dirty="0">
                <a:hlinkClick r:id="rId3"/>
              </a:rPr>
              <a:t>http://localhost:8080/people</a:t>
            </a:r>
            <a:r>
              <a:rPr lang="en-US" altLang="ko-KR" sz="2400" dirty="0"/>
              <a:t> </a:t>
            </a:r>
            <a:r>
              <a:rPr lang="ko-KR" altLang="en-US" sz="2400" dirty="0"/>
              <a:t>에 접속했을 때 최소 </a:t>
            </a:r>
            <a:r>
              <a:rPr lang="en-US" altLang="ko-KR" sz="2400" dirty="0"/>
              <a:t>4</a:t>
            </a:r>
            <a:r>
              <a:rPr lang="ko-KR" altLang="en-US" sz="2400" dirty="0"/>
              <a:t>명의 사람에 대한 이름과 나이를 </a:t>
            </a:r>
            <a:r>
              <a:rPr lang="en-US" altLang="ko-KR" sz="2400" dirty="0"/>
              <a:t>table </a:t>
            </a:r>
            <a:r>
              <a:rPr lang="ko-KR" altLang="en-US" sz="2400" dirty="0"/>
              <a:t>로 보여주기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456D411-757F-C0C5-7C76-78515FF5D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3464" y="3500919"/>
            <a:ext cx="1396053" cy="245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994917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6372</TotalTime>
  <Words>2110</Words>
  <Application>Microsoft Office PowerPoint</Application>
  <PresentationFormat>와이드스크린</PresentationFormat>
  <Paragraphs>359</Paragraphs>
  <Slides>42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9" baseType="lpstr">
      <vt:lpstr>JetBrains Mono</vt:lpstr>
      <vt:lpstr>Noto Sans KR</vt:lpstr>
      <vt:lpstr>Pretendard</vt:lpstr>
      <vt:lpstr>Pretendard GOV</vt:lpstr>
      <vt:lpstr>맑은 고딕</vt:lpstr>
      <vt:lpstr>Arial</vt:lpstr>
      <vt:lpstr>3_Office 테마</vt:lpstr>
      <vt:lpstr>웹 개발자 부트캠프 과정</vt:lpstr>
      <vt:lpstr>Spring Boot 프로젝트 생성하기</vt:lpstr>
      <vt:lpstr>Spring Boot 프로젝트 시작하기</vt:lpstr>
      <vt:lpstr>Spring Boot 프로젝트 시작하기</vt:lpstr>
      <vt:lpstr>PowerPoint 프레젠테이션</vt:lpstr>
      <vt:lpstr>프로젝트 압축 파일 프로젝트 경로로 옮기기</vt:lpstr>
      <vt:lpstr>IntelliJ 에서 프로젝트 열기</vt:lpstr>
      <vt:lpstr>IntelliJ 에서 프로젝트 열기</vt:lpstr>
      <vt:lpstr>프로젝트 실행하기</vt:lpstr>
      <vt:lpstr>잠깐! Apache Tomcat 이란?</vt:lpstr>
      <vt:lpstr>참고. 내장 AP 서버 (Embeded AP Server)</vt:lpstr>
      <vt:lpstr>브라우저 접속하기</vt:lpstr>
      <vt:lpstr>참고. 서버 포트번호 변경하기</vt:lpstr>
      <vt:lpstr>참고. application.properties 파일</vt:lpstr>
      <vt:lpstr>프로젝트 구조 살펴보기</vt:lpstr>
      <vt:lpstr>Spring MVC</vt:lpstr>
      <vt:lpstr>복습. MVC 패턴</vt:lpstr>
      <vt:lpstr>Spring MVC</vt:lpstr>
      <vt:lpstr>참고. Servlet</vt:lpstr>
      <vt:lpstr>참고. Servlet Filter</vt:lpstr>
      <vt:lpstr>정적 파일</vt:lpstr>
      <vt:lpstr>실행 화면 보여주기</vt:lpstr>
      <vt:lpstr>정적 파일</vt:lpstr>
      <vt:lpstr>Thymeleaf 템플릿</vt:lpstr>
      <vt:lpstr>Thymeleaf 란?</vt:lpstr>
      <vt:lpstr>Controller 클래스 생성</vt:lpstr>
      <vt:lpstr>Controller 클래스 생성</vt:lpstr>
      <vt:lpstr>Template View 생성</vt:lpstr>
      <vt:lpstr>Template View 생성</vt:lpstr>
      <vt:lpstr>Spring Boot 동작 환경</vt:lpstr>
      <vt:lpstr>Thymeleaf 표현식과 문법</vt:lpstr>
      <vt:lpstr>Thymeleaf 표현식</vt:lpstr>
      <vt:lpstr>Thymeleaf 문법</vt:lpstr>
      <vt:lpstr>th:text</vt:lpstr>
      <vt:lpstr>th:utext</vt:lpstr>
      <vt:lpstr>th:value</vt:lpstr>
      <vt:lpstr>th:with</vt:lpstr>
      <vt:lpstr>th:switch</vt:lpstr>
      <vt:lpstr>th:if</vt:lpstr>
      <vt:lpstr>th:each</vt:lpstr>
      <vt:lpstr>실습. Thymeleaf (1)</vt:lpstr>
      <vt:lpstr>실습. Thymeleaf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1432</cp:revision>
  <dcterms:created xsi:type="dcterms:W3CDTF">2022-06-26T11:10:22Z</dcterms:created>
  <dcterms:modified xsi:type="dcterms:W3CDTF">2024-07-15T03:20:33Z</dcterms:modified>
</cp:coreProperties>
</file>