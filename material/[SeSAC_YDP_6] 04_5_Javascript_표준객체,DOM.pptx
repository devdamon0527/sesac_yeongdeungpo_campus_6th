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7" r:id="rId1"/>
  </p:sldMasterIdLst>
  <p:notesMasterIdLst>
    <p:notesMasterId r:id="rId58"/>
  </p:notesMasterIdLst>
  <p:sldIdLst>
    <p:sldId id="361" r:id="rId2"/>
    <p:sldId id="291" r:id="rId3"/>
    <p:sldId id="366" r:id="rId4"/>
    <p:sldId id="321" r:id="rId5"/>
    <p:sldId id="324" r:id="rId6"/>
    <p:sldId id="367" r:id="rId7"/>
    <p:sldId id="328" r:id="rId8"/>
    <p:sldId id="329" r:id="rId9"/>
    <p:sldId id="322" r:id="rId10"/>
    <p:sldId id="327" r:id="rId11"/>
    <p:sldId id="330" r:id="rId12"/>
    <p:sldId id="331" r:id="rId13"/>
    <p:sldId id="363" r:id="rId14"/>
    <p:sldId id="352" r:id="rId15"/>
    <p:sldId id="353" r:id="rId16"/>
    <p:sldId id="338" r:id="rId17"/>
    <p:sldId id="339" r:id="rId18"/>
    <p:sldId id="354" r:id="rId19"/>
    <p:sldId id="374" r:id="rId20"/>
    <p:sldId id="375" r:id="rId21"/>
    <p:sldId id="364" r:id="rId22"/>
    <p:sldId id="371" r:id="rId23"/>
    <p:sldId id="370" r:id="rId24"/>
    <p:sldId id="355" r:id="rId25"/>
    <p:sldId id="343" r:id="rId26"/>
    <p:sldId id="344" r:id="rId27"/>
    <p:sldId id="365" r:id="rId28"/>
    <p:sldId id="356" r:id="rId29"/>
    <p:sldId id="347" r:id="rId30"/>
    <p:sldId id="372" r:id="rId31"/>
    <p:sldId id="357" r:id="rId32"/>
    <p:sldId id="264" r:id="rId33"/>
    <p:sldId id="262" r:id="rId34"/>
    <p:sldId id="267" r:id="rId35"/>
    <p:sldId id="368" r:id="rId36"/>
    <p:sldId id="273" r:id="rId37"/>
    <p:sldId id="269" r:id="rId38"/>
    <p:sldId id="274" r:id="rId39"/>
    <p:sldId id="275" r:id="rId40"/>
    <p:sldId id="376" r:id="rId41"/>
    <p:sldId id="377" r:id="rId42"/>
    <p:sldId id="358" r:id="rId43"/>
    <p:sldId id="276" r:id="rId44"/>
    <p:sldId id="277" r:id="rId45"/>
    <p:sldId id="359" r:id="rId46"/>
    <p:sldId id="278" r:id="rId47"/>
    <p:sldId id="369" r:id="rId48"/>
    <p:sldId id="378" r:id="rId49"/>
    <p:sldId id="373" r:id="rId50"/>
    <p:sldId id="280" r:id="rId51"/>
    <p:sldId id="281" r:id="rId52"/>
    <p:sldId id="282" r:id="rId53"/>
    <p:sldId id="379" r:id="rId54"/>
    <p:sldId id="380" r:id="rId55"/>
    <p:sldId id="381" r:id="rId56"/>
    <p:sldId id="382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EC173"/>
    <a:srgbClr val="F99F2C"/>
    <a:srgbClr val="F9A13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36" autoAdjust="0"/>
    <p:restoredTop sz="72154" autoAdjust="0"/>
  </p:normalViewPr>
  <p:slideViewPr>
    <p:cSldViewPr snapToGrid="0">
      <p:cViewPr varScale="1">
        <p:scale>
          <a:sx n="79" d="100"/>
          <a:sy n="79" d="100"/>
        </p:scale>
        <p:origin x="1020" y="64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217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F3F159-7250-4DD4-91C2-13B35D56E1AF}" type="datetimeFigureOut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9E5BFC-1559-42F1-8940-AB342D56BF0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04593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935742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</a:t>
            </a:r>
            <a:r>
              <a:rPr lang="ko-KR" altLang="en-US" baseline="0" dirty="0"/>
              <a:t>체 복습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53076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복습 해보겠습니다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JS</a:t>
            </a:r>
            <a:r>
              <a:rPr lang="ko-KR" altLang="en-US" dirty="0"/>
              <a:t> 자료형에는 </a:t>
            </a:r>
            <a:r>
              <a:rPr lang="en-US" altLang="ko-KR" dirty="0"/>
              <a:t>2</a:t>
            </a:r>
            <a:r>
              <a:rPr lang="ko-KR" altLang="en-US" dirty="0"/>
              <a:t>가지 종류가 있죠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en-US" altLang="ko-KR" dirty="0" err="1"/>
              <a:t>Primtive</a:t>
            </a:r>
            <a:r>
              <a:rPr lang="en-US" altLang="ko-KR" dirty="0"/>
              <a:t> </a:t>
            </a:r>
            <a:r>
              <a:rPr lang="ko-KR" altLang="en-US" dirty="0"/>
              <a:t>원시형</a:t>
            </a:r>
            <a:endParaRPr lang="en-US" altLang="ko-KR" dirty="0"/>
          </a:p>
          <a:p>
            <a:r>
              <a:rPr lang="en-US" altLang="ko-KR" dirty="0"/>
              <a:t>Object </a:t>
            </a:r>
            <a:r>
              <a:rPr lang="ko-KR" altLang="en-US" dirty="0"/>
              <a:t>객체형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57328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Primitive </a:t>
            </a:r>
            <a:r>
              <a:rPr lang="ko-KR" altLang="en-US" dirty="0"/>
              <a:t>원시타입에는</a:t>
            </a:r>
            <a:endParaRPr lang="en-US" altLang="ko-KR" dirty="0"/>
          </a:p>
          <a:p>
            <a:r>
              <a:rPr lang="ko-KR" altLang="en-US" dirty="0"/>
              <a:t>이렇게 </a:t>
            </a:r>
            <a:r>
              <a:rPr lang="en-US" altLang="ko-KR" dirty="0"/>
              <a:t>~ </a:t>
            </a:r>
            <a:r>
              <a:rPr lang="ko-KR" altLang="en-US" dirty="0"/>
              <a:t>있었다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119080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 자료형은</a:t>
            </a:r>
            <a:endParaRPr lang="en-US" altLang="ko-KR" dirty="0"/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 </a:t>
            </a:r>
            <a:r>
              <a:rPr lang="ko-KR" altLang="en-US" dirty="0"/>
              <a:t>또는</a:t>
            </a:r>
            <a:r>
              <a:rPr lang="en-US" altLang="ko-KR" dirty="0"/>
              <a:t> </a:t>
            </a:r>
            <a:r>
              <a:rPr lang="ko-KR" altLang="en-US" dirty="0"/>
              <a:t>참조타입이라고 부른다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키와 값으로 </a:t>
            </a:r>
            <a:r>
              <a:rPr lang="ko-KR" altLang="en-US" dirty="0" err="1"/>
              <a:t>구성되있습니다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 err="1"/>
              <a:t>메서드란</a:t>
            </a:r>
            <a:r>
              <a:rPr lang="ko-KR" altLang="en-US" dirty="0"/>
              <a:t> 일반 함수와 구분하기 위한 용어</a:t>
            </a:r>
            <a:endParaRPr lang="en-US" altLang="ko-KR" dirty="0"/>
          </a:p>
          <a:p>
            <a:r>
              <a:rPr lang="ko-KR" altLang="en-US" dirty="0"/>
              <a:t>메서드는 객체에 제한되어 있는 함수를 의미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ko-KR" altLang="en-US" sz="1200" b="0" kern="1200" dirty="0">
              <a:solidFill>
                <a:schemeClr val="tx1"/>
              </a:solidFill>
              <a:effectLst/>
              <a:cs typeface="+mn-cs"/>
            </a:endParaRPr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속성 </a:t>
            </a:r>
            <a:r>
              <a:rPr lang="en-US" altLang="ko-KR" sz="1200" dirty="0"/>
              <a:t>: </a:t>
            </a:r>
            <a:r>
              <a:rPr lang="ko-KR" altLang="en-US" sz="1200" dirty="0"/>
              <a:t>객체의 상태나 데이터를 나타냄 </a:t>
            </a:r>
            <a:r>
              <a:rPr lang="en-US" altLang="ko-KR" sz="1200" dirty="0"/>
              <a:t>/ </a:t>
            </a:r>
            <a:r>
              <a:rPr lang="ko-KR" altLang="en-US" sz="1200" dirty="0"/>
              <a:t>객체의 특징이나 특성 정의</a:t>
            </a:r>
            <a:endParaRPr lang="en-US" altLang="ko-KR" sz="1200" dirty="0"/>
          </a:p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dirty="0"/>
              <a:t>메서드 </a:t>
            </a:r>
            <a:r>
              <a:rPr lang="en-US" altLang="ko-KR" sz="1200" dirty="0"/>
              <a:t>: </a:t>
            </a:r>
            <a:r>
              <a:rPr lang="ko-KR" altLang="en-US" sz="1200" dirty="0"/>
              <a:t>객체가 수행하는 동작을 정의</a:t>
            </a:r>
            <a:r>
              <a:rPr lang="en-US" altLang="ko-KR" sz="1200" dirty="0"/>
              <a:t> / </a:t>
            </a:r>
            <a:r>
              <a:rPr lang="ko-KR" altLang="en-US" sz="1200" dirty="0"/>
              <a:t>객체의 속성을 변경하거나 특정 작업 수행</a:t>
            </a:r>
            <a:endParaRPr lang="en-US" altLang="ko-KR" sz="1200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828871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39331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이것을 코딩으로 바꾸면 이렇게 표현할 수 있겠죠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18605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코드로 넘어가기 </a:t>
            </a:r>
            <a:r>
              <a:rPr lang="ko-KR" altLang="en-US" dirty="0" err="1"/>
              <a:t>ㄱ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주소 </a:t>
            </a:r>
            <a:r>
              <a:rPr lang="ko-KR" altLang="en-US" dirty="0" err="1"/>
              <a:t>참조값</a:t>
            </a:r>
            <a:r>
              <a:rPr lang="ko-KR" altLang="en-US" dirty="0"/>
              <a:t> 이해 안되면 오른손</a:t>
            </a:r>
            <a:r>
              <a:rPr lang="en-US" altLang="ko-KR" dirty="0"/>
              <a:t>, </a:t>
            </a:r>
            <a:r>
              <a:rPr lang="ko-KR" altLang="en-US" dirty="0"/>
              <a:t>왼손으로 설명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907872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객체를 생성하는 방법 중 배열 생성방법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[],</a:t>
            </a:r>
            <a:r>
              <a:rPr lang="ko-KR" altLang="en-US" dirty="0"/>
              <a:t> </a:t>
            </a:r>
            <a:r>
              <a:rPr lang="en-US" altLang="ko-KR" dirty="0" err="1"/>
              <a:t>newArray</a:t>
            </a:r>
            <a:r>
              <a:rPr lang="en-US" altLang="ko-KR" dirty="0"/>
              <a:t>() </a:t>
            </a:r>
            <a:r>
              <a:rPr lang="ko-KR" altLang="en-US" dirty="0"/>
              <a:t>사용하여 배열 생성</a:t>
            </a:r>
            <a:r>
              <a:rPr lang="en-US" altLang="ko-KR" dirty="0"/>
              <a:t> – new Array</a:t>
            </a:r>
            <a:r>
              <a:rPr lang="ko-KR" altLang="en-US" dirty="0"/>
              <a:t>는 내장 함수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r>
              <a:rPr lang="en-US" altLang="ko-KR" dirty="0"/>
              <a:t>New Array() : </a:t>
            </a:r>
            <a:r>
              <a:rPr lang="ko-KR" altLang="en-US" dirty="0"/>
              <a:t>생성자 함수 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178800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배웠던 배열의 </a:t>
            </a:r>
            <a:r>
              <a:rPr lang="ko-KR" altLang="en-US" dirty="0" err="1"/>
              <a:t>내장메소드를</a:t>
            </a:r>
            <a:r>
              <a:rPr lang="ko-KR" altLang="en-US" dirty="0"/>
              <a:t> 이용하면 됩니다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08834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배열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([])</a:t>
            </a:r>
          </a:p>
          <a:p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객체 </a:t>
            </a:r>
            <a:r>
              <a:rPr lang="ko-KR" altLang="en-US" dirty="0" err="1"/>
              <a:t>리터럴</a:t>
            </a:r>
            <a:r>
              <a:rPr lang="ko-KR" altLang="en-US" dirty="0"/>
              <a:t> </a:t>
            </a:r>
            <a:r>
              <a:rPr lang="en-US" altLang="ko-KR" dirty="0"/>
              <a:t>= {} </a:t>
            </a:r>
            <a:r>
              <a:rPr lang="ko-KR" altLang="en-US" dirty="0"/>
              <a:t>중괄호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 err="1"/>
              <a:t>리터럴은</a:t>
            </a:r>
            <a:r>
              <a:rPr lang="ko-KR" altLang="en-US" dirty="0"/>
              <a:t>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소스 코드에서 값을 생성하는 표기법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dirty="0"/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템플릿 </a:t>
            </a:r>
            <a:r>
              <a:rPr lang="ko-KR" altLang="en-US" b="0" dirty="0" err="1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리터럴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(= </a:t>
            </a:r>
            <a:r>
              <a:rPr lang="ko-KR" altLang="en-US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문자를 표현하는 새로운 문법</a:t>
            </a:r>
            <a:r>
              <a:rPr lang="en-US" altLang="ko-KR" b="0" dirty="0">
                <a:solidFill>
                  <a:srgbClr val="6A9955"/>
                </a:solidFill>
                <a:effectLst/>
                <a:highlight>
                  <a:srgbClr val="1F1F1F"/>
                </a:highlight>
                <a:latin typeface="Consolas" panose="020B0609020204030204" pitchFamily="49" charset="0"/>
              </a:rPr>
              <a:t>) </a:t>
            </a:r>
            <a:endParaRPr lang="ko-KR" altLang="en-US" b="0" dirty="0">
              <a:solidFill>
                <a:srgbClr val="CCCCCC"/>
              </a:solidFill>
              <a:effectLst/>
              <a:highlight>
                <a:srgbClr val="1F1F1F"/>
              </a:highlight>
              <a:latin typeface="Consolas" panose="020B0609020204030204" pitchFamily="49" charset="0"/>
            </a:endParaRPr>
          </a:p>
          <a:p>
            <a:endParaRPr lang="en-US" altLang="ko-KR" dirty="0"/>
          </a:p>
          <a:p>
            <a:r>
              <a:rPr lang="ko-KR" altLang="en-US" dirty="0" err="1"/>
              <a:t>딕셔너리는</a:t>
            </a:r>
            <a:r>
              <a:rPr lang="ko-KR" altLang="en-US" dirty="0"/>
              <a:t> 키와 값의 쌍으로 이루어진 데이터 구조를 의미</a:t>
            </a:r>
            <a:r>
              <a:rPr lang="en-US" altLang="ko-KR" dirty="0"/>
              <a:t>. </a:t>
            </a:r>
            <a:r>
              <a:rPr lang="ko-KR" altLang="en-US" dirty="0"/>
              <a:t>객체를 </a:t>
            </a:r>
            <a:r>
              <a:rPr lang="ko-KR" altLang="en-US" dirty="0" err="1"/>
              <a:t>딕셔너리라고도</a:t>
            </a:r>
            <a:r>
              <a:rPr lang="ko-KR" altLang="en-US" dirty="0"/>
              <a:t> 한다</a:t>
            </a:r>
            <a:r>
              <a:rPr lang="en-US" altLang="ko-KR" dirty="0"/>
              <a:t>~ </a:t>
            </a:r>
            <a:r>
              <a:rPr lang="ko-KR" altLang="en-US" dirty="0"/>
              <a:t>정도</a:t>
            </a:r>
            <a:endParaRPr lang="en-US" altLang="ko-KR" dirty="0"/>
          </a:p>
          <a:p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JavaScript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객체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(Object)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는 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(key)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와 값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(value)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의 쌍으로 이루어진 컬렉션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유연한 자료구조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ui-sans-serif"/>
            </a:endParaRPr>
          </a:p>
          <a:p>
            <a:endParaRPr lang="en-US" altLang="ko-KR" dirty="0"/>
          </a:p>
          <a:p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파이썬의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딕셔너리와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 유사한 역할을 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ui-sans-serif"/>
              </a:rPr>
              <a:t>.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3903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66911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19290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19115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이런게</a:t>
            </a:r>
            <a:r>
              <a:rPr lang="ko-KR" altLang="en-US" dirty="0"/>
              <a:t> 있습니다</a:t>
            </a:r>
            <a:r>
              <a:rPr lang="en-US" altLang="ko-KR" dirty="0"/>
              <a:t>. </a:t>
            </a:r>
            <a:r>
              <a:rPr lang="ko-KR" altLang="en-US" dirty="0"/>
              <a:t>눈으로 </a:t>
            </a:r>
            <a:r>
              <a:rPr lang="ko-KR" altLang="en-US" dirty="0" err="1"/>
              <a:t>보는것</a:t>
            </a:r>
            <a:r>
              <a:rPr lang="ko-KR" altLang="en-US" dirty="0"/>
              <a:t> 보다 </a:t>
            </a:r>
            <a:r>
              <a:rPr lang="ko-KR" altLang="en-US" dirty="0" err="1"/>
              <a:t>해보는게</a:t>
            </a:r>
            <a:r>
              <a:rPr lang="ko-KR" altLang="en-US" dirty="0"/>
              <a:t> 이해가 잘 되겠죠</a:t>
            </a:r>
            <a:r>
              <a:rPr lang="en-US" altLang="ko-KR" dirty="0"/>
              <a:t>? </a:t>
            </a:r>
            <a:r>
              <a:rPr lang="ko-KR" altLang="en-US" dirty="0"/>
              <a:t>이따가 같이 </a:t>
            </a:r>
            <a:r>
              <a:rPr lang="ko-KR" altLang="en-US" dirty="0" err="1"/>
              <a:t>해볼겁니다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719695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847972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자연로그의 밑 값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e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를 나타내며 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2.718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en-US" altLang="ko-KR" b="1" i="0" dirty="0" err="1">
                <a:solidFill>
                  <a:srgbClr val="1B1B1B"/>
                </a:solidFill>
                <a:effectLst/>
                <a:latin typeface="Inter"/>
              </a:rPr>
              <a:t>Math.PI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 속성은 원의 둘레와 지름의 비율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, 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약 </a:t>
            </a:r>
            <a:r>
              <a:rPr lang="en-US" altLang="ko-KR" b="0" i="0" dirty="0">
                <a:solidFill>
                  <a:srgbClr val="1B1B1B"/>
                </a:solidFill>
                <a:effectLst/>
                <a:latin typeface="Inter"/>
              </a:rPr>
              <a:t>3.14159</a:t>
            </a:r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의 값</a:t>
            </a:r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endParaRPr lang="en-US" altLang="ko-KR" b="0" i="0" dirty="0">
              <a:solidFill>
                <a:srgbClr val="1B1B1B"/>
              </a:solidFill>
              <a:effectLst/>
              <a:latin typeface="Inter"/>
            </a:endParaRPr>
          </a:p>
          <a:p>
            <a:r>
              <a:rPr lang="ko-KR" altLang="en-US" b="0" i="0" dirty="0">
                <a:solidFill>
                  <a:srgbClr val="1B1B1B"/>
                </a:solidFill>
                <a:effectLst/>
                <a:latin typeface="Inter"/>
              </a:rPr>
              <a:t>코드로 </a:t>
            </a:r>
            <a:r>
              <a:rPr lang="ko-KR" altLang="en-US" b="0" i="0" dirty="0" err="1">
                <a:solidFill>
                  <a:srgbClr val="1B1B1B"/>
                </a:solidFill>
                <a:effectLst/>
                <a:latin typeface="Inter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17865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24176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75994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JS</a:t>
            </a:r>
            <a:r>
              <a:rPr lang="ko-KR" altLang="en-US" dirty="0"/>
              <a:t> 는 웹 문서를 제어하기 위해 만들어진 </a:t>
            </a:r>
            <a:r>
              <a:rPr lang="ko-KR" altLang="en-US" dirty="0" err="1"/>
              <a:t>언어에요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218941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먼저 렌더링이라는 용어에 대해 이해를 해보자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018066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브라우저로 </a:t>
            </a:r>
            <a:r>
              <a:rPr lang="en-US" altLang="ko-KR" dirty="0"/>
              <a:t>HTML </a:t>
            </a:r>
            <a:r>
              <a:rPr lang="ko-KR" altLang="en-US" dirty="0"/>
              <a:t>파일을 열게 되면 렌더링 엔진이 </a:t>
            </a:r>
            <a:r>
              <a:rPr lang="en-US" altLang="ko-KR" dirty="0"/>
              <a:t>HTML </a:t>
            </a:r>
            <a:r>
              <a:rPr lang="ko-KR" altLang="en-US" dirty="0"/>
              <a:t>언어로 작성된 코드를 한 줄 한 줄 읽고 문서를 객체화 시킴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413992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 객체화 된 모습이 </a:t>
            </a:r>
            <a:r>
              <a:rPr lang="en-US" altLang="ko-KR" dirty="0"/>
              <a:t>DOM</a:t>
            </a:r>
          </a:p>
          <a:p>
            <a:r>
              <a:rPr lang="en-US" altLang="ko-KR" dirty="0"/>
              <a:t>-&gt; </a:t>
            </a:r>
            <a:r>
              <a:rPr lang="ko-KR" altLang="en-US" dirty="0"/>
              <a:t>스크립트 언어로 </a:t>
            </a:r>
            <a:r>
              <a:rPr lang="en-US" altLang="ko-KR" dirty="0"/>
              <a:t>html </a:t>
            </a:r>
            <a:r>
              <a:rPr lang="ko-KR" altLang="en-US" dirty="0"/>
              <a:t>요소를 제어 할 수 있도록 웹 문서를 객체화 한 것을 말함 </a:t>
            </a:r>
            <a:r>
              <a:rPr lang="en-US" altLang="ko-KR" dirty="0"/>
              <a:t>(=</a:t>
            </a:r>
            <a:r>
              <a:rPr lang="ko-KR" altLang="en-US" dirty="0"/>
              <a:t>설계도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아직 </a:t>
            </a:r>
            <a:r>
              <a:rPr lang="ko-KR" altLang="en-US" dirty="0" err="1"/>
              <a:t>무슨말인지</a:t>
            </a:r>
            <a:r>
              <a:rPr lang="ko-KR" altLang="en-US" dirty="0"/>
              <a:t> </a:t>
            </a:r>
            <a:r>
              <a:rPr lang="ko-KR" altLang="en-US" dirty="0" err="1"/>
              <a:t>어려울수</a:t>
            </a:r>
            <a:r>
              <a:rPr lang="ko-KR" altLang="en-US" dirty="0"/>
              <a:t> 있어요</a:t>
            </a:r>
            <a:r>
              <a:rPr lang="en-US" altLang="ko-KR" dirty="0"/>
              <a:t>~ </a:t>
            </a:r>
            <a:r>
              <a:rPr lang="ko-KR" altLang="en-US" dirty="0"/>
              <a:t>차근차근 이해를 해봅시다</a:t>
            </a:r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2786457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이러한 돔은 트리 구조를 가지는데 이것을 돔 트리</a:t>
            </a:r>
            <a:r>
              <a:rPr lang="en-US" altLang="ko-KR" dirty="0"/>
              <a:t>(DOM Tree) </a:t>
            </a:r>
            <a:r>
              <a:rPr lang="ko-KR" altLang="en-US" dirty="0"/>
              <a:t>라고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전전 슬라이드 </a:t>
            </a:r>
            <a:r>
              <a:rPr lang="en-US" altLang="ko-KR" dirty="0"/>
              <a:t>HTML </a:t>
            </a:r>
            <a:r>
              <a:rPr lang="ko-KR" altLang="en-US" dirty="0"/>
              <a:t>코드 </a:t>
            </a:r>
            <a:r>
              <a:rPr lang="en-US" altLang="ko-KR" dirty="0"/>
              <a:t>(</a:t>
            </a:r>
            <a:r>
              <a:rPr lang="ko-KR" altLang="en-US" dirty="0"/>
              <a:t>부모 자식 계층 관계</a:t>
            </a:r>
            <a:r>
              <a:rPr lang="en-US" altLang="ko-KR" dirty="0"/>
              <a:t>) </a:t>
            </a:r>
            <a:r>
              <a:rPr lang="ko-KR" altLang="en-US" dirty="0"/>
              <a:t>설명</a:t>
            </a: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이것을 구조화 한 모습이 나무 모양과 같아 돔 트리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altLang="ko-KR" dirty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여기 있는 각각의 요소들을 노드라 함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dirty="0"/>
              <a:t>이 각각의 노드에 접근해서 제어하려고 하는 것</a:t>
            </a:r>
            <a:r>
              <a:rPr lang="en-US" altLang="ko-KR" dirty="0"/>
              <a:t>.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1. </a:t>
            </a:r>
            <a:r>
              <a:rPr lang="ko-KR" altLang="en-US" dirty="0"/>
              <a:t>접근 </a:t>
            </a:r>
            <a:r>
              <a:rPr lang="en-US" altLang="ko-KR" dirty="0"/>
              <a:t>2. </a:t>
            </a:r>
            <a:r>
              <a:rPr lang="ko-KR" altLang="en-US" dirty="0"/>
              <a:t>제어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한 마디로 정의하면 </a:t>
            </a:r>
            <a:r>
              <a:rPr lang="en-US" altLang="ko-KR" dirty="0"/>
              <a:t>-&gt; </a:t>
            </a:r>
            <a:r>
              <a:rPr lang="en-US" altLang="ko-KR" dirty="0" err="1"/>
              <a:t>dom</a:t>
            </a:r>
            <a:r>
              <a:rPr lang="en-US" altLang="ko-KR" dirty="0"/>
              <a:t> </a:t>
            </a:r>
            <a:r>
              <a:rPr lang="ko-KR" altLang="en-US" dirty="0"/>
              <a:t>트리 구조로 표현된 </a:t>
            </a:r>
            <a:r>
              <a:rPr lang="en-US" altLang="ko-KR" dirty="0"/>
              <a:t>html </a:t>
            </a:r>
            <a:r>
              <a:rPr lang="ko-KR" altLang="en-US" dirty="0"/>
              <a:t>문서를 각 요소의 계층 구조와 관계를 </a:t>
            </a:r>
            <a:r>
              <a:rPr lang="ko-KR" altLang="en-US" dirty="0" err="1"/>
              <a:t>시각화하여</a:t>
            </a:r>
            <a:r>
              <a:rPr lang="ko-KR" altLang="en-US" dirty="0"/>
              <a:t> 웹 페이지를 만든다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돔 트리의 구성 요소는 </a:t>
            </a:r>
            <a:endParaRPr lang="en-US" altLang="ko-KR" dirty="0"/>
          </a:p>
          <a:p>
            <a:r>
              <a:rPr lang="en-US" altLang="ko-KR" dirty="0"/>
              <a:t>1. </a:t>
            </a:r>
            <a:r>
              <a:rPr lang="ko-KR" altLang="en-US" dirty="0" err="1"/>
              <a:t>문서노드</a:t>
            </a:r>
            <a:r>
              <a:rPr lang="ko-KR" altLang="en-US" dirty="0"/>
              <a:t> </a:t>
            </a:r>
            <a:r>
              <a:rPr lang="en-US" altLang="ko-KR" dirty="0"/>
              <a:t>(Document Node) : HTML </a:t>
            </a:r>
            <a:r>
              <a:rPr lang="ko-KR" altLang="en-US" dirty="0"/>
              <a:t>문서 전체를 나타내는 루트 노드</a:t>
            </a:r>
            <a:r>
              <a:rPr lang="en-US" altLang="ko-KR" dirty="0"/>
              <a:t>. </a:t>
            </a:r>
            <a:r>
              <a:rPr lang="ko-KR" altLang="en-US" dirty="0"/>
              <a:t>최상위 노드</a:t>
            </a:r>
          </a:p>
          <a:p>
            <a:r>
              <a:rPr lang="en-US" altLang="ko-KR" dirty="0"/>
              <a:t>2. </a:t>
            </a:r>
            <a:r>
              <a:rPr lang="ko-KR" altLang="en-US" dirty="0" err="1"/>
              <a:t>요소노드</a:t>
            </a:r>
            <a:r>
              <a:rPr lang="ko-KR" altLang="en-US" dirty="0"/>
              <a:t> </a:t>
            </a:r>
            <a:r>
              <a:rPr lang="en-US" altLang="ko-KR" dirty="0"/>
              <a:t>(Element Node): HTML </a:t>
            </a:r>
            <a:r>
              <a:rPr lang="ko-KR" altLang="en-US" dirty="0"/>
              <a:t>요소를 나타내는 노드</a:t>
            </a:r>
            <a:r>
              <a:rPr lang="en-US" altLang="ko-KR" dirty="0"/>
              <a:t>. ex) &lt;div&gt;, &lt;p&gt;,  &lt;a&gt;</a:t>
            </a:r>
          </a:p>
          <a:p>
            <a:r>
              <a:rPr lang="en-US" altLang="ko-KR" dirty="0"/>
              <a:t>3. </a:t>
            </a:r>
            <a:r>
              <a:rPr lang="ko-KR" altLang="en-US" dirty="0" err="1"/>
              <a:t>텍스트노드</a:t>
            </a:r>
            <a:r>
              <a:rPr lang="ko-KR" altLang="en-US" dirty="0"/>
              <a:t> </a:t>
            </a:r>
            <a:r>
              <a:rPr lang="en-US" altLang="ko-KR" dirty="0"/>
              <a:t>(Text Node): HTML </a:t>
            </a:r>
            <a:r>
              <a:rPr lang="ko-KR" altLang="en-US" dirty="0"/>
              <a:t>문서의 텍스트를 나타내는 노드</a:t>
            </a:r>
            <a:r>
              <a:rPr lang="en-US" altLang="ko-KR" dirty="0"/>
              <a:t>. ex) &lt;p&gt; </a:t>
            </a:r>
            <a:r>
              <a:rPr lang="ko-KR" altLang="en-US" dirty="0"/>
              <a:t>요소 내에 포함된 텍스트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4. </a:t>
            </a:r>
            <a:r>
              <a:rPr lang="ko-KR" altLang="en-US" dirty="0" err="1"/>
              <a:t>속성노드</a:t>
            </a:r>
            <a:r>
              <a:rPr lang="ko-KR" altLang="en-US" dirty="0"/>
              <a:t> </a:t>
            </a:r>
            <a:r>
              <a:rPr lang="en-US" altLang="ko-KR" dirty="0"/>
              <a:t>(Attribute Node): HTML </a:t>
            </a:r>
            <a:r>
              <a:rPr lang="ko-KR" altLang="en-US" dirty="0"/>
              <a:t>요소의 속성을 나타내는 노드</a:t>
            </a:r>
            <a:r>
              <a:rPr lang="en-US" altLang="ko-KR" dirty="0"/>
              <a:t>. ex) &lt;a&gt; </a:t>
            </a:r>
            <a:r>
              <a:rPr lang="ko-KR" altLang="en-US" dirty="0"/>
              <a:t>요소의 </a:t>
            </a:r>
            <a:r>
              <a:rPr lang="en-US" altLang="ko-KR" dirty="0" err="1"/>
              <a:t>href</a:t>
            </a:r>
            <a:r>
              <a:rPr lang="en-US" altLang="ko-KR" dirty="0"/>
              <a:t> </a:t>
            </a:r>
            <a:r>
              <a:rPr lang="ko-KR" altLang="en-US" dirty="0"/>
              <a:t>속성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DOM </a:t>
            </a:r>
            <a:r>
              <a:rPr lang="ko-KR" altLang="en-US" dirty="0"/>
              <a:t>트리는 </a:t>
            </a:r>
            <a:r>
              <a:rPr lang="en-US" altLang="ko-KR" dirty="0"/>
              <a:t>HTML </a:t>
            </a:r>
            <a:r>
              <a:rPr lang="ko-KR" altLang="en-US" dirty="0"/>
              <a:t>문서의 구조를 표현하며 </a:t>
            </a:r>
            <a:r>
              <a:rPr lang="en-US" altLang="ko-KR" dirty="0"/>
              <a:t>JS</a:t>
            </a:r>
            <a:r>
              <a:rPr lang="ko-KR" altLang="en-US" dirty="0"/>
              <a:t>를 사용해서 각 요소에 접근하고 조작 할 수 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735158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도대체 접근하고 </a:t>
            </a:r>
            <a:r>
              <a:rPr lang="ko-KR" altLang="en-US" dirty="0" err="1"/>
              <a:t>제어하는게</a:t>
            </a:r>
            <a:r>
              <a:rPr lang="ko-KR" altLang="en-US" dirty="0"/>
              <a:t> 뭐냐</a:t>
            </a:r>
            <a:r>
              <a:rPr lang="en-US" altLang="ko-KR" dirty="0"/>
              <a:t>?</a:t>
            </a:r>
          </a:p>
          <a:p>
            <a:endParaRPr lang="en-US" altLang="ko-KR" dirty="0"/>
          </a:p>
          <a:p>
            <a:r>
              <a:rPr lang="ko-KR" altLang="en-US" dirty="0" err="1"/>
              <a:t>이런것을</a:t>
            </a:r>
            <a:r>
              <a:rPr lang="ko-KR" altLang="en-US" dirty="0"/>
              <a:t> 말한다</a:t>
            </a:r>
            <a:r>
              <a:rPr lang="en-US" altLang="ko-KR" dirty="0"/>
              <a:t>. 1~7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98946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135557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현재 페이지의 문서를 전체를 나타내는 전역 객체</a:t>
            </a:r>
            <a:r>
              <a:rPr lang="en-US" altLang="ko-KR" dirty="0"/>
              <a:t>!</a:t>
            </a:r>
          </a:p>
          <a:p>
            <a:endParaRPr lang="en-US" altLang="ko-KR" dirty="0"/>
          </a:p>
          <a:p>
            <a:r>
              <a:rPr lang="en-US" altLang="ko-KR" dirty="0"/>
              <a:t>JS</a:t>
            </a:r>
            <a:r>
              <a:rPr lang="ko-KR" altLang="en-US" dirty="0"/>
              <a:t>를 사용하여 웹 페이지의 </a:t>
            </a:r>
            <a:r>
              <a:rPr lang="en-US" altLang="ko-KR" dirty="0"/>
              <a:t>DOM</a:t>
            </a:r>
            <a:r>
              <a:rPr lang="ko-KR" altLang="en-US" dirty="0"/>
              <a:t>을 조작할 때 사용되면 </a:t>
            </a:r>
            <a:r>
              <a:rPr lang="en-US" altLang="ko-KR" dirty="0"/>
              <a:t>DOM </a:t>
            </a:r>
            <a:r>
              <a:rPr lang="ko-KR" altLang="en-US" dirty="0"/>
              <a:t>일부로 간주됨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(</a:t>
            </a:r>
            <a:r>
              <a:rPr lang="ko-KR" altLang="en-US" dirty="0"/>
              <a:t>웹 페이지 콘솔에서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Document</a:t>
            </a:r>
          </a:p>
          <a:p>
            <a:endParaRPr lang="en-US" altLang="ko-KR" dirty="0"/>
          </a:p>
          <a:p>
            <a:r>
              <a:rPr lang="en-US" altLang="ko-KR" dirty="0" err="1"/>
              <a:t>Document.childNodes</a:t>
            </a:r>
            <a:r>
              <a:rPr lang="en-US" altLang="ko-KR" dirty="0"/>
              <a:t>[1]. </a:t>
            </a:r>
            <a:r>
              <a:rPr lang="en-US" altLang="ko-KR" dirty="0" err="1"/>
              <a:t>childNodes</a:t>
            </a:r>
            <a:r>
              <a:rPr lang="en-US" altLang="ko-KR" dirty="0"/>
              <a:t>[1]</a:t>
            </a:r>
          </a:p>
          <a:p>
            <a:endParaRPr lang="en-US" altLang="ko-KR" dirty="0"/>
          </a:p>
          <a:p>
            <a:r>
              <a:rPr lang="ko-KR" altLang="en-US" dirty="0"/>
              <a:t>이렇게 하기 번거로우니 앞으로 배울 속성과 메소드를 사용하는 것</a:t>
            </a:r>
            <a:r>
              <a:rPr lang="en-US" altLang="ko-KR" dirty="0"/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27403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 </a:t>
            </a:r>
            <a:r>
              <a:rPr lang="ko-KR" altLang="en-US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객체는 웹 페이지의 구조와 콘텐츠에 접근하고 조작하기 위해 다양한 속성들을 가지고 있음</a:t>
            </a: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endParaRPr lang="en-US" altLang="ko-KR" sz="1400" b="1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document.documentElement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루트 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보통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&lt;html&gt;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가리킵니다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document.head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&lt;head&gt;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document.body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&lt;body&gt;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요소를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document.title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문서의 제목을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이 속성을 변경하면 브라우저 탭의 제목이 업데이트됩니다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document.URL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URL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</a:p>
          <a:p>
            <a:pPr algn="l">
              <a:buFont typeface="+mj-lt"/>
              <a:buAutoNum type="arabicPeriod"/>
            </a:pPr>
            <a:r>
              <a:rPr lang="en-US" altLang="ko-KR" sz="1400" b="1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document.domain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: </a:t>
            </a:r>
            <a:r>
              <a:rPr lang="ko-KR" altLang="en-US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현재 문서의 도메인을 나타냅니다</a:t>
            </a:r>
            <a:r>
              <a:rPr lang="en-US" altLang="ko-KR" sz="1400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sz="1400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2733435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프로그램을 사용하기 위한 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명령들의 집합을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Application Programming Interface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라고 한다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-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API</a:t>
            </a:r>
            <a:endParaRPr lang="ko-KR" alt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DOM API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는 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HTML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의 요소들을 </a:t>
            </a:r>
            <a:r>
              <a:rPr lang="en-US" altLang="ko-K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JS</a:t>
            </a:r>
            <a:r>
              <a:rPr lang="ko-KR" alt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에서 제어하기 위한 명령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들</a:t>
            </a:r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55225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요소에 접근한다</a:t>
            </a:r>
            <a:r>
              <a:rPr lang="en-US" altLang="ko-KR" dirty="0"/>
              <a:t>~ </a:t>
            </a:r>
            <a:r>
              <a:rPr lang="ko-KR" altLang="en-US" dirty="0"/>
              <a:t>라고도 할 수 있어요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우리가 무언가를 조작하려면 무엇인가라는 것을 </a:t>
            </a:r>
            <a:r>
              <a:rPr lang="ko-KR" altLang="en-US" dirty="0" err="1"/>
              <a:t>지칭해야되죠</a:t>
            </a:r>
            <a:r>
              <a:rPr lang="en-US" altLang="ko-KR" dirty="0"/>
              <a:t>? </a:t>
            </a:r>
            <a:r>
              <a:rPr lang="ko-KR" altLang="en-US" dirty="0"/>
              <a:t>그 과정이랍니다</a:t>
            </a:r>
            <a:r>
              <a:rPr lang="en-US" altLang="ko-KR" dirty="0"/>
              <a:t>. (= </a:t>
            </a:r>
            <a:r>
              <a:rPr lang="ko-KR" altLang="en-US" dirty="0"/>
              <a:t>응급상황 비유</a:t>
            </a:r>
            <a:r>
              <a:rPr lang="en-US" altLang="ko-KR" dirty="0"/>
              <a:t>, </a:t>
            </a:r>
            <a:r>
              <a:rPr lang="ko-KR" altLang="en-US" dirty="0" err="1"/>
              <a:t>빨간모자</a:t>
            </a:r>
            <a:r>
              <a:rPr lang="ko-KR" altLang="en-US" dirty="0"/>
              <a:t> 아저씨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588743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id</a:t>
            </a:r>
            <a:r>
              <a:rPr lang="en-US" altLang="ko-KR" baseline="0" dirty="0"/>
              <a:t> </a:t>
            </a:r>
            <a:r>
              <a:rPr lang="ko-KR" altLang="en-US" baseline="0" dirty="0"/>
              <a:t>속성을 이용해 부르는 것</a:t>
            </a:r>
            <a:r>
              <a:rPr lang="en-US" altLang="ko-KR" baseline="0" dirty="0"/>
              <a:t>,</a:t>
            </a:r>
          </a:p>
          <a:p>
            <a:r>
              <a:rPr lang="ko-KR" altLang="en-US" baseline="0" dirty="0"/>
              <a:t>아래</a:t>
            </a:r>
            <a:r>
              <a:rPr lang="en-US" altLang="ko-KR" baseline="0" dirty="0"/>
              <a:t> </a:t>
            </a:r>
            <a:r>
              <a:rPr lang="ko-KR" altLang="en-US" baseline="0" dirty="0"/>
              <a:t>나와있는 </a:t>
            </a:r>
            <a:r>
              <a:rPr lang="en-US" altLang="ko-KR" baseline="0" dirty="0" err="1"/>
              <a:t>classname</a:t>
            </a:r>
            <a:r>
              <a:rPr lang="en-US" altLang="ko-KR" baseline="0" dirty="0"/>
              <a:t>, name, </a:t>
            </a:r>
            <a:r>
              <a:rPr lang="en-US" altLang="ko-KR" baseline="0" dirty="0" err="1"/>
              <a:t>tagname</a:t>
            </a:r>
            <a:r>
              <a:rPr lang="ko-KR" altLang="en-US" baseline="0" dirty="0"/>
              <a:t> 설명</a:t>
            </a:r>
            <a:endParaRPr lang="en-US" altLang="ko-KR" baseline="0" dirty="0"/>
          </a:p>
          <a:p>
            <a:endParaRPr lang="en-US" altLang="ko-KR" baseline="0" dirty="0"/>
          </a:p>
          <a:p>
            <a:r>
              <a:rPr lang="ko-KR" altLang="en-US" dirty="0" err="1"/>
              <a:t>쿼리셀렉터는</a:t>
            </a:r>
            <a:r>
              <a:rPr lang="ko-KR" altLang="en-US" dirty="0"/>
              <a:t> 안에 </a:t>
            </a:r>
            <a:r>
              <a:rPr lang="ko-KR" altLang="en-US" dirty="0" err="1"/>
              <a:t>선택자</a:t>
            </a:r>
            <a:r>
              <a:rPr lang="ko-KR" altLang="en-US" dirty="0"/>
              <a:t> 선택하는 문법까지 포함하지만</a:t>
            </a:r>
            <a:endParaRPr lang="en-US" altLang="ko-KR" dirty="0"/>
          </a:p>
          <a:p>
            <a:r>
              <a:rPr lang="en-US" altLang="ko-KR" dirty="0" err="1"/>
              <a:t>getElement</a:t>
            </a:r>
            <a:r>
              <a:rPr lang="en-US" altLang="ko-KR" dirty="0"/>
              <a:t>~</a:t>
            </a:r>
            <a:r>
              <a:rPr lang="ko-KR" altLang="en-US" dirty="0"/>
              <a:t>는 그냥 해당 이름만 </a:t>
            </a:r>
            <a:r>
              <a:rPr lang="ko-KR" altLang="en-US" dirty="0" err="1"/>
              <a:t>써주면된다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089382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치러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396979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선택을 했으면 조작을 </a:t>
            </a:r>
            <a:r>
              <a:rPr lang="ko-KR" altLang="en-US" dirty="0" err="1"/>
              <a:t>해야겠죠</a:t>
            </a:r>
            <a:r>
              <a:rPr lang="en-US" altLang="ko-KR" dirty="0"/>
              <a:t>? </a:t>
            </a:r>
            <a:r>
              <a:rPr lang="ko-KR" altLang="en-US" dirty="0"/>
              <a:t>어떻게</a:t>
            </a:r>
            <a:r>
              <a:rPr lang="en-US" altLang="ko-KR" dirty="0"/>
              <a:t>? (= 119</a:t>
            </a:r>
            <a:r>
              <a:rPr lang="ko-KR" altLang="en-US" dirty="0"/>
              <a:t>에 연락해달라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422150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4703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6604346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여기까지 하고 코드 </a:t>
            </a:r>
            <a:r>
              <a:rPr lang="ko-KR" altLang="en-US" dirty="0" err="1"/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2942980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8872348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570318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kdt3rd-workspace/05_javascript_object/</a:t>
            </a:r>
            <a:r>
              <a:rPr lang="en-US" altLang="ko-KR" b="1" dirty="0"/>
              <a:t>index4.html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dirty="0"/>
              <a:t>kdt3rd-workspace/05_javascript_object/</a:t>
            </a:r>
            <a:r>
              <a:rPr lang="en-US" altLang="ko-KR" b="1" dirty="0"/>
              <a:t>index4.js</a:t>
            </a:r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4473327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child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05634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 err="1"/>
              <a:t>prependChild</a:t>
            </a:r>
            <a:r>
              <a:rPr lang="en-US" altLang="ko-KR" baseline="0" dirty="0"/>
              <a:t> </a:t>
            </a:r>
            <a:r>
              <a:rPr lang="ko-KR" altLang="en-US" baseline="0" dirty="0"/>
              <a:t>는 존재하지 않음</a:t>
            </a:r>
            <a:endParaRPr lang="en-US" altLang="ko-KR" baseline="0" dirty="0"/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append()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</a:t>
            </a:r>
            <a:r>
              <a:rPr lang="en-US" altLang="ko-KR" dirty="0"/>
              <a:t>, </a:t>
            </a:r>
            <a:r>
              <a:rPr lang="en-US" altLang="ko-KR" dirty="0" err="1"/>
              <a:t>DOMString</a:t>
            </a:r>
            <a:r>
              <a:rPr lang="en-US" altLang="ko-KR" dirty="0"/>
              <a:t>(</a:t>
            </a:r>
            <a:r>
              <a:rPr lang="ko-KR" altLang="en-US" dirty="0"/>
              <a:t>문자열</a:t>
            </a:r>
            <a:r>
              <a:rPr lang="en-US" altLang="ko-KR" dirty="0"/>
              <a:t>) </a:t>
            </a:r>
            <a:r>
              <a:rPr lang="ko-KR" altLang="en-US" dirty="0"/>
              <a:t>모두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한번에 여러 개의 자식 요소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없음</a:t>
            </a:r>
            <a:r>
              <a:rPr lang="en-US" altLang="ko-KR" dirty="0"/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appendChild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 객체만 추가할 수 있음</a:t>
            </a:r>
            <a:r>
              <a:rPr lang="en-US" altLang="ko-KR" dirty="0"/>
              <a:t>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한 번에 한 개의 노드만 추가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 err="1"/>
              <a:t>반환값</a:t>
            </a:r>
            <a:r>
              <a:rPr lang="ko-KR" altLang="en-US" dirty="0"/>
              <a:t> 있음</a:t>
            </a:r>
            <a:r>
              <a:rPr lang="en-US" altLang="ko-KR" dirty="0"/>
              <a:t>.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65567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요소를 부모 요소에 추가하는데 사용되는 메서드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1.append() 2.appendChild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한 번에 여러 개의 노드나 문자열 추가 가능</a:t>
            </a:r>
            <a:r>
              <a:rPr lang="en-US" altLang="ko-KR" dirty="0"/>
              <a:t>, 2</a:t>
            </a:r>
            <a:r>
              <a:rPr lang="ko-KR" altLang="en-US" dirty="0"/>
              <a:t>는 한번에 하나의 노드만 추가 가능</a:t>
            </a:r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en-US" altLang="ko-KR" dirty="0"/>
              <a:t>ES6</a:t>
            </a:r>
            <a:r>
              <a:rPr lang="ko-KR" altLang="en-US" dirty="0"/>
              <a:t>에 도입</a:t>
            </a:r>
            <a:r>
              <a:rPr lang="en-US" altLang="ko-KR" dirty="0"/>
              <a:t>, </a:t>
            </a:r>
            <a:r>
              <a:rPr lang="ko-KR" altLang="en-US" dirty="0"/>
              <a:t>모든 주요 브라우저에서 지원 </a:t>
            </a:r>
            <a:r>
              <a:rPr lang="en-US" altLang="ko-KR" dirty="0"/>
              <a:t>, 2</a:t>
            </a:r>
            <a:r>
              <a:rPr lang="ko-KR" altLang="en-US" dirty="0"/>
              <a:t>는 오래된 </a:t>
            </a:r>
            <a:r>
              <a:rPr lang="en-US" altLang="ko-KR" dirty="0"/>
              <a:t>DOM API, </a:t>
            </a:r>
            <a:r>
              <a:rPr lang="ko-KR" altLang="en-US" dirty="0"/>
              <a:t>모든 브라우저에서 지원</a:t>
            </a:r>
            <a:endParaRPr lang="en-US" altLang="ko-KR" dirty="0"/>
          </a:p>
          <a:p>
            <a:endParaRPr lang="en-US" altLang="ko-KR" dirty="0"/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dirty="0"/>
              <a:t>1</a:t>
            </a:r>
            <a:r>
              <a:rPr lang="ko-KR" altLang="en-US" dirty="0"/>
              <a:t>은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보다 간편하고 유연하게 요소를 추가하는 데 사용되며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, 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특히 여러 요소를 추가하거나 체인 메서드 호출을 수행할 때 유용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pPr marL="171450" indent="-171450">
              <a:buFont typeface="Wingdings" panose="05000000000000000000" pitchFamily="2" charset="2"/>
              <a:buChar char="è"/>
            </a:pP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2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은 오래된 방식이지만 여전히 유용하게 사용됩니다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343737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altLang="ko-KR" dirty="0"/>
              <a:t>remove()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노드를 메모리에서 삭제하고 종료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ko-KR" dirty="0" err="1"/>
              <a:t>removeChild</a:t>
            </a:r>
            <a:r>
              <a:rPr lang="en-US" altLang="ko-KR" dirty="0"/>
              <a:t>()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메모리에 해당 노드는 그대로 존재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부모 노드와의 부모</a:t>
            </a:r>
            <a:r>
              <a:rPr lang="en-US" altLang="ko-KR" dirty="0"/>
              <a:t>-</a:t>
            </a:r>
            <a:r>
              <a:rPr lang="ko-KR" altLang="en-US" dirty="0"/>
              <a:t>자식관계를 끊어 </a:t>
            </a:r>
            <a:r>
              <a:rPr lang="en-US" altLang="ko-KR" dirty="0"/>
              <a:t>DOM </a:t>
            </a:r>
            <a:r>
              <a:rPr lang="ko-KR" altLang="en-US" dirty="0"/>
              <a:t>트리에서 해제하는 것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관계를 끊은 해당 노드의 참조를 반환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 값을 변수에 </a:t>
            </a:r>
            <a:r>
              <a:rPr lang="ko-KR" altLang="en-US" dirty="0" err="1"/>
              <a:t>저장해뒀다가</a:t>
            </a:r>
            <a:r>
              <a:rPr lang="ko-KR" altLang="en-US" dirty="0"/>
              <a:t> 사용 가능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반환된 노드 참조를 변수에 담아 다른 </a:t>
            </a:r>
            <a:r>
              <a:rPr lang="en-US" altLang="ko-KR" dirty="0"/>
              <a:t>DOM </a:t>
            </a:r>
            <a:r>
              <a:rPr lang="ko-KR" altLang="en-US" dirty="0"/>
              <a:t>위치에 붙일 수 있음</a:t>
            </a:r>
          </a:p>
          <a:p>
            <a:endParaRPr lang="en-US" altLang="ko-KR" dirty="0"/>
          </a:p>
          <a:p>
            <a:r>
              <a:rPr lang="en-US" altLang="ko-KR" dirty="0"/>
              <a:t>&lt;div&gt;</a:t>
            </a:r>
          </a:p>
          <a:p>
            <a:r>
              <a:rPr lang="en-US" altLang="ko-KR" dirty="0"/>
              <a:t>    &lt;div style="background-color: red;" id="div2"&gt;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green;"&gt;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    &lt;div style="background-color: yellow;"&gt;</a:t>
            </a:r>
            <a:r>
              <a:rPr lang="en-US" altLang="ko-KR" dirty="0" err="1"/>
              <a:t>aaa</a:t>
            </a:r>
            <a:r>
              <a:rPr lang="en-US" altLang="ko-KR" dirty="0"/>
              <a:t>&lt;/div&gt;</a:t>
            </a:r>
          </a:p>
          <a:p>
            <a:r>
              <a:rPr lang="en-US" altLang="ko-KR" dirty="0"/>
              <a:t>&lt;/div&gt;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// </a:t>
            </a:r>
            <a:r>
              <a:rPr lang="ko-KR" altLang="en-US" dirty="0"/>
              <a:t>스크립트</a:t>
            </a:r>
          </a:p>
          <a:p>
            <a:r>
              <a:rPr lang="en-US" altLang="ko-KR" dirty="0"/>
              <a:t>var red = </a:t>
            </a:r>
            <a:r>
              <a:rPr lang="en-US" altLang="ko-KR" dirty="0" err="1"/>
              <a:t>document.querySelector</a:t>
            </a:r>
            <a:r>
              <a:rPr lang="en-US" altLang="ko-KR" dirty="0"/>
              <a:t>("#div2");</a:t>
            </a:r>
          </a:p>
          <a:p>
            <a:r>
              <a:rPr lang="en-US" altLang="ko-KR" dirty="0"/>
              <a:t>var </a:t>
            </a:r>
            <a:r>
              <a:rPr lang="en-US" altLang="ko-KR" dirty="0" err="1"/>
              <a:t>removeNode</a:t>
            </a:r>
            <a:r>
              <a:rPr lang="en-US" altLang="ko-KR" dirty="0"/>
              <a:t> = </a:t>
            </a:r>
            <a:r>
              <a:rPr lang="en-US" altLang="ko-KR" dirty="0" err="1"/>
              <a:t>red.parentNode.removeChild</a:t>
            </a:r>
            <a:r>
              <a:rPr lang="en-US" altLang="ko-KR" dirty="0"/>
              <a:t>(red);</a:t>
            </a:r>
          </a:p>
          <a:p>
            <a:r>
              <a:rPr lang="en-US" altLang="ko-KR" dirty="0" err="1"/>
              <a:t>document.getElementById</a:t>
            </a:r>
            <a:r>
              <a:rPr lang="en-US" altLang="ko-KR" dirty="0"/>
              <a:t>("div1").</a:t>
            </a:r>
            <a:r>
              <a:rPr lang="en-US" altLang="ko-KR" dirty="0" err="1"/>
              <a:t>appendChild</a:t>
            </a:r>
            <a:r>
              <a:rPr lang="en-US" altLang="ko-KR" dirty="0"/>
              <a:t>(</a:t>
            </a:r>
            <a:r>
              <a:rPr lang="en-US" altLang="ko-KR" dirty="0" err="1"/>
              <a:t>removeNode</a:t>
            </a:r>
            <a:r>
              <a:rPr lang="en-US" altLang="ko-KR" dirty="0"/>
              <a:t>);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7744513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둘 다 요소제거에 사용되는 메소드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1</a:t>
            </a:r>
            <a:r>
              <a:rPr lang="ko-KR" altLang="en-US" dirty="0"/>
              <a:t>은 호출된 요소 자체를 제거</a:t>
            </a:r>
            <a:r>
              <a:rPr lang="en-US" altLang="ko-KR" dirty="0"/>
              <a:t>. 2</a:t>
            </a:r>
            <a:r>
              <a:rPr lang="ko-KR" altLang="en-US" dirty="0"/>
              <a:t>는 부모요소에서 특정 자식 요소 제거</a:t>
            </a:r>
            <a:r>
              <a:rPr lang="en-US" altLang="ko-KR" dirty="0"/>
              <a:t>. </a:t>
            </a:r>
            <a:r>
              <a:rPr lang="ko-KR" altLang="en-US" dirty="0"/>
              <a:t>제거하려는 자식 요소를 인자로 전달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remove()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 메서드를 사용하는 것이 더 간단하고 직관적입니다</a:t>
            </a:r>
            <a:r>
              <a:rPr lang="en-US" altLang="ko-KR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. </a:t>
            </a: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특정 자식 요소를 제거해야 하는 경우에만 </a:t>
            </a:r>
            <a:r>
              <a:rPr lang="en-US" altLang="ko-KR" dirty="0" err="1"/>
              <a:t>removeChild</a:t>
            </a:r>
            <a:r>
              <a:rPr lang="en-US" altLang="ko-KR" dirty="0"/>
              <a:t>()</a:t>
            </a:r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를 사용하면 됩니다</a:t>
            </a:r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endParaRPr lang="en-US" altLang="ko-KR" b="0" i="0" dirty="0">
              <a:solidFill>
                <a:srgbClr val="0D0D0D"/>
              </a:solidFill>
              <a:effectLst/>
              <a:highlight>
                <a:srgbClr val="FFFFFF"/>
              </a:highlight>
              <a:latin typeface="Söhne"/>
            </a:endParaRPr>
          </a:p>
          <a:p>
            <a:r>
              <a:rPr lang="ko-KR" altLang="en-US" b="0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여기까지 하고 코드 </a:t>
            </a:r>
            <a:r>
              <a:rPr lang="ko-KR" altLang="en-US" b="0" i="0" dirty="0" err="1">
                <a:solidFill>
                  <a:srgbClr val="0D0D0D"/>
                </a:solidFill>
                <a:effectLst/>
                <a:highlight>
                  <a:srgbClr val="FFFFFF"/>
                </a:highlight>
                <a:latin typeface="Söhne"/>
              </a:rPr>
              <a:t>ㄱㄱ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858821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4227747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661823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>
                <a:highlight>
                  <a:srgbClr val="FFFF00"/>
                </a:highlight>
              </a:rPr>
              <a:t>변수 선언 안하고 메소드 </a:t>
            </a:r>
            <a:r>
              <a:rPr lang="ko-KR" altLang="en-US" sz="1200" dirty="0" err="1">
                <a:highlight>
                  <a:srgbClr val="FFFF00"/>
                </a:highlight>
              </a:rPr>
              <a:t>체이닝</a:t>
            </a:r>
            <a:r>
              <a:rPr lang="ko-KR" altLang="en-US" sz="1200" dirty="0">
                <a:highlight>
                  <a:srgbClr val="FFFF00"/>
                </a:highlight>
              </a:rPr>
              <a:t> 이용해서 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en-US" altLang="ko-KR" sz="1200" dirty="0" err="1">
                <a:highlight>
                  <a:srgbClr val="FFFF00"/>
                </a:highlight>
              </a:rPr>
              <a:t>Addeventlinstener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적용하는 방법이지만</a:t>
            </a:r>
            <a:endParaRPr lang="en-US" altLang="ko-KR" sz="1200" dirty="0">
              <a:highlight>
                <a:srgbClr val="FFFF00"/>
              </a:highlight>
            </a:endParaRPr>
          </a:p>
          <a:p>
            <a:r>
              <a:rPr lang="ko-KR" altLang="en-US" sz="1200" dirty="0">
                <a:highlight>
                  <a:srgbClr val="FFFF00"/>
                </a:highlight>
              </a:rPr>
              <a:t>지금은 이렇게 안쓰는게 조아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3366F6E-037C-480B-81D8-78C8D81DF59C}" type="slidenum">
              <a:rPr lang="ko-KR" altLang="en-US" smtClean="0"/>
              <a:t>50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984717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46917176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403595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75158727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9100440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8602734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56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98201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080511"/>
            <a:ext cx="9144000" cy="2387600"/>
          </a:xfrm>
        </p:spPr>
        <p:txBody>
          <a:bodyPr anchor="b"/>
          <a:lstStyle>
            <a:lvl1pPr algn="ctr">
              <a:defRPr sz="6000" b="1">
                <a:solidFill>
                  <a:srgbClr val="6EC173"/>
                </a:solidFill>
              </a:defRPr>
            </a:lvl1pPr>
          </a:lstStyle>
          <a:p>
            <a:r>
              <a:rPr lang="ko-KR" altLang="en-US" sz="6000" dirty="0" err="1"/>
              <a:t>과정명</a:t>
            </a:r>
            <a:endParaRPr lang="ko-KR" altLang="en-US" sz="600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741092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dirty="0"/>
              <a:t>부제목</a:t>
            </a:r>
          </a:p>
        </p:txBody>
      </p:sp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pic>
        <p:nvPicPr>
          <p:cNvPr id="5" name="그림 4" descr="그래픽, 그래픽 디자인, 클립아트, 다채로움이(가) 표시된 사진&#10;&#10;자동 생성된 설명">
            <a:extLst>
              <a:ext uri="{FF2B5EF4-FFF2-40B4-BE49-F238E27FC236}">
                <a16:creationId xmlns:a16="http://schemas.microsoft.com/office/drawing/2014/main" id="{BE5A577B-81A7-2FA6-9E57-9DCEC5BF71F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hqprint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6000" y="1461146"/>
            <a:ext cx="3600000" cy="3652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31364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파트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날짜 개체 틀 10">
            <a:extLst>
              <a:ext uri="{FF2B5EF4-FFF2-40B4-BE49-F238E27FC236}">
                <a16:creationId xmlns:a16="http://schemas.microsoft.com/office/drawing/2014/main" id="{AAFCC098-95A8-6767-4379-8DD4626B9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12" name="바닥글 개체 틀 11">
            <a:extLst>
              <a:ext uri="{FF2B5EF4-FFF2-40B4-BE49-F238E27FC236}">
                <a16:creationId xmlns:a16="http://schemas.microsoft.com/office/drawing/2014/main" id="{51CCB6AA-ECDD-5B10-7505-0EFEAC9C6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13" name="슬라이드 번호 개체 틀 12">
            <a:extLst>
              <a:ext uri="{FF2B5EF4-FFF2-40B4-BE49-F238E27FC236}">
                <a16:creationId xmlns:a16="http://schemas.microsoft.com/office/drawing/2014/main" id="{38B667F6-930A-7162-796D-3A16CE2AFD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92A323E6-E95B-6EB2-7753-649DE78B1653}"/>
              </a:ext>
            </a:extLst>
          </p:cNvPr>
          <p:cNvSpPr txBox="1">
            <a:spLocks/>
          </p:cNvSpPr>
          <p:nvPr userDrawn="1"/>
        </p:nvSpPr>
        <p:spPr>
          <a:xfrm>
            <a:off x="6096000" y="2203895"/>
            <a:ext cx="3287846" cy="45852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altLang="ko-KR" sz="2400" dirty="0">
              <a:solidFill>
                <a:srgbClr val="6EC173"/>
              </a:solidFill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838200" y="2598269"/>
            <a:ext cx="10515600" cy="1325563"/>
          </a:xfrm>
        </p:spPr>
        <p:txBody>
          <a:bodyPr>
            <a:noAutofit/>
          </a:bodyPr>
          <a:lstStyle>
            <a:lvl1pPr algn="ctr">
              <a:defRPr sz="8000" b="1">
                <a:solidFill>
                  <a:srgbClr val="6EC173"/>
                </a:solidFill>
              </a:defRPr>
            </a:lvl1pPr>
          </a:lstStyle>
          <a:p>
            <a:r>
              <a:rPr lang="ko-KR" altLang="en-US" dirty="0"/>
              <a:t>파트 제목</a:t>
            </a:r>
          </a:p>
        </p:txBody>
      </p:sp>
    </p:spTree>
    <p:extLst>
      <p:ext uri="{BB962C8B-B14F-4D97-AF65-F5344CB8AC3E}">
        <p14:creationId xmlns:p14="http://schemas.microsoft.com/office/powerpoint/2010/main" val="19482766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784D0C3-D33B-7107-AB80-D9F33099C3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9CE3CE-253F-4F9D-BA15-C226C8D8501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9897DBF-398C-9DB6-E916-35AB4FE2F4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55B8D2-7CD5-9B15-8E13-87FF760EC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7" name="제목 개체 틀 1">
            <a:extLst>
              <a:ext uri="{FF2B5EF4-FFF2-40B4-BE49-F238E27FC236}">
                <a16:creationId xmlns:a16="http://schemas.microsoft.com/office/drawing/2014/main" id="{964962A2-A4D4-9231-66A1-E1F593E60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3153990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4601C5-2723-67A2-7D21-9F39D14C7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B1E75F-8FF2-A69A-E094-650EAEFD048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331FDEF-673D-E199-7B54-FFD44BA2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5A7087-D460-46DD-B430-F8D9B9677D0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6E7B47C-D16B-1F66-3165-B941B9C612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F13A5C-BE81-C46F-5191-E33C5F066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165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D69A2ED-4026-CEC5-0F77-74287163E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5CA756-D15D-464E-966E-2DF9AA9796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FDC8A21-839F-87B3-9ABB-E0DA07E8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B268EA5-E313-8CB5-4A12-914620F47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1BA25-D675-4234-A003-8449BDEEF18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2797BB-0DAF-A25A-8AC2-46D61F5D6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48752A1-1625-10E7-A4F0-2E13719E44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33989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B7AE7F-26ED-35B6-1BBA-A08CB8ECE2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88D8DD-7148-8B19-6172-B0A169CFC3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38CD1D6-87C8-BD82-7711-368227F17A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A208518-1B3C-A417-C6AC-99F9C66D122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843F92-B722-06A6-9A56-0A03BE26CFC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3532A15-9ECF-C043-5CC2-911757B5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155C29-A87F-46F0-A24C-6C9F0A4BF6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79998F67-77F3-1632-EC3C-114B75C5A3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AB6C1BB-6866-2A3B-A1F3-28B5D93C1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8790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899283-9B12-5339-3042-B6B67884B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97E34E6-ECFD-E5F2-081F-39427DA94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2EDD62-8757-43DB-BAE0-460422B548E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AE04029-E47F-F52E-AF1E-D31E2D400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3665754-DE22-245A-A4D5-FE78A35B0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30893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5E82391-47AE-B4C0-C4C4-22E5D96331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6A871B-4800-495F-AC75-93D44C7DEBA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69BF5EA-4922-4594-BC0D-A1D7F17A9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7BF1BF-296A-E655-349A-1877369A8C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015514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5094360-95AE-5B28-BF6B-212680601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6D97E12-A7FB-C81A-18C2-34781A068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739CAA1-90A7-601C-BD90-A0DC6A391D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885FF0-6BE8-F11D-CDAC-7E7B63F396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605888-30A6-49BB-95E2-DEAE4E5B09E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3A67A35-AF67-BDC9-86E1-D6EE283B8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8C23707-35CC-08DC-8C13-06293DE52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566652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BD7A00-094E-C3F9-1A07-8FD90B7C9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FE9F136-9A64-0D06-F721-734E1E2244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5C3BE40-4202-4B4A-C8A7-24945AC6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DD21BA2-CA17-A4B0-BBDD-B3995CC85A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A39A32-5728-48B8-9F9C-437D214CCAF1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BE5E2437-D7E8-6CA8-856B-7C81E4CF8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000DA3E-B239-6A01-347D-5321CBE953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4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8DC3B4-86CF-2498-CC6E-A256E4AA6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1E0FE57-EEBD-DC2E-5AAA-A425A6D59E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C0A4B4C-46E0-9C94-5EAC-7237CB6A9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ECC8BA-EBCB-4BF9-8E87-970CE013837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816647A-6FF5-9F90-2812-CADD48405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6AE80C-7F7A-130E-8BD8-5BA97658E5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20169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58AC244-4A84-09D3-50FB-F934F9F4796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03D64C9-D76D-C43E-C82B-A315CE73F3E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40D0D7C-1A4D-433C-79F6-2C0633D1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9FA6E-4699-4AC6-B2CB-4E60A58ED7A8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3F9A77-28DF-C409-13B2-D20C80BB4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C466F88-F4F1-E00D-DC2A-8DBEA27072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81476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4800" y="23965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57DE65-2350-3072-3D26-AE091FE7230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0" y="647971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91C14A-5735-4A8B-B68B-DEC1DC2A3813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960F7DA-0F14-8211-C3E8-B6E466EE492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C8DDAAB-9487-BAAF-7209-B8E704131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6479714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 userDrawn="1"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6EC173"/>
          </a:solidFill>
          <a:ln>
            <a:solidFill>
              <a:srgbClr val="6EC17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4" name="그림 13" descr="그래픽, 그래픽 디자인, 폰트, 원이(가) 표시된 사진&#10;&#10;자동 생성된 설명">
            <a:extLst>
              <a:ext uri="{FF2B5EF4-FFF2-40B4-BE49-F238E27FC236}">
                <a16:creationId xmlns:a16="http://schemas.microsoft.com/office/drawing/2014/main" id="{0EB71D7B-83F1-1414-954A-8C79751B779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35681" y="96056"/>
            <a:ext cx="1260000" cy="270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8831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  <p:sldLayoutId id="2147483699" r:id="rId2"/>
    <p:sldLayoutId id="2147483700" r:id="rId3"/>
    <p:sldLayoutId id="2147483701" r:id="rId4"/>
    <p:sldLayoutId id="2147483702" r:id="rId5"/>
    <p:sldLayoutId id="2147483703" r:id="rId6"/>
    <p:sldLayoutId id="2147483704" r:id="rId7"/>
    <p:sldLayoutId id="2147483705" r:id="rId8"/>
    <p:sldLayoutId id="2147483706" r:id="rId9"/>
    <p:sldLayoutId id="2147483707" r:id="rId10"/>
    <p:sldLayoutId id="2147483708" r:id="rId11"/>
    <p:sldLayoutId id="2147483709" r:id="rId12"/>
  </p:sldLayoutIdLst>
  <p:hf hdr="0" ftr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 altLang="en-US" dirty="0"/>
              <a:t>웹 개발자 부트캠프 과정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 err="1"/>
              <a:t>SeSAC</a:t>
            </a:r>
            <a:r>
              <a:rPr lang="en-US" altLang="ko-KR" dirty="0"/>
              <a:t> x </a:t>
            </a:r>
            <a:r>
              <a:rPr lang="en-US" altLang="ko-KR" dirty="0" err="1"/>
              <a:t>CODINGOn</a:t>
            </a:r>
            <a:endParaRPr lang="ko-KR" altLang="en-US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32940B-EF53-4BFE-830C-F24863DE5E50}" type="datetime6">
              <a:rPr lang="ko-KR" altLang="en-US" smtClean="0"/>
              <a:t>2024년 6월</a:t>
            </a:fld>
            <a:endParaRPr lang="ko-KR" altLang="en-US" dirty="0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968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FD7CA5C-A72D-FFC1-A78B-FE0820A751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8BB8F7-56EA-4444-8715-36E88B2971AE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07EE994-4906-15FA-0A97-CBA23B4A7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</a:t>
            </a:fld>
            <a:endParaRPr lang="ko-KR" altLang="en-US"/>
          </a:p>
        </p:txBody>
      </p:sp>
      <p:pic>
        <p:nvPicPr>
          <p:cNvPr id="1026" name="Picture 2" descr="자바스크립트(JavaScript) 공부하자">
            <a:extLst>
              <a:ext uri="{FF2B5EF4-FFF2-40B4-BE49-F238E27FC236}">
                <a16:creationId xmlns:a16="http://schemas.microsoft.com/office/drawing/2014/main" id="{97E9C49D-06DD-7059-EB87-3E2882A18C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63127" y="823411"/>
            <a:ext cx="4665746" cy="4665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6048008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30723808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D00-0CDA-45A7-A8BD-749BE07CE98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자료형</a:t>
            </a:r>
          </a:p>
        </p:txBody>
      </p:sp>
      <p:sp>
        <p:nvSpPr>
          <p:cNvPr id="6" name="순서도: 대체 처리 5">
            <a:extLst>
              <a:ext uri="{FF2B5EF4-FFF2-40B4-BE49-F238E27FC236}">
                <a16:creationId xmlns:a16="http://schemas.microsoft.com/office/drawing/2014/main" id="{C8ADAF6B-E2E4-3104-0C92-65F1ADDA3C45}"/>
              </a:ext>
            </a:extLst>
          </p:cNvPr>
          <p:cNvSpPr/>
          <p:nvPr/>
        </p:nvSpPr>
        <p:spPr>
          <a:xfrm>
            <a:off x="1371600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Primitive </a:t>
            </a:r>
            <a:r>
              <a:rPr lang="ko-KR" altLang="en-US" sz="3600" dirty="0"/>
              <a:t>자료형</a:t>
            </a:r>
          </a:p>
        </p:txBody>
      </p:sp>
      <p:sp>
        <p:nvSpPr>
          <p:cNvPr id="7" name="순서도: 대체 처리 6">
            <a:extLst>
              <a:ext uri="{FF2B5EF4-FFF2-40B4-BE49-F238E27FC236}">
                <a16:creationId xmlns:a16="http://schemas.microsoft.com/office/drawing/2014/main" id="{9E8F4A16-A580-8598-445C-BE56538BEF63}"/>
              </a:ext>
            </a:extLst>
          </p:cNvPr>
          <p:cNvSpPr/>
          <p:nvPr/>
        </p:nvSpPr>
        <p:spPr>
          <a:xfrm>
            <a:off x="6874042" y="2538663"/>
            <a:ext cx="3769894" cy="1780674"/>
          </a:xfrm>
          <a:prstGeom prst="flowChartAlternateProcess">
            <a:avLst/>
          </a:prstGeom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3600" dirty="0"/>
              <a:t>Object </a:t>
            </a:r>
            <a:r>
              <a:rPr lang="ko-KR" altLang="en-US" sz="3600" dirty="0"/>
              <a:t>자료형</a:t>
            </a:r>
          </a:p>
        </p:txBody>
      </p:sp>
    </p:spTree>
    <p:extLst>
      <p:ext uri="{BB962C8B-B14F-4D97-AF65-F5344CB8AC3E}">
        <p14:creationId xmlns:p14="http://schemas.microsoft.com/office/powerpoint/2010/main" val="8616259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Boolean</a:t>
            </a:r>
          </a:p>
          <a:p>
            <a:pPr lvl="1"/>
            <a:r>
              <a:rPr lang="ko-KR" altLang="en-US" dirty="0"/>
              <a:t>참</a:t>
            </a:r>
            <a:r>
              <a:rPr lang="en-US" altLang="ko-KR" dirty="0"/>
              <a:t>(true), </a:t>
            </a:r>
            <a:r>
              <a:rPr lang="ko-KR" altLang="en-US" dirty="0"/>
              <a:t>거짓</a:t>
            </a:r>
            <a:r>
              <a:rPr lang="en-US" altLang="ko-KR" dirty="0"/>
              <a:t>(false) </a:t>
            </a:r>
            <a:r>
              <a:rPr lang="ko-KR" altLang="en-US" dirty="0"/>
              <a:t>둘 중 하나의 값을 갖는 요소</a:t>
            </a:r>
            <a:endParaRPr lang="en-US" altLang="ko-KR" dirty="0"/>
          </a:p>
          <a:p>
            <a:r>
              <a:rPr lang="en-US" altLang="ko-KR" dirty="0"/>
              <a:t>Number</a:t>
            </a:r>
          </a:p>
          <a:p>
            <a:pPr lvl="1"/>
            <a:r>
              <a:rPr lang="ko-KR" altLang="en-US" dirty="0" err="1"/>
              <a:t>숫자형으로</a:t>
            </a:r>
            <a:r>
              <a:rPr lang="ko-KR" altLang="en-US" dirty="0"/>
              <a:t> 정수와 부동 소수점</a:t>
            </a:r>
            <a:r>
              <a:rPr lang="en-US" altLang="ko-KR" dirty="0"/>
              <a:t>, </a:t>
            </a:r>
            <a:r>
              <a:rPr lang="ko-KR" altLang="en-US" dirty="0"/>
              <a:t>무한대 및 </a:t>
            </a:r>
            <a:r>
              <a:rPr lang="en-US" altLang="ko-KR" dirty="0" err="1"/>
              <a:t>NaN</a:t>
            </a:r>
            <a:r>
              <a:rPr lang="en-US" altLang="ko-KR" dirty="0"/>
              <a:t>(</a:t>
            </a:r>
            <a:r>
              <a:rPr lang="ko-KR" altLang="en-US" dirty="0"/>
              <a:t>숫자 아님</a:t>
            </a:r>
            <a:r>
              <a:rPr lang="en-US" altLang="ko-KR" dirty="0"/>
              <a:t>)</a:t>
            </a:r>
          </a:p>
          <a:p>
            <a:r>
              <a:rPr lang="en-US" altLang="ko-KR" dirty="0"/>
              <a:t>String</a:t>
            </a:r>
          </a:p>
          <a:p>
            <a:pPr lvl="1"/>
            <a:r>
              <a:rPr lang="ko-KR" altLang="en-US" dirty="0"/>
              <a:t>문자 데이터를 나타낼 때 사용</a:t>
            </a:r>
            <a:endParaRPr lang="en-US" altLang="ko-KR" dirty="0"/>
          </a:p>
          <a:p>
            <a:r>
              <a:rPr lang="en-US" altLang="ko-KR" dirty="0"/>
              <a:t>Null</a:t>
            </a:r>
          </a:p>
          <a:p>
            <a:pPr lvl="1"/>
            <a:r>
              <a:rPr lang="ko-KR" altLang="en-US" dirty="0"/>
              <a:t>빈 값을 뜻하는 </a:t>
            </a:r>
            <a:r>
              <a:rPr lang="en-US" altLang="ko-KR" dirty="0"/>
              <a:t>null </a:t>
            </a:r>
            <a:r>
              <a:rPr lang="ko-KR" altLang="en-US" dirty="0"/>
              <a:t>타입</a:t>
            </a:r>
            <a:endParaRPr lang="en-US" altLang="ko-KR" dirty="0"/>
          </a:p>
          <a:p>
            <a:pPr lvl="1"/>
            <a:r>
              <a:rPr lang="ko-KR" altLang="en-US" dirty="0"/>
              <a:t>타입은 존재하지만 값 존재 </a:t>
            </a:r>
            <a:r>
              <a:rPr lang="en-US" altLang="ko-KR" dirty="0"/>
              <a:t>X	</a:t>
            </a:r>
          </a:p>
          <a:p>
            <a:r>
              <a:rPr lang="en-US" altLang="ko-KR" dirty="0"/>
              <a:t>Undefined</a:t>
            </a:r>
          </a:p>
          <a:p>
            <a:pPr lvl="1"/>
            <a:r>
              <a:rPr lang="ko-KR" altLang="en-US" dirty="0"/>
              <a:t>값 </a:t>
            </a:r>
            <a:r>
              <a:rPr lang="en-US" altLang="ko-KR" dirty="0"/>
              <a:t>X </a:t>
            </a:r>
            <a:r>
              <a:rPr lang="ko-KR" altLang="en-US" dirty="0"/>
              <a:t>타입 </a:t>
            </a:r>
            <a:r>
              <a:rPr lang="en-US" altLang="ko-KR" dirty="0"/>
              <a:t>X </a:t>
            </a:r>
          </a:p>
          <a:p>
            <a:pPr lvl="1"/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Primitive</a:t>
            </a:r>
            <a:r>
              <a:rPr lang="ko-KR" altLang="en-US" dirty="0"/>
              <a:t> 자료형</a:t>
            </a:r>
          </a:p>
        </p:txBody>
      </p:sp>
    </p:spTree>
    <p:extLst>
      <p:ext uri="{BB962C8B-B14F-4D97-AF65-F5344CB8AC3E}">
        <p14:creationId xmlns:p14="http://schemas.microsoft.com/office/powerpoint/2010/main" val="10222469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4351338"/>
          </a:xfrm>
        </p:spPr>
        <p:txBody>
          <a:bodyPr>
            <a:normAutofit fontScale="92500" lnSpcReduction="10000"/>
          </a:bodyPr>
          <a:lstStyle/>
          <a:p>
            <a:r>
              <a:rPr lang="ko-KR" altLang="en-US" dirty="0"/>
              <a:t>자바스크립트에서 객체는 거의 모든 것을 나타냄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원시 타입을 제외한 나머지 값</a:t>
            </a:r>
            <a:r>
              <a:rPr lang="en-US" altLang="ko-KR" dirty="0"/>
              <a:t>(</a:t>
            </a:r>
            <a:r>
              <a:rPr lang="ko-KR" altLang="en-US" dirty="0"/>
              <a:t>함수</a:t>
            </a:r>
            <a:r>
              <a:rPr lang="en-US" altLang="ko-KR" dirty="0"/>
              <a:t>, </a:t>
            </a:r>
            <a:r>
              <a:rPr lang="ko-KR" altLang="en-US" dirty="0"/>
              <a:t>배열</a:t>
            </a:r>
            <a:r>
              <a:rPr lang="en-US" altLang="ko-KR" dirty="0"/>
              <a:t>, </a:t>
            </a:r>
            <a:r>
              <a:rPr lang="ko-KR" altLang="en-US" dirty="0"/>
              <a:t>클래스 등</a:t>
            </a:r>
            <a:r>
              <a:rPr lang="en-US" altLang="ko-KR" dirty="0"/>
              <a:t>)</a:t>
            </a:r>
            <a:r>
              <a:rPr lang="ko-KR" altLang="en-US" dirty="0"/>
              <a:t>은 모두 객체</a:t>
            </a:r>
            <a:r>
              <a:rPr lang="en-US" altLang="ko-KR" dirty="0"/>
              <a:t>!</a:t>
            </a:r>
          </a:p>
          <a:p>
            <a:r>
              <a:rPr lang="ko-KR" altLang="en-US" dirty="0"/>
              <a:t>객체 타입</a:t>
            </a:r>
            <a:r>
              <a:rPr lang="en-US" altLang="ko-KR" dirty="0"/>
              <a:t>(Object type)</a:t>
            </a:r>
            <a:r>
              <a:rPr lang="ko-KR" altLang="en-US" dirty="0"/>
              <a:t> </a:t>
            </a:r>
            <a:r>
              <a:rPr lang="en-US" altLang="ko-KR" dirty="0"/>
              <a:t>or </a:t>
            </a:r>
            <a:r>
              <a:rPr lang="ko-KR" altLang="en-US" dirty="0"/>
              <a:t>참조 타입 </a:t>
            </a:r>
            <a:r>
              <a:rPr lang="en-US" altLang="ko-KR" dirty="0"/>
              <a:t>(Reference type)</a:t>
            </a:r>
          </a:p>
          <a:p>
            <a:endParaRPr lang="en-US" altLang="ko-KR" dirty="0"/>
          </a:p>
          <a:p>
            <a:r>
              <a:rPr lang="ko-KR" altLang="en-US" dirty="0">
                <a:solidFill>
                  <a:schemeClr val="accent1"/>
                </a:solidFill>
              </a:rPr>
              <a:t>키</a:t>
            </a:r>
            <a:r>
              <a:rPr lang="en-US" altLang="ko-KR" dirty="0">
                <a:solidFill>
                  <a:schemeClr val="accent1"/>
                </a:solidFill>
              </a:rPr>
              <a:t>(key)</a:t>
            </a:r>
            <a:r>
              <a:rPr lang="ko-KR" altLang="en-US" dirty="0">
                <a:solidFill>
                  <a:schemeClr val="accent1"/>
                </a:solidFill>
              </a:rPr>
              <a:t>와 값</a:t>
            </a:r>
            <a:r>
              <a:rPr lang="en-US" altLang="ko-KR" dirty="0">
                <a:solidFill>
                  <a:schemeClr val="accent1"/>
                </a:solidFill>
              </a:rPr>
              <a:t>(value)</a:t>
            </a:r>
            <a:r>
              <a:rPr lang="ko-KR" altLang="en-US" dirty="0">
                <a:solidFill>
                  <a:schemeClr val="accent1"/>
                </a:solidFill>
              </a:rPr>
              <a:t>로 구성</a:t>
            </a:r>
            <a:r>
              <a:rPr lang="ko-KR" altLang="en-US" dirty="0"/>
              <a:t>된 </a:t>
            </a:r>
            <a:r>
              <a:rPr lang="ko-KR" altLang="en-US" dirty="0" err="1"/>
              <a:t>프로퍼티</a:t>
            </a:r>
            <a:r>
              <a:rPr lang="en-US" altLang="ko-KR" dirty="0"/>
              <a:t>(property) </a:t>
            </a:r>
            <a:r>
              <a:rPr lang="ko-KR" altLang="en-US" dirty="0"/>
              <a:t>집합</a:t>
            </a:r>
            <a:endParaRPr lang="en-US" altLang="ko-KR" dirty="0"/>
          </a:p>
          <a:p>
            <a:r>
              <a:rPr lang="ko-KR" altLang="en-US" dirty="0"/>
              <a:t>프로퍼티 값으로 함수를 포함할 수 있음</a:t>
            </a:r>
            <a:r>
              <a:rPr lang="en-US" altLang="ko-KR" dirty="0"/>
              <a:t>! </a:t>
            </a:r>
            <a:r>
              <a:rPr lang="en-US" altLang="ko-KR" dirty="0">
                <a:sym typeface="Wingdings" panose="05000000000000000000" pitchFamily="2" charset="2"/>
              </a:rPr>
              <a:t></a:t>
            </a:r>
            <a:r>
              <a:rPr lang="en-US" altLang="ko-KR" dirty="0"/>
              <a:t> </a:t>
            </a:r>
            <a:r>
              <a:rPr lang="ko-KR" altLang="en-US" dirty="0" err="1"/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(method)</a:t>
            </a:r>
          </a:p>
          <a:p>
            <a:endParaRPr lang="en-US" altLang="ko-KR" dirty="0"/>
          </a:p>
          <a:p>
            <a:r>
              <a:rPr lang="ko-KR" altLang="en-US" dirty="0"/>
              <a:t>객체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프로퍼티</a:t>
            </a:r>
            <a:r>
              <a:rPr lang="en-US" altLang="ko-KR" dirty="0">
                <a:solidFill>
                  <a:schemeClr val="accent1"/>
                </a:solidFill>
              </a:rPr>
              <a:t>(property)</a:t>
            </a:r>
            <a:r>
              <a:rPr lang="en-US" altLang="ko-KR" dirty="0"/>
              <a:t>: </a:t>
            </a:r>
            <a:r>
              <a:rPr lang="ko-KR" altLang="en-US" dirty="0"/>
              <a:t>데이터를 의미</a:t>
            </a:r>
            <a:endParaRPr lang="en-US" altLang="ko-KR" dirty="0"/>
          </a:p>
          <a:p>
            <a:pPr lvl="1"/>
            <a:r>
              <a:rPr lang="ko-KR" altLang="en-US" dirty="0" err="1">
                <a:solidFill>
                  <a:schemeClr val="accent1"/>
                </a:solidFill>
              </a:rPr>
              <a:t>메소드</a:t>
            </a:r>
            <a:r>
              <a:rPr lang="en-US" altLang="ko-KR" dirty="0">
                <a:solidFill>
                  <a:schemeClr val="accent1"/>
                </a:solidFill>
              </a:rPr>
              <a:t>(method)</a:t>
            </a:r>
            <a:r>
              <a:rPr lang="en-US" altLang="ko-KR" dirty="0"/>
              <a:t>: </a:t>
            </a:r>
            <a:r>
              <a:rPr lang="ko-KR" altLang="en-US" dirty="0"/>
              <a:t>동작을 의미 </a:t>
            </a:r>
            <a:r>
              <a:rPr lang="en-US" altLang="ko-KR" dirty="0"/>
              <a:t>-&gt; </a:t>
            </a:r>
            <a:r>
              <a:rPr lang="ko-KR" altLang="en-US" dirty="0" err="1"/>
              <a:t>프로퍼티</a:t>
            </a:r>
            <a:r>
              <a:rPr lang="ko-KR" altLang="en-US" dirty="0"/>
              <a:t> 값이 함수 일 경우</a:t>
            </a:r>
            <a:r>
              <a:rPr lang="en-US" altLang="ko-KR" dirty="0"/>
              <a:t>!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BBA0DC-E9D2-429C-946B-770A9048132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</a:t>
            </a:r>
            <a:r>
              <a:rPr lang="ko-KR" altLang="en-US" dirty="0" err="1"/>
              <a:t>자료형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58431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4F3061-A8C0-47A7-B70C-8C6BAF46AF2C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/>
              <a:t>객체 </a:t>
            </a:r>
            <a:r>
              <a:rPr lang="en-US" altLang="ko-KR" dirty="0"/>
              <a:t>: </a:t>
            </a:r>
            <a:r>
              <a:rPr lang="ko-KR" altLang="en-US" dirty="0"/>
              <a:t>고양이 그 자체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3"/>
                </a:solidFill>
              </a:rPr>
              <a:t>속성</a:t>
            </a:r>
            <a:r>
              <a:rPr lang="ko-KR" altLang="en-US" dirty="0"/>
              <a:t> </a:t>
            </a:r>
            <a:r>
              <a:rPr lang="en-US" altLang="ko-KR" dirty="0"/>
              <a:t>: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이름 </a:t>
            </a:r>
            <a:r>
              <a:rPr lang="en-US" altLang="ko-KR" dirty="0"/>
              <a:t>– </a:t>
            </a:r>
            <a:r>
              <a:rPr lang="ko-KR" altLang="en-US" dirty="0"/>
              <a:t>나비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ko-KR" altLang="en-US" dirty="0"/>
              <a:t>나이 </a:t>
            </a:r>
            <a:r>
              <a:rPr lang="en-US" altLang="ko-KR" dirty="0"/>
              <a:t>– 1</a:t>
            </a:r>
            <a:r>
              <a:rPr lang="ko-KR" altLang="en-US" dirty="0"/>
              <a:t>살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메소드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endParaRPr lang="en-US" altLang="ko-KR" dirty="0"/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mew()</a:t>
            </a:r>
            <a:r>
              <a:rPr lang="ko-KR" altLang="en-US" dirty="0"/>
              <a:t> </a:t>
            </a:r>
            <a:r>
              <a:rPr lang="en-US" altLang="ko-KR" dirty="0"/>
              <a:t>–</a:t>
            </a:r>
            <a:r>
              <a:rPr lang="ko-KR" altLang="en-US" dirty="0"/>
              <a:t> 울다</a:t>
            </a:r>
            <a:endParaRPr lang="en-US" altLang="ko-KR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2970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내용 개체 틀 6">
            <a:extLst>
              <a:ext uri="{FF2B5EF4-FFF2-40B4-BE49-F238E27FC236}">
                <a16:creationId xmlns:a16="http://schemas.microsoft.com/office/drawing/2014/main" id="{3758B263-DC45-ACC3-990B-EE489C81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88741"/>
            <a:ext cx="10515600" cy="644859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실생활에서 우리가 인식할 수 있는 사물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8A7B7B-B510-4FB4-806A-F48FB70E79E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객체</a:t>
            </a:r>
          </a:p>
        </p:txBody>
      </p:sp>
      <p:sp>
        <p:nvSpPr>
          <p:cNvPr id="10" name="내용 개체 틀 6">
            <a:extLst>
              <a:ext uri="{FF2B5EF4-FFF2-40B4-BE49-F238E27FC236}">
                <a16:creationId xmlns:a16="http://schemas.microsoft.com/office/drawing/2014/main" id="{3380BBDF-C030-67D8-6797-453FB7984EAC}"/>
              </a:ext>
            </a:extLst>
          </p:cNvPr>
          <p:cNvSpPr txBox="1">
            <a:spLocks/>
          </p:cNvSpPr>
          <p:nvPr/>
        </p:nvSpPr>
        <p:spPr>
          <a:xfrm>
            <a:off x="6625389" y="2265446"/>
            <a:ext cx="5053264" cy="37337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 err="1"/>
              <a:t>const</a:t>
            </a:r>
            <a:r>
              <a:rPr lang="en-US" altLang="ko-KR" dirty="0"/>
              <a:t> cat =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name</a:t>
            </a:r>
            <a:r>
              <a:rPr lang="en-US" altLang="ko-KR" dirty="0"/>
              <a:t>: “</a:t>
            </a:r>
            <a:r>
              <a:rPr lang="ko-KR" altLang="en-US" dirty="0"/>
              <a:t>나비</a:t>
            </a:r>
            <a:r>
              <a:rPr lang="en-US" altLang="ko-KR" dirty="0"/>
              <a:t>”,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3"/>
                </a:solidFill>
              </a:rPr>
              <a:t>age</a:t>
            </a:r>
            <a:r>
              <a:rPr lang="en-US" altLang="ko-KR" dirty="0"/>
              <a:t> : 1,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</a:t>
            </a:r>
            <a:r>
              <a:rPr lang="en-US" altLang="ko-KR" dirty="0">
                <a:solidFill>
                  <a:schemeClr val="accent1"/>
                </a:solidFill>
              </a:rPr>
              <a:t>mew</a:t>
            </a:r>
            <a:r>
              <a:rPr lang="ko-KR" altLang="en-US" dirty="0"/>
              <a:t> </a:t>
            </a:r>
            <a:r>
              <a:rPr lang="en-US" altLang="ko-KR" dirty="0"/>
              <a:t>:</a:t>
            </a:r>
            <a:r>
              <a:rPr lang="ko-KR" altLang="en-US" dirty="0"/>
              <a:t> </a:t>
            </a:r>
            <a:r>
              <a:rPr lang="en-US" altLang="ko-KR" dirty="0"/>
              <a:t>function()</a:t>
            </a:r>
            <a:r>
              <a:rPr lang="ko-KR" altLang="en-US" dirty="0"/>
              <a:t> </a:t>
            </a:r>
            <a:r>
              <a:rPr lang="en-US" altLang="ko-KR" dirty="0"/>
              <a:t>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	return “</a:t>
            </a:r>
            <a:r>
              <a:rPr lang="ko-KR" altLang="en-US" dirty="0" err="1"/>
              <a:t>냐옹</a:t>
            </a:r>
            <a:r>
              <a:rPr lang="en-US" altLang="ko-KR" dirty="0"/>
              <a:t>”;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	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altLang="ko-KR" dirty="0"/>
              <a:t>};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CAE22E9-AB34-4B59-17C4-617128E963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265446"/>
            <a:ext cx="5600700" cy="3733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78138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1DC06FE-4677-EEA7-EB62-8E635AA1E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기본 자료형</a:t>
            </a:r>
            <a:endParaRPr lang="en-US" altLang="ko-KR" dirty="0"/>
          </a:p>
          <a:p>
            <a:pPr lvl="1"/>
            <a:r>
              <a:rPr lang="ko-KR" altLang="en-US" dirty="0"/>
              <a:t>다른 변수에 값을 할당하거나 함수 인자를 넘길 때 </a:t>
            </a:r>
            <a:r>
              <a:rPr lang="ko-KR" altLang="en-US" dirty="0">
                <a:solidFill>
                  <a:srgbClr val="6EC173"/>
                </a:solidFill>
              </a:rPr>
              <a:t>값을 복사</a:t>
            </a:r>
            <a:r>
              <a:rPr lang="ko-KR" altLang="en-US" dirty="0"/>
              <a:t>해 전달 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value</a:t>
            </a:r>
          </a:p>
          <a:p>
            <a:pPr lvl="1"/>
            <a:endParaRPr lang="en-US" altLang="ko-KR" dirty="0"/>
          </a:p>
          <a:p>
            <a:r>
              <a:rPr lang="ko-KR" altLang="en-US" dirty="0"/>
              <a:t>객체 자료형</a:t>
            </a:r>
            <a:endParaRPr lang="en-US" altLang="ko-KR" dirty="0"/>
          </a:p>
          <a:p>
            <a:pPr lvl="1"/>
            <a:r>
              <a:rPr lang="ko-KR" altLang="en-US" dirty="0"/>
              <a:t>값을 복사해 전달하는 것이 아닌 </a:t>
            </a:r>
            <a:r>
              <a:rPr lang="ko-KR" altLang="en-US" dirty="0">
                <a:solidFill>
                  <a:srgbClr val="6EC173"/>
                </a:solidFill>
              </a:rPr>
              <a:t>메모리 주소를 </a:t>
            </a:r>
            <a:r>
              <a:rPr lang="ko-KR" altLang="en-US" dirty="0" err="1">
                <a:solidFill>
                  <a:srgbClr val="6EC173"/>
                </a:solidFill>
              </a:rPr>
              <a:t>참조값</a:t>
            </a:r>
            <a:r>
              <a:rPr lang="en-US" altLang="ko-KR" dirty="0">
                <a:solidFill>
                  <a:srgbClr val="6EC173"/>
                </a:solidFill>
              </a:rPr>
              <a:t>(address)</a:t>
            </a:r>
            <a:r>
              <a:rPr lang="ko-KR" altLang="en-US" dirty="0"/>
              <a:t>을 저장</a:t>
            </a:r>
            <a:endParaRPr lang="en-US" altLang="ko-KR" dirty="0"/>
          </a:p>
          <a:p>
            <a:pPr lvl="1"/>
            <a:r>
              <a:rPr lang="ko-KR" altLang="en-US" dirty="0"/>
              <a:t>➡ </a:t>
            </a:r>
            <a:r>
              <a:rPr lang="en-US" altLang="ko-KR" dirty="0"/>
              <a:t>Pass by reference</a:t>
            </a:r>
          </a:p>
          <a:p>
            <a:pPr lvl="1"/>
            <a:r>
              <a:rPr lang="ko-KR" altLang="en-US" dirty="0"/>
              <a:t>즉</a:t>
            </a:r>
            <a:r>
              <a:rPr lang="en-US" altLang="ko-KR" dirty="0"/>
              <a:t>, </a:t>
            </a:r>
            <a:r>
              <a:rPr lang="ko-KR" altLang="en-US" dirty="0"/>
              <a:t>같은 객체를 참조할 뿐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3784B25-542E-D97A-BAD6-5A9BE92D3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1A29E6-51E5-434F-8BAA-E4A5A5BCFF40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CD7E12-C06F-53DD-9E8A-7D711767E1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D402708-C280-F3CD-523F-655CA5E68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기본 자료형 </a:t>
            </a:r>
            <a:r>
              <a:rPr lang="en-US" altLang="ko-KR" dirty="0"/>
              <a:t>vs </a:t>
            </a:r>
            <a:r>
              <a:rPr lang="ko-KR" altLang="en-US" dirty="0"/>
              <a:t>객체 자료형</a:t>
            </a:r>
          </a:p>
        </p:txBody>
      </p:sp>
    </p:spTree>
    <p:extLst>
      <p:ext uri="{BB962C8B-B14F-4D97-AF65-F5344CB8AC3E}">
        <p14:creationId xmlns:p14="http://schemas.microsoft.com/office/powerpoint/2010/main" val="33688607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15548"/>
            <a:ext cx="10515600" cy="1296620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숫자형과 문자열과 마찬가지로 일반적인 스크립트와 동일</a:t>
            </a:r>
            <a:endParaRPr lang="en-US" altLang="ko-KR" dirty="0"/>
          </a:p>
          <a:p>
            <a:pPr marL="0" indent="0">
              <a:buNone/>
            </a:pPr>
            <a:r>
              <a:rPr lang="en-US" altLang="ko-KR" dirty="0">
                <a:solidFill>
                  <a:srgbClr val="FF0000"/>
                </a:solidFill>
              </a:rPr>
              <a:t>[]</a:t>
            </a:r>
            <a:r>
              <a:rPr lang="en-US" altLang="ko-KR" dirty="0"/>
              <a:t> </a:t>
            </a:r>
            <a:r>
              <a:rPr lang="ko-KR" altLang="en-US" dirty="0"/>
              <a:t>나 </a:t>
            </a:r>
            <a:r>
              <a:rPr lang="en-US" altLang="ko-KR" dirty="0">
                <a:solidFill>
                  <a:srgbClr val="FF0000"/>
                </a:solidFill>
              </a:rPr>
              <a:t>new Array()</a:t>
            </a:r>
            <a:r>
              <a:rPr lang="ko-KR" altLang="en-US" dirty="0"/>
              <a:t>를 이용해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55FBF-1980-4364-9E8B-5E28EBE09C05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3445616"/>
            <a:ext cx="10383386" cy="1831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3161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0" y="1488741"/>
            <a:ext cx="8610600" cy="4660268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3"/>
                </a:solidFill>
              </a:rPr>
              <a:t>.length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.push(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.pop()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.unshift(</a:t>
            </a:r>
            <a:r>
              <a:rPr lang="ko-KR" altLang="en-US" dirty="0">
                <a:solidFill>
                  <a:schemeClr val="accent1"/>
                </a:solidFill>
              </a:rPr>
              <a:t>추가할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.shift()</a:t>
            </a:r>
          </a:p>
          <a:p>
            <a:pPr>
              <a:lnSpc>
                <a:spcPct val="120000"/>
              </a:lnSpc>
            </a:pPr>
            <a:r>
              <a:rPr lang="ko-KR" altLang="en-US" dirty="0" err="1"/>
              <a:t>변수명</a:t>
            </a:r>
            <a:r>
              <a:rPr lang="en-US" altLang="ko-KR" dirty="0">
                <a:solidFill>
                  <a:schemeClr val="accent1"/>
                </a:solidFill>
              </a:rPr>
              <a:t>.</a:t>
            </a:r>
            <a:r>
              <a:rPr lang="en-US" altLang="ko-KR" dirty="0" err="1">
                <a:solidFill>
                  <a:schemeClr val="accent1"/>
                </a:solidFill>
              </a:rPr>
              <a:t>indexOf</a:t>
            </a:r>
            <a:r>
              <a:rPr lang="en-US" altLang="ko-KR" dirty="0">
                <a:solidFill>
                  <a:schemeClr val="accent1"/>
                </a:solidFill>
              </a:rPr>
              <a:t>(</a:t>
            </a:r>
            <a:r>
              <a:rPr lang="ko-KR" altLang="en-US" dirty="0">
                <a:solidFill>
                  <a:schemeClr val="accent1"/>
                </a:solidFill>
              </a:rPr>
              <a:t>찾을 값</a:t>
            </a:r>
            <a:r>
              <a:rPr lang="en-US" altLang="ko-KR" dirty="0">
                <a:solidFill>
                  <a:schemeClr val="accent1"/>
                </a:solidFill>
              </a:rPr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…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4B845D-2417-4568-8665-C368068EE0D6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11</a:t>
            </a:fld>
            <a:endParaRPr lang="ko-KR" altLang="en-US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/>
              <a:t>배열</a:t>
            </a:r>
          </a:p>
        </p:txBody>
      </p:sp>
    </p:spTree>
    <p:extLst>
      <p:ext uri="{BB962C8B-B14F-4D97-AF65-F5344CB8AC3E}">
        <p14:creationId xmlns:p14="http://schemas.microsoft.com/office/powerpoint/2010/main" val="1677002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4412" y="1790700"/>
            <a:ext cx="8340576" cy="3416300"/>
          </a:xfrm>
          <a:prstGeom prst="rect">
            <a:avLst/>
          </a:prstGeom>
        </p:spPr>
      </p:pic>
      <p:sp>
        <p:nvSpPr>
          <p:cNvPr id="8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2600" y="2477398"/>
            <a:ext cx="4203700" cy="721058"/>
          </a:xfrm>
        </p:spPr>
        <p:txBody>
          <a:bodyPr/>
          <a:lstStyle/>
          <a:p>
            <a:pPr marL="0" indent="0">
              <a:buNone/>
            </a:pPr>
            <a:r>
              <a:rPr lang="ko-KR" altLang="en-US" dirty="0"/>
              <a:t>키</a:t>
            </a:r>
            <a:r>
              <a:rPr lang="en-US" altLang="ko-KR" dirty="0"/>
              <a:t>-</a:t>
            </a:r>
            <a:r>
              <a:rPr lang="ko-KR" altLang="en-US" dirty="0"/>
              <a:t>값 형태로 저장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744276-5C6F-AD8B-9F61-9B2A520D8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0404D9-6A52-4A99-9101-80BD6AA53C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12E7352-FB36-4681-B691-48A912BAC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4AB12D32-4144-5D6A-1E9C-7EB121AB3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Object</a:t>
            </a:r>
            <a:r>
              <a:rPr lang="ko-KR" altLang="en-US" dirty="0"/>
              <a:t> 자료형 </a:t>
            </a:r>
            <a:r>
              <a:rPr lang="en-US" altLang="ko-KR" dirty="0"/>
              <a:t>- </a:t>
            </a:r>
            <a:r>
              <a:rPr lang="ko-KR" altLang="en-US" dirty="0" err="1"/>
              <a:t>딕셔너리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251781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</a:t>
            </a:r>
            <a:r>
              <a:rPr lang="ko-KR" altLang="en-US" sz="8000" dirty="0" err="1"/>
              <a:t>표준객체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6654054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자바스크립트가 </a:t>
            </a:r>
            <a:r>
              <a:rPr lang="ko-KR" altLang="en-US" b="1" dirty="0"/>
              <a:t>기본적으로 가지고 있는 객체들</a:t>
            </a:r>
            <a:endParaRPr lang="en-US" altLang="ko-KR" b="1" dirty="0"/>
          </a:p>
          <a:p>
            <a:endParaRPr lang="en-US" altLang="ko-KR" dirty="0"/>
          </a:p>
          <a:p>
            <a:r>
              <a:rPr lang="ko-KR" altLang="en-US" dirty="0"/>
              <a:t>프로그래밍을 하는데 기본적으로 필요한 도구들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/>
              <a:t>String, Number, Array, </a:t>
            </a:r>
            <a:r>
              <a:rPr lang="en-US" altLang="ko-KR" sz="3200" dirty="0">
                <a:solidFill>
                  <a:schemeClr val="accent1"/>
                </a:solidFill>
              </a:rPr>
              <a:t>Date</a:t>
            </a:r>
            <a:r>
              <a:rPr lang="en-US" altLang="ko-KR" dirty="0">
                <a:solidFill>
                  <a:schemeClr val="accent1"/>
                </a:solidFill>
              </a:rPr>
              <a:t>, </a:t>
            </a:r>
            <a:r>
              <a:rPr lang="en-US" altLang="ko-KR" sz="3200" dirty="0">
                <a:solidFill>
                  <a:schemeClr val="accent1"/>
                </a:solidFill>
              </a:rPr>
              <a:t>Math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en-US" altLang="ko-KR" dirty="0"/>
              <a:t>..........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JavaScript </a:t>
            </a:r>
            <a:r>
              <a:rPr lang="ko-KR" altLang="en-US" dirty="0"/>
              <a:t>표준 객체</a:t>
            </a:r>
          </a:p>
        </p:txBody>
      </p:sp>
    </p:spTree>
    <p:extLst>
      <p:ext uri="{BB962C8B-B14F-4D97-AF65-F5344CB8AC3E}">
        <p14:creationId xmlns:p14="http://schemas.microsoft.com/office/powerpoint/2010/main" val="11892771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에서 매 순간 바뀌는 시간과 날짜에 관한 정보를 얻기 위해 사용하는 객체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초기화</a:t>
            </a: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EF06E2B2-0104-FD13-5570-9B2C52B0D38F}"/>
              </a:ext>
            </a:extLst>
          </p:cNvPr>
          <p:cNvGrpSpPr/>
          <p:nvPr/>
        </p:nvGrpSpPr>
        <p:grpSpPr>
          <a:xfrm>
            <a:off x="2436359" y="3356862"/>
            <a:ext cx="9272101" cy="2187260"/>
            <a:chOff x="2436359" y="3356862"/>
            <a:chExt cx="9272101" cy="2187260"/>
          </a:xfrm>
        </p:grpSpPr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24BC95-51F1-5208-5A56-83610CBD3AD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34029"/>
            <a:stretch/>
          </p:blipFill>
          <p:spPr>
            <a:xfrm>
              <a:off x="2436359" y="3674076"/>
              <a:ext cx="9272101" cy="1870046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CD325514-0D27-A28E-EDEA-07BD5DFD6F20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b="88810"/>
            <a:stretch/>
          </p:blipFill>
          <p:spPr>
            <a:xfrm>
              <a:off x="2436359" y="3356862"/>
              <a:ext cx="9272101" cy="31721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23966605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5563"/>
            <a:ext cx="10515600" cy="4989847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Date.now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Date.prototype</a:t>
            </a:r>
            <a:r>
              <a:rPr lang="en-US" altLang="ko-KR" dirty="0"/>
              <a:t> getter </a:t>
            </a:r>
            <a:r>
              <a:rPr lang="ko-KR" altLang="en-US" dirty="0"/>
              <a:t>메소드</a:t>
            </a:r>
            <a:r>
              <a:rPr lang="en-US" altLang="ko-KR" dirty="0"/>
              <a:t> ( let date = new Date(); 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date.getFullYear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date.getDate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date.getDay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date.getTime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date.getHour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date.getMinutes</a:t>
            </a:r>
            <a:r>
              <a:rPr lang="en-US" altLang="ko-KR" dirty="0"/>
              <a:t>()</a:t>
            </a:r>
          </a:p>
          <a:p>
            <a:pPr lvl="1">
              <a:lnSpc>
                <a:spcPct val="120000"/>
              </a:lnSpc>
            </a:pPr>
            <a:r>
              <a:rPr lang="en-US" altLang="ko-KR" dirty="0" err="1"/>
              <a:t>date.getSeconds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4555BB-40C1-49F2-814A-FC989E48DA17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Date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</p:spTree>
    <p:extLst>
      <p:ext uri="{BB962C8B-B14F-4D97-AF65-F5344CB8AC3E}">
        <p14:creationId xmlns:p14="http://schemas.microsoft.com/office/powerpoint/2010/main" val="5470363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수학에서 자주 사용하는 상수와 함수들을 미리 구현해 놓은 </a:t>
            </a:r>
            <a:r>
              <a:rPr lang="en-US" altLang="ko-KR" dirty="0" err="1"/>
              <a:t>Javascript</a:t>
            </a:r>
            <a:r>
              <a:rPr lang="en-US" altLang="ko-KR" dirty="0"/>
              <a:t> </a:t>
            </a:r>
            <a:r>
              <a:rPr lang="ko-KR" altLang="en-US" dirty="0"/>
              <a:t>표준 내장 객체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웹 브라우저마다 다른 결과를 얻을 가능성이 있기에 정확한 결과를 얻어야 할 경우에는 </a:t>
            </a:r>
            <a:r>
              <a:rPr lang="en-US" altLang="ko-KR" dirty="0"/>
              <a:t>Math </a:t>
            </a:r>
            <a:r>
              <a:rPr lang="ko-KR" altLang="en-US" dirty="0"/>
              <a:t>메소드를 사용하지 않는 것이 좋다</a:t>
            </a:r>
            <a:r>
              <a:rPr lang="en-US" altLang="ko-KR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E2A22E-3498-4C32-970F-84BAFA956A09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</a:t>
            </a:r>
          </a:p>
        </p:txBody>
      </p:sp>
    </p:spTree>
    <p:extLst>
      <p:ext uri="{BB962C8B-B14F-4D97-AF65-F5344CB8AC3E}">
        <p14:creationId xmlns:p14="http://schemas.microsoft.com/office/powerpoint/2010/main" val="11560224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47184" y="1619619"/>
            <a:ext cx="5803231" cy="4181810"/>
          </a:xfrm>
        </p:spPr>
        <p:txBody>
          <a:bodyPr/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min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max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random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round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floor</a:t>
            </a:r>
            <a:r>
              <a:rPr lang="en-US" altLang="ko-KR" dirty="0"/>
              <a:t>()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ceil</a:t>
            </a:r>
            <a:r>
              <a:rPr lang="en-US" altLang="ko-KR" dirty="0"/>
              <a:t>()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Math </a:t>
            </a:r>
            <a:r>
              <a:rPr lang="ko-KR" altLang="en-US" dirty="0"/>
              <a:t>객체 </a:t>
            </a:r>
            <a:r>
              <a:rPr lang="en-US" altLang="ko-KR" dirty="0"/>
              <a:t>- </a:t>
            </a:r>
            <a:r>
              <a:rPr lang="ko-KR" altLang="en-US" dirty="0"/>
              <a:t>함수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51031968-EEA9-FF7A-D8AD-2C8EC9F2C2BA}"/>
              </a:ext>
            </a:extLst>
          </p:cNvPr>
          <p:cNvSpPr txBox="1">
            <a:spLocks/>
          </p:cNvSpPr>
          <p:nvPr/>
        </p:nvSpPr>
        <p:spPr>
          <a:xfrm>
            <a:off x="1486669" y="1619619"/>
            <a:ext cx="5803231" cy="418181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PI</a:t>
            </a:r>
            <a:endParaRPr lang="en-US" altLang="ko-KR" b="1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Math.</a:t>
            </a:r>
            <a:r>
              <a:rPr lang="en-US" altLang="ko-KR" b="1" dirty="0" err="1"/>
              <a:t>E</a:t>
            </a:r>
            <a:endParaRPr lang="en-US" altLang="ko-KR" b="1" dirty="0"/>
          </a:p>
        </p:txBody>
      </p:sp>
    </p:spTree>
    <p:extLst>
      <p:ext uri="{BB962C8B-B14F-4D97-AF65-F5344CB8AC3E}">
        <p14:creationId xmlns:p14="http://schemas.microsoft.com/office/powerpoint/2010/main" val="1760307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/>
              <a:t>주말과 평일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주말과 평일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5702757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</a:t>
            </a:r>
            <a:r>
              <a:rPr lang="ko-KR" altLang="en-US" dirty="0" err="1"/>
              <a:t>난수</a:t>
            </a:r>
            <a:r>
              <a:rPr lang="ko-KR" altLang="en-US" dirty="0"/>
              <a:t> 생성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내장 </a:t>
            </a:r>
            <a:r>
              <a:rPr lang="ko-KR" altLang="en-US" sz="2800" b="1" dirty="0" err="1">
                <a:solidFill>
                  <a:srgbClr val="212529"/>
                </a:solidFill>
                <a:latin typeface="+mn-ea"/>
              </a:rPr>
              <a:t>메소드와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 내장 객체 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내장 객체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난수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 생성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695702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z="8000" dirty="0"/>
              <a:t>JavaScript DOM</a:t>
            </a:r>
            <a:endParaRPr lang="ko-KR" altLang="en-US" sz="8000" dirty="0"/>
          </a:p>
        </p:txBody>
      </p:sp>
    </p:spTree>
    <p:extLst>
      <p:ext uri="{BB962C8B-B14F-4D97-AF65-F5344CB8AC3E}">
        <p14:creationId xmlns:p14="http://schemas.microsoft.com/office/powerpoint/2010/main" val="14380109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6E4500-9B5B-98AF-AA55-5351857FF20F}"/>
              </a:ext>
            </a:extLst>
          </p:cNvPr>
          <p:cNvSpPr txBox="1"/>
          <p:nvPr/>
        </p:nvSpPr>
        <p:spPr>
          <a:xfrm>
            <a:off x="841569" y="1565213"/>
            <a:ext cx="31720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E03CB39-3F5B-D2CB-79AA-626EA7CB8504}"/>
              </a:ext>
            </a:extLst>
          </p:cNvPr>
          <p:cNvSpPr txBox="1"/>
          <p:nvPr/>
        </p:nvSpPr>
        <p:spPr>
          <a:xfrm>
            <a:off x="1185482" y="2337523"/>
            <a:ext cx="98210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주어진 데이터를 시각적인 형태로 변환하는 과정</a:t>
            </a:r>
            <a:br>
              <a:rPr lang="en-US" altLang="ko-KR" sz="2400" dirty="0"/>
            </a:br>
            <a:r>
              <a:rPr lang="ko-KR" altLang="en-US" sz="2400" dirty="0"/>
              <a:t>→ 화면에 표시</a:t>
            </a:r>
            <a:endParaRPr lang="en-US" altLang="ko-KR" sz="24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F0787F-A774-1920-2AD0-5813BB4A12F6}"/>
              </a:ext>
            </a:extLst>
          </p:cNvPr>
          <p:cNvSpPr txBox="1"/>
          <p:nvPr/>
        </p:nvSpPr>
        <p:spPr>
          <a:xfrm>
            <a:off x="841568" y="3689481"/>
            <a:ext cx="511416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800" b="1" dirty="0">
                <a:latin typeface="+mj-lt"/>
              </a:rPr>
              <a:t>렌더링 엔진 </a:t>
            </a:r>
            <a:r>
              <a:rPr lang="en-US" altLang="ko-KR" sz="2800" b="1" dirty="0">
                <a:latin typeface="+mj-lt"/>
              </a:rPr>
              <a:t>(</a:t>
            </a:r>
            <a:r>
              <a:rPr lang="en-US" altLang="ko-KR" sz="2800" b="1" i="0" dirty="0">
                <a:solidFill>
                  <a:srgbClr val="0D0D0D"/>
                </a:solidFill>
                <a:effectLst/>
                <a:highlight>
                  <a:srgbClr val="FFFFFF"/>
                </a:highlight>
                <a:latin typeface="+mj-lt"/>
              </a:rPr>
              <a:t>Rendering Engine)</a:t>
            </a:r>
            <a:endParaRPr lang="ko-KR" altLang="en-US" sz="2800" b="1" dirty="0">
              <a:latin typeface="+mj-lt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AD22F9-CA7B-A8EA-3962-D2010F64BA58}"/>
              </a:ext>
            </a:extLst>
          </p:cNvPr>
          <p:cNvSpPr txBox="1"/>
          <p:nvPr/>
        </p:nvSpPr>
        <p:spPr>
          <a:xfrm>
            <a:off x="1185482" y="4461791"/>
            <a:ext cx="103213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2400" dirty="0"/>
              <a:t>웹</a:t>
            </a:r>
            <a:r>
              <a:rPr lang="en-US" altLang="ko-KR" sz="2400" dirty="0"/>
              <a:t> </a:t>
            </a:r>
            <a:r>
              <a:rPr lang="ko-KR" altLang="en-US" sz="2400" dirty="0"/>
              <a:t>브라우저가 </a:t>
            </a:r>
            <a:r>
              <a:rPr lang="en-US" altLang="ko-KR" sz="2400" dirty="0"/>
              <a:t>(HTML, CSS, JS) </a:t>
            </a:r>
            <a:r>
              <a:rPr lang="ko-KR" altLang="en-US" sz="2400" dirty="0"/>
              <a:t>웹 페이지 리소스를 해석하고 표시하는 역할</a:t>
            </a:r>
            <a:br>
              <a:rPr lang="en-US" altLang="ko-KR" sz="2400" dirty="0"/>
            </a:br>
            <a:r>
              <a:rPr lang="ko-KR" altLang="en-US" sz="2400" dirty="0"/>
              <a:t>→ 웹  페이지를 렌더링하고 사용자에게 표시</a:t>
            </a:r>
            <a:r>
              <a:rPr lang="en-US" altLang="ko-K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18903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문서를 객체화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68582CA5-2CB9-B760-CE67-23F40AE25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4575" y="1378132"/>
            <a:ext cx="7562850" cy="4619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646408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59988" cy="4351338"/>
          </a:xfrm>
        </p:spPr>
        <p:txBody>
          <a:bodyPr>
            <a:normAutofit/>
          </a:bodyPr>
          <a:lstStyle/>
          <a:p>
            <a:r>
              <a:rPr lang="en-US" altLang="ko-KR" sz="3200" b="1" dirty="0">
                <a:highlight>
                  <a:srgbClr val="FFFF00"/>
                </a:highlight>
              </a:rPr>
              <a:t>D</a:t>
            </a:r>
            <a:r>
              <a:rPr lang="en-US" altLang="ko-KR" sz="3200" b="1" dirty="0"/>
              <a:t>ocument </a:t>
            </a:r>
            <a:r>
              <a:rPr lang="en-US" altLang="ko-KR" sz="3200" b="1" dirty="0">
                <a:highlight>
                  <a:srgbClr val="FFFF00"/>
                </a:highlight>
              </a:rPr>
              <a:t>O</a:t>
            </a:r>
            <a:r>
              <a:rPr lang="en-US" altLang="ko-KR" sz="3200" b="1" dirty="0"/>
              <a:t>bject </a:t>
            </a:r>
            <a:r>
              <a:rPr lang="en-US" altLang="ko-KR" sz="3200" b="1" dirty="0">
                <a:highlight>
                  <a:srgbClr val="FFFF00"/>
                </a:highlight>
              </a:rPr>
              <a:t>M</a:t>
            </a:r>
            <a:r>
              <a:rPr lang="en-US" altLang="ko-KR" sz="3200" b="1" dirty="0"/>
              <a:t>odel ( </a:t>
            </a:r>
            <a:r>
              <a:rPr lang="ko-KR" altLang="en-US" sz="3200" b="1" dirty="0"/>
              <a:t>문서 객체 모델</a:t>
            </a:r>
            <a:r>
              <a:rPr lang="en-US" altLang="ko-KR" sz="3200" b="1" dirty="0"/>
              <a:t> )</a:t>
            </a:r>
          </a:p>
          <a:p>
            <a:endParaRPr lang="en-US" altLang="ko-KR" sz="3200" dirty="0"/>
          </a:p>
          <a:p>
            <a:r>
              <a:rPr lang="en-US" altLang="ko-KR" sz="3200" dirty="0"/>
              <a:t>XML </a:t>
            </a:r>
            <a:r>
              <a:rPr lang="ko-KR" altLang="en-US" sz="3200" dirty="0"/>
              <a:t>이나 </a:t>
            </a:r>
            <a:r>
              <a:rPr lang="en-US" altLang="ko-KR" sz="3200" dirty="0"/>
              <a:t>HTML </a:t>
            </a:r>
            <a:r>
              <a:rPr lang="ko-KR" altLang="en-US" sz="3200" dirty="0"/>
              <a:t>문서에 접근하기 위한 일종의 인터페이스로 문서 내의 모든 요소를 정의하고</a:t>
            </a:r>
            <a:r>
              <a:rPr lang="en-US" altLang="ko-KR" sz="3200" dirty="0"/>
              <a:t>, </a:t>
            </a:r>
            <a:r>
              <a:rPr lang="ko-KR" altLang="en-US" sz="3200" dirty="0"/>
              <a:t>각각의 요소에 접근하는 방법을 제공</a:t>
            </a:r>
            <a:endParaRPr lang="en-US" altLang="ko-KR" sz="3200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705752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내용 개체 틀 8">
            <a:extLst>
              <a:ext uri="{FF2B5EF4-FFF2-40B4-BE49-F238E27FC236}">
                <a16:creationId xmlns:a16="http://schemas.microsoft.com/office/drawing/2014/main" id="{87C8DF42-47CD-0939-D2F4-5B1E62389D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3429" y="1325563"/>
            <a:ext cx="4200386" cy="4351338"/>
          </a:xfrm>
        </p:spPr>
      </p:pic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C1F80D-3619-47B0-B506-C15A2DD33094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1C2B14E1-0567-FD31-C62D-6CAF64C262D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93546" y="1325563"/>
            <a:ext cx="6193222" cy="2927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21395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3100" y="1473200"/>
            <a:ext cx="10680699" cy="4842210"/>
          </a:xfrm>
        </p:spPr>
        <p:txBody>
          <a:bodyPr/>
          <a:lstStyle/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요소나 속성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ko-KR" altLang="en-US" dirty="0"/>
              <a:t>존재하는 </a:t>
            </a:r>
            <a:r>
              <a:rPr lang="en-US" altLang="ko-KR" dirty="0"/>
              <a:t>HTML </a:t>
            </a:r>
            <a:r>
              <a:rPr lang="ko-KR" altLang="en-US" dirty="0"/>
              <a:t>요소나 속성 제거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요소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속성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CSS </a:t>
            </a:r>
            <a:r>
              <a:rPr lang="ko-KR" altLang="en-US" dirty="0"/>
              <a:t>스타일 변경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문서에 새로운 </a:t>
            </a:r>
            <a:r>
              <a:rPr lang="en-US" altLang="ko-KR" dirty="0"/>
              <a:t>HTML </a:t>
            </a:r>
            <a:r>
              <a:rPr lang="ko-KR" altLang="en-US" dirty="0"/>
              <a:t>이벤트 추가</a:t>
            </a:r>
            <a:endParaRPr lang="en-US" altLang="ko-KR" dirty="0"/>
          </a:p>
          <a:p>
            <a:pPr marL="514350" indent="-514350">
              <a:lnSpc>
                <a:spcPct val="120000"/>
              </a:lnSpc>
              <a:buAutoNum type="arabicPeriod"/>
            </a:pPr>
            <a:r>
              <a:rPr lang="en-US" altLang="ko-KR" dirty="0"/>
              <a:t>HTML </a:t>
            </a:r>
            <a:r>
              <a:rPr lang="ko-KR" altLang="en-US" dirty="0"/>
              <a:t>문서의 모든 </a:t>
            </a:r>
            <a:r>
              <a:rPr lang="en-US" altLang="ko-KR" dirty="0"/>
              <a:t>HTML </a:t>
            </a:r>
            <a:r>
              <a:rPr lang="ko-KR" altLang="en-US" dirty="0"/>
              <a:t>이벤트에 반응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5AB4C8-8E0F-4E71-95F4-BC1A3913D5AA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DOM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1D6B0722-9480-BB35-73CF-93B49F6C5FF8}"/>
              </a:ext>
            </a:extLst>
          </p:cNvPr>
          <p:cNvSpPr txBox="1">
            <a:spLocks/>
          </p:cNvSpPr>
          <p:nvPr/>
        </p:nvSpPr>
        <p:spPr>
          <a:xfrm>
            <a:off x="2190750" y="733491"/>
            <a:ext cx="4705350" cy="47300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ko-KR" altLang="en-US" dirty="0">
                <a:solidFill>
                  <a:schemeClr val="accent1"/>
                </a:solidFill>
              </a:rPr>
              <a:t>다음과 같은</a:t>
            </a:r>
            <a:r>
              <a:rPr lang="en-US" altLang="ko-KR" dirty="0">
                <a:solidFill>
                  <a:schemeClr val="accent1"/>
                </a:solidFill>
              </a:rPr>
              <a:t> </a:t>
            </a:r>
            <a:r>
              <a:rPr lang="ko-KR" altLang="en-US" dirty="0">
                <a:solidFill>
                  <a:schemeClr val="accent1"/>
                </a:solidFill>
              </a:rPr>
              <a:t>일을 할 수 있음</a:t>
            </a:r>
            <a:r>
              <a:rPr lang="en-US" altLang="ko-KR" dirty="0">
                <a:solidFill>
                  <a:schemeClr val="accent1"/>
                </a:solidFill>
              </a:rPr>
              <a:t>!!!</a:t>
            </a:r>
            <a:endParaRPr lang="ko-KR" alt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29069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JavaScript Document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423861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68379"/>
            <a:ext cx="10744200" cy="4008521"/>
          </a:xfrm>
        </p:spPr>
        <p:txBody>
          <a:bodyPr>
            <a:normAutofit/>
          </a:bodyPr>
          <a:lstStyle/>
          <a:p>
            <a:pPr>
              <a:lnSpc>
                <a:spcPct val="200000"/>
              </a:lnSpc>
            </a:pPr>
            <a:r>
              <a:rPr lang="ko-KR" altLang="en-US" dirty="0"/>
              <a:t>웹 페이지에 존재하는 </a:t>
            </a:r>
            <a:r>
              <a:rPr lang="en-US" altLang="ko-KR" b="1" dirty="0"/>
              <a:t>HTML </a:t>
            </a:r>
            <a:r>
              <a:rPr lang="ko-KR" altLang="en-US" b="1" dirty="0"/>
              <a:t>요소에 접근</a:t>
            </a:r>
            <a:r>
              <a:rPr lang="ko-KR" altLang="en-US" dirty="0"/>
              <a:t>하여 행동을 하고자 할 때 사용하는 객체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882302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94384" y="1325563"/>
            <a:ext cx="5803231" cy="4806032"/>
          </a:xfrm>
        </p:spPr>
        <p:txBody>
          <a:bodyPr>
            <a:normAutofit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document.documentElement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document.head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document.title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document.body</a:t>
            </a: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document.URL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document.domain</a:t>
            </a: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1DC4A-5795-4B01-9D97-4D581D89A2E2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29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- </a:t>
            </a:r>
            <a:r>
              <a:rPr lang="ko-KR" altLang="en-US" dirty="0"/>
              <a:t>속성</a:t>
            </a:r>
          </a:p>
        </p:txBody>
      </p:sp>
    </p:spTree>
    <p:extLst>
      <p:ext uri="{BB962C8B-B14F-4D97-AF65-F5344CB8AC3E}">
        <p14:creationId xmlns:p14="http://schemas.microsoft.com/office/powerpoint/2010/main" val="3045861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1936464"/>
            <a:ext cx="10515600" cy="1325563"/>
          </a:xfrm>
        </p:spPr>
        <p:txBody>
          <a:bodyPr/>
          <a:lstStyle/>
          <a:p>
            <a:r>
              <a:rPr lang="en-US" altLang="ko-KR" sz="7200" dirty="0"/>
              <a:t>DOM API</a:t>
            </a:r>
            <a:endParaRPr lang="ko-KR" altLang="en-US" sz="7200" dirty="0"/>
          </a:p>
        </p:txBody>
      </p:sp>
      <p:sp>
        <p:nvSpPr>
          <p:cNvPr id="6" name="제목 3">
            <a:extLst>
              <a:ext uri="{FF2B5EF4-FFF2-40B4-BE49-F238E27FC236}">
                <a16:creationId xmlns:a16="http://schemas.microsoft.com/office/drawing/2014/main" id="{02BE41FA-E97B-AA9A-885F-9D61DE462AF2}"/>
              </a:ext>
            </a:extLst>
          </p:cNvPr>
          <p:cNvSpPr txBox="1">
            <a:spLocks/>
          </p:cNvSpPr>
          <p:nvPr/>
        </p:nvSpPr>
        <p:spPr>
          <a:xfrm>
            <a:off x="838200" y="325520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8000" b="1" kern="1200">
                <a:solidFill>
                  <a:srgbClr val="6EC173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ko-KR" sz="3200" dirty="0"/>
              <a:t>D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ocument</a:t>
            </a:r>
            <a:r>
              <a:rPr lang="en-US" altLang="ko-KR" sz="3200" dirty="0"/>
              <a:t> O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bject</a:t>
            </a:r>
            <a:r>
              <a:rPr lang="en-US" altLang="ko-KR" sz="3200" dirty="0"/>
              <a:t> M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odel</a:t>
            </a:r>
            <a:r>
              <a:rPr lang="en-US" altLang="ko-KR" sz="3200" dirty="0"/>
              <a:t>, A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pplication</a:t>
            </a:r>
            <a:r>
              <a:rPr lang="en-US" altLang="ko-KR" sz="3200" dirty="0"/>
              <a:t> P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rogramming</a:t>
            </a:r>
            <a:r>
              <a:rPr lang="en-US" altLang="ko-KR" sz="3200" dirty="0"/>
              <a:t> I</a:t>
            </a:r>
            <a:r>
              <a:rPr lang="en-US" altLang="ko-KR" sz="3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nterface</a:t>
            </a:r>
            <a:endParaRPr lang="ko-KR" altLang="en-US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453848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04737" y="1566238"/>
            <a:ext cx="8582526" cy="4206542"/>
          </a:xfrm>
        </p:spPr>
        <p:txBody>
          <a:bodyPr>
            <a:normAutofit fontScale="925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.getElementById</a:t>
            </a:r>
            <a:r>
              <a:rPr lang="en-US" altLang="ko-KR" dirty="0"/>
              <a:t>(</a:t>
            </a:r>
            <a:r>
              <a:rPr lang="ko-KR" altLang="en-US" dirty="0"/>
              <a:t>아이디</a:t>
            </a:r>
            <a:r>
              <a:rPr lang="en-US" altLang="ko-KR" dirty="0"/>
              <a:t> </a:t>
            </a:r>
            <a:r>
              <a:rPr lang="ko-KR" altLang="en-US" dirty="0"/>
              <a:t>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ByClassName</a:t>
            </a:r>
            <a:r>
              <a:rPr lang="en-US" altLang="ko-KR" dirty="0"/>
              <a:t>(</a:t>
            </a:r>
            <a:r>
              <a:rPr lang="ko-KR" altLang="en-US" dirty="0"/>
              <a:t>클래스 속성값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ByTagName</a:t>
            </a:r>
            <a:r>
              <a:rPr lang="en-US" altLang="ko-KR" dirty="0"/>
              <a:t>(</a:t>
            </a:r>
            <a:r>
              <a:rPr lang="ko-KR" altLang="en-US" dirty="0"/>
              <a:t>태그 이름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.getElement</a:t>
            </a:r>
            <a:r>
              <a:rPr lang="en-US" altLang="ko-KR" b="1" dirty="0" err="1">
                <a:solidFill>
                  <a:schemeClr val="accent1">
                    <a:lumMod val="50000"/>
                  </a:schemeClr>
                </a:solidFill>
              </a:rPr>
              <a:t>s</a:t>
            </a:r>
            <a:r>
              <a:rPr lang="en-US" altLang="ko-KR" dirty="0" err="1"/>
              <a:t>ByName</a:t>
            </a:r>
            <a:r>
              <a:rPr lang="en-US" altLang="ko-KR" dirty="0"/>
              <a:t>(name</a:t>
            </a:r>
            <a:r>
              <a:rPr lang="ko-KR" altLang="en-US" dirty="0"/>
              <a:t> 속성값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>
                <a:solidFill>
                  <a:schemeClr val="accent1">
                    <a:lumMod val="50000"/>
                  </a:schemeClr>
                </a:solidFill>
              </a:rPr>
              <a:t>document</a:t>
            </a:r>
            <a:r>
              <a:rPr lang="en-US" altLang="ko-KR" dirty="0" err="1"/>
              <a:t>.querySelectorAll</a:t>
            </a:r>
            <a:r>
              <a:rPr lang="en-US" altLang="ko-KR" dirty="0"/>
              <a:t>(CSS </a:t>
            </a:r>
            <a:r>
              <a:rPr lang="ko-KR" altLang="en-US" dirty="0" err="1"/>
              <a:t>선택자</a:t>
            </a:r>
            <a:r>
              <a:rPr lang="en-US" altLang="ko-KR" dirty="0"/>
              <a:t>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선택</a:t>
            </a:r>
          </a:p>
        </p:txBody>
      </p:sp>
    </p:spTree>
    <p:extLst>
      <p:ext uri="{BB962C8B-B14F-4D97-AF65-F5344CB8AC3E}">
        <p14:creationId xmlns:p14="http://schemas.microsoft.com/office/powerpoint/2010/main" val="170842479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getElementById</a:t>
            </a:r>
            <a:r>
              <a:rPr lang="en-US" altLang="ko-KR" dirty="0">
                <a:ea typeface="Kim jung chul Gothic Bold" panose="020B0803000000000000" pitchFamily="50" charset="-127"/>
              </a:rPr>
              <a:t>(“ID</a:t>
            </a:r>
            <a:r>
              <a:rPr lang="ko-KR" altLang="en-US" dirty="0">
                <a:ea typeface="Kim jung chul Gothic Bold" panose="020B0803000000000000" pitchFamily="50" charset="-127"/>
              </a:rPr>
              <a:t>이름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해당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ID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가지는 요소를 불러오는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E7B619-31A1-713E-4BB0-79C47F0A7F1D}"/>
              </a:ext>
            </a:extLst>
          </p:cNvPr>
          <p:cNvSpPr txBox="1"/>
          <p:nvPr/>
        </p:nvSpPr>
        <p:spPr>
          <a:xfrm>
            <a:off x="941294" y="2284622"/>
            <a:ext cx="7575176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const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inputEl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getElementById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"input"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AF1C990-8257-26E3-F441-45F8CC3551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294" y="2868019"/>
            <a:ext cx="4021134" cy="19012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70140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9951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 선택자를 사용해서 자신이 가져오고 싶어하는 요소를 가져오는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문서에서 만나는 </a:t>
            </a:r>
            <a:r>
              <a:rPr lang="ko-KR" altLang="en-US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제일 첫번째 요소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반환 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78E2AB-FA79-8F86-7C5F-4808182CE30B}"/>
              </a:ext>
            </a:extLst>
          </p:cNvPr>
          <p:cNvSpPr txBox="1"/>
          <p:nvPr/>
        </p:nvSpPr>
        <p:spPr>
          <a:xfrm>
            <a:off x="838200" y="3685418"/>
            <a:ext cx="6096000" cy="1754326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endParaRPr lang="en-US" altLang="ko-KR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011102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querySelectorAll</a:t>
            </a:r>
            <a:r>
              <a:rPr lang="en-US" altLang="ko-KR" dirty="0">
                <a:ea typeface="Kim jung chul Gothic Bold" panose="020B0803000000000000" pitchFamily="50" charset="-127"/>
              </a:rPr>
              <a:t>(“</a:t>
            </a:r>
            <a:r>
              <a:rPr lang="ko-KR" altLang="en-US" dirty="0">
                <a:ea typeface="Kim jung chul Gothic Bold" panose="020B0803000000000000" pitchFamily="50" charset="-127"/>
              </a:rPr>
              <a:t>요소 </a:t>
            </a:r>
            <a:r>
              <a:rPr lang="ko-KR" altLang="en-US" dirty="0" err="1">
                <a:ea typeface="Kim jung chul Gothic Bold" panose="020B0803000000000000" pitchFamily="50" charset="-127"/>
              </a:rPr>
              <a:t>선택자</a:t>
            </a:r>
            <a:r>
              <a:rPr lang="en-US" altLang="ko-KR" dirty="0">
                <a:ea typeface="Kim jung chul Gothic Bold" panose="020B0803000000000000" pitchFamily="50" charset="-127"/>
              </a:rPr>
              <a:t>”)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0830017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문서에 존재하는 모든 요소를 찾아주는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모든 요소를 가져와서 배열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같은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데이터로 만들어 줍니다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9F813D4-EB6C-0D9F-848C-5B81BA152A1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96"/>
          <a:stretch/>
        </p:blipFill>
        <p:spPr>
          <a:xfrm>
            <a:off x="7084744" y="4783433"/>
            <a:ext cx="5008646" cy="1667108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3095F28-A0CE-93E2-05B4-5D025AFEFCBA}"/>
              </a:ext>
            </a:extLst>
          </p:cNvPr>
          <p:cNvSpPr txBox="1"/>
          <p:nvPr/>
        </p:nvSpPr>
        <p:spPr>
          <a:xfrm>
            <a:off x="627529" y="5804210"/>
            <a:ext cx="6096000" cy="646331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querySelectorAll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8BC7C-2BC0-C035-EB89-B3241A6156F0}"/>
              </a:ext>
            </a:extLst>
          </p:cNvPr>
          <p:cNvSpPr txBox="1"/>
          <p:nvPr/>
        </p:nvSpPr>
        <p:spPr>
          <a:xfrm>
            <a:off x="627529" y="3108829"/>
            <a:ext cx="6270812" cy="258532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"box"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7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body</a:t>
            </a:r>
            <a:r>
              <a:rPr lang="en-US" altLang="ko-KR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altLang="ko-KR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8804496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8282" y="1566238"/>
            <a:ext cx="10228333" cy="4206542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20000"/>
              </a:lnSpc>
            </a:pPr>
            <a:r>
              <a:rPr lang="ko-KR" altLang="en-US" dirty="0"/>
              <a:t>텍스트 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textContent</a:t>
            </a:r>
            <a:r>
              <a:rPr lang="en-US" altLang="ko-KR" dirty="0"/>
              <a:t> = “</a:t>
            </a:r>
            <a:r>
              <a:rPr lang="ko-KR" altLang="en-US" dirty="0"/>
              <a:t>새로운 내용</a:t>
            </a:r>
            <a:r>
              <a:rPr lang="en-US" altLang="ko-KR" dirty="0"/>
              <a:t>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innerHTML</a:t>
            </a:r>
            <a:r>
              <a:rPr lang="en-US" altLang="ko-KR" dirty="0"/>
              <a:t> = “&lt;p&gt; </a:t>
            </a:r>
            <a:r>
              <a:rPr lang="ko-KR" altLang="en-US" dirty="0"/>
              <a:t>새로운 </a:t>
            </a:r>
            <a:r>
              <a:rPr lang="en-US" altLang="ko-KR" dirty="0"/>
              <a:t>HTML </a:t>
            </a:r>
            <a:r>
              <a:rPr lang="ko-KR" altLang="en-US" dirty="0"/>
              <a:t>내용 </a:t>
            </a:r>
            <a:r>
              <a:rPr lang="en-US" altLang="ko-KR" dirty="0"/>
              <a:t>&lt;/p&gt;”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</a:t>
            </a:r>
            <a:r>
              <a:rPr lang="ko-KR" altLang="en-US" dirty="0"/>
              <a:t> 스타일 변경하기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style.color</a:t>
            </a:r>
            <a:r>
              <a:rPr lang="en-US" altLang="ko-KR" dirty="0"/>
              <a:t> = “blue”;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CSS </a:t>
            </a:r>
            <a:r>
              <a:rPr lang="ko-KR" altLang="en-US" dirty="0"/>
              <a:t>클래스 추가</a:t>
            </a:r>
            <a:r>
              <a:rPr lang="en-US" altLang="ko-KR" dirty="0"/>
              <a:t>/</a:t>
            </a:r>
            <a:r>
              <a:rPr lang="ko-KR" altLang="en-US" dirty="0"/>
              <a:t>제거하기</a:t>
            </a:r>
            <a:endParaRPr lang="en-US" altLang="ko-KR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altLang="ko-KR" dirty="0"/>
              <a:t>.</a:t>
            </a:r>
            <a:r>
              <a:rPr lang="en-US" altLang="ko-KR" dirty="0" err="1"/>
              <a:t>classList.add</a:t>
            </a:r>
            <a:r>
              <a:rPr lang="en-US" altLang="ko-KR" dirty="0"/>
              <a:t>(“</a:t>
            </a:r>
            <a:r>
              <a:rPr lang="en-US" altLang="ko-KR" dirty="0" err="1"/>
              <a:t>newClass</a:t>
            </a:r>
            <a:r>
              <a:rPr lang="en-US" altLang="ko-KR" dirty="0"/>
              <a:t>”) / .remove(“</a:t>
            </a:r>
            <a:r>
              <a:rPr lang="en-US" altLang="ko-KR" dirty="0" err="1"/>
              <a:t>oldClass</a:t>
            </a:r>
            <a:r>
              <a:rPr lang="en-US" altLang="ko-KR" dirty="0"/>
              <a:t>”)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조작</a:t>
            </a:r>
          </a:p>
        </p:txBody>
      </p:sp>
    </p:spTree>
    <p:extLst>
      <p:ext uri="{BB962C8B-B14F-4D97-AF65-F5344CB8AC3E}">
        <p14:creationId xmlns:p14="http://schemas.microsoft.com/office/powerpoint/2010/main" val="124243663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textContent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innerText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innerHTML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2014429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ea"/>
                <a:ea typeface="+mn-ea"/>
              </a:rPr>
              <a:t>태그 내에 들어갈 문자열을 지정</a:t>
            </a:r>
            <a:endParaRPr lang="en-US" altLang="ko-KR" dirty="0">
              <a:latin typeface="+mn-ea"/>
              <a:ea typeface="+mn-ea"/>
            </a:endParaRPr>
          </a:p>
          <a:p>
            <a:endParaRPr lang="en-US" altLang="ko-KR" dirty="0">
              <a:latin typeface="+mn-ea"/>
              <a:ea typeface="+mn-ea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526823" y="2840367"/>
            <a:ext cx="7950200" cy="1791478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r>
              <a:rPr lang="ko-KR" altLang="en-US" sz="2800" b="1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800" b="1" dirty="0" err="1">
                <a:latin typeface="+mn-lt"/>
                <a:ea typeface="Kim jung chul Gothic Regular" panose="020B0503000000000000" pitchFamily="34" charset="-127"/>
              </a:rPr>
              <a:t>textContent</a:t>
            </a:r>
            <a:r>
              <a:rPr lang="en-US" altLang="ko-KR" sz="2800" b="1" dirty="0">
                <a:latin typeface="+mn-lt"/>
                <a:ea typeface="Kim jung chul Gothic Regular" panose="020B0503000000000000" pitchFamily="34" charset="-127"/>
              </a:rPr>
              <a:t>=“hi”;</a:t>
            </a:r>
          </a:p>
          <a:p>
            <a:pPr>
              <a:lnSpc>
                <a:spcPct val="170000"/>
              </a:lnSpc>
            </a:pP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선택된 요소에 내부의 문자열로 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hi</a:t>
            </a:r>
            <a:r>
              <a:rPr lang="ko-KR" altLang="en-US" sz="2800" dirty="0">
                <a:latin typeface="+mn-lt"/>
                <a:ea typeface="Kim jung chul Gothic Regular" panose="020B0503000000000000" pitchFamily="34" charset="-127"/>
              </a:rPr>
              <a:t>가 들어가게 됩니다</a:t>
            </a:r>
            <a:r>
              <a:rPr lang="en-US" altLang="ko-KR" sz="2800" dirty="0">
                <a:latin typeface="+mn-lt"/>
                <a:ea typeface="Kim jung chul Gothic Regular" panose="020B0503000000000000" pitchFamily="34" charset="-127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2211173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classList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.~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52667" y="1547006"/>
            <a:ext cx="10830017" cy="25324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class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더하거나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빼거나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클래스가 존재하는지 체크하는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해당 기능과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CSS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를 잘 활용하면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액티브한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웹페이지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구성이 가능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67084" y="3574243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classList.add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lassList.remove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classList.contains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classList.toggle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62645973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 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setAttribute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, </a:t>
            </a:r>
            <a:r>
              <a:rPr lang="en-US" altLang="ko-KR" dirty="0">
                <a:ea typeface="Kim jung chul Gothic Bold" panose="020B0803000000000000" pitchFamily="50" charset="-127"/>
              </a:rPr>
              <a:t>html </a:t>
            </a:r>
            <a:r>
              <a:rPr lang="ko-KR" altLang="en-US" dirty="0">
                <a:ea typeface="Kim jung chul Gothic Bold" panose="020B0803000000000000" pitchFamily="50" charset="-127"/>
              </a:rPr>
              <a:t>요소 속성 추가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6120705-E11C-5327-5556-DD8F657F0B8C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2779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선택한 요소의 속성 값을 직접 지정할 수 있는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latin typeface="+mn-lt"/>
                <a:ea typeface="Kim jung chul Gothic Regular" panose="020B0503000000000000" pitchFamily="34" charset="-127"/>
              </a:rPr>
              <a:t>setAttribute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 err="1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속성명</a:t>
            </a:r>
            <a:r>
              <a:rPr lang="en-US" altLang="ko-KR" dirty="0">
                <a:solidFill>
                  <a:schemeClr val="accent2"/>
                </a:solidFill>
                <a:latin typeface="+mn-lt"/>
                <a:ea typeface="Kim jung chul Gothic Regular" panose="020B0503000000000000" pitchFamily="34" charset="-127"/>
              </a:rPr>
              <a:t>”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ko-KR" altLang="en-US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지정할 속성</a:t>
            </a:r>
            <a:r>
              <a:rPr lang="en-US" altLang="ko-KR" dirty="0">
                <a:solidFill>
                  <a:srgbClr val="0070C0"/>
                </a:solidFill>
                <a:latin typeface="+mn-lt"/>
                <a:ea typeface="Kim jung chul Gothic Regular" panose="020B0503000000000000" pitchFamily="34" charset="-127"/>
              </a:rPr>
              <a:t>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AF66C8-B488-0F42-EBF1-D6DC713CB5C3}"/>
              </a:ext>
            </a:extLst>
          </p:cNvPr>
          <p:cNvSpPr txBox="1"/>
          <p:nvPr/>
        </p:nvSpPr>
        <p:spPr>
          <a:xfrm>
            <a:off x="838200" y="3262868"/>
            <a:ext cx="8709212" cy="369332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4FC1FF"/>
                </a:solidFill>
                <a:effectLst/>
                <a:latin typeface="Consolas" panose="020B0609020204030204" pitchFamily="49" charset="0"/>
              </a:rPr>
              <a:t>searchInputEl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setAttribute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"placeholder"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통합검색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06964753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다른 노드에 접근하기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특정 노드를 선택한 후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그 노드의 형제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부모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자식 노드에 접근하는 방법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1447800" y="3114085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55000" lnSpcReduction="20000"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 /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.children[0]</a:t>
            </a: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parentNode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previousElementSiblings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571500" indent="-571500">
              <a:lnSpc>
                <a:spcPct val="170000"/>
              </a:lnSpc>
              <a:buFont typeface="Arial" panose="020B0604020202020204" pitchFamily="34" charset="0"/>
              <a:buChar char="•"/>
            </a:pP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nextElementSiblings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28906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40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Html </a:t>
            </a:r>
            <a:r>
              <a:rPr lang="ko-KR" altLang="en-US" dirty="0"/>
              <a:t>내용 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html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내용 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5537085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en-US" altLang="ko-KR" dirty="0" err="1"/>
              <a:t>TodoList</a:t>
            </a:r>
            <a:r>
              <a:rPr lang="en-US" altLang="ko-KR" dirty="0"/>
              <a:t> </a:t>
            </a:r>
            <a:r>
              <a:rPr lang="ko-KR" altLang="en-US" dirty="0"/>
              <a:t>변경하기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en-US" altLang="ko-KR" sz="2800" b="1" dirty="0" err="1">
                <a:solidFill>
                  <a:schemeClr val="accent1"/>
                </a:solidFill>
                <a:latin typeface="+mn-ea"/>
              </a:rPr>
              <a:t>TodoList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변경하기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18519590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0673D0-09F4-558C-F64D-42F454D69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9943" y="1357931"/>
            <a:ext cx="9232799" cy="4764506"/>
          </a:xfrm>
        </p:spPr>
        <p:txBody>
          <a:bodyPr>
            <a:normAutofit lnSpcReduction="10000"/>
          </a:bodyPr>
          <a:lstStyle/>
          <a:p>
            <a:pPr>
              <a:lnSpc>
                <a:spcPct val="120000"/>
              </a:lnSpc>
            </a:pPr>
            <a:r>
              <a:rPr lang="en-US" altLang="ko-KR" dirty="0" err="1"/>
              <a:t>document.createElement</a:t>
            </a:r>
            <a:r>
              <a:rPr lang="en-US" altLang="ko-KR" dirty="0"/>
              <a:t>(html</a:t>
            </a:r>
            <a:r>
              <a:rPr lang="ko-KR" altLang="en-US" dirty="0"/>
              <a:t>요소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r>
              <a:rPr lang="en-US" altLang="ko-KR" dirty="0" err="1"/>
              <a:t>document.write</a:t>
            </a:r>
            <a:r>
              <a:rPr lang="en-US" altLang="ko-KR" dirty="0"/>
              <a:t>(</a:t>
            </a:r>
            <a:r>
              <a:rPr lang="ko-KR" altLang="en-US" dirty="0"/>
              <a:t>텍스트</a:t>
            </a:r>
            <a:r>
              <a:rPr lang="en-US" altLang="ko-KR" dirty="0"/>
              <a:t>)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appendChild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r>
              <a:rPr lang="en-US" altLang="ko-KR" dirty="0"/>
              <a:t>[].</a:t>
            </a:r>
            <a:r>
              <a:rPr lang="en-US" altLang="ko-KR" dirty="0" err="1"/>
              <a:t>removeChild</a:t>
            </a:r>
            <a:r>
              <a:rPr lang="en-US" altLang="ko-KR" dirty="0"/>
              <a:t>();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>
              <a:lnSpc>
                <a:spcPct val="120000"/>
              </a:lnSpc>
            </a:pPr>
            <a:r>
              <a:rPr lang="en-US" altLang="ko-KR" sz="2800" dirty="0"/>
              <a:t>[].append();</a:t>
            </a:r>
          </a:p>
          <a:p>
            <a:pPr>
              <a:lnSpc>
                <a:spcPct val="120000"/>
              </a:lnSpc>
            </a:pPr>
            <a:r>
              <a:rPr lang="en-US" altLang="ko-KR" sz="2800" dirty="0"/>
              <a:t>[].remove();</a:t>
            </a:r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  <a:p>
            <a:pPr marL="0" indent="0">
              <a:lnSpc>
                <a:spcPct val="120000"/>
              </a:lnSpc>
              <a:buNone/>
            </a:pPr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325E2-E1D0-3A80-C4F6-2FD580387C0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04CC33F-0B72-055D-16A3-F974504E1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068D4FDA-8B63-309F-C8AC-D99400029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생성 및 추가</a:t>
            </a:r>
          </a:p>
        </p:txBody>
      </p:sp>
    </p:spTree>
    <p:extLst>
      <p:ext uri="{BB962C8B-B14F-4D97-AF65-F5344CB8AC3E}">
        <p14:creationId xmlns:p14="http://schemas.microsoft.com/office/powerpoint/2010/main" val="31430921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createElement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(‘html </a:t>
            </a:r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’)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9"/>
            <a:ext cx="10830017" cy="15936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특정 노드를 생성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괄호안에는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html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요소인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태그명을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넣어주시면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!</a:t>
            </a: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  <p:sp>
        <p:nvSpPr>
          <p:cNvPr id="3" name="직사각형 2"/>
          <p:cNvSpPr/>
          <p:nvPr/>
        </p:nvSpPr>
        <p:spPr>
          <a:xfrm>
            <a:off x="838200" y="3748187"/>
            <a:ext cx="8125682" cy="58477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3200" dirty="0">
                <a:solidFill>
                  <a:srgbClr val="569CD6"/>
                </a:solidFill>
                <a:latin typeface="Consolas" panose="020B0609020204030204" pitchFamily="49" charset="0"/>
              </a:rPr>
              <a:t>let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</a:t>
            </a:r>
            <a:r>
              <a:rPr lang="en-US" altLang="ko-KR" sz="3200" dirty="0">
                <a:solidFill>
                  <a:srgbClr val="9CDCFE"/>
                </a:solidFill>
                <a:latin typeface="Consolas" panose="020B0609020204030204" pitchFamily="49" charset="0"/>
              </a:rPr>
              <a:t>p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 = </a:t>
            </a:r>
            <a:r>
              <a:rPr lang="en-US" altLang="ko-KR" sz="3200" dirty="0" err="1">
                <a:solidFill>
                  <a:srgbClr val="9CDCFE"/>
                </a:solidFill>
                <a:latin typeface="Consolas" panose="020B0609020204030204" pitchFamily="49" charset="0"/>
              </a:rPr>
              <a:t>document</a:t>
            </a:r>
            <a:r>
              <a:rPr lang="en-US" altLang="ko-KR" sz="3200" dirty="0" err="1">
                <a:solidFill>
                  <a:srgbClr val="D4D4D4"/>
                </a:solidFill>
                <a:latin typeface="Consolas" panose="020B0609020204030204" pitchFamily="49" charset="0"/>
              </a:rPr>
              <a:t>.</a:t>
            </a:r>
            <a:r>
              <a:rPr lang="en-US" altLang="ko-KR" sz="3200" dirty="0" err="1">
                <a:solidFill>
                  <a:srgbClr val="DCDCAA"/>
                </a:solidFill>
                <a:latin typeface="Consolas" panose="020B0609020204030204" pitchFamily="49" charset="0"/>
              </a:rPr>
              <a:t>createElement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(</a:t>
            </a:r>
            <a:r>
              <a:rPr lang="en-US" altLang="ko-KR" sz="3200" dirty="0">
                <a:solidFill>
                  <a:srgbClr val="CE9178"/>
                </a:solidFill>
                <a:latin typeface="Consolas" panose="020B0609020204030204" pitchFamily="49" charset="0"/>
              </a:rPr>
              <a:t>'p'</a:t>
            </a:r>
            <a:r>
              <a:rPr lang="en-US" altLang="ko-KR" sz="3200" dirty="0">
                <a:solidFill>
                  <a:srgbClr val="D4D4D4"/>
                </a:solidFill>
                <a:latin typeface="Consolas" panose="020B0609020204030204" pitchFamily="49" charset="0"/>
              </a:rPr>
              <a:t>);</a:t>
            </a:r>
            <a:endParaRPr lang="en-US" altLang="ko-KR" sz="3200" b="0" dirty="0">
              <a:solidFill>
                <a:srgbClr val="D4D4D4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455054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요소를 만들었으면 </a:t>
            </a:r>
            <a:r>
              <a:rPr lang="ko-KR" altLang="en-US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추가해야겠죠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?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.append() /</a:t>
            </a:r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sz="2400" dirty="0" err="1">
                <a:latin typeface="+mn-lt"/>
                <a:ea typeface="Kim jung chul Gothic Regular" panose="020B0503000000000000" pitchFamily="34" charset="-127"/>
              </a:rPr>
              <a:t>appendChild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뒤의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.prepend()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맨 앞쪽인 자식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.before()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앞에 있는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ko-KR" altLang="en-US" sz="2400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sz="2400" dirty="0">
                <a:latin typeface="+mn-lt"/>
                <a:ea typeface="Kim jung chul Gothic Regular" panose="020B0503000000000000" pitchFamily="34" charset="-127"/>
              </a:rPr>
              <a:t>.after()</a:t>
            </a:r>
          </a:p>
          <a:p>
            <a:pPr lvl="1"/>
            <a:r>
              <a:rPr lang="ko-KR" altLang="en-US" sz="2000" dirty="0">
                <a:latin typeface="+mn-lt"/>
                <a:ea typeface="Kim jung chul Gothic Regular" panose="020B0503000000000000" pitchFamily="34" charset="-127"/>
              </a:rPr>
              <a:t>선택된 요소의 바로 뒤인 형제 요소로 추가됨</a:t>
            </a:r>
            <a:endParaRPr lang="en-US" altLang="ko-KR" sz="2000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272084637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>
                <a:effectLst/>
              </a:rPr>
              <a:t>append()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appendChild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 </a:t>
            </a:r>
            <a:r>
              <a:rPr lang="ko-KR" altLang="en-US" sz="540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1254947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chemeClr val="accent1">
                    <a:lumMod val="75000"/>
                  </a:schemeClr>
                </a:solidFill>
              </a:rPr>
              <a:t>요소 삭제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, remove() </a:t>
            </a:r>
            <a:r>
              <a:rPr lang="en-US" altLang="ko-KR" dirty="0" err="1">
                <a:solidFill>
                  <a:schemeClr val="accent1">
                    <a:lumMod val="75000"/>
                  </a:schemeClr>
                </a:solidFill>
              </a:rPr>
              <a:t>removeChild</a:t>
            </a:r>
            <a:r>
              <a:rPr lang="en-US" altLang="ko-KR" dirty="0">
                <a:solidFill>
                  <a:schemeClr val="accent1">
                    <a:lumMod val="75000"/>
                  </a:schemeClr>
                </a:solidFill>
              </a:rPr>
              <a:t>()</a:t>
            </a:r>
            <a:endParaRPr lang="ko-KR" altLang="en-US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690688"/>
            <a:ext cx="10830017" cy="40756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.remove();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removeChild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(‘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요소의 </a:t>
            </a:r>
            <a:r>
              <a:rPr lang="ko-KR" altLang="en-US" dirty="0" err="1">
                <a:latin typeface="+mn-lt"/>
                <a:ea typeface="Kim jung chul Gothic Regular" panose="020B0503000000000000" pitchFamily="34" charset="-127"/>
              </a:rPr>
              <a:t>자식요소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‘);</a:t>
            </a:r>
          </a:p>
          <a:p>
            <a:pPr lvl="1"/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선택된 요소의 자식 요소가 삭제 됩니다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.</a:t>
            </a:r>
          </a:p>
          <a:p>
            <a:pPr marL="457200" lvl="1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marL="0" indent="0">
              <a:buNone/>
            </a:pP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 txBox="1">
            <a:spLocks/>
          </p:cNvSpPr>
          <p:nvPr/>
        </p:nvSpPr>
        <p:spPr>
          <a:xfrm>
            <a:off x="838200" y="3475330"/>
            <a:ext cx="7950200" cy="248707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70000"/>
              </a:lnSpc>
            </a:pPr>
            <a:endParaRPr lang="en-US" altLang="ko-KR" sz="3600" dirty="0"/>
          </a:p>
        </p:txBody>
      </p:sp>
    </p:spTree>
    <p:extLst>
      <p:ext uri="{BB962C8B-B14F-4D97-AF65-F5344CB8AC3E}">
        <p14:creationId xmlns:p14="http://schemas.microsoft.com/office/powerpoint/2010/main" val="10290389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727AD15-D25B-6A6E-B7B5-3FF09692E0B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l" defTabSz="914400" rtl="0" eaLnBrk="1" latinLnBrk="1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545E013-D6A7-47C7-842F-053F23C80D44}" type="datetime6">
              <a:rPr lang="ko-KR" altLang="en-US" smtClean="0"/>
              <a:pPr/>
              <a:t>2024년 6월</a:t>
            </a:fld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59575FE-1085-1D51-919D-F906590BA3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86331C6-E35A-818C-124F-3140B5775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Document – </a:t>
            </a:r>
            <a:r>
              <a:rPr lang="ko-KR" altLang="en-US" dirty="0"/>
              <a:t>요소 다루기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227AB53-8642-342B-1357-3DC699502E7B}"/>
              </a:ext>
            </a:extLst>
          </p:cNvPr>
          <p:cNvSpPr txBox="1"/>
          <p:nvPr/>
        </p:nvSpPr>
        <p:spPr>
          <a:xfrm>
            <a:off x="503055" y="2637468"/>
            <a:ext cx="1118589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5400" dirty="0"/>
              <a:t>remove</a:t>
            </a:r>
            <a:r>
              <a:rPr lang="en-US" altLang="ko-KR" sz="5400" dirty="0">
                <a:effectLst/>
              </a:rPr>
              <a:t>()</a:t>
            </a:r>
            <a:r>
              <a:rPr lang="ko-KR" altLang="en-US" sz="5400" dirty="0">
                <a:effectLst/>
              </a:rPr>
              <a:t>와 </a:t>
            </a:r>
            <a:r>
              <a:rPr lang="en-US" altLang="ko-KR" sz="5400" dirty="0" err="1">
                <a:effectLst/>
              </a:rPr>
              <a:t>removeChild</a:t>
            </a:r>
            <a:r>
              <a:rPr lang="en-US" altLang="ko-KR" sz="5400" dirty="0">
                <a:effectLst/>
              </a:rPr>
              <a:t>()</a:t>
            </a:r>
            <a:r>
              <a:rPr lang="en-US" altLang="ko-KR" sz="5400" dirty="0"/>
              <a:t> </a:t>
            </a:r>
            <a:r>
              <a:rPr lang="ko-KR" altLang="en-US" sz="5400" dirty="0">
                <a:solidFill>
                  <a:srgbClr val="FF0000"/>
                </a:solidFill>
                <a:effectLst/>
              </a:rPr>
              <a:t>차이</a:t>
            </a:r>
            <a:r>
              <a:rPr lang="en-US" altLang="ko-KR" sz="5400" dirty="0">
                <a:effectLst/>
              </a:rPr>
              <a:t>?</a:t>
            </a:r>
            <a:endParaRPr lang="ko-KR" altLang="en-US" sz="5400" dirty="0"/>
          </a:p>
        </p:txBody>
      </p:sp>
    </p:spTree>
    <p:extLst>
      <p:ext uri="{BB962C8B-B14F-4D97-AF65-F5344CB8AC3E}">
        <p14:creationId xmlns:p14="http://schemas.microsoft.com/office/powerpoint/2010/main" val="274409484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48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아이스크림 베스트</a:t>
            </a:r>
            <a:r>
              <a:rPr lang="en-US" altLang="ko-KR" dirty="0"/>
              <a:t>9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(1)]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아이스크림 베스트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9]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5561104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19CB95-6D28-40F1-9DA3-1BAC5D4B5B4F}" type="datetime6">
              <a:rPr lang="ko-KR" altLang="en-US" smtClean="0"/>
              <a:t>2024년 6월</a:t>
            </a:fld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49</a:t>
            </a:fld>
            <a:endParaRPr lang="ko-KR" altLang="en-US"/>
          </a:p>
        </p:txBody>
      </p: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/>
          <a:lstStyle/>
          <a:p>
            <a:r>
              <a:rPr lang="ko-KR" altLang="en-US" sz="7200" dirty="0"/>
              <a:t>이벤트 </a:t>
            </a:r>
            <a:br>
              <a:rPr lang="en-US" altLang="ko-KR" sz="7200" dirty="0"/>
            </a:br>
            <a:r>
              <a:rPr lang="en-US" altLang="ko-KR" sz="7200" dirty="0" err="1"/>
              <a:t>addEventListener</a:t>
            </a:r>
            <a:endParaRPr lang="ko-KR" altLang="en-US" sz="7200" dirty="0"/>
          </a:p>
        </p:txBody>
      </p:sp>
    </p:spTree>
    <p:extLst>
      <p:ext uri="{BB962C8B-B14F-4D97-AF65-F5344CB8AC3E}">
        <p14:creationId xmlns:p14="http://schemas.microsoft.com/office/powerpoint/2010/main" val="339908401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ko-KR" altLang="en-US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요소</a:t>
            </a:r>
            <a:r>
              <a:rPr lang="en-US" altLang="ko-KR" dirty="0">
                <a:solidFill>
                  <a:srgbClr val="00B050"/>
                </a:solidFill>
                <a:ea typeface="Kim jung chul Gothic Bold" panose="020B0803000000000000" pitchFamily="50" charset="-127"/>
              </a:rPr>
              <a:t>.</a:t>
            </a:r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(</a:t>
            </a:r>
            <a:r>
              <a:rPr lang="ko-KR" altLang="en-US" dirty="0">
                <a:ea typeface="Kim jung chul Gothic Bold" panose="020B0803000000000000" pitchFamily="50" charset="-127"/>
              </a:rPr>
              <a:t>이벤트</a:t>
            </a:r>
            <a:r>
              <a:rPr lang="en-US" altLang="ko-KR" dirty="0">
                <a:ea typeface="Kim jung chul Gothic Bold" panose="020B0803000000000000" pitchFamily="50" charset="-127"/>
              </a:rPr>
              <a:t>, </a:t>
            </a:r>
            <a:r>
              <a:rPr lang="ko-KR" altLang="en-US" dirty="0">
                <a:ea typeface="Kim jung chul Gothic Bold" panose="020B0803000000000000" pitchFamily="50" charset="-127"/>
              </a:rPr>
              <a:t>명령</a:t>
            </a:r>
            <a:r>
              <a:rPr lang="en-US" altLang="ko-KR" dirty="0">
                <a:ea typeface="Kim jung chul Gothic Bold" panose="020B0803000000000000" pitchFamily="50" charset="-127"/>
              </a:rPr>
              <a:t>)</a:t>
            </a:r>
            <a:endParaRPr lang="ko-KR" altLang="en-US" dirty="0">
              <a:ea typeface="Kim jung chul Gothic Bold" panose="020B0803000000000000" pitchFamily="50" charset="-127"/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23783" y="1328391"/>
            <a:ext cx="11177300" cy="52322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선택 요소에 지정한 이벤트가 발생하면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약속 된 명령어를 실행시키는 메소드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2F8DB1-4A8C-5FD8-B306-66E48E333D7B}"/>
              </a:ext>
            </a:extLst>
          </p:cNvPr>
          <p:cNvSpPr txBox="1"/>
          <p:nvPr/>
        </p:nvSpPr>
        <p:spPr>
          <a:xfrm>
            <a:off x="838200" y="2928832"/>
            <a:ext cx="6943165" cy="2031325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let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 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console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log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b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</a:br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boxEl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"click!"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FA8179-F830-703B-52B8-458B7490C17F}"/>
              </a:ext>
            </a:extLst>
          </p:cNvPr>
          <p:cNvSpPr txBox="1"/>
          <p:nvPr/>
        </p:nvSpPr>
        <p:spPr>
          <a:xfrm>
            <a:off x="838200" y="5362390"/>
            <a:ext cx="9852212" cy="92333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document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querySelector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".box"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).</a:t>
            </a:r>
            <a:r>
              <a:rPr lang="en-US" altLang="ko-KR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addEventListener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() {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altLang="ko-KR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alert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"click"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r>
              <a:rPr lang="en-US" altLang="ko-K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})</a:t>
            </a:r>
          </a:p>
        </p:txBody>
      </p:sp>
    </p:spTree>
    <p:extLst>
      <p:ext uri="{BB962C8B-B14F-4D97-AF65-F5344CB8AC3E}">
        <p14:creationId xmlns:p14="http://schemas.microsoft.com/office/powerpoint/2010/main" val="231324602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588519" y="1383190"/>
            <a:ext cx="10830017" cy="486991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Click : 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클릭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Mouseover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요소에 커서를 올렸을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Mouseout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: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 마우스가 요소를 벗어날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누르고 있는 상태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Mouseup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마우스 버튼을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Focus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갔을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Blur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포커스가 벗어나는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1331289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03FE426-FC8B-4845-9EDB-D82F8D6DA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ko-KR" dirty="0" err="1">
                <a:solidFill>
                  <a:srgbClr val="00B050"/>
                </a:solidFill>
                <a:ea typeface="Kim jung chul Gothic Bold" panose="020B0803000000000000" pitchFamily="50" charset="-127"/>
              </a:rPr>
              <a:t>addEventListener</a:t>
            </a:r>
            <a:r>
              <a:rPr lang="en-US" altLang="ko-KR" dirty="0">
                <a:ea typeface="Kim jung chul Gothic Bold" panose="020B0803000000000000" pitchFamily="50" charset="-127"/>
              </a:rPr>
              <a:t> </a:t>
            </a:r>
            <a:r>
              <a:rPr lang="ko-KR" altLang="en-US" dirty="0">
                <a:ea typeface="Kim jung chul Gothic Bold" panose="020B0803000000000000" pitchFamily="50" charset="-127"/>
              </a:rPr>
              <a:t>이벤트의 종류</a:t>
            </a: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99921601-FACF-7B3E-2F7E-3C6CB9839A59}"/>
              </a:ext>
            </a:extLst>
          </p:cNvPr>
          <p:cNvSpPr txBox="1">
            <a:spLocks/>
          </p:cNvSpPr>
          <p:nvPr/>
        </p:nvSpPr>
        <p:spPr>
          <a:xfrm>
            <a:off x="749144" y="1448474"/>
            <a:ext cx="10693712" cy="4956462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15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강한공군체 Medium" panose="020B0600000101010101" pitchFamily="50" charset="-127"/>
                <a:ea typeface="강한공군체 Medium" panose="020B0600000101010101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계열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Keypress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 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+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누르고 있는 동안 계속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Keydown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누르는 순간에만 발생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pPr lvl="1"/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Keyup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키를 눌렀다가 떼는 순간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웹페이지에 필요한 모든 파일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(html,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css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en-US" altLang="ko-KR" dirty="0" err="1">
                <a:latin typeface="+mn-lt"/>
                <a:ea typeface="Kim jung chul Gothic Regular" panose="020B0503000000000000" pitchFamily="34" charset="-127"/>
              </a:rPr>
              <a:t>js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등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)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의 다운로드가 완료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Resize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 창의 크기가 변경 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Scroll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스크롤이 발생할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Unload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링크를 타고 이동하거나</a:t>
            </a:r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,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브라우저를 닫을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  <a:p>
            <a:r>
              <a:rPr lang="en-US" altLang="ko-KR" dirty="0">
                <a:latin typeface="+mn-lt"/>
                <a:ea typeface="Kim jung chul Gothic Regular" panose="020B0503000000000000" pitchFamily="34" charset="-127"/>
              </a:rPr>
              <a:t>Change : </a:t>
            </a:r>
            <a:r>
              <a:rPr lang="ko-KR" altLang="en-US" dirty="0">
                <a:latin typeface="+mn-lt"/>
                <a:ea typeface="Kim jung chul Gothic Regular" panose="020B0503000000000000" pitchFamily="34" charset="-127"/>
              </a:rPr>
              <a:t>폼 필드의 상태가 변경 되었을 때</a:t>
            </a:r>
            <a:endParaRPr lang="en-US" altLang="ko-KR" dirty="0">
              <a:latin typeface="+mn-lt"/>
              <a:ea typeface="Kim jung chul Gothic Regular" panose="020B0503000000000000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59448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1.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랜덤 색상 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생성기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924632194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2.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댓글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84852412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(3)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3.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계산기 만들기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2078636391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내용 개체 틀 2">
            <a:extLst>
              <a:ext uri="{FF2B5EF4-FFF2-40B4-BE49-F238E27FC236}">
                <a16:creationId xmlns:a16="http://schemas.microsoft.com/office/drawing/2014/main" id="{847FD532-7F61-A001-537F-B970BD821A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988" y="1328391"/>
            <a:ext cx="11260802" cy="5328442"/>
          </a:xfrm>
        </p:spPr>
        <p:txBody>
          <a:bodyPr>
            <a:normAutofit/>
          </a:bodyPr>
          <a:lstStyle/>
          <a:p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695DDE5-0A39-A366-4CFE-A283911999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2024-06-05</a:t>
            </a:fld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E040F43-60A7-C50D-1F5B-F984054F2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FAC57F5-99D7-9C46-B6C1-D16224151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rgbClr val="6EC173"/>
                </a:solidFill>
              </a:rPr>
              <a:t>실습</a:t>
            </a:r>
            <a:r>
              <a:rPr lang="en-US" altLang="ko-KR" dirty="0">
                <a:solidFill>
                  <a:srgbClr val="6EC173"/>
                </a:solidFill>
              </a:rPr>
              <a:t>.  </a:t>
            </a:r>
            <a:r>
              <a:rPr lang="en-US" altLang="ko-KR" dirty="0"/>
              <a:t> </a:t>
            </a:r>
            <a:r>
              <a:rPr lang="ko-KR" altLang="en-US" dirty="0"/>
              <a:t>이벤트 다루기</a:t>
            </a:r>
            <a:r>
              <a:rPr lang="en-US" altLang="ko-KR" dirty="0"/>
              <a:t>(4)</a:t>
            </a:r>
            <a:endParaRPr lang="ko-KR" altLang="en-US" dirty="0"/>
          </a:p>
        </p:txBody>
      </p:sp>
      <p:sp>
        <p:nvSpPr>
          <p:cNvPr id="6" name="내용 개체 틀 1">
            <a:extLst>
              <a:ext uri="{FF2B5EF4-FFF2-40B4-BE49-F238E27FC236}">
                <a16:creationId xmlns:a16="http://schemas.microsoft.com/office/drawing/2014/main" id="{70C2BA37-BE91-39C4-AC08-0E8A1052E2F7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marL="457200" lvl="1" indent="0">
              <a:buFont typeface="Arial" panose="020B0604020202020204" pitchFamily="34" charset="0"/>
              <a:buNone/>
            </a:pP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r>
              <a:rPr lang="en-US" altLang="ko-KR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ko-KR" altLang="en-US" b="1" dirty="0" err="1">
                <a:solidFill>
                  <a:srgbClr val="212529"/>
                </a:solidFill>
                <a:latin typeface="+mn-ea"/>
              </a:rPr>
              <a:t>코딩온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] HTML, CSS, JS </a:t>
            </a:r>
            <a:r>
              <a:rPr lang="ko-KR" altLang="en-US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b="1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dirty="0">
                <a:solidFill>
                  <a:srgbClr val="212529"/>
                </a:solidFill>
                <a:latin typeface="+mn-ea"/>
              </a:rPr>
              <a:t>강의 클릭</a:t>
            </a:r>
            <a:br>
              <a:rPr lang="en-US" altLang="ko-KR" dirty="0">
                <a:solidFill>
                  <a:srgbClr val="212529"/>
                </a:solidFill>
                <a:latin typeface="+mn-ea"/>
              </a:rPr>
            </a:br>
            <a:endParaRPr lang="en-US" altLang="ko-KR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[</a:t>
            </a:r>
            <a:r>
              <a:rPr lang="en-US" altLang="ko-KR" sz="2800" b="1" dirty="0" err="1">
                <a:solidFill>
                  <a:srgbClr val="212529"/>
                </a:solidFill>
                <a:latin typeface="+mn-ea"/>
              </a:rPr>
              <a:t>Javascript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 DOM </a:t>
            </a:r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실습</a:t>
            </a:r>
            <a:r>
              <a:rPr lang="en-US" altLang="ko-KR" sz="2800" b="1" dirty="0">
                <a:solidFill>
                  <a:srgbClr val="212529"/>
                </a:solidFill>
                <a:latin typeface="+mn-ea"/>
              </a:rPr>
              <a:t>(2)]</a:t>
            </a:r>
            <a:r>
              <a:rPr lang="en-US" altLang="ko-KR" sz="2800" dirty="0">
                <a:solidFill>
                  <a:srgbClr val="212529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커리큘럼 클릭</a:t>
            </a:r>
            <a:endParaRPr lang="en-US" altLang="ko-KR" sz="2800" dirty="0">
              <a:solidFill>
                <a:srgbClr val="212529"/>
              </a:solidFill>
              <a:latin typeface="+mn-ea"/>
            </a:endParaRPr>
          </a:p>
          <a:p>
            <a:pPr lvl="1"/>
            <a:r>
              <a:rPr lang="ko-KR" altLang="en-US" sz="2800" b="1" dirty="0">
                <a:solidFill>
                  <a:srgbClr val="212529"/>
                </a:solidFill>
                <a:latin typeface="+mn-ea"/>
              </a:rPr>
              <a:t>➡ 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[</a:t>
            </a:r>
            <a:r>
              <a:rPr lang="ko-KR" altLang="en-US" sz="2800" b="1" dirty="0" err="1">
                <a:solidFill>
                  <a:schemeClr val="accent1"/>
                </a:solidFill>
                <a:latin typeface="+mn-ea"/>
              </a:rPr>
              <a:t>실습문제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4. </a:t>
            </a:r>
            <a:r>
              <a:rPr lang="ko-KR" altLang="en-US" sz="2800" b="1" dirty="0">
                <a:solidFill>
                  <a:schemeClr val="accent1"/>
                </a:solidFill>
                <a:latin typeface="+mn-ea"/>
              </a:rPr>
              <a:t>방명록 등록하기</a:t>
            </a:r>
            <a:r>
              <a:rPr lang="en-US" altLang="ko-KR" sz="2800" b="1" dirty="0">
                <a:solidFill>
                  <a:schemeClr val="accent1"/>
                </a:solidFill>
                <a:latin typeface="+mn-ea"/>
              </a:rPr>
              <a:t>]</a:t>
            </a:r>
            <a:r>
              <a:rPr lang="en-US" altLang="ko-KR" sz="2800" dirty="0">
                <a:solidFill>
                  <a:schemeClr val="accent1"/>
                </a:solidFill>
                <a:latin typeface="+mn-ea"/>
              </a:rPr>
              <a:t> </a:t>
            </a:r>
            <a:r>
              <a:rPr lang="ko-KR" altLang="en-US" sz="2800" dirty="0">
                <a:solidFill>
                  <a:srgbClr val="212529"/>
                </a:solidFill>
                <a:latin typeface="+mn-ea"/>
              </a:rPr>
              <a:t> 진행</a:t>
            </a:r>
          </a:p>
        </p:txBody>
      </p:sp>
    </p:spTree>
    <p:extLst>
      <p:ext uri="{BB962C8B-B14F-4D97-AF65-F5344CB8AC3E}">
        <p14:creationId xmlns:p14="http://schemas.microsoft.com/office/powerpoint/2010/main" val="3715783285"/>
      </p:ext>
    </p:extLst>
  </p:cSld>
  <p:clrMapOvr>
    <a:masterClrMapping/>
  </p:clrMapOvr>
</p:sld>
</file>

<file path=ppt/theme/theme1.xml><?xml version="1.0" encoding="utf-8"?>
<a:theme xmlns:a="http://schemas.openxmlformats.org/drawingml/2006/main" name="2_Office 테마">
  <a:themeElements>
    <a:clrScheme name="코딩온_새싹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6EC173"/>
      </a:accent1>
      <a:accent2>
        <a:srgbClr val="B4D56D"/>
      </a:accent2>
      <a:accent3>
        <a:srgbClr val="F99F2C"/>
      </a:accent3>
      <a:accent4>
        <a:srgbClr val="FFDB83"/>
      </a:accent4>
      <a:accent5>
        <a:srgbClr val="2894FF"/>
      </a:accent5>
      <a:accent6>
        <a:srgbClr val="A5A5A5"/>
      </a:accent6>
      <a:hlink>
        <a:srgbClr val="2894FF"/>
      </a:hlink>
      <a:folHlink>
        <a:srgbClr val="954F72"/>
      </a:folHlink>
    </a:clrScheme>
    <a:fontScheme name="PretendardGOV">
      <a:majorFont>
        <a:latin typeface="PretendardGOV"/>
        <a:ea typeface="PretendardGOV"/>
        <a:cs typeface=""/>
      </a:majorFont>
      <a:minorFont>
        <a:latin typeface="PretendardGOV"/>
        <a:ea typeface="PretendardGOV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1993</TotalTime>
  <Words>3000</Words>
  <Application>Microsoft Office PowerPoint</Application>
  <PresentationFormat>와이드스크린</PresentationFormat>
  <Paragraphs>635</Paragraphs>
  <Slides>56</Slides>
  <Notes>53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6" baseType="lpstr">
      <vt:lpstr>Inter</vt:lpstr>
      <vt:lpstr>Kim jung chul Gothic Bold</vt:lpstr>
      <vt:lpstr>PretendardGOV</vt:lpstr>
      <vt:lpstr>Söhne</vt:lpstr>
      <vt:lpstr>ui-sans-serif</vt:lpstr>
      <vt:lpstr>맑은 고딕</vt:lpstr>
      <vt:lpstr>Arial</vt:lpstr>
      <vt:lpstr>Consolas</vt:lpstr>
      <vt:lpstr>Wingdings</vt:lpstr>
      <vt:lpstr>2_Office 테마</vt:lpstr>
      <vt:lpstr>웹 개발자 부트캠프 과정</vt:lpstr>
      <vt:lpstr>PowerPoint 프레젠테이션</vt:lpstr>
      <vt:lpstr>JavaScript 객체</vt:lpstr>
      <vt:lpstr>JavaScript 자료형</vt:lpstr>
      <vt:lpstr>Primitive 자료형</vt:lpstr>
      <vt:lpstr>Object 자료형</vt:lpstr>
      <vt:lpstr>객체</vt:lpstr>
      <vt:lpstr>객체</vt:lpstr>
      <vt:lpstr>기본 자료형 vs 객체 자료형</vt:lpstr>
      <vt:lpstr>Object 자료형 - 배열</vt:lpstr>
      <vt:lpstr>Object 자료형 - 배열</vt:lpstr>
      <vt:lpstr>Object 자료형 - 딕셔너리</vt:lpstr>
      <vt:lpstr>JavaScript 표준객체</vt:lpstr>
      <vt:lpstr>JavaScript 표준 객체</vt:lpstr>
      <vt:lpstr>Date 객체</vt:lpstr>
      <vt:lpstr>Date 객체 - 함수</vt:lpstr>
      <vt:lpstr>Math 객체</vt:lpstr>
      <vt:lpstr>Math 객체 - 함수</vt:lpstr>
      <vt:lpstr>실습. 주말과 평일</vt:lpstr>
      <vt:lpstr>실습. 난수 생성</vt:lpstr>
      <vt:lpstr>JavaScript DOM</vt:lpstr>
      <vt:lpstr>문서를 객체화</vt:lpstr>
      <vt:lpstr>문서를 객체화</vt:lpstr>
      <vt:lpstr>DOM</vt:lpstr>
      <vt:lpstr>DOM</vt:lpstr>
      <vt:lpstr>DOM</vt:lpstr>
      <vt:lpstr>JavaScript Document</vt:lpstr>
      <vt:lpstr>Document</vt:lpstr>
      <vt:lpstr>Document - 속성</vt:lpstr>
      <vt:lpstr>DOM API</vt:lpstr>
      <vt:lpstr>Document – 요소 선택</vt:lpstr>
      <vt:lpstr>getElementById(“ID이름”)</vt:lpstr>
      <vt:lpstr>querySelector(“요소 선택자”)</vt:lpstr>
      <vt:lpstr>querySelectorAll(“요소 선택자”)</vt:lpstr>
      <vt:lpstr>Document – 요소 조작</vt:lpstr>
      <vt:lpstr>.textContent .innerText .innerHTML</vt:lpstr>
      <vt:lpstr>classList.~</vt:lpstr>
      <vt:lpstr> setAttribute, html 요소 속성 추가</vt:lpstr>
      <vt:lpstr>다른 노드에 접근하기</vt:lpstr>
      <vt:lpstr>실습.  Html 내용 변경하기</vt:lpstr>
      <vt:lpstr>실습.   TodoList 변경하기</vt:lpstr>
      <vt:lpstr>Document – 요소 생성 및 추가</vt:lpstr>
      <vt:lpstr>createElement(‘html 요소’)</vt:lpstr>
      <vt:lpstr>요소를 만들었으면 추가해야겠죠?</vt:lpstr>
      <vt:lpstr>Document – 요소 다루기</vt:lpstr>
      <vt:lpstr>요소 삭제, remove() removeChild()</vt:lpstr>
      <vt:lpstr>Document – 요소 다루기</vt:lpstr>
      <vt:lpstr>실습.   아이스크림 베스트9</vt:lpstr>
      <vt:lpstr>이벤트  addEventListener</vt:lpstr>
      <vt:lpstr>요소.addEventListener(이벤트, 명령)</vt:lpstr>
      <vt:lpstr>addEventListener 이벤트의 종류</vt:lpstr>
      <vt:lpstr>addEventListener 이벤트의 종류</vt:lpstr>
      <vt:lpstr>실습.   이벤트 다루기</vt:lpstr>
      <vt:lpstr>실습.   이벤트 다루기(2)</vt:lpstr>
      <vt:lpstr>실습.   이벤트 다루기(3)</vt:lpstr>
      <vt:lpstr>실습.   이벤트 다루기(4)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김규리</dc:creator>
  <cp:lastModifiedBy>On Coding</cp:lastModifiedBy>
  <cp:revision>152</cp:revision>
  <dcterms:created xsi:type="dcterms:W3CDTF">2022-06-26T11:10:22Z</dcterms:created>
  <dcterms:modified xsi:type="dcterms:W3CDTF">2024-06-05T04:10:11Z</dcterms:modified>
</cp:coreProperties>
</file>