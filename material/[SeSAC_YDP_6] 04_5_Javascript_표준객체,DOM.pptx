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51"/>
  </p:notesMasterIdLst>
  <p:sldIdLst>
    <p:sldId id="361" r:id="rId2"/>
    <p:sldId id="291" r:id="rId3"/>
    <p:sldId id="366" r:id="rId4"/>
    <p:sldId id="321" r:id="rId5"/>
    <p:sldId id="324" r:id="rId6"/>
    <p:sldId id="367" r:id="rId7"/>
    <p:sldId id="328" r:id="rId8"/>
    <p:sldId id="329" r:id="rId9"/>
    <p:sldId id="322" r:id="rId10"/>
    <p:sldId id="327" r:id="rId11"/>
    <p:sldId id="330" r:id="rId12"/>
    <p:sldId id="331" r:id="rId13"/>
    <p:sldId id="363" r:id="rId14"/>
    <p:sldId id="352" r:id="rId15"/>
    <p:sldId id="353" r:id="rId16"/>
    <p:sldId id="338" r:id="rId17"/>
    <p:sldId id="339" r:id="rId18"/>
    <p:sldId id="354" r:id="rId19"/>
    <p:sldId id="364" r:id="rId20"/>
    <p:sldId id="371" r:id="rId21"/>
    <p:sldId id="370" r:id="rId22"/>
    <p:sldId id="355" r:id="rId23"/>
    <p:sldId id="343" r:id="rId24"/>
    <p:sldId id="344" r:id="rId25"/>
    <p:sldId id="365" r:id="rId26"/>
    <p:sldId id="356" r:id="rId27"/>
    <p:sldId id="347" r:id="rId28"/>
    <p:sldId id="372" r:id="rId29"/>
    <p:sldId id="357" r:id="rId30"/>
    <p:sldId id="264" r:id="rId31"/>
    <p:sldId id="262" r:id="rId32"/>
    <p:sldId id="267" r:id="rId33"/>
    <p:sldId id="368" r:id="rId34"/>
    <p:sldId id="273" r:id="rId35"/>
    <p:sldId id="269" r:id="rId36"/>
    <p:sldId id="274" r:id="rId37"/>
    <p:sldId id="275" r:id="rId38"/>
    <p:sldId id="358" r:id="rId39"/>
    <p:sldId id="276" r:id="rId40"/>
    <p:sldId id="277" r:id="rId41"/>
    <p:sldId id="359" r:id="rId42"/>
    <p:sldId id="278" r:id="rId43"/>
    <p:sldId id="369" r:id="rId44"/>
    <p:sldId id="319" r:id="rId45"/>
    <p:sldId id="350" r:id="rId46"/>
    <p:sldId id="373" r:id="rId47"/>
    <p:sldId id="280" r:id="rId48"/>
    <p:sldId id="281" r:id="rId49"/>
    <p:sldId id="282" r:id="rId5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99F2C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6" autoAdjust="0"/>
    <p:restoredTop sz="72154" autoAdjust="0"/>
  </p:normalViewPr>
  <p:slideViewPr>
    <p:cSldViewPr snapToGrid="0">
      <p:cViewPr varScale="1">
        <p:scale>
          <a:sx n="79" d="100"/>
          <a:sy n="79" d="100"/>
        </p:scale>
        <p:origin x="1020" y="6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17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574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객</a:t>
            </a:r>
            <a:r>
              <a:rPr lang="ko-KR" altLang="en-US" baseline="0" dirty="0"/>
              <a:t>체 복습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307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복습 해보겠습니다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JS</a:t>
            </a:r>
            <a:r>
              <a:rPr lang="ko-KR" altLang="en-US" dirty="0"/>
              <a:t> 자료형에는 </a:t>
            </a:r>
            <a:r>
              <a:rPr lang="en-US" altLang="ko-KR" dirty="0"/>
              <a:t>2</a:t>
            </a:r>
            <a:r>
              <a:rPr lang="ko-KR" altLang="en-US" dirty="0"/>
              <a:t>가지 종류가 있죠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 err="1"/>
              <a:t>Primtive</a:t>
            </a:r>
            <a:r>
              <a:rPr lang="en-US" altLang="ko-KR" dirty="0"/>
              <a:t> </a:t>
            </a:r>
            <a:r>
              <a:rPr lang="ko-KR" altLang="en-US" dirty="0"/>
              <a:t>원시형</a:t>
            </a:r>
            <a:endParaRPr lang="en-US" altLang="ko-KR" dirty="0"/>
          </a:p>
          <a:p>
            <a:r>
              <a:rPr lang="en-US" altLang="ko-KR" dirty="0"/>
              <a:t>Object </a:t>
            </a:r>
            <a:r>
              <a:rPr lang="ko-KR" altLang="en-US" dirty="0"/>
              <a:t>객체형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732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Primitive </a:t>
            </a:r>
            <a:r>
              <a:rPr lang="ko-KR" altLang="en-US" dirty="0"/>
              <a:t>원시타입에는</a:t>
            </a:r>
            <a:endParaRPr lang="en-US" altLang="ko-KR" dirty="0"/>
          </a:p>
          <a:p>
            <a:r>
              <a:rPr lang="ko-KR" altLang="en-US" dirty="0"/>
              <a:t>이렇게 </a:t>
            </a:r>
            <a:r>
              <a:rPr lang="en-US" altLang="ko-KR" dirty="0"/>
              <a:t>~ </a:t>
            </a:r>
            <a:r>
              <a:rPr lang="ko-KR" altLang="en-US" dirty="0"/>
              <a:t>있었다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190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객체 자료형은</a:t>
            </a:r>
            <a:endParaRPr lang="en-US" altLang="ko-KR" dirty="0"/>
          </a:p>
          <a:p>
            <a:r>
              <a:rPr lang="ko-KR" altLang="en-US" dirty="0"/>
              <a:t>원시 타입을 제외한 나머지 값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객체 타입</a:t>
            </a:r>
            <a:r>
              <a:rPr lang="en-US" altLang="ko-KR" dirty="0"/>
              <a:t> </a:t>
            </a:r>
            <a:r>
              <a:rPr lang="ko-KR" altLang="en-US" dirty="0"/>
              <a:t>또는</a:t>
            </a:r>
            <a:r>
              <a:rPr lang="en-US" altLang="ko-KR" dirty="0"/>
              <a:t> </a:t>
            </a:r>
            <a:r>
              <a:rPr lang="ko-KR" altLang="en-US" dirty="0"/>
              <a:t>참조타입이라고 부른다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키와 값으로 </a:t>
            </a:r>
            <a:r>
              <a:rPr lang="ko-KR" altLang="en-US" dirty="0" err="1"/>
              <a:t>구성되있습니다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메서드란</a:t>
            </a:r>
            <a:r>
              <a:rPr lang="ko-KR" altLang="en-US" dirty="0"/>
              <a:t> 일반 함수와 구분하기 위한 용어</a:t>
            </a:r>
            <a:endParaRPr lang="en-US" altLang="ko-KR" dirty="0"/>
          </a:p>
          <a:p>
            <a:r>
              <a:rPr lang="ko-KR" altLang="en-US" dirty="0"/>
              <a:t>메서드는 객체에 제한되어 있는 함수를 의미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887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이것을 코딩으로 바꾸면 이렇게 표현할 수 있겠죠</a:t>
            </a:r>
            <a:r>
              <a:rPr lang="en-US" altLang="ko-KR" dirty="0"/>
              <a:t>?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933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이것을 코딩으로 바꾸면 이렇게 표현할 수 있겠죠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860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코드로 넘어가기 </a:t>
            </a:r>
            <a:r>
              <a:rPr lang="ko-KR" altLang="en-US" dirty="0" err="1"/>
              <a:t>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주소 </a:t>
            </a:r>
            <a:r>
              <a:rPr lang="ko-KR" altLang="en-US" dirty="0" err="1"/>
              <a:t>참조값</a:t>
            </a:r>
            <a:r>
              <a:rPr lang="ko-KR" altLang="en-US" dirty="0"/>
              <a:t> 이해 안되면 오른손</a:t>
            </a:r>
            <a:r>
              <a:rPr lang="en-US" altLang="ko-KR" dirty="0"/>
              <a:t>, </a:t>
            </a:r>
            <a:r>
              <a:rPr lang="ko-KR" altLang="en-US" dirty="0"/>
              <a:t>왼손으로 설명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787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객체를 생성하는 방법 중 배열 생성방법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[],</a:t>
            </a:r>
            <a:r>
              <a:rPr lang="ko-KR" altLang="en-US" dirty="0"/>
              <a:t> </a:t>
            </a:r>
            <a:r>
              <a:rPr lang="en-US" altLang="ko-KR" dirty="0" err="1"/>
              <a:t>newArray</a:t>
            </a:r>
            <a:r>
              <a:rPr lang="en-US" altLang="ko-KR" dirty="0"/>
              <a:t>() </a:t>
            </a:r>
            <a:r>
              <a:rPr lang="ko-KR" altLang="en-US" dirty="0"/>
              <a:t>사용하여 배열 생성</a:t>
            </a:r>
            <a:r>
              <a:rPr lang="en-US" altLang="ko-KR" dirty="0"/>
              <a:t> – new Array</a:t>
            </a:r>
            <a:r>
              <a:rPr lang="ko-KR" altLang="en-US" dirty="0"/>
              <a:t>는 내장 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배열 </a:t>
            </a:r>
            <a:r>
              <a:rPr lang="ko-KR" altLang="en-US" dirty="0" err="1"/>
              <a:t>리터럴</a:t>
            </a:r>
            <a:r>
              <a:rPr lang="ko-KR" altLang="en-US" dirty="0"/>
              <a:t> </a:t>
            </a:r>
            <a:r>
              <a:rPr lang="en-US" altLang="ko-KR" dirty="0"/>
              <a:t>([])</a:t>
            </a:r>
          </a:p>
          <a:p>
            <a:r>
              <a:rPr lang="en-US" altLang="ko-KR" dirty="0"/>
              <a:t>New Array() : </a:t>
            </a:r>
            <a:r>
              <a:rPr lang="ko-KR" altLang="en-US" dirty="0"/>
              <a:t>생성자 함수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788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배웠던 배열의 </a:t>
            </a:r>
            <a:r>
              <a:rPr lang="ko-KR" altLang="en-US" dirty="0" err="1"/>
              <a:t>내장메소드를</a:t>
            </a:r>
            <a:r>
              <a:rPr lang="ko-KR" altLang="en-US" dirty="0"/>
              <a:t> </a:t>
            </a:r>
            <a:r>
              <a:rPr lang="ko-KR" altLang="en-US" dirty="0" err="1"/>
              <a:t>이횽하면</a:t>
            </a:r>
            <a:r>
              <a:rPr lang="ko-KR" altLang="en-US" dirty="0"/>
              <a:t>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883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객체 </a:t>
            </a:r>
            <a:r>
              <a:rPr lang="ko-KR" altLang="en-US" dirty="0" err="1"/>
              <a:t>리터럴</a:t>
            </a:r>
            <a:r>
              <a:rPr lang="ko-KR" altLang="en-US" dirty="0"/>
              <a:t> </a:t>
            </a:r>
            <a:r>
              <a:rPr lang="en-US" altLang="ko-KR" dirty="0"/>
              <a:t>= {} </a:t>
            </a:r>
            <a:r>
              <a:rPr lang="ko-KR" altLang="en-US" dirty="0"/>
              <a:t>중괄호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딕셔너리는</a:t>
            </a:r>
            <a:r>
              <a:rPr lang="ko-KR" altLang="en-US" dirty="0"/>
              <a:t> 키와 값의 쌍으로 이루어진 데이터 구조를 의미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리터럴은</a:t>
            </a:r>
            <a:r>
              <a:rPr lang="ko-KR" altLang="en-US" dirty="0"/>
              <a:t> 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소스 코드에서 값을 생성하는 표기법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390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691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9290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911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이런게</a:t>
            </a:r>
            <a:r>
              <a:rPr lang="ko-KR" altLang="en-US" dirty="0"/>
              <a:t> 있습니다</a:t>
            </a:r>
            <a:r>
              <a:rPr lang="en-US" altLang="ko-KR" dirty="0"/>
              <a:t>. </a:t>
            </a:r>
            <a:r>
              <a:rPr lang="ko-KR" altLang="en-US" dirty="0"/>
              <a:t>눈으로 </a:t>
            </a:r>
            <a:r>
              <a:rPr lang="ko-KR" altLang="en-US" dirty="0" err="1"/>
              <a:t>보는것</a:t>
            </a:r>
            <a:r>
              <a:rPr lang="ko-KR" altLang="en-US" dirty="0"/>
              <a:t> 보다 </a:t>
            </a:r>
            <a:r>
              <a:rPr lang="ko-KR" altLang="en-US" dirty="0" err="1"/>
              <a:t>해보는게</a:t>
            </a:r>
            <a:r>
              <a:rPr lang="ko-KR" altLang="en-US" dirty="0"/>
              <a:t> 이해가 잘 되겠죠</a:t>
            </a:r>
            <a:r>
              <a:rPr lang="en-US" altLang="ko-KR" dirty="0"/>
              <a:t>? </a:t>
            </a:r>
            <a:r>
              <a:rPr lang="ko-KR" altLang="en-US" dirty="0"/>
              <a:t>이따가 같이 </a:t>
            </a:r>
            <a:r>
              <a:rPr lang="ko-KR" altLang="en-US" dirty="0" err="1"/>
              <a:t>해볼겁니다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1969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797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i="0" dirty="0" err="1">
                <a:solidFill>
                  <a:srgbClr val="1B1B1B"/>
                </a:solidFill>
                <a:effectLst/>
                <a:latin typeface="Inter"/>
              </a:rPr>
              <a:t>Math.E</a:t>
            </a:r>
            <a:r>
              <a:rPr lang="ko-KR" altLang="en-US" b="0" i="0" dirty="0">
                <a:solidFill>
                  <a:srgbClr val="1B1B1B"/>
                </a:solidFill>
                <a:effectLst/>
                <a:latin typeface="Inter"/>
              </a:rPr>
              <a:t> 속성은 자연로그의 밑 값 </a:t>
            </a:r>
            <a:r>
              <a:rPr lang="en-US" altLang="ko-KR" b="0" i="0" dirty="0">
                <a:solidFill>
                  <a:srgbClr val="1B1B1B"/>
                </a:solidFill>
                <a:effectLst/>
                <a:latin typeface="Inter"/>
              </a:rPr>
              <a:t>e</a:t>
            </a:r>
            <a:r>
              <a:rPr lang="ko-KR" altLang="en-US" b="0" i="0" dirty="0">
                <a:solidFill>
                  <a:srgbClr val="1B1B1B"/>
                </a:solidFill>
                <a:effectLst/>
                <a:latin typeface="Inter"/>
              </a:rPr>
              <a:t>를 나타내며 약 </a:t>
            </a:r>
            <a:r>
              <a:rPr lang="en-US" altLang="ko-KR" b="0" i="0" dirty="0">
                <a:solidFill>
                  <a:srgbClr val="1B1B1B"/>
                </a:solidFill>
                <a:effectLst/>
                <a:latin typeface="Inter"/>
              </a:rPr>
              <a:t>2.718</a:t>
            </a:r>
            <a:r>
              <a:rPr lang="ko-KR" altLang="en-US" b="0" i="0" dirty="0">
                <a:solidFill>
                  <a:srgbClr val="1B1B1B"/>
                </a:solidFill>
                <a:effectLst/>
                <a:latin typeface="Inter"/>
              </a:rPr>
              <a:t>의 값</a:t>
            </a:r>
            <a:endParaRPr lang="en-US" altLang="ko-KR" b="0" i="0" dirty="0">
              <a:solidFill>
                <a:srgbClr val="1B1B1B"/>
              </a:solidFill>
              <a:effectLst/>
              <a:latin typeface="Inter"/>
            </a:endParaRPr>
          </a:p>
          <a:p>
            <a:endParaRPr lang="en-US" altLang="ko-KR" b="0" i="0" dirty="0">
              <a:solidFill>
                <a:srgbClr val="1B1B1B"/>
              </a:solidFill>
              <a:effectLst/>
              <a:latin typeface="Inter"/>
            </a:endParaRPr>
          </a:p>
          <a:p>
            <a:r>
              <a:rPr lang="en-US" altLang="ko-KR" b="1" i="0" dirty="0" err="1">
                <a:solidFill>
                  <a:srgbClr val="1B1B1B"/>
                </a:solidFill>
                <a:effectLst/>
                <a:latin typeface="Inter"/>
              </a:rPr>
              <a:t>Math.PI</a:t>
            </a:r>
            <a:r>
              <a:rPr lang="ko-KR" altLang="en-US" b="0" i="0" dirty="0">
                <a:solidFill>
                  <a:srgbClr val="1B1B1B"/>
                </a:solidFill>
                <a:effectLst/>
                <a:latin typeface="Inter"/>
              </a:rPr>
              <a:t> 속성은 원의 둘레와 지름의 비율</a:t>
            </a:r>
            <a:r>
              <a:rPr lang="en-US" altLang="ko-KR" b="0" i="0" dirty="0">
                <a:solidFill>
                  <a:srgbClr val="1B1B1B"/>
                </a:solidFill>
                <a:effectLst/>
                <a:latin typeface="Inter"/>
              </a:rPr>
              <a:t>, </a:t>
            </a:r>
            <a:r>
              <a:rPr lang="ko-KR" altLang="en-US" b="0" i="0" dirty="0">
                <a:solidFill>
                  <a:srgbClr val="1B1B1B"/>
                </a:solidFill>
                <a:effectLst/>
                <a:latin typeface="Inter"/>
              </a:rPr>
              <a:t>약 </a:t>
            </a:r>
            <a:r>
              <a:rPr lang="en-US" altLang="ko-KR" b="0" i="0" dirty="0">
                <a:solidFill>
                  <a:srgbClr val="1B1B1B"/>
                </a:solidFill>
                <a:effectLst/>
                <a:latin typeface="Inter"/>
              </a:rPr>
              <a:t>3.14159</a:t>
            </a:r>
            <a:r>
              <a:rPr lang="ko-KR" altLang="en-US" b="0" i="0" dirty="0">
                <a:solidFill>
                  <a:srgbClr val="1B1B1B"/>
                </a:solidFill>
                <a:effectLst/>
                <a:latin typeface="Inter"/>
              </a:rPr>
              <a:t>의 값</a:t>
            </a:r>
            <a:endParaRPr lang="en-US" altLang="ko-KR" b="0" i="0" dirty="0">
              <a:solidFill>
                <a:srgbClr val="1B1B1B"/>
              </a:solidFill>
              <a:effectLst/>
              <a:latin typeface="Inter"/>
            </a:endParaRPr>
          </a:p>
          <a:p>
            <a:endParaRPr lang="en-US" altLang="ko-KR" b="0" i="0" dirty="0">
              <a:solidFill>
                <a:srgbClr val="1B1B1B"/>
              </a:solidFill>
              <a:effectLst/>
              <a:latin typeface="Inter"/>
            </a:endParaRPr>
          </a:p>
          <a:p>
            <a:endParaRPr lang="en-US" altLang="ko-KR" b="0" i="0" dirty="0">
              <a:solidFill>
                <a:srgbClr val="1B1B1B"/>
              </a:solidFill>
              <a:effectLst/>
              <a:latin typeface="Inter"/>
            </a:endParaRPr>
          </a:p>
          <a:p>
            <a:r>
              <a:rPr lang="ko-KR" altLang="en-US" b="0" i="0" dirty="0">
                <a:solidFill>
                  <a:srgbClr val="1B1B1B"/>
                </a:solidFill>
                <a:effectLst/>
                <a:latin typeface="Inter"/>
              </a:rPr>
              <a:t>코드로 </a:t>
            </a:r>
            <a:r>
              <a:rPr lang="ko-KR" altLang="en-US" b="0" i="0" dirty="0" err="1">
                <a:solidFill>
                  <a:srgbClr val="1B1B1B"/>
                </a:solidFill>
                <a:effectLst/>
                <a:latin typeface="Inter"/>
              </a:rPr>
              <a:t>ㄱㄱ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7865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JS</a:t>
            </a:r>
            <a:r>
              <a:rPr lang="ko-KR" altLang="en-US" dirty="0"/>
              <a:t> 는 웹 문서를 제어하기 위해 만들어진 </a:t>
            </a:r>
            <a:r>
              <a:rPr lang="ko-KR" altLang="en-US" dirty="0" err="1"/>
              <a:t>언어에요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1894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렌더링이라는 용어에 대해 이해를 해보자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1806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브라우저로 </a:t>
            </a:r>
            <a:r>
              <a:rPr lang="en-US" altLang="ko-KR" dirty="0"/>
              <a:t>HTML </a:t>
            </a:r>
            <a:r>
              <a:rPr lang="ko-KR" altLang="en-US" dirty="0"/>
              <a:t>파일을 열게 되면 렌더링 엔진이 </a:t>
            </a:r>
            <a:r>
              <a:rPr lang="en-US" altLang="ko-KR" dirty="0"/>
              <a:t>HTML </a:t>
            </a:r>
            <a:r>
              <a:rPr lang="ko-KR" altLang="en-US" dirty="0"/>
              <a:t>언어로 작성된 코드를 한 줄 한 줄 읽고 문서를 객체화 시킴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3992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 객체화 된 모습이 </a:t>
            </a:r>
            <a:r>
              <a:rPr lang="en-US" altLang="ko-KR" dirty="0"/>
              <a:t>DOM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스크립트 언어로 </a:t>
            </a:r>
            <a:r>
              <a:rPr lang="en-US" altLang="ko-KR" dirty="0"/>
              <a:t>html </a:t>
            </a:r>
            <a:r>
              <a:rPr lang="ko-KR" altLang="en-US" dirty="0"/>
              <a:t>요소를 제어 할 수 있도록 웹 문서를 객체화 한 것을 말함 </a:t>
            </a:r>
            <a:r>
              <a:rPr lang="en-US" altLang="ko-KR" dirty="0"/>
              <a:t>(=</a:t>
            </a:r>
            <a:r>
              <a:rPr lang="ko-KR" altLang="en-US" dirty="0"/>
              <a:t>설계도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아직 </a:t>
            </a:r>
            <a:r>
              <a:rPr lang="ko-KR" altLang="en-US" dirty="0" err="1"/>
              <a:t>무슨말인지</a:t>
            </a:r>
            <a:r>
              <a:rPr lang="ko-KR" altLang="en-US" dirty="0"/>
              <a:t> </a:t>
            </a:r>
            <a:r>
              <a:rPr lang="ko-KR" altLang="en-US" dirty="0" err="1"/>
              <a:t>어려울수</a:t>
            </a:r>
            <a:r>
              <a:rPr lang="ko-KR" altLang="en-US" dirty="0"/>
              <a:t> 있어요</a:t>
            </a:r>
            <a:r>
              <a:rPr lang="en-US" altLang="ko-KR" dirty="0"/>
              <a:t>~ </a:t>
            </a:r>
            <a:r>
              <a:rPr lang="ko-KR" altLang="en-US" dirty="0"/>
              <a:t>차근차근 이해를 해봅시다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8645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이러한 돔은 트리 구조를 가지는데 이것을 돔 트리</a:t>
            </a:r>
            <a:r>
              <a:rPr lang="en-US" altLang="ko-KR" dirty="0"/>
              <a:t>(DOM Tree) </a:t>
            </a:r>
            <a:r>
              <a:rPr lang="ko-KR" altLang="en-US" dirty="0"/>
              <a:t>라고 함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전전 슬라이드 </a:t>
            </a:r>
            <a:r>
              <a:rPr lang="en-US" altLang="ko-KR" dirty="0"/>
              <a:t>HTML </a:t>
            </a:r>
            <a:r>
              <a:rPr lang="ko-KR" altLang="en-US" dirty="0"/>
              <a:t>코드 </a:t>
            </a:r>
            <a:r>
              <a:rPr lang="en-US" altLang="ko-KR" dirty="0"/>
              <a:t>(</a:t>
            </a:r>
            <a:r>
              <a:rPr lang="ko-KR" altLang="en-US" dirty="0"/>
              <a:t>부모 자식 계층 관계</a:t>
            </a:r>
            <a:r>
              <a:rPr lang="en-US" altLang="ko-KR" dirty="0"/>
              <a:t>) </a:t>
            </a:r>
            <a:r>
              <a:rPr lang="ko-KR" altLang="en-US" dirty="0"/>
              <a:t>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이것을 구조화 한 모습이 나무 모양과 같아 돔 트리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여기 있는 각각의 요소들을 노드라 함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 각각의 노드에 접근해서 제어하려고 하는 것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1. </a:t>
            </a:r>
            <a:r>
              <a:rPr lang="ko-KR" altLang="en-US" dirty="0"/>
              <a:t>접근 </a:t>
            </a:r>
            <a:r>
              <a:rPr lang="en-US" altLang="ko-KR" dirty="0"/>
              <a:t>2. </a:t>
            </a:r>
            <a:r>
              <a:rPr lang="ko-KR" altLang="en-US" dirty="0"/>
              <a:t>제어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한 마디로 정의하면 </a:t>
            </a:r>
            <a:r>
              <a:rPr lang="en-US" altLang="ko-KR" dirty="0"/>
              <a:t>-&gt; </a:t>
            </a:r>
            <a:r>
              <a:rPr lang="en-US" altLang="ko-KR" dirty="0" err="1"/>
              <a:t>dom</a:t>
            </a:r>
            <a:r>
              <a:rPr lang="en-US" altLang="ko-KR" dirty="0"/>
              <a:t> </a:t>
            </a:r>
            <a:r>
              <a:rPr lang="ko-KR" altLang="en-US" dirty="0"/>
              <a:t>트리 구조로 표현된 </a:t>
            </a:r>
            <a:r>
              <a:rPr lang="en-US" altLang="ko-KR" dirty="0"/>
              <a:t>html </a:t>
            </a:r>
            <a:r>
              <a:rPr lang="ko-KR" altLang="en-US" dirty="0"/>
              <a:t>문서를 각 요소의 계층 구조와 관계를 </a:t>
            </a:r>
            <a:r>
              <a:rPr lang="ko-KR" altLang="en-US" dirty="0" err="1"/>
              <a:t>시각화하여</a:t>
            </a:r>
            <a:r>
              <a:rPr lang="ko-KR" altLang="en-US" dirty="0"/>
              <a:t> 웹 페이지를 만든다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돔 트리의 구성 요소는 </a:t>
            </a:r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 err="1"/>
              <a:t>문서노드</a:t>
            </a:r>
            <a:r>
              <a:rPr lang="ko-KR" altLang="en-US" dirty="0"/>
              <a:t> </a:t>
            </a:r>
            <a:r>
              <a:rPr lang="en-US" altLang="ko-KR" dirty="0"/>
              <a:t>(Document Node) : HTML </a:t>
            </a:r>
            <a:r>
              <a:rPr lang="ko-KR" altLang="en-US" dirty="0"/>
              <a:t>문서 전체를 나타내는 루트 노드</a:t>
            </a:r>
            <a:r>
              <a:rPr lang="en-US" altLang="ko-KR" dirty="0"/>
              <a:t>. </a:t>
            </a:r>
            <a:r>
              <a:rPr lang="ko-KR" altLang="en-US" dirty="0"/>
              <a:t>최상위 노드</a:t>
            </a:r>
          </a:p>
          <a:p>
            <a:r>
              <a:rPr lang="en-US" altLang="ko-KR" dirty="0"/>
              <a:t>2. </a:t>
            </a:r>
            <a:r>
              <a:rPr lang="ko-KR" altLang="en-US" dirty="0" err="1"/>
              <a:t>요소노드</a:t>
            </a:r>
            <a:r>
              <a:rPr lang="ko-KR" altLang="en-US" dirty="0"/>
              <a:t> </a:t>
            </a:r>
            <a:r>
              <a:rPr lang="en-US" altLang="ko-KR" dirty="0"/>
              <a:t>(Element Node): HTML </a:t>
            </a:r>
            <a:r>
              <a:rPr lang="ko-KR" altLang="en-US" dirty="0"/>
              <a:t>요소를 나타내는 노드</a:t>
            </a:r>
            <a:r>
              <a:rPr lang="en-US" altLang="ko-KR" dirty="0"/>
              <a:t>. ex) &lt;div&gt;, &lt;p&gt;,  &lt;a&gt;</a:t>
            </a:r>
          </a:p>
          <a:p>
            <a:r>
              <a:rPr lang="en-US" altLang="ko-KR" dirty="0"/>
              <a:t>3. </a:t>
            </a:r>
            <a:r>
              <a:rPr lang="ko-KR" altLang="en-US" dirty="0" err="1"/>
              <a:t>텍스트노드</a:t>
            </a:r>
            <a:r>
              <a:rPr lang="ko-KR" altLang="en-US" dirty="0"/>
              <a:t> </a:t>
            </a:r>
            <a:r>
              <a:rPr lang="en-US" altLang="ko-KR" dirty="0"/>
              <a:t>(Text Node): HTML </a:t>
            </a:r>
            <a:r>
              <a:rPr lang="ko-KR" altLang="en-US" dirty="0"/>
              <a:t>문서의 텍스트를 나타내는 노드</a:t>
            </a:r>
            <a:r>
              <a:rPr lang="en-US" altLang="ko-KR" dirty="0"/>
              <a:t>. ex) &lt;p&gt; </a:t>
            </a:r>
            <a:r>
              <a:rPr lang="ko-KR" altLang="en-US" dirty="0"/>
              <a:t>요소 내에 포함된 텍스트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4. </a:t>
            </a:r>
            <a:r>
              <a:rPr lang="ko-KR" altLang="en-US" dirty="0" err="1"/>
              <a:t>속성노드</a:t>
            </a:r>
            <a:r>
              <a:rPr lang="ko-KR" altLang="en-US" dirty="0"/>
              <a:t> </a:t>
            </a:r>
            <a:r>
              <a:rPr lang="en-US" altLang="ko-KR" dirty="0"/>
              <a:t>(Attribute Node): HTML </a:t>
            </a:r>
            <a:r>
              <a:rPr lang="ko-KR" altLang="en-US" dirty="0"/>
              <a:t>요소의 속성을 나타내는 노드</a:t>
            </a:r>
            <a:r>
              <a:rPr lang="en-US" altLang="ko-KR" dirty="0"/>
              <a:t>. ex) &lt;a&gt; </a:t>
            </a:r>
            <a:r>
              <a:rPr lang="ko-KR" altLang="en-US" dirty="0"/>
              <a:t>요소의 </a:t>
            </a:r>
            <a:r>
              <a:rPr lang="en-US" altLang="ko-KR" dirty="0" err="1"/>
              <a:t>href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DOM </a:t>
            </a:r>
            <a:r>
              <a:rPr lang="ko-KR" altLang="en-US" dirty="0"/>
              <a:t>트리는 </a:t>
            </a:r>
            <a:r>
              <a:rPr lang="en-US" altLang="ko-KR" dirty="0"/>
              <a:t>HTML </a:t>
            </a:r>
            <a:r>
              <a:rPr lang="ko-KR" altLang="en-US" dirty="0"/>
              <a:t>문서의 구조를 표현하며 </a:t>
            </a:r>
            <a:r>
              <a:rPr lang="en-US" altLang="ko-KR" dirty="0"/>
              <a:t>JS</a:t>
            </a:r>
            <a:r>
              <a:rPr lang="ko-KR" altLang="en-US" dirty="0"/>
              <a:t>를 사용해서 각 요소에 접근하고 조작 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3515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도대체 접근하고 </a:t>
            </a:r>
            <a:r>
              <a:rPr lang="ko-KR" altLang="en-US" dirty="0" err="1"/>
              <a:t>제어하는게</a:t>
            </a:r>
            <a:r>
              <a:rPr lang="ko-KR" altLang="en-US" dirty="0"/>
              <a:t> 뭐냐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 err="1"/>
              <a:t>이런것을</a:t>
            </a:r>
            <a:r>
              <a:rPr lang="ko-KR" altLang="en-US" dirty="0"/>
              <a:t> 말한다</a:t>
            </a:r>
            <a:r>
              <a:rPr lang="en-US" altLang="ko-KR" dirty="0"/>
              <a:t>. 1~7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8946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3555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 페이지의 문서를 전체를 나타내는 전역 객체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/>
              <a:t>JS</a:t>
            </a:r>
            <a:r>
              <a:rPr lang="ko-KR" altLang="en-US" dirty="0"/>
              <a:t>를 사용하여 웹 페이지의 </a:t>
            </a:r>
            <a:r>
              <a:rPr lang="en-US" altLang="ko-KR" dirty="0"/>
              <a:t>DOM</a:t>
            </a:r>
            <a:r>
              <a:rPr lang="ko-KR" altLang="en-US" dirty="0"/>
              <a:t>을 조작할 때 사용되면 </a:t>
            </a:r>
            <a:r>
              <a:rPr lang="en-US" altLang="ko-KR" dirty="0"/>
              <a:t>DOM </a:t>
            </a:r>
            <a:r>
              <a:rPr lang="ko-KR" altLang="en-US" dirty="0"/>
              <a:t>일부로 간주됨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웹 페이지 콘솔에서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Document</a:t>
            </a:r>
          </a:p>
          <a:p>
            <a:endParaRPr lang="en-US" altLang="ko-KR" dirty="0"/>
          </a:p>
          <a:p>
            <a:r>
              <a:rPr lang="en-US" altLang="ko-KR" dirty="0" err="1"/>
              <a:t>Document.childNodes</a:t>
            </a:r>
            <a:r>
              <a:rPr lang="en-US" altLang="ko-KR" dirty="0"/>
              <a:t>[1]. </a:t>
            </a:r>
            <a:r>
              <a:rPr lang="en-US" altLang="ko-KR" dirty="0" err="1"/>
              <a:t>childNodes</a:t>
            </a:r>
            <a:r>
              <a:rPr lang="en-US" altLang="ko-KR" dirty="0"/>
              <a:t>[1]</a:t>
            </a:r>
          </a:p>
          <a:p>
            <a:endParaRPr lang="en-US" altLang="ko-KR" dirty="0"/>
          </a:p>
          <a:p>
            <a:r>
              <a:rPr lang="ko-KR" altLang="en-US" dirty="0"/>
              <a:t>이렇게 하기 번거로우니 앞으로 배울 속성과 메소드를 사용하는 것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7403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altLang="ko-K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 </a:t>
            </a:r>
            <a:r>
              <a:rPr lang="ko-KR" altLang="en-US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객체는 웹 페이지의 구조와 콘텐츠에 접근하고 조작하기 위해 다양한 속성들을 가지고 있음</a:t>
            </a:r>
            <a:r>
              <a:rPr lang="en-US" altLang="ko-K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endParaRPr lang="en-US" altLang="ko-KR" sz="14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altLang="ko-KR" sz="14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document.documentElement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문서의 루트 요소를 나타냅니다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보통 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&lt;html&gt;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요소를 가리킵니다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altLang="ko-KR" sz="14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document.head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문서의 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&lt;head&gt;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요소를 나타냅니다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altLang="ko-KR" sz="14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document.body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문서의 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&lt;body&gt;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요소를 나타냅니다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altLang="ko-KR" sz="14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document.title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문서의 제목을 나타냅니다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이 속성을 변경하면 브라우저 탭의 제목이 업데이트됩니다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altLang="ko-K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document.URL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현재 문서의 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URL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을 나타냅니다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altLang="ko-KR" sz="14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document.domain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ko-KR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현재 문서의 도메인을 나타냅니다</a:t>
            </a:r>
            <a:r>
              <a:rPr lang="en-US" altLang="ko-K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  <a:endParaRPr lang="ko-KR" altLang="en-US" sz="1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3343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프로그램을 사용하기 위한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명령들의 집합을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 Programming Interface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라고 한다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-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 API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요소들을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제어하기 위한 명령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522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요소에 접근한다</a:t>
            </a:r>
            <a:r>
              <a:rPr lang="en-US" altLang="ko-KR" dirty="0"/>
              <a:t>~ </a:t>
            </a:r>
            <a:r>
              <a:rPr lang="ko-KR" altLang="en-US" dirty="0"/>
              <a:t>라고도 할 수 있어요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우리가 무언가를 조작하려면 무엇인가라는 것을 </a:t>
            </a:r>
            <a:r>
              <a:rPr lang="ko-KR" altLang="en-US" dirty="0" err="1"/>
              <a:t>지칭해야되죠</a:t>
            </a:r>
            <a:r>
              <a:rPr lang="en-US" altLang="ko-KR" dirty="0"/>
              <a:t>? </a:t>
            </a:r>
            <a:r>
              <a:rPr lang="ko-KR" altLang="en-US" dirty="0"/>
              <a:t>그 과정이랍니다</a:t>
            </a:r>
            <a:r>
              <a:rPr lang="en-US" altLang="ko-KR" dirty="0"/>
              <a:t>. (= </a:t>
            </a:r>
            <a:r>
              <a:rPr lang="ko-KR" altLang="en-US" dirty="0"/>
              <a:t>응급상황 비유</a:t>
            </a:r>
            <a:r>
              <a:rPr lang="en-US" altLang="ko-KR" dirty="0"/>
              <a:t>, </a:t>
            </a:r>
            <a:r>
              <a:rPr lang="ko-KR" altLang="en-US" dirty="0" err="1"/>
              <a:t>빨간모자</a:t>
            </a:r>
            <a:r>
              <a:rPr lang="ko-KR" altLang="en-US" dirty="0"/>
              <a:t> 아저씨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8874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en-US" altLang="ko-KR" baseline="0" dirty="0"/>
              <a:t> </a:t>
            </a:r>
            <a:r>
              <a:rPr lang="ko-KR" altLang="en-US" baseline="0" dirty="0"/>
              <a:t>속성을 이용해 부르는 것</a:t>
            </a:r>
            <a:r>
              <a:rPr lang="en-US" altLang="ko-KR" baseline="0" dirty="0"/>
              <a:t>,</a:t>
            </a:r>
          </a:p>
          <a:p>
            <a:r>
              <a:rPr lang="ko-KR" altLang="en-US" baseline="0" dirty="0"/>
              <a:t>아래</a:t>
            </a:r>
            <a:r>
              <a:rPr lang="en-US" altLang="ko-KR" baseline="0" dirty="0"/>
              <a:t> </a:t>
            </a:r>
            <a:r>
              <a:rPr lang="ko-KR" altLang="en-US" baseline="0" dirty="0"/>
              <a:t>나와있는 </a:t>
            </a:r>
            <a:r>
              <a:rPr lang="en-US" altLang="ko-KR" baseline="0" dirty="0" err="1"/>
              <a:t>classname</a:t>
            </a:r>
            <a:r>
              <a:rPr lang="en-US" altLang="ko-KR" baseline="0" dirty="0"/>
              <a:t>, name, </a:t>
            </a:r>
            <a:r>
              <a:rPr lang="en-US" altLang="ko-KR" baseline="0" dirty="0" err="1"/>
              <a:t>tagname</a:t>
            </a:r>
            <a:r>
              <a:rPr lang="ko-KR" altLang="en-US" baseline="0" dirty="0"/>
              <a:t> 설명</a:t>
            </a:r>
            <a:endParaRPr lang="en-US" altLang="ko-KR" baseline="0" dirty="0"/>
          </a:p>
          <a:p>
            <a:endParaRPr lang="en-US" altLang="ko-KR" baseline="0" dirty="0"/>
          </a:p>
          <a:p>
            <a:r>
              <a:rPr lang="ko-KR" altLang="en-US" dirty="0" err="1"/>
              <a:t>쿼리셀렉터는</a:t>
            </a:r>
            <a:r>
              <a:rPr lang="ko-KR" altLang="en-US" dirty="0"/>
              <a:t> 안에 </a:t>
            </a:r>
            <a:r>
              <a:rPr lang="ko-KR" altLang="en-US" dirty="0" err="1"/>
              <a:t>선택자</a:t>
            </a:r>
            <a:r>
              <a:rPr lang="ko-KR" altLang="en-US" dirty="0"/>
              <a:t> 선택하는 문법까지 포함하지만</a:t>
            </a:r>
            <a:endParaRPr lang="en-US" altLang="ko-KR" dirty="0"/>
          </a:p>
          <a:p>
            <a:r>
              <a:rPr lang="en-US" altLang="ko-KR" dirty="0" err="1"/>
              <a:t>getElement</a:t>
            </a:r>
            <a:r>
              <a:rPr lang="en-US" altLang="ko-KR" dirty="0"/>
              <a:t>~</a:t>
            </a:r>
            <a:r>
              <a:rPr lang="ko-KR" altLang="en-US" dirty="0"/>
              <a:t>는 그냥 해당 이름만 </a:t>
            </a:r>
            <a:r>
              <a:rPr lang="ko-KR" altLang="en-US" dirty="0" err="1"/>
              <a:t>써주면된다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8938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여기까지 하고 코드 치러 </a:t>
            </a:r>
            <a:r>
              <a:rPr lang="ko-KR" altLang="en-US" dirty="0" err="1"/>
              <a:t>ㄱㄱ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9697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선택을 했으면 조작을 </a:t>
            </a:r>
            <a:r>
              <a:rPr lang="ko-KR" altLang="en-US" dirty="0" err="1"/>
              <a:t>해야겠죠</a:t>
            </a:r>
            <a:r>
              <a:rPr lang="en-US" altLang="ko-KR" dirty="0"/>
              <a:t>? </a:t>
            </a:r>
            <a:r>
              <a:rPr lang="ko-KR" altLang="en-US" dirty="0"/>
              <a:t>어떻게</a:t>
            </a:r>
            <a:r>
              <a:rPr lang="en-US" altLang="ko-KR" dirty="0"/>
              <a:t>? (= 119</a:t>
            </a:r>
            <a:r>
              <a:rPr lang="ko-KR" altLang="en-US" dirty="0"/>
              <a:t>에 연락해달라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2215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03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0434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여기까지 하고 코드 </a:t>
            </a:r>
            <a:r>
              <a:rPr lang="ko-KR" altLang="en-US" dirty="0" err="1"/>
              <a:t>ㄱㄱ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4298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kdt3rd-workspace/05_javascript_object/</a:t>
            </a:r>
            <a:r>
              <a:rPr lang="en-US" altLang="ko-KR" b="1" dirty="0"/>
              <a:t>index4.html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kdt3rd-workspace/05_javascript_object/</a:t>
            </a:r>
            <a:r>
              <a:rPr lang="en-US" altLang="ko-KR" b="1" dirty="0"/>
              <a:t>index4.js</a:t>
            </a:r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7332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child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0563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prependChild</a:t>
            </a:r>
            <a:r>
              <a:rPr lang="en-US" altLang="ko-KR" baseline="0" dirty="0"/>
              <a:t> </a:t>
            </a:r>
            <a:r>
              <a:rPr lang="ko-KR" altLang="en-US" baseline="0" dirty="0"/>
              <a:t>는 존재하지 않음</a:t>
            </a:r>
            <a:endParaRPr lang="en-US" altLang="ko-KR" baseline="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append()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노드 객체</a:t>
            </a:r>
            <a:r>
              <a:rPr lang="en-US" altLang="ko-KR" dirty="0"/>
              <a:t>, </a:t>
            </a:r>
            <a:r>
              <a:rPr lang="en-US" altLang="ko-KR" dirty="0" err="1"/>
              <a:t>DOMString</a:t>
            </a:r>
            <a:r>
              <a:rPr lang="en-US" altLang="ko-KR" dirty="0"/>
              <a:t>(</a:t>
            </a:r>
            <a:r>
              <a:rPr lang="ko-KR" altLang="en-US" dirty="0"/>
              <a:t>문자열</a:t>
            </a:r>
            <a:r>
              <a:rPr lang="en-US" altLang="ko-KR" dirty="0"/>
              <a:t>) </a:t>
            </a:r>
            <a:r>
              <a:rPr lang="ko-KR" altLang="en-US" dirty="0"/>
              <a:t>모두 추가 가능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한번에 여러 개의 자식 요소 추가 가능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반환값</a:t>
            </a:r>
            <a:r>
              <a:rPr lang="ko-KR" altLang="en-US" dirty="0"/>
              <a:t> 없음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err="1"/>
              <a:t>appendChild</a:t>
            </a:r>
            <a:r>
              <a:rPr lang="en-US" altLang="ko-KR" dirty="0"/>
              <a:t>()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노드 객체만 추가할 수 있음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한 번에 한 개의 노드만 추가 가능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반환값</a:t>
            </a:r>
            <a:r>
              <a:rPr lang="ko-KR" altLang="en-US" dirty="0"/>
              <a:t> 있음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556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둘 다 요소를 부모 요소에 추가하는데 사용되는 메서드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1.append() 2.appendChild</a:t>
            </a:r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은 한 번에 여러 개의 노드나 문자열 추가 가능</a:t>
            </a:r>
            <a:r>
              <a:rPr lang="en-US" altLang="ko-KR" dirty="0"/>
              <a:t>, 2</a:t>
            </a:r>
            <a:r>
              <a:rPr lang="ko-KR" altLang="en-US" dirty="0"/>
              <a:t>는 한번에 하나의 노드만 추가 가능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은 </a:t>
            </a:r>
            <a:r>
              <a:rPr lang="en-US" altLang="ko-KR" dirty="0"/>
              <a:t>ES6</a:t>
            </a:r>
            <a:r>
              <a:rPr lang="ko-KR" altLang="en-US" dirty="0"/>
              <a:t>에 도입</a:t>
            </a:r>
            <a:r>
              <a:rPr lang="en-US" altLang="ko-KR" dirty="0"/>
              <a:t>, </a:t>
            </a:r>
            <a:r>
              <a:rPr lang="ko-KR" altLang="en-US" dirty="0"/>
              <a:t>모든 주요 브라우저에서 지원 </a:t>
            </a:r>
            <a:r>
              <a:rPr lang="en-US" altLang="ko-KR" dirty="0"/>
              <a:t>, 2</a:t>
            </a:r>
            <a:r>
              <a:rPr lang="ko-KR" altLang="en-US" dirty="0"/>
              <a:t>는 오래된 </a:t>
            </a:r>
            <a:r>
              <a:rPr lang="en-US" altLang="ko-KR" dirty="0"/>
              <a:t>DOM API, </a:t>
            </a:r>
            <a:r>
              <a:rPr lang="ko-KR" altLang="en-US" dirty="0"/>
              <a:t>모든 브라우저에서 지원</a:t>
            </a:r>
            <a:endParaRPr lang="en-US" altLang="ko-KR" dirty="0"/>
          </a:p>
          <a:p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dirty="0"/>
              <a:t>1</a:t>
            </a:r>
            <a:r>
              <a:rPr lang="ko-KR" altLang="en-US" dirty="0"/>
              <a:t>은 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보다 간편하고 유연하게 요소를 추가하는 데 사용되며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특히 여러 요소를 추가하거나 체인 메서드 호출을 수행할 때 유용</a:t>
            </a:r>
            <a:endParaRPr lang="en-US" altLang="ko-KR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2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은 오래된 방식이지만 여전히 유용하게 사용됩니다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4373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remove()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노드를 메모리에서 삭제하고 종료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err="1"/>
              <a:t>removeChild</a:t>
            </a:r>
            <a:r>
              <a:rPr lang="en-US" altLang="ko-KR" dirty="0"/>
              <a:t>()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메모리에 해당 노드는 그대로 존재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부모 노드와의 부모</a:t>
            </a:r>
            <a:r>
              <a:rPr lang="en-US" altLang="ko-KR" dirty="0"/>
              <a:t>-</a:t>
            </a:r>
            <a:r>
              <a:rPr lang="ko-KR" altLang="en-US" dirty="0"/>
              <a:t>자식관계를 끊어 </a:t>
            </a:r>
            <a:r>
              <a:rPr lang="en-US" altLang="ko-KR" dirty="0"/>
              <a:t>DOM </a:t>
            </a:r>
            <a:r>
              <a:rPr lang="ko-KR" altLang="en-US" dirty="0"/>
              <a:t>트리에서 해제하는 것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관계를 끊은 해당 노드의 참조를 반환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반환 값을 변수에 </a:t>
            </a:r>
            <a:r>
              <a:rPr lang="ko-KR" altLang="en-US" dirty="0" err="1"/>
              <a:t>저장해뒀다가</a:t>
            </a:r>
            <a:r>
              <a:rPr lang="ko-KR" altLang="en-US" dirty="0"/>
              <a:t> 사용 가능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반환된 노드 참조를 변수에 담아 다른 </a:t>
            </a:r>
            <a:r>
              <a:rPr lang="en-US" altLang="ko-KR" dirty="0"/>
              <a:t>DOM </a:t>
            </a:r>
            <a:r>
              <a:rPr lang="ko-KR" altLang="en-US" dirty="0"/>
              <a:t>위치에 붙일 수 있음</a:t>
            </a:r>
          </a:p>
          <a:p>
            <a:endParaRPr lang="en-US" altLang="ko-KR" dirty="0"/>
          </a:p>
          <a:p>
            <a:r>
              <a:rPr lang="en-US" altLang="ko-KR" dirty="0"/>
              <a:t>&lt;div&gt;</a:t>
            </a:r>
          </a:p>
          <a:p>
            <a:r>
              <a:rPr lang="en-US" altLang="ko-KR" dirty="0"/>
              <a:t>    &lt;div style="background-color: red;" id="div2"&gt;</a:t>
            </a:r>
            <a:r>
              <a:rPr lang="en-US" altLang="ko-KR" dirty="0" err="1"/>
              <a:t>aaa</a:t>
            </a:r>
            <a:r>
              <a:rPr lang="en-US" altLang="ko-KR" dirty="0"/>
              <a:t>&lt;/div&gt;</a:t>
            </a:r>
          </a:p>
          <a:p>
            <a:r>
              <a:rPr lang="en-US" altLang="ko-KR" dirty="0"/>
              <a:t>    &lt;div style="background-color: green;"&gt;</a:t>
            </a:r>
            <a:r>
              <a:rPr lang="en-US" altLang="ko-KR" dirty="0" err="1"/>
              <a:t>aaa</a:t>
            </a:r>
            <a:r>
              <a:rPr lang="en-US" altLang="ko-KR" dirty="0"/>
              <a:t>&lt;/div&gt;</a:t>
            </a:r>
          </a:p>
          <a:p>
            <a:r>
              <a:rPr lang="en-US" altLang="ko-KR" dirty="0"/>
              <a:t>    &lt;div style="background-color: yellow;"&gt;</a:t>
            </a:r>
            <a:r>
              <a:rPr lang="en-US" altLang="ko-KR" dirty="0" err="1"/>
              <a:t>aaa</a:t>
            </a:r>
            <a:r>
              <a:rPr lang="en-US" altLang="ko-KR" dirty="0"/>
              <a:t>&lt;/div&gt;</a:t>
            </a:r>
          </a:p>
          <a:p>
            <a:r>
              <a:rPr lang="en-US" altLang="ko-KR" dirty="0"/>
              <a:t>&lt;/div&gt;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// </a:t>
            </a:r>
            <a:r>
              <a:rPr lang="ko-KR" altLang="en-US" dirty="0"/>
              <a:t>스크립트</a:t>
            </a:r>
          </a:p>
          <a:p>
            <a:r>
              <a:rPr lang="en-US" altLang="ko-KR" dirty="0"/>
              <a:t>var red = </a:t>
            </a:r>
            <a:r>
              <a:rPr lang="en-US" altLang="ko-KR" dirty="0" err="1"/>
              <a:t>document.querySelector</a:t>
            </a:r>
            <a:r>
              <a:rPr lang="en-US" altLang="ko-KR" dirty="0"/>
              <a:t>("#div2");</a:t>
            </a:r>
          </a:p>
          <a:p>
            <a:r>
              <a:rPr lang="en-US" altLang="ko-KR" dirty="0"/>
              <a:t>var </a:t>
            </a:r>
            <a:r>
              <a:rPr lang="en-US" altLang="ko-KR" dirty="0" err="1"/>
              <a:t>removeNode</a:t>
            </a:r>
            <a:r>
              <a:rPr lang="en-US" altLang="ko-KR" dirty="0"/>
              <a:t> = </a:t>
            </a:r>
            <a:r>
              <a:rPr lang="en-US" altLang="ko-KR" dirty="0" err="1"/>
              <a:t>red.parentNode.removeChild</a:t>
            </a:r>
            <a:r>
              <a:rPr lang="en-US" altLang="ko-KR" dirty="0"/>
              <a:t>(red);</a:t>
            </a:r>
          </a:p>
          <a:p>
            <a:r>
              <a:rPr lang="en-US" altLang="ko-KR" dirty="0" err="1"/>
              <a:t>document.getElementById</a:t>
            </a:r>
            <a:r>
              <a:rPr lang="en-US" altLang="ko-KR" dirty="0"/>
              <a:t>("div1").</a:t>
            </a:r>
            <a:r>
              <a:rPr lang="en-US" altLang="ko-KR" dirty="0" err="1"/>
              <a:t>appendChild</a:t>
            </a:r>
            <a:r>
              <a:rPr lang="en-US" altLang="ko-KR" dirty="0"/>
              <a:t>(</a:t>
            </a:r>
            <a:r>
              <a:rPr lang="en-US" altLang="ko-KR" dirty="0" err="1"/>
              <a:t>removeNode</a:t>
            </a:r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7445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둘 다 요소제거에 사용되는 메소드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은 호출된 요소 자체를 제거</a:t>
            </a:r>
            <a:r>
              <a:rPr lang="en-US" altLang="ko-KR" dirty="0"/>
              <a:t>. 2</a:t>
            </a:r>
            <a:r>
              <a:rPr lang="ko-KR" altLang="en-US" dirty="0"/>
              <a:t>는 부모요소에서 특정 자식 요소 제거</a:t>
            </a:r>
            <a:r>
              <a:rPr lang="en-US" altLang="ko-KR" dirty="0"/>
              <a:t>. </a:t>
            </a:r>
            <a:r>
              <a:rPr lang="ko-KR" altLang="en-US" dirty="0"/>
              <a:t>제거하려는 자식 요소를 인자로 전달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remove()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메서드를 사용하는 것이 더 간단하고 직관적입니다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</a:t>
            </a:r>
          </a:p>
          <a:p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특정 자식 요소를 제거해야 하는 경우에만 </a:t>
            </a:r>
            <a:r>
              <a:rPr lang="en-US" altLang="ko-KR" dirty="0" err="1"/>
              <a:t>removeChild</a:t>
            </a:r>
            <a:r>
              <a:rPr lang="en-US" altLang="ko-KR" dirty="0"/>
              <a:t>()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를 사용하면 됩니다</a:t>
            </a:r>
            <a:endParaRPr lang="en-US" altLang="ko-KR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endParaRPr lang="en-US" altLang="ko-KR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여기까지 하고 코드 </a:t>
            </a:r>
            <a:r>
              <a:rPr lang="ko-KR" alt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ㄱㄱ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8821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3015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2713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6618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 err="1">
                <a:highlight>
                  <a:srgbClr val="FFFF00"/>
                </a:highlight>
              </a:rPr>
              <a:t>변수선언</a:t>
            </a:r>
            <a:r>
              <a:rPr lang="ko-KR" altLang="en-US" sz="1200" dirty="0">
                <a:highlight>
                  <a:srgbClr val="FFFF00"/>
                </a:highlight>
              </a:rPr>
              <a:t> 안하고 </a:t>
            </a:r>
            <a:r>
              <a:rPr lang="ko-KR" altLang="en-US" sz="1200" dirty="0" err="1">
                <a:highlight>
                  <a:srgbClr val="FFFF00"/>
                </a:highlight>
              </a:rPr>
              <a:t>메소드</a:t>
            </a:r>
            <a:r>
              <a:rPr lang="ko-KR" altLang="en-US" sz="1200" dirty="0">
                <a:highlight>
                  <a:srgbClr val="FFFF00"/>
                </a:highlight>
              </a:rPr>
              <a:t> </a:t>
            </a:r>
            <a:r>
              <a:rPr lang="ko-KR" altLang="en-US" sz="1200" dirty="0" err="1">
                <a:highlight>
                  <a:srgbClr val="FFFF00"/>
                </a:highlight>
              </a:rPr>
              <a:t>체이닝</a:t>
            </a:r>
            <a:r>
              <a:rPr lang="ko-KR" altLang="en-US" sz="1200" dirty="0">
                <a:highlight>
                  <a:srgbClr val="FFFF00"/>
                </a:highlight>
              </a:rPr>
              <a:t> 이용해서 </a:t>
            </a:r>
            <a:endParaRPr lang="en-US" altLang="ko-KR" sz="1200" dirty="0">
              <a:highlight>
                <a:srgbClr val="FFFF00"/>
              </a:highlight>
            </a:endParaRPr>
          </a:p>
          <a:p>
            <a:r>
              <a:rPr lang="en-US" altLang="ko-KR" sz="1200" dirty="0" err="1">
                <a:highlight>
                  <a:srgbClr val="FFFF00"/>
                </a:highlight>
              </a:rPr>
              <a:t>Addeventlinstener</a:t>
            </a:r>
            <a:r>
              <a:rPr lang="en-US" altLang="ko-KR" sz="1200" dirty="0">
                <a:highlight>
                  <a:srgbClr val="FFFF00"/>
                </a:highlight>
              </a:rPr>
              <a:t> </a:t>
            </a:r>
            <a:r>
              <a:rPr lang="ko-KR" altLang="en-US" sz="1200" dirty="0">
                <a:highlight>
                  <a:srgbClr val="FFFF00"/>
                </a:highlight>
              </a:rPr>
              <a:t>적용하는 방법이지만</a:t>
            </a:r>
            <a:endParaRPr lang="en-US" altLang="ko-KR" sz="1200" dirty="0">
              <a:highlight>
                <a:srgbClr val="FFFF00"/>
              </a:highlight>
            </a:endParaRPr>
          </a:p>
          <a:p>
            <a:r>
              <a:rPr lang="ko-KR" altLang="en-US" sz="1200" dirty="0">
                <a:highlight>
                  <a:srgbClr val="FFFF00"/>
                </a:highlight>
              </a:rPr>
              <a:t>지금은 이렇게 안쓰는게 조아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66F6E-037C-480B-81D8-78C8D81DF59C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84717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9171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035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136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1948276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1539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116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398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79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089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551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665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364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016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476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8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SeSAC</a:t>
            </a:r>
            <a:r>
              <a:rPr lang="en-US" altLang="ko-KR" dirty="0"/>
              <a:t> x </a:t>
            </a:r>
            <a:r>
              <a:rPr lang="en-US" altLang="ko-KR" dirty="0" err="1"/>
              <a:t>CODINGOn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2940B-EF53-4BFE-830C-F24863DE5E50}" type="datetime6">
              <a:rPr lang="ko-KR" altLang="en-US" smtClean="0"/>
              <a:t>2024년 5월</a:t>
            </a:fld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68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B8F7-56EA-4444-8715-36E88B2971A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7EE994-4906-15FA-0A97-CBA23B4A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1026" name="Picture 2" descr="자바스크립트(JavaScript) 공부하자">
            <a:extLst>
              <a:ext uri="{FF2B5EF4-FFF2-40B4-BE49-F238E27FC236}">
                <a16:creationId xmlns:a16="http://schemas.microsoft.com/office/drawing/2014/main" id="{97E9C49D-06DD-7059-EB87-3E2882A18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127" y="823411"/>
            <a:ext cx="4665746" cy="4665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480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JavaScript </a:t>
            </a:r>
            <a:r>
              <a:rPr lang="ko-KR" altLang="en-US" sz="8000" dirty="0"/>
              <a:t>객체</a:t>
            </a:r>
          </a:p>
        </p:txBody>
      </p:sp>
    </p:spTree>
    <p:extLst>
      <p:ext uri="{BB962C8B-B14F-4D97-AF65-F5344CB8AC3E}">
        <p14:creationId xmlns:p14="http://schemas.microsoft.com/office/powerpoint/2010/main" val="307238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D00-0CDA-45A7-A8BD-749BE07CE984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자료형</a:t>
            </a: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C8ADAF6B-E2E4-3104-0C92-65F1ADDA3C45}"/>
              </a:ext>
            </a:extLst>
          </p:cNvPr>
          <p:cNvSpPr/>
          <p:nvPr/>
        </p:nvSpPr>
        <p:spPr>
          <a:xfrm>
            <a:off x="1371600" y="2538663"/>
            <a:ext cx="3769894" cy="1780674"/>
          </a:xfrm>
          <a:prstGeom prst="flowChartAlternateProcess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Primitive </a:t>
            </a:r>
            <a:r>
              <a:rPr lang="ko-KR" altLang="en-US" sz="3600" dirty="0"/>
              <a:t>자료형</a:t>
            </a: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9E8F4A16-A580-8598-445C-BE56538BEF63}"/>
              </a:ext>
            </a:extLst>
          </p:cNvPr>
          <p:cNvSpPr/>
          <p:nvPr/>
        </p:nvSpPr>
        <p:spPr>
          <a:xfrm>
            <a:off x="6874042" y="2538663"/>
            <a:ext cx="3769894" cy="1780674"/>
          </a:xfrm>
          <a:prstGeom prst="flowChartAlternateProcess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Object </a:t>
            </a:r>
            <a:r>
              <a:rPr lang="ko-KR" altLang="en-US" sz="3600" dirty="0"/>
              <a:t>자료형</a:t>
            </a:r>
          </a:p>
        </p:txBody>
      </p:sp>
    </p:spTree>
    <p:extLst>
      <p:ext uri="{BB962C8B-B14F-4D97-AF65-F5344CB8AC3E}">
        <p14:creationId xmlns:p14="http://schemas.microsoft.com/office/powerpoint/2010/main" val="861625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D6B0722-9480-BB35-73CF-93B49F6C5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74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Boolean</a:t>
            </a:r>
          </a:p>
          <a:p>
            <a:pPr lvl="1"/>
            <a:r>
              <a:rPr lang="ko-KR" altLang="en-US" dirty="0"/>
              <a:t>참</a:t>
            </a:r>
            <a:r>
              <a:rPr lang="en-US" altLang="ko-KR" dirty="0"/>
              <a:t>(true), </a:t>
            </a:r>
            <a:r>
              <a:rPr lang="ko-KR" altLang="en-US" dirty="0"/>
              <a:t>거짓</a:t>
            </a:r>
            <a:r>
              <a:rPr lang="en-US" altLang="ko-KR" dirty="0"/>
              <a:t>(false) </a:t>
            </a:r>
            <a:r>
              <a:rPr lang="ko-KR" altLang="en-US" dirty="0"/>
              <a:t>둘 중 하나의 값을 갖는 요소</a:t>
            </a:r>
            <a:endParaRPr lang="en-US" altLang="ko-KR" dirty="0"/>
          </a:p>
          <a:p>
            <a:r>
              <a:rPr lang="en-US" altLang="ko-KR" dirty="0"/>
              <a:t>Number</a:t>
            </a:r>
          </a:p>
          <a:p>
            <a:pPr lvl="1"/>
            <a:r>
              <a:rPr lang="ko-KR" altLang="en-US" dirty="0" err="1"/>
              <a:t>숫자형으로</a:t>
            </a:r>
            <a:r>
              <a:rPr lang="ko-KR" altLang="en-US" dirty="0"/>
              <a:t> 정수와 부동 소수점</a:t>
            </a:r>
            <a:r>
              <a:rPr lang="en-US" altLang="ko-KR" dirty="0"/>
              <a:t>, </a:t>
            </a:r>
            <a:r>
              <a:rPr lang="ko-KR" altLang="en-US" dirty="0"/>
              <a:t>무한대 및 </a:t>
            </a:r>
            <a:r>
              <a:rPr lang="en-US" altLang="ko-KR" dirty="0" err="1"/>
              <a:t>NaN</a:t>
            </a:r>
            <a:r>
              <a:rPr lang="en-US" altLang="ko-KR" dirty="0"/>
              <a:t>(</a:t>
            </a:r>
            <a:r>
              <a:rPr lang="ko-KR" altLang="en-US" dirty="0"/>
              <a:t>숫자 아님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String</a:t>
            </a:r>
          </a:p>
          <a:p>
            <a:pPr lvl="1"/>
            <a:r>
              <a:rPr lang="ko-KR" altLang="en-US" dirty="0"/>
              <a:t>문자 데이터를 나타낼 때 사용</a:t>
            </a:r>
            <a:endParaRPr lang="en-US" altLang="ko-KR" dirty="0"/>
          </a:p>
          <a:p>
            <a:r>
              <a:rPr lang="en-US" altLang="ko-KR" dirty="0"/>
              <a:t>Null</a:t>
            </a:r>
          </a:p>
          <a:p>
            <a:pPr lvl="1"/>
            <a:r>
              <a:rPr lang="ko-KR" altLang="en-US" dirty="0"/>
              <a:t>빈 값을 뜻하는 </a:t>
            </a:r>
            <a:r>
              <a:rPr lang="en-US" altLang="ko-KR" dirty="0"/>
              <a:t>null </a:t>
            </a:r>
            <a:r>
              <a:rPr lang="ko-KR" altLang="en-US" dirty="0"/>
              <a:t>타입</a:t>
            </a:r>
            <a:endParaRPr lang="en-US" altLang="ko-KR" dirty="0"/>
          </a:p>
          <a:p>
            <a:pPr lvl="1"/>
            <a:r>
              <a:rPr lang="ko-KR" altLang="en-US" dirty="0"/>
              <a:t>타입은 존재하지만 값 존재 </a:t>
            </a:r>
            <a:r>
              <a:rPr lang="en-US" altLang="ko-KR" dirty="0"/>
              <a:t>X	</a:t>
            </a:r>
          </a:p>
          <a:p>
            <a:r>
              <a:rPr lang="en-US" altLang="ko-KR" dirty="0"/>
              <a:t>Undefined</a:t>
            </a:r>
          </a:p>
          <a:p>
            <a:pPr lvl="1"/>
            <a:r>
              <a:rPr lang="ko-KR" altLang="en-US" dirty="0"/>
              <a:t>값 </a:t>
            </a:r>
            <a:r>
              <a:rPr lang="en-US" altLang="ko-KR" dirty="0"/>
              <a:t>X </a:t>
            </a:r>
            <a:r>
              <a:rPr lang="ko-KR" altLang="en-US" dirty="0"/>
              <a:t>타입 </a:t>
            </a:r>
            <a:r>
              <a:rPr lang="en-US" altLang="ko-KR" dirty="0"/>
              <a:t>X </a:t>
            </a:r>
          </a:p>
          <a:p>
            <a:pPr lvl="1"/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BA0DC-E9D2-429C-946B-770A90481327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Primitive</a:t>
            </a:r>
            <a:r>
              <a:rPr lang="ko-KR" altLang="en-US" dirty="0"/>
              <a:t> 자료형</a:t>
            </a:r>
          </a:p>
        </p:txBody>
      </p:sp>
    </p:spTree>
    <p:extLst>
      <p:ext uri="{BB962C8B-B14F-4D97-AF65-F5344CB8AC3E}">
        <p14:creationId xmlns:p14="http://schemas.microsoft.com/office/powerpoint/2010/main" val="1022246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D6B0722-9480-BB35-73CF-93B49F6C5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74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자바스크립트에서 객체는 거의 모든 것을 나타냄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원시 타입을 제외한 나머지 값</a:t>
            </a:r>
            <a:r>
              <a:rPr lang="en-US" altLang="ko-KR" dirty="0"/>
              <a:t>(</a:t>
            </a:r>
            <a:r>
              <a:rPr lang="ko-KR" altLang="en-US" dirty="0"/>
              <a:t>함수</a:t>
            </a:r>
            <a:r>
              <a:rPr lang="en-US" altLang="ko-KR" dirty="0"/>
              <a:t>, </a:t>
            </a:r>
            <a:r>
              <a:rPr lang="ko-KR" altLang="en-US" dirty="0"/>
              <a:t>배열</a:t>
            </a:r>
            <a:r>
              <a:rPr lang="en-US" altLang="ko-KR" dirty="0"/>
              <a:t>, </a:t>
            </a:r>
            <a:r>
              <a:rPr lang="ko-KR" altLang="en-US" dirty="0"/>
              <a:t>클래스 등</a:t>
            </a:r>
            <a:r>
              <a:rPr lang="en-US" altLang="ko-KR" dirty="0"/>
              <a:t>)</a:t>
            </a:r>
            <a:r>
              <a:rPr lang="ko-KR" altLang="en-US" dirty="0"/>
              <a:t>은 모두 객체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객체 타입</a:t>
            </a:r>
            <a:r>
              <a:rPr lang="en-US" altLang="ko-KR" dirty="0"/>
              <a:t>(Object type)</a:t>
            </a:r>
            <a:r>
              <a:rPr lang="ko-KR" altLang="en-US" dirty="0"/>
              <a:t> </a:t>
            </a:r>
            <a:r>
              <a:rPr lang="en-US" altLang="ko-KR" dirty="0"/>
              <a:t>or </a:t>
            </a:r>
            <a:r>
              <a:rPr lang="ko-KR" altLang="en-US" dirty="0"/>
              <a:t>참조 타입 </a:t>
            </a:r>
            <a:r>
              <a:rPr lang="en-US" altLang="ko-KR" dirty="0"/>
              <a:t>(Reference type)</a:t>
            </a:r>
          </a:p>
          <a:p>
            <a:endParaRPr lang="en-US" altLang="ko-KR" dirty="0"/>
          </a:p>
          <a:p>
            <a:r>
              <a:rPr lang="ko-KR" altLang="en-US" dirty="0">
                <a:solidFill>
                  <a:schemeClr val="accent1"/>
                </a:solidFill>
              </a:rPr>
              <a:t>키</a:t>
            </a:r>
            <a:r>
              <a:rPr lang="en-US" altLang="ko-KR" dirty="0">
                <a:solidFill>
                  <a:schemeClr val="accent1"/>
                </a:solidFill>
              </a:rPr>
              <a:t>(key)</a:t>
            </a:r>
            <a:r>
              <a:rPr lang="ko-KR" altLang="en-US" dirty="0">
                <a:solidFill>
                  <a:schemeClr val="accent1"/>
                </a:solidFill>
              </a:rPr>
              <a:t>와 값</a:t>
            </a:r>
            <a:r>
              <a:rPr lang="en-US" altLang="ko-KR" dirty="0">
                <a:solidFill>
                  <a:schemeClr val="accent1"/>
                </a:solidFill>
              </a:rPr>
              <a:t>(value)</a:t>
            </a:r>
            <a:r>
              <a:rPr lang="ko-KR" altLang="en-US" dirty="0">
                <a:solidFill>
                  <a:schemeClr val="accent1"/>
                </a:solidFill>
              </a:rPr>
              <a:t>로 구성</a:t>
            </a:r>
            <a:r>
              <a:rPr lang="ko-KR" altLang="en-US" dirty="0"/>
              <a:t>된 </a:t>
            </a:r>
            <a:r>
              <a:rPr lang="ko-KR" altLang="en-US" dirty="0" err="1"/>
              <a:t>프로퍼티</a:t>
            </a:r>
            <a:r>
              <a:rPr lang="en-US" altLang="ko-KR" dirty="0"/>
              <a:t>(property) </a:t>
            </a:r>
            <a:r>
              <a:rPr lang="ko-KR" altLang="en-US" dirty="0"/>
              <a:t>집합</a:t>
            </a:r>
            <a:endParaRPr lang="en-US" altLang="ko-KR" dirty="0"/>
          </a:p>
          <a:p>
            <a:r>
              <a:rPr lang="ko-KR" altLang="en-US" dirty="0"/>
              <a:t>프로퍼티 값으로 함수를 포함할 수 있음</a:t>
            </a:r>
            <a:r>
              <a:rPr lang="en-US" altLang="ko-KR" dirty="0"/>
              <a:t>! 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</a:t>
            </a:r>
            <a:r>
              <a:rPr lang="ko-KR" altLang="en-US" dirty="0" err="1"/>
              <a:t>메소드</a:t>
            </a:r>
            <a:r>
              <a:rPr lang="ko-KR" altLang="en-US" dirty="0"/>
              <a:t> </a:t>
            </a:r>
            <a:r>
              <a:rPr lang="en-US" altLang="ko-KR" dirty="0"/>
              <a:t>(method)</a:t>
            </a:r>
          </a:p>
          <a:p>
            <a:endParaRPr lang="en-US" altLang="ko-KR" dirty="0"/>
          </a:p>
          <a:p>
            <a:r>
              <a:rPr lang="ko-KR" altLang="en-US" dirty="0"/>
              <a:t>객체</a:t>
            </a:r>
            <a:endParaRPr lang="en-US" altLang="ko-KR" dirty="0"/>
          </a:p>
          <a:p>
            <a:pPr lvl="1"/>
            <a:r>
              <a:rPr lang="ko-KR" altLang="en-US" dirty="0" err="1">
                <a:solidFill>
                  <a:schemeClr val="accent1"/>
                </a:solidFill>
              </a:rPr>
              <a:t>프로퍼티</a:t>
            </a:r>
            <a:r>
              <a:rPr lang="en-US" altLang="ko-KR" dirty="0">
                <a:solidFill>
                  <a:schemeClr val="accent1"/>
                </a:solidFill>
              </a:rPr>
              <a:t>(property)</a:t>
            </a:r>
            <a:r>
              <a:rPr lang="en-US" altLang="ko-KR" dirty="0"/>
              <a:t>: </a:t>
            </a:r>
            <a:r>
              <a:rPr lang="ko-KR" altLang="en-US" dirty="0"/>
              <a:t>데이터를 의미</a:t>
            </a:r>
            <a:endParaRPr lang="en-US" altLang="ko-KR" dirty="0"/>
          </a:p>
          <a:p>
            <a:pPr lvl="1"/>
            <a:r>
              <a:rPr lang="ko-KR" altLang="en-US" dirty="0" err="1">
                <a:solidFill>
                  <a:schemeClr val="accent1"/>
                </a:solidFill>
              </a:rPr>
              <a:t>메소드</a:t>
            </a:r>
            <a:r>
              <a:rPr lang="en-US" altLang="ko-KR" dirty="0">
                <a:solidFill>
                  <a:schemeClr val="accent1"/>
                </a:solidFill>
              </a:rPr>
              <a:t>(method)</a:t>
            </a:r>
            <a:r>
              <a:rPr lang="en-US" altLang="ko-KR" dirty="0"/>
              <a:t>: </a:t>
            </a:r>
            <a:r>
              <a:rPr lang="ko-KR" altLang="en-US" dirty="0"/>
              <a:t>동작을 의미 </a:t>
            </a:r>
            <a:r>
              <a:rPr lang="en-US" altLang="ko-KR" dirty="0"/>
              <a:t>-&gt; </a:t>
            </a:r>
            <a:r>
              <a:rPr lang="ko-KR" altLang="en-US" dirty="0" err="1"/>
              <a:t>프로퍼티</a:t>
            </a:r>
            <a:r>
              <a:rPr lang="ko-KR" altLang="en-US" dirty="0"/>
              <a:t> 값이 함수 일 경우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BA0DC-E9D2-429C-946B-770A90481327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</a:t>
            </a:r>
            <a:r>
              <a:rPr lang="ko-KR" altLang="en-US" dirty="0"/>
              <a:t>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5843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3758B263-DC45-ACC3-990B-EE489C814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741"/>
            <a:ext cx="10515600" cy="644859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실생활에서 우리가 인식할 수 있는 사물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F3061-A8C0-47A7-B70C-8C6BAF46AF2C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</a:t>
            </a:r>
          </a:p>
        </p:txBody>
      </p:sp>
      <p:sp>
        <p:nvSpPr>
          <p:cNvPr id="10" name="내용 개체 틀 6">
            <a:extLst>
              <a:ext uri="{FF2B5EF4-FFF2-40B4-BE49-F238E27FC236}">
                <a16:creationId xmlns:a16="http://schemas.microsoft.com/office/drawing/2014/main" id="{3380BBDF-C030-67D8-6797-453FB7984EAC}"/>
              </a:ext>
            </a:extLst>
          </p:cNvPr>
          <p:cNvSpPr txBox="1">
            <a:spLocks/>
          </p:cNvSpPr>
          <p:nvPr/>
        </p:nvSpPr>
        <p:spPr>
          <a:xfrm>
            <a:off x="6625389" y="2265446"/>
            <a:ext cx="5053264" cy="3733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객체 </a:t>
            </a:r>
            <a:r>
              <a:rPr lang="en-US" altLang="ko-KR" dirty="0"/>
              <a:t>: </a:t>
            </a:r>
            <a:r>
              <a:rPr lang="ko-KR" altLang="en-US" dirty="0"/>
              <a:t>고양이 그 자체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>
                <a:solidFill>
                  <a:schemeClr val="accent3"/>
                </a:solidFill>
              </a:rPr>
              <a:t>속성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	</a:t>
            </a:r>
            <a:r>
              <a:rPr lang="ko-KR" altLang="en-US" dirty="0"/>
              <a:t>이름 </a:t>
            </a:r>
            <a:r>
              <a:rPr lang="en-US" altLang="ko-KR" dirty="0"/>
              <a:t>– </a:t>
            </a:r>
            <a:r>
              <a:rPr lang="ko-KR" altLang="en-US" dirty="0"/>
              <a:t>나비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	</a:t>
            </a:r>
            <a:r>
              <a:rPr lang="ko-KR" altLang="en-US" dirty="0"/>
              <a:t>나이 </a:t>
            </a:r>
            <a:r>
              <a:rPr lang="en-US" altLang="ko-KR" dirty="0"/>
              <a:t>– 1</a:t>
            </a:r>
            <a:r>
              <a:rPr lang="ko-KR" altLang="en-US" dirty="0"/>
              <a:t>살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>
                <a:solidFill>
                  <a:schemeClr val="accent1"/>
                </a:solidFill>
              </a:rPr>
              <a:t>메소드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	mew()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울다</a:t>
            </a:r>
            <a:endParaRPr lang="en-US" altLang="ko-K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AE22E9-AB34-4B59-17C4-617128E96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65446"/>
            <a:ext cx="560070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97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3758B263-DC45-ACC3-990B-EE489C814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741"/>
            <a:ext cx="10515600" cy="644859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실생활에서 우리가 인식할 수 있는 사물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A7B7B-B510-4FB4-806A-F48FB70E79E6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</a:t>
            </a:r>
          </a:p>
        </p:txBody>
      </p:sp>
      <p:sp>
        <p:nvSpPr>
          <p:cNvPr id="10" name="내용 개체 틀 6">
            <a:extLst>
              <a:ext uri="{FF2B5EF4-FFF2-40B4-BE49-F238E27FC236}">
                <a16:creationId xmlns:a16="http://schemas.microsoft.com/office/drawing/2014/main" id="{3380BBDF-C030-67D8-6797-453FB7984EAC}"/>
              </a:ext>
            </a:extLst>
          </p:cNvPr>
          <p:cNvSpPr txBox="1">
            <a:spLocks/>
          </p:cNvSpPr>
          <p:nvPr/>
        </p:nvSpPr>
        <p:spPr>
          <a:xfrm>
            <a:off x="6625389" y="2265446"/>
            <a:ext cx="5053264" cy="3733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 err="1"/>
              <a:t>const</a:t>
            </a:r>
            <a:r>
              <a:rPr lang="en-US" altLang="ko-KR" dirty="0"/>
              <a:t> cat =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	</a:t>
            </a:r>
            <a:r>
              <a:rPr lang="en-US" altLang="ko-KR" dirty="0">
                <a:solidFill>
                  <a:schemeClr val="accent3"/>
                </a:solidFill>
              </a:rPr>
              <a:t>name</a:t>
            </a:r>
            <a:r>
              <a:rPr lang="en-US" altLang="ko-KR" dirty="0"/>
              <a:t>: “</a:t>
            </a:r>
            <a:r>
              <a:rPr lang="ko-KR" altLang="en-US" dirty="0"/>
              <a:t>나비</a:t>
            </a:r>
            <a:r>
              <a:rPr lang="en-US" altLang="ko-KR" dirty="0"/>
              <a:t>”,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	</a:t>
            </a:r>
            <a:r>
              <a:rPr lang="en-US" altLang="ko-KR" dirty="0">
                <a:solidFill>
                  <a:schemeClr val="accent3"/>
                </a:solidFill>
              </a:rPr>
              <a:t>age</a:t>
            </a:r>
            <a:r>
              <a:rPr lang="en-US" altLang="ko-KR" dirty="0"/>
              <a:t> : 1,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	</a:t>
            </a:r>
            <a:r>
              <a:rPr lang="en-US" altLang="ko-KR" dirty="0">
                <a:solidFill>
                  <a:schemeClr val="accent1"/>
                </a:solidFill>
              </a:rPr>
              <a:t>mew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function()</a:t>
            </a:r>
            <a:r>
              <a:rPr lang="ko-KR" altLang="en-US" dirty="0"/>
              <a:t> </a:t>
            </a:r>
            <a:r>
              <a:rPr lang="en-US" altLang="ko-KR" dirty="0"/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		return “</a:t>
            </a:r>
            <a:r>
              <a:rPr lang="ko-KR" altLang="en-US" dirty="0" err="1"/>
              <a:t>냐옹</a:t>
            </a:r>
            <a:r>
              <a:rPr lang="en-US" altLang="ko-KR" dirty="0"/>
              <a:t>”;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};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AE22E9-AB34-4B59-17C4-617128E96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65446"/>
            <a:ext cx="560070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7813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C06FE-4677-EEA7-EB62-8E635AA1E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기본 자료형</a:t>
            </a:r>
            <a:endParaRPr lang="en-US" altLang="ko-KR" dirty="0"/>
          </a:p>
          <a:p>
            <a:pPr lvl="1"/>
            <a:r>
              <a:rPr lang="ko-KR" altLang="en-US" dirty="0"/>
              <a:t>다른 변수에 값을 할당하거나 함수 인자를 넘길 때 </a:t>
            </a:r>
            <a:r>
              <a:rPr lang="ko-KR" altLang="en-US" dirty="0">
                <a:solidFill>
                  <a:srgbClr val="6EC173"/>
                </a:solidFill>
              </a:rPr>
              <a:t>값을 복사</a:t>
            </a:r>
            <a:r>
              <a:rPr lang="ko-KR" altLang="en-US" dirty="0"/>
              <a:t>해 전달 </a:t>
            </a:r>
            <a:endParaRPr lang="en-US" altLang="ko-KR" dirty="0"/>
          </a:p>
          <a:p>
            <a:pPr lvl="1"/>
            <a:r>
              <a:rPr lang="ko-KR" altLang="en-US" dirty="0"/>
              <a:t>➡ </a:t>
            </a:r>
            <a:r>
              <a:rPr lang="en-US" altLang="ko-KR" dirty="0"/>
              <a:t>Pass by value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객체 자료형</a:t>
            </a:r>
            <a:endParaRPr lang="en-US" altLang="ko-KR" dirty="0"/>
          </a:p>
          <a:p>
            <a:pPr lvl="1"/>
            <a:r>
              <a:rPr lang="ko-KR" altLang="en-US" dirty="0"/>
              <a:t>값을 복사해 전달하는 것이 아닌 </a:t>
            </a:r>
            <a:r>
              <a:rPr lang="ko-KR" altLang="en-US" dirty="0">
                <a:solidFill>
                  <a:srgbClr val="6EC173"/>
                </a:solidFill>
              </a:rPr>
              <a:t>메모리 주소를 </a:t>
            </a:r>
            <a:r>
              <a:rPr lang="ko-KR" altLang="en-US" dirty="0" err="1">
                <a:solidFill>
                  <a:srgbClr val="6EC173"/>
                </a:solidFill>
              </a:rPr>
              <a:t>참조값</a:t>
            </a:r>
            <a:r>
              <a:rPr lang="en-US" altLang="ko-KR" dirty="0">
                <a:solidFill>
                  <a:srgbClr val="6EC173"/>
                </a:solidFill>
              </a:rPr>
              <a:t>(address)</a:t>
            </a:r>
            <a:r>
              <a:rPr lang="ko-KR" altLang="en-US" dirty="0"/>
              <a:t>을 저장</a:t>
            </a:r>
            <a:endParaRPr lang="en-US" altLang="ko-KR" dirty="0"/>
          </a:p>
          <a:p>
            <a:pPr lvl="1"/>
            <a:r>
              <a:rPr lang="ko-KR" altLang="en-US" dirty="0"/>
              <a:t>➡ </a:t>
            </a:r>
            <a:r>
              <a:rPr lang="en-US" altLang="ko-KR" dirty="0"/>
              <a:t>Pass by reference</a:t>
            </a:r>
          </a:p>
          <a:p>
            <a:pPr lvl="1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같은 객체를 참조할 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784B25-542E-D97A-BAD6-5A9BE92D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A29E6-51E5-434F-8BAA-E4A5A5BCFF40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CD7E12-C06F-53DD-9E8A-7D711767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402708-C280-F3CD-523F-655CA5E6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 자료형 </a:t>
            </a:r>
            <a:r>
              <a:rPr lang="en-US" altLang="ko-KR" dirty="0"/>
              <a:t>vs </a:t>
            </a:r>
            <a:r>
              <a:rPr lang="ko-KR" altLang="en-US" dirty="0"/>
              <a:t>객체 자료형</a:t>
            </a:r>
          </a:p>
        </p:txBody>
      </p:sp>
    </p:spTree>
    <p:extLst>
      <p:ext uri="{BB962C8B-B14F-4D97-AF65-F5344CB8AC3E}">
        <p14:creationId xmlns:p14="http://schemas.microsoft.com/office/powerpoint/2010/main" val="3368860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D6B0722-9480-BB35-73CF-93B49F6C5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548"/>
            <a:ext cx="10515600" cy="1296620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숫자형과 문자열과 마찬가지로 일반적인 스크립트와 동일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[]</a:t>
            </a:r>
            <a:r>
              <a:rPr lang="en-US" altLang="ko-KR" dirty="0"/>
              <a:t> </a:t>
            </a:r>
            <a:r>
              <a:rPr lang="ko-KR" altLang="en-US" dirty="0"/>
              <a:t>나 </a:t>
            </a:r>
            <a:r>
              <a:rPr lang="en-US" altLang="ko-KR" dirty="0">
                <a:solidFill>
                  <a:srgbClr val="FF0000"/>
                </a:solidFill>
              </a:rPr>
              <a:t>new Array()</a:t>
            </a:r>
            <a:r>
              <a:rPr lang="ko-KR" altLang="en-US" dirty="0"/>
              <a:t>를 이용해 생성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55FBF-1980-4364-9E8B-5E28EBE09C05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</a:t>
            </a:r>
            <a:r>
              <a:rPr lang="ko-KR" altLang="en-US" dirty="0"/>
              <a:t> 자료형 </a:t>
            </a:r>
            <a:r>
              <a:rPr lang="en-US" altLang="ko-KR" dirty="0"/>
              <a:t>- </a:t>
            </a:r>
            <a:r>
              <a:rPr lang="ko-KR" altLang="en-US" dirty="0"/>
              <a:t>배열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45616"/>
            <a:ext cx="10383386" cy="183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316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D6B0722-9480-BB35-73CF-93B49F6C5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0" y="1488741"/>
            <a:ext cx="8610600" cy="466026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 err="1"/>
              <a:t>변수명</a:t>
            </a:r>
            <a:r>
              <a:rPr lang="en-US" altLang="ko-KR" dirty="0">
                <a:solidFill>
                  <a:schemeClr val="accent3"/>
                </a:solidFill>
              </a:rPr>
              <a:t>.length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 err="1"/>
              <a:t>변수명</a:t>
            </a:r>
            <a:r>
              <a:rPr lang="en-US" altLang="ko-KR" dirty="0">
                <a:solidFill>
                  <a:schemeClr val="accent1"/>
                </a:solidFill>
              </a:rPr>
              <a:t>.push(</a:t>
            </a:r>
            <a:r>
              <a:rPr lang="ko-KR" altLang="en-US" dirty="0">
                <a:solidFill>
                  <a:schemeClr val="accent1"/>
                </a:solidFill>
              </a:rPr>
              <a:t>추가할 값</a:t>
            </a:r>
            <a:r>
              <a:rPr lang="en-US" altLang="ko-KR" dirty="0">
                <a:solidFill>
                  <a:schemeClr val="accent1"/>
                </a:solidFill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dirty="0" err="1"/>
              <a:t>변수명</a:t>
            </a:r>
            <a:r>
              <a:rPr lang="en-US" altLang="ko-KR" dirty="0">
                <a:solidFill>
                  <a:schemeClr val="accent1"/>
                </a:solidFill>
              </a:rPr>
              <a:t>.pop()</a:t>
            </a:r>
          </a:p>
          <a:p>
            <a:pPr>
              <a:lnSpc>
                <a:spcPct val="120000"/>
              </a:lnSpc>
            </a:pPr>
            <a:r>
              <a:rPr lang="ko-KR" altLang="en-US" dirty="0" err="1"/>
              <a:t>변수명</a:t>
            </a:r>
            <a:r>
              <a:rPr lang="en-US" altLang="ko-KR" dirty="0">
                <a:solidFill>
                  <a:schemeClr val="accent1"/>
                </a:solidFill>
              </a:rPr>
              <a:t>.unshift(</a:t>
            </a:r>
            <a:r>
              <a:rPr lang="ko-KR" altLang="en-US" dirty="0">
                <a:solidFill>
                  <a:schemeClr val="accent1"/>
                </a:solidFill>
              </a:rPr>
              <a:t>추가할 값</a:t>
            </a:r>
            <a:r>
              <a:rPr lang="en-US" altLang="ko-KR" dirty="0">
                <a:solidFill>
                  <a:schemeClr val="accent1"/>
                </a:solidFill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dirty="0" err="1"/>
              <a:t>변수명</a:t>
            </a:r>
            <a:r>
              <a:rPr lang="en-US" altLang="ko-KR" dirty="0">
                <a:solidFill>
                  <a:schemeClr val="accent1"/>
                </a:solidFill>
              </a:rPr>
              <a:t>.shift()</a:t>
            </a:r>
          </a:p>
          <a:p>
            <a:pPr>
              <a:lnSpc>
                <a:spcPct val="120000"/>
              </a:lnSpc>
            </a:pPr>
            <a:r>
              <a:rPr lang="ko-KR" altLang="en-US" dirty="0" err="1"/>
              <a:t>변수명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en-US" altLang="ko-KR" dirty="0" err="1">
                <a:solidFill>
                  <a:schemeClr val="accent1"/>
                </a:solidFill>
              </a:rPr>
              <a:t>indexOf</a:t>
            </a:r>
            <a:r>
              <a:rPr lang="en-US" altLang="ko-KR" dirty="0">
                <a:solidFill>
                  <a:schemeClr val="accent1"/>
                </a:solidFill>
              </a:rPr>
              <a:t>(</a:t>
            </a:r>
            <a:r>
              <a:rPr lang="ko-KR" altLang="en-US" dirty="0">
                <a:solidFill>
                  <a:schemeClr val="accent1"/>
                </a:solidFill>
              </a:rPr>
              <a:t>찾을 값</a:t>
            </a:r>
            <a:r>
              <a:rPr lang="en-US" altLang="ko-KR" dirty="0">
                <a:solidFill>
                  <a:schemeClr val="accent1"/>
                </a:solidFill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B845D-2417-4568-8665-C368068EE0D6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</a:t>
            </a:r>
            <a:r>
              <a:rPr lang="ko-KR" altLang="en-US" dirty="0"/>
              <a:t> 자료형 </a:t>
            </a:r>
            <a:r>
              <a:rPr lang="en-US" altLang="ko-KR" dirty="0"/>
              <a:t>- </a:t>
            </a:r>
            <a:r>
              <a:rPr lang="ko-KR" altLang="en-US" dirty="0"/>
              <a:t>배열</a:t>
            </a:r>
          </a:p>
        </p:txBody>
      </p:sp>
    </p:spTree>
    <p:extLst>
      <p:ext uri="{BB962C8B-B14F-4D97-AF65-F5344CB8AC3E}">
        <p14:creationId xmlns:p14="http://schemas.microsoft.com/office/powerpoint/2010/main" val="167700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412" y="1790700"/>
            <a:ext cx="8340576" cy="3416300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D6B0722-9480-BB35-73CF-93B49F6C5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600" y="2477398"/>
            <a:ext cx="4203700" cy="72105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키</a:t>
            </a:r>
            <a:r>
              <a:rPr lang="en-US" altLang="ko-KR" dirty="0"/>
              <a:t>-</a:t>
            </a:r>
            <a:r>
              <a:rPr lang="ko-KR" altLang="en-US" dirty="0"/>
              <a:t>값 형태로 저장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404D9-6A52-4A99-9101-80BD6AA53C94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</a:t>
            </a:r>
            <a:r>
              <a:rPr lang="ko-KR" altLang="en-US" dirty="0"/>
              <a:t> 자료형 </a:t>
            </a:r>
            <a:r>
              <a:rPr lang="en-US" altLang="ko-KR" dirty="0"/>
              <a:t>- </a:t>
            </a:r>
            <a:r>
              <a:rPr lang="ko-KR" altLang="en-US" dirty="0" err="1"/>
              <a:t>딕셔너리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5178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JavaScript </a:t>
            </a:r>
            <a:r>
              <a:rPr lang="ko-KR" altLang="en-US" sz="8000" dirty="0" err="1"/>
              <a:t>표준객체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1665405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자바스크립트가 </a:t>
            </a:r>
            <a:r>
              <a:rPr lang="ko-KR" altLang="en-US" b="1" dirty="0"/>
              <a:t>기본적으로 가지고 있는 객체들</a:t>
            </a:r>
            <a:endParaRPr lang="en-US" altLang="ko-KR" b="1" dirty="0"/>
          </a:p>
          <a:p>
            <a:endParaRPr lang="en-US" altLang="ko-KR" dirty="0"/>
          </a:p>
          <a:p>
            <a:r>
              <a:rPr lang="ko-KR" altLang="en-US" dirty="0"/>
              <a:t>프로그래밍을 하는데 기본적으로 필요한 도구들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String, Number, Array, </a:t>
            </a:r>
            <a:r>
              <a:rPr lang="en-US" altLang="ko-KR" sz="3200" dirty="0">
                <a:solidFill>
                  <a:schemeClr val="accent1"/>
                </a:solidFill>
              </a:rPr>
              <a:t>Date</a:t>
            </a:r>
            <a:r>
              <a:rPr lang="en-US" altLang="ko-KR" dirty="0">
                <a:solidFill>
                  <a:schemeClr val="accent1"/>
                </a:solidFill>
              </a:rPr>
              <a:t>, </a:t>
            </a:r>
            <a:r>
              <a:rPr lang="en-US" altLang="ko-KR" sz="3200" dirty="0">
                <a:solidFill>
                  <a:schemeClr val="accent1"/>
                </a:solidFill>
              </a:rPr>
              <a:t>Math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dirty="0"/>
              <a:t>..........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표준 객체</a:t>
            </a:r>
          </a:p>
        </p:txBody>
      </p:sp>
    </p:spTree>
    <p:extLst>
      <p:ext uri="{BB962C8B-B14F-4D97-AF65-F5344CB8AC3E}">
        <p14:creationId xmlns:p14="http://schemas.microsoft.com/office/powerpoint/2010/main" val="1189277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Javascript</a:t>
            </a:r>
            <a:r>
              <a:rPr lang="en-US" altLang="ko-KR" dirty="0"/>
              <a:t> </a:t>
            </a:r>
            <a:r>
              <a:rPr lang="ko-KR" altLang="en-US" dirty="0"/>
              <a:t>에서 매 순간 바뀌는 시간과 날짜에 관한 정보를 얻기 위해 사용하는 객체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초기화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Date </a:t>
            </a:r>
            <a:r>
              <a:rPr lang="ko-KR" altLang="en-US" dirty="0"/>
              <a:t>객체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06E2B2-0104-FD13-5570-9B2C52B0D38F}"/>
              </a:ext>
            </a:extLst>
          </p:cNvPr>
          <p:cNvGrpSpPr/>
          <p:nvPr/>
        </p:nvGrpSpPr>
        <p:grpSpPr>
          <a:xfrm>
            <a:off x="2436359" y="3356862"/>
            <a:ext cx="9272101" cy="2187260"/>
            <a:chOff x="2436359" y="3356862"/>
            <a:chExt cx="9272101" cy="218726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C24BC95-51F1-5208-5A56-83610CBD3A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4029"/>
            <a:stretch/>
          </p:blipFill>
          <p:spPr>
            <a:xfrm>
              <a:off x="2436359" y="3674076"/>
              <a:ext cx="9272101" cy="1870046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D325514-0D27-A28E-EDEA-07BD5DFD6F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88810"/>
            <a:stretch/>
          </p:blipFill>
          <p:spPr>
            <a:xfrm>
              <a:off x="2436359" y="3356862"/>
              <a:ext cx="9272101" cy="3172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9666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98984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 err="1"/>
              <a:t>Date.now</a:t>
            </a:r>
            <a:r>
              <a:rPr lang="en-US" altLang="ko-KR" dirty="0"/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Date.prototype</a:t>
            </a:r>
            <a:r>
              <a:rPr lang="en-US" altLang="ko-KR" dirty="0"/>
              <a:t> getter </a:t>
            </a:r>
            <a:r>
              <a:rPr lang="ko-KR" altLang="en-US" dirty="0"/>
              <a:t>메소드</a:t>
            </a:r>
            <a:r>
              <a:rPr lang="en-US" altLang="ko-KR" dirty="0"/>
              <a:t> ( let date = new Date(); )</a:t>
            </a:r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date.getFullYear</a:t>
            </a:r>
            <a:r>
              <a:rPr lang="en-US" altLang="ko-KR" dirty="0"/>
              <a:t>()</a:t>
            </a:r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date.getDate</a:t>
            </a:r>
            <a:r>
              <a:rPr lang="en-US" altLang="ko-KR" dirty="0"/>
              <a:t>()</a:t>
            </a:r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date.getDay</a:t>
            </a:r>
            <a:r>
              <a:rPr lang="en-US" altLang="ko-KR" dirty="0"/>
              <a:t>()</a:t>
            </a:r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date.getTime</a:t>
            </a:r>
            <a:r>
              <a:rPr lang="en-US" altLang="ko-KR" dirty="0"/>
              <a:t>()</a:t>
            </a:r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date.getHour</a:t>
            </a:r>
            <a:r>
              <a:rPr lang="en-US" altLang="ko-KR" dirty="0"/>
              <a:t>()</a:t>
            </a:r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date.getMinutes</a:t>
            </a:r>
            <a:r>
              <a:rPr lang="en-US" altLang="ko-KR" dirty="0"/>
              <a:t>()</a:t>
            </a:r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date.getSeconds</a:t>
            </a:r>
            <a:r>
              <a:rPr lang="en-US" altLang="ko-KR" dirty="0"/>
              <a:t>()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555BB-40C1-49F2-814A-FC989E48DA17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Date </a:t>
            </a:r>
            <a:r>
              <a:rPr lang="ko-KR" altLang="en-US" dirty="0"/>
              <a:t>객체 </a:t>
            </a:r>
            <a:r>
              <a:rPr lang="en-US" altLang="ko-KR" dirty="0"/>
              <a:t>- </a:t>
            </a:r>
            <a:r>
              <a:rPr lang="ko-KR" altLang="en-US" dirty="0"/>
              <a:t>함수</a:t>
            </a:r>
          </a:p>
        </p:txBody>
      </p:sp>
    </p:spTree>
    <p:extLst>
      <p:ext uri="{BB962C8B-B14F-4D97-AF65-F5344CB8AC3E}">
        <p14:creationId xmlns:p14="http://schemas.microsoft.com/office/powerpoint/2010/main" val="547036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수학에서 자주 사용하는 상수와 함수들을 미리 구현해 놓은 </a:t>
            </a:r>
            <a:r>
              <a:rPr lang="en-US" altLang="ko-KR" dirty="0" err="1"/>
              <a:t>Javascript</a:t>
            </a:r>
            <a:r>
              <a:rPr lang="en-US" altLang="ko-KR" dirty="0"/>
              <a:t> </a:t>
            </a:r>
            <a:r>
              <a:rPr lang="ko-KR" altLang="en-US" dirty="0"/>
              <a:t>표준 내장 객체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웹 브라우저마다 다른 결과를 얻을 가능성이 있기에 정확한 결과를 얻어야 할 경우에는 </a:t>
            </a:r>
            <a:r>
              <a:rPr lang="en-US" altLang="ko-KR" dirty="0"/>
              <a:t>Math </a:t>
            </a:r>
            <a:r>
              <a:rPr lang="ko-KR" altLang="en-US" dirty="0"/>
              <a:t>메소드를 사용하지 않는 것이 좋다</a:t>
            </a:r>
            <a:r>
              <a:rPr lang="en-US" altLang="ko-KR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A22E-3498-4C32-970F-84BAFA956A09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Math </a:t>
            </a:r>
            <a:r>
              <a:rPr lang="ko-KR" altLang="en-US" dirty="0"/>
              <a:t>객체</a:t>
            </a:r>
          </a:p>
        </p:txBody>
      </p:sp>
    </p:spTree>
    <p:extLst>
      <p:ext uri="{BB962C8B-B14F-4D97-AF65-F5344CB8AC3E}">
        <p14:creationId xmlns:p14="http://schemas.microsoft.com/office/powerpoint/2010/main" val="1156022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7184" y="1619619"/>
            <a:ext cx="5803231" cy="418181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 err="1"/>
              <a:t>Math.</a:t>
            </a:r>
            <a:r>
              <a:rPr lang="en-US" altLang="ko-KR" b="1" dirty="0" err="1"/>
              <a:t>min</a:t>
            </a:r>
            <a:r>
              <a:rPr lang="en-US" altLang="ko-KR" dirty="0"/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Math.</a:t>
            </a:r>
            <a:r>
              <a:rPr lang="en-US" altLang="ko-KR" b="1" dirty="0" err="1"/>
              <a:t>max</a:t>
            </a:r>
            <a:r>
              <a:rPr lang="en-US" altLang="ko-KR" dirty="0"/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Math.</a:t>
            </a:r>
            <a:r>
              <a:rPr lang="en-US" altLang="ko-KR" b="1" dirty="0" err="1"/>
              <a:t>random</a:t>
            </a:r>
            <a:r>
              <a:rPr lang="en-US" altLang="ko-KR" dirty="0"/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Math.</a:t>
            </a:r>
            <a:r>
              <a:rPr lang="en-US" altLang="ko-KR" b="1" dirty="0" err="1"/>
              <a:t>round</a:t>
            </a:r>
            <a:r>
              <a:rPr lang="en-US" altLang="ko-KR" dirty="0"/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Math.</a:t>
            </a:r>
            <a:r>
              <a:rPr lang="en-US" altLang="ko-KR" b="1" dirty="0" err="1"/>
              <a:t>floor</a:t>
            </a:r>
            <a:r>
              <a:rPr lang="en-US" altLang="ko-KR" dirty="0"/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Math.</a:t>
            </a:r>
            <a:r>
              <a:rPr lang="en-US" altLang="ko-KR" b="1" dirty="0" err="1"/>
              <a:t>ceil</a:t>
            </a:r>
            <a:r>
              <a:rPr lang="en-US" altLang="ko-KR" dirty="0"/>
              <a:t>()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Math </a:t>
            </a:r>
            <a:r>
              <a:rPr lang="ko-KR" altLang="en-US" dirty="0"/>
              <a:t>객체 </a:t>
            </a:r>
            <a:r>
              <a:rPr lang="en-US" altLang="ko-KR" dirty="0"/>
              <a:t>- </a:t>
            </a:r>
            <a:r>
              <a:rPr lang="ko-KR" altLang="en-US" dirty="0"/>
              <a:t>함수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1031968-EEA9-FF7A-D8AD-2C8EC9F2C2BA}"/>
              </a:ext>
            </a:extLst>
          </p:cNvPr>
          <p:cNvSpPr txBox="1">
            <a:spLocks/>
          </p:cNvSpPr>
          <p:nvPr/>
        </p:nvSpPr>
        <p:spPr>
          <a:xfrm>
            <a:off x="1486669" y="1619619"/>
            <a:ext cx="5803231" cy="4181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dirty="0" err="1"/>
              <a:t>Math.</a:t>
            </a:r>
            <a:r>
              <a:rPr lang="en-US" altLang="ko-KR" b="1" dirty="0" err="1"/>
              <a:t>PI</a:t>
            </a:r>
            <a:endParaRPr lang="en-US" altLang="ko-KR" b="1" dirty="0"/>
          </a:p>
          <a:p>
            <a:pPr>
              <a:lnSpc>
                <a:spcPct val="120000"/>
              </a:lnSpc>
            </a:pPr>
            <a:r>
              <a:rPr lang="en-US" altLang="ko-KR" dirty="0" err="1"/>
              <a:t>Math.</a:t>
            </a:r>
            <a:r>
              <a:rPr lang="en-US" altLang="ko-KR" b="1" dirty="0" err="1"/>
              <a:t>E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76030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JavaScript DOM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1438010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문서를 객체화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6E4500-9B5B-98AF-AA55-5351857FF20F}"/>
              </a:ext>
            </a:extLst>
          </p:cNvPr>
          <p:cNvSpPr txBox="1"/>
          <p:nvPr/>
        </p:nvSpPr>
        <p:spPr>
          <a:xfrm>
            <a:off x="841569" y="1565213"/>
            <a:ext cx="3172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+mj-lt"/>
              </a:rPr>
              <a:t>렌더링 </a:t>
            </a:r>
            <a:r>
              <a:rPr lang="en-US" altLang="ko-KR" sz="2800" b="1" dirty="0">
                <a:latin typeface="+mj-lt"/>
              </a:rPr>
              <a:t>(</a:t>
            </a:r>
            <a:r>
              <a:rPr lang="en-US" altLang="ko-KR" sz="28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+mj-lt"/>
              </a:rPr>
              <a:t>Rendering)</a:t>
            </a:r>
            <a:endParaRPr lang="ko-KR" altLang="en-US" sz="28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3CB39-3F5B-D2CB-79AA-626EA7CB8504}"/>
              </a:ext>
            </a:extLst>
          </p:cNvPr>
          <p:cNvSpPr txBox="1"/>
          <p:nvPr/>
        </p:nvSpPr>
        <p:spPr>
          <a:xfrm>
            <a:off x="1185482" y="2337523"/>
            <a:ext cx="9821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/>
              <a:t>주어진 데이터를 시각적인 형태로 변환하는 과정</a:t>
            </a:r>
            <a:br>
              <a:rPr lang="en-US" altLang="ko-KR" sz="2400" dirty="0"/>
            </a:br>
            <a:r>
              <a:rPr lang="ko-KR" altLang="en-US" sz="2400" dirty="0"/>
              <a:t>→ 화면에 표시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F0787F-A774-1920-2AD0-5813BB4A12F6}"/>
              </a:ext>
            </a:extLst>
          </p:cNvPr>
          <p:cNvSpPr txBox="1"/>
          <p:nvPr/>
        </p:nvSpPr>
        <p:spPr>
          <a:xfrm>
            <a:off x="841568" y="3689481"/>
            <a:ext cx="5114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+mj-lt"/>
              </a:rPr>
              <a:t>렌더링 엔진 </a:t>
            </a:r>
            <a:r>
              <a:rPr lang="en-US" altLang="ko-KR" sz="2800" b="1" dirty="0">
                <a:latin typeface="+mj-lt"/>
              </a:rPr>
              <a:t>(</a:t>
            </a:r>
            <a:r>
              <a:rPr lang="en-US" altLang="ko-KR" sz="28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+mj-lt"/>
              </a:rPr>
              <a:t>Rendering Engine)</a:t>
            </a:r>
            <a:endParaRPr lang="ko-KR" altLang="en-US" sz="2800" b="1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AD22F9-CA7B-A8EA-3962-D2010F64BA58}"/>
              </a:ext>
            </a:extLst>
          </p:cNvPr>
          <p:cNvSpPr txBox="1"/>
          <p:nvPr/>
        </p:nvSpPr>
        <p:spPr>
          <a:xfrm>
            <a:off x="1185482" y="4461791"/>
            <a:ext cx="10321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/>
              <a:t>웹</a:t>
            </a:r>
            <a:r>
              <a:rPr lang="en-US" altLang="ko-KR" sz="2400" dirty="0"/>
              <a:t> </a:t>
            </a:r>
            <a:r>
              <a:rPr lang="ko-KR" altLang="en-US" sz="2400" dirty="0"/>
              <a:t>브라우저가 </a:t>
            </a:r>
            <a:r>
              <a:rPr lang="en-US" altLang="ko-KR" sz="2400" dirty="0"/>
              <a:t>(HTML, CSS, JS) </a:t>
            </a:r>
            <a:r>
              <a:rPr lang="ko-KR" altLang="en-US" sz="2400" dirty="0"/>
              <a:t>웹 페이지 리소스를 해석하고 표시하는 역할</a:t>
            </a:r>
            <a:br>
              <a:rPr lang="en-US" altLang="ko-KR" sz="2400" dirty="0"/>
            </a:br>
            <a:r>
              <a:rPr lang="ko-KR" altLang="en-US" sz="2400" dirty="0"/>
              <a:t>→ 웹  페이지를 렌더링하고 사용자에게 표시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8903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문서를 객체화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8582CA5-2CB9-B760-CE67-23F40AE25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575" y="1378132"/>
            <a:ext cx="756285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464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59988" cy="435133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highlight>
                  <a:srgbClr val="FFFF00"/>
                </a:highlight>
              </a:rPr>
              <a:t>D</a:t>
            </a:r>
            <a:r>
              <a:rPr lang="en-US" altLang="ko-KR" sz="3200" b="1" dirty="0"/>
              <a:t>ocument </a:t>
            </a:r>
            <a:r>
              <a:rPr lang="en-US" altLang="ko-KR" sz="3200" b="1" dirty="0">
                <a:highlight>
                  <a:srgbClr val="FFFF00"/>
                </a:highlight>
              </a:rPr>
              <a:t>O</a:t>
            </a:r>
            <a:r>
              <a:rPr lang="en-US" altLang="ko-KR" sz="3200" b="1" dirty="0"/>
              <a:t>bject </a:t>
            </a:r>
            <a:r>
              <a:rPr lang="en-US" altLang="ko-KR" sz="3200" b="1" dirty="0">
                <a:highlight>
                  <a:srgbClr val="FFFF00"/>
                </a:highlight>
              </a:rPr>
              <a:t>M</a:t>
            </a:r>
            <a:r>
              <a:rPr lang="en-US" altLang="ko-KR" sz="3200" b="1" dirty="0"/>
              <a:t>odel ( </a:t>
            </a:r>
            <a:r>
              <a:rPr lang="ko-KR" altLang="en-US" sz="3200" b="1" dirty="0"/>
              <a:t>문서 객체 모델</a:t>
            </a:r>
            <a:r>
              <a:rPr lang="en-US" altLang="ko-KR" sz="3200" b="1" dirty="0"/>
              <a:t> )</a:t>
            </a:r>
          </a:p>
          <a:p>
            <a:endParaRPr lang="en-US" altLang="ko-KR" sz="3200" dirty="0"/>
          </a:p>
          <a:p>
            <a:r>
              <a:rPr lang="en-US" altLang="ko-KR" sz="3200" dirty="0"/>
              <a:t>XML </a:t>
            </a:r>
            <a:r>
              <a:rPr lang="ko-KR" altLang="en-US" sz="3200" dirty="0"/>
              <a:t>이나 </a:t>
            </a:r>
            <a:r>
              <a:rPr lang="en-US" altLang="ko-KR" sz="3200" dirty="0"/>
              <a:t>HTML </a:t>
            </a:r>
            <a:r>
              <a:rPr lang="ko-KR" altLang="en-US" sz="3200" dirty="0"/>
              <a:t>문서에 접근하기 위한 일종의 인터페이스로 문서 내의 모든 요소를 정의하고</a:t>
            </a:r>
            <a:r>
              <a:rPr lang="en-US" altLang="ko-KR" sz="3200" dirty="0"/>
              <a:t>, </a:t>
            </a:r>
            <a:r>
              <a:rPr lang="ko-KR" altLang="en-US" sz="3200" dirty="0"/>
              <a:t>각각의 요소에 접근하는 방법을 제공</a:t>
            </a:r>
            <a:endParaRPr lang="en-US" altLang="ko-KR" sz="32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7057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87C8DF42-47CD-0939-D2F4-5B1E62389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29" y="1325563"/>
            <a:ext cx="4200386" cy="4351338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1F80D-3619-47B0-B506-C15A2DD33094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C2B14E1-0567-FD31-C62D-6CAF64C262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546" y="1325563"/>
            <a:ext cx="6193222" cy="292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39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100" y="1473200"/>
            <a:ext cx="10680699" cy="4842210"/>
          </a:xfrm>
        </p:spPr>
        <p:txBody>
          <a:bodyPr/>
          <a:lstStyle/>
          <a:p>
            <a:pPr marL="514350" indent="-514350">
              <a:lnSpc>
                <a:spcPct val="120000"/>
              </a:lnSpc>
              <a:buAutoNum type="arabicPeriod"/>
            </a:pPr>
            <a:r>
              <a:rPr lang="ko-KR" altLang="en-US" dirty="0"/>
              <a:t>새로운 </a:t>
            </a:r>
            <a:r>
              <a:rPr lang="en-US" altLang="ko-KR" dirty="0"/>
              <a:t>HTML </a:t>
            </a:r>
            <a:r>
              <a:rPr lang="ko-KR" altLang="en-US" dirty="0"/>
              <a:t>요소나 속성 추가</a:t>
            </a:r>
            <a:endParaRPr lang="en-US" altLang="ko-KR" dirty="0"/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ko-KR" altLang="en-US" dirty="0"/>
              <a:t>존재하는 </a:t>
            </a:r>
            <a:r>
              <a:rPr lang="en-US" altLang="ko-KR" dirty="0"/>
              <a:t>HTML </a:t>
            </a:r>
            <a:r>
              <a:rPr lang="ko-KR" altLang="en-US" dirty="0"/>
              <a:t>요소나 속성 제거</a:t>
            </a:r>
            <a:endParaRPr lang="en-US" altLang="ko-KR" dirty="0"/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altLang="ko-KR" dirty="0"/>
              <a:t>HTML </a:t>
            </a:r>
            <a:r>
              <a:rPr lang="ko-KR" altLang="en-US" dirty="0"/>
              <a:t>문서의 모든 </a:t>
            </a:r>
            <a:r>
              <a:rPr lang="en-US" altLang="ko-KR" dirty="0"/>
              <a:t>HTML </a:t>
            </a:r>
            <a:r>
              <a:rPr lang="ko-KR" altLang="en-US" dirty="0"/>
              <a:t>요소 변경</a:t>
            </a:r>
            <a:endParaRPr lang="en-US" altLang="ko-KR" dirty="0"/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altLang="ko-KR" dirty="0"/>
              <a:t>HTML </a:t>
            </a:r>
            <a:r>
              <a:rPr lang="ko-KR" altLang="en-US" dirty="0"/>
              <a:t>문서의 모든 </a:t>
            </a:r>
            <a:r>
              <a:rPr lang="en-US" altLang="ko-KR" dirty="0"/>
              <a:t>HTML </a:t>
            </a:r>
            <a:r>
              <a:rPr lang="ko-KR" altLang="en-US" dirty="0"/>
              <a:t>속성 변경</a:t>
            </a:r>
            <a:endParaRPr lang="en-US" altLang="ko-KR" dirty="0"/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altLang="ko-KR" dirty="0"/>
              <a:t>HTML </a:t>
            </a:r>
            <a:r>
              <a:rPr lang="ko-KR" altLang="en-US" dirty="0"/>
              <a:t>문서의 모든 </a:t>
            </a:r>
            <a:r>
              <a:rPr lang="en-US" altLang="ko-KR" dirty="0"/>
              <a:t>CSS </a:t>
            </a:r>
            <a:r>
              <a:rPr lang="ko-KR" altLang="en-US" dirty="0"/>
              <a:t>스타일 변경</a:t>
            </a:r>
            <a:endParaRPr lang="en-US" altLang="ko-KR" dirty="0"/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altLang="ko-KR" dirty="0"/>
              <a:t>HTML </a:t>
            </a:r>
            <a:r>
              <a:rPr lang="ko-KR" altLang="en-US" dirty="0"/>
              <a:t>문서에 새로운 </a:t>
            </a:r>
            <a:r>
              <a:rPr lang="en-US" altLang="ko-KR" dirty="0"/>
              <a:t>HTML </a:t>
            </a:r>
            <a:r>
              <a:rPr lang="ko-KR" altLang="en-US" dirty="0"/>
              <a:t>이벤트 추가</a:t>
            </a:r>
            <a:endParaRPr lang="en-US" altLang="ko-KR" dirty="0"/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altLang="ko-KR" dirty="0"/>
              <a:t>HTML </a:t>
            </a:r>
            <a:r>
              <a:rPr lang="ko-KR" altLang="en-US" dirty="0"/>
              <a:t>문서의 모든 </a:t>
            </a:r>
            <a:r>
              <a:rPr lang="en-US" altLang="ko-KR" dirty="0"/>
              <a:t>HTML </a:t>
            </a:r>
            <a:r>
              <a:rPr lang="ko-KR" altLang="en-US" dirty="0"/>
              <a:t>이벤트에 반응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AB4C8-8E0F-4E71-95F4-BC1A3913D5A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D6B0722-9480-BB35-73CF-93B49F6C5FF8}"/>
              </a:ext>
            </a:extLst>
          </p:cNvPr>
          <p:cNvSpPr txBox="1">
            <a:spLocks/>
          </p:cNvSpPr>
          <p:nvPr/>
        </p:nvSpPr>
        <p:spPr>
          <a:xfrm>
            <a:off x="2190750" y="733491"/>
            <a:ext cx="4705350" cy="4730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>
                <a:solidFill>
                  <a:schemeClr val="accent1"/>
                </a:solidFill>
              </a:rPr>
              <a:t>다음과 같은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일을 할 수 있음</a:t>
            </a:r>
            <a:r>
              <a:rPr lang="en-US" altLang="ko-KR" dirty="0">
                <a:solidFill>
                  <a:schemeClr val="accent1"/>
                </a:solidFill>
              </a:rPr>
              <a:t>!!!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069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sz="7200" dirty="0"/>
              <a:t>JavaScript Document</a:t>
            </a:r>
            <a:endParaRPr lang="ko-KR" altLang="en-US" sz="7200" dirty="0"/>
          </a:p>
        </p:txBody>
      </p:sp>
    </p:spTree>
    <p:extLst>
      <p:ext uri="{BB962C8B-B14F-4D97-AF65-F5344CB8AC3E}">
        <p14:creationId xmlns:p14="http://schemas.microsoft.com/office/powerpoint/2010/main" val="423861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379"/>
            <a:ext cx="10744200" cy="400852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ko-KR" altLang="en-US" dirty="0"/>
              <a:t>웹 페이지에 존재하는 </a:t>
            </a:r>
            <a:r>
              <a:rPr lang="en-US" altLang="ko-KR" b="1" dirty="0"/>
              <a:t>HTML </a:t>
            </a:r>
            <a:r>
              <a:rPr lang="ko-KR" altLang="en-US" b="1" dirty="0"/>
              <a:t>요소에 접근</a:t>
            </a:r>
            <a:r>
              <a:rPr lang="ko-KR" altLang="en-US" dirty="0"/>
              <a:t>하여 행동을 하고자 할 때 사용하는 객체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8823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4384" y="1325563"/>
            <a:ext cx="5803231" cy="480603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 err="1"/>
              <a:t>document.documentElement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 err="1"/>
              <a:t>document.head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 err="1"/>
              <a:t>document.title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 err="1"/>
              <a:t>document.body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document.URL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document.domain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DC4A-5795-4B01-9D97-4D581D89A2E2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- </a:t>
            </a:r>
            <a:r>
              <a:rPr lang="ko-KR" altLang="en-US" dirty="0"/>
              <a:t>속성</a:t>
            </a:r>
          </a:p>
        </p:txBody>
      </p:sp>
    </p:spTree>
    <p:extLst>
      <p:ext uri="{BB962C8B-B14F-4D97-AF65-F5344CB8AC3E}">
        <p14:creationId xmlns:p14="http://schemas.microsoft.com/office/powerpoint/2010/main" val="3045861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1936464"/>
            <a:ext cx="10515600" cy="1325563"/>
          </a:xfrm>
        </p:spPr>
        <p:txBody>
          <a:bodyPr/>
          <a:lstStyle/>
          <a:p>
            <a:r>
              <a:rPr lang="en-US" altLang="ko-KR" sz="7200" dirty="0"/>
              <a:t>DOM API</a:t>
            </a:r>
            <a:endParaRPr lang="ko-KR" altLang="en-US" sz="7200" dirty="0"/>
          </a:p>
        </p:txBody>
      </p:sp>
      <p:sp>
        <p:nvSpPr>
          <p:cNvPr id="6" name="제목 3">
            <a:extLst>
              <a:ext uri="{FF2B5EF4-FFF2-40B4-BE49-F238E27FC236}">
                <a16:creationId xmlns:a16="http://schemas.microsoft.com/office/drawing/2014/main" id="{02BE41FA-E97B-AA9A-885F-9D61DE462AF2}"/>
              </a:ext>
            </a:extLst>
          </p:cNvPr>
          <p:cNvSpPr txBox="1">
            <a:spLocks/>
          </p:cNvSpPr>
          <p:nvPr/>
        </p:nvSpPr>
        <p:spPr>
          <a:xfrm>
            <a:off x="838200" y="325520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8000" b="1" kern="1200">
                <a:solidFill>
                  <a:srgbClr val="6EC1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D</a:t>
            </a: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ocument</a:t>
            </a:r>
            <a:r>
              <a:rPr lang="en-US" altLang="ko-KR" sz="3200" dirty="0"/>
              <a:t> O</a:t>
            </a: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bject</a:t>
            </a:r>
            <a:r>
              <a:rPr lang="en-US" altLang="ko-KR" sz="3200" dirty="0"/>
              <a:t> M</a:t>
            </a: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odel</a:t>
            </a:r>
            <a:r>
              <a:rPr lang="en-US" altLang="ko-KR" sz="3200" dirty="0"/>
              <a:t>, A</a:t>
            </a: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pplication</a:t>
            </a:r>
            <a:r>
              <a:rPr lang="en-US" altLang="ko-KR" sz="3200" dirty="0"/>
              <a:t> P</a:t>
            </a: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rogramming</a:t>
            </a:r>
            <a:r>
              <a:rPr lang="en-US" altLang="ko-KR" sz="3200" dirty="0"/>
              <a:t> I</a:t>
            </a: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nterface</a:t>
            </a:r>
            <a:endParaRPr lang="ko-KR" alt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3848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737" y="1566238"/>
            <a:ext cx="8582526" cy="4206542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.getElementById</a:t>
            </a:r>
            <a:r>
              <a:rPr lang="en-US" altLang="ko-KR" dirty="0"/>
              <a:t>(</a:t>
            </a:r>
            <a:r>
              <a:rPr lang="ko-KR" altLang="en-US" dirty="0"/>
              <a:t>아이디</a:t>
            </a:r>
            <a:r>
              <a:rPr lang="en-US" altLang="ko-KR" dirty="0"/>
              <a:t> </a:t>
            </a:r>
            <a:r>
              <a:rPr lang="ko-KR" altLang="en-US" dirty="0"/>
              <a:t>속성값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.getElement</a:t>
            </a:r>
            <a:r>
              <a:rPr lang="en-US" altLang="ko-KR" b="1" dirty="0" err="1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lang="en-US" altLang="ko-KR" dirty="0" err="1"/>
              <a:t>ByClassName</a:t>
            </a:r>
            <a:r>
              <a:rPr lang="en-US" altLang="ko-KR" dirty="0"/>
              <a:t>(</a:t>
            </a:r>
            <a:r>
              <a:rPr lang="ko-KR" altLang="en-US" dirty="0"/>
              <a:t>클래스 속성값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.getElement</a:t>
            </a:r>
            <a:r>
              <a:rPr lang="en-US" altLang="ko-KR" b="1" dirty="0" err="1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lang="en-US" altLang="ko-KR" dirty="0" err="1"/>
              <a:t>ByTagName</a:t>
            </a:r>
            <a:r>
              <a:rPr lang="en-US" altLang="ko-KR" dirty="0"/>
              <a:t>(</a:t>
            </a:r>
            <a:r>
              <a:rPr lang="ko-KR" altLang="en-US" dirty="0"/>
              <a:t>태그 이름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.getElement</a:t>
            </a:r>
            <a:r>
              <a:rPr lang="en-US" altLang="ko-KR" b="1" dirty="0" err="1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lang="en-US" altLang="ko-KR" dirty="0" err="1"/>
              <a:t>ByName</a:t>
            </a:r>
            <a:r>
              <a:rPr lang="en-US" altLang="ko-KR" dirty="0"/>
              <a:t>(name</a:t>
            </a:r>
            <a:r>
              <a:rPr lang="ko-KR" altLang="en-US" dirty="0"/>
              <a:t> 속성값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.querySelector</a:t>
            </a:r>
            <a:r>
              <a:rPr lang="en-US" altLang="ko-KR" dirty="0"/>
              <a:t>(CSS </a:t>
            </a:r>
            <a:r>
              <a:rPr lang="ko-KR" altLang="en-US" dirty="0" err="1"/>
              <a:t>선택자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dirty="0" err="1">
                <a:solidFill>
                  <a:schemeClr val="accent1">
                    <a:lumMod val="50000"/>
                  </a:schemeClr>
                </a:solidFill>
              </a:rPr>
              <a:t>document</a:t>
            </a:r>
            <a:r>
              <a:rPr lang="en-US" altLang="ko-KR" dirty="0" err="1"/>
              <a:t>.querySelectorAll</a:t>
            </a:r>
            <a:r>
              <a:rPr lang="en-US" altLang="ko-KR" dirty="0"/>
              <a:t>(CSS </a:t>
            </a:r>
            <a:r>
              <a:rPr lang="ko-KR" altLang="en-US" dirty="0" err="1"/>
              <a:t>선택자</a:t>
            </a:r>
            <a:r>
              <a:rPr lang="en-US" altLang="ko-KR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선택</a:t>
            </a:r>
          </a:p>
        </p:txBody>
      </p:sp>
    </p:spTree>
    <p:extLst>
      <p:ext uri="{BB962C8B-B14F-4D97-AF65-F5344CB8AC3E}">
        <p14:creationId xmlns:p14="http://schemas.microsoft.com/office/powerpoint/2010/main" val="17084247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 err="1">
                <a:solidFill>
                  <a:srgbClr val="00B050"/>
                </a:solidFill>
                <a:ea typeface="Kim jung chul Gothic Bold" panose="020B0803000000000000" pitchFamily="50" charset="-127"/>
              </a:rPr>
              <a:t>getElementById</a:t>
            </a:r>
            <a:r>
              <a:rPr lang="en-US" altLang="ko-KR" dirty="0">
                <a:ea typeface="Kim jung chul Gothic Bold" panose="020B0803000000000000" pitchFamily="50" charset="-127"/>
              </a:rPr>
              <a:t>(“ID</a:t>
            </a:r>
            <a:r>
              <a:rPr lang="ko-KR" altLang="en-US" dirty="0">
                <a:ea typeface="Kim jung chul Gothic Bold" panose="020B0803000000000000" pitchFamily="50" charset="-127"/>
              </a:rPr>
              <a:t>이름</a:t>
            </a:r>
            <a:r>
              <a:rPr lang="en-US" altLang="ko-KR" dirty="0">
                <a:ea typeface="Kim jung chul Gothic Bold" panose="020B0803000000000000" pitchFamily="50" charset="-127"/>
              </a:rPr>
              <a:t>”)</a:t>
            </a:r>
            <a:endParaRPr lang="ko-KR" altLang="en-US" dirty="0">
              <a:ea typeface="Kim jung chul Gothic Bold" panose="020B0803000000000000" pitchFamily="50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523783" y="1328391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 해당 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ID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를 가지는 요소를 불러오는 메소드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7B619-31A1-713E-4BB0-79C47F0A7F1D}"/>
              </a:ext>
            </a:extLst>
          </p:cNvPr>
          <p:cNvSpPr txBox="1"/>
          <p:nvPr/>
        </p:nvSpPr>
        <p:spPr>
          <a:xfrm>
            <a:off x="941294" y="2284622"/>
            <a:ext cx="7575176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inputEl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F1C990-8257-26E3-F441-45F8CC355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" y="2868019"/>
            <a:ext cx="4021134" cy="190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014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 err="1">
                <a:solidFill>
                  <a:srgbClr val="00B050"/>
                </a:solidFill>
                <a:ea typeface="Kim jung chul Gothic Bold" panose="020B0803000000000000" pitchFamily="50" charset="-127"/>
              </a:rPr>
              <a:t>querySelector</a:t>
            </a:r>
            <a:r>
              <a:rPr lang="en-US" altLang="ko-KR" dirty="0">
                <a:ea typeface="Kim jung chul Gothic Bold" panose="020B0803000000000000" pitchFamily="50" charset="-127"/>
              </a:rPr>
              <a:t>(“</a:t>
            </a:r>
            <a:r>
              <a:rPr lang="ko-KR" altLang="en-US" dirty="0">
                <a:ea typeface="Kim jung chul Gothic Bold" panose="020B0803000000000000" pitchFamily="50" charset="-127"/>
              </a:rPr>
              <a:t>요소 </a:t>
            </a:r>
            <a:r>
              <a:rPr lang="ko-KR" altLang="en-US" dirty="0" err="1">
                <a:ea typeface="Kim jung chul Gothic Bold" panose="020B0803000000000000" pitchFamily="50" charset="-127"/>
              </a:rPr>
              <a:t>선택자</a:t>
            </a:r>
            <a:r>
              <a:rPr lang="en-US" altLang="ko-KR" dirty="0">
                <a:ea typeface="Kim jung chul Gothic Bold" panose="020B0803000000000000" pitchFamily="50" charset="-127"/>
              </a:rPr>
              <a:t>”)</a:t>
            </a:r>
            <a:endParaRPr lang="ko-KR" altLang="en-US" dirty="0">
              <a:ea typeface="Kim jung chul Gothic Bold" panose="020B0803000000000000" pitchFamily="50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523783" y="1328391"/>
            <a:ext cx="109951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요소 선택자를 사용해서 자신이 가져오고 싶어하는 요소를 가져오는 메소드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문서에서 만나는 </a:t>
            </a:r>
            <a:r>
              <a:rPr lang="ko-KR" altLang="en-US" dirty="0">
                <a:solidFill>
                  <a:schemeClr val="accent2"/>
                </a:solidFill>
                <a:latin typeface="+mn-lt"/>
                <a:ea typeface="Kim jung chul Gothic Regular" panose="020B0503000000000000" pitchFamily="34" charset="-127"/>
              </a:rPr>
              <a:t>제일 첫번째 요소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를 반환 합니다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!</a:t>
            </a:r>
          </a:p>
          <a:p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78E2AB-FA79-8F86-7C5F-4808182CE30B}"/>
              </a:ext>
            </a:extLst>
          </p:cNvPr>
          <p:cNvSpPr txBox="1"/>
          <p:nvPr/>
        </p:nvSpPr>
        <p:spPr>
          <a:xfrm>
            <a:off x="838200" y="3685418"/>
            <a:ext cx="6096000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boxEl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".box"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boxEl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1110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 err="1">
                <a:solidFill>
                  <a:srgbClr val="00B050"/>
                </a:solidFill>
                <a:ea typeface="Kim jung chul Gothic Bold" panose="020B0803000000000000" pitchFamily="50" charset="-127"/>
              </a:rPr>
              <a:t>querySelectorAll</a:t>
            </a:r>
            <a:r>
              <a:rPr lang="en-US" altLang="ko-KR" dirty="0">
                <a:ea typeface="Kim jung chul Gothic Bold" panose="020B0803000000000000" pitchFamily="50" charset="-127"/>
              </a:rPr>
              <a:t>(“</a:t>
            </a:r>
            <a:r>
              <a:rPr lang="ko-KR" altLang="en-US" dirty="0">
                <a:ea typeface="Kim jung chul Gothic Bold" panose="020B0803000000000000" pitchFamily="50" charset="-127"/>
              </a:rPr>
              <a:t>요소 </a:t>
            </a:r>
            <a:r>
              <a:rPr lang="ko-KR" altLang="en-US" dirty="0" err="1">
                <a:ea typeface="Kim jung chul Gothic Bold" panose="020B0803000000000000" pitchFamily="50" charset="-127"/>
              </a:rPr>
              <a:t>선택자</a:t>
            </a:r>
            <a:r>
              <a:rPr lang="en-US" altLang="ko-KR" dirty="0">
                <a:ea typeface="Kim jung chul Gothic Bold" panose="020B0803000000000000" pitchFamily="50" charset="-127"/>
              </a:rPr>
              <a:t>”)</a:t>
            </a:r>
            <a:endParaRPr lang="ko-KR" altLang="en-US" dirty="0">
              <a:ea typeface="Kim jung chul Gothic Bold" panose="020B0803000000000000" pitchFamily="50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523783" y="1328391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문서에 존재하는 모든 요소를 찾아주는 메소드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모든 요소를 가져와서 배열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(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같은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)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데이터로 만들어 줍니다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!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F813D4-EB6C-0D9F-848C-5B81BA152A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96"/>
          <a:stretch/>
        </p:blipFill>
        <p:spPr>
          <a:xfrm>
            <a:off x="7084744" y="4783433"/>
            <a:ext cx="5008646" cy="16671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095F28-A0CE-93E2-05B4-5D025AFEFCBA}"/>
              </a:ext>
            </a:extLst>
          </p:cNvPr>
          <p:cNvSpPr txBox="1"/>
          <p:nvPr/>
        </p:nvSpPr>
        <p:spPr>
          <a:xfrm>
            <a:off x="627529" y="5804210"/>
            <a:ext cx="6096000" cy="64633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boxEls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querySelectorAll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".box"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boxEls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8BC7C-2BC0-C035-EB89-B3241A6156F0}"/>
              </a:ext>
            </a:extLst>
          </p:cNvPr>
          <p:cNvSpPr txBox="1"/>
          <p:nvPr/>
        </p:nvSpPr>
        <p:spPr>
          <a:xfrm>
            <a:off x="627529" y="3108829"/>
            <a:ext cx="6270812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"box"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"box"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"box"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"box"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"box"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"box"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"box"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044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282" y="1566238"/>
            <a:ext cx="10228333" cy="4206542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텍스트 내용 변경하기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.</a:t>
            </a:r>
            <a:r>
              <a:rPr lang="en-US" altLang="ko-KR" dirty="0" err="1"/>
              <a:t>textContent</a:t>
            </a:r>
            <a:r>
              <a:rPr lang="en-US" altLang="ko-KR" dirty="0"/>
              <a:t> = “</a:t>
            </a:r>
            <a:r>
              <a:rPr lang="ko-KR" altLang="en-US" dirty="0"/>
              <a:t>새로운 내용</a:t>
            </a:r>
            <a:r>
              <a:rPr lang="en-US" altLang="ko-KR" dirty="0"/>
              <a:t>”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HTML </a:t>
            </a:r>
            <a:r>
              <a:rPr lang="ko-KR" altLang="en-US" dirty="0"/>
              <a:t>내용 변경하기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.</a:t>
            </a:r>
            <a:r>
              <a:rPr lang="en-US" altLang="ko-KR" dirty="0" err="1"/>
              <a:t>innerHTML</a:t>
            </a:r>
            <a:r>
              <a:rPr lang="en-US" altLang="ko-KR" dirty="0"/>
              <a:t> = “&lt;p&gt; </a:t>
            </a:r>
            <a:r>
              <a:rPr lang="ko-KR" altLang="en-US" dirty="0"/>
              <a:t>새로운 </a:t>
            </a:r>
            <a:r>
              <a:rPr lang="en-US" altLang="ko-KR" dirty="0"/>
              <a:t>HTML </a:t>
            </a:r>
            <a:r>
              <a:rPr lang="ko-KR" altLang="en-US" dirty="0"/>
              <a:t>내용 </a:t>
            </a:r>
            <a:r>
              <a:rPr lang="en-US" altLang="ko-KR" dirty="0"/>
              <a:t>&lt;/p&gt;”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CSS</a:t>
            </a:r>
            <a:r>
              <a:rPr lang="ko-KR" altLang="en-US" dirty="0"/>
              <a:t> 스타일 변경하기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.</a:t>
            </a:r>
            <a:r>
              <a:rPr lang="en-US" altLang="ko-KR" dirty="0" err="1"/>
              <a:t>style.color</a:t>
            </a:r>
            <a:r>
              <a:rPr lang="en-US" altLang="ko-KR" dirty="0"/>
              <a:t> = “blue”;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CSS </a:t>
            </a:r>
            <a:r>
              <a:rPr lang="ko-KR" altLang="en-US" dirty="0"/>
              <a:t>클래스 추가</a:t>
            </a:r>
            <a:r>
              <a:rPr lang="en-US" altLang="ko-KR" dirty="0"/>
              <a:t>/</a:t>
            </a:r>
            <a:r>
              <a:rPr lang="ko-KR" altLang="en-US" dirty="0"/>
              <a:t>제거하기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.</a:t>
            </a:r>
            <a:r>
              <a:rPr lang="en-US" altLang="ko-KR" dirty="0" err="1"/>
              <a:t>classList.add</a:t>
            </a:r>
            <a:r>
              <a:rPr lang="en-US" altLang="ko-KR" dirty="0"/>
              <a:t>(“</a:t>
            </a:r>
            <a:r>
              <a:rPr lang="en-US" altLang="ko-KR" dirty="0" err="1"/>
              <a:t>newClass</a:t>
            </a:r>
            <a:r>
              <a:rPr lang="en-US" altLang="ko-KR" dirty="0"/>
              <a:t>”) / .remove(“</a:t>
            </a:r>
            <a:r>
              <a:rPr lang="en-US" altLang="ko-KR" dirty="0" err="1"/>
              <a:t>oldClass</a:t>
            </a:r>
            <a:r>
              <a:rPr lang="en-US" altLang="ko-KR" dirty="0"/>
              <a:t>”)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조작</a:t>
            </a:r>
          </a:p>
        </p:txBody>
      </p:sp>
    </p:spTree>
    <p:extLst>
      <p:ext uri="{BB962C8B-B14F-4D97-AF65-F5344CB8AC3E}">
        <p14:creationId xmlns:p14="http://schemas.microsoft.com/office/powerpoint/2010/main" val="12424366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>
                <a:solidFill>
                  <a:srgbClr val="00B050"/>
                </a:solidFill>
                <a:ea typeface="Kim jung chul Gothic Bold" panose="020B0803000000000000" pitchFamily="50" charset="-127"/>
              </a:rPr>
              <a:t>.</a:t>
            </a:r>
            <a:r>
              <a:rPr lang="en-US" altLang="ko-KR" dirty="0" err="1">
                <a:solidFill>
                  <a:srgbClr val="00B050"/>
                </a:solidFill>
                <a:ea typeface="Kim jung chul Gothic Bold" panose="020B0803000000000000" pitchFamily="50" charset="-127"/>
              </a:rPr>
              <a:t>textContent</a:t>
            </a:r>
            <a:r>
              <a:rPr lang="en-US" altLang="ko-KR" dirty="0">
                <a:solidFill>
                  <a:srgbClr val="00B050"/>
                </a:solidFill>
                <a:ea typeface="Kim jung chul Gothic Bold" panose="020B0803000000000000" pitchFamily="50" charset="-127"/>
              </a:rPr>
              <a:t> .</a:t>
            </a:r>
            <a:r>
              <a:rPr lang="en-US" altLang="ko-KR" dirty="0" err="1">
                <a:solidFill>
                  <a:srgbClr val="00B050"/>
                </a:solidFill>
                <a:ea typeface="Kim jung chul Gothic Bold" panose="020B0803000000000000" pitchFamily="50" charset="-127"/>
              </a:rPr>
              <a:t>innerText</a:t>
            </a:r>
            <a:r>
              <a:rPr lang="en-US" altLang="ko-KR" dirty="0">
                <a:solidFill>
                  <a:srgbClr val="00B050"/>
                </a:solidFill>
                <a:ea typeface="Kim jung chul Gothic Bold" panose="020B0803000000000000" pitchFamily="50" charset="-127"/>
              </a:rPr>
              <a:t> .</a:t>
            </a:r>
            <a:r>
              <a:rPr lang="en-US" altLang="ko-KR" dirty="0" err="1">
                <a:solidFill>
                  <a:srgbClr val="00B050"/>
                </a:solidFill>
                <a:ea typeface="Kim jung chul Gothic Bold" panose="020B0803000000000000" pitchFamily="50" charset="-127"/>
              </a:rPr>
              <a:t>innerHTML</a:t>
            </a:r>
            <a:endParaRPr lang="ko-KR" altLang="en-US" dirty="0">
              <a:ea typeface="Kim jung chul Gothic Bold" panose="020B0803000000000000" pitchFamily="50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523783" y="2014429"/>
            <a:ext cx="10830017" cy="2532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n-ea"/>
                <a:ea typeface="+mn-ea"/>
              </a:rPr>
              <a:t>태그 내에 들어갈 문자열을 지정</a:t>
            </a:r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 txBox="1">
            <a:spLocks/>
          </p:cNvSpPr>
          <p:nvPr/>
        </p:nvSpPr>
        <p:spPr>
          <a:xfrm>
            <a:off x="1526823" y="2840367"/>
            <a:ext cx="7950200" cy="17914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ko-KR" altLang="en-US" sz="2800" b="1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sz="2800" b="1" dirty="0">
                <a:latin typeface="+mn-lt"/>
                <a:ea typeface="Kim jung chul Gothic Regular" panose="020B0503000000000000" pitchFamily="34" charset="-127"/>
              </a:rPr>
              <a:t>.</a:t>
            </a:r>
            <a:r>
              <a:rPr lang="en-US" altLang="ko-KR" sz="2800" b="1" dirty="0" err="1">
                <a:latin typeface="+mn-lt"/>
                <a:ea typeface="Kim jung chul Gothic Regular" panose="020B0503000000000000" pitchFamily="34" charset="-127"/>
              </a:rPr>
              <a:t>textContent</a:t>
            </a:r>
            <a:r>
              <a:rPr lang="en-US" altLang="ko-KR" sz="2800" b="1" dirty="0">
                <a:latin typeface="+mn-lt"/>
                <a:ea typeface="Kim jung chul Gothic Regular" panose="020B0503000000000000" pitchFamily="34" charset="-127"/>
              </a:rPr>
              <a:t>=“hi”;</a:t>
            </a:r>
          </a:p>
          <a:p>
            <a:pPr>
              <a:lnSpc>
                <a:spcPct val="170000"/>
              </a:lnSpc>
            </a:pPr>
            <a:r>
              <a:rPr lang="ko-KR" altLang="en-US" sz="2800" dirty="0">
                <a:latin typeface="+mn-lt"/>
                <a:ea typeface="Kim jung chul Gothic Regular" panose="020B0503000000000000" pitchFamily="34" charset="-127"/>
              </a:rPr>
              <a:t>선택된 요소에 내부의 문자열로 </a:t>
            </a:r>
            <a:r>
              <a:rPr lang="en-US" altLang="ko-KR" sz="2800" dirty="0">
                <a:latin typeface="+mn-lt"/>
                <a:ea typeface="Kim jung chul Gothic Regular" panose="020B0503000000000000" pitchFamily="34" charset="-127"/>
              </a:rPr>
              <a:t>hi</a:t>
            </a:r>
            <a:r>
              <a:rPr lang="ko-KR" altLang="en-US" sz="2800" dirty="0">
                <a:latin typeface="+mn-lt"/>
                <a:ea typeface="Kim jung chul Gothic Regular" panose="020B0503000000000000" pitchFamily="34" charset="-127"/>
              </a:rPr>
              <a:t>가 들어가게 됩니다</a:t>
            </a:r>
            <a:r>
              <a:rPr lang="en-US" altLang="ko-KR" sz="2800" dirty="0">
                <a:latin typeface="+mn-lt"/>
                <a:ea typeface="Kim jung chul Gothic Regular" panose="020B0503000000000000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11173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 err="1">
                <a:solidFill>
                  <a:srgbClr val="00B050"/>
                </a:solidFill>
                <a:ea typeface="Kim jung chul Gothic Bold" panose="020B0803000000000000" pitchFamily="50" charset="-127"/>
              </a:rPr>
              <a:t>classList</a:t>
            </a:r>
            <a:r>
              <a:rPr lang="en-US" altLang="ko-KR" dirty="0">
                <a:solidFill>
                  <a:srgbClr val="00B050"/>
                </a:solidFill>
                <a:ea typeface="Kim jung chul Gothic Bold" panose="020B0803000000000000" pitchFamily="50" charset="-127"/>
              </a:rPr>
              <a:t>.~</a:t>
            </a:r>
            <a:endParaRPr lang="ko-KR" altLang="en-US" dirty="0">
              <a:ea typeface="Kim jung chul Gothic Bold" panose="020B0803000000000000" pitchFamily="50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552667" y="1547006"/>
            <a:ext cx="10830017" cy="2532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선택 요소에 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class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를 더하거나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,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빼거나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,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클래스가 존재하는지 체크하는 메소드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해당 기능과 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CSS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를 잘 활용하면 </a:t>
            </a:r>
            <a:r>
              <a:rPr lang="ko-KR" altLang="en-US" dirty="0" err="1">
                <a:latin typeface="+mn-lt"/>
                <a:ea typeface="Kim jung chul Gothic Regular" panose="020B0503000000000000" pitchFamily="34" charset="-127"/>
              </a:rPr>
              <a:t>액티브한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 </a:t>
            </a:r>
            <a:r>
              <a:rPr lang="ko-KR" altLang="en-US" dirty="0" err="1">
                <a:latin typeface="+mn-lt"/>
                <a:ea typeface="Kim jung chul Gothic Regular" panose="020B0503000000000000" pitchFamily="34" charset="-127"/>
              </a:rPr>
              <a:t>웹페이지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 구성이 가능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 txBox="1">
            <a:spLocks/>
          </p:cNvSpPr>
          <p:nvPr/>
        </p:nvSpPr>
        <p:spPr>
          <a:xfrm>
            <a:off x="867084" y="3574243"/>
            <a:ext cx="7950200" cy="2487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.</a:t>
            </a:r>
            <a:r>
              <a:rPr lang="en-US" altLang="ko-KR" dirty="0" err="1">
                <a:latin typeface="+mn-lt"/>
                <a:ea typeface="Kim jung chul Gothic Regular" panose="020B0503000000000000" pitchFamily="34" charset="-127"/>
              </a:rPr>
              <a:t>classList.add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()</a:t>
            </a:r>
          </a:p>
          <a:p>
            <a:pPr marL="571500" indent="-5715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.</a:t>
            </a:r>
            <a:r>
              <a:rPr lang="en-US" altLang="ko-KR" dirty="0" err="1">
                <a:latin typeface="+mn-lt"/>
                <a:ea typeface="Kim jung chul Gothic Regular" panose="020B0503000000000000" pitchFamily="34" charset="-127"/>
              </a:rPr>
              <a:t>lassList.remove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()</a:t>
            </a:r>
          </a:p>
          <a:p>
            <a:pPr marL="571500" indent="-5715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.</a:t>
            </a:r>
            <a:r>
              <a:rPr lang="en-US" altLang="ko-KR" dirty="0" err="1">
                <a:latin typeface="+mn-lt"/>
                <a:ea typeface="Kim jung chul Gothic Regular" panose="020B0503000000000000" pitchFamily="34" charset="-127"/>
              </a:rPr>
              <a:t>classList.contains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()</a:t>
            </a:r>
          </a:p>
          <a:p>
            <a:pPr marL="571500" indent="-5715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.</a:t>
            </a:r>
            <a:r>
              <a:rPr lang="en-US" altLang="ko-KR" dirty="0" err="1">
                <a:latin typeface="+mn-lt"/>
                <a:ea typeface="Kim jung chul Gothic Regular" panose="020B0503000000000000" pitchFamily="34" charset="-127"/>
              </a:rPr>
              <a:t>classList.toggle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26459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>
                <a:solidFill>
                  <a:srgbClr val="00B050"/>
                </a:solidFill>
                <a:ea typeface="Kim jung chul Gothic Bold" panose="020B0803000000000000" pitchFamily="50" charset="-127"/>
              </a:rPr>
              <a:t> </a:t>
            </a:r>
            <a:r>
              <a:rPr lang="en-US" altLang="ko-KR" dirty="0" err="1">
                <a:solidFill>
                  <a:srgbClr val="00B050"/>
                </a:solidFill>
                <a:ea typeface="Kim jung chul Gothic Bold" panose="020B0803000000000000" pitchFamily="50" charset="-127"/>
              </a:rPr>
              <a:t>setAttribute</a:t>
            </a:r>
            <a:r>
              <a:rPr lang="en-US" altLang="ko-KR" dirty="0">
                <a:solidFill>
                  <a:srgbClr val="00B050"/>
                </a:solidFill>
                <a:ea typeface="Kim jung chul Gothic Bold" panose="020B0803000000000000" pitchFamily="50" charset="-127"/>
              </a:rPr>
              <a:t>, </a:t>
            </a:r>
            <a:r>
              <a:rPr lang="en-US" altLang="ko-KR" dirty="0">
                <a:ea typeface="Kim jung chul Gothic Bold" panose="020B0803000000000000" pitchFamily="50" charset="-127"/>
              </a:rPr>
              <a:t>html </a:t>
            </a:r>
            <a:r>
              <a:rPr lang="ko-KR" altLang="en-US" dirty="0">
                <a:ea typeface="Kim jung chul Gothic Bold" panose="020B0803000000000000" pitchFamily="50" charset="-127"/>
              </a:rPr>
              <a:t>요소 속성 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120705-E11C-5327-5556-DD8F657F0B8C}"/>
              </a:ext>
            </a:extLst>
          </p:cNvPr>
          <p:cNvSpPr txBox="1">
            <a:spLocks/>
          </p:cNvSpPr>
          <p:nvPr/>
        </p:nvSpPr>
        <p:spPr>
          <a:xfrm>
            <a:off x="523783" y="1690689"/>
            <a:ext cx="10830017" cy="2779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선택한 요소의 속성 값을 직접 지정할 수 있는 메소드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.</a:t>
            </a:r>
            <a:r>
              <a:rPr lang="en-US" altLang="ko-KR" dirty="0" err="1">
                <a:solidFill>
                  <a:srgbClr val="00B050"/>
                </a:solidFill>
                <a:latin typeface="+mn-lt"/>
                <a:ea typeface="Kim jung chul Gothic Regular" panose="020B0503000000000000" pitchFamily="34" charset="-127"/>
              </a:rPr>
              <a:t>setAttribute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(</a:t>
            </a:r>
            <a:r>
              <a:rPr lang="en-US" altLang="ko-KR" dirty="0">
                <a:solidFill>
                  <a:schemeClr val="accent2"/>
                </a:solidFill>
                <a:latin typeface="+mn-lt"/>
                <a:ea typeface="Kim jung chul Gothic Regular" panose="020B0503000000000000" pitchFamily="34" charset="-127"/>
              </a:rPr>
              <a:t>“</a:t>
            </a:r>
            <a:r>
              <a:rPr lang="ko-KR" altLang="en-US" dirty="0" err="1">
                <a:solidFill>
                  <a:schemeClr val="accent2"/>
                </a:solidFill>
                <a:latin typeface="+mn-lt"/>
                <a:ea typeface="Kim jung chul Gothic Regular" panose="020B0503000000000000" pitchFamily="34" charset="-127"/>
              </a:rPr>
              <a:t>속성명</a:t>
            </a:r>
            <a:r>
              <a:rPr lang="en-US" altLang="ko-KR" dirty="0">
                <a:solidFill>
                  <a:schemeClr val="accent2"/>
                </a:solidFill>
                <a:latin typeface="+mn-lt"/>
                <a:ea typeface="Kim jung chul Gothic Regular" panose="020B0503000000000000" pitchFamily="34" charset="-127"/>
              </a:rPr>
              <a:t>”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, </a:t>
            </a:r>
            <a:r>
              <a:rPr lang="en-US" altLang="ko-KR" dirty="0">
                <a:solidFill>
                  <a:srgbClr val="0070C0"/>
                </a:solidFill>
                <a:latin typeface="+mn-lt"/>
                <a:ea typeface="Kim jung chul Gothic Regular" panose="020B0503000000000000" pitchFamily="34" charset="-127"/>
              </a:rPr>
              <a:t>“</a:t>
            </a:r>
            <a:r>
              <a:rPr lang="ko-KR" altLang="en-US" dirty="0">
                <a:solidFill>
                  <a:srgbClr val="0070C0"/>
                </a:solidFill>
                <a:latin typeface="+mn-lt"/>
                <a:ea typeface="Kim jung chul Gothic Regular" panose="020B0503000000000000" pitchFamily="34" charset="-127"/>
              </a:rPr>
              <a:t>지정할 속성</a:t>
            </a:r>
            <a:r>
              <a:rPr lang="en-US" altLang="ko-KR" dirty="0">
                <a:solidFill>
                  <a:srgbClr val="0070C0"/>
                </a:solidFill>
                <a:latin typeface="+mn-lt"/>
                <a:ea typeface="Kim jung chul Gothic Regular" panose="020B0503000000000000" pitchFamily="34" charset="-127"/>
              </a:rPr>
              <a:t>“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)</a:t>
            </a:r>
          </a:p>
          <a:p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F66C8-B488-0F42-EBF1-D6DC713CB5C3}"/>
              </a:ext>
            </a:extLst>
          </p:cNvPr>
          <p:cNvSpPr txBox="1"/>
          <p:nvPr/>
        </p:nvSpPr>
        <p:spPr>
          <a:xfrm>
            <a:off x="838200" y="3262868"/>
            <a:ext cx="8709212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searchInputEl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setAttribute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"placeholder"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통합검색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696475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>
                <a:solidFill>
                  <a:srgbClr val="00B050"/>
                </a:solidFill>
                <a:ea typeface="Kim jung chul Gothic Bold" panose="020B0803000000000000" pitchFamily="50" charset="-127"/>
              </a:rPr>
              <a:t>다른 노드에 접근하기</a:t>
            </a:r>
            <a:endParaRPr lang="ko-KR" altLang="en-US" dirty="0">
              <a:ea typeface="Kim jung chul Gothic Bold" panose="020B0803000000000000" pitchFamily="50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523783" y="1690689"/>
            <a:ext cx="10830017" cy="1593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특정 노드를 선택한 후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,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그 노드의 형제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,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부모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,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자식 노드에 접근하는 방법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 txBox="1">
            <a:spLocks/>
          </p:cNvSpPr>
          <p:nvPr/>
        </p:nvSpPr>
        <p:spPr>
          <a:xfrm>
            <a:off x="1447800" y="3114085"/>
            <a:ext cx="7950200" cy="2487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.children /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.children[0]</a:t>
            </a:r>
          </a:p>
          <a:p>
            <a:pPr marL="571500" indent="-5715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.</a:t>
            </a:r>
            <a:r>
              <a:rPr lang="en-US" altLang="ko-KR" dirty="0" err="1">
                <a:latin typeface="+mn-lt"/>
                <a:ea typeface="Kim jung chul Gothic Regular" panose="020B0503000000000000" pitchFamily="34" charset="-127"/>
              </a:rPr>
              <a:t>parentNode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pPr marL="571500" indent="-5715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.</a:t>
            </a:r>
            <a:r>
              <a:rPr lang="en-US" altLang="ko-KR" dirty="0" err="1">
                <a:latin typeface="+mn-lt"/>
                <a:ea typeface="Kim jung chul Gothic Regular" panose="020B0503000000000000" pitchFamily="34" charset="-127"/>
              </a:rPr>
              <a:t>previousElementSiblings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pPr marL="571500" indent="-5715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.</a:t>
            </a:r>
            <a:r>
              <a:rPr lang="en-US" altLang="ko-KR" dirty="0" err="1">
                <a:latin typeface="+mn-lt"/>
                <a:ea typeface="Kim jung chul Gothic Regular" panose="020B0503000000000000" pitchFamily="34" charset="-127"/>
              </a:rPr>
              <a:t>nextElementSiblings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2890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673D0-09F4-558C-F64D-42F454D6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43" y="1357931"/>
            <a:ext cx="9232799" cy="4764506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ko-KR" dirty="0" err="1"/>
              <a:t>document.createElement</a:t>
            </a:r>
            <a:r>
              <a:rPr lang="en-US" altLang="ko-KR" dirty="0"/>
              <a:t>(html</a:t>
            </a:r>
            <a:r>
              <a:rPr lang="ko-KR" altLang="en-US" dirty="0"/>
              <a:t>요소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document.write</a:t>
            </a:r>
            <a:r>
              <a:rPr lang="en-US" altLang="ko-KR" dirty="0"/>
              <a:t>(</a:t>
            </a:r>
            <a:r>
              <a:rPr lang="ko-KR" altLang="en-US" dirty="0"/>
              <a:t>텍스트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[].</a:t>
            </a:r>
            <a:r>
              <a:rPr lang="en-US" altLang="ko-KR" dirty="0" err="1"/>
              <a:t>appendChild</a:t>
            </a:r>
            <a:r>
              <a:rPr lang="en-US" altLang="ko-KR" dirty="0"/>
              <a:t>();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[].</a:t>
            </a:r>
            <a:r>
              <a:rPr lang="en-US" altLang="ko-KR" dirty="0" err="1"/>
              <a:t>removeChild</a:t>
            </a:r>
            <a:r>
              <a:rPr lang="en-US" altLang="ko-KR" dirty="0"/>
              <a:t>();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sz="2800" dirty="0"/>
              <a:t>[].append();</a:t>
            </a:r>
          </a:p>
          <a:p>
            <a:pPr>
              <a:lnSpc>
                <a:spcPct val="120000"/>
              </a:lnSpc>
            </a:pPr>
            <a:r>
              <a:rPr lang="en-US" altLang="ko-KR" sz="2800" dirty="0"/>
              <a:t>[].remove();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325E2-E1D0-3A80-C4F6-2FD58038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4CC33F-0B72-055D-16A3-F974504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8D4FDA-8B63-309F-C8AC-D9940002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생성 및 추가</a:t>
            </a:r>
          </a:p>
        </p:txBody>
      </p:sp>
    </p:spTree>
    <p:extLst>
      <p:ext uri="{BB962C8B-B14F-4D97-AF65-F5344CB8AC3E}">
        <p14:creationId xmlns:p14="http://schemas.microsoft.com/office/powerpoint/2010/main" val="31430921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 err="1">
                <a:solidFill>
                  <a:srgbClr val="00B050"/>
                </a:solidFill>
                <a:ea typeface="Kim jung chul Gothic Bold" panose="020B0803000000000000" pitchFamily="50" charset="-127"/>
              </a:rPr>
              <a:t>createElement</a:t>
            </a:r>
            <a:r>
              <a:rPr lang="en-US" altLang="ko-KR" dirty="0">
                <a:solidFill>
                  <a:srgbClr val="00B050"/>
                </a:solidFill>
                <a:ea typeface="Kim jung chul Gothic Bold" panose="020B0803000000000000" pitchFamily="50" charset="-127"/>
              </a:rPr>
              <a:t>(‘html </a:t>
            </a:r>
            <a:r>
              <a:rPr lang="ko-KR" altLang="en-US" dirty="0">
                <a:solidFill>
                  <a:srgbClr val="00B050"/>
                </a:solidFill>
                <a:ea typeface="Kim jung chul Gothic Bold" panose="020B0803000000000000" pitchFamily="50" charset="-127"/>
              </a:rPr>
              <a:t>요소</a:t>
            </a:r>
            <a:r>
              <a:rPr lang="en-US" altLang="ko-KR" dirty="0">
                <a:solidFill>
                  <a:srgbClr val="00B050"/>
                </a:solidFill>
                <a:ea typeface="Kim jung chul Gothic Bold" panose="020B0803000000000000" pitchFamily="50" charset="-127"/>
              </a:rPr>
              <a:t>’)</a:t>
            </a:r>
            <a:endParaRPr lang="ko-KR" altLang="en-US" dirty="0">
              <a:ea typeface="Kim jung chul Gothic Bold" panose="020B0803000000000000" pitchFamily="50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523783" y="1690689"/>
            <a:ext cx="10830017" cy="1593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html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의 특정 노드를 생성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r>
              <a:rPr lang="ko-KR" altLang="en-US" dirty="0" err="1">
                <a:latin typeface="+mn-lt"/>
                <a:ea typeface="Kim jung chul Gothic Regular" panose="020B0503000000000000" pitchFamily="34" charset="-127"/>
              </a:rPr>
              <a:t>괄호안에는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html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의 요소인 </a:t>
            </a:r>
            <a:r>
              <a:rPr lang="ko-KR" altLang="en-US" dirty="0" err="1">
                <a:latin typeface="+mn-lt"/>
                <a:ea typeface="Kim jung chul Gothic Regular" panose="020B0503000000000000" pitchFamily="34" charset="-127"/>
              </a:rPr>
              <a:t>태그명을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 넣어주시면 됩니다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!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 txBox="1">
            <a:spLocks/>
          </p:cNvSpPr>
          <p:nvPr/>
        </p:nvSpPr>
        <p:spPr>
          <a:xfrm>
            <a:off x="838200" y="3475330"/>
            <a:ext cx="7950200" cy="2487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endParaRPr lang="en-US" altLang="ko-KR" sz="3600" dirty="0"/>
          </a:p>
        </p:txBody>
      </p:sp>
      <p:sp>
        <p:nvSpPr>
          <p:cNvPr id="3" name="직사각형 2"/>
          <p:cNvSpPr/>
          <p:nvPr/>
        </p:nvSpPr>
        <p:spPr>
          <a:xfrm>
            <a:off x="838200" y="3748187"/>
            <a:ext cx="8125682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3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3200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en-US" altLang="ko-KR" sz="32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32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altLang="ko-KR" sz="32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3200" dirty="0" err="1">
                <a:solidFill>
                  <a:srgbClr val="DCDCAA"/>
                </a:solidFill>
                <a:latin typeface="Consolas" panose="020B0609020204030204" pitchFamily="49" charset="0"/>
              </a:rPr>
              <a:t>createElement</a:t>
            </a:r>
            <a:r>
              <a:rPr lang="en-US" altLang="ko-KR" sz="32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3200" dirty="0">
                <a:solidFill>
                  <a:srgbClr val="CE9178"/>
                </a:solidFill>
                <a:latin typeface="Consolas" panose="020B0609020204030204" pitchFamily="49" charset="0"/>
              </a:rPr>
              <a:t>'p'</a:t>
            </a:r>
            <a:r>
              <a:rPr lang="en-US" altLang="ko-KR" sz="32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n-US" altLang="ko-KR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5505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>
                <a:solidFill>
                  <a:srgbClr val="00B050"/>
                </a:solidFill>
                <a:ea typeface="Kim jung chul Gothic Bold" panose="020B0803000000000000" pitchFamily="50" charset="-127"/>
              </a:rPr>
              <a:t>요소를 만들었으면 </a:t>
            </a:r>
            <a:r>
              <a:rPr lang="ko-KR" altLang="en-US" dirty="0" err="1">
                <a:solidFill>
                  <a:srgbClr val="00B050"/>
                </a:solidFill>
                <a:ea typeface="Kim jung chul Gothic Bold" panose="020B0803000000000000" pitchFamily="50" charset="-127"/>
              </a:rPr>
              <a:t>추가해야겠죠</a:t>
            </a:r>
            <a:r>
              <a:rPr lang="en-US" altLang="ko-KR" dirty="0">
                <a:solidFill>
                  <a:srgbClr val="00B050"/>
                </a:solidFill>
                <a:ea typeface="Kim jung chul Gothic Bold" panose="020B0803000000000000" pitchFamily="50" charset="-127"/>
              </a:rPr>
              <a:t>?</a:t>
            </a:r>
            <a:endParaRPr lang="ko-KR" altLang="en-US" dirty="0">
              <a:ea typeface="Kim jung chul Gothic Bold" panose="020B0803000000000000" pitchFamily="50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523783" y="1690688"/>
            <a:ext cx="10830017" cy="40756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sz="2400" dirty="0">
                <a:latin typeface="+mn-lt"/>
                <a:ea typeface="Kim jung chul Gothic Regular" panose="020B0503000000000000" pitchFamily="34" charset="-127"/>
              </a:rPr>
              <a:t>.append() /</a:t>
            </a:r>
            <a:r>
              <a:rPr lang="ko-KR" altLang="en-US" sz="2400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sz="2400" dirty="0">
                <a:latin typeface="+mn-lt"/>
                <a:ea typeface="Kim jung chul Gothic Regular" panose="020B0503000000000000" pitchFamily="34" charset="-127"/>
              </a:rPr>
              <a:t>.</a:t>
            </a:r>
            <a:r>
              <a:rPr lang="en-US" altLang="ko-KR" sz="2400" dirty="0" err="1">
                <a:latin typeface="+mn-lt"/>
                <a:ea typeface="Kim jung chul Gothic Regular" panose="020B0503000000000000" pitchFamily="34" charset="-127"/>
              </a:rPr>
              <a:t>appendChild</a:t>
            </a:r>
            <a:r>
              <a:rPr lang="en-US" altLang="ko-KR" sz="2400" dirty="0">
                <a:latin typeface="+mn-lt"/>
                <a:ea typeface="Kim jung chul Gothic Regular" panose="020B0503000000000000" pitchFamily="34" charset="-127"/>
              </a:rPr>
              <a:t>()</a:t>
            </a:r>
          </a:p>
          <a:p>
            <a:pPr lvl="1"/>
            <a:r>
              <a:rPr lang="ko-KR" altLang="en-US" sz="2000" dirty="0">
                <a:latin typeface="+mn-lt"/>
                <a:ea typeface="Kim jung chul Gothic Regular" panose="020B0503000000000000" pitchFamily="34" charset="-127"/>
              </a:rPr>
              <a:t>선택된 요소의 맨 뒤의 자식 요소로 추가됨</a:t>
            </a:r>
            <a:endParaRPr lang="en-US" altLang="ko-KR" sz="2000" dirty="0">
              <a:latin typeface="+mn-lt"/>
              <a:ea typeface="Kim jung chul Gothic Regular" panose="020B0503000000000000" pitchFamily="34" charset="-127"/>
            </a:endParaRPr>
          </a:p>
          <a:p>
            <a:r>
              <a:rPr lang="ko-KR" altLang="en-US" sz="2400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sz="2400" dirty="0">
                <a:latin typeface="+mn-lt"/>
                <a:ea typeface="Kim jung chul Gothic Regular" panose="020B0503000000000000" pitchFamily="34" charset="-127"/>
              </a:rPr>
              <a:t>.prepend()</a:t>
            </a:r>
          </a:p>
          <a:p>
            <a:pPr lvl="1"/>
            <a:r>
              <a:rPr lang="ko-KR" altLang="en-US" sz="2000" dirty="0">
                <a:latin typeface="+mn-lt"/>
                <a:ea typeface="Kim jung chul Gothic Regular" panose="020B0503000000000000" pitchFamily="34" charset="-127"/>
              </a:rPr>
              <a:t>선택된 요소의 맨 앞쪽인 자식 요소로 추가됨</a:t>
            </a:r>
            <a:endParaRPr lang="en-US" altLang="ko-KR" sz="2000" dirty="0">
              <a:latin typeface="+mn-lt"/>
              <a:ea typeface="Kim jung chul Gothic Regular" panose="020B0503000000000000" pitchFamily="34" charset="-127"/>
            </a:endParaRPr>
          </a:p>
          <a:p>
            <a:r>
              <a:rPr lang="ko-KR" altLang="en-US" sz="2400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sz="2400" dirty="0">
                <a:latin typeface="+mn-lt"/>
                <a:ea typeface="Kim jung chul Gothic Regular" panose="020B0503000000000000" pitchFamily="34" charset="-127"/>
              </a:rPr>
              <a:t>.before()</a:t>
            </a:r>
          </a:p>
          <a:p>
            <a:pPr lvl="1"/>
            <a:r>
              <a:rPr lang="ko-KR" altLang="en-US" sz="2000" dirty="0">
                <a:latin typeface="+mn-lt"/>
                <a:ea typeface="Kim jung chul Gothic Regular" panose="020B0503000000000000" pitchFamily="34" charset="-127"/>
              </a:rPr>
              <a:t>선택된 요소의 앞에 있는 형제 요소로 추가됨</a:t>
            </a:r>
            <a:endParaRPr lang="en-US" altLang="ko-KR" sz="2000" dirty="0">
              <a:latin typeface="+mn-lt"/>
              <a:ea typeface="Kim jung chul Gothic Regular" panose="020B0503000000000000" pitchFamily="34" charset="-127"/>
            </a:endParaRPr>
          </a:p>
          <a:p>
            <a:r>
              <a:rPr lang="ko-KR" altLang="en-US" sz="2400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sz="2400" dirty="0">
                <a:latin typeface="+mn-lt"/>
                <a:ea typeface="Kim jung chul Gothic Regular" panose="020B0503000000000000" pitchFamily="34" charset="-127"/>
              </a:rPr>
              <a:t>.after()</a:t>
            </a:r>
          </a:p>
          <a:p>
            <a:pPr lvl="1"/>
            <a:r>
              <a:rPr lang="ko-KR" altLang="en-US" sz="2000" dirty="0">
                <a:latin typeface="+mn-lt"/>
                <a:ea typeface="Kim jung chul Gothic Regular" panose="020B0503000000000000" pitchFamily="34" charset="-127"/>
              </a:rPr>
              <a:t>선택된 요소의 바로 뒤인 형제 요소로 추가됨</a:t>
            </a:r>
            <a:endParaRPr lang="en-US" altLang="ko-KR" sz="2000" dirty="0">
              <a:latin typeface="+mn-lt"/>
              <a:ea typeface="Kim jung chul Gothic Regular" panose="020B0503000000000000" pitchFamily="34" charset="-127"/>
            </a:endParaRPr>
          </a:p>
          <a:p>
            <a:pPr marL="0" indent="0">
              <a:buNone/>
            </a:pP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 txBox="1">
            <a:spLocks/>
          </p:cNvSpPr>
          <p:nvPr/>
        </p:nvSpPr>
        <p:spPr>
          <a:xfrm>
            <a:off x="838200" y="3475330"/>
            <a:ext cx="7950200" cy="2487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27208463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27AD15-D25B-6A6E-B7B5-3FF09692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9575FE-1085-1D51-919D-F906590B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86331C6-E35A-818C-124F-3140B5775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다루기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27AB53-8642-342B-1357-3DC699502E7B}"/>
              </a:ext>
            </a:extLst>
          </p:cNvPr>
          <p:cNvSpPr txBox="1"/>
          <p:nvPr/>
        </p:nvSpPr>
        <p:spPr>
          <a:xfrm>
            <a:off x="503055" y="2637468"/>
            <a:ext cx="111858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dirty="0">
                <a:effectLst/>
              </a:rPr>
              <a:t>append()</a:t>
            </a:r>
            <a:r>
              <a:rPr lang="ko-KR" altLang="en-US" sz="5400" dirty="0">
                <a:effectLst/>
              </a:rPr>
              <a:t>와 </a:t>
            </a:r>
            <a:r>
              <a:rPr lang="en-US" altLang="ko-KR" sz="5400" dirty="0" err="1">
                <a:effectLst/>
              </a:rPr>
              <a:t>appendChild</a:t>
            </a:r>
            <a:r>
              <a:rPr lang="en-US" altLang="ko-KR" sz="5400" dirty="0">
                <a:effectLst/>
              </a:rPr>
              <a:t>()</a:t>
            </a:r>
            <a:r>
              <a:rPr lang="en-US" altLang="ko-KR" sz="5400" dirty="0"/>
              <a:t>  </a:t>
            </a:r>
            <a:r>
              <a:rPr lang="ko-KR" altLang="en-US" sz="5400" dirty="0">
                <a:solidFill>
                  <a:srgbClr val="FF0000"/>
                </a:solidFill>
                <a:effectLst/>
              </a:rPr>
              <a:t>차이점</a:t>
            </a:r>
            <a:r>
              <a:rPr lang="ko-KR" altLang="en-US" sz="5400" dirty="0">
                <a:effectLst/>
              </a:rPr>
              <a:t>은</a:t>
            </a:r>
            <a:r>
              <a:rPr lang="en-US" altLang="ko-KR" sz="5400" dirty="0">
                <a:effectLst/>
              </a:rPr>
              <a:t>?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1254947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요소 삭제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, remove() </a:t>
            </a:r>
            <a:r>
              <a:rPr lang="en-US" altLang="ko-KR" dirty="0" err="1">
                <a:solidFill>
                  <a:schemeClr val="accent1">
                    <a:lumMod val="75000"/>
                  </a:schemeClr>
                </a:solidFill>
              </a:rPr>
              <a:t>removeChild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()</a:t>
            </a:r>
            <a:endParaRPr lang="ko-KR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523783" y="1690688"/>
            <a:ext cx="10830017" cy="4075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.remove();</a:t>
            </a:r>
          </a:p>
          <a:p>
            <a:pPr lvl="1"/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선택된 요소가 삭제 됩니다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.</a:t>
            </a:r>
          </a:p>
          <a:p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요소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.</a:t>
            </a:r>
            <a:r>
              <a:rPr lang="en-US" altLang="ko-KR" dirty="0" err="1">
                <a:latin typeface="+mn-lt"/>
                <a:ea typeface="Kim jung chul Gothic Regular" panose="020B0503000000000000" pitchFamily="34" charset="-127"/>
              </a:rPr>
              <a:t>removeChild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(‘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요소의 </a:t>
            </a:r>
            <a:r>
              <a:rPr lang="ko-KR" altLang="en-US" dirty="0" err="1">
                <a:latin typeface="+mn-lt"/>
                <a:ea typeface="Kim jung chul Gothic Regular" panose="020B0503000000000000" pitchFamily="34" charset="-127"/>
              </a:rPr>
              <a:t>자식요소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‘);</a:t>
            </a:r>
          </a:p>
          <a:p>
            <a:pPr lvl="1"/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선택된 요소의 자식 요소가 삭제 됩니다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.</a:t>
            </a:r>
          </a:p>
          <a:p>
            <a:pPr marL="457200" lvl="1" indent="0">
              <a:buNone/>
            </a:pP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pPr marL="0" indent="0">
              <a:buNone/>
            </a:pP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pPr marL="0" indent="0">
              <a:buNone/>
            </a:pP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 txBox="1">
            <a:spLocks/>
          </p:cNvSpPr>
          <p:nvPr/>
        </p:nvSpPr>
        <p:spPr>
          <a:xfrm>
            <a:off x="838200" y="3475330"/>
            <a:ext cx="7950200" cy="2487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10290389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27AD15-D25B-6A6E-B7B5-3FF09692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45E013-D6A7-47C7-842F-053F23C80D44}" type="datetime6">
              <a:rPr lang="ko-KR" altLang="en-US" smtClean="0"/>
              <a:pPr/>
              <a:t>2024년 5월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9575FE-1085-1D51-919D-F906590B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86331C6-E35A-818C-124F-3140B5775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 – </a:t>
            </a:r>
            <a:r>
              <a:rPr lang="ko-KR" altLang="en-US" dirty="0"/>
              <a:t>요소 다루기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27AB53-8642-342B-1357-3DC699502E7B}"/>
              </a:ext>
            </a:extLst>
          </p:cNvPr>
          <p:cNvSpPr txBox="1"/>
          <p:nvPr/>
        </p:nvSpPr>
        <p:spPr>
          <a:xfrm>
            <a:off x="503055" y="2637468"/>
            <a:ext cx="111858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dirty="0"/>
              <a:t>remove</a:t>
            </a:r>
            <a:r>
              <a:rPr lang="en-US" altLang="ko-KR" sz="5400" dirty="0">
                <a:effectLst/>
              </a:rPr>
              <a:t>()</a:t>
            </a:r>
            <a:r>
              <a:rPr lang="ko-KR" altLang="en-US" sz="5400" dirty="0">
                <a:effectLst/>
              </a:rPr>
              <a:t>와 </a:t>
            </a:r>
            <a:r>
              <a:rPr lang="en-US" altLang="ko-KR" sz="5400" dirty="0" err="1">
                <a:effectLst/>
              </a:rPr>
              <a:t>removeChild</a:t>
            </a:r>
            <a:r>
              <a:rPr lang="en-US" altLang="ko-KR" sz="5400" dirty="0">
                <a:effectLst/>
              </a:rPr>
              <a:t>()</a:t>
            </a:r>
            <a:r>
              <a:rPr lang="en-US" altLang="ko-KR" sz="5400" dirty="0"/>
              <a:t>  </a:t>
            </a:r>
            <a:r>
              <a:rPr lang="ko-KR" altLang="en-US" sz="5400" dirty="0">
                <a:solidFill>
                  <a:srgbClr val="FF0000"/>
                </a:solidFill>
                <a:effectLst/>
              </a:rPr>
              <a:t>차이점</a:t>
            </a:r>
            <a:r>
              <a:rPr lang="ko-KR" altLang="en-US" sz="5400" dirty="0">
                <a:effectLst/>
              </a:rPr>
              <a:t>은</a:t>
            </a:r>
            <a:r>
              <a:rPr lang="en-US" altLang="ko-KR" sz="5400" dirty="0">
                <a:effectLst/>
              </a:rPr>
              <a:t>?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7440948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683" y="3756086"/>
            <a:ext cx="10288475" cy="255815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힌트 </a:t>
            </a:r>
            <a:r>
              <a:rPr lang="en-US" altLang="ko-KR" dirty="0"/>
              <a:t>1) id </a:t>
            </a:r>
            <a:r>
              <a:rPr lang="ko-KR" altLang="en-US" dirty="0"/>
              <a:t>속성이 </a:t>
            </a:r>
            <a:r>
              <a:rPr lang="en-US" altLang="ko-KR" dirty="0"/>
              <a:t>“value1”</a:t>
            </a:r>
            <a:r>
              <a:rPr lang="ko-KR" altLang="en-US" dirty="0"/>
              <a:t>인 </a:t>
            </a:r>
            <a:r>
              <a:rPr lang="en-US" altLang="ko-KR" dirty="0"/>
              <a:t>input </a:t>
            </a:r>
            <a:r>
              <a:rPr lang="ko-KR" altLang="en-US" dirty="0"/>
              <a:t>값 가져와</a:t>
            </a:r>
            <a:r>
              <a:rPr lang="en-US" altLang="ko-KR" dirty="0"/>
              <a:t> </a:t>
            </a:r>
            <a:r>
              <a:rPr lang="ko-KR" altLang="en-US" dirty="0"/>
              <a:t>변수에 넣기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	</a:t>
            </a:r>
            <a:r>
              <a:rPr lang="ko-KR" altLang="en-US" sz="2400" dirty="0"/>
              <a:t>변수 </a:t>
            </a:r>
            <a:r>
              <a:rPr lang="en-US" altLang="ko-KR" sz="2400" dirty="0"/>
              <a:t>= </a:t>
            </a:r>
            <a:r>
              <a:rPr lang="en-US" altLang="ko-KR" sz="2400" dirty="0" err="1"/>
              <a:t>document.getElementById</a:t>
            </a:r>
            <a:r>
              <a:rPr lang="en-US" altLang="ko-KR" sz="2400" dirty="0"/>
              <a:t>(“value1”).value;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힌트 </a:t>
            </a:r>
            <a:r>
              <a:rPr lang="en-US" altLang="ko-KR" dirty="0"/>
              <a:t>2) id </a:t>
            </a:r>
            <a:r>
              <a:rPr lang="ko-KR" altLang="en-US" dirty="0"/>
              <a:t>속성이 </a:t>
            </a:r>
            <a:r>
              <a:rPr lang="en-US" altLang="ko-KR" dirty="0"/>
              <a:t>“value1”</a:t>
            </a:r>
            <a:r>
              <a:rPr lang="ko-KR" altLang="en-US" dirty="0"/>
              <a:t>인 </a:t>
            </a:r>
            <a:r>
              <a:rPr lang="en-US" altLang="ko-KR" dirty="0"/>
              <a:t>input</a:t>
            </a:r>
            <a:r>
              <a:rPr lang="ko-KR" altLang="en-US" dirty="0"/>
              <a:t>에 값 넣기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	</a:t>
            </a:r>
            <a:r>
              <a:rPr lang="en-US" altLang="ko-KR" sz="2400" b="0" dirty="0" err="1">
                <a:effectLst/>
                <a:latin typeface="+mn-ea"/>
              </a:rPr>
              <a:t>document.getElementById</a:t>
            </a:r>
            <a:r>
              <a:rPr lang="en-US" altLang="ko-KR" sz="2400" b="0" dirty="0">
                <a:effectLst/>
                <a:latin typeface="+mn-ea"/>
              </a:rPr>
              <a:t>(“</a:t>
            </a:r>
            <a:r>
              <a:rPr lang="en-US" altLang="ko-KR" sz="2400" dirty="0">
                <a:latin typeface="+mn-ea"/>
              </a:rPr>
              <a:t>value1</a:t>
            </a:r>
            <a:r>
              <a:rPr lang="en-US" altLang="ko-KR" sz="2400" b="0" dirty="0">
                <a:effectLst/>
                <a:latin typeface="+mn-ea"/>
              </a:rPr>
              <a:t>").value = </a:t>
            </a:r>
            <a:r>
              <a:rPr lang="ko-KR" altLang="en-US" sz="2400" dirty="0">
                <a:latin typeface="+mn-ea"/>
              </a:rPr>
              <a:t>값</a:t>
            </a:r>
            <a:r>
              <a:rPr lang="en-US" altLang="ko-KR" sz="2400" b="0" dirty="0">
                <a:effectLst/>
                <a:latin typeface="+mn-ea"/>
              </a:rPr>
              <a:t>;</a:t>
            </a:r>
            <a:endParaRPr lang="en-US" altLang="ko-KR" b="0" dirty="0">
              <a:effectLst/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94F4-268E-4B47-97B8-5DBF3FCF6BB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ko-KR" altLang="en-US" dirty="0"/>
              <a:t>간단 계산기 만들기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9093B82-51F4-97A7-316A-66868CF5CF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6763"/>
          <a:stretch/>
        </p:blipFill>
        <p:spPr>
          <a:xfrm>
            <a:off x="584986" y="1191807"/>
            <a:ext cx="5511014" cy="2564279"/>
          </a:xfrm>
          <a:prstGeom prst="rect">
            <a:avLst/>
          </a:prstGeom>
        </p:spPr>
      </p:pic>
      <p:sp>
        <p:nvSpPr>
          <p:cNvPr id="7" name="화살표: 왼쪽 6">
            <a:extLst>
              <a:ext uri="{FF2B5EF4-FFF2-40B4-BE49-F238E27FC236}">
                <a16:creationId xmlns:a16="http://schemas.microsoft.com/office/drawing/2014/main" id="{0E6C8091-BE65-CFE5-C1FF-AC0096915AC5}"/>
              </a:ext>
            </a:extLst>
          </p:cNvPr>
          <p:cNvSpPr/>
          <p:nvPr/>
        </p:nvSpPr>
        <p:spPr>
          <a:xfrm>
            <a:off x="4298168" y="1441550"/>
            <a:ext cx="414469" cy="32035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4156985-C1CE-96B0-184D-062EB07FF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637" y="1332243"/>
            <a:ext cx="7315290" cy="59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0427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737" y="3429000"/>
            <a:ext cx="6705602" cy="288523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b="0" dirty="0">
                <a:effectLst/>
                <a:latin typeface="+mn-ea"/>
              </a:rPr>
              <a:t>작성자와 내용을 쓰고 </a:t>
            </a:r>
            <a:r>
              <a:rPr lang="en-US" altLang="ko-KR" b="0" dirty="0">
                <a:effectLst/>
                <a:latin typeface="+mn-ea"/>
              </a:rPr>
              <a:t>“</a:t>
            </a:r>
            <a:r>
              <a:rPr lang="ko-KR" altLang="en-US" b="0" dirty="0">
                <a:effectLst/>
                <a:latin typeface="+mn-ea"/>
              </a:rPr>
              <a:t>작성</a:t>
            </a:r>
            <a:r>
              <a:rPr lang="en-US" altLang="ko-KR" b="0" dirty="0">
                <a:effectLst/>
                <a:latin typeface="+mn-ea"/>
              </a:rPr>
              <a:t>“ </a:t>
            </a:r>
            <a:r>
              <a:rPr lang="ko-KR" altLang="en-US" b="0" dirty="0">
                <a:effectLst/>
                <a:latin typeface="+mn-ea"/>
              </a:rPr>
              <a:t>을 누르면 아래 </a:t>
            </a:r>
            <a:r>
              <a:rPr lang="en-US" altLang="ko-KR" b="0" dirty="0">
                <a:effectLst/>
                <a:latin typeface="+mn-ea"/>
              </a:rPr>
              <a:t>table</a:t>
            </a:r>
            <a:r>
              <a:rPr lang="ko-KR" altLang="en-US" b="0" dirty="0">
                <a:effectLst/>
                <a:latin typeface="+mn-ea"/>
              </a:rPr>
              <a:t> 에 추가</a:t>
            </a:r>
            <a:endParaRPr lang="en-US" altLang="ko-KR" b="0" dirty="0">
              <a:effectLst/>
              <a:latin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ko-KR" dirty="0">
              <a:latin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b="0" dirty="0">
                <a:effectLst/>
                <a:latin typeface="+mn-ea"/>
              </a:rPr>
              <a:t>이때</a:t>
            </a:r>
            <a:r>
              <a:rPr lang="en-US" altLang="ko-KR" b="0" dirty="0">
                <a:effectLst/>
                <a:latin typeface="+mn-ea"/>
              </a:rPr>
              <a:t>, </a:t>
            </a:r>
            <a:r>
              <a:rPr lang="ko-KR" altLang="en-US" b="0" dirty="0">
                <a:effectLst/>
                <a:latin typeface="+mn-ea"/>
              </a:rPr>
              <a:t>작성일은 작성한 시간이 되어야 한다</a:t>
            </a:r>
            <a:r>
              <a:rPr lang="en-US" altLang="ko-KR" b="0" dirty="0">
                <a:effectLst/>
                <a:latin typeface="+mn-ea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5C5-EB1E-432B-A1EC-7DC8377B728C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ko-KR" altLang="en-US" dirty="0"/>
              <a:t>방명록 만들기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8957CB8-00A6-4AA5-D0B3-4903F1EAE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2" y="1246898"/>
            <a:ext cx="479107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62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ko-KR" altLang="en-US" sz="7200" dirty="0"/>
              <a:t>이벤트 </a:t>
            </a:r>
            <a:br>
              <a:rPr lang="en-US" altLang="ko-KR" sz="7200" dirty="0"/>
            </a:br>
            <a:r>
              <a:rPr lang="en-US" altLang="ko-KR" sz="7200" dirty="0" err="1"/>
              <a:t>addEventListener</a:t>
            </a:r>
            <a:endParaRPr lang="ko-KR" altLang="en-US" sz="7200" dirty="0"/>
          </a:p>
        </p:txBody>
      </p:sp>
    </p:spTree>
    <p:extLst>
      <p:ext uri="{BB962C8B-B14F-4D97-AF65-F5344CB8AC3E}">
        <p14:creationId xmlns:p14="http://schemas.microsoft.com/office/powerpoint/2010/main" val="33990840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>
                <a:solidFill>
                  <a:srgbClr val="00B050"/>
                </a:solidFill>
                <a:ea typeface="Kim jung chul Gothic Bold" panose="020B0803000000000000" pitchFamily="50" charset="-127"/>
              </a:rPr>
              <a:t>요소</a:t>
            </a:r>
            <a:r>
              <a:rPr lang="en-US" altLang="ko-KR" dirty="0">
                <a:solidFill>
                  <a:srgbClr val="00B050"/>
                </a:solidFill>
                <a:ea typeface="Kim jung chul Gothic Bold" panose="020B0803000000000000" pitchFamily="50" charset="-127"/>
              </a:rPr>
              <a:t>.</a:t>
            </a:r>
            <a:r>
              <a:rPr lang="en-US" altLang="ko-KR" dirty="0" err="1">
                <a:solidFill>
                  <a:srgbClr val="00B050"/>
                </a:solidFill>
                <a:ea typeface="Kim jung chul Gothic Bold" panose="020B0803000000000000" pitchFamily="50" charset="-127"/>
              </a:rPr>
              <a:t>addEventListener</a:t>
            </a:r>
            <a:r>
              <a:rPr lang="en-US" altLang="ko-KR" dirty="0">
                <a:ea typeface="Kim jung chul Gothic Bold" panose="020B0803000000000000" pitchFamily="50" charset="-127"/>
              </a:rPr>
              <a:t>(</a:t>
            </a:r>
            <a:r>
              <a:rPr lang="ko-KR" altLang="en-US" dirty="0">
                <a:ea typeface="Kim jung chul Gothic Bold" panose="020B0803000000000000" pitchFamily="50" charset="-127"/>
              </a:rPr>
              <a:t>이벤트</a:t>
            </a:r>
            <a:r>
              <a:rPr lang="en-US" altLang="ko-KR" dirty="0">
                <a:ea typeface="Kim jung chul Gothic Bold" panose="020B0803000000000000" pitchFamily="50" charset="-127"/>
              </a:rPr>
              <a:t>, </a:t>
            </a:r>
            <a:r>
              <a:rPr lang="ko-KR" altLang="en-US" dirty="0">
                <a:ea typeface="Kim jung chul Gothic Bold" panose="020B0803000000000000" pitchFamily="50" charset="-127"/>
              </a:rPr>
              <a:t>명령</a:t>
            </a:r>
            <a:r>
              <a:rPr lang="en-US" altLang="ko-KR" dirty="0">
                <a:ea typeface="Kim jung chul Gothic Bold" panose="020B0803000000000000" pitchFamily="50" charset="-127"/>
              </a:rPr>
              <a:t>)</a:t>
            </a:r>
            <a:endParaRPr lang="ko-KR" altLang="en-US" dirty="0">
              <a:ea typeface="Kim jung chul Gothic Bold" panose="020B0803000000000000" pitchFamily="50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523783" y="1328391"/>
            <a:ext cx="11177300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선택 요소에 지정한 이벤트가 발생하면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,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약속 된 명령어를 실행시키는 메소드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2F8DB1-4A8C-5FD8-B306-66E48E333D7B}"/>
              </a:ext>
            </a:extLst>
          </p:cNvPr>
          <p:cNvSpPr txBox="1"/>
          <p:nvPr/>
        </p:nvSpPr>
        <p:spPr>
          <a:xfrm>
            <a:off x="838200" y="2928832"/>
            <a:ext cx="6943165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boxEl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".box"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boxEl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boxEl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"click!"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FA8179-F830-703B-52B8-458B7490C17F}"/>
              </a:ext>
            </a:extLst>
          </p:cNvPr>
          <p:cNvSpPr txBox="1"/>
          <p:nvPr/>
        </p:nvSpPr>
        <p:spPr>
          <a:xfrm>
            <a:off x="838200" y="5362390"/>
            <a:ext cx="9852212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".box"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23132460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 err="1">
                <a:solidFill>
                  <a:srgbClr val="00B050"/>
                </a:solidFill>
                <a:ea typeface="Kim jung chul Gothic Bold" panose="020B0803000000000000" pitchFamily="50" charset="-127"/>
              </a:rPr>
              <a:t>addEventListener</a:t>
            </a:r>
            <a:r>
              <a:rPr lang="en-US" altLang="ko-KR" dirty="0">
                <a:ea typeface="Kim jung chul Gothic Bold" panose="020B0803000000000000" pitchFamily="50" charset="-127"/>
              </a:rPr>
              <a:t> </a:t>
            </a:r>
            <a:r>
              <a:rPr lang="ko-KR" altLang="en-US" dirty="0">
                <a:ea typeface="Kim jung chul Gothic Bold" panose="020B0803000000000000" pitchFamily="50" charset="-127"/>
              </a:rPr>
              <a:t>이벤트의 종류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588519" y="1383190"/>
            <a:ext cx="10830017" cy="48699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Click : 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클릭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Mouse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 계열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pPr lvl="1"/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Mouseover :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요소에 커서를 올렸을 때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pPr lvl="1"/>
            <a:r>
              <a:rPr lang="en-US" altLang="ko-KR" dirty="0" err="1">
                <a:latin typeface="+mn-lt"/>
                <a:ea typeface="Kim jung chul Gothic Regular" panose="020B0503000000000000" pitchFamily="34" charset="-127"/>
              </a:rPr>
              <a:t>Mouseout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: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 마우스가 요소를 벗어날 때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pPr lvl="1"/>
            <a:r>
              <a:rPr lang="en-US" altLang="ko-KR" dirty="0" err="1">
                <a:latin typeface="+mn-lt"/>
                <a:ea typeface="Kim jung chul Gothic Regular" panose="020B0503000000000000" pitchFamily="34" charset="-127"/>
              </a:rPr>
              <a:t>Mousedown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 :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마우스 버튼을 누르고 있는 상태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pPr lvl="1"/>
            <a:r>
              <a:rPr lang="en-US" altLang="ko-KR" dirty="0" err="1">
                <a:latin typeface="+mn-lt"/>
                <a:ea typeface="Kim jung chul Gothic Regular" panose="020B0503000000000000" pitchFamily="34" charset="-127"/>
              </a:rPr>
              <a:t>Mouseup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 :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마우스 버튼을 떼는 순간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Focus :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포커스가 갔을 때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Blur :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포커스가 벗어나는 순간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33128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E426-FC8B-4845-9EDB-D82F8D6D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 err="1">
                <a:solidFill>
                  <a:srgbClr val="00B050"/>
                </a:solidFill>
                <a:ea typeface="Kim jung chul Gothic Bold" panose="020B0803000000000000" pitchFamily="50" charset="-127"/>
              </a:rPr>
              <a:t>addEventListener</a:t>
            </a:r>
            <a:r>
              <a:rPr lang="en-US" altLang="ko-KR" dirty="0">
                <a:ea typeface="Kim jung chul Gothic Bold" panose="020B0803000000000000" pitchFamily="50" charset="-127"/>
              </a:rPr>
              <a:t> </a:t>
            </a:r>
            <a:r>
              <a:rPr lang="ko-KR" altLang="en-US" dirty="0">
                <a:ea typeface="Kim jung chul Gothic Bold" panose="020B0803000000000000" pitchFamily="50" charset="-127"/>
              </a:rPr>
              <a:t>이벤트의 종류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921601-FACF-7B3E-2F7E-3C6CB9839A59}"/>
              </a:ext>
            </a:extLst>
          </p:cNvPr>
          <p:cNvSpPr txBox="1">
            <a:spLocks/>
          </p:cNvSpPr>
          <p:nvPr/>
        </p:nvSpPr>
        <p:spPr>
          <a:xfrm>
            <a:off x="749144" y="1448474"/>
            <a:ext cx="10693712" cy="49564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Key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계열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pPr lvl="1"/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Keypress :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키를 누르는 순간 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+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누르고 있는 동안 계속 발생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pPr lvl="1"/>
            <a:r>
              <a:rPr lang="en-US" altLang="ko-KR" dirty="0" err="1">
                <a:latin typeface="+mn-lt"/>
                <a:ea typeface="Kim jung chul Gothic Regular" panose="020B0503000000000000" pitchFamily="34" charset="-127"/>
              </a:rPr>
              <a:t>Keydown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 :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키를 누르는 순간에만 발생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pPr lvl="1"/>
            <a:r>
              <a:rPr lang="en-US" altLang="ko-KR" dirty="0" err="1">
                <a:latin typeface="+mn-lt"/>
                <a:ea typeface="Kim jung chul Gothic Regular" panose="020B0503000000000000" pitchFamily="34" charset="-127"/>
              </a:rPr>
              <a:t>Keyup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 :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키를 눌렀다가 떼는 순간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Load :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웹페이지에 필요한 모든 파일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(html, </a:t>
            </a:r>
            <a:r>
              <a:rPr lang="en-US" altLang="ko-KR" dirty="0" err="1">
                <a:latin typeface="+mn-lt"/>
                <a:ea typeface="Kim jung chul Gothic Regular" panose="020B0503000000000000" pitchFamily="34" charset="-127"/>
              </a:rPr>
              <a:t>css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, </a:t>
            </a:r>
            <a:r>
              <a:rPr lang="en-US" altLang="ko-KR" dirty="0" err="1">
                <a:latin typeface="+mn-lt"/>
                <a:ea typeface="Kim jung chul Gothic Regular" panose="020B0503000000000000" pitchFamily="34" charset="-127"/>
              </a:rPr>
              <a:t>js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등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)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의 다운로드가 완료 되었을 때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Resize :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브라우저 창의 크기가 변경 될 때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Scroll :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스크롤이 발생할 때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Unload :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링크를 타고 이동하거나</a:t>
            </a:r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,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브라우저를 닫을 때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  <a:p>
            <a:r>
              <a:rPr lang="en-US" altLang="ko-KR" dirty="0">
                <a:latin typeface="+mn-lt"/>
                <a:ea typeface="Kim jung chul Gothic Regular" panose="020B0503000000000000" pitchFamily="34" charset="-127"/>
              </a:rPr>
              <a:t>Change : </a:t>
            </a:r>
            <a:r>
              <a:rPr lang="ko-KR" altLang="en-US" dirty="0">
                <a:latin typeface="+mn-lt"/>
                <a:ea typeface="Kim jung chul Gothic Regular" panose="020B0503000000000000" pitchFamily="34" charset="-127"/>
              </a:rPr>
              <a:t>폼 필드의 상태가 변경 되었을 때</a:t>
            </a:r>
            <a:endParaRPr lang="en-US" altLang="ko-KR" dirty="0">
              <a:latin typeface="+mn-lt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944805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GOV">
      <a:majorFont>
        <a:latin typeface="PretendardGOV"/>
        <a:ea typeface="PretendardGOV"/>
        <a:cs typeface=""/>
      </a:majorFont>
      <a:minorFont>
        <a:latin typeface="PretendardGOV"/>
        <a:ea typeface="Pretendard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1384</TotalTime>
  <Words>2649</Words>
  <Application>Microsoft Office PowerPoint</Application>
  <PresentationFormat>와이드스크린</PresentationFormat>
  <Paragraphs>546</Paragraphs>
  <Slides>49</Slides>
  <Notes>46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8" baseType="lpstr">
      <vt:lpstr>Inter</vt:lpstr>
      <vt:lpstr>Kim jung chul Gothic Bold</vt:lpstr>
      <vt:lpstr>PretendardGOV</vt:lpstr>
      <vt:lpstr>Söhne</vt:lpstr>
      <vt:lpstr>맑은 고딕</vt:lpstr>
      <vt:lpstr>Arial</vt:lpstr>
      <vt:lpstr>Consolas</vt:lpstr>
      <vt:lpstr>Wingdings</vt:lpstr>
      <vt:lpstr>2_Office 테마</vt:lpstr>
      <vt:lpstr>웹 개발자 부트캠프 과정</vt:lpstr>
      <vt:lpstr>PowerPoint 프레젠테이션</vt:lpstr>
      <vt:lpstr>JavaScript 객체</vt:lpstr>
      <vt:lpstr>JavaScript 자료형</vt:lpstr>
      <vt:lpstr>Primitive 자료형</vt:lpstr>
      <vt:lpstr>Object 자료형</vt:lpstr>
      <vt:lpstr>객체</vt:lpstr>
      <vt:lpstr>객체</vt:lpstr>
      <vt:lpstr>기본 자료형 vs 객체 자료형</vt:lpstr>
      <vt:lpstr>Object 자료형 - 배열</vt:lpstr>
      <vt:lpstr>Object 자료형 - 배열</vt:lpstr>
      <vt:lpstr>Object 자료형 - 딕셔너리</vt:lpstr>
      <vt:lpstr>JavaScript 표준객체</vt:lpstr>
      <vt:lpstr>JavaScript 표준 객체</vt:lpstr>
      <vt:lpstr>Date 객체</vt:lpstr>
      <vt:lpstr>Date 객체 - 함수</vt:lpstr>
      <vt:lpstr>Math 객체</vt:lpstr>
      <vt:lpstr>Math 객체 - 함수</vt:lpstr>
      <vt:lpstr>JavaScript DOM</vt:lpstr>
      <vt:lpstr>문서를 객체화</vt:lpstr>
      <vt:lpstr>문서를 객체화</vt:lpstr>
      <vt:lpstr>DOM</vt:lpstr>
      <vt:lpstr>DOM</vt:lpstr>
      <vt:lpstr>DOM</vt:lpstr>
      <vt:lpstr>JavaScript Document</vt:lpstr>
      <vt:lpstr>Document</vt:lpstr>
      <vt:lpstr>Document - 속성</vt:lpstr>
      <vt:lpstr>DOM API</vt:lpstr>
      <vt:lpstr>Document – 요소 선택</vt:lpstr>
      <vt:lpstr>getElementById(“ID이름”)</vt:lpstr>
      <vt:lpstr>querySelector(“요소 선택자”)</vt:lpstr>
      <vt:lpstr>querySelectorAll(“요소 선택자”)</vt:lpstr>
      <vt:lpstr>Document – 요소 조작</vt:lpstr>
      <vt:lpstr>.textContent .innerText .innerHTML</vt:lpstr>
      <vt:lpstr>classList.~</vt:lpstr>
      <vt:lpstr> setAttribute, html 요소 속성 추가</vt:lpstr>
      <vt:lpstr>다른 노드에 접근하기</vt:lpstr>
      <vt:lpstr>Document – 요소 생성 및 추가</vt:lpstr>
      <vt:lpstr>createElement(‘html 요소’)</vt:lpstr>
      <vt:lpstr>요소를 만들었으면 추가해야겠죠?</vt:lpstr>
      <vt:lpstr>Document – 요소 다루기</vt:lpstr>
      <vt:lpstr>요소 삭제, remove() removeChild()</vt:lpstr>
      <vt:lpstr>Document – 요소 다루기</vt:lpstr>
      <vt:lpstr>실습. 간단 계산기 만들기</vt:lpstr>
      <vt:lpstr>실습. 방명록 만들기</vt:lpstr>
      <vt:lpstr>이벤트  addEventListener</vt:lpstr>
      <vt:lpstr>요소.addEventListener(이벤트, 명령)</vt:lpstr>
      <vt:lpstr>addEventListener 이벤트의 종류</vt:lpstr>
      <vt:lpstr>addEventListener 이벤트의 종류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141</cp:revision>
  <dcterms:created xsi:type="dcterms:W3CDTF">2022-06-26T11:10:22Z</dcterms:created>
  <dcterms:modified xsi:type="dcterms:W3CDTF">2024-05-14T09:10:23Z</dcterms:modified>
</cp:coreProperties>
</file>